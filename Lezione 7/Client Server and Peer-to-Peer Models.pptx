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8" r:id="rId3"/>
    <p:sldId id="257" r:id="rId4"/>
    <p:sldId id="265" r:id="rId5"/>
    <p:sldId id="266" r:id="rId6"/>
    <p:sldId id="259" r:id="rId7"/>
    <p:sldId id="260" r:id="rId8"/>
    <p:sldId id="261" r:id="rId9"/>
    <p:sldId id="262" r:id="rId10"/>
    <p:sldId id="264" r:id="rId11"/>
  </p:sldIdLst>
  <p:sldSz cx="9144000" cy="6858000" type="screen4x3"/>
  <p:notesSz cx="6858000" cy="9144000"/>
  <p:defaultTex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a:tblStyle styleId="{616DA210-FB5B-4158-B5E0-FEB733F419BA}" styleName="Stile chiaro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5C22544A-7EE6-4342-B048-85BDC9FD1C3A}" styleName="Stile medio 2 - Color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Stile medio 2 - Color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73A0DAA-6AF3-43AB-8588-CEC1D06C72B9}" styleName="Stile medio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2" autoAdjust="0"/>
    <p:restoredTop sz="94673" autoAdjust="0"/>
  </p:normalViewPr>
  <p:slideViewPr>
    <p:cSldViewPr>
      <p:cViewPr varScale="1">
        <p:scale>
          <a:sx n="62" d="100"/>
          <a:sy n="62" d="100"/>
        </p:scale>
        <p:origin x="-101" y="-523"/>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titolo">
    <p:spTree>
      <p:nvGrpSpPr>
        <p:cNvPr id="1" name=""/>
        <p:cNvGrpSpPr/>
        <p:nvPr/>
      </p:nvGrpSpPr>
      <p:grpSpPr>
        <a:xfrm>
          <a:off x="0" y="0"/>
          <a:ext cx="0" cy="0"/>
          <a:chOff x="0" y="0"/>
          <a:chExt cx="0" cy="0"/>
        </a:xfrm>
      </p:grpSpPr>
      <p:sp>
        <p:nvSpPr>
          <p:cNvPr id="2" name="Titolo 1"/>
          <p:cNvSpPr>
            <a:spLocks noGrp="1"/>
          </p:cNvSpPr>
          <p:nvPr>
            <p:ph type="ctrTitle"/>
          </p:nvPr>
        </p:nvSpPr>
        <p:spPr>
          <a:xfrm>
            <a:off x="685800" y="2130425"/>
            <a:ext cx="7772400" cy="1470025"/>
          </a:xfrm>
        </p:spPr>
        <p:txBody>
          <a:bodyPr/>
          <a:lstStyle/>
          <a:p>
            <a:r>
              <a:rPr lang="it-IT" smtClean="0"/>
              <a:t>Fare clic per modificare lo stile del titolo</a:t>
            </a:r>
            <a:endParaRPr lang="it-IT"/>
          </a:p>
        </p:txBody>
      </p:sp>
      <p:sp>
        <p:nvSpPr>
          <p:cNvPr id="3" name="Sottotitolo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it-IT" smtClean="0"/>
              <a:t>Fare clic per modificare lo stile del sottotitolo dello schema</a:t>
            </a:r>
            <a:endParaRPr lang="it-IT"/>
          </a:p>
        </p:txBody>
      </p:sp>
      <p:sp>
        <p:nvSpPr>
          <p:cNvPr id="4" name="Segnaposto data 3"/>
          <p:cNvSpPr>
            <a:spLocks noGrp="1"/>
          </p:cNvSpPr>
          <p:nvPr>
            <p:ph type="dt" sz="half" idx="10"/>
          </p:nvPr>
        </p:nvSpPr>
        <p:spPr/>
        <p:txBody>
          <a:bodyPr/>
          <a:lstStyle/>
          <a:p>
            <a:fld id="{ECCD4947-CF44-4F5D-9CD4-12D6D12C8D78}" type="datetimeFigureOut">
              <a:rPr lang="it-IT" smtClean="0"/>
              <a:pPr/>
              <a:t>15/12/2024</a:t>
            </a:fld>
            <a:endParaRPr lang="it-IT"/>
          </a:p>
        </p:txBody>
      </p:sp>
      <p:sp>
        <p:nvSpPr>
          <p:cNvPr id="5" name="Segnaposto piè di pagina 4"/>
          <p:cNvSpPr>
            <a:spLocks noGrp="1"/>
          </p:cNvSpPr>
          <p:nvPr>
            <p:ph type="ftr" sz="quarter" idx="11"/>
          </p:nvPr>
        </p:nvSpPr>
        <p:spPr/>
        <p:txBody>
          <a:bodyPr/>
          <a:lstStyle/>
          <a:p>
            <a:endParaRPr lang="it-IT"/>
          </a:p>
        </p:txBody>
      </p:sp>
      <p:sp>
        <p:nvSpPr>
          <p:cNvPr id="6" name="Segnaposto numero diapositiva 5"/>
          <p:cNvSpPr>
            <a:spLocks noGrp="1"/>
          </p:cNvSpPr>
          <p:nvPr>
            <p:ph type="sldNum" sz="quarter" idx="12"/>
          </p:nvPr>
        </p:nvSpPr>
        <p:spPr/>
        <p:txBody>
          <a:bodyPr/>
          <a:lstStyle/>
          <a:p>
            <a:fld id="{A373BEE2-D3B9-4BC4-8FD6-14F0760FBA62}" type="slidenum">
              <a:rPr lang="it-IT" smtClean="0"/>
              <a:pPr/>
              <a:t>‹N›</a:t>
            </a:fld>
            <a:endParaRPr lang="it-IT"/>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olo e contenuto">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smtClean="0"/>
              <a:t>Fare clic per modificare lo stile del titolo</a:t>
            </a:r>
            <a:endParaRPr lang="it-IT"/>
          </a:p>
        </p:txBody>
      </p:sp>
      <p:sp>
        <p:nvSpPr>
          <p:cNvPr id="3" name="Segnaposto contenuto 2"/>
          <p:cNvSpPr>
            <a:spLocks noGrp="1"/>
          </p:cNvSpPr>
          <p:nvPr>
            <p:ph idx="1"/>
          </p:nvPr>
        </p:nvSpPr>
        <p:spPr/>
        <p:txBody>
          <a:bodyPr/>
          <a:lstStyle/>
          <a:p>
            <a:pPr lvl="0"/>
            <a:r>
              <a:rPr lang="it-IT" smtClean="0"/>
              <a:t>Fare clic per modificare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it-IT"/>
          </a:p>
        </p:txBody>
      </p:sp>
      <p:sp>
        <p:nvSpPr>
          <p:cNvPr id="4" name="Segnaposto data 3"/>
          <p:cNvSpPr>
            <a:spLocks noGrp="1"/>
          </p:cNvSpPr>
          <p:nvPr>
            <p:ph type="dt" sz="half" idx="10"/>
          </p:nvPr>
        </p:nvSpPr>
        <p:spPr/>
        <p:txBody>
          <a:bodyPr/>
          <a:lstStyle/>
          <a:p>
            <a:fld id="{ECCD4947-CF44-4F5D-9CD4-12D6D12C8D78}" type="datetimeFigureOut">
              <a:rPr lang="it-IT" smtClean="0"/>
              <a:pPr/>
              <a:t>15/12/2024</a:t>
            </a:fld>
            <a:endParaRPr lang="it-IT"/>
          </a:p>
        </p:txBody>
      </p:sp>
      <p:sp>
        <p:nvSpPr>
          <p:cNvPr id="5" name="Segnaposto piè di pagina 4"/>
          <p:cNvSpPr>
            <a:spLocks noGrp="1"/>
          </p:cNvSpPr>
          <p:nvPr>
            <p:ph type="ftr" sz="quarter" idx="11"/>
          </p:nvPr>
        </p:nvSpPr>
        <p:spPr/>
        <p:txBody>
          <a:bodyPr/>
          <a:lstStyle/>
          <a:p>
            <a:endParaRPr lang="it-IT"/>
          </a:p>
        </p:txBody>
      </p:sp>
      <p:sp>
        <p:nvSpPr>
          <p:cNvPr id="6" name="Segnaposto numero diapositiva 5"/>
          <p:cNvSpPr>
            <a:spLocks noGrp="1"/>
          </p:cNvSpPr>
          <p:nvPr>
            <p:ph type="sldNum" sz="quarter" idx="12"/>
          </p:nvPr>
        </p:nvSpPr>
        <p:spPr/>
        <p:txBody>
          <a:bodyPr/>
          <a:lstStyle/>
          <a:p>
            <a:fld id="{A373BEE2-D3B9-4BC4-8FD6-14F0760FBA62}" type="slidenum">
              <a:rPr lang="it-IT" smtClean="0"/>
              <a:pPr/>
              <a:t>‹N›</a:t>
            </a:fld>
            <a:endParaRPr lang="it-IT"/>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Intestazione sezione">
    <p:spTree>
      <p:nvGrpSpPr>
        <p:cNvPr id="1" name=""/>
        <p:cNvGrpSpPr/>
        <p:nvPr/>
      </p:nvGrpSpPr>
      <p:grpSpPr>
        <a:xfrm>
          <a:off x="0" y="0"/>
          <a:ext cx="0" cy="0"/>
          <a:chOff x="0" y="0"/>
          <a:chExt cx="0" cy="0"/>
        </a:xfrm>
      </p:grpSpPr>
      <p:sp>
        <p:nvSpPr>
          <p:cNvPr id="2" name="Titolo 1"/>
          <p:cNvSpPr>
            <a:spLocks noGrp="1"/>
          </p:cNvSpPr>
          <p:nvPr>
            <p:ph type="title"/>
          </p:nvPr>
        </p:nvSpPr>
        <p:spPr>
          <a:xfrm>
            <a:off x="722313" y="4406900"/>
            <a:ext cx="7772400" cy="1362075"/>
          </a:xfrm>
        </p:spPr>
        <p:txBody>
          <a:bodyPr anchor="t"/>
          <a:lstStyle>
            <a:lvl1pPr algn="l">
              <a:defRPr sz="4000" b="1" cap="all"/>
            </a:lvl1pPr>
          </a:lstStyle>
          <a:p>
            <a:r>
              <a:rPr lang="it-IT" smtClean="0"/>
              <a:t>Fare clic per modificare lo stile del titolo</a:t>
            </a:r>
            <a:endParaRPr lang="it-IT"/>
          </a:p>
        </p:txBody>
      </p:sp>
      <p:sp>
        <p:nvSpPr>
          <p:cNvPr id="3" name="Segnaposto testo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it-IT" smtClean="0"/>
              <a:t>Fare clic per modificare stili del testo dello schema</a:t>
            </a:r>
          </a:p>
        </p:txBody>
      </p:sp>
      <p:sp>
        <p:nvSpPr>
          <p:cNvPr id="4" name="Segnaposto data 3"/>
          <p:cNvSpPr>
            <a:spLocks noGrp="1"/>
          </p:cNvSpPr>
          <p:nvPr>
            <p:ph type="dt" sz="half" idx="10"/>
          </p:nvPr>
        </p:nvSpPr>
        <p:spPr/>
        <p:txBody>
          <a:bodyPr/>
          <a:lstStyle/>
          <a:p>
            <a:fld id="{ECCD4947-CF44-4F5D-9CD4-12D6D12C8D78}" type="datetimeFigureOut">
              <a:rPr lang="it-IT" smtClean="0"/>
              <a:pPr/>
              <a:t>15/12/2024</a:t>
            </a:fld>
            <a:endParaRPr lang="it-IT"/>
          </a:p>
        </p:txBody>
      </p:sp>
      <p:sp>
        <p:nvSpPr>
          <p:cNvPr id="5" name="Segnaposto piè di pagina 4"/>
          <p:cNvSpPr>
            <a:spLocks noGrp="1"/>
          </p:cNvSpPr>
          <p:nvPr>
            <p:ph type="ftr" sz="quarter" idx="11"/>
          </p:nvPr>
        </p:nvSpPr>
        <p:spPr/>
        <p:txBody>
          <a:bodyPr/>
          <a:lstStyle/>
          <a:p>
            <a:endParaRPr lang="it-IT"/>
          </a:p>
        </p:txBody>
      </p:sp>
      <p:sp>
        <p:nvSpPr>
          <p:cNvPr id="6" name="Segnaposto numero diapositiva 5"/>
          <p:cNvSpPr>
            <a:spLocks noGrp="1"/>
          </p:cNvSpPr>
          <p:nvPr>
            <p:ph type="sldNum" sz="quarter" idx="12"/>
          </p:nvPr>
        </p:nvSpPr>
        <p:spPr/>
        <p:txBody>
          <a:bodyPr/>
          <a:lstStyle/>
          <a:p>
            <a:fld id="{A373BEE2-D3B9-4BC4-8FD6-14F0760FBA62}" type="slidenum">
              <a:rPr lang="it-IT" smtClean="0"/>
              <a:pPr/>
              <a:t>‹N›</a:t>
            </a:fld>
            <a:endParaRPr lang="it-IT"/>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e contenuti">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smtClean="0"/>
              <a:t>Fare clic per modificare lo stile del titolo</a:t>
            </a:r>
            <a:endParaRPr lang="it-IT"/>
          </a:p>
        </p:txBody>
      </p:sp>
      <p:sp>
        <p:nvSpPr>
          <p:cNvPr id="3" name="Segnaposto contenuto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it-IT" smtClean="0"/>
              <a:t>Fare clic per modificare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it-IT"/>
          </a:p>
        </p:txBody>
      </p:sp>
      <p:sp>
        <p:nvSpPr>
          <p:cNvPr id="4" name="Segnaposto contenuto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it-IT" smtClean="0"/>
              <a:t>Fare clic per modificare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it-IT"/>
          </a:p>
        </p:txBody>
      </p:sp>
      <p:sp>
        <p:nvSpPr>
          <p:cNvPr id="5" name="Segnaposto data 4"/>
          <p:cNvSpPr>
            <a:spLocks noGrp="1"/>
          </p:cNvSpPr>
          <p:nvPr>
            <p:ph type="dt" sz="half" idx="10"/>
          </p:nvPr>
        </p:nvSpPr>
        <p:spPr/>
        <p:txBody>
          <a:bodyPr/>
          <a:lstStyle/>
          <a:p>
            <a:fld id="{ECCD4947-CF44-4F5D-9CD4-12D6D12C8D78}" type="datetimeFigureOut">
              <a:rPr lang="it-IT" smtClean="0"/>
              <a:pPr/>
              <a:t>15/12/2024</a:t>
            </a:fld>
            <a:endParaRPr lang="it-IT"/>
          </a:p>
        </p:txBody>
      </p:sp>
      <p:sp>
        <p:nvSpPr>
          <p:cNvPr id="6" name="Segnaposto piè di pagina 5"/>
          <p:cNvSpPr>
            <a:spLocks noGrp="1"/>
          </p:cNvSpPr>
          <p:nvPr>
            <p:ph type="ftr" sz="quarter" idx="11"/>
          </p:nvPr>
        </p:nvSpPr>
        <p:spPr/>
        <p:txBody>
          <a:bodyPr/>
          <a:lstStyle/>
          <a:p>
            <a:endParaRPr lang="it-IT"/>
          </a:p>
        </p:txBody>
      </p:sp>
      <p:sp>
        <p:nvSpPr>
          <p:cNvPr id="7" name="Segnaposto numero diapositiva 6"/>
          <p:cNvSpPr>
            <a:spLocks noGrp="1"/>
          </p:cNvSpPr>
          <p:nvPr>
            <p:ph type="sldNum" sz="quarter" idx="12"/>
          </p:nvPr>
        </p:nvSpPr>
        <p:spPr/>
        <p:txBody>
          <a:bodyPr/>
          <a:lstStyle/>
          <a:p>
            <a:fld id="{A373BEE2-D3B9-4BC4-8FD6-14F0760FBA62}" type="slidenum">
              <a:rPr lang="it-IT" smtClean="0"/>
              <a:pPr/>
              <a:t>‹N›</a:t>
            </a:fld>
            <a:endParaRPr lang="it-IT"/>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nfronto">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lvl1pPr>
              <a:defRPr/>
            </a:lvl1pPr>
          </a:lstStyle>
          <a:p>
            <a:r>
              <a:rPr lang="it-IT" smtClean="0"/>
              <a:t>Fare clic per modificare lo stile del titolo</a:t>
            </a:r>
            <a:endParaRPr lang="it-IT"/>
          </a:p>
        </p:txBody>
      </p:sp>
      <p:sp>
        <p:nvSpPr>
          <p:cNvPr id="3" name="Segnaposto testo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smtClean="0"/>
              <a:t>Fare clic per modificare stili del testo dello schema</a:t>
            </a:r>
          </a:p>
        </p:txBody>
      </p:sp>
      <p:sp>
        <p:nvSpPr>
          <p:cNvPr id="4" name="Segnaposto contenuto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it-IT" smtClean="0"/>
              <a:t>Fare clic per modificare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it-IT"/>
          </a:p>
        </p:txBody>
      </p:sp>
      <p:sp>
        <p:nvSpPr>
          <p:cNvPr id="5" name="Segnaposto testo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smtClean="0"/>
              <a:t>Fare clic per modificare stili del testo dello schema</a:t>
            </a:r>
          </a:p>
        </p:txBody>
      </p:sp>
      <p:sp>
        <p:nvSpPr>
          <p:cNvPr id="6" name="Segnaposto contenuto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it-IT" smtClean="0"/>
              <a:t>Fare clic per modificare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it-IT"/>
          </a:p>
        </p:txBody>
      </p:sp>
      <p:sp>
        <p:nvSpPr>
          <p:cNvPr id="7" name="Segnaposto data 6"/>
          <p:cNvSpPr>
            <a:spLocks noGrp="1"/>
          </p:cNvSpPr>
          <p:nvPr>
            <p:ph type="dt" sz="half" idx="10"/>
          </p:nvPr>
        </p:nvSpPr>
        <p:spPr/>
        <p:txBody>
          <a:bodyPr/>
          <a:lstStyle/>
          <a:p>
            <a:fld id="{ECCD4947-CF44-4F5D-9CD4-12D6D12C8D78}" type="datetimeFigureOut">
              <a:rPr lang="it-IT" smtClean="0"/>
              <a:pPr/>
              <a:t>15/12/2024</a:t>
            </a:fld>
            <a:endParaRPr lang="it-IT"/>
          </a:p>
        </p:txBody>
      </p:sp>
      <p:sp>
        <p:nvSpPr>
          <p:cNvPr id="8" name="Segnaposto piè di pagina 7"/>
          <p:cNvSpPr>
            <a:spLocks noGrp="1"/>
          </p:cNvSpPr>
          <p:nvPr>
            <p:ph type="ftr" sz="quarter" idx="11"/>
          </p:nvPr>
        </p:nvSpPr>
        <p:spPr/>
        <p:txBody>
          <a:bodyPr/>
          <a:lstStyle/>
          <a:p>
            <a:endParaRPr lang="it-IT"/>
          </a:p>
        </p:txBody>
      </p:sp>
      <p:sp>
        <p:nvSpPr>
          <p:cNvPr id="9" name="Segnaposto numero diapositiva 8"/>
          <p:cNvSpPr>
            <a:spLocks noGrp="1"/>
          </p:cNvSpPr>
          <p:nvPr>
            <p:ph type="sldNum" sz="quarter" idx="12"/>
          </p:nvPr>
        </p:nvSpPr>
        <p:spPr/>
        <p:txBody>
          <a:bodyPr/>
          <a:lstStyle/>
          <a:p>
            <a:fld id="{A373BEE2-D3B9-4BC4-8FD6-14F0760FBA62}" type="slidenum">
              <a:rPr lang="it-IT" smtClean="0"/>
              <a:pPr/>
              <a:t>‹N›</a:t>
            </a:fld>
            <a:endParaRPr lang="it-IT"/>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titolo">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smtClean="0"/>
              <a:t>Fare clic per modificare lo stile del titolo</a:t>
            </a:r>
            <a:endParaRPr lang="it-IT"/>
          </a:p>
        </p:txBody>
      </p:sp>
      <p:sp>
        <p:nvSpPr>
          <p:cNvPr id="3" name="Segnaposto data 2"/>
          <p:cNvSpPr>
            <a:spLocks noGrp="1"/>
          </p:cNvSpPr>
          <p:nvPr>
            <p:ph type="dt" sz="half" idx="10"/>
          </p:nvPr>
        </p:nvSpPr>
        <p:spPr/>
        <p:txBody>
          <a:bodyPr/>
          <a:lstStyle/>
          <a:p>
            <a:fld id="{ECCD4947-CF44-4F5D-9CD4-12D6D12C8D78}" type="datetimeFigureOut">
              <a:rPr lang="it-IT" smtClean="0"/>
              <a:pPr/>
              <a:t>15/12/2024</a:t>
            </a:fld>
            <a:endParaRPr lang="it-IT"/>
          </a:p>
        </p:txBody>
      </p:sp>
      <p:sp>
        <p:nvSpPr>
          <p:cNvPr id="4" name="Segnaposto piè di pagina 3"/>
          <p:cNvSpPr>
            <a:spLocks noGrp="1"/>
          </p:cNvSpPr>
          <p:nvPr>
            <p:ph type="ftr" sz="quarter" idx="11"/>
          </p:nvPr>
        </p:nvSpPr>
        <p:spPr/>
        <p:txBody>
          <a:bodyPr/>
          <a:lstStyle/>
          <a:p>
            <a:endParaRPr lang="it-IT"/>
          </a:p>
        </p:txBody>
      </p:sp>
      <p:sp>
        <p:nvSpPr>
          <p:cNvPr id="5" name="Segnaposto numero diapositiva 4"/>
          <p:cNvSpPr>
            <a:spLocks noGrp="1"/>
          </p:cNvSpPr>
          <p:nvPr>
            <p:ph type="sldNum" sz="quarter" idx="12"/>
          </p:nvPr>
        </p:nvSpPr>
        <p:spPr/>
        <p:txBody>
          <a:bodyPr/>
          <a:lstStyle/>
          <a:p>
            <a:fld id="{A373BEE2-D3B9-4BC4-8FD6-14F0760FBA62}" type="slidenum">
              <a:rPr lang="it-IT" smtClean="0"/>
              <a:pPr/>
              <a:t>‹N›</a:t>
            </a:fld>
            <a:endParaRPr lang="it-IT"/>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uota">
    <p:spTree>
      <p:nvGrpSpPr>
        <p:cNvPr id="1" name=""/>
        <p:cNvGrpSpPr/>
        <p:nvPr/>
      </p:nvGrpSpPr>
      <p:grpSpPr>
        <a:xfrm>
          <a:off x="0" y="0"/>
          <a:ext cx="0" cy="0"/>
          <a:chOff x="0" y="0"/>
          <a:chExt cx="0" cy="0"/>
        </a:xfrm>
      </p:grpSpPr>
      <p:sp>
        <p:nvSpPr>
          <p:cNvPr id="2" name="Segnaposto data 1"/>
          <p:cNvSpPr>
            <a:spLocks noGrp="1"/>
          </p:cNvSpPr>
          <p:nvPr>
            <p:ph type="dt" sz="half" idx="10"/>
          </p:nvPr>
        </p:nvSpPr>
        <p:spPr/>
        <p:txBody>
          <a:bodyPr/>
          <a:lstStyle/>
          <a:p>
            <a:fld id="{ECCD4947-CF44-4F5D-9CD4-12D6D12C8D78}" type="datetimeFigureOut">
              <a:rPr lang="it-IT" smtClean="0"/>
              <a:pPr/>
              <a:t>15/12/2024</a:t>
            </a:fld>
            <a:endParaRPr lang="it-IT"/>
          </a:p>
        </p:txBody>
      </p:sp>
      <p:sp>
        <p:nvSpPr>
          <p:cNvPr id="3" name="Segnaposto piè di pagina 2"/>
          <p:cNvSpPr>
            <a:spLocks noGrp="1"/>
          </p:cNvSpPr>
          <p:nvPr>
            <p:ph type="ftr" sz="quarter" idx="11"/>
          </p:nvPr>
        </p:nvSpPr>
        <p:spPr/>
        <p:txBody>
          <a:bodyPr/>
          <a:lstStyle/>
          <a:p>
            <a:endParaRPr lang="it-IT"/>
          </a:p>
        </p:txBody>
      </p:sp>
      <p:sp>
        <p:nvSpPr>
          <p:cNvPr id="4" name="Segnaposto numero diapositiva 3"/>
          <p:cNvSpPr>
            <a:spLocks noGrp="1"/>
          </p:cNvSpPr>
          <p:nvPr>
            <p:ph type="sldNum" sz="quarter" idx="12"/>
          </p:nvPr>
        </p:nvSpPr>
        <p:spPr/>
        <p:txBody>
          <a:bodyPr/>
          <a:lstStyle/>
          <a:p>
            <a:fld id="{A373BEE2-D3B9-4BC4-8FD6-14F0760FBA62}" type="slidenum">
              <a:rPr lang="it-IT" smtClean="0"/>
              <a:pPr/>
              <a:t>‹N›</a:t>
            </a:fld>
            <a:endParaRPr lang="it-IT"/>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to con didascalia">
    <p:spTree>
      <p:nvGrpSpPr>
        <p:cNvPr id="1" name=""/>
        <p:cNvGrpSpPr/>
        <p:nvPr/>
      </p:nvGrpSpPr>
      <p:grpSpPr>
        <a:xfrm>
          <a:off x="0" y="0"/>
          <a:ext cx="0" cy="0"/>
          <a:chOff x="0" y="0"/>
          <a:chExt cx="0" cy="0"/>
        </a:xfrm>
      </p:grpSpPr>
      <p:sp>
        <p:nvSpPr>
          <p:cNvPr id="2" name="Titolo 1"/>
          <p:cNvSpPr>
            <a:spLocks noGrp="1"/>
          </p:cNvSpPr>
          <p:nvPr>
            <p:ph type="title"/>
          </p:nvPr>
        </p:nvSpPr>
        <p:spPr>
          <a:xfrm>
            <a:off x="457200" y="273050"/>
            <a:ext cx="3008313" cy="1162050"/>
          </a:xfrm>
        </p:spPr>
        <p:txBody>
          <a:bodyPr anchor="b"/>
          <a:lstStyle>
            <a:lvl1pPr algn="l">
              <a:defRPr sz="2000" b="1"/>
            </a:lvl1pPr>
          </a:lstStyle>
          <a:p>
            <a:r>
              <a:rPr lang="it-IT" smtClean="0"/>
              <a:t>Fare clic per modificare lo stile del titolo</a:t>
            </a:r>
            <a:endParaRPr lang="it-IT"/>
          </a:p>
        </p:txBody>
      </p:sp>
      <p:sp>
        <p:nvSpPr>
          <p:cNvPr id="3" name="Segnaposto contenuto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it-IT" smtClean="0"/>
              <a:t>Fare clic per modificare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it-IT"/>
          </a:p>
        </p:txBody>
      </p:sp>
      <p:sp>
        <p:nvSpPr>
          <p:cNvPr id="4" name="Segnaposto testo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smtClean="0"/>
              <a:t>Fare clic per modificare stili del testo dello schema</a:t>
            </a:r>
          </a:p>
        </p:txBody>
      </p:sp>
      <p:sp>
        <p:nvSpPr>
          <p:cNvPr id="5" name="Segnaposto data 4"/>
          <p:cNvSpPr>
            <a:spLocks noGrp="1"/>
          </p:cNvSpPr>
          <p:nvPr>
            <p:ph type="dt" sz="half" idx="10"/>
          </p:nvPr>
        </p:nvSpPr>
        <p:spPr/>
        <p:txBody>
          <a:bodyPr/>
          <a:lstStyle/>
          <a:p>
            <a:fld id="{ECCD4947-CF44-4F5D-9CD4-12D6D12C8D78}" type="datetimeFigureOut">
              <a:rPr lang="it-IT" smtClean="0"/>
              <a:pPr/>
              <a:t>15/12/2024</a:t>
            </a:fld>
            <a:endParaRPr lang="it-IT"/>
          </a:p>
        </p:txBody>
      </p:sp>
      <p:sp>
        <p:nvSpPr>
          <p:cNvPr id="6" name="Segnaposto piè di pagina 5"/>
          <p:cNvSpPr>
            <a:spLocks noGrp="1"/>
          </p:cNvSpPr>
          <p:nvPr>
            <p:ph type="ftr" sz="quarter" idx="11"/>
          </p:nvPr>
        </p:nvSpPr>
        <p:spPr/>
        <p:txBody>
          <a:bodyPr/>
          <a:lstStyle/>
          <a:p>
            <a:endParaRPr lang="it-IT"/>
          </a:p>
        </p:txBody>
      </p:sp>
      <p:sp>
        <p:nvSpPr>
          <p:cNvPr id="7" name="Segnaposto numero diapositiva 6"/>
          <p:cNvSpPr>
            <a:spLocks noGrp="1"/>
          </p:cNvSpPr>
          <p:nvPr>
            <p:ph type="sldNum" sz="quarter" idx="12"/>
          </p:nvPr>
        </p:nvSpPr>
        <p:spPr/>
        <p:txBody>
          <a:bodyPr/>
          <a:lstStyle/>
          <a:p>
            <a:fld id="{A373BEE2-D3B9-4BC4-8FD6-14F0760FBA62}" type="slidenum">
              <a:rPr lang="it-IT" smtClean="0"/>
              <a:pPr/>
              <a:t>‹N›</a:t>
            </a:fld>
            <a:endParaRPr lang="it-IT"/>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magine con didascalia">
    <p:spTree>
      <p:nvGrpSpPr>
        <p:cNvPr id="1" name=""/>
        <p:cNvGrpSpPr/>
        <p:nvPr/>
      </p:nvGrpSpPr>
      <p:grpSpPr>
        <a:xfrm>
          <a:off x="0" y="0"/>
          <a:ext cx="0" cy="0"/>
          <a:chOff x="0" y="0"/>
          <a:chExt cx="0" cy="0"/>
        </a:xfrm>
      </p:grpSpPr>
      <p:sp>
        <p:nvSpPr>
          <p:cNvPr id="2" name="Titolo 1"/>
          <p:cNvSpPr>
            <a:spLocks noGrp="1"/>
          </p:cNvSpPr>
          <p:nvPr>
            <p:ph type="title"/>
          </p:nvPr>
        </p:nvSpPr>
        <p:spPr>
          <a:xfrm>
            <a:off x="1792288" y="4800600"/>
            <a:ext cx="5486400" cy="566738"/>
          </a:xfrm>
        </p:spPr>
        <p:txBody>
          <a:bodyPr anchor="b"/>
          <a:lstStyle>
            <a:lvl1pPr algn="l">
              <a:defRPr sz="2000" b="1"/>
            </a:lvl1pPr>
          </a:lstStyle>
          <a:p>
            <a:r>
              <a:rPr lang="it-IT" smtClean="0"/>
              <a:t>Fare clic per modificare lo stile del titolo</a:t>
            </a:r>
            <a:endParaRPr lang="it-IT"/>
          </a:p>
        </p:txBody>
      </p:sp>
      <p:sp>
        <p:nvSpPr>
          <p:cNvPr id="3" name="Segnaposto immagine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it-IT"/>
          </a:p>
        </p:txBody>
      </p:sp>
      <p:sp>
        <p:nvSpPr>
          <p:cNvPr id="4" name="Segnaposto testo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smtClean="0"/>
              <a:t>Fare clic per modificare stili del testo dello schema</a:t>
            </a:r>
          </a:p>
        </p:txBody>
      </p:sp>
      <p:sp>
        <p:nvSpPr>
          <p:cNvPr id="5" name="Segnaposto data 4"/>
          <p:cNvSpPr>
            <a:spLocks noGrp="1"/>
          </p:cNvSpPr>
          <p:nvPr>
            <p:ph type="dt" sz="half" idx="10"/>
          </p:nvPr>
        </p:nvSpPr>
        <p:spPr/>
        <p:txBody>
          <a:bodyPr/>
          <a:lstStyle/>
          <a:p>
            <a:fld id="{ECCD4947-CF44-4F5D-9CD4-12D6D12C8D78}" type="datetimeFigureOut">
              <a:rPr lang="it-IT" smtClean="0"/>
              <a:pPr/>
              <a:t>15/12/2024</a:t>
            </a:fld>
            <a:endParaRPr lang="it-IT"/>
          </a:p>
        </p:txBody>
      </p:sp>
      <p:sp>
        <p:nvSpPr>
          <p:cNvPr id="6" name="Segnaposto piè di pagina 5"/>
          <p:cNvSpPr>
            <a:spLocks noGrp="1"/>
          </p:cNvSpPr>
          <p:nvPr>
            <p:ph type="ftr" sz="quarter" idx="11"/>
          </p:nvPr>
        </p:nvSpPr>
        <p:spPr/>
        <p:txBody>
          <a:bodyPr/>
          <a:lstStyle/>
          <a:p>
            <a:endParaRPr lang="it-IT"/>
          </a:p>
        </p:txBody>
      </p:sp>
      <p:sp>
        <p:nvSpPr>
          <p:cNvPr id="7" name="Segnaposto numero diapositiva 6"/>
          <p:cNvSpPr>
            <a:spLocks noGrp="1"/>
          </p:cNvSpPr>
          <p:nvPr>
            <p:ph type="sldNum" sz="quarter" idx="12"/>
          </p:nvPr>
        </p:nvSpPr>
        <p:spPr/>
        <p:txBody>
          <a:bodyPr/>
          <a:lstStyle/>
          <a:p>
            <a:fld id="{A373BEE2-D3B9-4BC4-8FD6-14F0760FBA62}" type="slidenum">
              <a:rPr lang="it-IT" smtClean="0"/>
              <a:pPr/>
              <a:t>‹N›</a:t>
            </a:fld>
            <a:endParaRPr lang="it-IT"/>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olo e testo verticale">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smtClean="0"/>
              <a:t>Fare clic per modificare lo stile del titolo</a:t>
            </a:r>
            <a:endParaRPr lang="it-IT"/>
          </a:p>
        </p:txBody>
      </p:sp>
      <p:sp>
        <p:nvSpPr>
          <p:cNvPr id="3" name="Segnaposto testo verticale 2"/>
          <p:cNvSpPr>
            <a:spLocks noGrp="1"/>
          </p:cNvSpPr>
          <p:nvPr>
            <p:ph type="body" orient="vert" idx="1"/>
          </p:nvPr>
        </p:nvSpPr>
        <p:spPr/>
        <p:txBody>
          <a:bodyPr vert="eaVert"/>
          <a:lstStyle/>
          <a:p>
            <a:pPr lvl="0"/>
            <a:r>
              <a:rPr lang="it-IT" smtClean="0"/>
              <a:t>Fare clic per modificare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it-IT"/>
          </a:p>
        </p:txBody>
      </p:sp>
      <p:sp>
        <p:nvSpPr>
          <p:cNvPr id="4" name="Segnaposto data 3"/>
          <p:cNvSpPr>
            <a:spLocks noGrp="1"/>
          </p:cNvSpPr>
          <p:nvPr>
            <p:ph type="dt" sz="half" idx="10"/>
          </p:nvPr>
        </p:nvSpPr>
        <p:spPr/>
        <p:txBody>
          <a:bodyPr/>
          <a:lstStyle/>
          <a:p>
            <a:fld id="{ECCD4947-CF44-4F5D-9CD4-12D6D12C8D78}" type="datetimeFigureOut">
              <a:rPr lang="it-IT" smtClean="0"/>
              <a:pPr/>
              <a:t>15/12/2024</a:t>
            </a:fld>
            <a:endParaRPr lang="it-IT"/>
          </a:p>
        </p:txBody>
      </p:sp>
      <p:sp>
        <p:nvSpPr>
          <p:cNvPr id="5" name="Segnaposto piè di pagina 4"/>
          <p:cNvSpPr>
            <a:spLocks noGrp="1"/>
          </p:cNvSpPr>
          <p:nvPr>
            <p:ph type="ftr" sz="quarter" idx="11"/>
          </p:nvPr>
        </p:nvSpPr>
        <p:spPr/>
        <p:txBody>
          <a:bodyPr/>
          <a:lstStyle/>
          <a:p>
            <a:endParaRPr lang="it-IT"/>
          </a:p>
        </p:txBody>
      </p:sp>
      <p:sp>
        <p:nvSpPr>
          <p:cNvPr id="6" name="Segnaposto numero diapositiva 5"/>
          <p:cNvSpPr>
            <a:spLocks noGrp="1"/>
          </p:cNvSpPr>
          <p:nvPr>
            <p:ph type="sldNum" sz="quarter" idx="12"/>
          </p:nvPr>
        </p:nvSpPr>
        <p:spPr/>
        <p:txBody>
          <a:bodyPr/>
          <a:lstStyle/>
          <a:p>
            <a:fld id="{A373BEE2-D3B9-4BC4-8FD6-14F0760FBA62}" type="slidenum">
              <a:rPr lang="it-IT" smtClean="0"/>
              <a:pPr/>
              <a:t>‹N›</a:t>
            </a:fld>
            <a:endParaRPr lang="it-IT"/>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olo e testo verticale">
    <p:spTree>
      <p:nvGrpSpPr>
        <p:cNvPr id="1" name=""/>
        <p:cNvGrpSpPr/>
        <p:nvPr/>
      </p:nvGrpSpPr>
      <p:grpSpPr>
        <a:xfrm>
          <a:off x="0" y="0"/>
          <a:ext cx="0" cy="0"/>
          <a:chOff x="0" y="0"/>
          <a:chExt cx="0" cy="0"/>
        </a:xfrm>
      </p:grpSpPr>
      <p:sp>
        <p:nvSpPr>
          <p:cNvPr id="2" name="Titolo verticale 1"/>
          <p:cNvSpPr>
            <a:spLocks noGrp="1"/>
          </p:cNvSpPr>
          <p:nvPr>
            <p:ph type="title" orient="vert"/>
          </p:nvPr>
        </p:nvSpPr>
        <p:spPr>
          <a:xfrm>
            <a:off x="6629400" y="274638"/>
            <a:ext cx="2057400" cy="5851525"/>
          </a:xfrm>
        </p:spPr>
        <p:txBody>
          <a:bodyPr vert="eaVert"/>
          <a:lstStyle/>
          <a:p>
            <a:r>
              <a:rPr lang="it-IT" smtClean="0"/>
              <a:t>Fare clic per modificare lo stile del titolo</a:t>
            </a:r>
            <a:endParaRPr lang="it-IT"/>
          </a:p>
        </p:txBody>
      </p:sp>
      <p:sp>
        <p:nvSpPr>
          <p:cNvPr id="3" name="Segnaposto testo verticale 2"/>
          <p:cNvSpPr>
            <a:spLocks noGrp="1"/>
          </p:cNvSpPr>
          <p:nvPr>
            <p:ph type="body" orient="vert" idx="1"/>
          </p:nvPr>
        </p:nvSpPr>
        <p:spPr>
          <a:xfrm>
            <a:off x="457200" y="274638"/>
            <a:ext cx="6019800" cy="5851525"/>
          </a:xfrm>
        </p:spPr>
        <p:txBody>
          <a:bodyPr vert="eaVert"/>
          <a:lstStyle/>
          <a:p>
            <a:pPr lvl="0"/>
            <a:r>
              <a:rPr lang="it-IT" smtClean="0"/>
              <a:t>Fare clic per modificare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it-IT"/>
          </a:p>
        </p:txBody>
      </p:sp>
      <p:sp>
        <p:nvSpPr>
          <p:cNvPr id="4" name="Segnaposto data 3"/>
          <p:cNvSpPr>
            <a:spLocks noGrp="1"/>
          </p:cNvSpPr>
          <p:nvPr>
            <p:ph type="dt" sz="half" idx="10"/>
          </p:nvPr>
        </p:nvSpPr>
        <p:spPr/>
        <p:txBody>
          <a:bodyPr/>
          <a:lstStyle/>
          <a:p>
            <a:fld id="{ECCD4947-CF44-4F5D-9CD4-12D6D12C8D78}" type="datetimeFigureOut">
              <a:rPr lang="it-IT" smtClean="0"/>
              <a:pPr/>
              <a:t>15/12/2024</a:t>
            </a:fld>
            <a:endParaRPr lang="it-IT"/>
          </a:p>
        </p:txBody>
      </p:sp>
      <p:sp>
        <p:nvSpPr>
          <p:cNvPr id="5" name="Segnaposto piè di pagina 4"/>
          <p:cNvSpPr>
            <a:spLocks noGrp="1"/>
          </p:cNvSpPr>
          <p:nvPr>
            <p:ph type="ftr" sz="quarter" idx="11"/>
          </p:nvPr>
        </p:nvSpPr>
        <p:spPr/>
        <p:txBody>
          <a:bodyPr/>
          <a:lstStyle/>
          <a:p>
            <a:endParaRPr lang="it-IT"/>
          </a:p>
        </p:txBody>
      </p:sp>
      <p:sp>
        <p:nvSpPr>
          <p:cNvPr id="6" name="Segnaposto numero diapositiva 5"/>
          <p:cNvSpPr>
            <a:spLocks noGrp="1"/>
          </p:cNvSpPr>
          <p:nvPr>
            <p:ph type="sldNum" sz="quarter" idx="12"/>
          </p:nvPr>
        </p:nvSpPr>
        <p:spPr/>
        <p:txBody>
          <a:bodyPr/>
          <a:lstStyle/>
          <a:p>
            <a:fld id="{A373BEE2-D3B9-4BC4-8FD6-14F0760FBA62}" type="slidenum">
              <a:rPr lang="it-IT" smtClean="0"/>
              <a:pPr/>
              <a:t>‹N›</a:t>
            </a:fld>
            <a:endParaRPr lang="it-IT"/>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titolo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it-IT" smtClean="0"/>
              <a:t>Fare clic per modificare lo stile del titolo</a:t>
            </a:r>
            <a:endParaRPr lang="it-IT"/>
          </a:p>
        </p:txBody>
      </p:sp>
      <p:sp>
        <p:nvSpPr>
          <p:cNvPr id="3" name="Segnaposto testo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it-IT" smtClean="0"/>
              <a:t>Fare clic per modificare stili del testo dello schema</a:t>
            </a:r>
          </a:p>
          <a:p>
            <a:pPr lvl="1"/>
            <a:r>
              <a:rPr lang="it-IT" smtClean="0"/>
              <a:t>Secondo livello</a:t>
            </a:r>
          </a:p>
          <a:p>
            <a:pPr lvl="2"/>
            <a:r>
              <a:rPr lang="it-IT" smtClean="0"/>
              <a:t>Terzo livello</a:t>
            </a:r>
          </a:p>
          <a:p>
            <a:pPr lvl="3"/>
            <a:r>
              <a:rPr lang="it-IT" smtClean="0"/>
              <a:t>Quarto livello</a:t>
            </a:r>
          </a:p>
          <a:p>
            <a:pPr lvl="4"/>
            <a:r>
              <a:rPr lang="it-IT" smtClean="0"/>
              <a:t>Quinto livello</a:t>
            </a:r>
            <a:endParaRPr lang="it-IT"/>
          </a:p>
        </p:txBody>
      </p:sp>
      <p:sp>
        <p:nvSpPr>
          <p:cNvPr id="4" name="Segnaposto data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CCD4947-CF44-4F5D-9CD4-12D6D12C8D78}" type="datetimeFigureOut">
              <a:rPr lang="it-IT" smtClean="0"/>
              <a:pPr/>
              <a:t>15/12/2024</a:t>
            </a:fld>
            <a:endParaRPr lang="it-IT"/>
          </a:p>
        </p:txBody>
      </p:sp>
      <p:sp>
        <p:nvSpPr>
          <p:cNvPr id="5" name="Segnaposto piè di pagina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it-IT"/>
          </a:p>
        </p:txBody>
      </p:sp>
      <p:sp>
        <p:nvSpPr>
          <p:cNvPr id="6" name="Segnaposto numero diapositiva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373BEE2-D3B9-4BC4-8FD6-14F0760FBA62}" type="slidenum">
              <a:rPr lang="it-IT" smtClean="0"/>
              <a:pPr/>
              <a:t>‹N›</a:t>
            </a:fld>
            <a:endParaRPr lang="it-IT"/>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www.enjoyalgorithms.com/blog/client-server-architecture" TargetMode="External"/><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hyperlink" Target="https://significado.com/p2p-peer-to-peer/" TargetMode="External"/><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hyperlink" Target="https://engineering.atspotify.com/2022/07/software-visualization-challenge-accepted/" TargetMode="External"/><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hyperlink" Target="https://middleware.io/blog/microservices-architecture/" TargetMode="External"/><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hyperlink" Target="https://engineering.atspotify.com/2022/07/software-visualization-challenge-accepted/" TargetMode="External"/><Relationship Id="rId2" Type="http://schemas.openxmlformats.org/officeDocument/2006/relationships/hyperlink" Target="https://www.techaheadcorp.com/blog/decoding-software-architecture-of-spotify-how-microservices-empowers-spotify/" TargetMode="External"/><Relationship Id="rId1" Type="http://schemas.openxmlformats.org/officeDocument/2006/relationships/slideLayout" Target="../slideLayouts/slideLayout2.xml"/><Relationship Id="rId4" Type="http://schemas.openxmlformats.org/officeDocument/2006/relationships/hyperlink" Target="https://engineering.atspotify.com/2013/03/backend-infrastructure-at-spotify/"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ctrTitle"/>
          </p:nvPr>
        </p:nvSpPr>
        <p:spPr>
          <a:xfrm>
            <a:off x="685800" y="404665"/>
            <a:ext cx="7772400" cy="1080119"/>
          </a:xfrm>
        </p:spPr>
        <p:txBody>
          <a:bodyPr>
            <a:normAutofit fontScale="90000"/>
          </a:bodyPr>
          <a:lstStyle/>
          <a:p>
            <a:r>
              <a:rPr lang="it-IT" sz="3600" dirty="0" smtClean="0">
                <a:solidFill>
                  <a:srgbClr val="FF0000"/>
                </a:solidFill>
                <a:latin typeface="Helvetica" pitchFamily="34" charset="0"/>
                <a:cs typeface="Helvetica" pitchFamily="34" charset="0"/>
              </a:rPr>
              <a:t>Client Server and Peer-to-Peer </a:t>
            </a:r>
            <a:r>
              <a:rPr lang="it-IT" sz="3600" dirty="0" err="1" smtClean="0">
                <a:solidFill>
                  <a:srgbClr val="FF0000"/>
                </a:solidFill>
                <a:latin typeface="Helvetica" pitchFamily="34" charset="0"/>
                <a:cs typeface="Helvetica" pitchFamily="34" charset="0"/>
              </a:rPr>
              <a:t>Models</a:t>
            </a:r>
            <a:endParaRPr lang="it-IT" sz="3600" dirty="0">
              <a:solidFill>
                <a:srgbClr val="FF0000"/>
              </a:solidFill>
              <a:latin typeface="Helvetica" pitchFamily="34" charset="0"/>
              <a:cs typeface="Helvetica" pitchFamily="34" charset="0"/>
            </a:endParaRPr>
          </a:p>
        </p:txBody>
      </p:sp>
      <p:sp>
        <p:nvSpPr>
          <p:cNvPr id="3" name="Sottotitolo 2"/>
          <p:cNvSpPr>
            <a:spLocks noGrp="1"/>
          </p:cNvSpPr>
          <p:nvPr>
            <p:ph type="subTitle" idx="1"/>
          </p:nvPr>
        </p:nvSpPr>
        <p:spPr>
          <a:xfrm>
            <a:off x="1331640" y="1268760"/>
            <a:ext cx="6400800" cy="1368152"/>
          </a:xfrm>
        </p:spPr>
        <p:txBody>
          <a:bodyPr>
            <a:normAutofit/>
          </a:bodyPr>
          <a:lstStyle/>
          <a:p>
            <a:r>
              <a:rPr lang="it-IT" sz="1800" dirty="0" smtClean="0">
                <a:solidFill>
                  <a:schemeClr val="tx1"/>
                </a:solidFill>
              </a:rPr>
              <a:t>A client server and a Peer-to-Peer </a:t>
            </a:r>
            <a:r>
              <a:rPr lang="it-IT" sz="1800" dirty="0" err="1" smtClean="0">
                <a:solidFill>
                  <a:schemeClr val="tx1"/>
                </a:solidFill>
              </a:rPr>
              <a:t>Models</a:t>
            </a:r>
            <a:r>
              <a:rPr lang="it-IT" sz="1800" dirty="0" smtClean="0">
                <a:solidFill>
                  <a:schemeClr val="tx1"/>
                </a:solidFill>
              </a:rPr>
              <a:t> are </a:t>
            </a:r>
            <a:r>
              <a:rPr lang="it-IT" sz="1800" dirty="0" err="1" smtClean="0">
                <a:solidFill>
                  <a:schemeClr val="tx1"/>
                </a:solidFill>
              </a:rPr>
              <a:t>two</a:t>
            </a:r>
            <a:r>
              <a:rPr lang="it-IT" sz="1800" dirty="0" smtClean="0">
                <a:solidFill>
                  <a:schemeClr val="tx1"/>
                </a:solidFill>
              </a:rPr>
              <a:t> </a:t>
            </a:r>
            <a:r>
              <a:rPr lang="it-IT" sz="1800" dirty="0" err="1" smtClean="0">
                <a:solidFill>
                  <a:schemeClr val="tx1"/>
                </a:solidFill>
              </a:rPr>
              <a:t>different</a:t>
            </a:r>
            <a:r>
              <a:rPr lang="it-IT" sz="1800" dirty="0" smtClean="0">
                <a:solidFill>
                  <a:schemeClr val="tx1"/>
                </a:solidFill>
              </a:rPr>
              <a:t> </a:t>
            </a:r>
            <a:r>
              <a:rPr lang="it-IT" sz="1800" dirty="0" err="1" smtClean="0">
                <a:solidFill>
                  <a:schemeClr val="tx1"/>
                </a:solidFill>
              </a:rPr>
              <a:t>architectures</a:t>
            </a:r>
            <a:r>
              <a:rPr lang="it-IT" sz="1800" dirty="0" smtClean="0">
                <a:solidFill>
                  <a:schemeClr val="tx1"/>
                </a:solidFill>
              </a:rPr>
              <a:t> </a:t>
            </a:r>
            <a:r>
              <a:rPr lang="it-IT" sz="1800" dirty="0" err="1" smtClean="0">
                <a:solidFill>
                  <a:schemeClr val="tx1"/>
                </a:solidFill>
              </a:rPr>
              <a:t>for</a:t>
            </a:r>
            <a:r>
              <a:rPr lang="it-IT" sz="1800" dirty="0" smtClean="0">
                <a:solidFill>
                  <a:schemeClr val="tx1"/>
                </a:solidFill>
              </a:rPr>
              <a:t> </a:t>
            </a:r>
            <a:r>
              <a:rPr lang="it-IT" sz="1800" dirty="0" err="1" smtClean="0">
                <a:solidFill>
                  <a:schemeClr val="tx1"/>
                </a:solidFill>
              </a:rPr>
              <a:t>designing</a:t>
            </a:r>
            <a:r>
              <a:rPr lang="it-IT" sz="1800" dirty="0" smtClean="0">
                <a:solidFill>
                  <a:schemeClr val="tx1"/>
                </a:solidFill>
              </a:rPr>
              <a:t> </a:t>
            </a:r>
            <a:r>
              <a:rPr lang="it-IT" sz="1800" dirty="0" err="1" smtClean="0">
                <a:solidFill>
                  <a:schemeClr val="tx1"/>
                </a:solidFill>
              </a:rPr>
              <a:t>networks</a:t>
            </a:r>
            <a:r>
              <a:rPr lang="it-IT" sz="1800" dirty="0" smtClean="0">
                <a:solidFill>
                  <a:schemeClr val="tx1"/>
                </a:solidFill>
              </a:rPr>
              <a:t> and </a:t>
            </a:r>
            <a:r>
              <a:rPr lang="it-IT" sz="1800" dirty="0" err="1" smtClean="0">
                <a:solidFill>
                  <a:schemeClr val="tx1"/>
                </a:solidFill>
              </a:rPr>
              <a:t>distributed</a:t>
            </a:r>
            <a:r>
              <a:rPr lang="it-IT" sz="1800" dirty="0" smtClean="0">
                <a:solidFill>
                  <a:schemeClr val="tx1"/>
                </a:solidFill>
              </a:rPr>
              <a:t> </a:t>
            </a:r>
            <a:r>
              <a:rPr lang="it-IT" sz="1800" dirty="0" err="1" smtClean="0">
                <a:solidFill>
                  <a:schemeClr val="tx1"/>
                </a:solidFill>
              </a:rPr>
              <a:t>systems</a:t>
            </a:r>
            <a:r>
              <a:rPr lang="it-IT" sz="1800" dirty="0" smtClean="0">
                <a:solidFill>
                  <a:schemeClr val="tx1"/>
                </a:solidFill>
              </a:rPr>
              <a:t>. </a:t>
            </a:r>
          </a:p>
          <a:p>
            <a:r>
              <a:rPr lang="it-IT" sz="1800" dirty="0" err="1" smtClean="0">
                <a:solidFill>
                  <a:schemeClr val="tx1"/>
                </a:solidFill>
              </a:rPr>
              <a:t>Even</a:t>
            </a:r>
            <a:r>
              <a:rPr lang="it-IT" sz="1800" dirty="0" smtClean="0">
                <a:solidFill>
                  <a:schemeClr val="tx1"/>
                </a:solidFill>
              </a:rPr>
              <a:t> </a:t>
            </a:r>
            <a:r>
              <a:rPr lang="it-IT" sz="1800" dirty="0" err="1" smtClean="0">
                <a:solidFill>
                  <a:schemeClr val="tx1"/>
                </a:solidFill>
              </a:rPr>
              <a:t>though</a:t>
            </a:r>
            <a:r>
              <a:rPr lang="it-IT" sz="1800" dirty="0" smtClean="0">
                <a:solidFill>
                  <a:schemeClr val="tx1"/>
                </a:solidFill>
              </a:rPr>
              <a:t> </a:t>
            </a:r>
            <a:r>
              <a:rPr lang="it-IT" sz="1800" dirty="0" err="1" smtClean="0">
                <a:solidFill>
                  <a:schemeClr val="tx1"/>
                </a:solidFill>
              </a:rPr>
              <a:t>they</a:t>
            </a:r>
            <a:r>
              <a:rPr lang="it-IT" sz="1800" dirty="0" smtClean="0">
                <a:solidFill>
                  <a:schemeClr val="tx1"/>
                </a:solidFill>
              </a:rPr>
              <a:t> </a:t>
            </a:r>
            <a:r>
              <a:rPr lang="it-IT" sz="1800" dirty="0" err="1" smtClean="0">
                <a:solidFill>
                  <a:schemeClr val="tx1"/>
                </a:solidFill>
              </a:rPr>
              <a:t>function</a:t>
            </a:r>
            <a:r>
              <a:rPr lang="it-IT" sz="1800" dirty="0" smtClean="0">
                <a:solidFill>
                  <a:schemeClr val="tx1"/>
                </a:solidFill>
              </a:rPr>
              <a:t> </a:t>
            </a:r>
            <a:r>
              <a:rPr lang="it-IT" sz="1800" dirty="0" err="1" smtClean="0">
                <a:solidFill>
                  <a:schemeClr val="tx1"/>
                </a:solidFill>
              </a:rPr>
              <a:t>differently</a:t>
            </a:r>
            <a:r>
              <a:rPr lang="it-IT" sz="1800" dirty="0" smtClean="0">
                <a:solidFill>
                  <a:schemeClr val="tx1"/>
                </a:solidFill>
              </a:rPr>
              <a:t>, </a:t>
            </a:r>
            <a:r>
              <a:rPr lang="it-IT" sz="1800" dirty="0" err="1" smtClean="0">
                <a:solidFill>
                  <a:schemeClr val="tx1"/>
                </a:solidFill>
              </a:rPr>
              <a:t>they</a:t>
            </a:r>
            <a:r>
              <a:rPr lang="it-IT" sz="1800" dirty="0" smtClean="0">
                <a:solidFill>
                  <a:schemeClr val="tx1"/>
                </a:solidFill>
              </a:rPr>
              <a:t> can </a:t>
            </a:r>
            <a:r>
              <a:rPr lang="it-IT" sz="1800" dirty="0" err="1" smtClean="0">
                <a:solidFill>
                  <a:schemeClr val="tx1"/>
                </a:solidFill>
              </a:rPr>
              <a:t>actually</a:t>
            </a:r>
            <a:r>
              <a:rPr lang="it-IT" sz="1800" dirty="0" smtClean="0">
                <a:solidFill>
                  <a:schemeClr val="tx1"/>
                </a:solidFill>
              </a:rPr>
              <a:t> work </a:t>
            </a:r>
            <a:r>
              <a:rPr lang="it-IT" sz="1800" dirty="0" err="1" smtClean="0">
                <a:solidFill>
                  <a:schemeClr val="tx1"/>
                </a:solidFill>
              </a:rPr>
              <a:t>together</a:t>
            </a:r>
            <a:r>
              <a:rPr lang="it-IT" sz="1800" dirty="0" smtClean="0">
                <a:solidFill>
                  <a:schemeClr val="tx1"/>
                </a:solidFill>
              </a:rPr>
              <a:t> in </a:t>
            </a:r>
            <a:r>
              <a:rPr lang="it-IT" sz="1800" dirty="0" err="1" smtClean="0">
                <a:solidFill>
                  <a:schemeClr val="tx1"/>
                </a:solidFill>
              </a:rPr>
              <a:t>specifics</a:t>
            </a:r>
            <a:r>
              <a:rPr lang="it-IT" sz="1800" dirty="0" smtClean="0">
                <a:solidFill>
                  <a:schemeClr val="tx1"/>
                </a:solidFill>
              </a:rPr>
              <a:t> </a:t>
            </a:r>
            <a:r>
              <a:rPr lang="it-IT" sz="1800" dirty="0" err="1" smtClean="0">
                <a:solidFill>
                  <a:schemeClr val="tx1"/>
                </a:solidFill>
              </a:rPr>
              <a:t>enviroments</a:t>
            </a:r>
            <a:r>
              <a:rPr lang="it-IT" sz="1800" dirty="0" smtClean="0">
                <a:solidFill>
                  <a:schemeClr val="tx1"/>
                </a:solidFill>
              </a:rPr>
              <a:t>.</a:t>
            </a:r>
          </a:p>
        </p:txBody>
      </p:sp>
      <p:sp>
        <p:nvSpPr>
          <p:cNvPr id="7" name="CasellaDiTesto 6"/>
          <p:cNvSpPr txBox="1"/>
          <p:nvPr/>
        </p:nvSpPr>
        <p:spPr>
          <a:xfrm>
            <a:off x="4644008" y="3140968"/>
            <a:ext cx="2664296" cy="2554545"/>
          </a:xfrm>
          <a:prstGeom prst="rect">
            <a:avLst/>
          </a:prstGeom>
          <a:noFill/>
        </p:spPr>
        <p:txBody>
          <a:bodyPr wrap="square" rtlCol="0">
            <a:spAutoFit/>
          </a:bodyPr>
          <a:lstStyle/>
          <a:p>
            <a:r>
              <a:rPr lang="it-IT" sz="1600" dirty="0" smtClean="0"/>
              <a:t>Peer-to-Peer </a:t>
            </a:r>
            <a:r>
              <a:rPr lang="it-IT" sz="1600" dirty="0" err="1" smtClean="0"/>
              <a:t>model</a:t>
            </a:r>
            <a:r>
              <a:rPr lang="it-IT" sz="1600" dirty="0" smtClean="0"/>
              <a:t>:</a:t>
            </a:r>
          </a:p>
          <a:p>
            <a:r>
              <a:rPr lang="it-IT" sz="1600" dirty="0" smtClean="0"/>
              <a:t>In </a:t>
            </a:r>
            <a:r>
              <a:rPr lang="it-IT" sz="1600" dirty="0" err="1" smtClean="0"/>
              <a:t>this</a:t>
            </a:r>
            <a:r>
              <a:rPr lang="it-IT" sz="1600" dirty="0" smtClean="0"/>
              <a:t> </a:t>
            </a:r>
            <a:r>
              <a:rPr lang="it-IT" sz="1600" dirty="0" err="1" smtClean="0"/>
              <a:t>architecture</a:t>
            </a:r>
            <a:r>
              <a:rPr lang="it-IT" sz="1600" dirty="0" smtClean="0"/>
              <a:t>, </a:t>
            </a:r>
            <a:r>
              <a:rPr lang="it-IT" sz="1600" dirty="0" err="1" smtClean="0"/>
              <a:t>each</a:t>
            </a:r>
            <a:r>
              <a:rPr lang="it-IT" sz="1600" dirty="0" smtClean="0"/>
              <a:t> </a:t>
            </a:r>
            <a:r>
              <a:rPr lang="it-IT" sz="1600" dirty="0" err="1" smtClean="0"/>
              <a:t>node</a:t>
            </a:r>
            <a:r>
              <a:rPr lang="it-IT" sz="1600" dirty="0" smtClean="0"/>
              <a:t>, </a:t>
            </a:r>
          </a:p>
          <a:p>
            <a:r>
              <a:rPr lang="it-IT" sz="1600" dirty="0" smtClean="0"/>
              <a:t>or </a:t>
            </a:r>
            <a:r>
              <a:rPr lang="it-IT" sz="1600" i="1" dirty="0" smtClean="0"/>
              <a:t>“</a:t>
            </a:r>
            <a:r>
              <a:rPr lang="it-IT" sz="1600" i="1" dirty="0" err="1" smtClean="0"/>
              <a:t>peer</a:t>
            </a:r>
            <a:r>
              <a:rPr lang="it-IT" sz="1600" i="1" dirty="0" smtClean="0"/>
              <a:t>”, </a:t>
            </a:r>
            <a:r>
              <a:rPr lang="it-IT" sz="1600" dirty="0" err="1" smtClean="0"/>
              <a:t>is</a:t>
            </a:r>
            <a:r>
              <a:rPr lang="it-IT" sz="1600" dirty="0" smtClean="0"/>
              <a:t> </a:t>
            </a:r>
            <a:r>
              <a:rPr lang="it-IT" sz="1600" dirty="0" err="1" smtClean="0"/>
              <a:t>directly</a:t>
            </a:r>
            <a:r>
              <a:rPr lang="it-IT" sz="1600" dirty="0" smtClean="0"/>
              <a:t> </a:t>
            </a:r>
            <a:r>
              <a:rPr lang="it-IT" sz="1600" dirty="0" err="1" smtClean="0"/>
              <a:t>enabled</a:t>
            </a:r>
            <a:r>
              <a:rPr lang="it-IT" sz="1600" dirty="0" smtClean="0"/>
              <a:t> </a:t>
            </a:r>
          </a:p>
          <a:p>
            <a:r>
              <a:rPr lang="it-IT" sz="1600" dirty="0" err="1" smtClean="0"/>
              <a:t>to</a:t>
            </a:r>
            <a:r>
              <a:rPr lang="it-IT" sz="1600" dirty="0" smtClean="0"/>
              <a:t> </a:t>
            </a:r>
            <a:r>
              <a:rPr lang="en-US" sz="1600" dirty="0" smtClean="0"/>
              <a:t>share resources among </a:t>
            </a:r>
          </a:p>
          <a:p>
            <a:r>
              <a:rPr lang="en-US" sz="1600" dirty="0" smtClean="0"/>
              <a:t>peers without the need </a:t>
            </a:r>
          </a:p>
          <a:p>
            <a:r>
              <a:rPr lang="en-US" sz="1600" dirty="0" smtClean="0"/>
              <a:t>for centralized coordination. </a:t>
            </a:r>
          </a:p>
          <a:p>
            <a:r>
              <a:rPr lang="en-US" sz="1600" dirty="0" smtClean="0"/>
              <a:t>It is often used for file </a:t>
            </a:r>
          </a:p>
          <a:p>
            <a:r>
              <a:rPr lang="en-US" sz="1600" dirty="0" smtClean="0"/>
              <a:t>sharing, communications, </a:t>
            </a:r>
          </a:p>
          <a:p>
            <a:r>
              <a:rPr lang="en-US" sz="1600" dirty="0" smtClean="0"/>
              <a:t>and collaborative tasks.</a:t>
            </a:r>
            <a:endParaRPr lang="it-IT" sz="1600" i="1" dirty="0"/>
          </a:p>
        </p:txBody>
      </p:sp>
      <p:sp>
        <p:nvSpPr>
          <p:cNvPr id="9" name="CasellaDiTesto 8"/>
          <p:cNvSpPr txBox="1"/>
          <p:nvPr/>
        </p:nvSpPr>
        <p:spPr>
          <a:xfrm>
            <a:off x="611560" y="2996952"/>
            <a:ext cx="3600399" cy="1631216"/>
          </a:xfrm>
          <a:prstGeom prst="rect">
            <a:avLst/>
          </a:prstGeom>
          <a:noFill/>
        </p:spPr>
        <p:txBody>
          <a:bodyPr wrap="square" rtlCol="0">
            <a:spAutoFit/>
          </a:bodyPr>
          <a:lstStyle/>
          <a:p>
            <a:r>
              <a:rPr lang="it-IT" sz="1600" dirty="0" smtClean="0"/>
              <a:t>Client Server </a:t>
            </a:r>
            <a:r>
              <a:rPr lang="it-IT" sz="1600" dirty="0" err="1" smtClean="0"/>
              <a:t>model</a:t>
            </a:r>
            <a:r>
              <a:rPr lang="it-IT" sz="1600" dirty="0" smtClean="0"/>
              <a:t>:</a:t>
            </a:r>
          </a:p>
          <a:p>
            <a:r>
              <a:rPr lang="it-IT" sz="1600" dirty="0" smtClean="0"/>
              <a:t>In </a:t>
            </a:r>
            <a:r>
              <a:rPr lang="it-IT" sz="1600" dirty="0" err="1" smtClean="0"/>
              <a:t>this</a:t>
            </a:r>
            <a:r>
              <a:rPr lang="it-IT" sz="1600" dirty="0" smtClean="0"/>
              <a:t> </a:t>
            </a:r>
            <a:r>
              <a:rPr lang="it-IT" sz="1600" dirty="0" err="1" smtClean="0"/>
              <a:t>architecture</a:t>
            </a:r>
            <a:r>
              <a:rPr lang="it-IT" sz="1600" dirty="0" smtClean="0"/>
              <a:t>, multiple </a:t>
            </a:r>
            <a:r>
              <a:rPr lang="it-IT" sz="1600" dirty="0" err="1" smtClean="0"/>
              <a:t>clients</a:t>
            </a:r>
            <a:r>
              <a:rPr lang="it-IT" sz="1600" dirty="0" smtClean="0"/>
              <a:t> (</a:t>
            </a:r>
            <a:r>
              <a:rPr lang="it-IT" sz="1600" dirty="0" err="1" smtClean="0"/>
              <a:t>devices</a:t>
            </a:r>
            <a:r>
              <a:rPr lang="it-IT" sz="1600" dirty="0" smtClean="0"/>
              <a:t> or software) </a:t>
            </a:r>
            <a:r>
              <a:rPr lang="it-IT" sz="1600" dirty="0" err="1" smtClean="0"/>
              <a:t>request</a:t>
            </a:r>
            <a:r>
              <a:rPr lang="it-IT" sz="1600" dirty="0" smtClean="0"/>
              <a:t> and </a:t>
            </a:r>
            <a:r>
              <a:rPr lang="it-IT" sz="1600" dirty="0" err="1" smtClean="0"/>
              <a:t>receive</a:t>
            </a:r>
            <a:r>
              <a:rPr lang="it-IT" sz="1600" dirty="0" smtClean="0"/>
              <a:t> </a:t>
            </a:r>
            <a:r>
              <a:rPr lang="it-IT" sz="1600" dirty="0" err="1" smtClean="0"/>
              <a:t>services</a:t>
            </a:r>
            <a:r>
              <a:rPr lang="it-IT" sz="1600" dirty="0" smtClean="0"/>
              <a:t> </a:t>
            </a:r>
            <a:r>
              <a:rPr lang="it-IT" sz="1600" dirty="0" err="1" smtClean="0"/>
              <a:t>from</a:t>
            </a:r>
            <a:r>
              <a:rPr lang="it-IT" sz="1600" dirty="0" smtClean="0"/>
              <a:t> a </a:t>
            </a:r>
            <a:r>
              <a:rPr lang="it-IT" sz="1600" dirty="0" err="1" smtClean="0"/>
              <a:t>centralized</a:t>
            </a:r>
            <a:r>
              <a:rPr lang="it-IT" sz="1600" dirty="0" smtClean="0"/>
              <a:t> server   </a:t>
            </a:r>
          </a:p>
          <a:p>
            <a:endParaRPr lang="it-IT" dirty="0"/>
          </a:p>
          <a:p>
            <a:r>
              <a:rPr lang="it-IT" dirty="0" smtClean="0"/>
              <a:t>             </a:t>
            </a:r>
            <a:endParaRPr lang="it-IT" dirty="0"/>
          </a:p>
        </p:txBody>
      </p:sp>
      <p:pic>
        <p:nvPicPr>
          <p:cNvPr id="15" name="Immagine 14" descr="Client server.png"/>
          <p:cNvPicPr>
            <a:picLocks noChangeAspect="1"/>
          </p:cNvPicPr>
          <p:nvPr/>
        </p:nvPicPr>
        <p:blipFill>
          <a:blip r:embed="rId2" cstate="print"/>
          <a:stretch>
            <a:fillRect/>
          </a:stretch>
        </p:blipFill>
        <p:spPr>
          <a:xfrm>
            <a:off x="395536" y="4437112"/>
            <a:ext cx="2592288" cy="1171514"/>
          </a:xfrm>
          <a:prstGeom prst="rect">
            <a:avLst/>
          </a:prstGeom>
          <a:ln>
            <a:noFill/>
          </a:ln>
          <a:effectLst>
            <a:outerShdw blurRad="292100" dist="139700" dir="2700000" algn="tl" rotWithShape="0">
              <a:srgbClr val="333333">
                <a:alpha val="65000"/>
              </a:srgbClr>
            </a:outerShdw>
          </a:effectLst>
        </p:spPr>
      </p:pic>
      <p:sp>
        <p:nvSpPr>
          <p:cNvPr id="17" name="CasellaDiTesto 16"/>
          <p:cNvSpPr txBox="1"/>
          <p:nvPr/>
        </p:nvSpPr>
        <p:spPr>
          <a:xfrm>
            <a:off x="1979712" y="5661248"/>
            <a:ext cx="2592288" cy="276999"/>
          </a:xfrm>
          <a:prstGeom prst="rect">
            <a:avLst/>
          </a:prstGeom>
          <a:noFill/>
        </p:spPr>
        <p:txBody>
          <a:bodyPr wrap="square" rtlCol="0">
            <a:spAutoFit/>
          </a:bodyPr>
          <a:lstStyle/>
          <a:p>
            <a:r>
              <a:rPr lang="it-IT" sz="1200" dirty="0" err="1" smtClean="0"/>
              <a:t>Image</a:t>
            </a:r>
            <a:r>
              <a:rPr lang="it-IT" sz="1200" dirty="0" smtClean="0"/>
              <a:t> </a:t>
            </a:r>
            <a:r>
              <a:rPr lang="it-IT" sz="1200" dirty="0" err="1" smtClean="0"/>
              <a:t>credit</a:t>
            </a:r>
            <a:r>
              <a:rPr lang="it-IT" sz="1200" dirty="0" smtClean="0"/>
              <a:t>: </a:t>
            </a:r>
            <a:r>
              <a:rPr lang="it-IT" sz="1200" dirty="0" err="1" smtClean="0">
                <a:hlinkClick r:id="rId3"/>
              </a:rPr>
              <a:t>enjoyalgorithms.co</a:t>
            </a:r>
            <a:r>
              <a:rPr lang="it-IT" sz="1200" dirty="0" err="1">
                <a:hlinkClick r:id="rId3"/>
              </a:rPr>
              <a:t>m</a:t>
            </a:r>
            <a:endParaRPr lang="it-IT" sz="1200" dirty="0"/>
          </a:p>
        </p:txBody>
      </p:sp>
      <p:pic>
        <p:nvPicPr>
          <p:cNvPr id="18" name="Immagine 17" descr="P2P.jpg"/>
          <p:cNvPicPr>
            <a:picLocks noChangeAspect="1"/>
          </p:cNvPicPr>
          <p:nvPr/>
        </p:nvPicPr>
        <p:blipFill>
          <a:blip r:embed="rId4" cstate="print"/>
          <a:stretch>
            <a:fillRect/>
          </a:stretch>
        </p:blipFill>
        <p:spPr>
          <a:xfrm>
            <a:off x="7216088" y="3501008"/>
            <a:ext cx="1927912" cy="2520280"/>
          </a:xfrm>
          <a:prstGeom prst="rect">
            <a:avLst/>
          </a:prstGeom>
          <a:ln>
            <a:noFill/>
          </a:ln>
          <a:effectLst>
            <a:outerShdw blurRad="292100" dist="139700" dir="2700000" algn="tl" rotWithShape="0">
              <a:srgbClr val="333333">
                <a:alpha val="65000"/>
              </a:srgbClr>
            </a:outerShdw>
          </a:effectLst>
        </p:spPr>
      </p:pic>
      <p:sp>
        <p:nvSpPr>
          <p:cNvPr id="19" name="CasellaDiTesto 18"/>
          <p:cNvSpPr txBox="1"/>
          <p:nvPr/>
        </p:nvSpPr>
        <p:spPr>
          <a:xfrm>
            <a:off x="6516216" y="6237312"/>
            <a:ext cx="2520279" cy="276999"/>
          </a:xfrm>
          <a:prstGeom prst="rect">
            <a:avLst/>
          </a:prstGeom>
          <a:noFill/>
        </p:spPr>
        <p:txBody>
          <a:bodyPr wrap="square" rtlCol="0">
            <a:spAutoFit/>
          </a:bodyPr>
          <a:lstStyle/>
          <a:p>
            <a:r>
              <a:rPr lang="it-IT" sz="1200" dirty="0" err="1" smtClean="0"/>
              <a:t>Image</a:t>
            </a:r>
            <a:r>
              <a:rPr lang="it-IT" sz="1200" dirty="0" smtClean="0"/>
              <a:t> </a:t>
            </a:r>
            <a:r>
              <a:rPr lang="it-IT" sz="1200" dirty="0" err="1" smtClean="0"/>
              <a:t>credit</a:t>
            </a:r>
            <a:r>
              <a:rPr lang="it-IT" sz="1200" dirty="0" smtClean="0"/>
              <a:t>: </a:t>
            </a:r>
            <a:r>
              <a:rPr lang="it-IT" sz="1200" dirty="0" err="1" smtClean="0">
                <a:hlinkClick r:id="rId5"/>
              </a:rPr>
              <a:t>definicionabc.com</a:t>
            </a:r>
            <a:endParaRPr lang="it-IT" sz="1200" dirty="0"/>
          </a:p>
        </p:txBody>
      </p:sp>
      <p:cxnSp>
        <p:nvCxnSpPr>
          <p:cNvPr id="21" name="Connettore 1 20"/>
          <p:cNvCxnSpPr/>
          <p:nvPr/>
        </p:nvCxnSpPr>
        <p:spPr>
          <a:xfrm>
            <a:off x="4572000" y="2852936"/>
            <a:ext cx="0" cy="4005064"/>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fontScale="90000"/>
          </a:bodyPr>
          <a:lstStyle/>
          <a:p>
            <a:r>
              <a:rPr lang="it-IT" sz="3600" dirty="0" err="1" smtClean="0">
                <a:solidFill>
                  <a:srgbClr val="FF0000"/>
                </a:solidFill>
              </a:rPr>
              <a:t>Difference</a:t>
            </a:r>
            <a:r>
              <a:rPr lang="it-IT" sz="3600" dirty="0" smtClean="0">
                <a:solidFill>
                  <a:srgbClr val="FF0000"/>
                </a:solidFill>
              </a:rPr>
              <a:t> </a:t>
            </a:r>
            <a:r>
              <a:rPr lang="it-IT" sz="3600" dirty="0" err="1" smtClean="0">
                <a:solidFill>
                  <a:srgbClr val="FF0000"/>
                </a:solidFill>
              </a:rPr>
              <a:t>between</a:t>
            </a:r>
            <a:r>
              <a:rPr lang="it-IT" sz="3600" dirty="0" smtClean="0">
                <a:solidFill>
                  <a:srgbClr val="FF0000"/>
                </a:solidFill>
              </a:rPr>
              <a:t> </a:t>
            </a:r>
            <a:r>
              <a:rPr lang="it-IT" sz="3600" dirty="0" err="1" smtClean="0">
                <a:solidFill>
                  <a:srgbClr val="FF0000"/>
                </a:solidFill>
              </a:rPr>
              <a:t>these</a:t>
            </a:r>
            <a:r>
              <a:rPr lang="it-IT" sz="3600" dirty="0" smtClean="0">
                <a:solidFill>
                  <a:srgbClr val="FF0000"/>
                </a:solidFill>
              </a:rPr>
              <a:t> </a:t>
            </a:r>
            <a:r>
              <a:rPr lang="it-IT" sz="3600" dirty="0" err="1" smtClean="0">
                <a:solidFill>
                  <a:srgbClr val="FF0000"/>
                </a:solidFill>
              </a:rPr>
              <a:t>two</a:t>
            </a:r>
            <a:r>
              <a:rPr lang="it-IT" sz="3600" dirty="0" smtClean="0">
                <a:solidFill>
                  <a:srgbClr val="FF0000"/>
                </a:solidFill>
              </a:rPr>
              <a:t> </a:t>
            </a:r>
            <a:r>
              <a:rPr lang="it-IT" sz="3600" dirty="0" err="1" smtClean="0">
                <a:solidFill>
                  <a:srgbClr val="FF0000"/>
                </a:solidFill>
              </a:rPr>
              <a:t>architectures</a:t>
            </a:r>
            <a:endParaRPr lang="it-IT" sz="3600" dirty="0">
              <a:solidFill>
                <a:srgbClr val="FF0000"/>
              </a:solidFill>
            </a:endParaRPr>
          </a:p>
        </p:txBody>
      </p:sp>
      <p:sp>
        <p:nvSpPr>
          <p:cNvPr id="7" name="CasellaDiTesto 6"/>
          <p:cNvSpPr txBox="1"/>
          <p:nvPr/>
        </p:nvSpPr>
        <p:spPr>
          <a:xfrm>
            <a:off x="1835696" y="1484784"/>
            <a:ext cx="5472608" cy="369332"/>
          </a:xfrm>
          <a:prstGeom prst="rect">
            <a:avLst/>
          </a:prstGeom>
          <a:noFill/>
        </p:spPr>
        <p:txBody>
          <a:bodyPr wrap="square" rtlCol="0">
            <a:spAutoFit/>
          </a:bodyPr>
          <a:lstStyle/>
          <a:p>
            <a:pPr algn="ctr"/>
            <a:r>
              <a:rPr lang="it-IT" dirty="0" smtClean="0"/>
              <a:t>As </a:t>
            </a:r>
            <a:r>
              <a:rPr lang="it-IT" dirty="0" err="1" smtClean="0"/>
              <a:t>we</a:t>
            </a:r>
            <a:r>
              <a:rPr lang="it-IT" dirty="0"/>
              <a:t> </a:t>
            </a:r>
            <a:r>
              <a:rPr lang="it-IT" dirty="0" err="1" smtClean="0"/>
              <a:t>see</a:t>
            </a:r>
            <a:r>
              <a:rPr lang="it-IT" dirty="0" smtClean="0"/>
              <a:t> </a:t>
            </a:r>
            <a:r>
              <a:rPr lang="it-IT" dirty="0" err="1" smtClean="0"/>
              <a:t>from</a:t>
            </a:r>
            <a:r>
              <a:rPr lang="it-IT" dirty="0" smtClean="0"/>
              <a:t> the </a:t>
            </a:r>
            <a:r>
              <a:rPr lang="it-IT" dirty="0" err="1" smtClean="0"/>
              <a:t>images</a:t>
            </a:r>
            <a:r>
              <a:rPr lang="it-IT" dirty="0" smtClean="0"/>
              <a:t> </a:t>
            </a:r>
            <a:r>
              <a:rPr lang="it-IT" dirty="0" err="1" smtClean="0"/>
              <a:t>above</a:t>
            </a:r>
            <a:r>
              <a:rPr lang="it-IT" dirty="0" smtClean="0"/>
              <a:t> </a:t>
            </a:r>
            <a:endParaRPr lang="it-IT" dirty="0"/>
          </a:p>
        </p:txBody>
      </p:sp>
      <p:sp>
        <p:nvSpPr>
          <p:cNvPr id="9" name="Segnaposto contenuto 8"/>
          <p:cNvSpPr>
            <a:spLocks noGrp="1"/>
          </p:cNvSpPr>
          <p:nvPr>
            <p:ph idx="1"/>
          </p:nvPr>
        </p:nvSpPr>
        <p:spPr>
          <a:xfrm>
            <a:off x="395536" y="1988840"/>
            <a:ext cx="3826768" cy="2448272"/>
          </a:xfrm>
        </p:spPr>
        <p:txBody>
          <a:bodyPr>
            <a:noAutofit/>
          </a:bodyPr>
          <a:lstStyle/>
          <a:p>
            <a:pPr>
              <a:buNone/>
            </a:pPr>
            <a:r>
              <a:rPr lang="it-IT" sz="1800" dirty="0" smtClean="0"/>
              <a:t>In the Client Server </a:t>
            </a:r>
            <a:r>
              <a:rPr lang="it-IT" sz="1800" dirty="0" err="1" smtClean="0"/>
              <a:t>Model</a:t>
            </a:r>
            <a:r>
              <a:rPr lang="it-IT" sz="1800" dirty="0" smtClean="0"/>
              <a:t>: </a:t>
            </a:r>
          </a:p>
          <a:p>
            <a:pPr>
              <a:buNone/>
            </a:pPr>
            <a:r>
              <a:rPr lang="it-IT" sz="1800" dirty="0" smtClean="0"/>
              <a:t>	</a:t>
            </a:r>
            <a:r>
              <a:rPr lang="it-IT" sz="1800" b="1" dirty="0" smtClean="0"/>
              <a:t>The Client:</a:t>
            </a:r>
          </a:p>
          <a:p>
            <a:r>
              <a:rPr lang="it-IT" sz="1800" dirty="0" err="1" smtClean="0"/>
              <a:t>Requests</a:t>
            </a:r>
            <a:r>
              <a:rPr lang="it-IT" sz="1800" dirty="0" smtClean="0"/>
              <a:t> </a:t>
            </a:r>
            <a:r>
              <a:rPr lang="it-IT" sz="1800" dirty="0" err="1" smtClean="0"/>
              <a:t>services</a:t>
            </a:r>
            <a:r>
              <a:rPr lang="it-IT" sz="1800" dirty="0" smtClean="0"/>
              <a:t> or </a:t>
            </a:r>
            <a:r>
              <a:rPr lang="it-IT" sz="1800" dirty="0" err="1" smtClean="0"/>
              <a:t>resources</a:t>
            </a:r>
            <a:endParaRPr lang="it-IT" sz="1800" dirty="0" smtClean="0"/>
          </a:p>
          <a:p>
            <a:pPr>
              <a:buNone/>
            </a:pPr>
            <a:r>
              <a:rPr lang="it-IT" sz="1800" dirty="0" smtClean="0"/>
              <a:t>	</a:t>
            </a:r>
            <a:r>
              <a:rPr lang="it-IT" sz="1800" b="1" dirty="0" smtClean="0"/>
              <a:t>The Server: </a:t>
            </a:r>
          </a:p>
          <a:p>
            <a:r>
              <a:rPr lang="en-US" sz="1800" dirty="0" smtClean="0"/>
              <a:t>Provides resources and services.</a:t>
            </a:r>
          </a:p>
          <a:p>
            <a:r>
              <a:rPr lang="en-US" sz="1800" dirty="0" smtClean="0"/>
              <a:t>Manages all processes and data storage.</a:t>
            </a:r>
          </a:p>
          <a:p>
            <a:r>
              <a:rPr lang="en-US" sz="1800" dirty="0" smtClean="0"/>
              <a:t>Sends output back to the client</a:t>
            </a:r>
            <a:endParaRPr lang="it-IT" sz="1800" dirty="0"/>
          </a:p>
        </p:txBody>
      </p:sp>
      <p:sp>
        <p:nvSpPr>
          <p:cNvPr id="10" name="CasellaDiTesto 9"/>
          <p:cNvSpPr txBox="1"/>
          <p:nvPr/>
        </p:nvSpPr>
        <p:spPr>
          <a:xfrm>
            <a:off x="5364088" y="1916832"/>
            <a:ext cx="3240360" cy="3139321"/>
          </a:xfrm>
          <a:prstGeom prst="rect">
            <a:avLst/>
          </a:prstGeom>
          <a:noFill/>
        </p:spPr>
        <p:txBody>
          <a:bodyPr wrap="square" rtlCol="0">
            <a:spAutoFit/>
          </a:bodyPr>
          <a:lstStyle/>
          <a:p>
            <a:r>
              <a:rPr lang="it-IT" dirty="0" smtClean="0"/>
              <a:t>In the Peer-to-Peer </a:t>
            </a:r>
            <a:r>
              <a:rPr lang="it-IT" dirty="0" err="1" smtClean="0"/>
              <a:t>Model</a:t>
            </a:r>
            <a:endParaRPr lang="it-IT" dirty="0" smtClean="0"/>
          </a:p>
          <a:p>
            <a:r>
              <a:rPr lang="it-IT" b="1" dirty="0" err="1" smtClean="0"/>
              <a:t>Each</a:t>
            </a:r>
            <a:r>
              <a:rPr lang="it-IT" b="1" dirty="0" smtClean="0"/>
              <a:t> </a:t>
            </a:r>
            <a:r>
              <a:rPr lang="it-IT" b="1" dirty="0" err="1" smtClean="0"/>
              <a:t>peer</a:t>
            </a:r>
            <a:r>
              <a:rPr lang="it-IT" b="1" dirty="0" smtClean="0"/>
              <a:t> can </a:t>
            </a:r>
            <a:r>
              <a:rPr lang="it-IT" b="1" dirty="0" err="1" smtClean="0"/>
              <a:t>be</a:t>
            </a:r>
            <a:r>
              <a:rPr lang="it-IT" b="1" dirty="0" smtClean="0"/>
              <a:t> </a:t>
            </a:r>
            <a:r>
              <a:rPr lang="it-IT" b="1" dirty="0" err="1" smtClean="0"/>
              <a:t>both</a:t>
            </a:r>
            <a:r>
              <a:rPr lang="it-IT" b="1" dirty="0" smtClean="0"/>
              <a:t> a server and a client:</a:t>
            </a:r>
          </a:p>
          <a:p>
            <a:pPr>
              <a:buFont typeface="Arial" pitchFamily="34" charset="0"/>
              <a:buChar char="•"/>
            </a:pPr>
            <a:r>
              <a:rPr lang="en-US" b="1" dirty="0" smtClean="0"/>
              <a:t> </a:t>
            </a:r>
            <a:r>
              <a:rPr lang="en-US" dirty="0" smtClean="0"/>
              <a:t>Requests services or resources.</a:t>
            </a:r>
          </a:p>
          <a:p>
            <a:pPr>
              <a:buFont typeface="Arial" pitchFamily="34" charset="0"/>
              <a:buChar char="•"/>
            </a:pPr>
            <a:r>
              <a:rPr lang="en-US" dirty="0" smtClean="0"/>
              <a:t> Provides resources and services.</a:t>
            </a:r>
          </a:p>
          <a:p>
            <a:pPr>
              <a:buFont typeface="Arial" pitchFamily="34" charset="0"/>
              <a:buChar char="•"/>
            </a:pPr>
            <a:r>
              <a:rPr lang="en-US" dirty="0" smtClean="0"/>
              <a:t> Manages processes and data storage.</a:t>
            </a:r>
          </a:p>
          <a:p>
            <a:pPr>
              <a:buFont typeface="Arial" pitchFamily="34" charset="0"/>
              <a:buChar char="•"/>
            </a:pPr>
            <a:r>
              <a:rPr lang="en-US" dirty="0" smtClean="0"/>
              <a:t> Sends output back to the others.</a:t>
            </a:r>
            <a:endParaRPr lang="it-IT" dirty="0" smtClean="0"/>
          </a:p>
          <a:p>
            <a:endParaRPr lang="it-IT" dirty="0"/>
          </a:p>
        </p:txBody>
      </p:sp>
      <p:cxnSp>
        <p:nvCxnSpPr>
          <p:cNvPr id="12" name="Connettore 1 11"/>
          <p:cNvCxnSpPr>
            <a:stCxn id="7" idx="2"/>
          </p:cNvCxnSpPr>
          <p:nvPr/>
        </p:nvCxnSpPr>
        <p:spPr>
          <a:xfrm>
            <a:off x="4572000" y="1854116"/>
            <a:ext cx="72008" cy="3375084"/>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a:xfrm>
            <a:off x="457200" y="0"/>
            <a:ext cx="8229600" cy="476672"/>
          </a:xfrm>
        </p:spPr>
        <p:txBody>
          <a:bodyPr>
            <a:normAutofit fontScale="90000"/>
          </a:bodyPr>
          <a:lstStyle/>
          <a:p>
            <a:r>
              <a:rPr lang="it-IT" sz="3600" b="1" dirty="0" err="1" smtClean="0">
                <a:solidFill>
                  <a:srgbClr val="FF0000"/>
                </a:solidFill>
              </a:rPr>
              <a:t>Advantages</a:t>
            </a:r>
            <a:r>
              <a:rPr lang="it-IT" sz="3600" b="1" dirty="0" smtClean="0">
                <a:solidFill>
                  <a:srgbClr val="FF0000"/>
                </a:solidFill>
              </a:rPr>
              <a:t> and </a:t>
            </a:r>
            <a:r>
              <a:rPr lang="it-IT" sz="3600" b="1" dirty="0" err="1" smtClean="0">
                <a:solidFill>
                  <a:srgbClr val="FF0000"/>
                </a:solidFill>
              </a:rPr>
              <a:t>disadavantages</a:t>
            </a:r>
            <a:endParaRPr lang="it-IT" sz="3600" dirty="0">
              <a:solidFill>
                <a:srgbClr val="FF0000"/>
              </a:solidFill>
              <a:latin typeface="Calibri (corpo)"/>
            </a:endParaRPr>
          </a:p>
        </p:txBody>
      </p:sp>
      <p:sp>
        <p:nvSpPr>
          <p:cNvPr id="5" name="CasellaDiTesto 4"/>
          <p:cNvSpPr txBox="1"/>
          <p:nvPr/>
        </p:nvSpPr>
        <p:spPr>
          <a:xfrm>
            <a:off x="1043608" y="476672"/>
            <a:ext cx="7291804" cy="369332"/>
          </a:xfrm>
          <a:prstGeom prst="rect">
            <a:avLst/>
          </a:prstGeom>
          <a:noFill/>
        </p:spPr>
        <p:txBody>
          <a:bodyPr wrap="none" rtlCol="0">
            <a:spAutoFit/>
          </a:bodyPr>
          <a:lstStyle/>
          <a:p>
            <a:r>
              <a:rPr lang="it-IT" dirty="0" err="1" smtClean="0"/>
              <a:t>Obviously</a:t>
            </a:r>
            <a:r>
              <a:rPr lang="it-IT" dirty="0" smtClean="0"/>
              <a:t> </a:t>
            </a:r>
            <a:r>
              <a:rPr lang="it-IT" dirty="0" err="1" smtClean="0"/>
              <a:t>these</a:t>
            </a:r>
            <a:r>
              <a:rPr lang="it-IT" dirty="0" smtClean="0"/>
              <a:t> </a:t>
            </a:r>
            <a:r>
              <a:rPr lang="it-IT" dirty="0" err="1" smtClean="0"/>
              <a:t>architectures</a:t>
            </a:r>
            <a:r>
              <a:rPr lang="it-IT" dirty="0" smtClean="0"/>
              <a:t> </a:t>
            </a:r>
            <a:r>
              <a:rPr lang="it-IT" dirty="0" err="1" smtClean="0"/>
              <a:t>have</a:t>
            </a:r>
            <a:r>
              <a:rPr lang="it-IT" dirty="0" smtClean="0"/>
              <a:t> </a:t>
            </a:r>
            <a:r>
              <a:rPr lang="it-IT" dirty="0" err="1" smtClean="0"/>
              <a:t>several</a:t>
            </a:r>
            <a:r>
              <a:rPr lang="it-IT" dirty="0" smtClean="0"/>
              <a:t> </a:t>
            </a:r>
            <a:r>
              <a:rPr lang="it-IT" dirty="0" err="1" smtClean="0"/>
              <a:t>advantages</a:t>
            </a:r>
            <a:r>
              <a:rPr lang="it-IT" dirty="0" smtClean="0"/>
              <a:t> and </a:t>
            </a:r>
            <a:r>
              <a:rPr lang="it-IT" dirty="0" err="1" smtClean="0"/>
              <a:t>disadavantages</a:t>
            </a:r>
            <a:r>
              <a:rPr lang="it-IT" dirty="0" smtClean="0"/>
              <a:t>: </a:t>
            </a:r>
            <a:endParaRPr lang="it-IT" dirty="0"/>
          </a:p>
        </p:txBody>
      </p:sp>
      <p:sp>
        <p:nvSpPr>
          <p:cNvPr id="6" name="Segnaposto contenuto 5"/>
          <p:cNvSpPr>
            <a:spLocks noGrp="1"/>
          </p:cNvSpPr>
          <p:nvPr>
            <p:ph idx="1"/>
          </p:nvPr>
        </p:nvSpPr>
        <p:spPr>
          <a:xfrm>
            <a:off x="107504" y="1196752"/>
            <a:ext cx="2952328" cy="2160240"/>
          </a:xfrm>
        </p:spPr>
        <p:txBody>
          <a:bodyPr numCol="1">
            <a:noAutofit/>
          </a:bodyPr>
          <a:lstStyle/>
          <a:p>
            <a:pPr>
              <a:buNone/>
            </a:pPr>
            <a:r>
              <a:rPr lang="it-IT" sz="1400" dirty="0" err="1" smtClean="0"/>
              <a:t>Advantages</a:t>
            </a:r>
            <a:r>
              <a:rPr lang="it-IT" sz="1400" dirty="0" smtClean="0"/>
              <a:t>:</a:t>
            </a:r>
          </a:p>
          <a:p>
            <a:pPr>
              <a:buAutoNum type="arabicPeriod"/>
            </a:pPr>
            <a:r>
              <a:rPr lang="en-US" sz="1400" b="1" dirty="0" smtClean="0"/>
              <a:t>Centralized Management</a:t>
            </a:r>
            <a:endParaRPr lang="en-US" sz="1400" dirty="0" smtClean="0"/>
          </a:p>
          <a:p>
            <a:pPr>
              <a:buAutoNum type="arabicPeriod"/>
            </a:pPr>
            <a:r>
              <a:rPr lang="en-US" sz="1400" b="1" dirty="0" smtClean="0"/>
              <a:t>Security</a:t>
            </a:r>
            <a:endParaRPr lang="en-US" sz="1400" dirty="0" smtClean="0"/>
          </a:p>
          <a:p>
            <a:pPr>
              <a:buFont typeface="+mj-lt"/>
              <a:buAutoNum type="arabicPeriod" startAt="3"/>
            </a:pPr>
            <a:r>
              <a:rPr lang="en-US" sz="1400" b="1" dirty="0" smtClean="0"/>
              <a:t>Reliability</a:t>
            </a:r>
            <a:endParaRPr lang="en-US" sz="1400" dirty="0" smtClean="0"/>
          </a:p>
          <a:p>
            <a:pPr>
              <a:buFont typeface="+mj-lt"/>
              <a:buAutoNum type="arabicPeriod" startAt="4"/>
            </a:pPr>
            <a:r>
              <a:rPr lang="en-US" sz="1400" b="1" dirty="0" smtClean="0"/>
              <a:t>Scalability</a:t>
            </a:r>
            <a:endParaRPr lang="en-US" sz="1400" dirty="0"/>
          </a:p>
          <a:p>
            <a:pPr>
              <a:buFont typeface="+mj-lt"/>
              <a:buAutoNum type="arabicPeriod" startAt="4"/>
            </a:pPr>
            <a:r>
              <a:rPr lang="en-US" sz="1400" b="1" dirty="0" smtClean="0"/>
              <a:t>Easier Backup &amp; Data Management</a:t>
            </a:r>
            <a:endParaRPr lang="it-IT" sz="1400" dirty="0"/>
          </a:p>
        </p:txBody>
      </p:sp>
      <p:cxnSp>
        <p:nvCxnSpPr>
          <p:cNvPr id="8" name="Connettore 1 7"/>
          <p:cNvCxnSpPr/>
          <p:nvPr/>
        </p:nvCxnSpPr>
        <p:spPr>
          <a:xfrm>
            <a:off x="2771800" y="1268760"/>
            <a:ext cx="0" cy="1800200"/>
          </a:xfrm>
          <a:prstGeom prst="line">
            <a:avLst/>
          </a:prstGeom>
        </p:spPr>
        <p:style>
          <a:lnRef idx="1">
            <a:schemeClr val="accent1"/>
          </a:lnRef>
          <a:fillRef idx="0">
            <a:schemeClr val="accent1"/>
          </a:fillRef>
          <a:effectRef idx="0">
            <a:schemeClr val="accent1"/>
          </a:effectRef>
          <a:fontRef idx="minor">
            <a:schemeClr val="tx1"/>
          </a:fontRef>
        </p:style>
      </p:cxnSp>
      <p:sp>
        <p:nvSpPr>
          <p:cNvPr id="11" name="CasellaDiTesto 10"/>
          <p:cNvSpPr txBox="1"/>
          <p:nvPr/>
        </p:nvSpPr>
        <p:spPr>
          <a:xfrm>
            <a:off x="971600" y="836712"/>
            <a:ext cx="2736304" cy="615553"/>
          </a:xfrm>
          <a:prstGeom prst="rect">
            <a:avLst/>
          </a:prstGeom>
          <a:noFill/>
        </p:spPr>
        <p:txBody>
          <a:bodyPr wrap="square" rtlCol="0">
            <a:spAutoFit/>
          </a:bodyPr>
          <a:lstStyle/>
          <a:p>
            <a:pPr algn="ctr"/>
            <a:r>
              <a:rPr lang="it-IT" sz="1600" dirty="0" smtClean="0"/>
              <a:t>Client Server </a:t>
            </a:r>
            <a:r>
              <a:rPr lang="it-IT" sz="1600" dirty="0" err="1" smtClean="0"/>
              <a:t>Architecture</a:t>
            </a:r>
            <a:r>
              <a:rPr lang="it-IT" sz="1600" dirty="0" smtClean="0"/>
              <a:t> : </a:t>
            </a:r>
          </a:p>
          <a:p>
            <a:pPr algn="ctr"/>
            <a:endParaRPr lang="it-IT" dirty="0"/>
          </a:p>
        </p:txBody>
      </p:sp>
      <p:sp>
        <p:nvSpPr>
          <p:cNvPr id="12" name="CasellaDiTesto 11"/>
          <p:cNvSpPr txBox="1"/>
          <p:nvPr/>
        </p:nvSpPr>
        <p:spPr>
          <a:xfrm>
            <a:off x="2843808" y="1268760"/>
            <a:ext cx="2304256" cy="1169551"/>
          </a:xfrm>
          <a:prstGeom prst="rect">
            <a:avLst/>
          </a:prstGeom>
          <a:noFill/>
        </p:spPr>
        <p:txBody>
          <a:bodyPr wrap="square" rtlCol="0">
            <a:spAutoFit/>
          </a:bodyPr>
          <a:lstStyle/>
          <a:p>
            <a:r>
              <a:rPr lang="it-IT" sz="1400" dirty="0" err="1" smtClean="0"/>
              <a:t>Disadvantages</a:t>
            </a:r>
            <a:r>
              <a:rPr lang="it-IT" sz="1400" dirty="0" smtClean="0"/>
              <a:t>:</a:t>
            </a:r>
          </a:p>
          <a:p>
            <a:pPr marL="342900" indent="-342900">
              <a:buFont typeface="+mj-lt"/>
              <a:buAutoNum type="arabicPeriod"/>
            </a:pPr>
            <a:r>
              <a:rPr lang="en-US" sz="1400" b="1" dirty="0" smtClean="0"/>
              <a:t>Single Point of Failure</a:t>
            </a:r>
            <a:endParaRPr lang="en-US" sz="1400" dirty="0" smtClean="0"/>
          </a:p>
          <a:p>
            <a:pPr marL="342900" indent="-342900">
              <a:buFont typeface="+mj-lt"/>
              <a:buAutoNum type="arabicPeriod"/>
            </a:pPr>
            <a:r>
              <a:rPr lang="en-US" sz="1400" b="1" dirty="0" smtClean="0"/>
              <a:t>Cost</a:t>
            </a:r>
            <a:endParaRPr lang="en-US" sz="1400" dirty="0" smtClean="0"/>
          </a:p>
          <a:p>
            <a:pPr marL="342900" indent="-342900">
              <a:buFont typeface="+mj-lt"/>
              <a:buAutoNum type="arabicPeriod"/>
            </a:pPr>
            <a:r>
              <a:rPr lang="en-US" sz="1400" b="1" dirty="0" smtClean="0"/>
              <a:t>Network Traffic</a:t>
            </a:r>
            <a:endParaRPr lang="en-US" sz="1400" dirty="0"/>
          </a:p>
          <a:p>
            <a:pPr marL="342900" indent="-342900">
              <a:buFont typeface="+mj-lt"/>
              <a:buAutoNum type="arabicPeriod"/>
            </a:pPr>
            <a:r>
              <a:rPr lang="en-US" sz="1400" b="1" dirty="0" smtClean="0"/>
              <a:t>Dependence on Server</a:t>
            </a:r>
            <a:endParaRPr lang="it-IT" sz="1400" dirty="0"/>
          </a:p>
        </p:txBody>
      </p:sp>
      <p:sp>
        <p:nvSpPr>
          <p:cNvPr id="15" name="CasellaDiTesto 14"/>
          <p:cNvSpPr txBox="1"/>
          <p:nvPr/>
        </p:nvSpPr>
        <p:spPr>
          <a:xfrm>
            <a:off x="6084168" y="1124744"/>
            <a:ext cx="2103653" cy="307777"/>
          </a:xfrm>
          <a:prstGeom prst="rect">
            <a:avLst/>
          </a:prstGeom>
          <a:noFill/>
        </p:spPr>
        <p:txBody>
          <a:bodyPr wrap="square" rtlCol="0">
            <a:spAutoFit/>
          </a:bodyPr>
          <a:lstStyle/>
          <a:p>
            <a:r>
              <a:rPr lang="it-IT" sz="1400" dirty="0" smtClean="0"/>
              <a:t>Peer-to-Peer </a:t>
            </a:r>
            <a:r>
              <a:rPr lang="it-IT" sz="1400" dirty="0" err="1" smtClean="0"/>
              <a:t>Architecture</a:t>
            </a:r>
            <a:r>
              <a:rPr lang="it-IT" sz="1400" dirty="0" smtClean="0"/>
              <a:t>:</a:t>
            </a:r>
            <a:endParaRPr lang="it-IT" sz="1400" dirty="0"/>
          </a:p>
        </p:txBody>
      </p:sp>
      <p:sp>
        <p:nvSpPr>
          <p:cNvPr id="19" name="CasellaDiTesto 18"/>
          <p:cNvSpPr txBox="1"/>
          <p:nvPr/>
        </p:nvSpPr>
        <p:spPr>
          <a:xfrm>
            <a:off x="5292080" y="1484784"/>
            <a:ext cx="1549463" cy="1384995"/>
          </a:xfrm>
          <a:prstGeom prst="rect">
            <a:avLst/>
          </a:prstGeom>
          <a:noFill/>
        </p:spPr>
        <p:txBody>
          <a:bodyPr wrap="none" rtlCol="0">
            <a:spAutoFit/>
          </a:bodyPr>
          <a:lstStyle/>
          <a:p>
            <a:r>
              <a:rPr lang="it-IT" sz="1400" dirty="0" err="1" smtClean="0"/>
              <a:t>Advantages</a:t>
            </a:r>
            <a:r>
              <a:rPr lang="it-IT" sz="1400" dirty="0" smtClean="0"/>
              <a:t>:</a:t>
            </a:r>
          </a:p>
          <a:p>
            <a:pPr marL="342900" indent="-342900">
              <a:buFont typeface="+mj-lt"/>
              <a:buAutoNum type="arabicPeriod"/>
            </a:pPr>
            <a:r>
              <a:rPr lang="it-IT" sz="1400" b="1" dirty="0" err="1" smtClean="0"/>
              <a:t>Decentralized</a:t>
            </a:r>
            <a:endParaRPr lang="it-IT" sz="1400" b="1" dirty="0" smtClean="0"/>
          </a:p>
          <a:p>
            <a:pPr marL="342900" indent="-342900">
              <a:buFont typeface="+mj-lt"/>
              <a:buAutoNum type="arabicPeriod"/>
            </a:pPr>
            <a:r>
              <a:rPr lang="it-IT" sz="1400" b="1" dirty="0" err="1" smtClean="0"/>
              <a:t>Cost-Effective</a:t>
            </a:r>
            <a:endParaRPr lang="it-IT" sz="1400" dirty="0"/>
          </a:p>
          <a:p>
            <a:pPr marL="342900" indent="-342900">
              <a:buFont typeface="+mj-lt"/>
              <a:buAutoNum type="arabicPeriod"/>
            </a:pPr>
            <a:r>
              <a:rPr lang="it-IT" sz="1400" b="1" dirty="0" err="1" smtClean="0"/>
              <a:t>Scalability</a:t>
            </a:r>
            <a:endParaRPr lang="it-IT" sz="1400" b="1" dirty="0" smtClean="0"/>
          </a:p>
          <a:p>
            <a:pPr marL="342900" indent="-342900">
              <a:buFont typeface="+mj-lt"/>
              <a:buAutoNum type="arabicPeriod"/>
            </a:pPr>
            <a:r>
              <a:rPr lang="it-IT" sz="1400" b="1" dirty="0" err="1" smtClean="0"/>
              <a:t>Redundancy</a:t>
            </a:r>
            <a:endParaRPr lang="it-IT" sz="1400" b="1" dirty="0" smtClean="0"/>
          </a:p>
          <a:p>
            <a:pPr marL="342900" indent="-342900">
              <a:buFont typeface="+mj-lt"/>
              <a:buAutoNum type="arabicPeriod"/>
            </a:pPr>
            <a:r>
              <a:rPr lang="it-IT" sz="1400" b="1" dirty="0" err="1" smtClean="0"/>
              <a:t>Efficiency</a:t>
            </a:r>
            <a:endParaRPr lang="it-IT" sz="1400" b="1" dirty="0"/>
          </a:p>
        </p:txBody>
      </p:sp>
      <p:cxnSp>
        <p:nvCxnSpPr>
          <p:cNvPr id="21" name="Connettore 1 20"/>
          <p:cNvCxnSpPr>
            <a:stCxn id="15" idx="2"/>
          </p:cNvCxnSpPr>
          <p:nvPr/>
        </p:nvCxnSpPr>
        <p:spPr>
          <a:xfrm>
            <a:off x="7135995" y="1432521"/>
            <a:ext cx="28293" cy="2140495"/>
          </a:xfrm>
          <a:prstGeom prst="line">
            <a:avLst/>
          </a:prstGeom>
        </p:spPr>
        <p:style>
          <a:lnRef idx="1">
            <a:schemeClr val="accent1"/>
          </a:lnRef>
          <a:fillRef idx="0">
            <a:schemeClr val="accent1"/>
          </a:fillRef>
          <a:effectRef idx="0">
            <a:schemeClr val="accent1"/>
          </a:effectRef>
          <a:fontRef idx="minor">
            <a:schemeClr val="tx1"/>
          </a:fontRef>
        </p:style>
      </p:cxnSp>
      <p:sp>
        <p:nvSpPr>
          <p:cNvPr id="24" name="CasellaDiTesto 23"/>
          <p:cNvSpPr txBox="1"/>
          <p:nvPr/>
        </p:nvSpPr>
        <p:spPr>
          <a:xfrm>
            <a:off x="7308305" y="1484784"/>
            <a:ext cx="1656184" cy="1815882"/>
          </a:xfrm>
          <a:prstGeom prst="rect">
            <a:avLst/>
          </a:prstGeom>
          <a:noFill/>
        </p:spPr>
        <p:txBody>
          <a:bodyPr wrap="square" rtlCol="0">
            <a:spAutoFit/>
          </a:bodyPr>
          <a:lstStyle/>
          <a:p>
            <a:r>
              <a:rPr lang="it-IT" sz="1400" dirty="0" err="1" smtClean="0"/>
              <a:t>Disadvantages</a:t>
            </a:r>
            <a:r>
              <a:rPr lang="it-IT" sz="1400" dirty="0" smtClean="0"/>
              <a:t>:</a:t>
            </a:r>
          </a:p>
          <a:p>
            <a:pPr marL="342900" indent="-342900">
              <a:buFont typeface="+mj-lt"/>
              <a:buAutoNum type="arabicPeriod"/>
            </a:pPr>
            <a:r>
              <a:rPr lang="it-IT" sz="1400" b="1" dirty="0" smtClean="0"/>
              <a:t>Security</a:t>
            </a:r>
          </a:p>
          <a:p>
            <a:pPr marL="342900" indent="-342900">
              <a:buFont typeface="+mj-lt"/>
              <a:buAutoNum type="arabicPeriod"/>
            </a:pPr>
            <a:r>
              <a:rPr lang="it-IT" sz="1400" b="1" dirty="0" err="1" smtClean="0"/>
              <a:t>Limited</a:t>
            </a:r>
            <a:r>
              <a:rPr lang="it-IT" sz="1400" b="1" dirty="0" smtClean="0"/>
              <a:t> </a:t>
            </a:r>
            <a:r>
              <a:rPr lang="it-IT" sz="1400" b="1" dirty="0" err="1" smtClean="0"/>
              <a:t>Control</a:t>
            </a:r>
            <a:endParaRPr lang="it-IT" sz="1400" b="1" dirty="0" smtClean="0"/>
          </a:p>
          <a:p>
            <a:pPr marL="342900" indent="-342900">
              <a:buFont typeface="+mj-lt"/>
              <a:buAutoNum type="arabicPeriod"/>
            </a:pPr>
            <a:r>
              <a:rPr lang="it-IT" sz="1400" b="1" dirty="0" smtClean="0"/>
              <a:t>Network </a:t>
            </a:r>
            <a:r>
              <a:rPr lang="it-IT" sz="1400" b="1" dirty="0" err="1" smtClean="0"/>
              <a:t>Congestion</a:t>
            </a:r>
            <a:endParaRPr lang="it-IT" sz="1400" b="1" dirty="0" smtClean="0"/>
          </a:p>
          <a:p>
            <a:pPr marL="342900" indent="-342900">
              <a:buFont typeface="+mj-lt"/>
              <a:buAutoNum type="arabicPeriod"/>
            </a:pPr>
            <a:r>
              <a:rPr lang="it-IT" sz="1400" b="1" dirty="0" err="1" smtClean="0"/>
              <a:t>Complexity</a:t>
            </a:r>
            <a:r>
              <a:rPr lang="it-IT" sz="1400" b="1" dirty="0" smtClean="0"/>
              <a:t> in Management</a:t>
            </a:r>
            <a:endParaRPr lang="it-IT" sz="1400" b="1" dirty="0"/>
          </a:p>
        </p:txBody>
      </p:sp>
      <p:sp>
        <p:nvSpPr>
          <p:cNvPr id="26" name="CasellaDiTesto 25"/>
          <p:cNvSpPr txBox="1"/>
          <p:nvPr/>
        </p:nvSpPr>
        <p:spPr>
          <a:xfrm>
            <a:off x="611560" y="4365104"/>
            <a:ext cx="6624736" cy="2031325"/>
          </a:xfrm>
          <a:prstGeom prst="rect">
            <a:avLst/>
          </a:prstGeom>
          <a:noFill/>
        </p:spPr>
        <p:txBody>
          <a:bodyPr wrap="square" rtlCol="0">
            <a:spAutoFit/>
          </a:bodyPr>
          <a:lstStyle/>
          <a:p>
            <a:r>
              <a:rPr lang="it-IT" dirty="0" smtClean="0"/>
              <a:t>In </a:t>
            </a:r>
            <a:r>
              <a:rPr lang="it-IT" dirty="0" err="1" smtClean="0"/>
              <a:t>summary</a:t>
            </a:r>
            <a:r>
              <a:rPr lang="it-IT" dirty="0" smtClean="0"/>
              <a:t>:</a:t>
            </a:r>
          </a:p>
          <a:p>
            <a:pPr>
              <a:buFont typeface="Arial" pitchFamily="34" charset="0"/>
              <a:buChar char="•"/>
            </a:pPr>
            <a:r>
              <a:rPr lang="it-IT" dirty="0"/>
              <a:t> </a:t>
            </a:r>
            <a:r>
              <a:rPr lang="en-US" dirty="0" smtClean="0"/>
              <a:t>Client-Server is best for environments that require </a:t>
            </a:r>
            <a:r>
              <a:rPr lang="en-US" b="1" dirty="0" smtClean="0"/>
              <a:t>centralized control</a:t>
            </a:r>
            <a:r>
              <a:rPr lang="en-US" dirty="0" smtClean="0"/>
              <a:t>, </a:t>
            </a:r>
            <a:r>
              <a:rPr lang="en-US" b="1" dirty="0" smtClean="0"/>
              <a:t>security</a:t>
            </a:r>
            <a:r>
              <a:rPr lang="en-US" dirty="0" smtClean="0"/>
              <a:t>, and </a:t>
            </a:r>
            <a:r>
              <a:rPr lang="en-US" b="1" dirty="0" smtClean="0"/>
              <a:t>reliable performance</a:t>
            </a:r>
            <a:r>
              <a:rPr lang="en-US" dirty="0" smtClean="0"/>
              <a:t>, but it can suffer from a </a:t>
            </a:r>
            <a:r>
              <a:rPr lang="en-US" b="1" dirty="0" smtClean="0"/>
              <a:t>single point of failure</a:t>
            </a:r>
            <a:r>
              <a:rPr lang="en-US" dirty="0" smtClean="0"/>
              <a:t> and high costs.</a:t>
            </a:r>
          </a:p>
          <a:p>
            <a:pPr>
              <a:buFont typeface="Arial" pitchFamily="34" charset="0"/>
              <a:buChar char="•"/>
            </a:pPr>
            <a:r>
              <a:rPr lang="en-US" b="1" dirty="0" smtClean="0"/>
              <a:t> </a:t>
            </a:r>
            <a:r>
              <a:rPr lang="en-US" dirty="0" smtClean="0"/>
              <a:t>Peer-to-Peer is more </a:t>
            </a:r>
            <a:r>
              <a:rPr lang="en-US" b="1" dirty="0" smtClean="0"/>
              <a:t>cost-effective</a:t>
            </a:r>
            <a:r>
              <a:rPr lang="en-US" dirty="0" smtClean="0"/>
              <a:t>, </a:t>
            </a:r>
            <a:r>
              <a:rPr lang="en-US" b="1" dirty="0" smtClean="0"/>
              <a:t>scalable</a:t>
            </a:r>
            <a:r>
              <a:rPr lang="en-US" dirty="0" smtClean="0"/>
              <a:t>, and </a:t>
            </a:r>
            <a:r>
              <a:rPr lang="en-US" b="1" dirty="0" smtClean="0"/>
              <a:t>resilient</a:t>
            </a:r>
            <a:r>
              <a:rPr lang="en-US" dirty="0" smtClean="0"/>
              <a:t>, but it can be less secure and harder to manage due to its </a:t>
            </a:r>
            <a:r>
              <a:rPr lang="en-US" b="1" dirty="0" smtClean="0"/>
              <a:t>decentralized</a:t>
            </a:r>
            <a:r>
              <a:rPr lang="en-US" dirty="0" smtClean="0"/>
              <a:t> nature.</a:t>
            </a:r>
            <a:endParaRPr lang="it-IT"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fontScale="90000"/>
          </a:bodyPr>
          <a:lstStyle/>
          <a:p>
            <a:r>
              <a:rPr lang="it-IT" dirty="0" smtClean="0"/>
              <a:t>Implementazione del modello P2P su zoom</a:t>
            </a:r>
            <a:endParaRPr lang="it-IT" dirty="0"/>
          </a:p>
        </p:txBody>
      </p:sp>
      <p:sp>
        <p:nvSpPr>
          <p:cNvPr id="3" name="Segnaposto contenuto 2"/>
          <p:cNvSpPr>
            <a:spLocks noGrp="1"/>
          </p:cNvSpPr>
          <p:nvPr>
            <p:ph idx="1"/>
          </p:nvPr>
        </p:nvSpPr>
        <p:spPr/>
        <p:txBody>
          <a:bodyPr>
            <a:normAutofit lnSpcReduction="10000"/>
          </a:bodyPr>
          <a:lstStyle/>
          <a:p>
            <a:pPr>
              <a:buNone/>
            </a:pPr>
            <a:r>
              <a:rPr lang="it-IT" sz="1600" dirty="0" smtClean="0"/>
              <a:t>L'implementazione del </a:t>
            </a:r>
            <a:r>
              <a:rPr lang="it-IT" sz="1600" b="1" dirty="0" smtClean="0"/>
              <a:t>modello peer-to-peer (P2P)</a:t>
            </a:r>
            <a:r>
              <a:rPr lang="it-IT" sz="1600" dirty="0" smtClean="0"/>
              <a:t> su Zoom è pensata per migliorare l'efficienza della comunicazione tra partecipanti, riducendo la latenza e migliorando la qualità delle videochiamate</a:t>
            </a:r>
            <a:r>
              <a:rPr lang="it-IT" sz="1600" dirty="0" smtClean="0"/>
              <a:t>.</a:t>
            </a:r>
          </a:p>
          <a:p>
            <a:pPr>
              <a:buNone/>
            </a:pPr>
            <a:r>
              <a:rPr lang="it-IT" sz="1600" dirty="0" smtClean="0"/>
              <a:t>La logica di base è che, quando possibile, i dati (audio, video e messaggi) vengano trasmessi direttamente tra i partecipanti, senza passare attraverso i server di Zoom. Questo modello è usato principalmente nelle riunioni con </a:t>
            </a:r>
            <a:r>
              <a:rPr lang="it-IT" sz="1600" b="1" dirty="0" smtClean="0"/>
              <a:t>due partecipanti</a:t>
            </a:r>
            <a:r>
              <a:rPr lang="it-IT" sz="1600" dirty="0" smtClean="0"/>
              <a:t>.</a:t>
            </a:r>
          </a:p>
          <a:p>
            <a:pPr>
              <a:buNone/>
            </a:pPr>
            <a:r>
              <a:rPr lang="it-IT" sz="1600" dirty="0" smtClean="0"/>
              <a:t>A livello tecnico ciò avviene:</a:t>
            </a:r>
          </a:p>
          <a:p>
            <a:pPr>
              <a:buFont typeface="+mj-lt"/>
              <a:buAutoNum type="arabicPeriod"/>
            </a:pPr>
            <a:r>
              <a:rPr lang="it-IT" sz="1600" b="1" dirty="0" smtClean="0"/>
              <a:t>Connessione diretta tra i partecipanti :</a:t>
            </a:r>
          </a:p>
          <a:p>
            <a:r>
              <a:rPr lang="it-IT" sz="1600" dirty="0" smtClean="0"/>
              <a:t>Quando due utenti si connettono a una riunione Zoom, il sistema cerca prima di stabilire una connessione diretta tra di loro, utilizzando il modello P2P</a:t>
            </a:r>
            <a:r>
              <a:rPr lang="it-IT" sz="1600" dirty="0" smtClean="0"/>
              <a:t>.</a:t>
            </a:r>
          </a:p>
          <a:p>
            <a:r>
              <a:rPr lang="it-IT" sz="1600" dirty="0" smtClean="0"/>
              <a:t>La comunicazione tra i dispositivi avviene direttamente senza che i dati passino per un server centrale di Zoom. Questo avviene tramite i </a:t>
            </a:r>
            <a:r>
              <a:rPr lang="it-IT" sz="1600" b="1" dirty="0" smtClean="0"/>
              <a:t>protocollo </a:t>
            </a:r>
            <a:r>
              <a:rPr lang="it-IT" sz="1600" b="1" dirty="0" err="1" smtClean="0"/>
              <a:t>WebRTC</a:t>
            </a:r>
            <a:r>
              <a:rPr lang="it-IT" sz="1600" dirty="0" smtClean="0"/>
              <a:t> o altre tecnologie P2P</a:t>
            </a:r>
            <a:r>
              <a:rPr lang="it-IT" sz="1600" dirty="0" smtClean="0"/>
              <a:t>.</a:t>
            </a:r>
          </a:p>
          <a:p>
            <a:pPr>
              <a:buFont typeface="+mj-lt"/>
              <a:buAutoNum type="arabicPeriod" startAt="2"/>
            </a:pPr>
            <a:r>
              <a:rPr lang="it-IT" sz="1600" b="1" dirty="0" smtClean="0"/>
              <a:t>Tecnologie di Supporto: </a:t>
            </a:r>
            <a:r>
              <a:rPr lang="it-IT" sz="1600" b="1" dirty="0" smtClean="0"/>
              <a:t>NAT (Network </a:t>
            </a:r>
            <a:r>
              <a:rPr lang="it-IT" sz="1600" b="1" dirty="0" err="1" smtClean="0"/>
              <a:t>Address</a:t>
            </a:r>
            <a:r>
              <a:rPr lang="it-IT" sz="1600" b="1" dirty="0" smtClean="0"/>
              <a:t> </a:t>
            </a:r>
            <a:r>
              <a:rPr lang="it-IT" sz="1600" b="1" dirty="0" err="1" smtClean="0"/>
              <a:t>Translation</a:t>
            </a:r>
            <a:r>
              <a:rPr lang="it-IT" sz="1600" b="1" dirty="0" smtClean="0"/>
              <a:t>) </a:t>
            </a:r>
            <a:r>
              <a:rPr lang="it-IT" sz="1600" b="1" dirty="0" err="1" smtClean="0"/>
              <a:t>Traversal</a:t>
            </a:r>
            <a:r>
              <a:rPr lang="it-IT" sz="1600" b="1" dirty="0" smtClean="0"/>
              <a:t>:</a:t>
            </a:r>
          </a:p>
          <a:p>
            <a:r>
              <a:rPr lang="it-IT" sz="1600" dirty="0" smtClean="0"/>
              <a:t>Il NAT è un meccanismo che mappa gli indirizzi IP privati agli indirizzi pubblici di internet, creando difficoltà nella connessione P2P (se dietro ci sono firewall o router).</a:t>
            </a:r>
          </a:p>
          <a:p>
            <a:pPr>
              <a:buNone/>
            </a:pPr>
            <a:r>
              <a:rPr lang="it-IT" sz="1600" dirty="0" smtClean="0"/>
              <a:t>Per ovviare a questo problema Zoom utilizza Il </a:t>
            </a:r>
            <a:r>
              <a:rPr lang="it-IT" sz="1600" b="1" dirty="0" smtClean="0"/>
              <a:t>NAT </a:t>
            </a:r>
            <a:r>
              <a:rPr lang="it-IT" sz="1600" b="1" dirty="0" err="1" smtClean="0"/>
              <a:t>Trasversal</a:t>
            </a:r>
            <a:r>
              <a:rPr lang="it-IT" sz="1600" b="1" dirty="0" smtClean="0"/>
              <a:t> </a:t>
            </a:r>
            <a:r>
              <a:rPr lang="it-IT" sz="1600" dirty="0" smtClean="0"/>
              <a:t>come </a:t>
            </a:r>
            <a:r>
              <a:rPr lang="it-IT" sz="1600" b="1" dirty="0" smtClean="0"/>
              <a:t>STUN </a:t>
            </a:r>
            <a:r>
              <a:rPr lang="it-IT" sz="1600" dirty="0" smtClean="0"/>
              <a:t>e </a:t>
            </a:r>
            <a:r>
              <a:rPr lang="it-IT" sz="1600" b="1" dirty="0" smtClean="0"/>
              <a:t>TURN </a:t>
            </a:r>
            <a:r>
              <a:rPr lang="it-IT" sz="1600" dirty="0" smtClean="0"/>
              <a:t>che permettono di stabilire e mantenere una connessione diretta anche quando i partecipanti sono dietro firewall complessi o NAT. </a:t>
            </a:r>
            <a:endParaRPr lang="it-IT" sz="1600" b="1" dirty="0" smtClean="0"/>
          </a:p>
          <a:p>
            <a:endParaRPr lang="it-IT" sz="1600" b="1"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endParaRPr lang="it-IT" dirty="0"/>
          </a:p>
        </p:txBody>
      </p:sp>
      <p:sp>
        <p:nvSpPr>
          <p:cNvPr id="3" name="Segnaposto contenuto 2"/>
          <p:cNvSpPr>
            <a:spLocks noGrp="1"/>
          </p:cNvSpPr>
          <p:nvPr>
            <p:ph idx="1"/>
          </p:nvPr>
        </p:nvSpPr>
        <p:spPr/>
        <p:txBody>
          <a:bodyPr>
            <a:normAutofit/>
          </a:bodyPr>
          <a:lstStyle/>
          <a:p>
            <a:pPr marL="514350" indent="-514350">
              <a:buFont typeface="+mj-lt"/>
              <a:buAutoNum type="arabicPeriod" startAt="3"/>
            </a:pPr>
            <a:r>
              <a:rPr lang="it-IT" sz="1600" b="1" dirty="0" smtClean="0"/>
              <a:t>Crittografia e sicurezza:</a:t>
            </a:r>
          </a:p>
          <a:p>
            <a:pPr marL="514350" indent="-514350">
              <a:buNone/>
            </a:pPr>
            <a:r>
              <a:rPr lang="it-IT" sz="1600" dirty="0" smtClean="0"/>
              <a:t>Anche nel modello P2P, la </a:t>
            </a:r>
            <a:r>
              <a:rPr lang="it-IT" sz="1600" b="1" dirty="0" smtClean="0"/>
              <a:t>crittografia</a:t>
            </a:r>
            <a:r>
              <a:rPr lang="it-IT" sz="1600" dirty="0" smtClean="0"/>
              <a:t> è fondamentale per garantire la sicurezza dei dati. Zoom applica la crittografia </a:t>
            </a:r>
            <a:r>
              <a:rPr lang="it-IT" sz="1600" b="1" dirty="0" smtClean="0"/>
              <a:t>AES-256</a:t>
            </a:r>
            <a:r>
              <a:rPr lang="it-IT" sz="1600" dirty="0" smtClean="0"/>
              <a:t> per proteggere le comunicazioni tra i </a:t>
            </a:r>
            <a:r>
              <a:rPr lang="it-IT" sz="1600" dirty="0" err="1" smtClean="0"/>
              <a:t>partecipanti.Quando</a:t>
            </a:r>
            <a:r>
              <a:rPr lang="it-IT" sz="1600" dirty="0" smtClean="0"/>
              <a:t> la crittografia </a:t>
            </a:r>
            <a:r>
              <a:rPr lang="it-IT" sz="1600" b="1" dirty="0" err="1" smtClean="0"/>
              <a:t>end-to-end</a:t>
            </a:r>
            <a:r>
              <a:rPr lang="it-IT" sz="1600" b="1" dirty="0" smtClean="0"/>
              <a:t> (E2EE)</a:t>
            </a:r>
            <a:r>
              <a:rPr lang="it-IT" sz="1600" dirty="0" smtClean="0"/>
              <a:t> è attivata, i dati sono crittografati in modo che solo i partecipanti possano decifrarli. Anche i server di Zoom non hanno accesso ai contenuti della comunicazione, dato che non gestiscono il flusso di dati P2P in modo diretto.</a:t>
            </a:r>
            <a:r>
              <a:rPr lang="it-IT" sz="1600" b="1" dirty="0" smtClean="0"/>
              <a:t> </a:t>
            </a:r>
          </a:p>
          <a:p>
            <a:pPr marL="514350" indent="-514350">
              <a:buFont typeface="+mj-lt"/>
              <a:buAutoNum type="arabicPeriod" startAt="4"/>
            </a:pPr>
            <a:r>
              <a:rPr lang="it-IT" sz="1600" b="1" dirty="0" smtClean="0"/>
              <a:t>Qualità della </a:t>
            </a:r>
            <a:r>
              <a:rPr lang="it-IT" sz="1600" b="1" dirty="0" err="1" smtClean="0"/>
              <a:t>connessio</a:t>
            </a:r>
            <a:r>
              <a:rPr lang="it-IT" sz="1600" b="1" dirty="0" smtClean="0"/>
              <a:t> e backup: </a:t>
            </a:r>
          </a:p>
          <a:p>
            <a:pPr marL="514350" indent="-514350">
              <a:buNone/>
            </a:pPr>
            <a:r>
              <a:rPr lang="it-IT" sz="1600" dirty="0" smtClean="0"/>
              <a:t>Se la connessione P2P fallisce (es: problematiche di rete o di NAT complessi), Zoom automaticamente a una connessione server, che gestisce la comunicazione, migliorando la robustezza e la compatibilità in situazioni complesse. </a:t>
            </a:r>
            <a:endParaRPr lang="it-IT"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a:xfrm>
            <a:off x="467544" y="0"/>
            <a:ext cx="8229600" cy="1143000"/>
          </a:xfrm>
        </p:spPr>
        <p:txBody>
          <a:bodyPr/>
          <a:lstStyle/>
          <a:p>
            <a:r>
              <a:rPr lang="it-IT" dirty="0" err="1" smtClean="0">
                <a:solidFill>
                  <a:srgbClr val="FF0000"/>
                </a:solidFill>
              </a:rPr>
              <a:t>Implementations</a:t>
            </a:r>
            <a:r>
              <a:rPr lang="it-IT" dirty="0" smtClean="0">
                <a:solidFill>
                  <a:srgbClr val="FF0000"/>
                </a:solidFill>
              </a:rPr>
              <a:t> </a:t>
            </a:r>
            <a:r>
              <a:rPr lang="it-IT" dirty="0" err="1" smtClean="0">
                <a:solidFill>
                  <a:srgbClr val="FF0000"/>
                </a:solidFill>
              </a:rPr>
              <a:t>Enviroments</a:t>
            </a:r>
            <a:r>
              <a:rPr lang="it-IT" dirty="0" smtClean="0">
                <a:solidFill>
                  <a:srgbClr val="FF0000"/>
                </a:solidFill>
              </a:rPr>
              <a:t> </a:t>
            </a:r>
            <a:endParaRPr lang="it-IT" dirty="0">
              <a:solidFill>
                <a:srgbClr val="FF0000"/>
              </a:solidFill>
            </a:endParaRPr>
          </a:p>
        </p:txBody>
      </p:sp>
      <p:sp>
        <p:nvSpPr>
          <p:cNvPr id="3" name="Segnaposto contenuto 2"/>
          <p:cNvSpPr>
            <a:spLocks noGrp="1"/>
          </p:cNvSpPr>
          <p:nvPr>
            <p:ph idx="1"/>
          </p:nvPr>
        </p:nvSpPr>
        <p:spPr>
          <a:xfrm>
            <a:off x="467544" y="980728"/>
            <a:ext cx="8229600" cy="1396752"/>
          </a:xfrm>
        </p:spPr>
        <p:txBody>
          <a:bodyPr>
            <a:normAutofit/>
          </a:bodyPr>
          <a:lstStyle/>
          <a:p>
            <a:pPr marL="0">
              <a:buNone/>
            </a:pPr>
            <a:r>
              <a:rPr lang="it-IT" sz="1600" dirty="0" err="1" smtClean="0"/>
              <a:t>These</a:t>
            </a:r>
            <a:r>
              <a:rPr lang="it-IT" sz="1600" dirty="0" smtClean="0"/>
              <a:t> </a:t>
            </a:r>
            <a:r>
              <a:rPr lang="it-IT" sz="1600" dirty="0" err="1" smtClean="0"/>
              <a:t>architectures</a:t>
            </a:r>
            <a:r>
              <a:rPr lang="it-IT" sz="1600" dirty="0" smtClean="0"/>
              <a:t> </a:t>
            </a:r>
            <a:r>
              <a:rPr lang="it-IT" sz="1600" dirty="0" err="1" smtClean="0"/>
              <a:t>have</a:t>
            </a:r>
            <a:r>
              <a:rPr lang="it-IT" sz="1600" dirty="0" smtClean="0"/>
              <a:t> </a:t>
            </a:r>
            <a:r>
              <a:rPr lang="it-IT" sz="1600" dirty="0" err="1" smtClean="0"/>
              <a:t>revolutionized</a:t>
            </a:r>
            <a:r>
              <a:rPr lang="it-IT" sz="1600" dirty="0" smtClean="0"/>
              <a:t> </a:t>
            </a:r>
            <a:r>
              <a:rPr lang="it-IT" sz="1600" dirty="0" err="1" smtClean="0"/>
              <a:t>communication</a:t>
            </a:r>
            <a:r>
              <a:rPr lang="it-IT" sz="1600" dirty="0" smtClean="0"/>
              <a:t> </a:t>
            </a:r>
            <a:r>
              <a:rPr lang="it-IT" sz="1600" dirty="0" err="1" smtClean="0"/>
              <a:t>between</a:t>
            </a:r>
            <a:r>
              <a:rPr lang="it-IT" sz="1600" dirty="0" smtClean="0"/>
              <a:t> </a:t>
            </a:r>
            <a:r>
              <a:rPr lang="it-IT" sz="1600" dirty="0" err="1" smtClean="0"/>
              <a:t>computers</a:t>
            </a:r>
            <a:r>
              <a:rPr lang="it-IT" sz="1600" dirty="0" smtClean="0"/>
              <a:t> and the way </a:t>
            </a:r>
            <a:r>
              <a:rPr lang="it-IT" sz="1600" dirty="0" err="1" smtClean="0"/>
              <a:t>we</a:t>
            </a:r>
            <a:r>
              <a:rPr lang="it-IT" sz="1600" dirty="0"/>
              <a:t> </a:t>
            </a:r>
            <a:r>
              <a:rPr lang="it-IT" sz="1600" dirty="0" err="1" smtClean="0"/>
              <a:t>interact</a:t>
            </a:r>
            <a:r>
              <a:rPr lang="it-IT" sz="1600" dirty="0" smtClean="0"/>
              <a:t> </a:t>
            </a:r>
            <a:r>
              <a:rPr lang="it-IT" sz="1600" dirty="0" err="1" smtClean="0"/>
              <a:t>with</a:t>
            </a:r>
            <a:r>
              <a:rPr lang="it-IT" sz="1600" dirty="0" smtClean="0"/>
              <a:t> </a:t>
            </a:r>
            <a:r>
              <a:rPr lang="it-IT" sz="1600" dirty="0" err="1" smtClean="0"/>
              <a:t>digital</a:t>
            </a:r>
            <a:r>
              <a:rPr lang="it-IT" sz="1600" dirty="0" smtClean="0"/>
              <a:t> </a:t>
            </a:r>
            <a:r>
              <a:rPr lang="it-IT" sz="1600" dirty="0" err="1" smtClean="0"/>
              <a:t>services</a:t>
            </a:r>
            <a:r>
              <a:rPr lang="it-IT" sz="1600" dirty="0" smtClean="0"/>
              <a:t> </a:t>
            </a:r>
            <a:r>
              <a:rPr lang="it-IT" sz="1600" dirty="0" err="1" smtClean="0"/>
              <a:t>nowadays</a:t>
            </a:r>
            <a:r>
              <a:rPr lang="it-IT" sz="1600" dirty="0" smtClean="0"/>
              <a:t>. </a:t>
            </a:r>
          </a:p>
          <a:p>
            <a:pPr>
              <a:buNone/>
            </a:pPr>
            <a:r>
              <a:rPr lang="it-IT" sz="1600" dirty="0" err="1" smtClean="0"/>
              <a:t>For</a:t>
            </a:r>
            <a:r>
              <a:rPr lang="it-IT" sz="1600" dirty="0" smtClean="0"/>
              <a:t> </a:t>
            </a:r>
            <a:r>
              <a:rPr lang="it-IT" sz="1600" dirty="0" err="1" smtClean="0"/>
              <a:t>example</a:t>
            </a:r>
            <a:r>
              <a:rPr lang="it-IT" sz="1600" dirty="0" smtClean="0"/>
              <a:t> the </a:t>
            </a:r>
            <a:r>
              <a:rPr lang="it-IT" sz="1600" dirty="0" err="1" smtClean="0"/>
              <a:t>famous</a:t>
            </a:r>
            <a:r>
              <a:rPr lang="it-IT" sz="1600" dirty="0" smtClean="0"/>
              <a:t> </a:t>
            </a:r>
            <a:r>
              <a:rPr lang="it-IT" sz="1600" dirty="0" err="1" smtClean="0"/>
              <a:t>app</a:t>
            </a:r>
            <a:r>
              <a:rPr lang="it-IT" sz="1600" dirty="0" smtClean="0"/>
              <a:t> and web </a:t>
            </a:r>
            <a:r>
              <a:rPr lang="it-IT" sz="1600" dirty="0" err="1" smtClean="0"/>
              <a:t>platform</a:t>
            </a:r>
            <a:r>
              <a:rPr lang="it-IT" sz="1600" dirty="0" smtClean="0"/>
              <a:t> </a:t>
            </a:r>
            <a:r>
              <a:rPr lang="it-IT" sz="1600" dirty="0" err="1" smtClean="0"/>
              <a:t>Spotify</a:t>
            </a:r>
            <a:r>
              <a:rPr lang="it-IT" sz="1600" dirty="0" smtClean="0"/>
              <a:t> </a:t>
            </a:r>
            <a:r>
              <a:rPr lang="it-IT" sz="1600" dirty="0" err="1" smtClean="0"/>
              <a:t>uses</a:t>
            </a:r>
            <a:r>
              <a:rPr lang="it-IT" sz="1600" dirty="0" smtClean="0"/>
              <a:t> the client-server </a:t>
            </a:r>
            <a:r>
              <a:rPr lang="it-IT" sz="1600" dirty="0" err="1" smtClean="0"/>
              <a:t>model</a:t>
            </a:r>
            <a:r>
              <a:rPr lang="it-IT" sz="1600" dirty="0" smtClean="0"/>
              <a:t>.</a:t>
            </a:r>
          </a:p>
          <a:p>
            <a:pPr>
              <a:buNone/>
            </a:pPr>
            <a:endParaRPr lang="it-IT" sz="1800" dirty="0"/>
          </a:p>
        </p:txBody>
      </p:sp>
      <p:sp>
        <p:nvSpPr>
          <p:cNvPr id="4" name="CasellaDiTesto 3"/>
          <p:cNvSpPr txBox="1"/>
          <p:nvPr/>
        </p:nvSpPr>
        <p:spPr>
          <a:xfrm>
            <a:off x="395536" y="1916832"/>
            <a:ext cx="7920880" cy="1754326"/>
          </a:xfrm>
          <a:prstGeom prst="rect">
            <a:avLst/>
          </a:prstGeom>
          <a:noFill/>
        </p:spPr>
        <p:txBody>
          <a:bodyPr wrap="square" rtlCol="0">
            <a:spAutoFit/>
          </a:bodyPr>
          <a:lstStyle/>
          <a:p>
            <a:r>
              <a:rPr lang="it-IT" dirty="0" err="1" smtClean="0"/>
              <a:t>Spotify</a:t>
            </a:r>
            <a:r>
              <a:rPr lang="it-IT" dirty="0" smtClean="0"/>
              <a:t> </a:t>
            </a:r>
            <a:r>
              <a:rPr lang="it-IT" dirty="0" err="1" smtClean="0"/>
              <a:t>History</a:t>
            </a:r>
            <a:r>
              <a:rPr lang="it-IT" dirty="0"/>
              <a:t>:</a:t>
            </a:r>
            <a:endParaRPr lang="it-IT" dirty="0" smtClean="0"/>
          </a:p>
          <a:p>
            <a:r>
              <a:rPr lang="en-US" dirty="0" err="1" smtClean="0"/>
              <a:t>Spotify</a:t>
            </a:r>
            <a:r>
              <a:rPr lang="en-US" dirty="0" smtClean="0"/>
              <a:t> was founded in 2006 in Stockholm, Sweden, by Daniel </a:t>
            </a:r>
            <a:r>
              <a:rPr lang="en-US" dirty="0" err="1" smtClean="0"/>
              <a:t>Ek</a:t>
            </a:r>
            <a:r>
              <a:rPr lang="en-US" dirty="0" smtClean="0"/>
              <a:t> and Martin </a:t>
            </a:r>
            <a:r>
              <a:rPr lang="en-US" dirty="0" err="1" smtClean="0"/>
              <a:t>Lorentzon</a:t>
            </a:r>
            <a:r>
              <a:rPr lang="en-US" dirty="0" smtClean="0"/>
              <a:t> and was released in 2008.</a:t>
            </a:r>
            <a:r>
              <a:rPr lang="it-IT" dirty="0" smtClean="0"/>
              <a:t> </a:t>
            </a:r>
            <a:r>
              <a:rPr lang="it-IT" dirty="0"/>
              <a:t>T</a:t>
            </a:r>
            <a:r>
              <a:rPr lang="it-IT" dirty="0" smtClean="0"/>
              <a:t>he idea </a:t>
            </a:r>
            <a:r>
              <a:rPr lang="it-IT" dirty="0" err="1" smtClean="0"/>
              <a:t>behind</a:t>
            </a:r>
            <a:r>
              <a:rPr lang="it-IT" dirty="0" smtClean="0"/>
              <a:t> </a:t>
            </a:r>
            <a:r>
              <a:rPr lang="it-IT" dirty="0" err="1" smtClean="0"/>
              <a:t>this</a:t>
            </a:r>
            <a:r>
              <a:rPr lang="it-IT" dirty="0" smtClean="0"/>
              <a:t> </a:t>
            </a:r>
            <a:r>
              <a:rPr lang="it-IT" dirty="0" err="1" smtClean="0"/>
              <a:t>platform</a:t>
            </a:r>
            <a:r>
              <a:rPr lang="it-IT" dirty="0" smtClean="0"/>
              <a:t> are </a:t>
            </a:r>
            <a:r>
              <a:rPr lang="it-IT" dirty="0" err="1" smtClean="0"/>
              <a:t>to</a:t>
            </a:r>
            <a:r>
              <a:rPr lang="it-IT" dirty="0" smtClean="0"/>
              <a:t> </a:t>
            </a:r>
            <a:r>
              <a:rPr lang="it-IT" dirty="0" err="1" smtClean="0"/>
              <a:t>curb</a:t>
            </a:r>
            <a:r>
              <a:rPr lang="it-IT" dirty="0" smtClean="0"/>
              <a:t> online </a:t>
            </a:r>
            <a:r>
              <a:rPr lang="it-IT" dirty="0" err="1" smtClean="0"/>
              <a:t>piracy</a:t>
            </a:r>
            <a:r>
              <a:rPr lang="it-IT" dirty="0" smtClean="0"/>
              <a:t>, the </a:t>
            </a:r>
            <a:r>
              <a:rPr lang="it-IT" dirty="0" err="1" smtClean="0"/>
              <a:t>accessibility</a:t>
            </a:r>
            <a:r>
              <a:rPr lang="it-IT" dirty="0" smtClean="0"/>
              <a:t> </a:t>
            </a:r>
            <a:r>
              <a:rPr lang="it-IT" dirty="0" err="1" smtClean="0"/>
              <a:t>to</a:t>
            </a:r>
            <a:r>
              <a:rPr lang="it-IT" dirty="0" smtClean="0"/>
              <a:t> </a:t>
            </a:r>
            <a:r>
              <a:rPr lang="it-IT" dirty="0" err="1" smtClean="0"/>
              <a:t>listen</a:t>
            </a:r>
            <a:r>
              <a:rPr lang="it-IT" dirty="0" smtClean="0"/>
              <a:t> </a:t>
            </a:r>
            <a:r>
              <a:rPr lang="it-IT" dirty="0" err="1" smtClean="0"/>
              <a:t>music</a:t>
            </a:r>
            <a:r>
              <a:rPr lang="it-IT" dirty="0" smtClean="0"/>
              <a:t> </a:t>
            </a:r>
            <a:r>
              <a:rPr lang="it-IT" dirty="0" err="1" smtClean="0"/>
              <a:t>without</a:t>
            </a:r>
            <a:r>
              <a:rPr lang="it-IT" dirty="0" smtClean="0"/>
              <a:t> </a:t>
            </a:r>
            <a:r>
              <a:rPr lang="en-US" dirty="0" smtClean="0"/>
              <a:t>additional costs to download music files and, unlike the traditional music industry the artists are paid based on every song sold.</a:t>
            </a:r>
            <a:endParaRPr lang="it-IT"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a:bodyPr>
          <a:lstStyle/>
          <a:p>
            <a:r>
              <a:rPr lang="it-IT" sz="3600" dirty="0" smtClean="0">
                <a:solidFill>
                  <a:srgbClr val="FF0000"/>
                </a:solidFill>
              </a:rPr>
              <a:t>The </a:t>
            </a:r>
            <a:r>
              <a:rPr lang="it-IT" sz="3600" dirty="0" err="1" smtClean="0">
                <a:solidFill>
                  <a:srgbClr val="FF0000"/>
                </a:solidFill>
              </a:rPr>
              <a:t>Spotify</a:t>
            </a:r>
            <a:r>
              <a:rPr lang="it-IT" sz="3600" dirty="0" smtClean="0">
                <a:solidFill>
                  <a:srgbClr val="FF0000"/>
                </a:solidFill>
              </a:rPr>
              <a:t> System </a:t>
            </a:r>
            <a:r>
              <a:rPr lang="it-IT" sz="3600" dirty="0" err="1" smtClean="0">
                <a:solidFill>
                  <a:srgbClr val="FF0000"/>
                </a:solidFill>
              </a:rPr>
              <a:t>Model</a:t>
            </a:r>
            <a:r>
              <a:rPr lang="it-IT" sz="3600" dirty="0" smtClean="0">
                <a:solidFill>
                  <a:srgbClr val="FF0000"/>
                </a:solidFill>
              </a:rPr>
              <a:t> </a:t>
            </a:r>
            <a:endParaRPr lang="it-IT" sz="3600" dirty="0">
              <a:solidFill>
                <a:srgbClr val="FF0000"/>
              </a:solidFill>
            </a:endParaRPr>
          </a:p>
        </p:txBody>
      </p:sp>
      <p:sp>
        <p:nvSpPr>
          <p:cNvPr id="3" name="Segnaposto contenuto 2"/>
          <p:cNvSpPr>
            <a:spLocks noGrp="1"/>
          </p:cNvSpPr>
          <p:nvPr>
            <p:ph idx="1"/>
          </p:nvPr>
        </p:nvSpPr>
        <p:spPr>
          <a:xfrm>
            <a:off x="467544" y="1196752"/>
            <a:ext cx="8229600" cy="2332856"/>
          </a:xfrm>
        </p:spPr>
        <p:txBody>
          <a:bodyPr>
            <a:normAutofit/>
          </a:bodyPr>
          <a:lstStyle/>
          <a:p>
            <a:pPr>
              <a:buNone/>
            </a:pPr>
            <a:r>
              <a:rPr lang="it-IT" sz="1600" dirty="0" err="1" smtClean="0"/>
              <a:t>To</a:t>
            </a:r>
            <a:r>
              <a:rPr lang="it-IT" sz="1600" dirty="0" smtClean="0"/>
              <a:t> </a:t>
            </a:r>
            <a:r>
              <a:rPr lang="it-IT" sz="1600" dirty="0" err="1" smtClean="0"/>
              <a:t>communicate</a:t>
            </a:r>
            <a:r>
              <a:rPr lang="it-IT" sz="1600" dirty="0" smtClean="0"/>
              <a:t> </a:t>
            </a:r>
            <a:r>
              <a:rPr lang="it-IT" sz="1600" dirty="0" err="1" smtClean="0"/>
              <a:t>through</a:t>
            </a:r>
            <a:r>
              <a:rPr lang="it-IT" sz="1600" dirty="0" smtClean="0"/>
              <a:t> the software and </a:t>
            </a:r>
            <a:r>
              <a:rPr lang="it-IT" sz="1600" dirty="0" err="1" smtClean="0"/>
              <a:t>use</a:t>
            </a:r>
            <a:r>
              <a:rPr lang="it-IT" sz="1600" dirty="0" smtClean="0"/>
              <a:t> the </a:t>
            </a:r>
            <a:r>
              <a:rPr lang="it-IT" sz="1600" dirty="0" err="1" smtClean="0"/>
              <a:t>catalog</a:t>
            </a:r>
            <a:r>
              <a:rPr lang="it-IT" sz="1600" dirty="0" smtClean="0"/>
              <a:t>, </a:t>
            </a:r>
            <a:r>
              <a:rPr lang="it-IT" sz="1600" dirty="0" err="1" smtClean="0"/>
              <a:t>Spotify</a:t>
            </a:r>
            <a:r>
              <a:rPr lang="it-IT" sz="1600" dirty="0" smtClean="0"/>
              <a:t> </a:t>
            </a:r>
            <a:r>
              <a:rPr lang="it-IT" sz="1600" dirty="0" err="1" smtClean="0"/>
              <a:t>presented</a:t>
            </a:r>
            <a:r>
              <a:rPr lang="it-IT" sz="1600" dirty="0" smtClean="0"/>
              <a:t> </a:t>
            </a:r>
            <a:r>
              <a:rPr lang="it-IT" sz="1600" dirty="0" err="1" smtClean="0"/>
              <a:t>its</a:t>
            </a:r>
            <a:r>
              <a:rPr lang="it-IT" sz="1600" dirty="0" smtClean="0"/>
              <a:t> </a:t>
            </a:r>
            <a:r>
              <a:rPr lang="it-IT" sz="1600" dirty="0" err="1" smtClean="0"/>
              <a:t>own</a:t>
            </a:r>
            <a:r>
              <a:rPr lang="it-IT" sz="1600" dirty="0" smtClean="0"/>
              <a:t> System </a:t>
            </a:r>
            <a:r>
              <a:rPr lang="it-IT" sz="1600" dirty="0" err="1" smtClean="0"/>
              <a:t>Model</a:t>
            </a:r>
            <a:r>
              <a:rPr lang="it-IT" sz="1600" dirty="0" smtClean="0"/>
              <a:t> </a:t>
            </a:r>
            <a:r>
              <a:rPr lang="it-IT" sz="1600" dirty="0" err="1" smtClean="0"/>
              <a:t>based</a:t>
            </a:r>
            <a:r>
              <a:rPr lang="it-IT" sz="1600" dirty="0" smtClean="0"/>
              <a:t> on </a:t>
            </a:r>
            <a:r>
              <a:rPr lang="it-IT" sz="1600" dirty="0" err="1" smtClean="0"/>
              <a:t>various</a:t>
            </a:r>
            <a:r>
              <a:rPr lang="it-IT" sz="1600" dirty="0" smtClean="0"/>
              <a:t> </a:t>
            </a:r>
            <a:r>
              <a:rPr lang="it-IT" sz="1600" dirty="0" err="1" smtClean="0"/>
              <a:t>entities</a:t>
            </a:r>
            <a:r>
              <a:rPr lang="it-IT" sz="1600" dirty="0" smtClean="0"/>
              <a:t> and </a:t>
            </a:r>
            <a:r>
              <a:rPr lang="it-IT" sz="1600" dirty="0" err="1" smtClean="0"/>
              <a:t>abstraction</a:t>
            </a:r>
            <a:r>
              <a:rPr lang="it-IT" sz="1600" dirty="0" smtClean="0"/>
              <a:t>, the </a:t>
            </a:r>
            <a:r>
              <a:rPr lang="it-IT" sz="1600" dirty="0" err="1" smtClean="0"/>
              <a:t>three</a:t>
            </a:r>
            <a:r>
              <a:rPr lang="it-IT" sz="1600" dirty="0" smtClean="0"/>
              <a:t> </a:t>
            </a:r>
            <a:r>
              <a:rPr lang="it-IT" sz="1600" dirty="0" err="1" smtClean="0"/>
              <a:t>main</a:t>
            </a:r>
            <a:r>
              <a:rPr lang="it-IT" sz="1600" dirty="0" smtClean="0"/>
              <a:t> </a:t>
            </a:r>
            <a:r>
              <a:rPr lang="it-IT" sz="1600" dirty="0" err="1" smtClean="0"/>
              <a:t>ones</a:t>
            </a:r>
            <a:r>
              <a:rPr lang="it-IT" sz="1600" dirty="0" smtClean="0"/>
              <a:t> are:</a:t>
            </a:r>
          </a:p>
          <a:p>
            <a:pPr>
              <a:buFont typeface="+mj-lt"/>
              <a:buAutoNum type="arabicPeriod"/>
            </a:pPr>
            <a:r>
              <a:rPr lang="it-IT" sz="1600" b="1" dirty="0" err="1" smtClean="0"/>
              <a:t>APIs</a:t>
            </a:r>
            <a:r>
              <a:rPr lang="it-IT" sz="1600" b="1" dirty="0" smtClean="0"/>
              <a:t>: </a:t>
            </a:r>
            <a:r>
              <a:rPr lang="en-US" sz="1600" dirty="0" smtClean="0"/>
              <a:t>the boundaries set between multiple components of the </a:t>
            </a:r>
            <a:r>
              <a:rPr lang="en-US" sz="1600" dirty="0" err="1" smtClean="0"/>
              <a:t>infrasctuture</a:t>
            </a:r>
            <a:r>
              <a:rPr lang="en-US" sz="1600" dirty="0" smtClean="0"/>
              <a:t> that define the interface between them</a:t>
            </a:r>
          </a:p>
          <a:p>
            <a:pPr>
              <a:buFont typeface="+mj-lt"/>
              <a:buAutoNum type="arabicPeriod"/>
            </a:pPr>
            <a:r>
              <a:rPr lang="en-US" sz="1600" b="1" dirty="0" smtClean="0"/>
              <a:t>Components: </a:t>
            </a:r>
            <a:r>
              <a:rPr lang="en-US" sz="1600" dirty="0" smtClean="0"/>
              <a:t>Certain instances of a given software (for example, a website, data pipeline, library, etc.).</a:t>
            </a:r>
          </a:p>
          <a:p>
            <a:pPr>
              <a:buFont typeface="+mj-lt"/>
              <a:buAutoNum type="arabicPeriod"/>
            </a:pPr>
            <a:r>
              <a:rPr lang="en-US" sz="1600" b="1" dirty="0" smtClean="0"/>
              <a:t>Resources</a:t>
            </a:r>
            <a:r>
              <a:rPr lang="en-US" sz="1600" dirty="0" smtClean="0"/>
              <a:t>: The backend infrastructure behind each component (database, storage bucket, etc.)</a:t>
            </a:r>
            <a:endParaRPr lang="it-IT" sz="1600" dirty="0"/>
          </a:p>
        </p:txBody>
      </p:sp>
      <p:sp>
        <p:nvSpPr>
          <p:cNvPr id="4" name="CasellaDiTesto 3"/>
          <p:cNvSpPr txBox="1"/>
          <p:nvPr/>
        </p:nvSpPr>
        <p:spPr>
          <a:xfrm>
            <a:off x="899592" y="5517232"/>
            <a:ext cx="6696744" cy="1077218"/>
          </a:xfrm>
          <a:prstGeom prst="rect">
            <a:avLst/>
          </a:prstGeom>
          <a:noFill/>
        </p:spPr>
        <p:txBody>
          <a:bodyPr wrap="square" rtlCol="0">
            <a:spAutoFit/>
          </a:bodyPr>
          <a:lstStyle/>
          <a:p>
            <a:r>
              <a:rPr lang="it-IT" sz="1600" dirty="0" err="1" smtClean="0"/>
              <a:t>Also</a:t>
            </a:r>
            <a:r>
              <a:rPr lang="it-IT" sz="1600" dirty="0" smtClean="0"/>
              <a:t> </a:t>
            </a:r>
            <a:r>
              <a:rPr lang="it-IT" sz="1600" dirty="0" err="1" smtClean="0"/>
              <a:t>Spotify</a:t>
            </a:r>
            <a:r>
              <a:rPr lang="it-IT" sz="1600" dirty="0" smtClean="0"/>
              <a:t> </a:t>
            </a:r>
            <a:r>
              <a:rPr lang="it-IT" sz="1600" dirty="0" err="1" smtClean="0"/>
              <a:t>is</a:t>
            </a:r>
            <a:r>
              <a:rPr lang="it-IT" sz="1600" dirty="0" smtClean="0"/>
              <a:t> </a:t>
            </a:r>
            <a:r>
              <a:rPr lang="it-IT" sz="1600" dirty="0" err="1" smtClean="0"/>
              <a:t>based</a:t>
            </a:r>
            <a:r>
              <a:rPr lang="it-IT" sz="1600" dirty="0" smtClean="0"/>
              <a:t> </a:t>
            </a:r>
            <a:r>
              <a:rPr lang="it-IT" sz="1600" dirty="0" err="1" smtClean="0"/>
              <a:t>entirely</a:t>
            </a:r>
            <a:r>
              <a:rPr lang="it-IT" sz="1600" dirty="0" smtClean="0"/>
              <a:t> on</a:t>
            </a:r>
            <a:r>
              <a:rPr lang="it-IT" sz="1600" b="1" dirty="0" smtClean="0"/>
              <a:t> </a:t>
            </a:r>
            <a:r>
              <a:rPr lang="it-IT" sz="1600" b="1" dirty="0" err="1" smtClean="0"/>
              <a:t>Microservices</a:t>
            </a:r>
            <a:r>
              <a:rPr lang="it-IT" sz="1600" b="1" dirty="0" smtClean="0"/>
              <a:t> </a:t>
            </a:r>
            <a:r>
              <a:rPr lang="it-IT" sz="1600" b="1" dirty="0" err="1" smtClean="0"/>
              <a:t>architecture</a:t>
            </a:r>
            <a:r>
              <a:rPr lang="it-IT" sz="1600" b="1" dirty="0" smtClean="0"/>
              <a:t> </a:t>
            </a:r>
            <a:r>
              <a:rPr lang="it-IT" sz="1600" dirty="0" err="1" smtClean="0"/>
              <a:t>that</a:t>
            </a:r>
            <a:r>
              <a:rPr lang="it-IT" sz="1600" dirty="0" smtClean="0"/>
              <a:t> </a:t>
            </a:r>
            <a:r>
              <a:rPr lang="it-IT" sz="1600" dirty="0" err="1" smtClean="0"/>
              <a:t>guarantees</a:t>
            </a:r>
            <a:r>
              <a:rPr lang="it-IT" sz="1600" dirty="0" smtClean="0"/>
              <a:t> s</a:t>
            </a:r>
            <a:r>
              <a:rPr lang="en-US" sz="1600" dirty="0" err="1" smtClean="0"/>
              <a:t>calability</a:t>
            </a:r>
            <a:r>
              <a:rPr lang="en-US" sz="1600" dirty="0" smtClean="0"/>
              <a:t> and flexibility to enabling multiple services on </a:t>
            </a:r>
            <a:r>
              <a:rPr lang="en-US" sz="1600" dirty="0" err="1" smtClean="0"/>
              <a:t>differents</a:t>
            </a:r>
            <a:r>
              <a:rPr lang="en-US" sz="1600" dirty="0" smtClean="0"/>
              <a:t> platforms and devices.</a:t>
            </a:r>
          </a:p>
          <a:p>
            <a:r>
              <a:rPr lang="it-IT" sz="1600" dirty="0" smtClean="0"/>
              <a:t>  </a:t>
            </a:r>
            <a:endParaRPr lang="it-IT" sz="1600" dirty="0"/>
          </a:p>
        </p:txBody>
      </p:sp>
      <p:pic>
        <p:nvPicPr>
          <p:cNvPr id="5" name="Immagine 4" descr="relazioni tra entità fondamentali.png"/>
          <p:cNvPicPr>
            <a:picLocks noChangeAspect="1"/>
          </p:cNvPicPr>
          <p:nvPr/>
        </p:nvPicPr>
        <p:blipFill>
          <a:blip r:embed="rId2" cstate="print"/>
          <a:stretch>
            <a:fillRect/>
          </a:stretch>
        </p:blipFill>
        <p:spPr>
          <a:xfrm>
            <a:off x="611560" y="3645024"/>
            <a:ext cx="7201143" cy="1263058"/>
          </a:xfrm>
          <a:prstGeom prst="rect">
            <a:avLst/>
          </a:prstGeom>
        </p:spPr>
      </p:pic>
      <p:sp>
        <p:nvSpPr>
          <p:cNvPr id="6" name="CasellaDiTesto 5"/>
          <p:cNvSpPr txBox="1"/>
          <p:nvPr/>
        </p:nvSpPr>
        <p:spPr>
          <a:xfrm>
            <a:off x="1043608" y="4797152"/>
            <a:ext cx="6984776" cy="276999"/>
          </a:xfrm>
          <a:prstGeom prst="rect">
            <a:avLst/>
          </a:prstGeom>
          <a:noFill/>
        </p:spPr>
        <p:txBody>
          <a:bodyPr wrap="square" rtlCol="0">
            <a:spAutoFit/>
          </a:bodyPr>
          <a:lstStyle/>
          <a:p>
            <a:r>
              <a:rPr lang="it-IT" sz="1200" dirty="0" err="1" smtClean="0"/>
              <a:t>Image</a:t>
            </a:r>
            <a:r>
              <a:rPr lang="it-IT" sz="1200" dirty="0" smtClean="0"/>
              <a:t> </a:t>
            </a:r>
            <a:r>
              <a:rPr lang="it-IT" sz="1200" dirty="0" err="1" smtClean="0"/>
              <a:t>credit</a:t>
            </a:r>
            <a:r>
              <a:rPr lang="it-IT" sz="1200" dirty="0" smtClean="0"/>
              <a:t>: </a:t>
            </a:r>
            <a:r>
              <a:rPr lang="it-IT" sz="1200" dirty="0" err="1" smtClean="0">
                <a:hlinkClick r:id="rId3"/>
              </a:rPr>
              <a:t>engineering.atspotify.com</a:t>
            </a:r>
            <a:endParaRPr lang="it-IT"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fontScale="90000"/>
          </a:bodyPr>
          <a:lstStyle/>
          <a:p>
            <a:r>
              <a:rPr lang="it-IT" sz="3600" dirty="0" err="1" smtClean="0">
                <a:solidFill>
                  <a:srgbClr val="FF0000"/>
                </a:solidFill>
              </a:rPr>
              <a:t>Understanding</a:t>
            </a:r>
            <a:r>
              <a:rPr lang="it-IT" sz="3600" dirty="0" smtClean="0">
                <a:solidFill>
                  <a:srgbClr val="FF0000"/>
                </a:solidFill>
              </a:rPr>
              <a:t> </a:t>
            </a:r>
            <a:r>
              <a:rPr lang="it-IT" sz="3600" dirty="0" err="1" smtClean="0">
                <a:solidFill>
                  <a:srgbClr val="FF0000"/>
                </a:solidFill>
              </a:rPr>
              <a:t>Microservice</a:t>
            </a:r>
            <a:r>
              <a:rPr lang="it-IT" sz="3600" dirty="0" smtClean="0">
                <a:solidFill>
                  <a:srgbClr val="FF0000"/>
                </a:solidFill>
              </a:rPr>
              <a:t> </a:t>
            </a:r>
            <a:r>
              <a:rPr lang="it-IT" sz="3600" dirty="0" err="1" smtClean="0">
                <a:solidFill>
                  <a:srgbClr val="FF0000"/>
                </a:solidFill>
              </a:rPr>
              <a:t>Architecture</a:t>
            </a:r>
            <a:r>
              <a:rPr lang="it-IT" sz="3600" dirty="0" smtClean="0">
                <a:solidFill>
                  <a:srgbClr val="FF0000"/>
                </a:solidFill>
              </a:rPr>
              <a:t> on </a:t>
            </a:r>
            <a:r>
              <a:rPr lang="it-IT" sz="3600" dirty="0" err="1" smtClean="0">
                <a:solidFill>
                  <a:srgbClr val="FF0000"/>
                </a:solidFill>
              </a:rPr>
              <a:t>Spotify</a:t>
            </a:r>
            <a:endParaRPr lang="it-IT" sz="3600" dirty="0">
              <a:solidFill>
                <a:srgbClr val="FF0000"/>
              </a:solidFill>
            </a:endParaRPr>
          </a:p>
        </p:txBody>
      </p:sp>
      <p:sp>
        <p:nvSpPr>
          <p:cNvPr id="3" name="Segnaposto contenuto 2"/>
          <p:cNvSpPr>
            <a:spLocks noGrp="1"/>
          </p:cNvSpPr>
          <p:nvPr>
            <p:ph idx="1"/>
          </p:nvPr>
        </p:nvSpPr>
        <p:spPr>
          <a:xfrm>
            <a:off x="457200" y="1600201"/>
            <a:ext cx="7139136" cy="2332856"/>
          </a:xfrm>
        </p:spPr>
        <p:txBody>
          <a:bodyPr>
            <a:normAutofit lnSpcReduction="10000"/>
          </a:bodyPr>
          <a:lstStyle/>
          <a:p>
            <a:pPr>
              <a:buNone/>
            </a:pPr>
            <a:r>
              <a:rPr lang="it-IT" sz="1600" dirty="0" err="1" smtClean="0"/>
              <a:t>This</a:t>
            </a:r>
            <a:r>
              <a:rPr lang="it-IT" sz="1600" dirty="0" smtClean="0"/>
              <a:t> </a:t>
            </a:r>
            <a:r>
              <a:rPr lang="it-IT" sz="1600" dirty="0" err="1" smtClean="0"/>
              <a:t>kind</a:t>
            </a:r>
            <a:r>
              <a:rPr lang="it-IT" sz="1600" dirty="0" smtClean="0"/>
              <a:t> </a:t>
            </a:r>
            <a:r>
              <a:rPr lang="it-IT" sz="1600" dirty="0" err="1" smtClean="0"/>
              <a:t>of</a:t>
            </a:r>
            <a:r>
              <a:rPr lang="it-IT" sz="1600" dirty="0" smtClean="0"/>
              <a:t> </a:t>
            </a:r>
            <a:r>
              <a:rPr lang="it-IT" sz="1600" dirty="0" err="1" smtClean="0"/>
              <a:t>architecture</a:t>
            </a:r>
            <a:r>
              <a:rPr lang="it-IT" sz="1600" dirty="0" smtClean="0"/>
              <a:t> </a:t>
            </a:r>
            <a:r>
              <a:rPr lang="it-IT" sz="1600" dirty="0" err="1" smtClean="0"/>
              <a:t>allows</a:t>
            </a:r>
            <a:r>
              <a:rPr lang="it-IT" sz="1600" dirty="0" smtClean="0"/>
              <a:t> </a:t>
            </a:r>
            <a:r>
              <a:rPr lang="it-IT" sz="1600" dirty="0" err="1" smtClean="0"/>
              <a:t>to</a:t>
            </a:r>
            <a:r>
              <a:rPr lang="it-IT" sz="1600" dirty="0" smtClean="0"/>
              <a:t> </a:t>
            </a:r>
            <a:r>
              <a:rPr lang="it-IT" sz="1600" dirty="0" err="1" smtClean="0"/>
              <a:t>split</a:t>
            </a:r>
            <a:r>
              <a:rPr lang="it-IT" sz="1600" dirty="0" smtClean="0"/>
              <a:t> the </a:t>
            </a:r>
            <a:r>
              <a:rPr lang="it-IT" sz="1600" dirty="0" err="1" smtClean="0"/>
              <a:t>heavy</a:t>
            </a:r>
            <a:r>
              <a:rPr lang="it-IT" sz="1600" dirty="0" smtClean="0"/>
              <a:t> </a:t>
            </a:r>
            <a:r>
              <a:rPr lang="it-IT" sz="1600" dirty="0" err="1" smtClean="0"/>
              <a:t>parts</a:t>
            </a:r>
            <a:r>
              <a:rPr lang="it-IT" sz="1600" dirty="0" smtClean="0"/>
              <a:t> </a:t>
            </a:r>
            <a:r>
              <a:rPr lang="it-IT" sz="1600" dirty="0" err="1" smtClean="0"/>
              <a:t>of</a:t>
            </a:r>
            <a:r>
              <a:rPr lang="it-IT" sz="1600" dirty="0" smtClean="0"/>
              <a:t> the </a:t>
            </a:r>
            <a:r>
              <a:rPr lang="it-IT" sz="1600" dirty="0" err="1" smtClean="0"/>
              <a:t>application</a:t>
            </a:r>
            <a:r>
              <a:rPr lang="it-IT" sz="1600" dirty="0" smtClean="0"/>
              <a:t> </a:t>
            </a:r>
            <a:r>
              <a:rPr lang="it-IT" sz="1600" dirty="0" err="1" smtClean="0"/>
              <a:t>into</a:t>
            </a:r>
            <a:r>
              <a:rPr lang="it-IT" sz="1600" dirty="0" smtClean="0"/>
              <a:t> </a:t>
            </a:r>
            <a:r>
              <a:rPr lang="it-IT" sz="1600" dirty="0" err="1" smtClean="0"/>
              <a:t>smaller</a:t>
            </a:r>
            <a:r>
              <a:rPr lang="it-IT" sz="1600" dirty="0" smtClean="0"/>
              <a:t> </a:t>
            </a:r>
            <a:r>
              <a:rPr lang="it-IT" sz="1600" dirty="0" err="1" smtClean="0"/>
              <a:t>parts</a:t>
            </a:r>
            <a:r>
              <a:rPr lang="it-IT" sz="1600" dirty="0" smtClean="0"/>
              <a:t>, </a:t>
            </a:r>
            <a:r>
              <a:rPr lang="it-IT" sz="1600" dirty="0" err="1" smtClean="0"/>
              <a:t>each</a:t>
            </a:r>
            <a:r>
              <a:rPr lang="it-IT" sz="1600" dirty="0" smtClean="0"/>
              <a:t> </a:t>
            </a:r>
            <a:r>
              <a:rPr lang="it-IT" sz="1600" dirty="0" err="1" smtClean="0"/>
              <a:t>one</a:t>
            </a:r>
            <a:r>
              <a:rPr lang="it-IT" sz="1600" dirty="0" smtClean="0"/>
              <a:t> </a:t>
            </a:r>
            <a:r>
              <a:rPr lang="it-IT" sz="1600" dirty="0" err="1" smtClean="0"/>
              <a:t>being</a:t>
            </a:r>
            <a:r>
              <a:rPr lang="it-IT" sz="1600" dirty="0" smtClean="0"/>
              <a:t> </a:t>
            </a:r>
            <a:r>
              <a:rPr lang="it-IT" sz="1600" dirty="0" err="1" smtClean="0"/>
              <a:t>indipendant</a:t>
            </a:r>
            <a:r>
              <a:rPr lang="it-IT" sz="1600" dirty="0" smtClean="0"/>
              <a:t> </a:t>
            </a:r>
            <a:r>
              <a:rPr lang="it-IT" sz="1600" dirty="0" err="1" smtClean="0"/>
              <a:t>from</a:t>
            </a:r>
            <a:r>
              <a:rPr lang="it-IT" sz="1600" dirty="0" smtClean="0"/>
              <a:t> the </a:t>
            </a:r>
            <a:r>
              <a:rPr lang="it-IT" sz="1600" dirty="0" err="1" smtClean="0"/>
              <a:t>others</a:t>
            </a:r>
            <a:r>
              <a:rPr lang="it-IT" sz="1600" dirty="0" smtClean="0"/>
              <a:t> and </a:t>
            </a:r>
            <a:r>
              <a:rPr lang="it-IT" sz="1600" dirty="0" err="1" smtClean="0"/>
              <a:t>delivering</a:t>
            </a:r>
            <a:r>
              <a:rPr lang="it-IT" sz="1600" dirty="0" smtClean="0"/>
              <a:t> </a:t>
            </a:r>
            <a:r>
              <a:rPr lang="it-IT" sz="1600" dirty="0" err="1" smtClean="0"/>
              <a:t>its</a:t>
            </a:r>
            <a:r>
              <a:rPr lang="it-IT" sz="1600" dirty="0" smtClean="0"/>
              <a:t> </a:t>
            </a:r>
            <a:r>
              <a:rPr lang="it-IT" sz="1600" dirty="0" err="1" smtClean="0"/>
              <a:t>own</a:t>
            </a:r>
            <a:r>
              <a:rPr lang="it-IT" sz="1600" dirty="0" smtClean="0"/>
              <a:t> </a:t>
            </a:r>
            <a:r>
              <a:rPr lang="it-IT" sz="1600" dirty="0" err="1" smtClean="0"/>
              <a:t>functionality</a:t>
            </a:r>
            <a:r>
              <a:rPr lang="it-IT" sz="1600" dirty="0" smtClean="0"/>
              <a:t>. </a:t>
            </a:r>
          </a:p>
          <a:p>
            <a:pPr>
              <a:buNone/>
            </a:pPr>
            <a:r>
              <a:rPr lang="it-IT" sz="1600" dirty="0" smtClean="0"/>
              <a:t>The </a:t>
            </a:r>
            <a:r>
              <a:rPr lang="it-IT" sz="1600" dirty="0" err="1" smtClean="0"/>
              <a:t>devices</a:t>
            </a:r>
            <a:r>
              <a:rPr lang="it-IT" sz="1600" dirty="0" smtClean="0"/>
              <a:t> and the </a:t>
            </a:r>
            <a:r>
              <a:rPr lang="it-IT" sz="1600" dirty="0" err="1" smtClean="0"/>
              <a:t>digital</a:t>
            </a:r>
            <a:r>
              <a:rPr lang="it-IT" sz="1600" dirty="0" smtClean="0"/>
              <a:t> </a:t>
            </a:r>
            <a:r>
              <a:rPr lang="it-IT" sz="1600" dirty="0" err="1" smtClean="0"/>
              <a:t>platforms</a:t>
            </a:r>
            <a:r>
              <a:rPr lang="it-IT" sz="1600" dirty="0" smtClean="0"/>
              <a:t> </a:t>
            </a:r>
            <a:r>
              <a:rPr lang="en-US" sz="1600" dirty="0" smtClean="0"/>
              <a:t>interact with </a:t>
            </a:r>
            <a:r>
              <a:rPr lang="en-US" sz="1600" dirty="0" err="1" smtClean="0"/>
              <a:t>Spotify</a:t>
            </a:r>
            <a:r>
              <a:rPr lang="en-US" sz="1600" dirty="0" smtClean="0"/>
              <a:t> through APIs (Application Programming Interfaces) that allow access to functionalities, such as music playback or playlist synchronization.</a:t>
            </a:r>
          </a:p>
          <a:p>
            <a:pPr>
              <a:buNone/>
            </a:pPr>
            <a:r>
              <a:rPr lang="en-US" sz="1600" dirty="0" smtClean="0"/>
              <a:t>Many </a:t>
            </a:r>
            <a:r>
              <a:rPr lang="en-US" sz="1600" dirty="0" err="1" smtClean="0"/>
              <a:t>microservices</a:t>
            </a:r>
            <a:r>
              <a:rPr lang="en-US" sz="1600" dirty="0" smtClean="0"/>
              <a:t> are developed simultaneously to solve users’ problems independently and internally communicate with other services.</a:t>
            </a:r>
          </a:p>
          <a:p>
            <a:pPr>
              <a:buNone/>
            </a:pPr>
            <a:r>
              <a:rPr lang="en-US" sz="1600" dirty="0" smtClean="0"/>
              <a:t>They are largely used to develop and deploy heavy applications.</a:t>
            </a:r>
          </a:p>
          <a:p>
            <a:pPr>
              <a:buNone/>
            </a:pPr>
            <a:endParaRPr lang="it-IT" sz="1600" dirty="0" smtClean="0"/>
          </a:p>
        </p:txBody>
      </p:sp>
      <p:pic>
        <p:nvPicPr>
          <p:cNvPr id="4" name="Immagine 3" descr="How-Microservices-architecture-works.jpg"/>
          <p:cNvPicPr>
            <a:picLocks noChangeAspect="1"/>
          </p:cNvPicPr>
          <p:nvPr/>
        </p:nvPicPr>
        <p:blipFill>
          <a:blip r:embed="rId2" cstate="print"/>
          <a:stretch>
            <a:fillRect/>
          </a:stretch>
        </p:blipFill>
        <p:spPr>
          <a:xfrm>
            <a:off x="1259631" y="3861048"/>
            <a:ext cx="6048673" cy="2592288"/>
          </a:xfrm>
          <a:prstGeom prst="rect">
            <a:avLst/>
          </a:prstGeom>
          <a:ln>
            <a:noFill/>
          </a:ln>
          <a:effectLst>
            <a:outerShdw blurRad="292100" dist="139700" dir="2700000" algn="tl" rotWithShape="0">
              <a:srgbClr val="333333">
                <a:alpha val="65000"/>
              </a:srgbClr>
            </a:outerShdw>
          </a:effectLst>
        </p:spPr>
      </p:pic>
      <p:sp>
        <p:nvSpPr>
          <p:cNvPr id="6" name="CasellaDiTesto 5"/>
          <p:cNvSpPr txBox="1"/>
          <p:nvPr/>
        </p:nvSpPr>
        <p:spPr>
          <a:xfrm>
            <a:off x="5580112" y="6453336"/>
            <a:ext cx="1936877" cy="276999"/>
          </a:xfrm>
          <a:prstGeom prst="rect">
            <a:avLst/>
          </a:prstGeom>
          <a:noFill/>
        </p:spPr>
        <p:txBody>
          <a:bodyPr wrap="none" rtlCol="0">
            <a:spAutoFit/>
          </a:bodyPr>
          <a:lstStyle/>
          <a:p>
            <a:r>
              <a:rPr lang="it-IT" sz="1200" dirty="0" err="1" smtClean="0"/>
              <a:t>Image</a:t>
            </a:r>
            <a:r>
              <a:rPr lang="it-IT" sz="1200" dirty="0" smtClean="0"/>
              <a:t> </a:t>
            </a:r>
            <a:r>
              <a:rPr lang="it-IT" sz="1200" dirty="0" err="1" smtClean="0"/>
              <a:t>credit</a:t>
            </a:r>
            <a:r>
              <a:rPr lang="it-IT" sz="1200" dirty="0" smtClean="0"/>
              <a:t>: </a:t>
            </a:r>
            <a:r>
              <a:rPr lang="it-IT" sz="1200" dirty="0" err="1" smtClean="0">
                <a:hlinkClick r:id="rId3"/>
              </a:rPr>
              <a:t>middleware.io</a:t>
            </a:r>
            <a:endParaRPr lang="it-IT"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a:bodyPr>
          <a:lstStyle/>
          <a:p>
            <a:r>
              <a:rPr lang="it-IT" sz="3600" dirty="0" err="1" smtClean="0">
                <a:solidFill>
                  <a:srgbClr val="FF0000"/>
                </a:solidFill>
              </a:rPr>
              <a:t>Microservice</a:t>
            </a:r>
            <a:r>
              <a:rPr lang="it-IT" sz="3600" dirty="0" smtClean="0">
                <a:solidFill>
                  <a:srgbClr val="FF0000"/>
                </a:solidFill>
              </a:rPr>
              <a:t> </a:t>
            </a:r>
            <a:r>
              <a:rPr lang="it-IT" sz="3600" dirty="0" err="1" smtClean="0">
                <a:solidFill>
                  <a:srgbClr val="FF0000"/>
                </a:solidFill>
              </a:rPr>
              <a:t>architecture</a:t>
            </a:r>
            <a:r>
              <a:rPr lang="it-IT" sz="3600" dirty="0" smtClean="0">
                <a:solidFill>
                  <a:srgbClr val="FF0000"/>
                </a:solidFill>
              </a:rPr>
              <a:t> in </a:t>
            </a:r>
            <a:r>
              <a:rPr lang="it-IT" sz="3600" dirty="0" err="1" smtClean="0">
                <a:solidFill>
                  <a:srgbClr val="FF0000"/>
                </a:solidFill>
              </a:rPr>
              <a:t>Spotify</a:t>
            </a:r>
            <a:endParaRPr lang="it-IT" sz="3600" dirty="0">
              <a:solidFill>
                <a:srgbClr val="FF0000"/>
              </a:solidFill>
            </a:endParaRPr>
          </a:p>
        </p:txBody>
      </p:sp>
      <p:sp>
        <p:nvSpPr>
          <p:cNvPr id="3" name="Segnaposto contenuto 2"/>
          <p:cNvSpPr>
            <a:spLocks noGrp="1"/>
          </p:cNvSpPr>
          <p:nvPr>
            <p:ph idx="1"/>
          </p:nvPr>
        </p:nvSpPr>
        <p:spPr>
          <a:xfrm>
            <a:off x="467544" y="1628800"/>
            <a:ext cx="8229600" cy="2952328"/>
          </a:xfrm>
        </p:spPr>
        <p:txBody>
          <a:bodyPr>
            <a:normAutofit/>
          </a:bodyPr>
          <a:lstStyle/>
          <a:p>
            <a:pPr>
              <a:buNone/>
            </a:pPr>
            <a:r>
              <a:rPr lang="en-US" sz="1600" dirty="0" smtClean="0"/>
              <a:t>The backend of </a:t>
            </a:r>
            <a:r>
              <a:rPr lang="en-US" sz="1600" dirty="0" err="1" smtClean="0"/>
              <a:t>Spotify</a:t>
            </a:r>
            <a:r>
              <a:rPr lang="en-US" sz="1600" dirty="0" smtClean="0"/>
              <a:t> needs hundreds of services, most tiny and straightforward, but they must be served in run-time without delay. To provide these hundreds of services, </a:t>
            </a:r>
            <a:r>
              <a:rPr lang="en-US" sz="1600" dirty="0" err="1" smtClean="0"/>
              <a:t>Spotify’s</a:t>
            </a:r>
            <a:r>
              <a:rPr lang="en-US" sz="1600" dirty="0" smtClean="0"/>
              <a:t> technical team deployed a </a:t>
            </a:r>
            <a:r>
              <a:rPr lang="en-US" sz="1600" dirty="0" err="1" smtClean="0"/>
              <a:t>microservices</a:t>
            </a:r>
            <a:r>
              <a:rPr lang="en-US" sz="1600" dirty="0" smtClean="0"/>
              <a:t>-based architecture.</a:t>
            </a:r>
          </a:p>
          <a:p>
            <a:pPr>
              <a:buNone/>
            </a:pPr>
            <a:r>
              <a:rPr lang="en-US" sz="1600" dirty="0" smtClean="0"/>
              <a:t>Services are usually written in Python and/or Java, with few exceptions. </a:t>
            </a:r>
          </a:p>
          <a:p>
            <a:pPr>
              <a:buNone/>
            </a:pPr>
            <a:r>
              <a:rPr lang="en-US" sz="1600" dirty="0" smtClean="0"/>
              <a:t>A highly specialized backend service called ‘access point’ is constantly in touch with various clients for swift and precise communication. The protocol, which enabled seamless communication between the clients and the ‘access point,’ has been built by </a:t>
            </a:r>
            <a:r>
              <a:rPr lang="en-US" sz="1600" dirty="0" err="1" smtClean="0"/>
              <a:t>Spotify</a:t>
            </a:r>
            <a:r>
              <a:rPr lang="en-US" sz="1600" dirty="0" smtClean="0"/>
              <a:t> engineers and hasn’t been made public. </a:t>
            </a:r>
            <a:r>
              <a:rPr lang="en-US" sz="1600" dirty="0" err="1" smtClean="0"/>
              <a:t>Spotify’s</a:t>
            </a:r>
            <a:r>
              <a:rPr lang="en-US" sz="1600" dirty="0" smtClean="0"/>
              <a:t> Software infrastructure heavily depends on </a:t>
            </a:r>
            <a:r>
              <a:rPr lang="en-US" sz="1600" dirty="0" err="1" smtClean="0"/>
              <a:t>Debian</a:t>
            </a:r>
            <a:r>
              <a:rPr lang="en-US" sz="1600" dirty="0" smtClean="0"/>
              <a:t>, while open-source software is preferred for various activities.</a:t>
            </a:r>
          </a:p>
          <a:p>
            <a:pPr>
              <a:buNone/>
            </a:pPr>
            <a:endParaRPr lang="it-IT"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a:xfrm>
            <a:off x="467544" y="0"/>
            <a:ext cx="8496944" cy="1340768"/>
          </a:xfrm>
        </p:spPr>
        <p:txBody>
          <a:bodyPr>
            <a:normAutofit/>
          </a:bodyPr>
          <a:lstStyle/>
          <a:p>
            <a:r>
              <a:rPr lang="it-IT" sz="3600" dirty="0" err="1" smtClean="0">
                <a:solidFill>
                  <a:srgbClr val="FF0000"/>
                </a:solidFill>
              </a:rPr>
              <a:t>References</a:t>
            </a:r>
            <a:endParaRPr lang="it-IT" sz="3600" dirty="0">
              <a:solidFill>
                <a:srgbClr val="FF0000"/>
              </a:solidFill>
            </a:endParaRPr>
          </a:p>
        </p:txBody>
      </p:sp>
      <p:sp>
        <p:nvSpPr>
          <p:cNvPr id="3" name="Segnaposto contenuto 2"/>
          <p:cNvSpPr>
            <a:spLocks noGrp="1"/>
          </p:cNvSpPr>
          <p:nvPr>
            <p:ph idx="1"/>
          </p:nvPr>
        </p:nvSpPr>
        <p:spPr/>
        <p:txBody>
          <a:bodyPr>
            <a:normAutofit/>
          </a:bodyPr>
          <a:lstStyle/>
          <a:p>
            <a:r>
              <a:rPr lang="it-IT" sz="1600" dirty="0" smtClean="0"/>
              <a:t>K. </a:t>
            </a:r>
            <a:r>
              <a:rPr lang="it-IT" sz="1600" dirty="0" err="1" smtClean="0"/>
              <a:t>Varshneya</a:t>
            </a:r>
            <a:r>
              <a:rPr lang="en-US" sz="1600" dirty="0" smtClean="0"/>
              <a:t>, 2022, </a:t>
            </a:r>
            <a:r>
              <a:rPr lang="en-US" sz="1600" b="1" i="1" dirty="0" smtClean="0"/>
              <a:t>Decoding Software Architecture Of </a:t>
            </a:r>
            <a:r>
              <a:rPr lang="en-US" sz="1600" b="1" i="1" dirty="0" err="1" smtClean="0"/>
              <a:t>Spotify</a:t>
            </a:r>
            <a:r>
              <a:rPr lang="en-US" sz="1600" b="1" i="1" dirty="0" smtClean="0"/>
              <a:t>: How </a:t>
            </a:r>
            <a:r>
              <a:rPr lang="en-US" sz="1600" b="1" i="1" dirty="0" err="1" smtClean="0"/>
              <a:t>Microservices</a:t>
            </a:r>
            <a:r>
              <a:rPr lang="en-US" sz="1600" b="1" i="1" dirty="0" smtClean="0"/>
              <a:t> Empowers </a:t>
            </a:r>
            <a:r>
              <a:rPr lang="en-US" sz="1600" b="1" i="1" dirty="0" err="1" smtClean="0"/>
              <a:t>Spotify</a:t>
            </a:r>
            <a:r>
              <a:rPr lang="en-US" sz="1600" dirty="0" err="1" smtClean="0"/>
              <a:t>.Teachaheadcorp</a:t>
            </a:r>
            <a:r>
              <a:rPr lang="en-US" sz="1600" dirty="0" smtClean="0"/>
              <a:t> .</a:t>
            </a:r>
            <a:r>
              <a:rPr lang="en-US" sz="1600" dirty="0" smtClean="0">
                <a:hlinkClick r:id="rId2"/>
              </a:rPr>
              <a:t>https://www.techaheadcorp.com/blog/decoding-software-architecture-of-spotify-how-microservices-empowers-spotify/</a:t>
            </a:r>
            <a:endParaRPr lang="en-US" sz="1600" dirty="0" smtClean="0"/>
          </a:p>
          <a:p>
            <a:r>
              <a:rPr lang="en-US" sz="1600" dirty="0" smtClean="0"/>
              <a:t>R. </a:t>
            </a:r>
            <a:r>
              <a:rPr lang="en-US" sz="1600" dirty="0" err="1" smtClean="0"/>
              <a:t>Kalman</a:t>
            </a:r>
            <a:r>
              <a:rPr lang="en-US" sz="1600" dirty="0" smtClean="0"/>
              <a:t> et. J. </a:t>
            </a:r>
            <a:r>
              <a:rPr lang="en-US" sz="1600" dirty="0" err="1" smtClean="0"/>
              <a:t>Wallin</a:t>
            </a:r>
            <a:r>
              <a:rPr lang="en-US" sz="1600" dirty="0" smtClean="0"/>
              <a:t>, 2022, </a:t>
            </a:r>
            <a:r>
              <a:rPr lang="it-IT" sz="1600" b="1" dirty="0" smtClean="0"/>
              <a:t>Software </a:t>
            </a:r>
            <a:r>
              <a:rPr lang="it-IT" sz="1600" b="1" dirty="0" err="1" smtClean="0"/>
              <a:t>Visualization</a:t>
            </a:r>
            <a:r>
              <a:rPr lang="it-IT" sz="1600" b="1" dirty="0" smtClean="0"/>
              <a:t> — Challenge, </a:t>
            </a:r>
            <a:r>
              <a:rPr lang="it-IT" sz="1600" b="1" dirty="0" err="1" smtClean="0"/>
              <a:t>Accepted</a:t>
            </a:r>
            <a:r>
              <a:rPr lang="it-IT" sz="1600" dirty="0" smtClean="0"/>
              <a:t>. </a:t>
            </a:r>
            <a:r>
              <a:rPr lang="it-IT" sz="1600" dirty="0" err="1" smtClean="0"/>
              <a:t>Spotify</a:t>
            </a:r>
            <a:r>
              <a:rPr lang="it-IT" sz="1600" dirty="0" smtClean="0"/>
              <a:t> </a:t>
            </a:r>
            <a:r>
              <a:rPr lang="it-IT" sz="1600" dirty="0" err="1" smtClean="0"/>
              <a:t>Engineering</a:t>
            </a:r>
            <a:r>
              <a:rPr lang="it-IT" sz="1600" dirty="0" smtClean="0"/>
              <a:t>. </a:t>
            </a:r>
            <a:r>
              <a:rPr lang="it-IT" sz="1600" dirty="0" smtClean="0">
                <a:hlinkClick r:id="rId3"/>
              </a:rPr>
              <a:t>https://engineering.atspotify.com/2022/07/software-visualization-challenge-accepted/</a:t>
            </a:r>
            <a:endParaRPr lang="it-IT" sz="1600" dirty="0" smtClean="0"/>
          </a:p>
          <a:p>
            <a:r>
              <a:rPr lang="it-IT" sz="1600" dirty="0" err="1" smtClean="0"/>
              <a:t>Spotify</a:t>
            </a:r>
            <a:r>
              <a:rPr lang="it-IT" sz="1600" dirty="0" smtClean="0"/>
              <a:t> </a:t>
            </a:r>
            <a:r>
              <a:rPr lang="it-IT" sz="1600" dirty="0" err="1" smtClean="0"/>
              <a:t>Engineering</a:t>
            </a:r>
            <a:r>
              <a:rPr lang="it-IT" sz="1600" dirty="0" smtClean="0"/>
              <a:t>, 2013, </a:t>
            </a:r>
            <a:r>
              <a:rPr lang="it-IT" sz="1600" b="1" dirty="0" err="1" smtClean="0"/>
              <a:t>Backend</a:t>
            </a:r>
            <a:r>
              <a:rPr lang="it-IT" sz="1600" b="1" dirty="0" smtClean="0"/>
              <a:t> </a:t>
            </a:r>
            <a:r>
              <a:rPr lang="it-IT" sz="1600" b="1" dirty="0" err="1" smtClean="0"/>
              <a:t>infrastructure</a:t>
            </a:r>
            <a:r>
              <a:rPr lang="it-IT" sz="1600" b="1" dirty="0" smtClean="0"/>
              <a:t> at </a:t>
            </a:r>
            <a:r>
              <a:rPr lang="it-IT" sz="1600" b="1" dirty="0" err="1" smtClean="0"/>
              <a:t>Spotify</a:t>
            </a:r>
            <a:r>
              <a:rPr lang="it-IT" sz="1600" b="1" dirty="0" smtClean="0"/>
              <a:t>. </a:t>
            </a:r>
            <a:r>
              <a:rPr lang="it-IT" sz="1600" dirty="0" err="1" smtClean="0"/>
              <a:t>Spotify</a:t>
            </a:r>
            <a:r>
              <a:rPr lang="it-IT" sz="1600" dirty="0" smtClean="0"/>
              <a:t> </a:t>
            </a:r>
            <a:r>
              <a:rPr lang="it-IT" sz="1600" dirty="0" err="1" smtClean="0"/>
              <a:t>Engineering</a:t>
            </a:r>
            <a:r>
              <a:rPr lang="it-IT" sz="1600" dirty="0" smtClean="0"/>
              <a:t>. </a:t>
            </a:r>
            <a:r>
              <a:rPr lang="it-IT" sz="1600" dirty="0" smtClean="0">
                <a:hlinkClick r:id="rId4"/>
              </a:rPr>
              <a:t>https://engineering.atspotify.com/2013/03/backend-infrastructure-at-spotify/</a:t>
            </a:r>
            <a:endParaRPr lang="it-IT" sz="1600" b="1" dirty="0" smtClean="0"/>
          </a:p>
          <a:p>
            <a:endParaRPr lang="it-IT" sz="1600" b="1" dirty="0" smtClean="0"/>
          </a:p>
        </p:txBody>
      </p:sp>
    </p:spTree>
  </p:cSld>
  <p:clrMapOvr>
    <a:masterClrMapping/>
  </p:clrMapOvr>
</p:sld>
</file>

<file path=ppt/theme/theme1.xml><?xml version="1.0" encoding="utf-8"?>
<a:theme xmlns:a="http://schemas.openxmlformats.org/drawingml/2006/main" name="Tema di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588</TotalTime>
  <Words>1146</Words>
  <Application>Microsoft Office PowerPoint</Application>
  <PresentationFormat>Presentazione su schermo (4:3)</PresentationFormat>
  <Paragraphs>103</Paragraphs>
  <Slides>10</Slides>
  <Notes>0</Notes>
  <HiddenSlides>0</HiddenSlides>
  <MMClips>0</MMClips>
  <ScaleCrop>false</ScaleCrop>
  <HeadingPairs>
    <vt:vector size="4" baseType="variant">
      <vt:variant>
        <vt:lpstr>Tema</vt:lpstr>
      </vt:variant>
      <vt:variant>
        <vt:i4>1</vt:i4>
      </vt:variant>
      <vt:variant>
        <vt:lpstr>Titoli diapositive</vt:lpstr>
      </vt:variant>
      <vt:variant>
        <vt:i4>10</vt:i4>
      </vt:variant>
    </vt:vector>
  </HeadingPairs>
  <TitlesOfParts>
    <vt:vector size="11" baseType="lpstr">
      <vt:lpstr>Tema di Office</vt:lpstr>
      <vt:lpstr>Client Server and Peer-to-Peer Models</vt:lpstr>
      <vt:lpstr>Difference between these two architectures</vt:lpstr>
      <vt:lpstr>Advantages and disadavantages</vt:lpstr>
      <vt:lpstr>Implementazione del modello P2P su zoom</vt:lpstr>
      <vt:lpstr>Diapositiva 5</vt:lpstr>
      <vt:lpstr>Implementations Enviroments </vt:lpstr>
      <vt:lpstr>The Spotify System Model </vt:lpstr>
      <vt:lpstr>Understanding Microservice Architecture on Spotify</vt:lpstr>
      <vt:lpstr>Microservice architecture in Spotify</vt:lpstr>
      <vt:lpstr>References</vt:lpstr>
    </vt:vector>
  </TitlesOfParts>
  <Company>*</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Diapositiva 1</dc:title>
  <dc:creator>*</dc:creator>
  <cp:lastModifiedBy>*</cp:lastModifiedBy>
  <cp:revision>57</cp:revision>
  <dcterms:created xsi:type="dcterms:W3CDTF">2024-12-13T08:39:45Z</dcterms:created>
  <dcterms:modified xsi:type="dcterms:W3CDTF">2024-12-15T15:16:35Z</dcterms:modified>
</cp:coreProperties>
</file>