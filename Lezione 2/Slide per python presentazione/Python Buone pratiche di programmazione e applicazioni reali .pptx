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7" r:id="rId9"/>
    <p:sldId id="263" r:id="rId10"/>
    <p:sldId id="264" r:id="rId11"/>
    <p:sldId id="266" r:id="rId12"/>
    <p:sldId id="268" r:id="rId13"/>
    <p:sldId id="269" r:id="rId14"/>
    <p:sldId id="265" r:id="rId1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62" y="-46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6A49-8D2D-4480-A3BD-B7E8CBEFEE35}" type="datetimeFigureOut">
              <a:rPr lang="it-IT" smtClean="0"/>
              <a:t>30/12/2024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AD6D-F7DC-4595-BA98-6E016F7AE7A8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6A49-8D2D-4480-A3BD-B7E8CBEFEE35}" type="datetimeFigureOut">
              <a:rPr lang="it-IT" smtClean="0"/>
              <a:t>30/12/2024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AD6D-F7DC-4595-BA98-6E016F7AE7A8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6A49-8D2D-4480-A3BD-B7E8CBEFEE35}" type="datetimeFigureOut">
              <a:rPr lang="it-IT" smtClean="0"/>
              <a:t>30/12/2024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AD6D-F7DC-4595-BA98-6E016F7AE7A8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6A49-8D2D-4480-A3BD-B7E8CBEFEE35}" type="datetimeFigureOut">
              <a:rPr lang="it-IT" smtClean="0"/>
              <a:t>30/12/2024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AD6D-F7DC-4595-BA98-6E016F7AE7A8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6A49-8D2D-4480-A3BD-B7E8CBEFEE35}" type="datetimeFigureOut">
              <a:rPr lang="it-IT" smtClean="0"/>
              <a:t>30/12/2024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AD6D-F7DC-4595-BA98-6E016F7AE7A8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6A49-8D2D-4480-A3BD-B7E8CBEFEE35}" type="datetimeFigureOut">
              <a:rPr lang="it-IT" smtClean="0"/>
              <a:t>30/12/2024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AD6D-F7DC-4595-BA98-6E016F7AE7A8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6A49-8D2D-4480-A3BD-B7E8CBEFEE35}" type="datetimeFigureOut">
              <a:rPr lang="it-IT" smtClean="0"/>
              <a:t>30/12/2024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AD6D-F7DC-4595-BA98-6E016F7AE7A8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6A49-8D2D-4480-A3BD-B7E8CBEFEE35}" type="datetimeFigureOut">
              <a:rPr lang="it-IT" smtClean="0"/>
              <a:t>30/12/2024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AD6D-F7DC-4595-BA98-6E016F7AE7A8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6A49-8D2D-4480-A3BD-B7E8CBEFEE35}" type="datetimeFigureOut">
              <a:rPr lang="it-IT" smtClean="0"/>
              <a:t>30/12/2024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AD6D-F7DC-4595-BA98-6E016F7AE7A8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6A49-8D2D-4480-A3BD-B7E8CBEFEE35}" type="datetimeFigureOut">
              <a:rPr lang="it-IT" smtClean="0"/>
              <a:t>30/12/2024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AD6D-F7DC-4595-BA98-6E016F7AE7A8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6A49-8D2D-4480-A3BD-B7E8CBEFEE35}" type="datetimeFigureOut">
              <a:rPr lang="it-IT" smtClean="0"/>
              <a:t>30/12/2024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AD6D-F7DC-4595-BA98-6E016F7AE7A8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6A49-8D2D-4480-A3BD-B7E8CBEFEE35}" type="datetimeFigureOut">
              <a:rPr lang="it-IT" smtClean="0"/>
              <a:t>30/12/2024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5AD6D-F7DC-4595-BA98-6E016F7AE7A8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ickl.ai/blog/python-automation-scripting/" TargetMode="External"/><Relationship Id="rId3" Type="http://schemas.openxmlformats.org/officeDocument/2006/relationships/hyperlink" Target="https://gist.github.com/ruimaranhao/4e18cbe3dad6f68040c32ed6709090a3" TargetMode="External"/><Relationship Id="rId7" Type="http://schemas.openxmlformats.org/officeDocument/2006/relationships/hyperlink" Target="https://www.tutorialspoint.com/what-is-pep-for-python" TargetMode="External"/><Relationship Id="rId2" Type="http://schemas.openxmlformats.org/officeDocument/2006/relationships/hyperlink" Target="https://zerotomastery.io/blog/python-automation-scripts-beginners-guid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-features/" TargetMode="External"/><Relationship Id="rId5" Type="http://schemas.openxmlformats.org/officeDocument/2006/relationships/hyperlink" Target="https://peps.python.org/" TargetMode="External"/><Relationship Id="rId10" Type="http://schemas.openxmlformats.org/officeDocument/2006/relationships/hyperlink" Target="https://it.wikipedia.org/wiki/Guido_van_Rossum" TargetMode="External"/><Relationship Id="rId4" Type="http://schemas.openxmlformats.org/officeDocument/2006/relationships/hyperlink" Target="https://www.datacamp.com/blog/python-best-practices-for-better-code" TargetMode="External"/><Relationship Id="rId9" Type="http://schemas.openxmlformats.org/officeDocument/2006/relationships/hyperlink" Target="https://www.lihpao.com/how-to-write-python-script-for-autom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476672"/>
            <a:ext cx="9144000" cy="4176464"/>
          </a:xfrm>
        </p:spPr>
        <p:txBody>
          <a:bodyPr>
            <a:normAutofit/>
          </a:bodyPr>
          <a:lstStyle/>
          <a:p>
            <a:r>
              <a:rPr lang="it-IT" b="1" dirty="0" smtClean="0"/>
              <a:t/>
            </a:r>
            <a:br>
              <a:rPr lang="it-IT" b="1" dirty="0" smtClean="0"/>
            </a:br>
            <a:r>
              <a:rPr lang="it-IT" b="1" dirty="0" smtClean="0">
                <a:solidFill>
                  <a:srgbClr val="FF0000"/>
                </a:solidFill>
              </a:rPr>
              <a:t>Buone Pratiche di Programmazione e Applicazioni Reali del Linguaggio Python</a:t>
            </a:r>
            <a:r>
              <a:rPr lang="it-IT" b="1" dirty="0" smtClean="0"/>
              <a:t/>
            </a:r>
            <a:br>
              <a:rPr lang="it-IT" b="1" dirty="0" smtClean="0"/>
            </a:b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5301208"/>
            <a:ext cx="8229600" cy="1080120"/>
          </a:xfrm>
        </p:spPr>
        <p:txBody>
          <a:bodyPr/>
          <a:lstStyle/>
          <a:p>
            <a:pPr algn="ctr">
              <a:buNone/>
            </a:pPr>
            <a:r>
              <a:rPr lang="it-IT" dirty="0" smtClean="0"/>
              <a:t>A cura di Marco </a:t>
            </a:r>
            <a:r>
              <a:rPr lang="it-IT" dirty="0" err="1" smtClean="0"/>
              <a:t>Pierleoni</a:t>
            </a:r>
            <a:r>
              <a:rPr lang="it-IT" dirty="0" smtClean="0"/>
              <a:t> </a:t>
            </a:r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11560" y="1"/>
            <a:ext cx="7772400" cy="620687"/>
          </a:xfrm>
        </p:spPr>
        <p:txBody>
          <a:bodyPr>
            <a:noAutofit/>
          </a:bodyPr>
          <a:lstStyle/>
          <a:p>
            <a:r>
              <a:rPr lang="it-IT" sz="3600" dirty="0" smtClean="0">
                <a:solidFill>
                  <a:srgbClr val="FF0000"/>
                </a:solidFill>
              </a:rPr>
              <a:t>Le caratteristiche di Python</a:t>
            </a:r>
            <a:endParaRPr lang="it-IT" sz="3600" dirty="0">
              <a:solidFill>
                <a:srgbClr val="FF0000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9144000" cy="6165304"/>
          </a:xfrm>
        </p:spPr>
        <p:txBody>
          <a:bodyPr>
            <a:normAutofit fontScale="25000" lnSpcReduction="20000"/>
          </a:bodyPr>
          <a:lstStyle/>
          <a:p>
            <a:r>
              <a:rPr lang="it-IT" sz="7600" dirty="0" smtClean="0">
                <a:solidFill>
                  <a:schemeClr val="tx1"/>
                </a:solidFill>
              </a:rPr>
              <a:t>Python è un linguaggio di programmazione ad alto livello, orientato a oggetti, e utilizzato in diversi ambiti tra cui: </a:t>
            </a:r>
            <a:br>
              <a:rPr lang="it-IT" sz="7600" dirty="0" smtClean="0">
                <a:solidFill>
                  <a:schemeClr val="tx1"/>
                </a:solidFill>
              </a:rPr>
            </a:br>
            <a:endParaRPr lang="it-IT" sz="76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it-IT" sz="7600" dirty="0" smtClean="0">
                <a:solidFill>
                  <a:schemeClr val="tx1"/>
                </a:solidFill>
              </a:rPr>
              <a:t>il Web </a:t>
            </a:r>
            <a:r>
              <a:rPr lang="it-IT" sz="7600" dirty="0" err="1" smtClean="0">
                <a:solidFill>
                  <a:schemeClr val="tx1"/>
                </a:solidFill>
              </a:rPr>
              <a:t>Development</a:t>
            </a:r>
            <a:endParaRPr lang="it-IT" sz="76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it-IT" sz="7600" dirty="0">
                <a:solidFill>
                  <a:schemeClr val="tx1"/>
                </a:solidFill>
              </a:rPr>
              <a:t> </a:t>
            </a:r>
            <a:r>
              <a:rPr lang="it-IT" sz="7600" dirty="0" smtClean="0">
                <a:solidFill>
                  <a:schemeClr val="tx1"/>
                </a:solidFill>
              </a:rPr>
              <a:t>Data Science e Analisi</a:t>
            </a:r>
          </a:p>
          <a:p>
            <a:pPr>
              <a:buFont typeface="Arial" pitchFamily="34" charset="0"/>
              <a:buChar char="•"/>
            </a:pPr>
            <a:r>
              <a:rPr lang="it-IT" sz="7600" dirty="0" smtClean="0">
                <a:solidFill>
                  <a:schemeClr val="tx1"/>
                </a:solidFill>
              </a:rPr>
              <a:t>Intelligenza artificiale e </a:t>
            </a:r>
            <a:r>
              <a:rPr lang="it-IT" sz="7600" dirty="0" err="1" smtClean="0">
                <a:solidFill>
                  <a:schemeClr val="tx1"/>
                </a:solidFill>
              </a:rPr>
              <a:t>Machine</a:t>
            </a:r>
            <a:r>
              <a:rPr lang="it-IT" sz="7600" dirty="0" smtClean="0">
                <a:solidFill>
                  <a:schemeClr val="tx1"/>
                </a:solidFill>
              </a:rPr>
              <a:t> </a:t>
            </a:r>
            <a:r>
              <a:rPr lang="it-IT" sz="7600" dirty="0" err="1" smtClean="0">
                <a:solidFill>
                  <a:schemeClr val="tx1"/>
                </a:solidFill>
              </a:rPr>
              <a:t>Learning</a:t>
            </a:r>
            <a:endParaRPr lang="it-IT" sz="7600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it-IT" sz="7600" dirty="0" smtClean="0">
                <a:solidFill>
                  <a:schemeClr val="tx1"/>
                </a:solidFill>
              </a:rPr>
              <a:t> Automazioni e </a:t>
            </a:r>
            <a:r>
              <a:rPr lang="it-IT" sz="7600" dirty="0" err="1" smtClean="0">
                <a:solidFill>
                  <a:schemeClr val="tx1"/>
                </a:solidFill>
              </a:rPr>
              <a:t>Scripting</a:t>
            </a:r>
            <a:r>
              <a:rPr lang="it-IT" sz="7600" dirty="0" smtClean="0">
                <a:solidFill>
                  <a:schemeClr val="tx1"/>
                </a:solidFill>
              </a:rPr>
              <a:t> </a:t>
            </a:r>
          </a:p>
          <a:p>
            <a:endParaRPr lang="it-IT" sz="7600" dirty="0">
              <a:solidFill>
                <a:schemeClr val="tx1"/>
              </a:solidFill>
            </a:endParaRPr>
          </a:p>
          <a:p>
            <a:pPr algn="l"/>
            <a:r>
              <a:rPr lang="it-IT" sz="7600" dirty="0" smtClean="0">
                <a:solidFill>
                  <a:schemeClr val="tx1"/>
                </a:solidFill>
              </a:rPr>
              <a:t>Python, difatti, è molto apprezzato per le sue caratteristiche che lo hanno reso un linguaggio di programmazione molto utilizzato sia in diversi ambiti, sia da programmatori esperti che non.</a:t>
            </a:r>
            <a:br>
              <a:rPr lang="it-IT" sz="7600" dirty="0" smtClean="0">
                <a:solidFill>
                  <a:schemeClr val="tx1"/>
                </a:solidFill>
              </a:rPr>
            </a:br>
            <a:r>
              <a:rPr lang="it-IT" sz="7600" dirty="0" smtClean="0">
                <a:solidFill>
                  <a:schemeClr val="tx1"/>
                </a:solidFill>
              </a:rPr>
              <a:t>Le caratteristiche di </a:t>
            </a:r>
            <a:r>
              <a:rPr lang="it-IT" sz="7600" dirty="0" err="1" smtClean="0">
                <a:solidFill>
                  <a:schemeClr val="tx1"/>
                </a:solidFill>
              </a:rPr>
              <a:t>python</a:t>
            </a:r>
            <a:r>
              <a:rPr lang="it-IT" sz="7600" dirty="0" smtClean="0">
                <a:solidFill>
                  <a:schemeClr val="tx1"/>
                </a:solidFill>
              </a:rPr>
              <a:t> sono: 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7600" b="1" dirty="0" smtClean="0">
                <a:solidFill>
                  <a:schemeClr val="tx1"/>
                </a:solidFill>
              </a:rPr>
              <a:t>Sintassi semplice e leggibile 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7600" b="1" dirty="0" smtClean="0">
                <a:solidFill>
                  <a:schemeClr val="tx1"/>
                </a:solidFill>
              </a:rPr>
              <a:t>Versatilità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7600" b="1" dirty="0" smtClean="0">
                <a:solidFill>
                  <a:schemeClr val="tx1"/>
                </a:solidFill>
              </a:rPr>
              <a:t>Ampia libreria standard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7600" b="1" dirty="0" smtClean="0">
                <a:solidFill>
                  <a:schemeClr val="tx1"/>
                </a:solidFill>
              </a:rPr>
              <a:t>Ricco ecosistema di librerie e </a:t>
            </a:r>
            <a:r>
              <a:rPr lang="it-IT" sz="7600" b="1" dirty="0" err="1" smtClean="0">
                <a:solidFill>
                  <a:schemeClr val="tx1"/>
                </a:solidFill>
              </a:rPr>
              <a:t>framework</a:t>
            </a:r>
            <a:endParaRPr lang="it-IT" sz="7600" b="1" dirty="0" smtClean="0">
              <a:solidFill>
                <a:schemeClr val="tx1"/>
              </a:solidFill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it-IT" sz="7600" b="1" dirty="0" smtClean="0">
                <a:solidFill>
                  <a:schemeClr val="tx1"/>
                </a:solidFill>
              </a:rPr>
              <a:t>Community attiva e supporto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7600" b="1" dirty="0" smtClean="0">
                <a:solidFill>
                  <a:schemeClr val="tx1"/>
                </a:solidFill>
              </a:rPr>
              <a:t>Portabilità 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7600" b="1" dirty="0" smtClean="0">
                <a:solidFill>
                  <a:schemeClr val="tx1"/>
                </a:solidFill>
              </a:rPr>
              <a:t>Interprete e sviluppo rapido 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7600" b="1" dirty="0" smtClean="0">
                <a:solidFill>
                  <a:schemeClr val="tx1"/>
                </a:solidFill>
              </a:rPr>
              <a:t>Supporto per il </a:t>
            </a:r>
            <a:r>
              <a:rPr lang="it-IT" sz="7600" b="1" dirty="0" err="1" smtClean="0">
                <a:solidFill>
                  <a:schemeClr val="tx1"/>
                </a:solidFill>
              </a:rPr>
              <a:t>testing</a:t>
            </a:r>
            <a:r>
              <a:rPr lang="it-IT" sz="7600" b="1" dirty="0" smtClean="0">
                <a:solidFill>
                  <a:schemeClr val="tx1"/>
                </a:solidFill>
              </a:rPr>
              <a:t> 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7600" b="1" dirty="0" smtClean="0">
                <a:solidFill>
                  <a:schemeClr val="tx1"/>
                </a:solidFill>
              </a:rPr>
              <a:t>Integrazione con altri linguaggi </a:t>
            </a:r>
          </a:p>
          <a:p>
            <a:pPr marL="514350" indent="-514350" algn="l">
              <a:buFont typeface="+mj-lt"/>
              <a:buAutoNum type="arabicPeriod"/>
            </a:pPr>
            <a:r>
              <a:rPr lang="it-IT" sz="7600" b="1" dirty="0" smtClean="0">
                <a:solidFill>
                  <a:schemeClr val="tx1"/>
                </a:solidFill>
              </a:rPr>
              <a:t>Adatto a diversi livelli di competenza </a:t>
            </a:r>
          </a:p>
          <a:p>
            <a:pPr algn="l"/>
            <a:endParaRPr lang="it-IT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it-IT" sz="3600" dirty="0" smtClean="0">
                <a:solidFill>
                  <a:srgbClr val="FF0000"/>
                </a:solidFill>
              </a:rPr>
              <a:t>Breve Storia di Python</a:t>
            </a:r>
            <a:endParaRPr lang="it-IT" sz="3600" dirty="0">
              <a:solidFill>
                <a:srgbClr val="FF0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5698976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2800" dirty="0" smtClean="0"/>
              <a:t>Python fu creato all’inizio degli anni novanta dall’informatico olandese Guido van Rossum.</a:t>
            </a:r>
          </a:p>
          <a:p>
            <a:pPr>
              <a:buNone/>
            </a:pPr>
            <a:r>
              <a:rPr lang="it-IT" sz="2800" dirty="0" smtClean="0"/>
              <a:t>Il nome fu scelto per la passione di G. van Rossum per i Monty Python e per la loro serie televisiva </a:t>
            </a:r>
            <a:r>
              <a:rPr lang="it-IT" sz="2800" i="1" dirty="0" smtClean="0"/>
              <a:t>Monty Python’s Flying Circus </a:t>
            </a:r>
            <a:endParaRPr lang="it-IT" sz="2800" i="1" dirty="0"/>
          </a:p>
        </p:txBody>
      </p:sp>
      <p:pic>
        <p:nvPicPr>
          <p:cNvPr id="1026" name="Picture 2" descr="C:\Users\Project Lead\OneDrive\Documents\Programmazione\Its-ict academy\Lezione 2\Slide per python presentazione\immagini\330px-Guido-portrait-201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8184" y="1556792"/>
            <a:ext cx="2697931" cy="2376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sellaDiTesto 5"/>
          <p:cNvSpPr txBox="1"/>
          <p:nvPr/>
        </p:nvSpPr>
        <p:spPr>
          <a:xfrm>
            <a:off x="7524328" y="400506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[1]</a:t>
            </a:r>
            <a:endParaRPr 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>
                <a:solidFill>
                  <a:srgbClr val="FF0000"/>
                </a:solidFill>
              </a:rPr>
              <a:t>Le buone pratiche di programmazione per Python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2800" dirty="0" smtClean="0"/>
              <a:t>Per quanto riguarda Python, esistono delle linee guida, o per meglio dire, delle buone pratiche di programmazione che sono finalizzate a rendere il codice: </a:t>
            </a:r>
          </a:p>
          <a:p>
            <a:r>
              <a:rPr lang="it-IT" sz="2800" b="1" dirty="0" smtClean="0"/>
              <a:t>Leggibile</a:t>
            </a:r>
            <a:endParaRPr lang="it-IT" sz="2800" b="1" dirty="0"/>
          </a:p>
          <a:p>
            <a:r>
              <a:rPr lang="it-IT" sz="2800" b="1" dirty="0" smtClean="0"/>
              <a:t> facile da gestire </a:t>
            </a:r>
          </a:p>
          <a:p>
            <a:r>
              <a:rPr lang="it-IT" sz="2800" b="1" dirty="0" smtClean="0"/>
              <a:t> efficiente</a:t>
            </a:r>
          </a:p>
          <a:p>
            <a:pPr>
              <a:buNone/>
            </a:pPr>
            <a:r>
              <a:rPr lang="it-IT" sz="2800" dirty="0" smtClean="0"/>
              <a:t>Seguendo le convenzioni scritte nelle </a:t>
            </a:r>
            <a:r>
              <a:rPr lang="it-IT" sz="2800" b="1" dirty="0" smtClean="0"/>
              <a:t>PEP</a:t>
            </a:r>
            <a:r>
              <a:rPr lang="it-IT" sz="2800" dirty="0" smtClean="0"/>
              <a:t> (</a:t>
            </a:r>
            <a:r>
              <a:rPr lang="it-IT" sz="2800" b="1" dirty="0" smtClean="0"/>
              <a:t>Python </a:t>
            </a:r>
            <a:r>
              <a:rPr lang="it-IT" sz="2800" b="1" dirty="0" err="1" smtClean="0"/>
              <a:t>Enhancement</a:t>
            </a:r>
            <a:r>
              <a:rPr lang="it-IT" sz="2800" b="1" dirty="0" smtClean="0"/>
              <a:t> </a:t>
            </a:r>
            <a:r>
              <a:rPr lang="it-IT" sz="2800" b="1" dirty="0" err="1" smtClean="0"/>
              <a:t>Proposal</a:t>
            </a:r>
            <a:r>
              <a:rPr lang="it-IT" sz="2800" b="1" dirty="0" smtClean="0"/>
              <a:t>) </a:t>
            </a:r>
            <a:r>
              <a:rPr lang="it-IT" sz="2800" dirty="0" smtClean="0"/>
              <a:t>si facilita la collaborazione tra sviluppatori e si riduce il rischio di errori.</a:t>
            </a:r>
            <a:endParaRPr lang="it-IT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it-IT" sz="3600" dirty="0" smtClean="0">
                <a:solidFill>
                  <a:srgbClr val="FF0000"/>
                </a:solidFill>
              </a:rPr>
              <a:t>Le buone pratiche di programmazione per Python: le PEP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340768"/>
            <a:ext cx="9144000" cy="5517232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it-IT" sz="2700" dirty="0" smtClean="0"/>
              <a:t>Esistono centinaia di PEP ognuna con un numero univoco che le differenzia tra loro. </a:t>
            </a:r>
            <a:br>
              <a:rPr lang="it-IT" sz="2700" dirty="0" smtClean="0"/>
            </a:br>
            <a:r>
              <a:rPr lang="it-IT" sz="2700" dirty="0" smtClean="0"/>
              <a:t>Propongono nuove funzionalità, miglioramenti o modifiche per il linguaggio di Python, si dividono principalmente in: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700" b="1" dirty="0" smtClean="0"/>
              <a:t>PEP di standardizzazione:</a:t>
            </a:r>
          </a:p>
          <a:p>
            <a:pPr marL="514350" indent="-514350">
              <a:buNone/>
            </a:pPr>
            <a:r>
              <a:rPr lang="it-IT" sz="2700" dirty="0" smtClean="0"/>
              <a:t>Propongono modifiche tecniche (es: nuove funzionalità e modifiche al linguaggio)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700" b="1" dirty="0" smtClean="0"/>
              <a:t>PEP informative: </a:t>
            </a:r>
            <a:br>
              <a:rPr lang="it-IT" sz="2700" b="1" dirty="0" smtClean="0"/>
            </a:br>
            <a:r>
              <a:rPr lang="it-IT" sz="2700" dirty="0" smtClean="0"/>
              <a:t>Forniscono linee guida o informazioni utili (es: PEP 8 per lo stile del codice)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700" b="1" dirty="0" smtClean="0"/>
              <a:t>PEP di processo:</a:t>
            </a:r>
            <a:br>
              <a:rPr lang="it-IT" sz="2700" b="1" dirty="0" smtClean="0"/>
            </a:br>
            <a:r>
              <a:rPr lang="it-IT" sz="2700" dirty="0" smtClean="0"/>
              <a:t>Forniscono regole per il processo di sviluppo del linguaggio </a:t>
            </a:r>
            <a:br>
              <a:rPr lang="it-IT" sz="2700" dirty="0" smtClean="0"/>
            </a:br>
            <a:endParaRPr lang="it-IT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it-IT" sz="3600" dirty="0" smtClean="0">
                <a:solidFill>
                  <a:srgbClr val="FF0000"/>
                </a:solidFill>
              </a:rPr>
              <a:t>Elenco delle buone pratiche di programmazione per Python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340768"/>
            <a:ext cx="9144000" cy="5517232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it-IT" sz="2800" dirty="0" smtClean="0"/>
              <a:t>Come detto prima, queste buone pratiche di programmazione in </a:t>
            </a:r>
            <a:r>
              <a:rPr lang="it-IT" sz="2800" dirty="0" err="1" smtClean="0"/>
              <a:t>python</a:t>
            </a:r>
            <a:r>
              <a:rPr lang="it-IT" sz="2800" dirty="0" smtClean="0"/>
              <a:t> permettono di rendere il codice leggibile ed efficiente. </a:t>
            </a:r>
            <a:br>
              <a:rPr lang="it-IT" sz="2800" dirty="0" smtClean="0"/>
            </a:br>
            <a:r>
              <a:rPr lang="it-IT" sz="2800" dirty="0" smtClean="0"/>
              <a:t>Alcune di queste pratiche sono: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800" b="1" dirty="0" err="1" smtClean="0"/>
              <a:t>Naming</a:t>
            </a:r>
            <a:r>
              <a:rPr lang="it-IT" sz="2800" b="1" dirty="0" smtClean="0"/>
              <a:t> (Nomenclatura)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800" b="1" dirty="0" err="1" smtClean="0"/>
              <a:t>Indentation</a:t>
            </a:r>
            <a:endParaRPr lang="it-IT" sz="2800" b="1" dirty="0" smtClean="0"/>
          </a:p>
          <a:p>
            <a:pPr marL="514350" indent="-514350">
              <a:buFont typeface="+mj-lt"/>
              <a:buAutoNum type="arabicPeriod"/>
            </a:pPr>
            <a:r>
              <a:rPr lang="it-IT" sz="2800" b="1" dirty="0" err="1" smtClean="0"/>
              <a:t>Equality</a:t>
            </a:r>
            <a:r>
              <a:rPr lang="it-IT" sz="2800" b="1" dirty="0" smtClean="0"/>
              <a:t> </a:t>
            </a:r>
            <a:r>
              <a:rPr lang="it-IT" sz="2800" b="1" dirty="0" err="1" smtClean="0"/>
              <a:t>checking</a:t>
            </a:r>
            <a:endParaRPr lang="it-IT" sz="2800" b="1" dirty="0" smtClean="0"/>
          </a:p>
          <a:p>
            <a:pPr marL="514350" indent="-514350">
              <a:buNone/>
            </a:pPr>
            <a:r>
              <a:rPr lang="it-IT" sz="2800" dirty="0" smtClean="0"/>
              <a:t/>
            </a:r>
            <a:br>
              <a:rPr lang="it-IT" sz="2800" dirty="0" smtClean="0"/>
            </a:br>
            <a:endParaRPr lang="it-IT" sz="2800" dirty="0" smtClean="0"/>
          </a:p>
          <a:p>
            <a:pPr>
              <a:buNone/>
            </a:pPr>
            <a:endParaRPr lang="it-IT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792088"/>
          </a:xfrm>
        </p:spPr>
        <p:txBody>
          <a:bodyPr>
            <a:noAutofit/>
          </a:bodyPr>
          <a:lstStyle/>
          <a:p>
            <a:r>
              <a:rPr lang="it-IT" sz="3600" dirty="0" smtClean="0">
                <a:solidFill>
                  <a:srgbClr val="FF0000"/>
                </a:solidFill>
              </a:rPr>
              <a:t>Elenco delle buone pratiche di programmazione per Python: </a:t>
            </a:r>
            <a:r>
              <a:rPr lang="it-IT" sz="3600" dirty="0" err="1" smtClean="0">
                <a:solidFill>
                  <a:srgbClr val="FF0000"/>
                </a:solidFill>
              </a:rPr>
              <a:t>Naming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340768"/>
            <a:ext cx="9144000" cy="551723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2200" dirty="0" smtClean="0"/>
              <a:t>La nomenclatura è fondamentale per rendere il codice leggibile e organizzato, ma anche per evitare conflitti di nomi nel codice. </a:t>
            </a:r>
          </a:p>
          <a:p>
            <a:pPr>
              <a:buNone/>
            </a:pPr>
            <a:r>
              <a:rPr lang="it-IT" sz="2200" dirty="0" smtClean="0"/>
              <a:t>Le regole principali sono: 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200" b="1" dirty="0" smtClean="0"/>
              <a:t>Variabili, funzioni, metodi, pacchetti e moduli:</a:t>
            </a:r>
            <a:r>
              <a:rPr lang="it-IT" sz="2200" dirty="0" smtClean="0"/>
              <a:t/>
            </a:r>
            <a:br>
              <a:rPr lang="it-IT" sz="2200" dirty="0" smtClean="0"/>
            </a:br>
            <a:r>
              <a:rPr lang="it-IT" sz="2200" dirty="0" smtClean="0"/>
              <a:t>è bene utilizzare nomi in minuscolo separati da underscore (es: </a:t>
            </a:r>
            <a:r>
              <a:rPr lang="it-IT" sz="2200" i="1" dirty="0" err="1" smtClean="0"/>
              <a:t>calculate_sum</a:t>
            </a:r>
            <a:r>
              <a:rPr lang="it-IT" sz="2200" i="1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200" b="1" dirty="0" smtClean="0"/>
              <a:t>Classi ed eccezioni:</a:t>
            </a:r>
            <a:br>
              <a:rPr lang="it-IT" sz="2200" b="1" dirty="0" smtClean="0"/>
            </a:br>
            <a:r>
              <a:rPr lang="it-IT" sz="2200" dirty="0" smtClean="0"/>
              <a:t>si utilizza il formato </a:t>
            </a:r>
            <a:r>
              <a:rPr lang="it-IT" sz="2200" dirty="0" err="1" smtClean="0"/>
              <a:t>CamelCase</a:t>
            </a:r>
            <a:r>
              <a:rPr lang="it-IT" sz="2200" b="1" dirty="0" smtClean="0"/>
              <a:t> </a:t>
            </a:r>
            <a:r>
              <a:rPr lang="it-IT" sz="2200" dirty="0" smtClean="0"/>
              <a:t>(es: </a:t>
            </a:r>
            <a:r>
              <a:rPr lang="it-IT" sz="2200" i="1" dirty="0" err="1" smtClean="0"/>
              <a:t>MyClass</a:t>
            </a:r>
            <a:r>
              <a:rPr lang="it-IT" sz="2200" i="1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200" b="1" dirty="0" smtClean="0"/>
              <a:t>Metodi protetti: </a:t>
            </a:r>
            <a:br>
              <a:rPr lang="it-IT" sz="2200" b="1" dirty="0" smtClean="0"/>
            </a:br>
            <a:r>
              <a:rPr lang="it-IT" sz="2200" dirty="0" smtClean="0"/>
              <a:t>in questo caso si deve utilizzare l’underscore all’inizio (es:</a:t>
            </a:r>
            <a:r>
              <a:rPr lang="it-IT" sz="2200" i="1" dirty="0" smtClean="0"/>
              <a:t>_protected_method)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200" b="1" dirty="0" smtClean="0"/>
              <a:t>Metodi privati: </a:t>
            </a:r>
            <a:br>
              <a:rPr lang="it-IT" sz="2200" b="1" dirty="0" smtClean="0"/>
            </a:br>
            <a:r>
              <a:rPr lang="it-IT" sz="2200" dirty="0" smtClean="0"/>
              <a:t>si deve aggiungere due </a:t>
            </a:r>
            <a:r>
              <a:rPr lang="it-IT" sz="2200" dirty="0" err="1" smtClean="0"/>
              <a:t>undescore</a:t>
            </a:r>
            <a:r>
              <a:rPr lang="it-IT" sz="2200" dirty="0" smtClean="0"/>
              <a:t> all’inizio (es:</a:t>
            </a:r>
            <a:r>
              <a:rPr lang="it-IT" sz="2200" i="1" dirty="0" smtClean="0"/>
              <a:t>__procteted_method)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200" b="1" dirty="0" smtClean="0"/>
              <a:t>Costanti: </a:t>
            </a:r>
            <a:br>
              <a:rPr lang="it-IT" sz="2200" b="1" dirty="0" smtClean="0"/>
            </a:br>
            <a:r>
              <a:rPr lang="it-IT" sz="2200" dirty="0" smtClean="0"/>
              <a:t>si deve scriverle in maiuscolo, separate da underscore (es: </a:t>
            </a:r>
            <a:r>
              <a:rPr lang="it-IT" sz="2200" i="1" dirty="0" err="1" smtClean="0"/>
              <a:t>MAX_VALUE</a:t>
            </a:r>
            <a:r>
              <a:rPr lang="it-IT" sz="2200" i="1" dirty="0" smtClean="0"/>
              <a:t>)</a:t>
            </a:r>
            <a:endParaRPr lang="it-IT" sz="2200" b="1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it-IT" sz="3600" dirty="0" smtClean="0">
                <a:solidFill>
                  <a:srgbClr val="FF0000"/>
                </a:solidFill>
              </a:rPr>
              <a:t>Linee Guida generali per la nomenclatura</a:t>
            </a:r>
            <a:endParaRPr lang="it-IT" sz="3600" dirty="0">
              <a:solidFill>
                <a:srgbClr val="FF0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733257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it-IT" sz="8800" dirty="0" smtClean="0"/>
              <a:t>Evitare variabili con una sola lettera (es: </a:t>
            </a:r>
            <a:r>
              <a:rPr lang="it-IT" sz="8800" i="1" dirty="0" smtClean="0"/>
              <a:t>l, o, i, </a:t>
            </a:r>
            <a:r>
              <a:rPr lang="it-IT" sz="8800" dirty="0" smtClean="0"/>
              <a:t>etc.) a meno che non vengano usate in blocchi brevi dove il significato è chiaro dal contesto.</a:t>
            </a:r>
          </a:p>
          <a:p>
            <a:pPr algn="ctr">
              <a:buNone/>
            </a:pPr>
            <a:r>
              <a:rPr lang="it-IT" sz="8800" dirty="0" smtClean="0"/>
              <a:t/>
            </a:r>
            <a:br>
              <a:rPr lang="it-IT" sz="8800" dirty="0" smtClean="0"/>
            </a:br>
            <a:r>
              <a:rPr lang="it-IT" sz="8800" dirty="0" smtClean="0"/>
              <a:t> Esempio:</a:t>
            </a:r>
            <a:br>
              <a:rPr lang="it-IT" sz="8800" dirty="0" smtClean="0"/>
            </a:br>
            <a:r>
              <a:rPr lang="it-IT" sz="8800" b="1" i="1" dirty="0" err="1" smtClean="0"/>
              <a:t>for</a:t>
            </a:r>
            <a:r>
              <a:rPr lang="it-IT" sz="8800" b="1" i="1" dirty="0" smtClean="0"/>
              <a:t> e in </a:t>
            </a:r>
            <a:r>
              <a:rPr lang="it-IT" sz="8800" b="1" i="1" dirty="0" err="1" smtClean="0"/>
              <a:t>elements</a:t>
            </a:r>
            <a:r>
              <a:rPr lang="it-IT" sz="8800" b="1" i="1" dirty="0" smtClean="0"/>
              <a:t>: </a:t>
            </a:r>
            <a:br>
              <a:rPr lang="it-IT" sz="8800" b="1" i="1" dirty="0" smtClean="0"/>
            </a:br>
            <a:r>
              <a:rPr lang="it-IT" sz="8800" b="1" i="1" dirty="0" err="1" smtClean="0"/>
              <a:t>e.mutate</a:t>
            </a:r>
            <a:r>
              <a:rPr lang="it-IT" sz="8800" b="1" i="1" dirty="0" smtClean="0"/>
              <a:t>()</a:t>
            </a:r>
            <a:r>
              <a:rPr lang="it-IT" sz="8800" dirty="0" smtClean="0"/>
              <a:t/>
            </a:r>
            <a:br>
              <a:rPr lang="it-IT" sz="8800" dirty="0" smtClean="0"/>
            </a:br>
            <a:endParaRPr lang="it-IT" sz="8800" dirty="0" smtClean="0"/>
          </a:p>
          <a:p>
            <a:pPr algn="ctr"/>
            <a:r>
              <a:rPr lang="it-IT" sz="8800" dirty="0" smtClean="0"/>
              <a:t> Evitare etichette ridondanti.</a:t>
            </a:r>
            <a:br>
              <a:rPr lang="it-IT" sz="8800" dirty="0" smtClean="0"/>
            </a:br>
            <a:endParaRPr lang="it-IT" sz="8800" dirty="0" smtClean="0"/>
          </a:p>
          <a:p>
            <a:pPr algn="ctr">
              <a:buNone/>
            </a:pPr>
            <a:r>
              <a:rPr lang="it-IT" sz="8800" dirty="0" smtClean="0"/>
              <a:t>   Esempio:</a:t>
            </a:r>
            <a:br>
              <a:rPr lang="it-IT" sz="8800" dirty="0" smtClean="0"/>
            </a:br>
            <a:r>
              <a:rPr lang="it-IT" sz="8800" b="1" i="1" dirty="0" smtClean="0"/>
              <a:t>import audio </a:t>
            </a:r>
            <a:br>
              <a:rPr lang="it-IT" sz="8800" b="1" i="1" dirty="0" smtClean="0"/>
            </a:br>
            <a:r>
              <a:rPr lang="it-IT" sz="8800" b="1" i="1" dirty="0" err="1" smtClean="0"/>
              <a:t>core</a:t>
            </a:r>
            <a:r>
              <a:rPr lang="it-IT" sz="8800" b="1" i="1" dirty="0" smtClean="0"/>
              <a:t> = </a:t>
            </a:r>
            <a:r>
              <a:rPr lang="it-IT" sz="8800" b="1" i="1" dirty="0" err="1" smtClean="0"/>
              <a:t>audio.Core</a:t>
            </a:r>
            <a:r>
              <a:rPr lang="it-IT" sz="8800" b="1" i="1" dirty="0" smtClean="0"/>
              <a:t>() </a:t>
            </a:r>
            <a:br>
              <a:rPr lang="it-IT" sz="8800" b="1" i="1" dirty="0" smtClean="0"/>
            </a:br>
            <a:r>
              <a:rPr lang="it-IT" sz="8800" b="1" i="1" dirty="0" smtClean="0"/>
              <a:t>                    controller = </a:t>
            </a:r>
            <a:r>
              <a:rPr lang="it-IT" sz="8800" b="1" i="1" dirty="0" err="1" smtClean="0"/>
              <a:t>audio.Controller</a:t>
            </a:r>
            <a:r>
              <a:rPr lang="it-IT" sz="8800" b="1" i="1" dirty="0" smtClean="0"/>
              <a:t>()</a:t>
            </a:r>
          </a:p>
          <a:p>
            <a:pPr algn="ctr"/>
            <a:r>
              <a:rPr lang="it-IT" sz="8800" dirty="0" smtClean="0"/>
              <a:t>Usare una notazione inversa per maggiore chiarezza.</a:t>
            </a:r>
            <a:br>
              <a:rPr lang="it-IT" sz="8800" dirty="0" smtClean="0"/>
            </a:br>
            <a:endParaRPr lang="it-IT" sz="8800" dirty="0" smtClean="0"/>
          </a:p>
          <a:p>
            <a:pPr algn="ctr">
              <a:buNone/>
            </a:pPr>
            <a:r>
              <a:rPr lang="it-IT" sz="8800" dirty="0" smtClean="0"/>
              <a:t>   </a:t>
            </a:r>
            <a:r>
              <a:rPr lang="it-IT" sz="8800" dirty="0" smtClean="0"/>
              <a:t>Esempio:</a:t>
            </a:r>
            <a:br>
              <a:rPr lang="it-IT" sz="8800" dirty="0" smtClean="0"/>
            </a:br>
            <a:r>
              <a:rPr lang="it-IT" sz="8800" b="1" dirty="0" err="1" smtClean="0"/>
              <a:t>elements</a:t>
            </a:r>
            <a:r>
              <a:rPr lang="it-IT" sz="8800" b="1" dirty="0" smtClean="0"/>
              <a:t> = ... </a:t>
            </a:r>
            <a:br>
              <a:rPr lang="it-IT" sz="8800" b="1" dirty="0" smtClean="0"/>
            </a:br>
            <a:r>
              <a:rPr lang="it-IT" sz="8800" b="1" dirty="0" err="1" smtClean="0"/>
              <a:t>elements_active</a:t>
            </a:r>
            <a:r>
              <a:rPr lang="it-IT" sz="8800" b="1" dirty="0" smtClean="0"/>
              <a:t> = ...</a:t>
            </a:r>
            <a:br>
              <a:rPr lang="it-IT" sz="8800" b="1" dirty="0" smtClean="0"/>
            </a:br>
            <a:r>
              <a:rPr lang="it-IT" sz="8800" b="1" dirty="0" smtClean="0"/>
              <a:t> </a:t>
            </a:r>
            <a:r>
              <a:rPr lang="it-IT" sz="8800" b="1" dirty="0" err="1" smtClean="0"/>
              <a:t>elements_defunct</a:t>
            </a:r>
            <a:r>
              <a:rPr lang="it-IT" sz="8800" b="1" dirty="0" smtClean="0"/>
              <a:t> = ...</a:t>
            </a:r>
            <a:endParaRPr lang="it-IT" sz="8800" b="1" dirty="0" smtClean="0"/>
          </a:p>
          <a:p>
            <a:endParaRPr lang="it-IT" sz="2200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1080120"/>
          </a:xfrm>
        </p:spPr>
        <p:txBody>
          <a:bodyPr>
            <a:normAutofit fontScale="90000"/>
          </a:bodyPr>
          <a:lstStyle/>
          <a:p>
            <a:r>
              <a:rPr lang="it-IT" sz="4000" dirty="0" smtClean="0">
                <a:solidFill>
                  <a:srgbClr val="FF0000"/>
                </a:solidFill>
              </a:rPr>
              <a:t>Elenco delle buone pratiche di programmazione per Python: </a:t>
            </a:r>
            <a:r>
              <a:rPr lang="it-IT" sz="4000" dirty="0" err="1" smtClean="0">
                <a:solidFill>
                  <a:srgbClr val="FF0000"/>
                </a:solidFill>
              </a:rPr>
              <a:t>Indentation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>
                <a:solidFill>
                  <a:srgbClr val="FF0000"/>
                </a:solidFill>
              </a:rPr>
              <a:t> 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it-IT" dirty="0" smtClean="0"/>
              <a:t>L’indentazione deve essere coerente poiché è</a:t>
            </a:r>
          </a:p>
          <a:p>
            <a:pPr marL="514350" indent="-514350">
              <a:buNone/>
            </a:pPr>
            <a:r>
              <a:rPr lang="it-IT" dirty="0" smtClean="0"/>
              <a:t> 1. </a:t>
            </a:r>
            <a:r>
              <a:rPr lang="it-IT" b="1" dirty="0" smtClean="0"/>
              <a:t>essenziale per definire blocchi di codice </a:t>
            </a:r>
          </a:p>
          <a:p>
            <a:pPr marL="514350" indent="-514350">
              <a:buNone/>
            </a:pPr>
            <a:r>
              <a:rPr lang="it-IT" dirty="0" smtClean="0"/>
              <a:t>2. </a:t>
            </a:r>
            <a:r>
              <a:rPr lang="it-IT" b="1" dirty="0" smtClean="0"/>
              <a:t>aiuta a capire la struttura del programma </a:t>
            </a:r>
            <a:r>
              <a:rPr lang="it-IT" dirty="0" smtClean="0"/>
              <a:t>(ad esempio: blocchi all’interno dei cicli, funzioni o condizioni) </a:t>
            </a:r>
          </a:p>
          <a:p>
            <a:pPr marL="514350" indent="-514350">
              <a:buNone/>
            </a:pPr>
            <a:r>
              <a:rPr lang="it-IT" dirty="0" smtClean="0"/>
              <a:t>3.  </a:t>
            </a:r>
            <a:r>
              <a:rPr lang="it-IT" b="1" dirty="0" smtClean="0"/>
              <a:t>facilita la lettura del codice e la collaborazione tra gli sviluppatori</a:t>
            </a:r>
            <a:r>
              <a:rPr lang="it-IT" dirty="0" smtClean="0"/>
              <a:t>.</a:t>
            </a:r>
            <a:br>
              <a:rPr lang="it-IT" dirty="0" smtClean="0"/>
            </a:br>
            <a:r>
              <a:rPr lang="it-IT" dirty="0" smtClean="0"/>
              <a:t/>
            </a:r>
            <a:br>
              <a:rPr lang="it-IT" dirty="0" smtClean="0"/>
            </a:br>
            <a:endParaRPr lang="it-IT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>
            <a:noAutofit/>
          </a:bodyPr>
          <a:lstStyle/>
          <a:p>
            <a:r>
              <a:rPr lang="it-IT" sz="3600" dirty="0" smtClean="0">
                <a:solidFill>
                  <a:srgbClr val="FF0000"/>
                </a:solidFill>
              </a:rPr>
              <a:t>Elenco delle buone pratiche di programmazione per Python: </a:t>
            </a:r>
            <a:r>
              <a:rPr lang="it-IT" sz="3600" dirty="0" err="1" smtClean="0">
                <a:solidFill>
                  <a:srgbClr val="FF0000"/>
                </a:solidFill>
              </a:rPr>
              <a:t>Equality</a:t>
            </a:r>
            <a:r>
              <a:rPr lang="it-IT" sz="3600" dirty="0" smtClean="0">
                <a:solidFill>
                  <a:srgbClr val="FF0000"/>
                </a:solidFill>
              </a:rPr>
              <a:t> </a:t>
            </a:r>
            <a:r>
              <a:rPr lang="it-IT" sz="3600" dirty="0" err="1" smtClean="0">
                <a:solidFill>
                  <a:srgbClr val="FF0000"/>
                </a:solidFill>
              </a:rPr>
              <a:t>checking</a:t>
            </a:r>
            <a:r>
              <a:rPr lang="it-IT" sz="3600" dirty="0" smtClean="0">
                <a:solidFill>
                  <a:srgbClr val="FF0000"/>
                </a:solidFill>
              </a:rPr>
              <a:t> </a:t>
            </a:r>
            <a:endParaRPr lang="it-IT" sz="36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412776"/>
            <a:ext cx="8676456" cy="208823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it-IT" sz="3000" dirty="0" smtClean="0"/>
              <a:t>I confronti di uguaglianza si riferiscono al modo in cui confrontiamo i valori. </a:t>
            </a:r>
          </a:p>
          <a:p>
            <a:pPr>
              <a:buNone/>
            </a:pPr>
            <a:r>
              <a:rPr lang="it-IT" sz="3000" dirty="0" smtClean="0"/>
              <a:t>Per questo è bene evitare confronti espliciti con </a:t>
            </a:r>
            <a:r>
              <a:rPr lang="it-IT" sz="3000" b="1" i="1" dirty="0" err="1" smtClean="0"/>
              <a:t>True</a:t>
            </a:r>
            <a:r>
              <a:rPr lang="it-IT" sz="3000" b="1" i="1" dirty="0" smtClean="0"/>
              <a:t>, False o None.</a:t>
            </a:r>
            <a:r>
              <a:rPr lang="it-IT" b="1" i="1" dirty="0" smtClean="0"/>
              <a:t/>
            </a:r>
            <a:br>
              <a:rPr lang="it-IT" b="1" i="1" dirty="0" smtClean="0"/>
            </a:br>
            <a:endParaRPr lang="it-IT" dirty="0" smtClean="0"/>
          </a:p>
          <a:p>
            <a:pPr>
              <a:buNone/>
            </a:pPr>
            <a:endParaRPr lang="it-IT" b="1" dirty="0"/>
          </a:p>
          <a:p>
            <a:pPr>
              <a:buNone/>
            </a:pPr>
            <a:endParaRPr lang="it-IT" b="1" dirty="0"/>
          </a:p>
        </p:txBody>
      </p:sp>
      <p:pic>
        <p:nvPicPr>
          <p:cNvPr id="6" name="Immagine 5" descr="Screenshot 2024-12-30 at 12-52-28 A guide of best practices to developing in Python (meant for the first year students of the Instituto Superior Técnico U.Lisboa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536" y="3212976"/>
            <a:ext cx="8431482" cy="33123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asellaDiTesto 6"/>
          <p:cNvSpPr txBox="1"/>
          <p:nvPr/>
        </p:nvSpPr>
        <p:spPr>
          <a:xfrm>
            <a:off x="6372200" y="648866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[2]</a:t>
            </a:r>
            <a:endParaRPr lang="it-IT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>
            <a:normAutofit/>
          </a:bodyPr>
          <a:lstStyle/>
          <a:p>
            <a:r>
              <a:rPr lang="it-IT" sz="3600" dirty="0" smtClean="0">
                <a:solidFill>
                  <a:srgbClr val="FF0000"/>
                </a:solidFill>
              </a:rPr>
              <a:t>Applicazioni reali del linguaggio Python</a:t>
            </a:r>
            <a:endParaRPr lang="it-IT" sz="3600" dirty="0">
              <a:solidFill>
                <a:srgbClr val="FF0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484784"/>
            <a:ext cx="9144000" cy="53732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2800" dirty="0" smtClean="0"/>
              <a:t>Come detto alla slide n.2, </a:t>
            </a:r>
            <a:r>
              <a:rPr lang="it-IT" sz="2800" dirty="0" err="1" smtClean="0"/>
              <a:t>python</a:t>
            </a:r>
            <a:r>
              <a:rPr lang="it-IT" sz="2800" dirty="0" smtClean="0"/>
              <a:t> viene implementato in moltissimi ambiti tra cui quello delle automazioni e </a:t>
            </a:r>
            <a:r>
              <a:rPr lang="it-IT" sz="2800" dirty="0" err="1" smtClean="0"/>
              <a:t>scripting</a:t>
            </a:r>
            <a:r>
              <a:rPr lang="it-IT" sz="2800" dirty="0" smtClean="0"/>
              <a:t>.</a:t>
            </a:r>
          </a:p>
          <a:p>
            <a:r>
              <a:rPr lang="it-IT" sz="2800" b="1" dirty="0" smtClean="0"/>
              <a:t>Automazione (</a:t>
            </a:r>
            <a:r>
              <a:rPr lang="it-IT" sz="2800" b="1" dirty="0" err="1" smtClean="0"/>
              <a:t>Automation</a:t>
            </a:r>
            <a:r>
              <a:rPr lang="it-IT" sz="2800" b="1" dirty="0" smtClean="0"/>
              <a:t>):</a:t>
            </a:r>
            <a:br>
              <a:rPr lang="it-IT" sz="2800" b="1" dirty="0" smtClean="0"/>
            </a:br>
            <a:r>
              <a:rPr lang="it-IT" sz="2800" dirty="0" smtClean="0"/>
              <a:t>si riferisce all’uso di script per eseguire compiti ripetitivi o automatizzati senza l’intervento dell’utente </a:t>
            </a:r>
          </a:p>
          <a:p>
            <a:r>
              <a:rPr lang="it-IT" sz="2800" b="1" dirty="0" err="1" smtClean="0"/>
              <a:t>Scripting</a:t>
            </a:r>
            <a:r>
              <a:rPr lang="it-IT" sz="2800" b="1" dirty="0" smtClean="0"/>
              <a:t>: </a:t>
            </a:r>
            <a:br>
              <a:rPr lang="it-IT" sz="2800" b="1" dirty="0" smtClean="0"/>
            </a:br>
            <a:r>
              <a:rPr lang="it-IT" sz="2800" dirty="0" smtClean="0"/>
              <a:t>si riferisce alla scrittura di piccoli programmi (script) per eseguire compiti specifici che possono anche essere usati per l’automazione. 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 </a:t>
            </a:r>
            <a:endParaRPr lang="it-IT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>
            <a:noAutofit/>
          </a:bodyPr>
          <a:lstStyle/>
          <a:p>
            <a:r>
              <a:rPr lang="it-IT" sz="3600" dirty="0" smtClean="0">
                <a:solidFill>
                  <a:srgbClr val="FF0000"/>
                </a:solidFill>
              </a:rPr>
              <a:t>Implementazioni di automazioni e </a:t>
            </a:r>
            <a:r>
              <a:rPr lang="it-IT" sz="3600" dirty="0" err="1" smtClean="0">
                <a:solidFill>
                  <a:srgbClr val="FF0000"/>
                </a:solidFill>
              </a:rPr>
              <a:t>scripting</a:t>
            </a:r>
            <a:r>
              <a:rPr lang="it-IT" sz="3600" dirty="0" smtClean="0">
                <a:solidFill>
                  <a:srgbClr val="FF0000"/>
                </a:solidFill>
              </a:rPr>
              <a:t> usando Python</a:t>
            </a:r>
            <a:endParaRPr lang="it-IT" sz="3600" dirty="0">
              <a:solidFill>
                <a:srgbClr val="FF0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sz="4900" b="1" dirty="0" smtClean="0"/>
              <a:t>Automazione :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it-IT" sz="4900" dirty="0"/>
              <a:t> </a:t>
            </a:r>
            <a:r>
              <a:rPr lang="it-IT" sz="4900" dirty="0" smtClean="0"/>
              <a:t>Gestione e spostamento di file in cartelle (utile ad esempio per archiviare documenti o immagini). 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it-IT" sz="4900" dirty="0" err="1" smtClean="0"/>
              <a:t>Scraping</a:t>
            </a:r>
            <a:r>
              <a:rPr lang="it-IT" sz="4900" dirty="0" smtClean="0"/>
              <a:t> di dati da siti web per raccogliere informazioni in tempo reale. 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it-IT" sz="4900" dirty="0" smtClean="0"/>
              <a:t>Automazione di test software per verificare che il codice funzioni correttamente su più dispositivi.</a:t>
            </a:r>
            <a:endParaRPr lang="it-IT" sz="4900" dirty="0"/>
          </a:p>
          <a:p>
            <a:pPr marL="514350" indent="-514350">
              <a:buFont typeface="+mj-lt"/>
              <a:buAutoNum type="arabicPeriod"/>
            </a:pPr>
            <a:r>
              <a:rPr lang="it-IT" sz="4900" b="1" dirty="0" err="1" smtClean="0"/>
              <a:t>Scripting</a:t>
            </a:r>
            <a:r>
              <a:rPr lang="it-IT" sz="4900" b="1" dirty="0" smtClean="0"/>
              <a:t>: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it-IT" sz="4900" dirty="0" smtClean="0"/>
              <a:t>Scrittura di script per analizzare file di log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it-IT" sz="4900" dirty="0" smtClean="0"/>
              <a:t>Creazione di script per interagire con API (es: per raccogliere o inviare i dati).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it-IT" sz="4900" dirty="0" err="1" smtClean="0"/>
              <a:t>Batch</a:t>
            </a:r>
            <a:r>
              <a:rPr lang="it-IT" sz="4900" dirty="0" smtClean="0"/>
              <a:t> processing di dati (ad esempio modificare grandi quantità di file CSV).</a:t>
            </a:r>
            <a:r>
              <a:rPr lang="it-IT" dirty="0" smtClean="0"/>
              <a:t/>
            </a:r>
            <a:br>
              <a:rPr lang="it-IT" dirty="0" smtClean="0"/>
            </a:br>
            <a:endParaRPr lang="it-IT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52736"/>
          </a:xfrm>
        </p:spPr>
        <p:txBody>
          <a:bodyPr>
            <a:noAutofit/>
          </a:bodyPr>
          <a:lstStyle/>
          <a:p>
            <a:r>
              <a:rPr lang="it-IT" sz="3600" dirty="0" smtClean="0">
                <a:solidFill>
                  <a:srgbClr val="FF0000"/>
                </a:solidFill>
              </a:rPr>
              <a:t>Vantaggi e svantaggi nell’automazione e </a:t>
            </a:r>
            <a:r>
              <a:rPr lang="it-IT" sz="3600" dirty="0" err="1" smtClean="0">
                <a:solidFill>
                  <a:srgbClr val="FF0000"/>
                </a:solidFill>
              </a:rPr>
              <a:t>scripting</a:t>
            </a:r>
            <a:r>
              <a:rPr lang="it-IT" sz="3600" dirty="0" smtClean="0">
                <a:solidFill>
                  <a:srgbClr val="FF0000"/>
                </a:solidFill>
              </a:rPr>
              <a:t> con Python</a:t>
            </a:r>
            <a:endParaRPr lang="it-IT" sz="3600" dirty="0">
              <a:solidFill>
                <a:srgbClr val="FF0000"/>
              </a:solidFill>
            </a:endParaRPr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395536" y="1196753"/>
          <a:ext cx="7776864" cy="5515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8244"/>
                <a:gridCol w="3918620"/>
              </a:tblGrid>
              <a:tr h="490427">
                <a:tc>
                  <a:txBody>
                    <a:bodyPr/>
                    <a:lstStyle/>
                    <a:p>
                      <a:r>
                        <a:rPr lang="it-IT" dirty="0" smtClean="0"/>
                        <a:t>Vantaggi </a:t>
                      </a:r>
                      <a:endParaRPr lang="it-IT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Svantaggi </a:t>
                      </a:r>
                      <a:endParaRPr lang="it-IT" dirty="0"/>
                    </a:p>
                  </a:txBody>
                  <a:tcPr/>
                </a:tc>
              </a:tr>
              <a:tr h="658024"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Semplicità e leggibilità del codice </a:t>
                      </a:r>
                      <a:endParaRPr lang="it-IT" sz="20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  <a:alpha val="8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Prestazioni inferiori rispetto ad altri linguaggi </a:t>
                      </a:r>
                      <a:endParaRPr lang="it-IT" sz="2000" dirty="0"/>
                    </a:p>
                  </a:txBody>
                  <a:tcPr/>
                </a:tc>
              </a:tr>
              <a:tr h="720693"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Supporto per attività di automazione comuni</a:t>
                      </a:r>
                      <a:endParaRPr lang="it-IT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Problemi</a:t>
                      </a:r>
                      <a:r>
                        <a:rPr lang="it-IT" sz="2000" baseline="0" dirty="0" smtClean="0"/>
                        <a:t> con l’uso intensivo della CPU e della memoria </a:t>
                      </a:r>
                      <a:endParaRPr lang="it-IT" sz="2000" dirty="0"/>
                    </a:p>
                  </a:txBody>
                  <a:tcPr/>
                </a:tc>
              </a:tr>
              <a:tr h="720693"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Elevata produttività e rapidità nello sviluppo</a:t>
                      </a:r>
                      <a:r>
                        <a:rPr lang="it-IT" sz="2000" baseline="0" dirty="0" smtClean="0"/>
                        <a:t> </a:t>
                      </a:r>
                      <a:endParaRPr lang="it-IT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Gestione dei </a:t>
                      </a:r>
                      <a:r>
                        <a:rPr lang="it-IT" sz="2000" dirty="0" err="1" smtClean="0"/>
                        <a:t>thread</a:t>
                      </a:r>
                      <a:endParaRPr lang="it-IT" sz="2000" dirty="0"/>
                    </a:p>
                  </a:txBody>
                  <a:tcPr/>
                </a:tc>
              </a:tr>
              <a:tr h="720693"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Automazione di operazioni su</a:t>
                      </a:r>
                      <a:r>
                        <a:rPr lang="it-IT" sz="2000" baseline="0" dirty="0" smtClean="0"/>
                        <a:t> sistemi operativi differenti </a:t>
                      </a:r>
                      <a:endParaRPr lang="it-IT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Distribuzione</a:t>
                      </a:r>
                      <a:r>
                        <a:rPr lang="it-IT" sz="2000" baseline="0" dirty="0" smtClean="0"/>
                        <a:t> e creazione di eseguibili stand-alone</a:t>
                      </a:r>
                      <a:endParaRPr lang="it-IT" sz="2000" dirty="0"/>
                    </a:p>
                  </a:txBody>
                  <a:tcPr/>
                </a:tc>
              </a:tr>
              <a:tr h="720693"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Facilità di integrazione con altre tecnologia e API </a:t>
                      </a:r>
                      <a:endParaRPr lang="it-IT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Gestione delle dipendenze </a:t>
                      </a:r>
                      <a:endParaRPr lang="it-IT" sz="2000" dirty="0"/>
                    </a:p>
                  </a:txBody>
                  <a:tcPr/>
                </a:tc>
              </a:tr>
              <a:tr h="720693"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Gestione</a:t>
                      </a:r>
                      <a:r>
                        <a:rPr lang="it-IT" sz="2000" baseline="0" dirty="0" smtClean="0"/>
                        <a:t> dei task schedulati e periodici </a:t>
                      </a:r>
                      <a:endParaRPr lang="it-IT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Compilazione e ottimizzazione limitate </a:t>
                      </a:r>
                      <a:endParaRPr lang="it-IT" sz="2000" dirty="0"/>
                    </a:p>
                  </a:txBody>
                  <a:tcPr/>
                </a:tc>
              </a:tr>
              <a:tr h="720693">
                <a:tc>
                  <a:txBody>
                    <a:bodyPr/>
                    <a:lstStyle/>
                    <a:p>
                      <a:r>
                        <a:rPr lang="it-IT" sz="2000" dirty="0" smtClean="0"/>
                        <a:t>Documentazione e supporto della community </a:t>
                      </a:r>
                      <a:endParaRPr lang="it-IT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20688"/>
          </a:xfrm>
        </p:spPr>
        <p:txBody>
          <a:bodyPr>
            <a:noAutofit/>
          </a:bodyPr>
          <a:lstStyle/>
          <a:p>
            <a:r>
              <a:rPr lang="it-IT" sz="3600" dirty="0" err="1" smtClean="0">
                <a:solidFill>
                  <a:srgbClr val="FF0000"/>
                </a:solidFill>
              </a:rPr>
              <a:t>References</a:t>
            </a:r>
            <a:endParaRPr lang="it-IT" sz="3600" dirty="0">
              <a:solidFill>
                <a:srgbClr val="FF0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Autofit/>
          </a:bodyPr>
          <a:lstStyle/>
          <a:p>
            <a:r>
              <a:rPr lang="it-IT" sz="1800" dirty="0" smtClean="0"/>
              <a:t>T. </a:t>
            </a:r>
            <a:r>
              <a:rPr lang="it-IT" sz="1800" dirty="0" err="1" smtClean="0"/>
              <a:t>Cuzick</a:t>
            </a:r>
            <a:r>
              <a:rPr lang="it-IT" sz="1800" dirty="0" smtClean="0"/>
              <a:t>, 2024, </a:t>
            </a:r>
            <a:r>
              <a:rPr lang="en-US" sz="1800" b="1" dirty="0" smtClean="0"/>
              <a:t>Beginner’s Guide To Python Automation Scripts (With Code Examples). </a:t>
            </a:r>
            <a:r>
              <a:rPr lang="en-US" sz="1800" dirty="0" err="1" smtClean="0"/>
              <a:t>Zerotomastery.io.</a:t>
            </a:r>
            <a:r>
              <a:rPr lang="en-US" sz="1800" dirty="0" err="1" smtClean="0">
                <a:hlinkClick r:id="rId2"/>
              </a:rPr>
              <a:t>https</a:t>
            </a:r>
            <a:r>
              <a:rPr lang="en-US" sz="1800" dirty="0" smtClean="0">
                <a:hlinkClick r:id="rId2"/>
              </a:rPr>
              <a:t>://zerotomastery.io/blog/python-automation-scripts-beginners-guide/#What-are-automation-scripts</a:t>
            </a:r>
            <a:endParaRPr lang="en-US" sz="1800" dirty="0" smtClean="0"/>
          </a:p>
          <a:p>
            <a:r>
              <a:rPr lang="en-US" sz="1800" dirty="0" err="1" smtClean="0"/>
              <a:t>Ruimaranhao</a:t>
            </a:r>
            <a:r>
              <a:rPr lang="en-US" sz="1800" dirty="0" smtClean="0"/>
              <a:t>/python-guide-ist.md, 2024, </a:t>
            </a:r>
            <a:r>
              <a:rPr lang="en-US" sz="1800" b="1" dirty="0" smtClean="0"/>
              <a:t>A Guide of Best Practices for Python. </a:t>
            </a:r>
            <a:r>
              <a:rPr lang="en-US" sz="1800" dirty="0" smtClean="0"/>
              <a:t>gist.github.com. </a:t>
            </a:r>
            <a:r>
              <a:rPr lang="en-US" sz="1800" dirty="0" smtClean="0">
                <a:hlinkClick r:id="rId3"/>
              </a:rPr>
              <a:t>https://gist.github.com/ruimaranhao/4e18cbe3dad6f68040c32ed6709090a3</a:t>
            </a:r>
            <a:endParaRPr lang="en-US" sz="1800" dirty="0" smtClean="0"/>
          </a:p>
          <a:p>
            <a:r>
              <a:rPr lang="en-US" sz="1800" dirty="0" smtClean="0"/>
              <a:t>J. Canales Luna, 2024, </a:t>
            </a:r>
            <a:r>
              <a:rPr lang="en-US" sz="1800" b="1" dirty="0" smtClean="0"/>
              <a:t>6 Python Best Practices for Better Code.  </a:t>
            </a:r>
            <a:br>
              <a:rPr lang="en-US" sz="1800" b="1" dirty="0" smtClean="0"/>
            </a:br>
            <a:r>
              <a:rPr lang="en-US" sz="1800" dirty="0" smtClean="0"/>
              <a:t>Datacamp.com. </a:t>
            </a:r>
            <a:r>
              <a:rPr lang="en-US" sz="1800" dirty="0" smtClean="0">
                <a:hlinkClick r:id="rId4"/>
              </a:rPr>
              <a:t>https://www.datacamp.com/blog/python-best-practices-for-better-code</a:t>
            </a:r>
            <a:endParaRPr lang="en-US" sz="1800" dirty="0" smtClean="0"/>
          </a:p>
          <a:p>
            <a:r>
              <a:rPr lang="en-US" sz="1800" dirty="0" smtClean="0"/>
              <a:t>The PEP Editors, 2000, </a:t>
            </a:r>
            <a:r>
              <a:rPr lang="en-US" sz="1800" b="1" dirty="0" smtClean="0"/>
              <a:t>PEP 0 – Index of Python Enhancement Proposals (PEPs).  </a:t>
            </a:r>
            <a:r>
              <a:rPr lang="en-US" sz="1800" dirty="0" smtClean="0"/>
              <a:t>Peps.python.org. </a:t>
            </a:r>
            <a:r>
              <a:rPr lang="en-US" sz="1800" dirty="0" smtClean="0">
                <a:hlinkClick r:id="rId5"/>
              </a:rPr>
              <a:t>https://peps.python.org/#</a:t>
            </a:r>
            <a:endParaRPr lang="en-US" sz="1800" dirty="0" smtClean="0"/>
          </a:p>
          <a:p>
            <a:r>
              <a:rPr lang="en-US" sz="1800" dirty="0" err="1" smtClean="0"/>
              <a:t>Geeksforgeeks</a:t>
            </a:r>
            <a:r>
              <a:rPr lang="en-US" sz="1800" dirty="0" smtClean="0"/>
              <a:t>, 2024, </a:t>
            </a:r>
            <a:r>
              <a:rPr lang="it-IT" sz="1800" b="1" dirty="0" smtClean="0"/>
              <a:t>Python </a:t>
            </a:r>
            <a:r>
              <a:rPr lang="it-IT" sz="1800" b="1" dirty="0" err="1" smtClean="0"/>
              <a:t>Features</a:t>
            </a:r>
            <a:r>
              <a:rPr lang="it-IT" sz="1800" b="1" dirty="0" smtClean="0"/>
              <a:t>. </a:t>
            </a:r>
            <a:r>
              <a:rPr lang="it-IT" sz="1800" dirty="0" err="1" smtClean="0"/>
              <a:t>Geeksforgeeks.org.</a:t>
            </a:r>
            <a:r>
              <a:rPr lang="it-IT" sz="1800" dirty="0" smtClean="0"/>
              <a:t> </a:t>
            </a:r>
            <a:r>
              <a:rPr lang="it-IT" sz="1800" dirty="0" smtClean="0">
                <a:hlinkClick r:id="rId6"/>
              </a:rPr>
              <a:t>https://www.geeksforgeeks.org/python-features/</a:t>
            </a:r>
            <a:endParaRPr lang="it-IT" sz="1800" b="1" dirty="0" smtClean="0"/>
          </a:p>
          <a:p>
            <a:r>
              <a:rPr lang="en-US" sz="1800" dirty="0" smtClean="0"/>
              <a:t>Tutorialspoints,2022, </a:t>
            </a:r>
            <a:r>
              <a:rPr lang="en-US" sz="1800" b="1" dirty="0" smtClean="0"/>
              <a:t>What is PEP for Python?</a:t>
            </a:r>
            <a:r>
              <a:rPr lang="en-US" sz="1800" dirty="0" smtClean="0"/>
              <a:t>.</a:t>
            </a:r>
            <a:r>
              <a:rPr lang="en-US" sz="1800" b="1" dirty="0" smtClean="0"/>
              <a:t> </a:t>
            </a:r>
            <a:r>
              <a:rPr lang="en-US" sz="1800" dirty="0" smtClean="0"/>
              <a:t>Tutorialpoints.com. </a:t>
            </a:r>
            <a:r>
              <a:rPr lang="en-US" sz="1800" dirty="0" smtClean="0">
                <a:hlinkClick r:id="rId7"/>
              </a:rPr>
              <a:t>https://www.tutorialspoint.com/what-is-pep-for-python</a:t>
            </a:r>
            <a:endParaRPr lang="en-US" sz="1800" dirty="0" smtClean="0"/>
          </a:p>
          <a:p>
            <a:r>
              <a:rPr lang="en-US" sz="1800" dirty="0" smtClean="0"/>
              <a:t>A. Verma,2024, </a:t>
            </a:r>
            <a:r>
              <a:rPr lang="en-US" sz="1800" b="1" dirty="0" smtClean="0"/>
              <a:t>Decoding Python Automation and Scripting. </a:t>
            </a:r>
            <a:r>
              <a:rPr lang="en-US" sz="1800" dirty="0" smtClean="0"/>
              <a:t>Pickl.ai. </a:t>
            </a:r>
            <a:r>
              <a:rPr lang="en-US" sz="1800" dirty="0" smtClean="0">
                <a:hlinkClick r:id="rId8"/>
              </a:rPr>
              <a:t>https://www.pickl.ai/blog/python-automation-scripting/</a:t>
            </a:r>
            <a:endParaRPr lang="en-US" sz="1800" b="1" dirty="0" smtClean="0"/>
          </a:p>
          <a:p>
            <a:r>
              <a:rPr lang="en-US" sz="1800" dirty="0" smtClean="0"/>
              <a:t>H. Sharer, 2023, </a:t>
            </a:r>
            <a:r>
              <a:rPr lang="en-US" sz="1800" b="1" dirty="0" smtClean="0"/>
              <a:t>Python Scripting for Automation: A Step-by-Step Guide. </a:t>
            </a:r>
            <a:r>
              <a:rPr lang="en-US" sz="1800" dirty="0" smtClean="0"/>
              <a:t>Lihpao.com. </a:t>
            </a:r>
            <a:r>
              <a:rPr lang="en-US" sz="1800" dirty="0" smtClean="0">
                <a:hlinkClick r:id="rId9"/>
              </a:rPr>
              <a:t>https://www.lihpao.com/how-to-write-python-script-for-automation/</a:t>
            </a:r>
            <a:endParaRPr lang="it-IT" sz="1800" dirty="0" smtClean="0"/>
          </a:p>
          <a:p>
            <a:r>
              <a:rPr lang="it-IT" sz="1800" dirty="0" smtClean="0"/>
              <a:t>[1]:</a:t>
            </a:r>
            <a:r>
              <a:rPr lang="it-IT" sz="1800" dirty="0" err="1" smtClean="0">
                <a:hlinkClick r:id="rId10"/>
              </a:rPr>
              <a:t>https</a:t>
            </a:r>
            <a:r>
              <a:rPr lang="it-IT" sz="1800" dirty="0" smtClean="0">
                <a:hlinkClick r:id="rId10"/>
              </a:rPr>
              <a:t>://</a:t>
            </a:r>
            <a:r>
              <a:rPr lang="it-IT" sz="1800" dirty="0" err="1" smtClean="0">
                <a:hlinkClick r:id="rId10"/>
              </a:rPr>
              <a:t>it.wikipedia.org</a:t>
            </a:r>
            <a:r>
              <a:rPr lang="it-IT" sz="1800" dirty="0" smtClean="0">
                <a:hlinkClick r:id="rId10"/>
              </a:rPr>
              <a:t>/</a:t>
            </a:r>
            <a:r>
              <a:rPr lang="it-IT" sz="1800" dirty="0" err="1" smtClean="0">
                <a:hlinkClick r:id="rId10"/>
              </a:rPr>
              <a:t>wiki</a:t>
            </a:r>
            <a:r>
              <a:rPr lang="it-IT" sz="1800" dirty="0" smtClean="0">
                <a:hlinkClick r:id="rId10"/>
              </a:rPr>
              <a:t>/Guido_van_Rossum</a:t>
            </a:r>
            <a:endParaRPr lang="it-IT" sz="1800" dirty="0" smtClean="0"/>
          </a:p>
          <a:p>
            <a:r>
              <a:rPr lang="it-IT" sz="1800" dirty="0" smtClean="0"/>
              <a:t>[2]:</a:t>
            </a:r>
            <a:r>
              <a:rPr lang="it-IT" sz="1800" dirty="0" err="1" smtClean="0">
                <a:hlinkClick r:id="rId3"/>
              </a:rPr>
              <a:t>https</a:t>
            </a:r>
            <a:r>
              <a:rPr lang="it-IT" sz="1800" dirty="0" smtClean="0">
                <a:hlinkClick r:id="rId3"/>
              </a:rPr>
              <a:t>://</a:t>
            </a:r>
            <a:r>
              <a:rPr lang="it-IT" sz="1800" dirty="0" err="1" smtClean="0">
                <a:hlinkClick r:id="rId3"/>
              </a:rPr>
              <a:t>gist.github.com</a:t>
            </a:r>
            <a:r>
              <a:rPr lang="it-IT" sz="1800" dirty="0" smtClean="0">
                <a:hlinkClick r:id="rId3"/>
              </a:rPr>
              <a:t>/</a:t>
            </a:r>
            <a:r>
              <a:rPr lang="it-IT" sz="1800" dirty="0" err="1" smtClean="0">
                <a:hlinkClick r:id="rId3"/>
              </a:rPr>
              <a:t>ruimaranhao</a:t>
            </a:r>
            <a:r>
              <a:rPr lang="it-IT" sz="1800" dirty="0" smtClean="0">
                <a:hlinkClick r:id="rId3"/>
              </a:rPr>
              <a:t>/4e18cbe3dad6f68040c32ed6709090a3</a:t>
            </a:r>
            <a:endParaRPr lang="it-IT" sz="18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651</Words>
  <Application>Microsoft Office PowerPoint</Application>
  <PresentationFormat>Presentazione su schermo (4:3)</PresentationFormat>
  <Paragraphs>106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5" baseType="lpstr">
      <vt:lpstr>Tema di Office</vt:lpstr>
      <vt:lpstr> Buone Pratiche di Programmazione e Applicazioni Reali del Linguaggio Python </vt:lpstr>
      <vt:lpstr>Le caratteristiche di Python</vt:lpstr>
      <vt:lpstr>Breve Storia di Python</vt:lpstr>
      <vt:lpstr>Le buone pratiche di programmazione per Python</vt:lpstr>
      <vt:lpstr>Le buone pratiche di programmazione per Python: le PEP</vt:lpstr>
      <vt:lpstr>Elenco delle buone pratiche di programmazione per Python</vt:lpstr>
      <vt:lpstr>Elenco delle buone pratiche di programmazione per Python: Naming</vt:lpstr>
      <vt:lpstr>Linee Guida generali per la nomenclatura</vt:lpstr>
      <vt:lpstr>Elenco delle buone pratiche di programmazione per Python: Indentation  </vt:lpstr>
      <vt:lpstr>Elenco delle buone pratiche di programmazione per Python: Equality checking </vt:lpstr>
      <vt:lpstr>Applicazioni reali del linguaggio Python</vt:lpstr>
      <vt:lpstr>Implementazioni di automazioni e scripting usando Python</vt:lpstr>
      <vt:lpstr>Vantaggi e svantaggi nell’automazione e scripting con Python</vt:lpstr>
      <vt:lpstr>References</vt:lpstr>
    </vt:vector>
  </TitlesOfParts>
  <Company>*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*</dc:creator>
  <cp:lastModifiedBy>*</cp:lastModifiedBy>
  <cp:revision>32</cp:revision>
  <dcterms:created xsi:type="dcterms:W3CDTF">2024-12-30T09:21:32Z</dcterms:created>
  <dcterms:modified xsi:type="dcterms:W3CDTF">2024-12-30T14:54:04Z</dcterms:modified>
</cp:coreProperties>
</file>