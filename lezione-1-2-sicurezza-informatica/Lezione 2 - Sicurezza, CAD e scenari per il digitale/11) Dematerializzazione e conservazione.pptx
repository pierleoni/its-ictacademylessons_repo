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2"/>
    <p:sldId id="287" r:id="rId3"/>
    <p:sldId id="28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1224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‹N›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‹N›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‹N›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‹N›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410699"/>
            <a:ext cx="13004800" cy="342900"/>
          </a:xfrm>
          <a:custGeom>
            <a:avLst/>
            <a:gdLst/>
            <a:ahLst/>
            <a:cxnLst/>
            <a:rect l="l" t="t" r="r" b="b"/>
            <a:pathLst>
              <a:path w="13004800" h="342900">
                <a:moveTo>
                  <a:pt x="13004291" y="0"/>
                </a:moveTo>
                <a:lnTo>
                  <a:pt x="0" y="0"/>
                </a:lnTo>
                <a:lnTo>
                  <a:pt x="0" y="342898"/>
                </a:lnTo>
                <a:lnTo>
                  <a:pt x="13004291" y="342898"/>
                </a:lnTo>
                <a:lnTo>
                  <a:pt x="13004291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15" y="184404"/>
            <a:ext cx="3435096" cy="7467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37160" y="1165860"/>
            <a:ext cx="12731750" cy="0"/>
          </a:xfrm>
          <a:custGeom>
            <a:avLst/>
            <a:gdLst/>
            <a:ahLst/>
            <a:cxnLst/>
            <a:rect l="l" t="t" r="r" b="b"/>
            <a:pathLst>
              <a:path w="12731750">
                <a:moveTo>
                  <a:pt x="0" y="0"/>
                </a:moveTo>
                <a:lnTo>
                  <a:pt x="12731496" y="0"/>
                </a:lnTo>
              </a:path>
            </a:pathLst>
          </a:custGeom>
          <a:ln w="12192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‹N›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115" y="184404"/>
            <a:ext cx="3435096" cy="74675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37160" y="1165860"/>
            <a:ext cx="12731750" cy="0"/>
          </a:xfrm>
          <a:custGeom>
            <a:avLst/>
            <a:gdLst/>
            <a:ahLst/>
            <a:cxnLst/>
            <a:rect l="l" t="t" r="r" b="b"/>
            <a:pathLst>
              <a:path w="12731750">
                <a:moveTo>
                  <a:pt x="0" y="0"/>
                </a:moveTo>
                <a:lnTo>
                  <a:pt x="12731496" y="0"/>
                </a:lnTo>
              </a:path>
            </a:pathLst>
          </a:custGeom>
          <a:ln w="12192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405" y="26923"/>
            <a:ext cx="9176893" cy="1125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05025" y="4110608"/>
            <a:ext cx="9770110" cy="4985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53009" y="9390102"/>
            <a:ext cx="3149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D5A8F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‹N›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jp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jp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hyperlink" Target="http://www.google.it/url?sa=i&amp;rct=j&amp;q&amp;esrc=s&amp;source=images&amp;cd&amp;cad=rja&amp;uact=8&amp;ved=0ahUKEwi_1c2J0uTPAhUEXBQKHVAhA84QjRwIBw&amp;url=http://www.marmoelettro.it/supporto-nella-scelta-del-prodotto-giusto-per-ogni-esigenza.html&amp;psig=AFQjCNGpXMTQ8WE-RbOd7cXtmo_jkF8NUA&amp;ust=147688995130350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://www.google.it/url?sa=i&amp;rct=j&amp;q&amp;esrc=s&amp;source=images&amp;cd&amp;cad=rja&amp;uact=8&amp;ved=0ahUKEwj2ob-r1eTPAhVBWhQKHcFzD28QjRwIBw&amp;url=http://www.e-fad.it/capire-SCORM/metadati:-dettaglio/la-definizione-dei-metadati-per-SCORM/ca_6607.html&amp;bvm=bv.135974163,d.bGs&amp;psig=AFQjCNGSbJax8OqLkgmMHchKpXfeKrGCwg&amp;ust=147689044444750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jp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hyperlink" Target="http://www.google.it/url?sa=i&amp;rct=j&amp;q&amp;esrc=s&amp;source=images&amp;cd&amp;cad=rja&amp;uact=8&amp;ved=0ahUKEwjOmeLQ6ubPAhVCOBoKHQmcA98QjRwIBw&amp;url=http://www.settemuse.it/frasi_utili/frasi_utili_noia.htm&amp;bvm=bv.135974163,d.bGs&amp;psig=AFQjCNEpZoyhAyjgv4NwRs0QXwdBINMxlw&amp;ust=147696519413189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gid.gov.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894" y="1499118"/>
            <a:ext cx="12289536" cy="2806869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6500" y="7044267"/>
            <a:ext cx="13018347" cy="2709333"/>
            <a:chOff x="-6095" y="4953000"/>
            <a:chExt cx="12204700" cy="1905000"/>
          </a:xfrm>
        </p:grpSpPr>
        <p:sp>
          <p:nvSpPr>
            <p:cNvPr id="3" name="object 3"/>
            <p:cNvSpPr/>
            <p:nvPr/>
          </p:nvSpPr>
          <p:spPr>
            <a:xfrm>
              <a:off x="2249424" y="4953000"/>
              <a:ext cx="9942830" cy="487680"/>
            </a:xfrm>
            <a:custGeom>
              <a:avLst/>
              <a:gdLst/>
              <a:ahLst/>
              <a:cxnLst/>
              <a:rect l="l" t="t" r="r" b="b"/>
              <a:pathLst>
                <a:path w="9942830" h="487679">
                  <a:moveTo>
                    <a:pt x="9942576" y="0"/>
                  </a:moveTo>
                  <a:lnTo>
                    <a:pt x="0" y="289687"/>
                  </a:lnTo>
                  <a:lnTo>
                    <a:pt x="9942576" y="487680"/>
                  </a:lnTo>
                  <a:lnTo>
                    <a:pt x="9942576" y="0"/>
                  </a:lnTo>
                  <a:close/>
                </a:path>
              </a:pathLst>
            </a:custGeom>
            <a:solidFill>
              <a:srgbClr val="A6B8D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00244"/>
              <a:ext cx="12191999" cy="18577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997492"/>
              <a:ext cx="12192000" cy="789940"/>
            </a:xfrm>
            <a:custGeom>
              <a:avLst/>
              <a:gdLst/>
              <a:ahLst/>
              <a:cxnLst/>
              <a:rect l="l" t="t" r="r" b="b"/>
              <a:pathLst>
                <a:path w="12192000" h="789939">
                  <a:moveTo>
                    <a:pt x="0" y="0"/>
                  </a:moveTo>
                  <a:lnTo>
                    <a:pt x="12191999" y="789686"/>
                  </a:lnTo>
                </a:path>
              </a:pathLst>
            </a:custGeom>
            <a:ln w="12192">
              <a:solidFill>
                <a:srgbClr val="2D5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6400" y="1506374"/>
            <a:ext cx="12192000" cy="5328296"/>
          </a:xfrm>
          <a:prstGeom prst="rect">
            <a:avLst/>
          </a:prstGeom>
        </p:spPr>
        <p:txBody>
          <a:bodyPr vert="horz" wrap="square" lIns="0" tIns="18965" rIns="0" bIns="0" rtlCol="0">
            <a:spAutoFit/>
          </a:bodyPr>
          <a:lstStyle/>
          <a:p>
            <a:pPr marL="17159" marR="7225" algn="ctr">
              <a:spcBef>
                <a:spcPts val="149"/>
              </a:spcBef>
            </a:pPr>
            <a:r>
              <a:rPr lang="it-IT" sz="1200" dirty="0" smtClean="0">
                <a:solidFill>
                  <a:schemeClr val="bg1"/>
                </a:solidFill>
                <a:latin typeface="Castellar" panose="020A0402060406010301" pitchFamily="18" charset="0"/>
              </a:rPr>
              <a:t/>
            </a:r>
            <a:br>
              <a:rPr lang="it-IT" sz="1200" dirty="0" smtClean="0">
                <a:solidFill>
                  <a:schemeClr val="bg1"/>
                </a:solidFill>
                <a:latin typeface="Castellar" panose="020A0402060406010301" pitchFamily="18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astellar" panose="020A0402060406010301" pitchFamily="18" charset="0"/>
              </a:rPr>
              <a:t>La</a:t>
            </a:r>
            <a:r>
              <a:rPr lang="it-IT" sz="4800" spc="-35" dirty="0" smtClean="0">
                <a:solidFill>
                  <a:srgbClr val="FFC000"/>
                </a:solidFill>
                <a:latin typeface="Castellar" panose="020A0402060406010301" pitchFamily="18" charset="0"/>
              </a:rPr>
              <a:t> </a:t>
            </a:r>
            <a:r>
              <a:rPr lang="it-IT" sz="4800" dirty="0">
                <a:solidFill>
                  <a:srgbClr val="FFC000"/>
                </a:solidFill>
                <a:latin typeface="Castellar" panose="020A0402060406010301" pitchFamily="18" charset="0"/>
              </a:rPr>
              <a:t>digitalizzazione,</a:t>
            </a:r>
            <a:r>
              <a:rPr lang="it-IT" sz="4800" spc="10" dirty="0">
                <a:solidFill>
                  <a:srgbClr val="FFC000"/>
                </a:solidFill>
                <a:latin typeface="Castellar" panose="020A0402060406010301" pitchFamily="18" charset="0"/>
              </a:rPr>
              <a:t> </a:t>
            </a:r>
            <a:r>
              <a:rPr lang="it-IT" sz="4800" dirty="0">
                <a:solidFill>
                  <a:srgbClr val="FFC000"/>
                </a:solidFill>
                <a:latin typeface="Castellar" panose="020A0402060406010301" pitchFamily="18" charset="0"/>
              </a:rPr>
              <a:t>i</a:t>
            </a:r>
            <a:r>
              <a:rPr lang="it-IT" sz="4800" spc="-20" dirty="0">
                <a:solidFill>
                  <a:srgbClr val="FFC000"/>
                </a:solidFill>
                <a:latin typeface="Castellar" panose="020A0402060406010301" pitchFamily="18" charset="0"/>
              </a:rPr>
              <a:t> </a:t>
            </a:r>
            <a:r>
              <a:rPr lang="it-IT" sz="4800" dirty="0">
                <a:solidFill>
                  <a:srgbClr val="FFC000"/>
                </a:solidFill>
                <a:latin typeface="Castellar" panose="020A0402060406010301" pitchFamily="18" charset="0"/>
              </a:rPr>
              <a:t>processi</a:t>
            </a:r>
            <a:r>
              <a:rPr lang="it-IT" sz="4800" spc="-15" dirty="0">
                <a:solidFill>
                  <a:srgbClr val="FFC000"/>
                </a:solidFill>
                <a:latin typeface="Castellar" panose="020A0402060406010301" pitchFamily="18" charset="0"/>
              </a:rPr>
              <a:t> </a:t>
            </a:r>
            <a:r>
              <a:rPr lang="it-IT" sz="4800" spc="-25" dirty="0">
                <a:solidFill>
                  <a:srgbClr val="FFC000"/>
                </a:solidFill>
                <a:latin typeface="Castellar" panose="020A0402060406010301" pitchFamily="18" charset="0"/>
              </a:rPr>
              <a:t>di </a:t>
            </a:r>
            <a:r>
              <a:rPr lang="it-IT" sz="4800" dirty="0">
                <a:solidFill>
                  <a:srgbClr val="FFC000"/>
                </a:solidFill>
                <a:latin typeface="Castellar" panose="020A0402060406010301" pitchFamily="18" charset="0"/>
              </a:rPr>
              <a:t>dematerializzazione</a:t>
            </a:r>
            <a:r>
              <a:rPr lang="it-IT" sz="4800" spc="10" dirty="0">
                <a:solidFill>
                  <a:srgbClr val="FFC000"/>
                </a:solidFill>
                <a:latin typeface="Castellar" panose="020A0402060406010301" pitchFamily="18" charset="0"/>
              </a:rPr>
              <a:t> </a:t>
            </a:r>
            <a:r>
              <a:rPr lang="it-IT" sz="4800" dirty="0">
                <a:solidFill>
                  <a:srgbClr val="FFC000"/>
                </a:solidFill>
                <a:latin typeface="Castellar" panose="020A0402060406010301" pitchFamily="18" charset="0"/>
              </a:rPr>
              <a:t>e</a:t>
            </a:r>
            <a:r>
              <a:rPr lang="it-IT" sz="4800" spc="-30" dirty="0">
                <a:solidFill>
                  <a:srgbClr val="FFC000"/>
                </a:solidFill>
                <a:latin typeface="Castellar" panose="020A0402060406010301" pitchFamily="18" charset="0"/>
              </a:rPr>
              <a:t> </a:t>
            </a:r>
            <a:r>
              <a:rPr lang="it-IT" sz="4800" dirty="0">
                <a:solidFill>
                  <a:srgbClr val="FFC000"/>
                </a:solidFill>
                <a:latin typeface="Castellar" panose="020A0402060406010301" pitchFamily="18" charset="0"/>
              </a:rPr>
              <a:t>la</a:t>
            </a:r>
            <a:r>
              <a:rPr lang="it-IT" sz="4800" spc="-15" dirty="0">
                <a:solidFill>
                  <a:srgbClr val="FFC000"/>
                </a:solidFill>
                <a:latin typeface="Castellar" panose="020A0402060406010301" pitchFamily="18" charset="0"/>
              </a:rPr>
              <a:t> </a:t>
            </a:r>
            <a:r>
              <a:rPr lang="it-IT" sz="4800" spc="-10" dirty="0">
                <a:solidFill>
                  <a:srgbClr val="FFC000"/>
                </a:solidFill>
                <a:latin typeface="Castellar" panose="020A0402060406010301" pitchFamily="18" charset="0"/>
              </a:rPr>
              <a:t>conservazione</a:t>
            </a:r>
            <a:r>
              <a:rPr lang="it-IT" sz="6000" dirty="0">
                <a:solidFill>
                  <a:srgbClr val="FFC000"/>
                </a:solidFill>
              </a:rPr>
              <a:t/>
            </a:r>
            <a:br>
              <a:rPr lang="it-IT" sz="6000" dirty="0">
                <a:solidFill>
                  <a:srgbClr val="FFC000"/>
                </a:solidFill>
              </a:rPr>
            </a:br>
            <a:r>
              <a:rPr lang="it-IT" sz="6000" dirty="0" smtClean="0"/>
              <a:t/>
            </a:r>
            <a:br>
              <a:rPr lang="it-IT" sz="6000" dirty="0" smtClean="0"/>
            </a:br>
            <a:r>
              <a:rPr lang="it-IT" sz="5700" spc="-36" dirty="0">
                <a:solidFill>
                  <a:schemeClr val="bg1"/>
                </a:solidFill>
              </a:rPr>
              <a:t/>
            </a:r>
            <a:br>
              <a:rPr lang="it-IT" sz="5700" spc="-36" dirty="0">
                <a:solidFill>
                  <a:schemeClr val="bg1"/>
                </a:solidFill>
              </a:rPr>
            </a:br>
            <a:r>
              <a:rPr lang="it-IT" sz="7200" spc="-36" dirty="0" smtClean="0">
                <a:solidFill>
                  <a:schemeClr val="accent1">
                    <a:lumMod val="75000"/>
                  </a:schemeClr>
                </a:solidFill>
              </a:rPr>
              <a:t>Considerazioni iniziali</a:t>
            </a:r>
            <a:endParaRPr sz="7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0" y="228600"/>
            <a:ext cx="3987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029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500" y="7044267"/>
            <a:ext cx="13018347" cy="2709333"/>
            <a:chOff x="-6095" y="4953000"/>
            <a:chExt cx="12204700" cy="1905000"/>
          </a:xfrm>
        </p:grpSpPr>
        <p:sp>
          <p:nvSpPr>
            <p:cNvPr id="3" name="object 3"/>
            <p:cNvSpPr/>
            <p:nvPr/>
          </p:nvSpPr>
          <p:spPr>
            <a:xfrm>
              <a:off x="2249424" y="4953000"/>
              <a:ext cx="9942830" cy="487680"/>
            </a:xfrm>
            <a:custGeom>
              <a:avLst/>
              <a:gdLst/>
              <a:ahLst/>
              <a:cxnLst/>
              <a:rect l="l" t="t" r="r" b="b"/>
              <a:pathLst>
                <a:path w="9942830" h="487679">
                  <a:moveTo>
                    <a:pt x="9942576" y="0"/>
                  </a:moveTo>
                  <a:lnTo>
                    <a:pt x="0" y="289687"/>
                  </a:lnTo>
                  <a:lnTo>
                    <a:pt x="9942576" y="487680"/>
                  </a:lnTo>
                  <a:lnTo>
                    <a:pt x="9942576" y="0"/>
                  </a:lnTo>
                  <a:close/>
                </a:path>
              </a:pathLst>
            </a:custGeom>
            <a:solidFill>
              <a:srgbClr val="A6B8D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00244"/>
              <a:ext cx="12191999" cy="18577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997492"/>
              <a:ext cx="12192000" cy="789940"/>
            </a:xfrm>
            <a:custGeom>
              <a:avLst/>
              <a:gdLst/>
              <a:ahLst/>
              <a:cxnLst/>
              <a:rect l="l" t="t" r="r" b="b"/>
              <a:pathLst>
                <a:path w="12192000" h="789939">
                  <a:moveTo>
                    <a:pt x="0" y="0"/>
                  </a:moveTo>
                  <a:lnTo>
                    <a:pt x="12191999" y="789686"/>
                  </a:lnTo>
                </a:path>
              </a:pathLst>
            </a:custGeom>
            <a:ln w="12192">
              <a:solidFill>
                <a:srgbClr val="2D5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Rettangolo 5"/>
          <p:cNvSpPr/>
          <p:nvPr/>
        </p:nvSpPr>
        <p:spPr>
          <a:xfrm>
            <a:off x="0" y="228600"/>
            <a:ext cx="3987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082" y="63759"/>
            <a:ext cx="12289536" cy="101548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4082" y="209939"/>
            <a:ext cx="12289536" cy="757814"/>
          </a:xfrm>
          <a:prstGeom prst="rect">
            <a:avLst/>
          </a:prstGeom>
        </p:spPr>
        <p:txBody>
          <a:bodyPr vert="horz" wrap="square" lIns="0" tIns="18965" rIns="0" bIns="0" rtlCol="0">
            <a:spAutoFit/>
          </a:bodyPr>
          <a:lstStyle/>
          <a:p>
            <a:pPr marL="17159" marR="7225" algn="ctr">
              <a:spcBef>
                <a:spcPts val="149"/>
              </a:spcBef>
            </a:pPr>
            <a:r>
              <a:rPr lang="it-IT" sz="2400" dirty="0" smtClean="0">
                <a:solidFill>
                  <a:schemeClr val="bg1"/>
                </a:solidFill>
                <a:latin typeface="Castellar" panose="020A0402060406010301" pitchFamily="18" charset="0"/>
              </a:rPr>
              <a:t>La</a:t>
            </a:r>
            <a:r>
              <a:rPr lang="it-IT" sz="2400" spc="-35" dirty="0" smtClean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digitalizzazione,</a:t>
            </a:r>
            <a:r>
              <a:rPr lang="it-IT" sz="2400" spc="1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i</a:t>
            </a:r>
            <a:r>
              <a:rPr lang="it-IT" sz="2400" spc="-2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processi</a:t>
            </a:r>
            <a:r>
              <a:rPr lang="it-IT" sz="2400" spc="-15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spc="-25" dirty="0">
                <a:solidFill>
                  <a:schemeClr val="bg1"/>
                </a:solidFill>
                <a:latin typeface="Castellar" panose="020A0402060406010301" pitchFamily="18" charset="0"/>
              </a:rPr>
              <a:t>di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dematerializzazione</a:t>
            </a:r>
            <a:r>
              <a:rPr lang="it-IT" sz="2400" spc="1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e</a:t>
            </a:r>
            <a:r>
              <a:rPr lang="it-IT" sz="2400" spc="-3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la</a:t>
            </a:r>
            <a:r>
              <a:rPr lang="it-IT" sz="2400" spc="-15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spc="-10" dirty="0" smtClean="0">
                <a:solidFill>
                  <a:schemeClr val="bg1"/>
                </a:solidFill>
                <a:latin typeface="Castellar" panose="020A0402060406010301" pitchFamily="18" charset="0"/>
              </a:rPr>
              <a:t>conservazione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177801" y="1760392"/>
            <a:ext cx="126492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t-IT" sz="3600" dirty="0" smtClean="0">
                <a:latin typeface="+mj-lt"/>
              </a:rPr>
              <a:t>Gli </a:t>
            </a:r>
            <a:r>
              <a:rPr lang="it-IT" sz="3600" dirty="0">
                <a:latin typeface="+mj-lt"/>
              </a:rPr>
              <a:t>archivi digitali con riferimento in particolare al processo di </a:t>
            </a:r>
            <a:r>
              <a:rPr lang="it-IT" sz="3600" dirty="0" smtClean="0">
                <a:latin typeface="+mj-lt"/>
              </a:rPr>
              <a:t>trasformazione digitale </a:t>
            </a:r>
            <a:r>
              <a:rPr lang="it-IT" sz="3600" dirty="0">
                <a:latin typeface="+mj-lt"/>
              </a:rPr>
              <a:t>che “scandisce” oggi (dovrebbe scandire oggi, ma siamo </a:t>
            </a:r>
            <a:r>
              <a:rPr lang="it-IT" sz="3600" dirty="0" smtClean="0">
                <a:latin typeface="+mj-lt"/>
              </a:rPr>
              <a:t>appena agli </a:t>
            </a:r>
            <a:r>
              <a:rPr lang="it-IT" sz="3600" dirty="0">
                <a:latin typeface="+mj-lt"/>
              </a:rPr>
              <a:t>inizi) il passaggio da una “amministrazione pubblica analogica” ad una </a:t>
            </a:r>
            <a:r>
              <a:rPr lang="it-IT" sz="3600" dirty="0" smtClean="0">
                <a:latin typeface="+mj-lt"/>
              </a:rPr>
              <a:t>amministrazione </a:t>
            </a:r>
            <a:r>
              <a:rPr lang="it-IT" sz="3600" dirty="0" err="1" smtClean="0">
                <a:latin typeface="+mj-lt"/>
              </a:rPr>
              <a:t>nativamente</a:t>
            </a:r>
            <a:r>
              <a:rPr lang="it-IT" sz="3600" dirty="0" smtClean="0">
                <a:latin typeface="+mj-lt"/>
              </a:rPr>
              <a:t> </a:t>
            </a:r>
            <a:r>
              <a:rPr lang="it-IT" sz="3600" dirty="0">
                <a:latin typeface="+mj-lt"/>
              </a:rPr>
              <a:t>digitale”. Il riferimento al PNRR è d’obbligo perché tutte </a:t>
            </a:r>
            <a:r>
              <a:rPr lang="it-IT" sz="3600" dirty="0" smtClean="0">
                <a:latin typeface="+mj-lt"/>
              </a:rPr>
              <a:t>le “</a:t>
            </a:r>
            <a:r>
              <a:rPr lang="it-IT" sz="3600" dirty="0">
                <a:latin typeface="+mj-lt"/>
              </a:rPr>
              <a:t>missioni” di tale piano (in particolare la missione n.1) sono caratterizzate da </a:t>
            </a:r>
            <a:r>
              <a:rPr lang="it-IT" sz="3600" dirty="0" smtClean="0">
                <a:latin typeface="+mj-lt"/>
              </a:rPr>
              <a:t>processi digitali </a:t>
            </a:r>
            <a:r>
              <a:rPr lang="it-IT" sz="3600" dirty="0">
                <a:latin typeface="+mj-lt"/>
              </a:rPr>
              <a:t>nei quali gli “archivi” costituiscono lo “snodo” di questo transito </a:t>
            </a:r>
            <a:r>
              <a:rPr lang="it-IT" sz="3600" dirty="0" smtClean="0">
                <a:latin typeface="+mj-lt"/>
              </a:rPr>
              <a:t>digitale.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it-IT" sz="3600" dirty="0"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t-IT" sz="3600" dirty="0" smtClean="0">
                <a:latin typeface="+mj-lt"/>
              </a:rPr>
              <a:t>Più </a:t>
            </a:r>
            <a:r>
              <a:rPr lang="it-IT" sz="3600" dirty="0">
                <a:latin typeface="+mj-lt"/>
              </a:rPr>
              <a:t>gli archivi pubblici sono formati, gestiti e conservati in modalità digitale e </a:t>
            </a:r>
            <a:r>
              <a:rPr lang="it-IT" sz="3600" dirty="0" smtClean="0">
                <a:latin typeface="+mj-lt"/>
              </a:rPr>
              <a:t>più questo </a:t>
            </a:r>
            <a:r>
              <a:rPr lang="it-IT" sz="3600" dirty="0">
                <a:latin typeface="+mj-lt"/>
              </a:rPr>
              <a:t>stesso transito esprime e garantisce il processo stesso di trasformazione digitale</a:t>
            </a:r>
            <a:r>
              <a:rPr lang="it-IT" sz="3600" dirty="0" smtClean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794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500" y="7044267"/>
            <a:ext cx="13018347" cy="2709333"/>
            <a:chOff x="-6095" y="4953000"/>
            <a:chExt cx="12204700" cy="1905000"/>
          </a:xfrm>
        </p:grpSpPr>
        <p:sp>
          <p:nvSpPr>
            <p:cNvPr id="3" name="object 3"/>
            <p:cNvSpPr/>
            <p:nvPr/>
          </p:nvSpPr>
          <p:spPr>
            <a:xfrm>
              <a:off x="2249424" y="4953000"/>
              <a:ext cx="9942830" cy="487680"/>
            </a:xfrm>
            <a:custGeom>
              <a:avLst/>
              <a:gdLst/>
              <a:ahLst/>
              <a:cxnLst/>
              <a:rect l="l" t="t" r="r" b="b"/>
              <a:pathLst>
                <a:path w="9942830" h="487679">
                  <a:moveTo>
                    <a:pt x="9942576" y="0"/>
                  </a:moveTo>
                  <a:lnTo>
                    <a:pt x="0" y="289687"/>
                  </a:lnTo>
                  <a:lnTo>
                    <a:pt x="9942576" y="487680"/>
                  </a:lnTo>
                  <a:lnTo>
                    <a:pt x="9942576" y="0"/>
                  </a:lnTo>
                  <a:close/>
                </a:path>
              </a:pathLst>
            </a:custGeom>
            <a:solidFill>
              <a:srgbClr val="A6B8D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00244"/>
              <a:ext cx="12191999" cy="18577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997492"/>
              <a:ext cx="12192000" cy="789940"/>
            </a:xfrm>
            <a:custGeom>
              <a:avLst/>
              <a:gdLst/>
              <a:ahLst/>
              <a:cxnLst/>
              <a:rect l="l" t="t" r="r" b="b"/>
              <a:pathLst>
                <a:path w="12192000" h="789939">
                  <a:moveTo>
                    <a:pt x="0" y="0"/>
                  </a:moveTo>
                  <a:lnTo>
                    <a:pt x="12191999" y="789686"/>
                  </a:lnTo>
                </a:path>
              </a:pathLst>
            </a:custGeom>
            <a:ln w="12192">
              <a:solidFill>
                <a:srgbClr val="2D5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Rettangolo 5"/>
          <p:cNvSpPr/>
          <p:nvPr/>
        </p:nvSpPr>
        <p:spPr>
          <a:xfrm>
            <a:off x="0" y="228600"/>
            <a:ext cx="3987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082" y="63759"/>
            <a:ext cx="12289536" cy="101548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4082" y="209939"/>
            <a:ext cx="12289536" cy="757814"/>
          </a:xfrm>
          <a:prstGeom prst="rect">
            <a:avLst/>
          </a:prstGeom>
        </p:spPr>
        <p:txBody>
          <a:bodyPr vert="horz" wrap="square" lIns="0" tIns="18965" rIns="0" bIns="0" rtlCol="0">
            <a:spAutoFit/>
          </a:bodyPr>
          <a:lstStyle/>
          <a:p>
            <a:pPr marL="17159" marR="7225" algn="ctr">
              <a:spcBef>
                <a:spcPts val="149"/>
              </a:spcBef>
            </a:pPr>
            <a:r>
              <a:rPr lang="it-IT" sz="2400" dirty="0" smtClean="0">
                <a:solidFill>
                  <a:schemeClr val="bg1"/>
                </a:solidFill>
                <a:latin typeface="Castellar" panose="020A0402060406010301" pitchFamily="18" charset="0"/>
              </a:rPr>
              <a:t>La</a:t>
            </a:r>
            <a:r>
              <a:rPr lang="it-IT" sz="2400" spc="-35" dirty="0" smtClean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digitalizzazione,</a:t>
            </a:r>
            <a:r>
              <a:rPr lang="it-IT" sz="2400" spc="1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i</a:t>
            </a:r>
            <a:r>
              <a:rPr lang="it-IT" sz="2400" spc="-2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processi</a:t>
            </a:r>
            <a:r>
              <a:rPr lang="it-IT" sz="2400" spc="-15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spc="-25" dirty="0">
                <a:solidFill>
                  <a:schemeClr val="bg1"/>
                </a:solidFill>
                <a:latin typeface="Castellar" panose="020A0402060406010301" pitchFamily="18" charset="0"/>
              </a:rPr>
              <a:t>di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dematerializzazione</a:t>
            </a:r>
            <a:r>
              <a:rPr lang="it-IT" sz="2400" spc="1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e</a:t>
            </a:r>
            <a:r>
              <a:rPr lang="it-IT" sz="2400" spc="-30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dirty="0">
                <a:solidFill>
                  <a:schemeClr val="bg1"/>
                </a:solidFill>
                <a:latin typeface="Castellar" panose="020A0402060406010301" pitchFamily="18" charset="0"/>
              </a:rPr>
              <a:t>la</a:t>
            </a:r>
            <a:r>
              <a:rPr lang="it-IT" sz="2400" spc="-15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it-IT" sz="2400" spc="-10" dirty="0" smtClean="0">
                <a:solidFill>
                  <a:schemeClr val="bg1"/>
                </a:solidFill>
                <a:latin typeface="Castellar" panose="020A0402060406010301" pitchFamily="18" charset="0"/>
              </a:rPr>
              <a:t>conservazione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144250" y="1305540"/>
            <a:ext cx="12649200" cy="7602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dirty="0"/>
              <a:t>Gli archivi sono lo snodo di un processo di riorganizzazione dell’intero settore pubblico, sono la caratterizzazione di un nuovo assetto dei processi organizzativi, esprimono una riqualificazione dell’azione amministrativa e dei servizi ai cittadini e alle imprese.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dirty="0"/>
              <a:t>Gli archivi sono “centrali” per il rinnovamento amministrativo, istituzionale, organizzativo perché i </a:t>
            </a:r>
            <a:r>
              <a:rPr lang="it-IT" sz="2800" i="1" dirty="0"/>
              <a:t>dati e i documenti pubblici sono necessari ed indispensabili </a:t>
            </a:r>
            <a:r>
              <a:rPr lang="it-IT" sz="2800" dirty="0"/>
              <a:t>per programmare, dirigere, decidere, gestire, monitorare, controllare, ecc.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i="1" dirty="0"/>
              <a:t>Gli archivi come contenitori ma anche come generatori di dati per il “governo”; gli archivi come “memoria” della vita amministrativa e della vita politico-istituzionale, delle </a:t>
            </a:r>
            <a:r>
              <a:rPr lang="it-IT" sz="2800" i="1" dirty="0" smtClean="0"/>
              <a:t>comunità </a:t>
            </a:r>
            <a:r>
              <a:rPr lang="it-IT" sz="2800" i="1" dirty="0"/>
              <a:t>locali, dei processi di democrazia (e non).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dirty="0"/>
              <a:t>Gli archivi come “passato” che genera il “futuro”. </a:t>
            </a:r>
            <a:endParaRPr lang="it-IT" sz="2800" dirty="0" smtClean="0"/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i="1" dirty="0" smtClean="0"/>
              <a:t>Gli </a:t>
            </a:r>
            <a:r>
              <a:rPr lang="it-IT" sz="2800" i="1" dirty="0"/>
              <a:t>archivi digitali come nuovi snodi, contenitori, memoria, rinnovamento del settore pubblico in tutti i suoi aspetti: documentali, informativi, comunicativi, organizzativi, procedurali e procedimentali, gestionali, di servizio, ecc.</a:t>
            </a:r>
            <a:endParaRPr lang="it-IT" sz="2800" i="1" dirty="0"/>
          </a:p>
        </p:txBody>
      </p:sp>
    </p:spTree>
    <p:extLst>
      <p:ext uri="{BB962C8B-B14F-4D97-AF65-F5344CB8AC3E}">
        <p14:creationId xmlns:p14="http://schemas.microsoft.com/office/powerpoint/2010/main" val="167757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60" y="1159763"/>
            <a:ext cx="12731750" cy="12700"/>
          </a:xfrm>
          <a:custGeom>
            <a:avLst/>
            <a:gdLst/>
            <a:ahLst/>
            <a:cxnLst/>
            <a:rect l="l" t="t" r="r" b="b"/>
            <a:pathLst>
              <a:path w="12731750" h="12700">
                <a:moveTo>
                  <a:pt x="0" y="12192"/>
                </a:moveTo>
                <a:lnTo>
                  <a:pt x="12731496" y="12192"/>
                </a:lnTo>
                <a:lnTo>
                  <a:pt x="1273149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15" y="184404"/>
            <a:ext cx="3435096" cy="74675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7160" y="1159763"/>
            <a:ext cx="12731750" cy="12700"/>
          </a:xfrm>
          <a:custGeom>
            <a:avLst/>
            <a:gdLst/>
            <a:ahLst/>
            <a:cxnLst/>
            <a:rect l="l" t="t" r="r" b="b"/>
            <a:pathLst>
              <a:path w="12731750" h="12700">
                <a:moveTo>
                  <a:pt x="0" y="12192"/>
                </a:moveTo>
                <a:lnTo>
                  <a:pt x="12731496" y="12192"/>
                </a:lnTo>
                <a:lnTo>
                  <a:pt x="1273149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44330" y="402081"/>
            <a:ext cx="3505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CC"/>
                </a:solidFill>
                <a:latin typeface="Arial"/>
                <a:cs typeface="Arial"/>
              </a:rPr>
              <a:t>Il</a:t>
            </a:r>
            <a:r>
              <a:rPr sz="1800" spc="-10" dirty="0">
                <a:solidFill>
                  <a:srgbClr val="0066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6CC"/>
                </a:solidFill>
                <a:latin typeface="Arial"/>
                <a:cs typeface="Arial"/>
              </a:rPr>
              <a:t>Paese</a:t>
            </a:r>
            <a:r>
              <a:rPr sz="1800" spc="-20" dirty="0">
                <a:solidFill>
                  <a:srgbClr val="0066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6CC"/>
                </a:solidFill>
                <a:latin typeface="Arial"/>
                <a:cs typeface="Arial"/>
              </a:rPr>
              <a:t>che</a:t>
            </a:r>
            <a:r>
              <a:rPr sz="1800" spc="-5" dirty="0">
                <a:solidFill>
                  <a:srgbClr val="0066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6CC"/>
                </a:solidFill>
                <a:latin typeface="Arial"/>
                <a:cs typeface="Arial"/>
              </a:rPr>
              <a:t>cambia</a:t>
            </a:r>
            <a:r>
              <a:rPr sz="1800" spc="-5" dirty="0">
                <a:solidFill>
                  <a:srgbClr val="0066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6CC"/>
                </a:solidFill>
                <a:latin typeface="Arial"/>
                <a:cs typeface="Arial"/>
              </a:rPr>
              <a:t>passa</a:t>
            </a:r>
            <a:r>
              <a:rPr sz="1800" spc="-10" dirty="0">
                <a:solidFill>
                  <a:srgbClr val="0066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6CC"/>
                </a:solidFill>
                <a:latin typeface="Arial"/>
                <a:cs typeface="Arial"/>
              </a:rPr>
              <a:t>da </a:t>
            </a:r>
            <a:r>
              <a:rPr sz="1800" spc="-20" dirty="0">
                <a:solidFill>
                  <a:srgbClr val="0066CC"/>
                </a:solidFill>
                <a:latin typeface="Arial"/>
                <a:cs typeface="Arial"/>
              </a:rPr>
              <a:t>qui.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3510" y="4546168"/>
            <a:ext cx="1067562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5029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48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4800" dirty="0">
                <a:solidFill>
                  <a:srgbClr val="0D5A8F"/>
                </a:solidFill>
                <a:latin typeface="Arial"/>
                <a:cs typeface="Arial"/>
              </a:rPr>
              <a:t>digitalizzazione,</a:t>
            </a:r>
            <a:r>
              <a:rPr sz="48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4800" dirty="0">
                <a:solidFill>
                  <a:srgbClr val="0D5A8F"/>
                </a:solidFill>
                <a:latin typeface="Arial"/>
                <a:cs typeface="Arial"/>
              </a:rPr>
              <a:t>i</a:t>
            </a:r>
            <a:r>
              <a:rPr sz="48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4800" dirty="0">
                <a:solidFill>
                  <a:srgbClr val="0D5A8F"/>
                </a:solidFill>
                <a:latin typeface="Arial"/>
                <a:cs typeface="Arial"/>
              </a:rPr>
              <a:t>processi</a:t>
            </a:r>
            <a:r>
              <a:rPr sz="48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48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4800" dirty="0">
                <a:solidFill>
                  <a:srgbClr val="0D5A8F"/>
                </a:solidFill>
                <a:latin typeface="Arial"/>
                <a:cs typeface="Arial"/>
              </a:rPr>
              <a:t>dematerializzazione</a:t>
            </a:r>
            <a:r>
              <a:rPr sz="48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48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48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48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48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48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endParaRPr sz="4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1811" y="2080260"/>
            <a:ext cx="3625595" cy="187147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9584" y="150063"/>
            <a:ext cx="443103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9665" marR="5080" indent="-11176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La</a:t>
            </a:r>
            <a:r>
              <a:rPr sz="3200" spc="-25" dirty="0"/>
              <a:t> </a:t>
            </a:r>
            <a:r>
              <a:rPr sz="3200" spc="-10" dirty="0"/>
              <a:t>dematerializzazione Definizione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601724" y="3200378"/>
            <a:ext cx="10528300" cy="3941445"/>
            <a:chOff x="1601724" y="3200378"/>
            <a:chExt cx="10528300" cy="39414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9545" y="3200378"/>
              <a:ext cx="10233673" cy="37948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1724" y="3259835"/>
              <a:ext cx="10527792" cy="38816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9364" y="3220211"/>
              <a:ext cx="10144125" cy="3705225"/>
            </a:xfrm>
            <a:custGeom>
              <a:avLst/>
              <a:gdLst/>
              <a:ahLst/>
              <a:cxnLst/>
              <a:rect l="l" t="t" r="r" b="b"/>
              <a:pathLst>
                <a:path w="10144125" h="3705225">
                  <a:moveTo>
                    <a:pt x="10143744" y="0"/>
                  </a:moveTo>
                  <a:lnTo>
                    <a:pt x="0" y="0"/>
                  </a:lnTo>
                  <a:lnTo>
                    <a:pt x="0" y="3704844"/>
                  </a:lnTo>
                  <a:lnTo>
                    <a:pt x="10143744" y="3704844"/>
                  </a:lnTo>
                  <a:lnTo>
                    <a:pt x="10143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69364" y="3220211"/>
              <a:ext cx="10144125" cy="3705225"/>
            </a:xfrm>
            <a:custGeom>
              <a:avLst/>
              <a:gdLst/>
              <a:ahLst/>
              <a:cxnLst/>
              <a:rect l="l" t="t" r="r" b="b"/>
              <a:pathLst>
                <a:path w="10144125" h="3705225">
                  <a:moveTo>
                    <a:pt x="0" y="3704844"/>
                  </a:moveTo>
                  <a:lnTo>
                    <a:pt x="10143744" y="3704844"/>
                  </a:lnTo>
                  <a:lnTo>
                    <a:pt x="10143744" y="0"/>
                  </a:lnTo>
                  <a:lnTo>
                    <a:pt x="0" y="0"/>
                  </a:lnTo>
                  <a:lnTo>
                    <a:pt x="0" y="3704844"/>
                  </a:lnTo>
                  <a:close/>
                </a:path>
              </a:pathLst>
            </a:custGeom>
            <a:ln w="6096">
              <a:solidFill>
                <a:srgbClr val="0364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72107" y="3384295"/>
            <a:ext cx="995489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  <a:tabLst>
                <a:tab pos="440055" algn="l"/>
                <a:tab pos="2031364" algn="l"/>
                <a:tab pos="2180590" algn="l"/>
                <a:tab pos="3211195" algn="l"/>
                <a:tab pos="4918075" algn="l"/>
                <a:tab pos="6125210" algn="l"/>
                <a:tab pos="7412990" algn="l"/>
                <a:tab pos="7839709" algn="l"/>
              </a:tabLst>
            </a:pP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termine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“dematerializzazione”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indica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8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il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progressivo incremento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	</a:t>
            </a:r>
            <a:r>
              <a:rPr sz="3200" spc="-2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documentale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informatizzata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9301" y="4359655"/>
            <a:ext cx="776541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3860" marR="5080" indent="-403860">
              <a:lnSpc>
                <a:spcPct val="100000"/>
              </a:lnSpc>
              <a:spcBef>
                <a:spcPts val="105"/>
              </a:spcBef>
              <a:tabLst>
                <a:tab pos="1306195" algn="l"/>
                <a:tab pos="3313429" algn="l"/>
                <a:tab pos="6760845" algn="l"/>
                <a:tab pos="7435850" algn="l"/>
              </a:tabLst>
            </a:pP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Pubblica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Amministrazione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5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la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8085" y="4847031"/>
            <a:ext cx="29921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documentazione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94292" y="4847031"/>
            <a:ext cx="26320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amministrativa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2107" y="4359655"/>
            <a:ext cx="215709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all’interno sostituzione solitamente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1345" y="5335270"/>
            <a:ext cx="74155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019300" algn="l"/>
                <a:tab pos="2797810" algn="l"/>
                <a:tab pos="4389120" algn="l"/>
                <a:tab pos="5393690" algn="l"/>
              </a:tabLst>
            </a:pP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cartacea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favore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2107" y="5822950"/>
            <a:ext cx="995362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informatico,</a:t>
            </a:r>
            <a:r>
              <a:rPr sz="3200" spc="1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3200" spc="1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cui</a:t>
            </a:r>
            <a:r>
              <a:rPr sz="3200" spc="1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3200" spc="1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normativa</a:t>
            </a:r>
            <a:r>
              <a:rPr sz="3200" spc="1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vigente</a:t>
            </a:r>
            <a:r>
              <a:rPr sz="3200" spc="1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riconosce</a:t>
            </a:r>
            <a:r>
              <a:rPr sz="3200" spc="1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pieno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valore</a:t>
            </a:r>
            <a:r>
              <a:rPr sz="32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giuridico.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4508" y="1290827"/>
            <a:ext cx="7635240" cy="2024380"/>
            <a:chOff x="254508" y="1290827"/>
            <a:chExt cx="7635240" cy="202438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508" y="1290827"/>
              <a:ext cx="1485900" cy="20238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39036" y="1395983"/>
              <a:ext cx="6444615" cy="460375"/>
            </a:xfrm>
            <a:custGeom>
              <a:avLst/>
              <a:gdLst/>
              <a:ahLst/>
              <a:cxnLst/>
              <a:rect l="l" t="t" r="r" b="b"/>
              <a:pathLst>
                <a:path w="6444615" h="460375">
                  <a:moveTo>
                    <a:pt x="6444615" y="0"/>
                  </a:moveTo>
                  <a:lnTo>
                    <a:pt x="455294" y="0"/>
                  </a:lnTo>
                  <a:lnTo>
                    <a:pt x="455294" y="268477"/>
                  </a:lnTo>
                  <a:lnTo>
                    <a:pt x="0" y="458724"/>
                  </a:lnTo>
                  <a:lnTo>
                    <a:pt x="455294" y="383540"/>
                  </a:lnTo>
                  <a:lnTo>
                    <a:pt x="455294" y="460248"/>
                  </a:lnTo>
                  <a:lnTo>
                    <a:pt x="6444615" y="460248"/>
                  </a:lnTo>
                  <a:lnTo>
                    <a:pt x="644461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39036" y="1395983"/>
              <a:ext cx="6444615" cy="460375"/>
            </a:xfrm>
            <a:custGeom>
              <a:avLst/>
              <a:gdLst/>
              <a:ahLst/>
              <a:cxnLst/>
              <a:rect l="l" t="t" r="r" b="b"/>
              <a:pathLst>
                <a:path w="6444615" h="460375">
                  <a:moveTo>
                    <a:pt x="455294" y="0"/>
                  </a:moveTo>
                  <a:lnTo>
                    <a:pt x="1453514" y="0"/>
                  </a:lnTo>
                  <a:lnTo>
                    <a:pt x="2950845" y="0"/>
                  </a:lnTo>
                  <a:lnTo>
                    <a:pt x="6444615" y="0"/>
                  </a:lnTo>
                  <a:lnTo>
                    <a:pt x="6444615" y="268477"/>
                  </a:lnTo>
                  <a:lnTo>
                    <a:pt x="6444615" y="383540"/>
                  </a:lnTo>
                  <a:lnTo>
                    <a:pt x="6444615" y="460248"/>
                  </a:lnTo>
                  <a:lnTo>
                    <a:pt x="2950845" y="460248"/>
                  </a:lnTo>
                  <a:lnTo>
                    <a:pt x="1453514" y="460248"/>
                  </a:lnTo>
                  <a:lnTo>
                    <a:pt x="455294" y="460248"/>
                  </a:lnTo>
                  <a:lnTo>
                    <a:pt x="455294" y="383540"/>
                  </a:lnTo>
                  <a:lnTo>
                    <a:pt x="0" y="458724"/>
                  </a:lnTo>
                  <a:lnTo>
                    <a:pt x="455294" y="268477"/>
                  </a:lnTo>
                  <a:lnTo>
                    <a:pt x="455294" y="0"/>
                  </a:lnTo>
                  <a:close/>
                </a:path>
              </a:pathLst>
            </a:custGeom>
            <a:ln w="12192">
              <a:solidFill>
                <a:srgbClr val="0147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34564" y="1430527"/>
            <a:ext cx="530796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Cosa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2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intende</a:t>
            </a:r>
            <a:r>
              <a:rPr sz="225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25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dematerializzazione?</a:t>
            </a:r>
            <a:endParaRPr sz="22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2730" y="5875011"/>
            <a:ext cx="11355705" cy="3161030"/>
            <a:chOff x="522730" y="5875011"/>
            <a:chExt cx="11355705" cy="31610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730" y="5875011"/>
              <a:ext cx="11355326" cy="316079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2544" y="5894831"/>
              <a:ext cx="11265535" cy="3070860"/>
            </a:xfrm>
            <a:custGeom>
              <a:avLst/>
              <a:gdLst/>
              <a:ahLst/>
              <a:cxnLst/>
              <a:rect l="l" t="t" r="r" b="b"/>
              <a:pathLst>
                <a:path w="11265535" h="3070859">
                  <a:moveTo>
                    <a:pt x="11265408" y="0"/>
                  </a:moveTo>
                  <a:lnTo>
                    <a:pt x="0" y="0"/>
                  </a:lnTo>
                  <a:lnTo>
                    <a:pt x="0" y="3070860"/>
                  </a:lnTo>
                  <a:lnTo>
                    <a:pt x="11265408" y="3070860"/>
                  </a:lnTo>
                  <a:lnTo>
                    <a:pt x="112654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2544" y="5894831"/>
              <a:ext cx="11265535" cy="3070860"/>
            </a:xfrm>
            <a:custGeom>
              <a:avLst/>
              <a:gdLst/>
              <a:ahLst/>
              <a:cxnLst/>
              <a:rect l="l" t="t" r="r" b="b"/>
              <a:pathLst>
                <a:path w="11265535" h="3070859">
                  <a:moveTo>
                    <a:pt x="0" y="3070860"/>
                  </a:moveTo>
                  <a:lnTo>
                    <a:pt x="11265408" y="3070860"/>
                  </a:lnTo>
                  <a:lnTo>
                    <a:pt x="11265408" y="0"/>
                  </a:lnTo>
                  <a:lnTo>
                    <a:pt x="0" y="0"/>
                  </a:lnTo>
                  <a:lnTo>
                    <a:pt x="0" y="3070860"/>
                  </a:lnTo>
                  <a:close/>
                </a:path>
              </a:pathLst>
            </a:custGeom>
            <a:ln w="6096">
              <a:solidFill>
                <a:srgbClr val="0364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39874" y="6415277"/>
              <a:ext cx="8274050" cy="2032000"/>
            </a:xfrm>
            <a:custGeom>
              <a:avLst/>
              <a:gdLst/>
              <a:ahLst/>
              <a:cxnLst/>
              <a:rect l="l" t="t" r="r" b="b"/>
              <a:pathLst>
                <a:path w="8274050" h="2032000">
                  <a:moveTo>
                    <a:pt x="0" y="1015746"/>
                  </a:moveTo>
                  <a:lnTo>
                    <a:pt x="5613" y="962372"/>
                  </a:lnTo>
                  <a:lnTo>
                    <a:pt x="22269" y="909716"/>
                  </a:lnTo>
                  <a:lnTo>
                    <a:pt x="39371" y="875044"/>
                  </a:lnTo>
                  <a:lnTo>
                    <a:pt x="61175" y="840741"/>
                  </a:lnTo>
                  <a:lnTo>
                    <a:pt x="87600" y="806826"/>
                  </a:lnTo>
                  <a:lnTo>
                    <a:pt x="118564" y="773321"/>
                  </a:lnTo>
                  <a:lnTo>
                    <a:pt x="153984" y="740246"/>
                  </a:lnTo>
                  <a:lnTo>
                    <a:pt x="193779" y="707620"/>
                  </a:lnTo>
                  <a:lnTo>
                    <a:pt x="237866" y="675463"/>
                  </a:lnTo>
                  <a:lnTo>
                    <a:pt x="286163" y="643797"/>
                  </a:lnTo>
                  <a:lnTo>
                    <a:pt x="338589" y="612640"/>
                  </a:lnTo>
                  <a:lnTo>
                    <a:pt x="395061" y="582014"/>
                  </a:lnTo>
                  <a:lnTo>
                    <a:pt x="455497" y="551938"/>
                  </a:lnTo>
                  <a:lnTo>
                    <a:pt x="519816" y="522432"/>
                  </a:lnTo>
                  <a:lnTo>
                    <a:pt x="587934" y="493517"/>
                  </a:lnTo>
                  <a:lnTo>
                    <a:pt x="623393" y="479288"/>
                  </a:lnTo>
                  <a:lnTo>
                    <a:pt x="659771" y="465213"/>
                  </a:lnTo>
                  <a:lnTo>
                    <a:pt x="697058" y="451296"/>
                  </a:lnTo>
                  <a:lnTo>
                    <a:pt x="735244" y="437540"/>
                  </a:lnTo>
                  <a:lnTo>
                    <a:pt x="774318" y="423946"/>
                  </a:lnTo>
                  <a:lnTo>
                    <a:pt x="814271" y="410517"/>
                  </a:lnTo>
                  <a:lnTo>
                    <a:pt x="855092" y="397256"/>
                  </a:lnTo>
                  <a:lnTo>
                    <a:pt x="896770" y="384166"/>
                  </a:lnTo>
                  <a:lnTo>
                    <a:pt x="939296" y="371248"/>
                  </a:lnTo>
                  <a:lnTo>
                    <a:pt x="982659" y="358506"/>
                  </a:lnTo>
                  <a:lnTo>
                    <a:pt x="1026849" y="345942"/>
                  </a:lnTo>
                  <a:lnTo>
                    <a:pt x="1071856" y="333558"/>
                  </a:lnTo>
                  <a:lnTo>
                    <a:pt x="1117670" y="321356"/>
                  </a:lnTo>
                  <a:lnTo>
                    <a:pt x="1164279" y="309341"/>
                  </a:lnTo>
                  <a:lnTo>
                    <a:pt x="1211675" y="297513"/>
                  </a:lnTo>
                  <a:lnTo>
                    <a:pt x="1259846" y="285876"/>
                  </a:lnTo>
                  <a:lnTo>
                    <a:pt x="1308783" y="274431"/>
                  </a:lnTo>
                  <a:lnTo>
                    <a:pt x="1358475" y="263182"/>
                  </a:lnTo>
                  <a:lnTo>
                    <a:pt x="1408911" y="252131"/>
                  </a:lnTo>
                  <a:lnTo>
                    <a:pt x="1460083" y="241281"/>
                  </a:lnTo>
                  <a:lnTo>
                    <a:pt x="1511979" y="230634"/>
                  </a:lnTo>
                  <a:lnTo>
                    <a:pt x="1564589" y="220192"/>
                  </a:lnTo>
                  <a:lnTo>
                    <a:pt x="1617903" y="209959"/>
                  </a:lnTo>
                  <a:lnTo>
                    <a:pt x="1671911" y="199936"/>
                  </a:lnTo>
                  <a:lnTo>
                    <a:pt x="1726602" y="190126"/>
                  </a:lnTo>
                  <a:lnTo>
                    <a:pt x="1781967" y="180531"/>
                  </a:lnTo>
                  <a:lnTo>
                    <a:pt x="1837994" y="171155"/>
                  </a:lnTo>
                  <a:lnTo>
                    <a:pt x="1894674" y="162000"/>
                  </a:lnTo>
                  <a:lnTo>
                    <a:pt x="1951996" y="153068"/>
                  </a:lnTo>
                  <a:lnTo>
                    <a:pt x="2009950" y="144361"/>
                  </a:lnTo>
                  <a:lnTo>
                    <a:pt x="2068527" y="135883"/>
                  </a:lnTo>
                  <a:lnTo>
                    <a:pt x="2127715" y="127635"/>
                  </a:lnTo>
                  <a:lnTo>
                    <a:pt x="2187504" y="119621"/>
                  </a:lnTo>
                  <a:lnTo>
                    <a:pt x="2247884" y="111843"/>
                  </a:lnTo>
                  <a:lnTo>
                    <a:pt x="2308846" y="104303"/>
                  </a:lnTo>
                  <a:lnTo>
                    <a:pt x="2370378" y="97003"/>
                  </a:lnTo>
                  <a:lnTo>
                    <a:pt x="2432470" y="89947"/>
                  </a:lnTo>
                  <a:lnTo>
                    <a:pt x="2495112" y="83137"/>
                  </a:lnTo>
                  <a:lnTo>
                    <a:pt x="2558295" y="76575"/>
                  </a:lnTo>
                  <a:lnTo>
                    <a:pt x="2622007" y="70264"/>
                  </a:lnTo>
                  <a:lnTo>
                    <a:pt x="2686238" y="64207"/>
                  </a:lnTo>
                  <a:lnTo>
                    <a:pt x="2750978" y="58405"/>
                  </a:lnTo>
                  <a:lnTo>
                    <a:pt x="2816217" y="52862"/>
                  </a:lnTo>
                  <a:lnTo>
                    <a:pt x="2881945" y="47580"/>
                  </a:lnTo>
                  <a:lnTo>
                    <a:pt x="2948151" y="42562"/>
                  </a:lnTo>
                  <a:lnTo>
                    <a:pt x="3014825" y="37809"/>
                  </a:lnTo>
                  <a:lnTo>
                    <a:pt x="3081957" y="33325"/>
                  </a:lnTo>
                  <a:lnTo>
                    <a:pt x="3149536" y="29112"/>
                  </a:lnTo>
                  <a:lnTo>
                    <a:pt x="3217553" y="25173"/>
                  </a:lnTo>
                  <a:lnTo>
                    <a:pt x="3285996" y="21509"/>
                  </a:lnTo>
                  <a:lnTo>
                    <a:pt x="3354857" y="18124"/>
                  </a:lnTo>
                  <a:lnTo>
                    <a:pt x="3424124" y="15021"/>
                  </a:lnTo>
                  <a:lnTo>
                    <a:pt x="3493787" y="12201"/>
                  </a:lnTo>
                  <a:lnTo>
                    <a:pt x="3563837" y="9667"/>
                  </a:lnTo>
                  <a:lnTo>
                    <a:pt x="3634262" y="7422"/>
                  </a:lnTo>
                  <a:lnTo>
                    <a:pt x="3705052" y="5468"/>
                  </a:lnTo>
                  <a:lnTo>
                    <a:pt x="3776198" y="3807"/>
                  </a:lnTo>
                  <a:lnTo>
                    <a:pt x="3847689" y="2443"/>
                  </a:lnTo>
                  <a:lnTo>
                    <a:pt x="3919515" y="1378"/>
                  </a:lnTo>
                  <a:lnTo>
                    <a:pt x="3991665" y="614"/>
                  </a:lnTo>
                  <a:lnTo>
                    <a:pt x="4064129" y="153"/>
                  </a:lnTo>
                  <a:lnTo>
                    <a:pt x="4136898" y="0"/>
                  </a:lnTo>
                  <a:lnTo>
                    <a:pt x="4209666" y="153"/>
                  </a:lnTo>
                  <a:lnTo>
                    <a:pt x="4282130" y="614"/>
                  </a:lnTo>
                  <a:lnTo>
                    <a:pt x="4354280" y="1378"/>
                  </a:lnTo>
                  <a:lnTo>
                    <a:pt x="4426106" y="2443"/>
                  </a:lnTo>
                  <a:lnTo>
                    <a:pt x="4497597" y="3807"/>
                  </a:lnTo>
                  <a:lnTo>
                    <a:pt x="4568743" y="5468"/>
                  </a:lnTo>
                  <a:lnTo>
                    <a:pt x="4639533" y="7422"/>
                  </a:lnTo>
                  <a:lnTo>
                    <a:pt x="4709958" y="9667"/>
                  </a:lnTo>
                  <a:lnTo>
                    <a:pt x="4780008" y="12201"/>
                  </a:lnTo>
                  <a:lnTo>
                    <a:pt x="4849671" y="15021"/>
                  </a:lnTo>
                  <a:lnTo>
                    <a:pt x="4918938" y="18124"/>
                  </a:lnTo>
                  <a:lnTo>
                    <a:pt x="4987799" y="21509"/>
                  </a:lnTo>
                  <a:lnTo>
                    <a:pt x="5056242" y="25173"/>
                  </a:lnTo>
                  <a:lnTo>
                    <a:pt x="5124259" y="29112"/>
                  </a:lnTo>
                  <a:lnTo>
                    <a:pt x="5191838" y="33325"/>
                  </a:lnTo>
                  <a:lnTo>
                    <a:pt x="5258970" y="37809"/>
                  </a:lnTo>
                  <a:lnTo>
                    <a:pt x="5325644" y="42562"/>
                  </a:lnTo>
                  <a:lnTo>
                    <a:pt x="5391850" y="47580"/>
                  </a:lnTo>
                  <a:lnTo>
                    <a:pt x="5457578" y="52862"/>
                  </a:lnTo>
                  <a:lnTo>
                    <a:pt x="5522817" y="58405"/>
                  </a:lnTo>
                  <a:lnTo>
                    <a:pt x="5587557" y="64207"/>
                  </a:lnTo>
                  <a:lnTo>
                    <a:pt x="5651788" y="70264"/>
                  </a:lnTo>
                  <a:lnTo>
                    <a:pt x="5715500" y="76575"/>
                  </a:lnTo>
                  <a:lnTo>
                    <a:pt x="5778683" y="83137"/>
                  </a:lnTo>
                  <a:lnTo>
                    <a:pt x="5841325" y="89947"/>
                  </a:lnTo>
                  <a:lnTo>
                    <a:pt x="5903417" y="97003"/>
                  </a:lnTo>
                  <a:lnTo>
                    <a:pt x="5964949" y="104303"/>
                  </a:lnTo>
                  <a:lnTo>
                    <a:pt x="6025911" y="111843"/>
                  </a:lnTo>
                  <a:lnTo>
                    <a:pt x="6086291" y="119621"/>
                  </a:lnTo>
                  <a:lnTo>
                    <a:pt x="6146080" y="127635"/>
                  </a:lnTo>
                  <a:lnTo>
                    <a:pt x="6205268" y="135883"/>
                  </a:lnTo>
                  <a:lnTo>
                    <a:pt x="6263845" y="144361"/>
                  </a:lnTo>
                  <a:lnTo>
                    <a:pt x="6321799" y="153068"/>
                  </a:lnTo>
                  <a:lnTo>
                    <a:pt x="6379121" y="162000"/>
                  </a:lnTo>
                  <a:lnTo>
                    <a:pt x="6435801" y="171155"/>
                  </a:lnTo>
                  <a:lnTo>
                    <a:pt x="6491828" y="180531"/>
                  </a:lnTo>
                  <a:lnTo>
                    <a:pt x="6547193" y="190126"/>
                  </a:lnTo>
                  <a:lnTo>
                    <a:pt x="6601884" y="199936"/>
                  </a:lnTo>
                  <a:lnTo>
                    <a:pt x="6655892" y="209959"/>
                  </a:lnTo>
                  <a:lnTo>
                    <a:pt x="6709206" y="220192"/>
                  </a:lnTo>
                  <a:lnTo>
                    <a:pt x="6761816" y="230634"/>
                  </a:lnTo>
                  <a:lnTo>
                    <a:pt x="6813712" y="241281"/>
                  </a:lnTo>
                  <a:lnTo>
                    <a:pt x="6864884" y="252131"/>
                  </a:lnTo>
                  <a:lnTo>
                    <a:pt x="6915320" y="263182"/>
                  </a:lnTo>
                  <a:lnTo>
                    <a:pt x="6965012" y="274431"/>
                  </a:lnTo>
                  <a:lnTo>
                    <a:pt x="7013949" y="285876"/>
                  </a:lnTo>
                  <a:lnTo>
                    <a:pt x="7062120" y="297513"/>
                  </a:lnTo>
                  <a:lnTo>
                    <a:pt x="7109516" y="309341"/>
                  </a:lnTo>
                  <a:lnTo>
                    <a:pt x="7156125" y="321356"/>
                  </a:lnTo>
                  <a:lnTo>
                    <a:pt x="7201939" y="333558"/>
                  </a:lnTo>
                  <a:lnTo>
                    <a:pt x="7246946" y="345942"/>
                  </a:lnTo>
                  <a:lnTo>
                    <a:pt x="7291136" y="358506"/>
                  </a:lnTo>
                  <a:lnTo>
                    <a:pt x="7334499" y="371248"/>
                  </a:lnTo>
                  <a:lnTo>
                    <a:pt x="7377025" y="384166"/>
                  </a:lnTo>
                  <a:lnTo>
                    <a:pt x="7418703" y="397256"/>
                  </a:lnTo>
                  <a:lnTo>
                    <a:pt x="7459524" y="410517"/>
                  </a:lnTo>
                  <a:lnTo>
                    <a:pt x="7499477" y="423946"/>
                  </a:lnTo>
                  <a:lnTo>
                    <a:pt x="7538551" y="437540"/>
                  </a:lnTo>
                  <a:lnTo>
                    <a:pt x="7576737" y="451296"/>
                  </a:lnTo>
                  <a:lnTo>
                    <a:pt x="7614024" y="465213"/>
                  </a:lnTo>
                  <a:lnTo>
                    <a:pt x="7650402" y="479288"/>
                  </a:lnTo>
                  <a:lnTo>
                    <a:pt x="7685861" y="493517"/>
                  </a:lnTo>
                  <a:lnTo>
                    <a:pt x="7753979" y="522432"/>
                  </a:lnTo>
                  <a:lnTo>
                    <a:pt x="7818298" y="551938"/>
                  </a:lnTo>
                  <a:lnTo>
                    <a:pt x="7878734" y="582014"/>
                  </a:lnTo>
                  <a:lnTo>
                    <a:pt x="7935206" y="612640"/>
                  </a:lnTo>
                  <a:lnTo>
                    <a:pt x="7987632" y="643797"/>
                  </a:lnTo>
                  <a:lnTo>
                    <a:pt x="8035929" y="675463"/>
                  </a:lnTo>
                  <a:lnTo>
                    <a:pt x="8080016" y="707620"/>
                  </a:lnTo>
                  <a:lnTo>
                    <a:pt x="8119811" y="740246"/>
                  </a:lnTo>
                  <a:lnTo>
                    <a:pt x="8155231" y="773321"/>
                  </a:lnTo>
                  <a:lnTo>
                    <a:pt x="8186195" y="806826"/>
                  </a:lnTo>
                  <a:lnTo>
                    <a:pt x="8212620" y="840741"/>
                  </a:lnTo>
                  <a:lnTo>
                    <a:pt x="8234424" y="875044"/>
                  </a:lnTo>
                  <a:lnTo>
                    <a:pt x="8251526" y="909716"/>
                  </a:lnTo>
                  <a:lnTo>
                    <a:pt x="8268182" y="962372"/>
                  </a:lnTo>
                  <a:lnTo>
                    <a:pt x="8273796" y="1015746"/>
                  </a:lnTo>
                  <a:lnTo>
                    <a:pt x="8273168" y="1033612"/>
                  </a:lnTo>
                  <a:lnTo>
                    <a:pt x="8263843" y="1086754"/>
                  </a:lnTo>
                  <a:lnTo>
                    <a:pt x="8243568" y="1139156"/>
                  </a:lnTo>
                  <a:lnTo>
                    <a:pt x="8224105" y="1173646"/>
                  </a:lnTo>
                  <a:lnTo>
                    <a:pt x="8199980" y="1207758"/>
                  </a:lnTo>
                  <a:lnTo>
                    <a:pt x="8171275" y="1241470"/>
                  </a:lnTo>
                  <a:lnTo>
                    <a:pt x="8138073" y="1274762"/>
                  </a:lnTo>
                  <a:lnTo>
                    <a:pt x="8100455" y="1307616"/>
                  </a:lnTo>
                  <a:lnTo>
                    <a:pt x="8058504" y="1340009"/>
                  </a:lnTo>
                  <a:lnTo>
                    <a:pt x="8012302" y="1371923"/>
                  </a:lnTo>
                  <a:lnTo>
                    <a:pt x="7961930" y="1403337"/>
                  </a:lnTo>
                  <a:lnTo>
                    <a:pt x="7907471" y="1434231"/>
                  </a:lnTo>
                  <a:lnTo>
                    <a:pt x="7849007" y="1464585"/>
                  </a:lnTo>
                  <a:lnTo>
                    <a:pt x="7786619" y="1494378"/>
                  </a:lnTo>
                  <a:lnTo>
                    <a:pt x="7720390" y="1523591"/>
                  </a:lnTo>
                  <a:lnTo>
                    <a:pt x="7650402" y="1552203"/>
                  </a:lnTo>
                  <a:lnTo>
                    <a:pt x="7614024" y="1566278"/>
                  </a:lnTo>
                  <a:lnTo>
                    <a:pt x="7576737" y="1580195"/>
                  </a:lnTo>
                  <a:lnTo>
                    <a:pt x="7538551" y="1593951"/>
                  </a:lnTo>
                  <a:lnTo>
                    <a:pt x="7499477" y="1607545"/>
                  </a:lnTo>
                  <a:lnTo>
                    <a:pt x="7459524" y="1620974"/>
                  </a:lnTo>
                  <a:lnTo>
                    <a:pt x="7418703" y="1634235"/>
                  </a:lnTo>
                  <a:lnTo>
                    <a:pt x="7377025" y="1647325"/>
                  </a:lnTo>
                  <a:lnTo>
                    <a:pt x="7334499" y="1660243"/>
                  </a:lnTo>
                  <a:lnTo>
                    <a:pt x="7291136" y="1672985"/>
                  </a:lnTo>
                  <a:lnTo>
                    <a:pt x="7246946" y="1685549"/>
                  </a:lnTo>
                  <a:lnTo>
                    <a:pt x="7201939" y="1697933"/>
                  </a:lnTo>
                  <a:lnTo>
                    <a:pt x="7156125" y="1710135"/>
                  </a:lnTo>
                  <a:lnTo>
                    <a:pt x="7109516" y="1722150"/>
                  </a:lnTo>
                  <a:lnTo>
                    <a:pt x="7062120" y="1733978"/>
                  </a:lnTo>
                  <a:lnTo>
                    <a:pt x="7013949" y="1745615"/>
                  </a:lnTo>
                  <a:lnTo>
                    <a:pt x="6965012" y="1757060"/>
                  </a:lnTo>
                  <a:lnTo>
                    <a:pt x="6915320" y="1768309"/>
                  </a:lnTo>
                  <a:lnTo>
                    <a:pt x="6864884" y="1779360"/>
                  </a:lnTo>
                  <a:lnTo>
                    <a:pt x="6813712" y="1790210"/>
                  </a:lnTo>
                  <a:lnTo>
                    <a:pt x="6761816" y="1800857"/>
                  </a:lnTo>
                  <a:lnTo>
                    <a:pt x="6709206" y="1811299"/>
                  </a:lnTo>
                  <a:lnTo>
                    <a:pt x="6655892" y="1821532"/>
                  </a:lnTo>
                  <a:lnTo>
                    <a:pt x="6601884" y="1831555"/>
                  </a:lnTo>
                  <a:lnTo>
                    <a:pt x="6547193" y="1841365"/>
                  </a:lnTo>
                  <a:lnTo>
                    <a:pt x="6491828" y="1850960"/>
                  </a:lnTo>
                  <a:lnTo>
                    <a:pt x="6435801" y="1860336"/>
                  </a:lnTo>
                  <a:lnTo>
                    <a:pt x="6379121" y="1869491"/>
                  </a:lnTo>
                  <a:lnTo>
                    <a:pt x="6321799" y="1878423"/>
                  </a:lnTo>
                  <a:lnTo>
                    <a:pt x="6263845" y="1887130"/>
                  </a:lnTo>
                  <a:lnTo>
                    <a:pt x="6205268" y="1895608"/>
                  </a:lnTo>
                  <a:lnTo>
                    <a:pt x="6146080" y="1903856"/>
                  </a:lnTo>
                  <a:lnTo>
                    <a:pt x="6086291" y="1911870"/>
                  </a:lnTo>
                  <a:lnTo>
                    <a:pt x="6025911" y="1919648"/>
                  </a:lnTo>
                  <a:lnTo>
                    <a:pt x="5964949" y="1927188"/>
                  </a:lnTo>
                  <a:lnTo>
                    <a:pt x="5903417" y="1934488"/>
                  </a:lnTo>
                  <a:lnTo>
                    <a:pt x="5841325" y="1941544"/>
                  </a:lnTo>
                  <a:lnTo>
                    <a:pt x="5778683" y="1948354"/>
                  </a:lnTo>
                  <a:lnTo>
                    <a:pt x="5715500" y="1954916"/>
                  </a:lnTo>
                  <a:lnTo>
                    <a:pt x="5651788" y="1961227"/>
                  </a:lnTo>
                  <a:lnTo>
                    <a:pt x="5587557" y="1967284"/>
                  </a:lnTo>
                  <a:lnTo>
                    <a:pt x="5522817" y="1973086"/>
                  </a:lnTo>
                  <a:lnTo>
                    <a:pt x="5457578" y="1978629"/>
                  </a:lnTo>
                  <a:lnTo>
                    <a:pt x="5391850" y="1983911"/>
                  </a:lnTo>
                  <a:lnTo>
                    <a:pt x="5325644" y="1988929"/>
                  </a:lnTo>
                  <a:lnTo>
                    <a:pt x="5258970" y="1993682"/>
                  </a:lnTo>
                  <a:lnTo>
                    <a:pt x="5191838" y="1998166"/>
                  </a:lnTo>
                  <a:lnTo>
                    <a:pt x="5124259" y="2002379"/>
                  </a:lnTo>
                  <a:lnTo>
                    <a:pt x="5056242" y="2006318"/>
                  </a:lnTo>
                  <a:lnTo>
                    <a:pt x="4987799" y="2009982"/>
                  </a:lnTo>
                  <a:lnTo>
                    <a:pt x="4918938" y="2013367"/>
                  </a:lnTo>
                  <a:lnTo>
                    <a:pt x="4849671" y="2016470"/>
                  </a:lnTo>
                  <a:lnTo>
                    <a:pt x="4780008" y="2019290"/>
                  </a:lnTo>
                  <a:lnTo>
                    <a:pt x="4709958" y="2021824"/>
                  </a:lnTo>
                  <a:lnTo>
                    <a:pt x="4639533" y="2024069"/>
                  </a:lnTo>
                  <a:lnTo>
                    <a:pt x="4568743" y="2026023"/>
                  </a:lnTo>
                  <a:lnTo>
                    <a:pt x="4497597" y="2027684"/>
                  </a:lnTo>
                  <a:lnTo>
                    <a:pt x="4426106" y="2029048"/>
                  </a:lnTo>
                  <a:lnTo>
                    <a:pt x="4354280" y="2030113"/>
                  </a:lnTo>
                  <a:lnTo>
                    <a:pt x="4282130" y="2030877"/>
                  </a:lnTo>
                  <a:lnTo>
                    <a:pt x="4209666" y="2031338"/>
                  </a:lnTo>
                  <a:lnTo>
                    <a:pt x="4136898" y="2031492"/>
                  </a:lnTo>
                  <a:lnTo>
                    <a:pt x="4064129" y="2031338"/>
                  </a:lnTo>
                  <a:lnTo>
                    <a:pt x="3991665" y="2030877"/>
                  </a:lnTo>
                  <a:lnTo>
                    <a:pt x="3919515" y="2030113"/>
                  </a:lnTo>
                  <a:lnTo>
                    <a:pt x="3847689" y="2029048"/>
                  </a:lnTo>
                  <a:lnTo>
                    <a:pt x="3776198" y="2027684"/>
                  </a:lnTo>
                  <a:lnTo>
                    <a:pt x="3705052" y="2026023"/>
                  </a:lnTo>
                  <a:lnTo>
                    <a:pt x="3634262" y="2024069"/>
                  </a:lnTo>
                  <a:lnTo>
                    <a:pt x="3563837" y="2021824"/>
                  </a:lnTo>
                  <a:lnTo>
                    <a:pt x="3493787" y="2019290"/>
                  </a:lnTo>
                  <a:lnTo>
                    <a:pt x="3424124" y="2016470"/>
                  </a:lnTo>
                  <a:lnTo>
                    <a:pt x="3354857" y="2013367"/>
                  </a:lnTo>
                  <a:lnTo>
                    <a:pt x="3285996" y="2009982"/>
                  </a:lnTo>
                  <a:lnTo>
                    <a:pt x="3217553" y="2006318"/>
                  </a:lnTo>
                  <a:lnTo>
                    <a:pt x="3149536" y="2002379"/>
                  </a:lnTo>
                  <a:lnTo>
                    <a:pt x="3081957" y="1998166"/>
                  </a:lnTo>
                  <a:lnTo>
                    <a:pt x="3014825" y="1993682"/>
                  </a:lnTo>
                  <a:lnTo>
                    <a:pt x="2948151" y="1988929"/>
                  </a:lnTo>
                  <a:lnTo>
                    <a:pt x="2881945" y="1983911"/>
                  </a:lnTo>
                  <a:lnTo>
                    <a:pt x="2816217" y="1978629"/>
                  </a:lnTo>
                  <a:lnTo>
                    <a:pt x="2750978" y="1973086"/>
                  </a:lnTo>
                  <a:lnTo>
                    <a:pt x="2686238" y="1967284"/>
                  </a:lnTo>
                  <a:lnTo>
                    <a:pt x="2622007" y="1961227"/>
                  </a:lnTo>
                  <a:lnTo>
                    <a:pt x="2558295" y="1954916"/>
                  </a:lnTo>
                  <a:lnTo>
                    <a:pt x="2495112" y="1948354"/>
                  </a:lnTo>
                  <a:lnTo>
                    <a:pt x="2432470" y="1941544"/>
                  </a:lnTo>
                  <a:lnTo>
                    <a:pt x="2370378" y="1934488"/>
                  </a:lnTo>
                  <a:lnTo>
                    <a:pt x="2308846" y="1927188"/>
                  </a:lnTo>
                  <a:lnTo>
                    <a:pt x="2247884" y="1919648"/>
                  </a:lnTo>
                  <a:lnTo>
                    <a:pt x="2187504" y="1911870"/>
                  </a:lnTo>
                  <a:lnTo>
                    <a:pt x="2127715" y="1903856"/>
                  </a:lnTo>
                  <a:lnTo>
                    <a:pt x="2068527" y="1895608"/>
                  </a:lnTo>
                  <a:lnTo>
                    <a:pt x="2009950" y="1887130"/>
                  </a:lnTo>
                  <a:lnTo>
                    <a:pt x="1951996" y="1878423"/>
                  </a:lnTo>
                  <a:lnTo>
                    <a:pt x="1894674" y="1869491"/>
                  </a:lnTo>
                  <a:lnTo>
                    <a:pt x="1837994" y="1860336"/>
                  </a:lnTo>
                  <a:lnTo>
                    <a:pt x="1781967" y="1850960"/>
                  </a:lnTo>
                  <a:lnTo>
                    <a:pt x="1726602" y="1841365"/>
                  </a:lnTo>
                  <a:lnTo>
                    <a:pt x="1671911" y="1831555"/>
                  </a:lnTo>
                  <a:lnTo>
                    <a:pt x="1617903" y="1821532"/>
                  </a:lnTo>
                  <a:lnTo>
                    <a:pt x="1564589" y="1811299"/>
                  </a:lnTo>
                  <a:lnTo>
                    <a:pt x="1511979" y="1800857"/>
                  </a:lnTo>
                  <a:lnTo>
                    <a:pt x="1460083" y="1790210"/>
                  </a:lnTo>
                  <a:lnTo>
                    <a:pt x="1408911" y="1779360"/>
                  </a:lnTo>
                  <a:lnTo>
                    <a:pt x="1358475" y="1768309"/>
                  </a:lnTo>
                  <a:lnTo>
                    <a:pt x="1308783" y="1757060"/>
                  </a:lnTo>
                  <a:lnTo>
                    <a:pt x="1259846" y="1745615"/>
                  </a:lnTo>
                  <a:lnTo>
                    <a:pt x="1211675" y="1733978"/>
                  </a:lnTo>
                  <a:lnTo>
                    <a:pt x="1164279" y="1722150"/>
                  </a:lnTo>
                  <a:lnTo>
                    <a:pt x="1117670" y="1710135"/>
                  </a:lnTo>
                  <a:lnTo>
                    <a:pt x="1071856" y="1697933"/>
                  </a:lnTo>
                  <a:lnTo>
                    <a:pt x="1026849" y="1685549"/>
                  </a:lnTo>
                  <a:lnTo>
                    <a:pt x="982659" y="1672985"/>
                  </a:lnTo>
                  <a:lnTo>
                    <a:pt x="939296" y="1660243"/>
                  </a:lnTo>
                  <a:lnTo>
                    <a:pt x="896770" y="1647325"/>
                  </a:lnTo>
                  <a:lnTo>
                    <a:pt x="855092" y="1634235"/>
                  </a:lnTo>
                  <a:lnTo>
                    <a:pt x="814271" y="1620974"/>
                  </a:lnTo>
                  <a:lnTo>
                    <a:pt x="774318" y="1607545"/>
                  </a:lnTo>
                  <a:lnTo>
                    <a:pt x="735244" y="1593951"/>
                  </a:lnTo>
                  <a:lnTo>
                    <a:pt x="697058" y="1580195"/>
                  </a:lnTo>
                  <a:lnTo>
                    <a:pt x="659771" y="1566278"/>
                  </a:lnTo>
                  <a:lnTo>
                    <a:pt x="623393" y="1552203"/>
                  </a:lnTo>
                  <a:lnTo>
                    <a:pt x="587934" y="1537974"/>
                  </a:lnTo>
                  <a:lnTo>
                    <a:pt x="519816" y="1509059"/>
                  </a:lnTo>
                  <a:lnTo>
                    <a:pt x="455497" y="1479553"/>
                  </a:lnTo>
                  <a:lnTo>
                    <a:pt x="395061" y="1449477"/>
                  </a:lnTo>
                  <a:lnTo>
                    <a:pt x="338589" y="1418851"/>
                  </a:lnTo>
                  <a:lnTo>
                    <a:pt x="286163" y="1387694"/>
                  </a:lnTo>
                  <a:lnTo>
                    <a:pt x="237866" y="1356028"/>
                  </a:lnTo>
                  <a:lnTo>
                    <a:pt x="193779" y="1323871"/>
                  </a:lnTo>
                  <a:lnTo>
                    <a:pt x="153984" y="1291245"/>
                  </a:lnTo>
                  <a:lnTo>
                    <a:pt x="118564" y="1258170"/>
                  </a:lnTo>
                  <a:lnTo>
                    <a:pt x="87600" y="1224665"/>
                  </a:lnTo>
                  <a:lnTo>
                    <a:pt x="61175" y="1190750"/>
                  </a:lnTo>
                  <a:lnTo>
                    <a:pt x="39371" y="1156447"/>
                  </a:lnTo>
                  <a:lnTo>
                    <a:pt x="22269" y="1121775"/>
                  </a:lnTo>
                  <a:lnTo>
                    <a:pt x="5613" y="1069119"/>
                  </a:lnTo>
                  <a:lnTo>
                    <a:pt x="0" y="1015746"/>
                  </a:lnTo>
                  <a:close/>
                </a:path>
              </a:pathLst>
            </a:custGeom>
            <a:ln w="38100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09160" y="7107935"/>
              <a:ext cx="2933700" cy="645160"/>
            </a:xfrm>
            <a:custGeom>
              <a:avLst/>
              <a:gdLst/>
              <a:ahLst/>
              <a:cxnLst/>
              <a:rect l="l" t="t" r="r" b="b"/>
              <a:pathLst>
                <a:path w="2933700" h="645159">
                  <a:moveTo>
                    <a:pt x="1466850" y="0"/>
                  </a:moveTo>
                  <a:lnTo>
                    <a:pt x="1393638" y="394"/>
                  </a:lnTo>
                  <a:lnTo>
                    <a:pt x="1321355" y="1565"/>
                  </a:lnTo>
                  <a:lnTo>
                    <a:pt x="1250086" y="3493"/>
                  </a:lnTo>
                  <a:lnTo>
                    <a:pt x="1179914" y="6162"/>
                  </a:lnTo>
                  <a:lnTo>
                    <a:pt x="1110924" y="9551"/>
                  </a:lnTo>
                  <a:lnTo>
                    <a:pt x="1043199" y="13643"/>
                  </a:lnTo>
                  <a:lnTo>
                    <a:pt x="976823" y="18420"/>
                  </a:lnTo>
                  <a:lnTo>
                    <a:pt x="911881" y="23862"/>
                  </a:lnTo>
                  <a:lnTo>
                    <a:pt x="848456" y="29951"/>
                  </a:lnTo>
                  <a:lnTo>
                    <a:pt x="786633" y="36669"/>
                  </a:lnTo>
                  <a:lnTo>
                    <a:pt x="726496" y="43998"/>
                  </a:lnTo>
                  <a:lnTo>
                    <a:pt x="668128" y="51919"/>
                  </a:lnTo>
                  <a:lnTo>
                    <a:pt x="611614" y="60413"/>
                  </a:lnTo>
                  <a:lnTo>
                    <a:pt x="557037" y="69462"/>
                  </a:lnTo>
                  <a:lnTo>
                    <a:pt x="504482" y="79048"/>
                  </a:lnTo>
                  <a:lnTo>
                    <a:pt x="454033" y="89152"/>
                  </a:lnTo>
                  <a:lnTo>
                    <a:pt x="405774" y="99755"/>
                  </a:lnTo>
                  <a:lnTo>
                    <a:pt x="359788" y="110840"/>
                  </a:lnTo>
                  <a:lnTo>
                    <a:pt x="316161" y="122388"/>
                  </a:lnTo>
                  <a:lnTo>
                    <a:pt x="274975" y="134381"/>
                  </a:lnTo>
                  <a:lnTo>
                    <a:pt x="236315" y="146799"/>
                  </a:lnTo>
                  <a:lnTo>
                    <a:pt x="200264" y="159624"/>
                  </a:lnTo>
                  <a:lnTo>
                    <a:pt x="136330" y="186424"/>
                  </a:lnTo>
                  <a:lnTo>
                    <a:pt x="83844" y="214633"/>
                  </a:lnTo>
                  <a:lnTo>
                    <a:pt x="43477" y="244103"/>
                  </a:lnTo>
                  <a:lnTo>
                    <a:pt x="15904" y="274686"/>
                  </a:lnTo>
                  <a:lnTo>
                    <a:pt x="0" y="322325"/>
                  </a:lnTo>
                  <a:lnTo>
                    <a:pt x="1795" y="338416"/>
                  </a:lnTo>
                  <a:lnTo>
                    <a:pt x="28049" y="385387"/>
                  </a:lnTo>
                  <a:lnTo>
                    <a:pt x="62103" y="415431"/>
                  </a:lnTo>
                  <a:lnTo>
                    <a:pt x="108614" y="444289"/>
                  </a:lnTo>
                  <a:lnTo>
                    <a:pt x="166908" y="471812"/>
                  </a:lnTo>
                  <a:lnTo>
                    <a:pt x="236315" y="497852"/>
                  </a:lnTo>
                  <a:lnTo>
                    <a:pt x="274975" y="510270"/>
                  </a:lnTo>
                  <a:lnTo>
                    <a:pt x="316161" y="522263"/>
                  </a:lnTo>
                  <a:lnTo>
                    <a:pt x="359788" y="533811"/>
                  </a:lnTo>
                  <a:lnTo>
                    <a:pt x="405774" y="544896"/>
                  </a:lnTo>
                  <a:lnTo>
                    <a:pt x="454033" y="555499"/>
                  </a:lnTo>
                  <a:lnTo>
                    <a:pt x="504482" y="565603"/>
                  </a:lnTo>
                  <a:lnTo>
                    <a:pt x="557037" y="575189"/>
                  </a:lnTo>
                  <a:lnTo>
                    <a:pt x="611614" y="584238"/>
                  </a:lnTo>
                  <a:lnTo>
                    <a:pt x="668128" y="592732"/>
                  </a:lnTo>
                  <a:lnTo>
                    <a:pt x="726496" y="600653"/>
                  </a:lnTo>
                  <a:lnTo>
                    <a:pt x="786633" y="607982"/>
                  </a:lnTo>
                  <a:lnTo>
                    <a:pt x="848456" y="614700"/>
                  </a:lnTo>
                  <a:lnTo>
                    <a:pt x="911881" y="620789"/>
                  </a:lnTo>
                  <a:lnTo>
                    <a:pt x="976823" y="626231"/>
                  </a:lnTo>
                  <a:lnTo>
                    <a:pt x="1043199" y="631008"/>
                  </a:lnTo>
                  <a:lnTo>
                    <a:pt x="1110924" y="635100"/>
                  </a:lnTo>
                  <a:lnTo>
                    <a:pt x="1179914" y="638489"/>
                  </a:lnTo>
                  <a:lnTo>
                    <a:pt x="1250086" y="641158"/>
                  </a:lnTo>
                  <a:lnTo>
                    <a:pt x="1321355" y="643086"/>
                  </a:lnTo>
                  <a:lnTo>
                    <a:pt x="1393638" y="644257"/>
                  </a:lnTo>
                  <a:lnTo>
                    <a:pt x="1466850" y="644651"/>
                  </a:lnTo>
                  <a:lnTo>
                    <a:pt x="1540061" y="644257"/>
                  </a:lnTo>
                  <a:lnTo>
                    <a:pt x="1612344" y="643086"/>
                  </a:lnTo>
                  <a:lnTo>
                    <a:pt x="1683613" y="641158"/>
                  </a:lnTo>
                  <a:lnTo>
                    <a:pt x="1753785" y="638489"/>
                  </a:lnTo>
                  <a:lnTo>
                    <a:pt x="1822775" y="635100"/>
                  </a:lnTo>
                  <a:lnTo>
                    <a:pt x="1890500" y="631008"/>
                  </a:lnTo>
                  <a:lnTo>
                    <a:pt x="1956876" y="626231"/>
                  </a:lnTo>
                  <a:lnTo>
                    <a:pt x="2021818" y="620789"/>
                  </a:lnTo>
                  <a:lnTo>
                    <a:pt x="2085243" y="614700"/>
                  </a:lnTo>
                  <a:lnTo>
                    <a:pt x="2147066" y="607982"/>
                  </a:lnTo>
                  <a:lnTo>
                    <a:pt x="2207203" y="600653"/>
                  </a:lnTo>
                  <a:lnTo>
                    <a:pt x="2265571" y="592732"/>
                  </a:lnTo>
                  <a:lnTo>
                    <a:pt x="2322085" y="584238"/>
                  </a:lnTo>
                  <a:lnTo>
                    <a:pt x="2376662" y="575189"/>
                  </a:lnTo>
                  <a:lnTo>
                    <a:pt x="2429217" y="565603"/>
                  </a:lnTo>
                  <a:lnTo>
                    <a:pt x="2479666" y="555499"/>
                  </a:lnTo>
                  <a:lnTo>
                    <a:pt x="2527925" y="544896"/>
                  </a:lnTo>
                  <a:lnTo>
                    <a:pt x="2573911" y="533811"/>
                  </a:lnTo>
                  <a:lnTo>
                    <a:pt x="2617538" y="522263"/>
                  </a:lnTo>
                  <a:lnTo>
                    <a:pt x="2658724" y="510270"/>
                  </a:lnTo>
                  <a:lnTo>
                    <a:pt x="2697384" y="497852"/>
                  </a:lnTo>
                  <a:lnTo>
                    <a:pt x="2733435" y="485027"/>
                  </a:lnTo>
                  <a:lnTo>
                    <a:pt x="2797369" y="458227"/>
                  </a:lnTo>
                  <a:lnTo>
                    <a:pt x="2849855" y="430018"/>
                  </a:lnTo>
                  <a:lnTo>
                    <a:pt x="2890222" y="400548"/>
                  </a:lnTo>
                  <a:lnTo>
                    <a:pt x="2917795" y="369965"/>
                  </a:lnTo>
                  <a:lnTo>
                    <a:pt x="2933699" y="322325"/>
                  </a:lnTo>
                  <a:lnTo>
                    <a:pt x="2931904" y="306235"/>
                  </a:lnTo>
                  <a:lnTo>
                    <a:pt x="2905650" y="259264"/>
                  </a:lnTo>
                  <a:lnTo>
                    <a:pt x="2871596" y="229220"/>
                  </a:lnTo>
                  <a:lnTo>
                    <a:pt x="2825085" y="200362"/>
                  </a:lnTo>
                  <a:lnTo>
                    <a:pt x="2766791" y="172839"/>
                  </a:lnTo>
                  <a:lnTo>
                    <a:pt x="2697384" y="146799"/>
                  </a:lnTo>
                  <a:lnTo>
                    <a:pt x="2658724" y="134381"/>
                  </a:lnTo>
                  <a:lnTo>
                    <a:pt x="2617538" y="122388"/>
                  </a:lnTo>
                  <a:lnTo>
                    <a:pt x="2573911" y="110840"/>
                  </a:lnTo>
                  <a:lnTo>
                    <a:pt x="2527925" y="99755"/>
                  </a:lnTo>
                  <a:lnTo>
                    <a:pt x="2479666" y="89152"/>
                  </a:lnTo>
                  <a:lnTo>
                    <a:pt x="2429217" y="79048"/>
                  </a:lnTo>
                  <a:lnTo>
                    <a:pt x="2376662" y="69462"/>
                  </a:lnTo>
                  <a:lnTo>
                    <a:pt x="2322085" y="60413"/>
                  </a:lnTo>
                  <a:lnTo>
                    <a:pt x="2265571" y="51919"/>
                  </a:lnTo>
                  <a:lnTo>
                    <a:pt x="2207203" y="43998"/>
                  </a:lnTo>
                  <a:lnTo>
                    <a:pt x="2147066" y="36669"/>
                  </a:lnTo>
                  <a:lnTo>
                    <a:pt x="2085243" y="29951"/>
                  </a:lnTo>
                  <a:lnTo>
                    <a:pt x="2021818" y="23862"/>
                  </a:lnTo>
                  <a:lnTo>
                    <a:pt x="1956876" y="18420"/>
                  </a:lnTo>
                  <a:lnTo>
                    <a:pt x="1890500" y="13643"/>
                  </a:lnTo>
                  <a:lnTo>
                    <a:pt x="1822775" y="9551"/>
                  </a:lnTo>
                  <a:lnTo>
                    <a:pt x="1753785" y="6162"/>
                  </a:lnTo>
                  <a:lnTo>
                    <a:pt x="1683613" y="3493"/>
                  </a:lnTo>
                  <a:lnTo>
                    <a:pt x="1612344" y="1565"/>
                  </a:lnTo>
                  <a:lnTo>
                    <a:pt x="1540061" y="394"/>
                  </a:lnTo>
                  <a:lnTo>
                    <a:pt x="146685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69584" y="150063"/>
            <a:ext cx="443103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9665" marR="5080" indent="-11176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La</a:t>
            </a:r>
            <a:r>
              <a:rPr sz="3200" spc="-25" dirty="0"/>
              <a:t> </a:t>
            </a:r>
            <a:r>
              <a:rPr sz="3200" spc="-10" dirty="0"/>
              <a:t>dematerializzazione Definizione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2227579" y="2332481"/>
            <a:ext cx="9756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3880" algn="l"/>
                <a:tab pos="3869690" algn="l"/>
                <a:tab pos="4620895" algn="l"/>
                <a:tab pos="5371465" algn="l"/>
                <a:tab pos="6596380" algn="l"/>
                <a:tab pos="8319134" algn="l"/>
                <a:tab pos="9029065" algn="l"/>
              </a:tabLst>
            </a:pP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dematerializzazione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può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essere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ricondotta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20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20" dirty="0">
                <a:solidFill>
                  <a:srgbClr val="0D5A8F"/>
                </a:solidFill>
                <a:latin typeface="Arial"/>
                <a:cs typeface="Arial"/>
              </a:rPr>
              <a:t>pura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26353" y="2759201"/>
            <a:ext cx="1353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processi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73822" y="2759201"/>
            <a:ext cx="3235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7720" algn="l"/>
              </a:tabLst>
            </a:pP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digitalizzazione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2138" y="3185617"/>
            <a:ext cx="33007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6155" algn="l"/>
                <a:tab pos="2594610" algn="l"/>
              </a:tabLst>
            </a:pP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ma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investe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tutta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7655" y="3185617"/>
            <a:ext cx="1572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8350" algn="l"/>
              </a:tabLst>
            </a:pP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sfera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27579" y="2759201"/>
            <a:ext cx="29038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612390" algn="l"/>
              </a:tabLst>
            </a:pP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realizzazione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documentazione, riorganizzazione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93538" y="3612896"/>
            <a:ext cx="5668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9120" algn="l"/>
                <a:tab pos="3385185" algn="l"/>
                <a:tab pos="4229735" algn="l"/>
              </a:tabLst>
            </a:pP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semplificazione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processi,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04829" y="2759201"/>
            <a:ext cx="7785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 algn="just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della della della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27579" y="4039616"/>
            <a:ext cx="975614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trasparenza</a:t>
            </a:r>
            <a:r>
              <a:rPr sz="2800" spc="30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800" spc="29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dell’assunzione</a:t>
            </a:r>
            <a:r>
              <a:rPr sz="2800" spc="30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800" spc="30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responsabilità,</a:t>
            </a:r>
            <a:r>
              <a:rPr sz="2800" spc="30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dell’uso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diffuso</a:t>
            </a:r>
            <a:r>
              <a:rPr sz="2800" spc="-2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degli</a:t>
            </a:r>
            <a:r>
              <a:rPr sz="2800" spc="-1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strumenti</a:t>
            </a:r>
            <a:r>
              <a:rPr sz="2800" spc="-2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tecnologici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nella</a:t>
            </a:r>
            <a:r>
              <a:rPr sz="2800" spc="-1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comunicazione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tra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cittadini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91353" y="7227189"/>
            <a:ext cx="238252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250" spc="-10" dirty="0">
                <a:solidFill>
                  <a:srgbClr val="FFFFFF"/>
                </a:solidFill>
                <a:latin typeface="Calibri"/>
                <a:cs typeface="Calibri"/>
              </a:rPr>
              <a:t>Dematerializzazione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2330" y="6450838"/>
            <a:ext cx="2759075" cy="659130"/>
            <a:chOff x="862330" y="6450838"/>
            <a:chExt cx="2759075" cy="659130"/>
          </a:xfrm>
        </p:grpSpPr>
        <p:sp>
          <p:nvSpPr>
            <p:cNvPr id="20" name="object 20"/>
            <p:cNvSpPr/>
            <p:nvPr/>
          </p:nvSpPr>
          <p:spPr>
            <a:xfrm>
              <a:off x="868680" y="6457188"/>
              <a:ext cx="2746375" cy="646430"/>
            </a:xfrm>
            <a:custGeom>
              <a:avLst/>
              <a:gdLst/>
              <a:ahLst/>
              <a:cxnLst/>
              <a:rect l="l" t="t" r="r" b="b"/>
              <a:pathLst>
                <a:path w="2746375" h="646429">
                  <a:moveTo>
                    <a:pt x="2638552" y="0"/>
                  </a:moveTo>
                  <a:lnTo>
                    <a:pt x="107695" y="0"/>
                  </a:lnTo>
                  <a:lnTo>
                    <a:pt x="65777" y="8469"/>
                  </a:lnTo>
                  <a:lnTo>
                    <a:pt x="31545" y="31559"/>
                  </a:lnTo>
                  <a:lnTo>
                    <a:pt x="8463" y="65793"/>
                  </a:lnTo>
                  <a:lnTo>
                    <a:pt x="0" y="107695"/>
                  </a:lnTo>
                  <a:lnTo>
                    <a:pt x="0" y="538480"/>
                  </a:lnTo>
                  <a:lnTo>
                    <a:pt x="8463" y="580382"/>
                  </a:lnTo>
                  <a:lnTo>
                    <a:pt x="31545" y="614616"/>
                  </a:lnTo>
                  <a:lnTo>
                    <a:pt x="65777" y="637706"/>
                  </a:lnTo>
                  <a:lnTo>
                    <a:pt x="107695" y="646176"/>
                  </a:lnTo>
                  <a:lnTo>
                    <a:pt x="2638552" y="646176"/>
                  </a:lnTo>
                  <a:lnTo>
                    <a:pt x="2680454" y="637706"/>
                  </a:lnTo>
                  <a:lnTo>
                    <a:pt x="2714688" y="614616"/>
                  </a:lnTo>
                  <a:lnTo>
                    <a:pt x="2737778" y="580382"/>
                  </a:lnTo>
                  <a:lnTo>
                    <a:pt x="2746247" y="538480"/>
                  </a:lnTo>
                  <a:lnTo>
                    <a:pt x="2746247" y="107695"/>
                  </a:lnTo>
                  <a:lnTo>
                    <a:pt x="2737778" y="65793"/>
                  </a:lnTo>
                  <a:lnTo>
                    <a:pt x="2714688" y="31559"/>
                  </a:lnTo>
                  <a:lnTo>
                    <a:pt x="2680454" y="8469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8680" y="6457188"/>
              <a:ext cx="2746375" cy="646430"/>
            </a:xfrm>
            <a:custGeom>
              <a:avLst/>
              <a:gdLst/>
              <a:ahLst/>
              <a:cxnLst/>
              <a:rect l="l" t="t" r="r" b="b"/>
              <a:pathLst>
                <a:path w="2746375" h="646429">
                  <a:moveTo>
                    <a:pt x="0" y="107695"/>
                  </a:moveTo>
                  <a:lnTo>
                    <a:pt x="8463" y="65793"/>
                  </a:lnTo>
                  <a:lnTo>
                    <a:pt x="31545" y="31559"/>
                  </a:lnTo>
                  <a:lnTo>
                    <a:pt x="65777" y="8469"/>
                  </a:lnTo>
                  <a:lnTo>
                    <a:pt x="107695" y="0"/>
                  </a:lnTo>
                  <a:lnTo>
                    <a:pt x="2638552" y="0"/>
                  </a:lnTo>
                  <a:lnTo>
                    <a:pt x="2680454" y="8469"/>
                  </a:lnTo>
                  <a:lnTo>
                    <a:pt x="2714688" y="31559"/>
                  </a:lnTo>
                  <a:lnTo>
                    <a:pt x="2737778" y="65793"/>
                  </a:lnTo>
                  <a:lnTo>
                    <a:pt x="2746247" y="107695"/>
                  </a:lnTo>
                  <a:lnTo>
                    <a:pt x="2746247" y="538480"/>
                  </a:lnTo>
                  <a:lnTo>
                    <a:pt x="2737778" y="580382"/>
                  </a:lnTo>
                  <a:lnTo>
                    <a:pt x="2714688" y="614616"/>
                  </a:lnTo>
                  <a:lnTo>
                    <a:pt x="2680454" y="637706"/>
                  </a:lnTo>
                  <a:lnTo>
                    <a:pt x="2638552" y="646176"/>
                  </a:lnTo>
                  <a:lnTo>
                    <a:pt x="107695" y="646176"/>
                  </a:lnTo>
                  <a:lnTo>
                    <a:pt x="65777" y="637706"/>
                  </a:lnTo>
                  <a:lnTo>
                    <a:pt x="31545" y="614616"/>
                  </a:lnTo>
                  <a:lnTo>
                    <a:pt x="8463" y="580382"/>
                  </a:lnTo>
                  <a:lnTo>
                    <a:pt x="0" y="538480"/>
                  </a:lnTo>
                  <a:lnTo>
                    <a:pt x="0" y="107695"/>
                  </a:lnTo>
                  <a:close/>
                </a:path>
              </a:pathLst>
            </a:custGeom>
            <a:ln w="12192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33500" y="6555105"/>
            <a:ext cx="1828164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Digitalizzazione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62330" y="7753857"/>
            <a:ext cx="2759075" cy="655955"/>
            <a:chOff x="862330" y="7753857"/>
            <a:chExt cx="2759075" cy="655955"/>
          </a:xfrm>
        </p:grpSpPr>
        <p:sp>
          <p:nvSpPr>
            <p:cNvPr id="24" name="object 24"/>
            <p:cNvSpPr/>
            <p:nvPr/>
          </p:nvSpPr>
          <p:spPr>
            <a:xfrm>
              <a:off x="868680" y="7760207"/>
              <a:ext cx="2746375" cy="643255"/>
            </a:xfrm>
            <a:custGeom>
              <a:avLst/>
              <a:gdLst/>
              <a:ahLst/>
              <a:cxnLst/>
              <a:rect l="l" t="t" r="r" b="b"/>
              <a:pathLst>
                <a:path w="2746375" h="643254">
                  <a:moveTo>
                    <a:pt x="2639060" y="0"/>
                  </a:moveTo>
                  <a:lnTo>
                    <a:pt x="107187" y="0"/>
                  </a:lnTo>
                  <a:lnTo>
                    <a:pt x="65467" y="8425"/>
                  </a:lnTo>
                  <a:lnTo>
                    <a:pt x="31395" y="31400"/>
                  </a:lnTo>
                  <a:lnTo>
                    <a:pt x="8423" y="65472"/>
                  </a:lnTo>
                  <a:lnTo>
                    <a:pt x="0" y="107188"/>
                  </a:lnTo>
                  <a:lnTo>
                    <a:pt x="0" y="535940"/>
                  </a:lnTo>
                  <a:lnTo>
                    <a:pt x="8423" y="577655"/>
                  </a:lnTo>
                  <a:lnTo>
                    <a:pt x="31395" y="611727"/>
                  </a:lnTo>
                  <a:lnTo>
                    <a:pt x="65467" y="634702"/>
                  </a:lnTo>
                  <a:lnTo>
                    <a:pt x="107187" y="643128"/>
                  </a:lnTo>
                  <a:lnTo>
                    <a:pt x="2639060" y="643128"/>
                  </a:lnTo>
                  <a:lnTo>
                    <a:pt x="2680775" y="634702"/>
                  </a:lnTo>
                  <a:lnTo>
                    <a:pt x="2714847" y="611727"/>
                  </a:lnTo>
                  <a:lnTo>
                    <a:pt x="2737822" y="577655"/>
                  </a:lnTo>
                  <a:lnTo>
                    <a:pt x="2746247" y="535940"/>
                  </a:lnTo>
                  <a:lnTo>
                    <a:pt x="2746247" y="107188"/>
                  </a:lnTo>
                  <a:lnTo>
                    <a:pt x="2737822" y="65472"/>
                  </a:lnTo>
                  <a:lnTo>
                    <a:pt x="2714847" y="31400"/>
                  </a:lnTo>
                  <a:lnTo>
                    <a:pt x="2680775" y="8425"/>
                  </a:lnTo>
                  <a:lnTo>
                    <a:pt x="263906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8680" y="7760207"/>
              <a:ext cx="2746375" cy="643255"/>
            </a:xfrm>
            <a:custGeom>
              <a:avLst/>
              <a:gdLst/>
              <a:ahLst/>
              <a:cxnLst/>
              <a:rect l="l" t="t" r="r" b="b"/>
              <a:pathLst>
                <a:path w="2746375" h="643254">
                  <a:moveTo>
                    <a:pt x="0" y="107188"/>
                  </a:moveTo>
                  <a:lnTo>
                    <a:pt x="8423" y="65472"/>
                  </a:lnTo>
                  <a:lnTo>
                    <a:pt x="31395" y="31400"/>
                  </a:lnTo>
                  <a:lnTo>
                    <a:pt x="65467" y="8425"/>
                  </a:lnTo>
                  <a:lnTo>
                    <a:pt x="107187" y="0"/>
                  </a:lnTo>
                  <a:lnTo>
                    <a:pt x="2639060" y="0"/>
                  </a:lnTo>
                  <a:lnTo>
                    <a:pt x="2680775" y="8425"/>
                  </a:lnTo>
                  <a:lnTo>
                    <a:pt x="2714847" y="31400"/>
                  </a:lnTo>
                  <a:lnTo>
                    <a:pt x="2737822" y="65472"/>
                  </a:lnTo>
                  <a:lnTo>
                    <a:pt x="2746247" y="107188"/>
                  </a:lnTo>
                  <a:lnTo>
                    <a:pt x="2746247" y="535940"/>
                  </a:lnTo>
                  <a:lnTo>
                    <a:pt x="2737822" y="577655"/>
                  </a:lnTo>
                  <a:lnTo>
                    <a:pt x="2714847" y="611727"/>
                  </a:lnTo>
                  <a:lnTo>
                    <a:pt x="2680775" y="634702"/>
                  </a:lnTo>
                  <a:lnTo>
                    <a:pt x="2639060" y="643128"/>
                  </a:lnTo>
                  <a:lnTo>
                    <a:pt x="107187" y="643128"/>
                  </a:lnTo>
                  <a:lnTo>
                    <a:pt x="65467" y="634702"/>
                  </a:lnTo>
                  <a:lnTo>
                    <a:pt x="31395" y="611727"/>
                  </a:lnTo>
                  <a:lnTo>
                    <a:pt x="8423" y="577655"/>
                  </a:lnTo>
                  <a:lnTo>
                    <a:pt x="0" y="535940"/>
                  </a:lnTo>
                  <a:lnTo>
                    <a:pt x="0" y="107188"/>
                  </a:lnTo>
                  <a:close/>
                </a:path>
              </a:pathLst>
            </a:custGeom>
            <a:ln w="12192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44549" y="7704582"/>
            <a:ext cx="2407285" cy="6781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714375" marR="5080" indent="-715010">
              <a:lnSpc>
                <a:spcPts val="2400"/>
              </a:lnSpc>
              <a:spcBef>
                <a:spcPts val="459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Riorganizzazione</a:t>
            </a:r>
            <a:r>
              <a:rPr sz="2250" spc="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25" dirty="0">
                <a:solidFill>
                  <a:srgbClr val="333399"/>
                </a:solidFill>
                <a:latin typeface="Calibri"/>
                <a:cs typeface="Calibri"/>
              </a:rPr>
              <a:t>dei </a:t>
            </a: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processi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729218" y="6450838"/>
            <a:ext cx="2757805" cy="659130"/>
            <a:chOff x="8729218" y="6450838"/>
            <a:chExt cx="2757805" cy="659130"/>
          </a:xfrm>
        </p:grpSpPr>
        <p:sp>
          <p:nvSpPr>
            <p:cNvPr id="28" name="object 28"/>
            <p:cNvSpPr/>
            <p:nvPr/>
          </p:nvSpPr>
          <p:spPr>
            <a:xfrm>
              <a:off x="8735568" y="6457188"/>
              <a:ext cx="2745105" cy="646430"/>
            </a:xfrm>
            <a:custGeom>
              <a:avLst/>
              <a:gdLst/>
              <a:ahLst/>
              <a:cxnLst/>
              <a:rect l="l" t="t" r="r" b="b"/>
              <a:pathLst>
                <a:path w="2745104" h="646429">
                  <a:moveTo>
                    <a:pt x="2637028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5"/>
                  </a:lnTo>
                  <a:lnTo>
                    <a:pt x="0" y="538480"/>
                  </a:lnTo>
                  <a:lnTo>
                    <a:pt x="8469" y="580382"/>
                  </a:lnTo>
                  <a:lnTo>
                    <a:pt x="31559" y="614616"/>
                  </a:lnTo>
                  <a:lnTo>
                    <a:pt x="65793" y="637706"/>
                  </a:lnTo>
                  <a:lnTo>
                    <a:pt x="107696" y="646176"/>
                  </a:lnTo>
                  <a:lnTo>
                    <a:pt x="2637028" y="646176"/>
                  </a:lnTo>
                  <a:lnTo>
                    <a:pt x="2678930" y="637706"/>
                  </a:lnTo>
                  <a:lnTo>
                    <a:pt x="2713164" y="614616"/>
                  </a:lnTo>
                  <a:lnTo>
                    <a:pt x="2736254" y="580382"/>
                  </a:lnTo>
                  <a:lnTo>
                    <a:pt x="2744724" y="538480"/>
                  </a:lnTo>
                  <a:lnTo>
                    <a:pt x="2744724" y="107695"/>
                  </a:lnTo>
                  <a:lnTo>
                    <a:pt x="2736254" y="65793"/>
                  </a:lnTo>
                  <a:lnTo>
                    <a:pt x="2713164" y="31559"/>
                  </a:lnTo>
                  <a:lnTo>
                    <a:pt x="2678930" y="8469"/>
                  </a:lnTo>
                  <a:lnTo>
                    <a:pt x="263702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35568" y="6457188"/>
              <a:ext cx="2745105" cy="646430"/>
            </a:xfrm>
            <a:custGeom>
              <a:avLst/>
              <a:gdLst/>
              <a:ahLst/>
              <a:cxnLst/>
              <a:rect l="l" t="t" r="r" b="b"/>
              <a:pathLst>
                <a:path w="2745104" h="646429">
                  <a:moveTo>
                    <a:pt x="0" y="107695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2637028" y="0"/>
                  </a:lnTo>
                  <a:lnTo>
                    <a:pt x="2678930" y="8469"/>
                  </a:lnTo>
                  <a:lnTo>
                    <a:pt x="2713164" y="31559"/>
                  </a:lnTo>
                  <a:lnTo>
                    <a:pt x="2736254" y="65793"/>
                  </a:lnTo>
                  <a:lnTo>
                    <a:pt x="2744724" y="107695"/>
                  </a:lnTo>
                  <a:lnTo>
                    <a:pt x="2744724" y="538480"/>
                  </a:lnTo>
                  <a:lnTo>
                    <a:pt x="2736254" y="580382"/>
                  </a:lnTo>
                  <a:lnTo>
                    <a:pt x="2713164" y="614616"/>
                  </a:lnTo>
                  <a:lnTo>
                    <a:pt x="2678930" y="637706"/>
                  </a:lnTo>
                  <a:lnTo>
                    <a:pt x="2637028" y="646176"/>
                  </a:lnTo>
                  <a:lnTo>
                    <a:pt x="107696" y="646176"/>
                  </a:lnTo>
                  <a:lnTo>
                    <a:pt x="65793" y="637706"/>
                  </a:lnTo>
                  <a:lnTo>
                    <a:pt x="31559" y="614616"/>
                  </a:lnTo>
                  <a:lnTo>
                    <a:pt x="8469" y="580382"/>
                  </a:lnTo>
                  <a:lnTo>
                    <a:pt x="0" y="538480"/>
                  </a:lnTo>
                  <a:lnTo>
                    <a:pt x="0" y="107695"/>
                  </a:lnTo>
                  <a:close/>
                </a:path>
              </a:pathLst>
            </a:custGeom>
            <a:ln w="12192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281159" y="6402704"/>
            <a:ext cx="1670685" cy="6781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5080" indent="20955">
              <a:lnSpc>
                <a:spcPts val="2400"/>
              </a:lnSpc>
              <a:spcBef>
                <a:spcPts val="459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Assunzione</a:t>
            </a:r>
            <a:r>
              <a:rPr sz="2250" spc="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25" dirty="0">
                <a:solidFill>
                  <a:srgbClr val="333399"/>
                </a:solidFill>
                <a:latin typeface="Calibri"/>
                <a:cs typeface="Calibri"/>
              </a:rPr>
              <a:t>di </a:t>
            </a: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responsabilità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729218" y="7753857"/>
            <a:ext cx="2757805" cy="655955"/>
            <a:chOff x="8729218" y="7753857"/>
            <a:chExt cx="2757805" cy="655955"/>
          </a:xfrm>
        </p:grpSpPr>
        <p:sp>
          <p:nvSpPr>
            <p:cNvPr id="32" name="object 32"/>
            <p:cNvSpPr/>
            <p:nvPr/>
          </p:nvSpPr>
          <p:spPr>
            <a:xfrm>
              <a:off x="8735568" y="7760207"/>
              <a:ext cx="2745105" cy="643255"/>
            </a:xfrm>
            <a:custGeom>
              <a:avLst/>
              <a:gdLst/>
              <a:ahLst/>
              <a:cxnLst/>
              <a:rect l="l" t="t" r="r" b="b"/>
              <a:pathLst>
                <a:path w="2745104" h="643254">
                  <a:moveTo>
                    <a:pt x="2637535" y="0"/>
                  </a:moveTo>
                  <a:lnTo>
                    <a:pt x="107187" y="0"/>
                  </a:lnTo>
                  <a:lnTo>
                    <a:pt x="65472" y="8425"/>
                  </a:lnTo>
                  <a:lnTo>
                    <a:pt x="31400" y="31400"/>
                  </a:lnTo>
                  <a:lnTo>
                    <a:pt x="8425" y="65472"/>
                  </a:lnTo>
                  <a:lnTo>
                    <a:pt x="0" y="107188"/>
                  </a:lnTo>
                  <a:lnTo>
                    <a:pt x="0" y="535940"/>
                  </a:lnTo>
                  <a:lnTo>
                    <a:pt x="8425" y="577655"/>
                  </a:lnTo>
                  <a:lnTo>
                    <a:pt x="31400" y="611727"/>
                  </a:lnTo>
                  <a:lnTo>
                    <a:pt x="65472" y="634702"/>
                  </a:lnTo>
                  <a:lnTo>
                    <a:pt x="107187" y="643128"/>
                  </a:lnTo>
                  <a:lnTo>
                    <a:pt x="2637535" y="643128"/>
                  </a:lnTo>
                  <a:lnTo>
                    <a:pt x="2679251" y="634702"/>
                  </a:lnTo>
                  <a:lnTo>
                    <a:pt x="2713323" y="611727"/>
                  </a:lnTo>
                  <a:lnTo>
                    <a:pt x="2736298" y="577655"/>
                  </a:lnTo>
                  <a:lnTo>
                    <a:pt x="2744724" y="535940"/>
                  </a:lnTo>
                  <a:lnTo>
                    <a:pt x="2744724" y="107188"/>
                  </a:lnTo>
                  <a:lnTo>
                    <a:pt x="2736298" y="65472"/>
                  </a:lnTo>
                  <a:lnTo>
                    <a:pt x="2713323" y="31400"/>
                  </a:lnTo>
                  <a:lnTo>
                    <a:pt x="2679251" y="8425"/>
                  </a:lnTo>
                  <a:lnTo>
                    <a:pt x="263753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35568" y="7760207"/>
              <a:ext cx="2745105" cy="643255"/>
            </a:xfrm>
            <a:custGeom>
              <a:avLst/>
              <a:gdLst/>
              <a:ahLst/>
              <a:cxnLst/>
              <a:rect l="l" t="t" r="r" b="b"/>
              <a:pathLst>
                <a:path w="2745104" h="643254">
                  <a:moveTo>
                    <a:pt x="0" y="107188"/>
                  </a:moveTo>
                  <a:lnTo>
                    <a:pt x="8425" y="65472"/>
                  </a:lnTo>
                  <a:lnTo>
                    <a:pt x="31400" y="31400"/>
                  </a:lnTo>
                  <a:lnTo>
                    <a:pt x="65472" y="8425"/>
                  </a:lnTo>
                  <a:lnTo>
                    <a:pt x="107187" y="0"/>
                  </a:lnTo>
                  <a:lnTo>
                    <a:pt x="2637535" y="0"/>
                  </a:lnTo>
                  <a:lnTo>
                    <a:pt x="2679251" y="8425"/>
                  </a:lnTo>
                  <a:lnTo>
                    <a:pt x="2713323" y="31400"/>
                  </a:lnTo>
                  <a:lnTo>
                    <a:pt x="2736298" y="65472"/>
                  </a:lnTo>
                  <a:lnTo>
                    <a:pt x="2744724" y="107188"/>
                  </a:lnTo>
                  <a:lnTo>
                    <a:pt x="2744724" y="535940"/>
                  </a:lnTo>
                  <a:lnTo>
                    <a:pt x="2736298" y="577655"/>
                  </a:lnTo>
                  <a:lnTo>
                    <a:pt x="2713323" y="611727"/>
                  </a:lnTo>
                  <a:lnTo>
                    <a:pt x="2679251" y="634702"/>
                  </a:lnTo>
                  <a:lnTo>
                    <a:pt x="2637535" y="643128"/>
                  </a:lnTo>
                  <a:lnTo>
                    <a:pt x="107187" y="643128"/>
                  </a:lnTo>
                  <a:lnTo>
                    <a:pt x="65472" y="634702"/>
                  </a:lnTo>
                  <a:lnTo>
                    <a:pt x="31400" y="611727"/>
                  </a:lnTo>
                  <a:lnTo>
                    <a:pt x="8425" y="577655"/>
                  </a:lnTo>
                  <a:lnTo>
                    <a:pt x="0" y="535940"/>
                  </a:lnTo>
                  <a:lnTo>
                    <a:pt x="0" y="107188"/>
                  </a:lnTo>
                  <a:close/>
                </a:path>
              </a:pathLst>
            </a:custGeom>
            <a:ln w="12192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130918" y="7704582"/>
            <a:ext cx="1969135" cy="6781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37820" marR="5080" indent="-338455">
              <a:lnSpc>
                <a:spcPts val="2400"/>
              </a:lnSpc>
              <a:spcBef>
                <a:spcPts val="459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Uso</a:t>
            </a:r>
            <a:r>
              <a:rPr sz="22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di</a:t>
            </a:r>
            <a:r>
              <a:rPr sz="22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strumenti tecnologici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795773" y="6088126"/>
            <a:ext cx="2759075" cy="655955"/>
            <a:chOff x="4795773" y="6088126"/>
            <a:chExt cx="2759075" cy="655955"/>
          </a:xfrm>
        </p:grpSpPr>
        <p:sp>
          <p:nvSpPr>
            <p:cNvPr id="36" name="object 36"/>
            <p:cNvSpPr/>
            <p:nvPr/>
          </p:nvSpPr>
          <p:spPr>
            <a:xfrm>
              <a:off x="4802123" y="6094476"/>
              <a:ext cx="2746375" cy="643255"/>
            </a:xfrm>
            <a:custGeom>
              <a:avLst/>
              <a:gdLst/>
              <a:ahLst/>
              <a:cxnLst/>
              <a:rect l="l" t="t" r="r" b="b"/>
              <a:pathLst>
                <a:path w="2746375" h="643254">
                  <a:moveTo>
                    <a:pt x="2639059" y="0"/>
                  </a:moveTo>
                  <a:lnTo>
                    <a:pt x="107187" y="0"/>
                  </a:lnTo>
                  <a:lnTo>
                    <a:pt x="65472" y="8425"/>
                  </a:lnTo>
                  <a:lnTo>
                    <a:pt x="31400" y="31400"/>
                  </a:lnTo>
                  <a:lnTo>
                    <a:pt x="8425" y="65472"/>
                  </a:lnTo>
                  <a:lnTo>
                    <a:pt x="0" y="107187"/>
                  </a:lnTo>
                  <a:lnTo>
                    <a:pt x="0" y="535940"/>
                  </a:lnTo>
                  <a:lnTo>
                    <a:pt x="8425" y="577655"/>
                  </a:lnTo>
                  <a:lnTo>
                    <a:pt x="31400" y="611727"/>
                  </a:lnTo>
                  <a:lnTo>
                    <a:pt x="65472" y="634702"/>
                  </a:lnTo>
                  <a:lnTo>
                    <a:pt x="107187" y="643128"/>
                  </a:lnTo>
                  <a:lnTo>
                    <a:pt x="2639059" y="643128"/>
                  </a:lnTo>
                  <a:lnTo>
                    <a:pt x="2680775" y="634702"/>
                  </a:lnTo>
                  <a:lnTo>
                    <a:pt x="2714847" y="611727"/>
                  </a:lnTo>
                  <a:lnTo>
                    <a:pt x="2737822" y="577655"/>
                  </a:lnTo>
                  <a:lnTo>
                    <a:pt x="2746248" y="535940"/>
                  </a:lnTo>
                  <a:lnTo>
                    <a:pt x="2746248" y="107187"/>
                  </a:lnTo>
                  <a:lnTo>
                    <a:pt x="2737822" y="65472"/>
                  </a:lnTo>
                  <a:lnTo>
                    <a:pt x="2714847" y="31400"/>
                  </a:lnTo>
                  <a:lnTo>
                    <a:pt x="2680775" y="8425"/>
                  </a:lnTo>
                  <a:lnTo>
                    <a:pt x="263905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02123" y="6094476"/>
              <a:ext cx="2746375" cy="643255"/>
            </a:xfrm>
            <a:custGeom>
              <a:avLst/>
              <a:gdLst/>
              <a:ahLst/>
              <a:cxnLst/>
              <a:rect l="l" t="t" r="r" b="b"/>
              <a:pathLst>
                <a:path w="2746375" h="643254">
                  <a:moveTo>
                    <a:pt x="0" y="107187"/>
                  </a:moveTo>
                  <a:lnTo>
                    <a:pt x="8425" y="65472"/>
                  </a:lnTo>
                  <a:lnTo>
                    <a:pt x="31400" y="31400"/>
                  </a:lnTo>
                  <a:lnTo>
                    <a:pt x="65472" y="8425"/>
                  </a:lnTo>
                  <a:lnTo>
                    <a:pt x="107187" y="0"/>
                  </a:lnTo>
                  <a:lnTo>
                    <a:pt x="2639059" y="0"/>
                  </a:lnTo>
                  <a:lnTo>
                    <a:pt x="2680775" y="8425"/>
                  </a:lnTo>
                  <a:lnTo>
                    <a:pt x="2714847" y="31400"/>
                  </a:lnTo>
                  <a:lnTo>
                    <a:pt x="2737822" y="65472"/>
                  </a:lnTo>
                  <a:lnTo>
                    <a:pt x="2746248" y="107187"/>
                  </a:lnTo>
                  <a:lnTo>
                    <a:pt x="2746248" y="535940"/>
                  </a:lnTo>
                  <a:lnTo>
                    <a:pt x="2737822" y="577655"/>
                  </a:lnTo>
                  <a:lnTo>
                    <a:pt x="2714847" y="611727"/>
                  </a:lnTo>
                  <a:lnTo>
                    <a:pt x="2680775" y="634702"/>
                  </a:lnTo>
                  <a:lnTo>
                    <a:pt x="2639059" y="643128"/>
                  </a:lnTo>
                  <a:lnTo>
                    <a:pt x="107187" y="643128"/>
                  </a:lnTo>
                  <a:lnTo>
                    <a:pt x="65472" y="634702"/>
                  </a:lnTo>
                  <a:lnTo>
                    <a:pt x="31400" y="611727"/>
                  </a:lnTo>
                  <a:lnTo>
                    <a:pt x="8425" y="577655"/>
                  </a:lnTo>
                  <a:lnTo>
                    <a:pt x="0" y="535940"/>
                  </a:lnTo>
                  <a:lnTo>
                    <a:pt x="0" y="107187"/>
                  </a:lnTo>
                  <a:close/>
                </a:path>
              </a:pathLst>
            </a:custGeom>
            <a:ln w="12192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40503" y="6038215"/>
            <a:ext cx="2280920" cy="6781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52145" marR="5080" indent="-652780">
              <a:lnSpc>
                <a:spcPts val="2400"/>
              </a:lnSpc>
              <a:spcBef>
                <a:spcPts val="459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Semplificazione</a:t>
            </a:r>
            <a:r>
              <a:rPr sz="2250" spc="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25" dirty="0">
                <a:solidFill>
                  <a:srgbClr val="333399"/>
                </a:solidFill>
                <a:latin typeface="Calibri"/>
                <a:cs typeface="Calibri"/>
              </a:rPr>
              <a:t>dei </a:t>
            </a: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processi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796028" y="8116823"/>
            <a:ext cx="2758440" cy="658495"/>
            <a:chOff x="4796028" y="8116823"/>
            <a:chExt cx="2758440" cy="658495"/>
          </a:xfrm>
        </p:grpSpPr>
        <p:sp>
          <p:nvSpPr>
            <p:cNvPr id="40" name="object 40"/>
            <p:cNvSpPr/>
            <p:nvPr/>
          </p:nvSpPr>
          <p:spPr>
            <a:xfrm>
              <a:off x="4802124" y="8122919"/>
              <a:ext cx="2746375" cy="646430"/>
            </a:xfrm>
            <a:custGeom>
              <a:avLst/>
              <a:gdLst/>
              <a:ahLst/>
              <a:cxnLst/>
              <a:rect l="l" t="t" r="r" b="b"/>
              <a:pathLst>
                <a:path w="2746375" h="646429">
                  <a:moveTo>
                    <a:pt x="2638552" y="0"/>
                  </a:moveTo>
                  <a:lnTo>
                    <a:pt x="107696" y="0"/>
                  </a:lnTo>
                  <a:lnTo>
                    <a:pt x="65793" y="8469"/>
                  </a:lnTo>
                  <a:lnTo>
                    <a:pt x="31559" y="31559"/>
                  </a:lnTo>
                  <a:lnTo>
                    <a:pt x="8469" y="65793"/>
                  </a:lnTo>
                  <a:lnTo>
                    <a:pt x="0" y="107695"/>
                  </a:lnTo>
                  <a:lnTo>
                    <a:pt x="0" y="538479"/>
                  </a:lnTo>
                  <a:lnTo>
                    <a:pt x="8469" y="580398"/>
                  </a:lnTo>
                  <a:lnTo>
                    <a:pt x="31559" y="614630"/>
                  </a:lnTo>
                  <a:lnTo>
                    <a:pt x="65793" y="637712"/>
                  </a:lnTo>
                  <a:lnTo>
                    <a:pt x="107696" y="646175"/>
                  </a:lnTo>
                  <a:lnTo>
                    <a:pt x="2638552" y="646175"/>
                  </a:lnTo>
                  <a:lnTo>
                    <a:pt x="2680454" y="637712"/>
                  </a:lnTo>
                  <a:lnTo>
                    <a:pt x="2714688" y="614630"/>
                  </a:lnTo>
                  <a:lnTo>
                    <a:pt x="2737778" y="580398"/>
                  </a:lnTo>
                  <a:lnTo>
                    <a:pt x="2746248" y="538479"/>
                  </a:lnTo>
                  <a:lnTo>
                    <a:pt x="2746248" y="107695"/>
                  </a:lnTo>
                  <a:lnTo>
                    <a:pt x="2737778" y="65793"/>
                  </a:lnTo>
                  <a:lnTo>
                    <a:pt x="2714688" y="31559"/>
                  </a:lnTo>
                  <a:lnTo>
                    <a:pt x="2680454" y="8469"/>
                  </a:lnTo>
                  <a:lnTo>
                    <a:pt x="263855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02124" y="8122919"/>
              <a:ext cx="2746375" cy="646430"/>
            </a:xfrm>
            <a:custGeom>
              <a:avLst/>
              <a:gdLst/>
              <a:ahLst/>
              <a:cxnLst/>
              <a:rect l="l" t="t" r="r" b="b"/>
              <a:pathLst>
                <a:path w="2746375" h="646429">
                  <a:moveTo>
                    <a:pt x="0" y="107695"/>
                  </a:moveTo>
                  <a:lnTo>
                    <a:pt x="8469" y="65793"/>
                  </a:lnTo>
                  <a:lnTo>
                    <a:pt x="31559" y="31559"/>
                  </a:lnTo>
                  <a:lnTo>
                    <a:pt x="65793" y="8469"/>
                  </a:lnTo>
                  <a:lnTo>
                    <a:pt x="107696" y="0"/>
                  </a:lnTo>
                  <a:lnTo>
                    <a:pt x="2638552" y="0"/>
                  </a:lnTo>
                  <a:lnTo>
                    <a:pt x="2680454" y="8469"/>
                  </a:lnTo>
                  <a:lnTo>
                    <a:pt x="2714688" y="31559"/>
                  </a:lnTo>
                  <a:lnTo>
                    <a:pt x="2737778" y="65793"/>
                  </a:lnTo>
                  <a:lnTo>
                    <a:pt x="2746248" y="107695"/>
                  </a:lnTo>
                  <a:lnTo>
                    <a:pt x="2746248" y="538479"/>
                  </a:lnTo>
                  <a:lnTo>
                    <a:pt x="2737778" y="580398"/>
                  </a:lnTo>
                  <a:lnTo>
                    <a:pt x="2714688" y="614630"/>
                  </a:lnTo>
                  <a:lnTo>
                    <a:pt x="2680454" y="637712"/>
                  </a:lnTo>
                  <a:lnTo>
                    <a:pt x="2638552" y="646175"/>
                  </a:lnTo>
                  <a:lnTo>
                    <a:pt x="107696" y="646175"/>
                  </a:lnTo>
                  <a:lnTo>
                    <a:pt x="65793" y="637712"/>
                  </a:lnTo>
                  <a:lnTo>
                    <a:pt x="31559" y="614630"/>
                  </a:lnTo>
                  <a:lnTo>
                    <a:pt x="8469" y="580398"/>
                  </a:lnTo>
                  <a:lnTo>
                    <a:pt x="0" y="538479"/>
                  </a:lnTo>
                  <a:lnTo>
                    <a:pt x="0" y="107695"/>
                  </a:lnTo>
                  <a:close/>
                </a:path>
              </a:pathLst>
            </a:custGeom>
            <a:ln w="12192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457444" y="8221776"/>
            <a:ext cx="144716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Trasparenza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54508" y="1290827"/>
            <a:ext cx="7635240" cy="2024380"/>
            <a:chOff x="254508" y="1290827"/>
            <a:chExt cx="7635240" cy="2024380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508" y="1290827"/>
              <a:ext cx="1485900" cy="202387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439036" y="1395983"/>
              <a:ext cx="6444615" cy="460375"/>
            </a:xfrm>
            <a:custGeom>
              <a:avLst/>
              <a:gdLst/>
              <a:ahLst/>
              <a:cxnLst/>
              <a:rect l="l" t="t" r="r" b="b"/>
              <a:pathLst>
                <a:path w="6444615" h="460375">
                  <a:moveTo>
                    <a:pt x="6444615" y="0"/>
                  </a:moveTo>
                  <a:lnTo>
                    <a:pt x="455294" y="0"/>
                  </a:lnTo>
                  <a:lnTo>
                    <a:pt x="455294" y="268477"/>
                  </a:lnTo>
                  <a:lnTo>
                    <a:pt x="0" y="458724"/>
                  </a:lnTo>
                  <a:lnTo>
                    <a:pt x="455294" y="383540"/>
                  </a:lnTo>
                  <a:lnTo>
                    <a:pt x="455294" y="460248"/>
                  </a:lnTo>
                  <a:lnTo>
                    <a:pt x="6444615" y="460248"/>
                  </a:lnTo>
                  <a:lnTo>
                    <a:pt x="644461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39036" y="1395983"/>
              <a:ext cx="6444615" cy="460375"/>
            </a:xfrm>
            <a:custGeom>
              <a:avLst/>
              <a:gdLst/>
              <a:ahLst/>
              <a:cxnLst/>
              <a:rect l="l" t="t" r="r" b="b"/>
              <a:pathLst>
                <a:path w="6444615" h="460375">
                  <a:moveTo>
                    <a:pt x="455294" y="0"/>
                  </a:moveTo>
                  <a:lnTo>
                    <a:pt x="1453514" y="0"/>
                  </a:lnTo>
                  <a:lnTo>
                    <a:pt x="2950845" y="0"/>
                  </a:lnTo>
                  <a:lnTo>
                    <a:pt x="6444615" y="0"/>
                  </a:lnTo>
                  <a:lnTo>
                    <a:pt x="6444615" y="268477"/>
                  </a:lnTo>
                  <a:lnTo>
                    <a:pt x="6444615" y="383540"/>
                  </a:lnTo>
                  <a:lnTo>
                    <a:pt x="6444615" y="460248"/>
                  </a:lnTo>
                  <a:lnTo>
                    <a:pt x="2950845" y="460248"/>
                  </a:lnTo>
                  <a:lnTo>
                    <a:pt x="1453514" y="460248"/>
                  </a:lnTo>
                  <a:lnTo>
                    <a:pt x="455294" y="460248"/>
                  </a:lnTo>
                  <a:lnTo>
                    <a:pt x="455294" y="383540"/>
                  </a:lnTo>
                  <a:lnTo>
                    <a:pt x="0" y="458724"/>
                  </a:lnTo>
                  <a:lnTo>
                    <a:pt x="455294" y="268477"/>
                  </a:lnTo>
                  <a:lnTo>
                    <a:pt x="455294" y="0"/>
                  </a:lnTo>
                  <a:close/>
                </a:path>
              </a:pathLst>
            </a:custGeom>
            <a:ln w="12192">
              <a:solidFill>
                <a:srgbClr val="0147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34564" y="1430527"/>
            <a:ext cx="530796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Cosa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2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intende</a:t>
            </a:r>
            <a:r>
              <a:rPr sz="225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25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dematerializzazione?</a:t>
            </a:r>
            <a:endParaRPr sz="225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9845" y="103123"/>
            <a:ext cx="442849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-57658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La</a:t>
            </a:r>
            <a:r>
              <a:rPr sz="3200" spc="-25" dirty="0"/>
              <a:t> </a:t>
            </a:r>
            <a:r>
              <a:rPr sz="3200" spc="-10" dirty="0"/>
              <a:t>dematerializzazione </a:t>
            </a:r>
            <a:r>
              <a:rPr sz="3200" dirty="0"/>
              <a:t>Principali</a:t>
            </a:r>
            <a:r>
              <a:rPr sz="3200" spc="-50" dirty="0"/>
              <a:t> </a:t>
            </a:r>
            <a:r>
              <a:rPr sz="3200" spc="-10" dirty="0"/>
              <a:t>finalità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1990" y="2545842"/>
            <a:ext cx="115912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400" spc="12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dematerializzazione</a:t>
            </a:r>
            <a:r>
              <a:rPr sz="2400" spc="13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si</a:t>
            </a:r>
            <a:r>
              <a:rPr sz="2400" spc="12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pone</a:t>
            </a:r>
            <a:r>
              <a:rPr sz="2400" spc="13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come</a:t>
            </a:r>
            <a:r>
              <a:rPr sz="2400" spc="13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qualificante</a:t>
            </a:r>
            <a:r>
              <a:rPr sz="2400" spc="13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strumento</a:t>
            </a:r>
            <a:r>
              <a:rPr sz="2400" spc="13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13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efficienza</a:t>
            </a:r>
            <a:r>
              <a:rPr sz="2400" spc="12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13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trasparenza</a:t>
            </a:r>
            <a:r>
              <a:rPr sz="2400" spc="3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dell’Ente,</a:t>
            </a:r>
            <a:r>
              <a:rPr sz="2400" spc="4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consentendo</a:t>
            </a:r>
            <a:r>
              <a:rPr sz="2400" spc="3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allo</a:t>
            </a:r>
            <a:r>
              <a:rPr sz="2400" spc="3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stesso</a:t>
            </a:r>
            <a:r>
              <a:rPr sz="2400" spc="3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tempo</a:t>
            </a:r>
            <a:r>
              <a:rPr sz="2400" spc="3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3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perseguire</a:t>
            </a:r>
            <a:r>
              <a:rPr sz="2400" spc="3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due</a:t>
            </a:r>
            <a:r>
              <a:rPr sz="2400" spc="3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importanti finalità: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5962" y="4433296"/>
            <a:ext cx="11916410" cy="3522345"/>
            <a:chOff x="505962" y="4433296"/>
            <a:chExt cx="11916410" cy="35223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962" y="4433296"/>
              <a:ext cx="11916167" cy="35220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5780" y="4453128"/>
              <a:ext cx="11826240" cy="3432175"/>
            </a:xfrm>
            <a:custGeom>
              <a:avLst/>
              <a:gdLst/>
              <a:ahLst/>
              <a:cxnLst/>
              <a:rect l="l" t="t" r="r" b="b"/>
              <a:pathLst>
                <a:path w="11826240" h="3432175">
                  <a:moveTo>
                    <a:pt x="11826240" y="0"/>
                  </a:moveTo>
                  <a:lnTo>
                    <a:pt x="0" y="0"/>
                  </a:lnTo>
                  <a:lnTo>
                    <a:pt x="0" y="3432048"/>
                  </a:lnTo>
                  <a:lnTo>
                    <a:pt x="11826240" y="3432048"/>
                  </a:lnTo>
                  <a:lnTo>
                    <a:pt x="11826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5780" y="4453128"/>
              <a:ext cx="11826240" cy="3432175"/>
            </a:xfrm>
            <a:custGeom>
              <a:avLst/>
              <a:gdLst/>
              <a:ahLst/>
              <a:cxnLst/>
              <a:rect l="l" t="t" r="r" b="b"/>
              <a:pathLst>
                <a:path w="11826240" h="3432175">
                  <a:moveTo>
                    <a:pt x="0" y="3432048"/>
                  </a:moveTo>
                  <a:lnTo>
                    <a:pt x="11826240" y="3432048"/>
                  </a:lnTo>
                  <a:lnTo>
                    <a:pt x="11826240" y="0"/>
                  </a:lnTo>
                  <a:lnTo>
                    <a:pt x="0" y="0"/>
                  </a:lnTo>
                  <a:lnTo>
                    <a:pt x="0" y="3432048"/>
                  </a:lnTo>
                  <a:close/>
                </a:path>
              </a:pathLst>
            </a:custGeom>
            <a:ln w="6096">
              <a:solidFill>
                <a:srgbClr val="0364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512" y="4873764"/>
              <a:ext cx="2886456" cy="1103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084" y="4916411"/>
              <a:ext cx="2959607" cy="11079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4944" y="4901184"/>
              <a:ext cx="2781300" cy="998219"/>
            </a:xfrm>
            <a:custGeom>
              <a:avLst/>
              <a:gdLst/>
              <a:ahLst/>
              <a:cxnLst/>
              <a:rect l="l" t="t" r="r" b="b"/>
              <a:pathLst>
                <a:path w="2781300" h="998220">
                  <a:moveTo>
                    <a:pt x="2781300" y="0"/>
                  </a:moveTo>
                  <a:lnTo>
                    <a:pt x="0" y="0"/>
                  </a:lnTo>
                  <a:lnTo>
                    <a:pt x="0" y="998220"/>
                  </a:lnTo>
                  <a:lnTo>
                    <a:pt x="2781300" y="998220"/>
                  </a:lnTo>
                  <a:lnTo>
                    <a:pt x="2781300" y="0"/>
                  </a:lnTo>
                  <a:close/>
                </a:path>
              </a:pathLst>
            </a:custGeom>
            <a:solidFill>
              <a:srgbClr val="C1E0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944" y="4901184"/>
              <a:ext cx="2781300" cy="998219"/>
            </a:xfrm>
            <a:custGeom>
              <a:avLst/>
              <a:gdLst/>
              <a:ahLst/>
              <a:cxnLst/>
              <a:rect l="l" t="t" r="r" b="b"/>
              <a:pathLst>
                <a:path w="2781300" h="998220">
                  <a:moveTo>
                    <a:pt x="0" y="998220"/>
                  </a:moveTo>
                  <a:lnTo>
                    <a:pt x="2781300" y="998220"/>
                  </a:lnTo>
                  <a:lnTo>
                    <a:pt x="2781300" y="0"/>
                  </a:lnTo>
                  <a:lnTo>
                    <a:pt x="0" y="0"/>
                  </a:lnTo>
                  <a:lnTo>
                    <a:pt x="0" y="998220"/>
                  </a:lnTo>
                  <a:close/>
                </a:path>
              </a:pathLst>
            </a:custGeom>
            <a:ln w="31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512" y="6502908"/>
              <a:ext cx="2886456" cy="11018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084" y="6545567"/>
              <a:ext cx="2959607" cy="11079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4944" y="6530340"/>
              <a:ext cx="2781300" cy="996950"/>
            </a:xfrm>
            <a:custGeom>
              <a:avLst/>
              <a:gdLst/>
              <a:ahLst/>
              <a:cxnLst/>
              <a:rect l="l" t="t" r="r" b="b"/>
              <a:pathLst>
                <a:path w="2781300" h="996950">
                  <a:moveTo>
                    <a:pt x="2781300" y="0"/>
                  </a:moveTo>
                  <a:lnTo>
                    <a:pt x="0" y="0"/>
                  </a:lnTo>
                  <a:lnTo>
                    <a:pt x="0" y="996695"/>
                  </a:lnTo>
                  <a:lnTo>
                    <a:pt x="2781300" y="996695"/>
                  </a:lnTo>
                  <a:lnTo>
                    <a:pt x="2781300" y="0"/>
                  </a:lnTo>
                  <a:close/>
                </a:path>
              </a:pathLst>
            </a:custGeom>
            <a:solidFill>
              <a:srgbClr val="C1E0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4944" y="6530340"/>
              <a:ext cx="2781300" cy="996950"/>
            </a:xfrm>
            <a:custGeom>
              <a:avLst/>
              <a:gdLst/>
              <a:ahLst/>
              <a:cxnLst/>
              <a:rect l="l" t="t" r="r" b="b"/>
              <a:pathLst>
                <a:path w="2781300" h="996950">
                  <a:moveTo>
                    <a:pt x="0" y="996695"/>
                  </a:moveTo>
                  <a:lnTo>
                    <a:pt x="2781300" y="996695"/>
                  </a:lnTo>
                  <a:lnTo>
                    <a:pt x="2781300" y="0"/>
                  </a:lnTo>
                  <a:lnTo>
                    <a:pt x="0" y="0"/>
                  </a:lnTo>
                  <a:lnTo>
                    <a:pt x="0" y="996695"/>
                  </a:lnTo>
                  <a:close/>
                </a:path>
              </a:pathLst>
            </a:custGeom>
            <a:ln w="31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21226" y="4751440"/>
            <a:ext cx="7846059" cy="11455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06400" indent="-407034">
              <a:lnSpc>
                <a:spcPct val="100000"/>
              </a:lnSpc>
              <a:spcBef>
                <a:spcPts val="910"/>
              </a:spcBef>
              <a:buClr>
                <a:srgbClr val="1F487C"/>
              </a:buClr>
              <a:buChar char="•"/>
              <a:tabLst>
                <a:tab pos="406400" algn="l"/>
                <a:tab pos="407034" algn="l"/>
              </a:tabLst>
            </a:pP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Riduzione</a:t>
            </a:r>
            <a:r>
              <a:rPr sz="20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creazione</a:t>
            </a:r>
            <a:r>
              <a:rPr sz="20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nuovi</a:t>
            </a:r>
            <a:r>
              <a:rPr sz="20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cartacei</a:t>
            </a:r>
            <a:endParaRPr sz="2000">
              <a:latin typeface="Arial"/>
              <a:cs typeface="Arial"/>
            </a:endParaRPr>
          </a:p>
          <a:p>
            <a:pPr marL="406400" marR="5080" indent="-407034">
              <a:lnSpc>
                <a:spcPct val="100000"/>
              </a:lnSpc>
              <a:spcBef>
                <a:spcPts val="805"/>
              </a:spcBef>
              <a:buClr>
                <a:srgbClr val="1F487C"/>
              </a:buClr>
              <a:buChar char="•"/>
              <a:tabLst>
                <a:tab pos="406400" algn="l"/>
                <a:tab pos="407034" algn="l"/>
                <a:tab pos="1923414" algn="l"/>
                <a:tab pos="2253615" algn="l"/>
                <a:tab pos="3558540" algn="l"/>
                <a:tab pos="4581525" algn="l"/>
                <a:tab pos="5248910" algn="l"/>
                <a:tab pos="6115685" algn="l"/>
                <a:tab pos="6660515" algn="l"/>
              </a:tabLst>
            </a:pP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Sostituzione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cartacei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negli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archivi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documenti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20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0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scarto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rilevanti.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21226" y="6658102"/>
            <a:ext cx="78441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marR="5080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  <a:tab pos="342900" algn="l"/>
                <a:tab pos="1618615" algn="l"/>
                <a:tab pos="2096770" algn="l"/>
                <a:tab pos="2860675" algn="l"/>
                <a:tab pos="3143885" algn="l"/>
                <a:tab pos="4273550" algn="l"/>
                <a:tab pos="5794375" algn="l"/>
                <a:tab pos="6473190" algn="l"/>
              </a:tabLst>
            </a:pP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Riduzione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tempi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aumento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dell'efficacia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nello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svolgimento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20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azioni</a:t>
            </a:r>
            <a:r>
              <a:rPr sz="20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amministrative.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37944" y="4658867"/>
            <a:ext cx="2252980" cy="2626360"/>
          </a:xfrm>
          <a:custGeom>
            <a:avLst/>
            <a:gdLst/>
            <a:ahLst/>
            <a:cxnLst/>
            <a:rect l="l" t="t" r="r" b="b"/>
            <a:pathLst>
              <a:path w="2252979" h="2626359">
                <a:moveTo>
                  <a:pt x="408432" y="205740"/>
                </a:moveTo>
                <a:lnTo>
                  <a:pt x="403034" y="158559"/>
                </a:lnTo>
                <a:lnTo>
                  <a:pt x="387667" y="115252"/>
                </a:lnTo>
                <a:lnTo>
                  <a:pt x="363562" y="77050"/>
                </a:lnTo>
                <a:lnTo>
                  <a:pt x="331927" y="45199"/>
                </a:lnTo>
                <a:lnTo>
                  <a:pt x="294017" y="20916"/>
                </a:lnTo>
                <a:lnTo>
                  <a:pt x="251028" y="5435"/>
                </a:lnTo>
                <a:lnTo>
                  <a:pt x="204216" y="0"/>
                </a:lnTo>
                <a:lnTo>
                  <a:pt x="157391" y="5435"/>
                </a:lnTo>
                <a:lnTo>
                  <a:pt x="114401" y="20916"/>
                </a:lnTo>
                <a:lnTo>
                  <a:pt x="76492" y="45199"/>
                </a:lnTo>
                <a:lnTo>
                  <a:pt x="44856" y="77050"/>
                </a:lnTo>
                <a:lnTo>
                  <a:pt x="20751" y="115252"/>
                </a:lnTo>
                <a:lnTo>
                  <a:pt x="5384" y="158559"/>
                </a:lnTo>
                <a:lnTo>
                  <a:pt x="0" y="205740"/>
                </a:lnTo>
                <a:lnTo>
                  <a:pt x="5384" y="252933"/>
                </a:lnTo>
                <a:lnTo>
                  <a:pt x="20751" y="296240"/>
                </a:lnTo>
                <a:lnTo>
                  <a:pt x="44856" y="334441"/>
                </a:lnTo>
                <a:lnTo>
                  <a:pt x="76492" y="366293"/>
                </a:lnTo>
                <a:lnTo>
                  <a:pt x="114401" y="390575"/>
                </a:lnTo>
                <a:lnTo>
                  <a:pt x="157391" y="406057"/>
                </a:lnTo>
                <a:lnTo>
                  <a:pt x="204216" y="411480"/>
                </a:lnTo>
                <a:lnTo>
                  <a:pt x="251028" y="406057"/>
                </a:lnTo>
                <a:lnTo>
                  <a:pt x="294017" y="390575"/>
                </a:lnTo>
                <a:lnTo>
                  <a:pt x="331927" y="366293"/>
                </a:lnTo>
                <a:lnTo>
                  <a:pt x="363562" y="334441"/>
                </a:lnTo>
                <a:lnTo>
                  <a:pt x="387667" y="296240"/>
                </a:lnTo>
                <a:lnTo>
                  <a:pt x="403034" y="252933"/>
                </a:lnTo>
                <a:lnTo>
                  <a:pt x="408432" y="205740"/>
                </a:lnTo>
                <a:close/>
              </a:path>
              <a:path w="2252979" h="2626359">
                <a:moveTo>
                  <a:pt x="2252472" y="2369820"/>
                </a:moveTo>
                <a:lnTo>
                  <a:pt x="2047494" y="2113788"/>
                </a:lnTo>
                <a:lnTo>
                  <a:pt x="2047494" y="2241804"/>
                </a:lnTo>
                <a:lnTo>
                  <a:pt x="1842516" y="2241804"/>
                </a:lnTo>
                <a:lnTo>
                  <a:pt x="1842516" y="2497836"/>
                </a:lnTo>
                <a:lnTo>
                  <a:pt x="2047494" y="2497836"/>
                </a:lnTo>
                <a:lnTo>
                  <a:pt x="2047494" y="2625852"/>
                </a:lnTo>
                <a:lnTo>
                  <a:pt x="2252472" y="2369820"/>
                </a:lnTo>
                <a:close/>
              </a:path>
              <a:path w="2252979" h="2626359">
                <a:moveTo>
                  <a:pt x="2252472" y="741426"/>
                </a:moveTo>
                <a:lnTo>
                  <a:pt x="2047494" y="486156"/>
                </a:lnTo>
                <a:lnTo>
                  <a:pt x="2047494" y="613791"/>
                </a:lnTo>
                <a:lnTo>
                  <a:pt x="1842516" y="613791"/>
                </a:lnTo>
                <a:lnTo>
                  <a:pt x="1842516" y="869061"/>
                </a:lnTo>
                <a:lnTo>
                  <a:pt x="2047494" y="869061"/>
                </a:lnTo>
                <a:lnTo>
                  <a:pt x="2047494" y="996696"/>
                </a:lnTo>
                <a:lnTo>
                  <a:pt x="2252472" y="74142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81786" y="4670298"/>
            <a:ext cx="2420620" cy="11017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91440" algn="ctr">
              <a:lnSpc>
                <a:spcPts val="2690"/>
              </a:lnSpc>
              <a:spcBef>
                <a:spcPts val="130"/>
              </a:spcBef>
            </a:pPr>
            <a:r>
              <a:rPr sz="2250" spc="1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250">
              <a:latin typeface="Arial"/>
              <a:cs typeface="Arial"/>
            </a:endParaRPr>
          </a:p>
          <a:p>
            <a:pPr marR="5080" algn="ctr">
              <a:lnSpc>
                <a:spcPts val="2880"/>
              </a:lnSpc>
              <a:spcBef>
                <a:spcPts val="85"/>
              </a:spcBef>
            </a:pPr>
            <a:r>
              <a:rPr sz="2400" dirty="0">
                <a:solidFill>
                  <a:srgbClr val="001F5F"/>
                </a:solidFill>
                <a:latin typeface="Arial"/>
                <a:cs typeface="Arial"/>
              </a:rPr>
              <a:t>Risparmi nei</a:t>
            </a:r>
            <a:r>
              <a:rPr sz="2400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Arial"/>
                <a:cs typeface="Arial"/>
              </a:rPr>
              <a:t>costi diretti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7944" y="6298691"/>
            <a:ext cx="408940" cy="408940"/>
          </a:xfrm>
          <a:custGeom>
            <a:avLst/>
            <a:gdLst/>
            <a:ahLst/>
            <a:cxnLst/>
            <a:rect l="l" t="t" r="r" b="b"/>
            <a:pathLst>
              <a:path w="408939" h="408940">
                <a:moveTo>
                  <a:pt x="204216" y="0"/>
                </a:moveTo>
                <a:lnTo>
                  <a:pt x="157394" y="5393"/>
                </a:lnTo>
                <a:lnTo>
                  <a:pt x="114411" y="20758"/>
                </a:lnTo>
                <a:lnTo>
                  <a:pt x="76493" y="44866"/>
                </a:lnTo>
                <a:lnTo>
                  <a:pt x="44866" y="76493"/>
                </a:lnTo>
                <a:lnTo>
                  <a:pt x="20758" y="114411"/>
                </a:lnTo>
                <a:lnTo>
                  <a:pt x="5393" y="157394"/>
                </a:lnTo>
                <a:lnTo>
                  <a:pt x="0" y="204216"/>
                </a:lnTo>
                <a:lnTo>
                  <a:pt x="5393" y="251037"/>
                </a:lnTo>
                <a:lnTo>
                  <a:pt x="20758" y="294020"/>
                </a:lnTo>
                <a:lnTo>
                  <a:pt x="44866" y="331938"/>
                </a:lnTo>
                <a:lnTo>
                  <a:pt x="76493" y="363565"/>
                </a:lnTo>
                <a:lnTo>
                  <a:pt x="114411" y="387673"/>
                </a:lnTo>
                <a:lnTo>
                  <a:pt x="157394" y="403038"/>
                </a:lnTo>
                <a:lnTo>
                  <a:pt x="204216" y="408432"/>
                </a:lnTo>
                <a:lnTo>
                  <a:pt x="251037" y="403038"/>
                </a:lnTo>
                <a:lnTo>
                  <a:pt x="294020" y="387673"/>
                </a:lnTo>
                <a:lnTo>
                  <a:pt x="331938" y="363565"/>
                </a:lnTo>
                <a:lnTo>
                  <a:pt x="363565" y="331938"/>
                </a:lnTo>
                <a:lnTo>
                  <a:pt x="387673" y="294020"/>
                </a:lnTo>
                <a:lnTo>
                  <a:pt x="403038" y="251037"/>
                </a:lnTo>
                <a:lnTo>
                  <a:pt x="408431" y="204216"/>
                </a:lnTo>
                <a:lnTo>
                  <a:pt x="403038" y="157394"/>
                </a:lnTo>
                <a:lnTo>
                  <a:pt x="387673" y="114411"/>
                </a:lnTo>
                <a:lnTo>
                  <a:pt x="363565" y="76493"/>
                </a:lnTo>
                <a:lnTo>
                  <a:pt x="331938" y="44866"/>
                </a:lnTo>
                <a:lnTo>
                  <a:pt x="294020" y="20758"/>
                </a:lnTo>
                <a:lnTo>
                  <a:pt x="251037" y="5393"/>
                </a:lnTo>
                <a:lnTo>
                  <a:pt x="20421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81786" y="6308597"/>
            <a:ext cx="2420620" cy="10928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91440" algn="ctr">
              <a:lnSpc>
                <a:spcPts val="2655"/>
              </a:lnSpc>
              <a:spcBef>
                <a:spcPts val="130"/>
              </a:spcBef>
            </a:pPr>
            <a:r>
              <a:rPr sz="2250" spc="1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250">
              <a:latin typeface="Arial"/>
              <a:cs typeface="Arial"/>
            </a:endParaRPr>
          </a:p>
          <a:p>
            <a:pPr marR="5080" algn="ctr">
              <a:lnSpc>
                <a:spcPts val="2880"/>
              </a:lnSpc>
              <a:spcBef>
                <a:spcPts val="50"/>
              </a:spcBef>
            </a:pPr>
            <a:r>
              <a:rPr sz="2400" dirty="0">
                <a:solidFill>
                  <a:srgbClr val="001F5F"/>
                </a:solidFill>
                <a:latin typeface="Arial"/>
                <a:cs typeface="Arial"/>
              </a:rPr>
              <a:t>Risparmi nei</a:t>
            </a:r>
            <a:r>
              <a:rPr sz="2400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Arial"/>
                <a:cs typeface="Arial"/>
              </a:rPr>
              <a:t>costi indiretti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531" rIns="0" bIns="0" rtlCol="0">
            <a:spAutoFit/>
          </a:bodyPr>
          <a:lstStyle/>
          <a:p>
            <a:pPr marL="88963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L’approccio</a:t>
            </a:r>
            <a:r>
              <a:rPr sz="3200" spc="-80" dirty="0"/>
              <a:t> </a:t>
            </a:r>
            <a:r>
              <a:rPr sz="3200" dirty="0"/>
              <a:t>alla</a:t>
            </a:r>
            <a:r>
              <a:rPr sz="3200" spc="-45" dirty="0"/>
              <a:t> </a:t>
            </a:r>
            <a:r>
              <a:rPr sz="3200" spc="-10" dirty="0"/>
              <a:t>dematerializzazione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58748" y="1846579"/>
            <a:ext cx="5801995" cy="1635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675"/>
              </a:spcBef>
              <a:buSzPct val="75000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strategie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intervento</a:t>
            </a:r>
            <a:endParaRPr sz="2400">
              <a:latin typeface="Arial"/>
              <a:cs typeface="Arial"/>
            </a:endParaRPr>
          </a:p>
          <a:p>
            <a:pPr marL="1181735" marR="5080" lvl="1" indent="-445134">
              <a:lnSpc>
                <a:spcPct val="100000"/>
              </a:lnSpc>
              <a:spcBef>
                <a:spcPts val="575"/>
              </a:spcBef>
              <a:buSzPct val="75000"/>
              <a:buFont typeface="Wingdings"/>
              <a:buChar char=""/>
              <a:tabLst>
                <a:tab pos="1181735" algn="l"/>
                <a:tab pos="1182370" algn="l"/>
              </a:tabLst>
            </a:pPr>
            <a:r>
              <a:rPr sz="2400" u="sng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Sostituzione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 di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originali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cartacei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con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riproduzioni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fotografiche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digitali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6164" y="6388608"/>
            <a:ext cx="5925312" cy="29626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82978" y="4818126"/>
            <a:ext cx="9842500" cy="444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82870" indent="-343535" algn="just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5183505" algn="l"/>
              </a:tabLst>
            </a:pPr>
            <a:r>
              <a:rPr sz="2400" u="sng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Introduzione</a:t>
            </a:r>
            <a:r>
              <a:rPr sz="2400" u="sng" spc="-15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del</a:t>
            </a:r>
            <a:r>
              <a:rPr sz="2400" u="sng" spc="-10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 documento</a:t>
            </a:r>
            <a:endParaRPr sz="2400">
              <a:latin typeface="Arial"/>
              <a:cs typeface="Arial"/>
            </a:endParaRPr>
          </a:p>
          <a:p>
            <a:pPr marL="5182870" marR="5080" algn="just">
              <a:lnSpc>
                <a:spcPct val="100000"/>
              </a:lnSpc>
            </a:pPr>
            <a:r>
              <a:rPr sz="2400" u="sng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informatico</a:t>
            </a:r>
            <a:r>
              <a:rPr sz="2400" u="sng" spc="-55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“nativo”,</a:t>
            </a:r>
            <a:r>
              <a:rPr sz="2400" u="sng" spc="-25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produzione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originali direttamente</a:t>
            </a:r>
            <a:r>
              <a:rPr sz="2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formato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elettronici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457200" marR="4645660" indent="-445134">
              <a:lnSpc>
                <a:spcPct val="100000"/>
              </a:lnSpc>
              <a:buSzPct val="75000"/>
              <a:buFont typeface="Wingdings"/>
              <a:buChar char=""/>
              <a:tabLst>
                <a:tab pos="457200" algn="l"/>
                <a:tab pos="457834" algn="l"/>
              </a:tabLst>
            </a:pPr>
            <a:r>
              <a:rPr sz="2400" u="sng" dirty="0">
                <a:solidFill>
                  <a:srgbClr val="0D5A8F"/>
                </a:solidFill>
                <a:uFill>
                  <a:solidFill>
                    <a:srgbClr val="0D5A8F"/>
                  </a:solidFill>
                </a:uFill>
                <a:latin typeface="Arial"/>
                <a:cs typeface="Arial"/>
              </a:rPr>
              <a:t>Semplificazione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, eliminazione </a:t>
            </a:r>
            <a:r>
              <a:rPr sz="2400" spc="-50" dirty="0">
                <a:solidFill>
                  <a:srgbClr val="0D5A8F"/>
                </a:solidFill>
                <a:latin typeface="Arial"/>
                <a:cs typeface="Arial"/>
              </a:rPr>
              <a:t>o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riduzione della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produzione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certe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tipologie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(sia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cartacei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digitali)</a:t>
            </a:r>
            <a:r>
              <a:rPr sz="24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seguito di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processi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reingegnerizzazione o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modifica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procedure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amministrative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6839" y="4229100"/>
            <a:ext cx="3410712" cy="2552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6892" y="1671827"/>
            <a:ext cx="4415028" cy="25527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5080" indent="-3048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DPCM</a:t>
            </a:r>
            <a:r>
              <a:rPr sz="3200" spc="-25" dirty="0"/>
              <a:t> </a:t>
            </a:r>
            <a:r>
              <a:rPr sz="3200" dirty="0"/>
              <a:t>13/11/2014</a:t>
            </a:r>
            <a:r>
              <a:rPr sz="3200" spc="-30" dirty="0"/>
              <a:t> </a:t>
            </a:r>
            <a:r>
              <a:rPr sz="3200" dirty="0"/>
              <a:t>–</a:t>
            </a:r>
            <a:r>
              <a:rPr sz="3200" spc="-30" dirty="0"/>
              <a:t> </a:t>
            </a:r>
            <a:r>
              <a:rPr sz="3200" dirty="0"/>
              <a:t>Regole</a:t>
            </a:r>
            <a:r>
              <a:rPr sz="3200" spc="-35" dirty="0"/>
              <a:t> </a:t>
            </a:r>
            <a:r>
              <a:rPr sz="3200" dirty="0"/>
              <a:t>tecniche</a:t>
            </a:r>
            <a:r>
              <a:rPr sz="3200" spc="-45" dirty="0"/>
              <a:t> </a:t>
            </a:r>
            <a:r>
              <a:rPr sz="3200" dirty="0"/>
              <a:t>per</a:t>
            </a:r>
            <a:r>
              <a:rPr sz="3200" spc="-10" dirty="0"/>
              <a:t> </a:t>
            </a:r>
            <a:r>
              <a:rPr sz="3200" spc="-25" dirty="0"/>
              <a:t>la </a:t>
            </a:r>
            <a:r>
              <a:rPr sz="3200" dirty="0"/>
              <a:t>formazione</a:t>
            </a:r>
            <a:r>
              <a:rPr sz="3200" spc="-60" dirty="0"/>
              <a:t> </a:t>
            </a:r>
            <a:r>
              <a:rPr sz="3200" dirty="0"/>
              <a:t>del</a:t>
            </a:r>
            <a:r>
              <a:rPr sz="3200" spc="-40" dirty="0"/>
              <a:t> </a:t>
            </a:r>
            <a:r>
              <a:rPr sz="3200" dirty="0"/>
              <a:t>documento</a:t>
            </a:r>
            <a:r>
              <a:rPr sz="3200" spc="-45" dirty="0"/>
              <a:t> </a:t>
            </a:r>
            <a:r>
              <a:rPr sz="3200" spc="-10" dirty="0"/>
              <a:t>informatico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8099" y="1868500"/>
            <a:ext cx="10932795" cy="284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" marR="494030" indent="-443865">
              <a:lnSpc>
                <a:spcPct val="100000"/>
              </a:lnSpc>
              <a:spcBef>
                <a:spcPts val="95"/>
              </a:spcBef>
              <a:buSzPct val="75000"/>
              <a:buFont typeface="Wingdings"/>
              <a:buChar char=""/>
              <a:tabLst>
                <a:tab pos="455930" algn="l"/>
                <a:tab pos="456565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28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tecniche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vengono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stabilite</a:t>
            </a:r>
            <a:r>
              <a:rPr sz="28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tutte</a:t>
            </a:r>
            <a:r>
              <a:rPr sz="28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modalità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le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quali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produrre</a:t>
            </a:r>
            <a:endParaRPr sz="2800">
              <a:latin typeface="Arial"/>
              <a:cs typeface="Arial"/>
            </a:endParaRPr>
          </a:p>
          <a:p>
            <a:pPr marL="1024255" lvl="1" indent="-445770">
              <a:lnSpc>
                <a:spcPct val="100000"/>
              </a:lnSpc>
              <a:spcBef>
                <a:spcPts val="675"/>
              </a:spcBef>
              <a:buSzPct val="75000"/>
              <a:buFont typeface="Wingdings"/>
              <a:buChar char=""/>
              <a:tabLst>
                <a:tab pos="1024255" algn="l"/>
                <a:tab pos="1024890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abbia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pieno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valore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legale</a:t>
            </a:r>
            <a:endParaRPr sz="2800">
              <a:latin typeface="Arial"/>
              <a:cs typeface="Arial"/>
            </a:endParaRPr>
          </a:p>
          <a:p>
            <a:pPr marL="1024255" marR="5080" lvl="1" indent="-445134">
              <a:lnSpc>
                <a:spcPct val="100000"/>
              </a:lnSpc>
              <a:spcBef>
                <a:spcPts val="675"/>
              </a:spcBef>
              <a:buSzPct val="75000"/>
              <a:buFont typeface="Wingdings"/>
              <a:buChar char=""/>
              <a:tabLst>
                <a:tab pos="1024255" algn="l"/>
                <a:tab pos="1024890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duplicato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una</a:t>
            </a:r>
            <a:r>
              <a:rPr sz="28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copia</a:t>
            </a:r>
            <a:r>
              <a:rPr sz="28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analogici</a:t>
            </a:r>
            <a:r>
              <a:rPr sz="28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documenti informatici</a:t>
            </a:r>
            <a:endParaRPr sz="2800">
              <a:latin typeface="Arial"/>
              <a:cs typeface="Arial"/>
            </a:endParaRPr>
          </a:p>
          <a:p>
            <a:pPr marL="1024255" lvl="1" indent="-445770">
              <a:lnSpc>
                <a:spcPct val="100000"/>
              </a:lnSpc>
              <a:spcBef>
                <a:spcPts val="675"/>
              </a:spcBef>
              <a:buSzPct val="75000"/>
              <a:buFont typeface="Wingdings"/>
              <a:buChar char=""/>
              <a:tabLst>
                <a:tab pos="1024255" algn="l"/>
                <a:tab pos="1024890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fascicolo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5467" y="4754879"/>
            <a:ext cx="8647176" cy="48646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082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Il</a:t>
            </a:r>
            <a:r>
              <a:rPr sz="3200" spc="-35" dirty="0"/>
              <a:t> </a:t>
            </a:r>
            <a:r>
              <a:rPr sz="3200" dirty="0"/>
              <a:t>documento</a:t>
            </a:r>
            <a:r>
              <a:rPr sz="3200" spc="-60" dirty="0"/>
              <a:t> </a:t>
            </a:r>
            <a:r>
              <a:rPr sz="3200" spc="-10" dirty="0"/>
              <a:t>informatico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151" y="4969764"/>
            <a:ext cx="6137148" cy="41833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6452" y="1372615"/>
            <a:ext cx="11903075" cy="7694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834" marR="1028700" indent="-445770">
              <a:lnSpc>
                <a:spcPct val="100000"/>
              </a:lnSpc>
              <a:spcBef>
                <a:spcPts val="95"/>
              </a:spcBef>
              <a:buSzPct val="75000"/>
              <a:buFont typeface="Wingdings"/>
              <a:buChar char=""/>
              <a:tabLst>
                <a:tab pos="457834" algn="l"/>
                <a:tab pos="458470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Secondo</a:t>
            </a:r>
            <a:r>
              <a:rPr sz="2800" spc="-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e-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IDAS</a:t>
            </a:r>
            <a:r>
              <a:rPr sz="2800" spc="-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8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elettronico</a:t>
            </a:r>
            <a:r>
              <a:rPr sz="28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800" spc="-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qualsiasi</a:t>
            </a:r>
            <a:r>
              <a:rPr sz="2800" spc="-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contenuto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conservato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forma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elettronica,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particolare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testo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registrazione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sonora,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visiva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audiovisiva</a:t>
            </a:r>
            <a:endParaRPr sz="2800" dirty="0">
              <a:latin typeface="Arial"/>
              <a:cs typeface="Arial"/>
            </a:endParaRPr>
          </a:p>
          <a:p>
            <a:pPr marL="457834" marR="800100" indent="-445770">
              <a:lnSpc>
                <a:spcPct val="100000"/>
              </a:lnSpc>
              <a:spcBef>
                <a:spcPts val="1200"/>
              </a:spcBef>
              <a:buSzPct val="75000"/>
              <a:buFont typeface="Wingdings"/>
              <a:buChar char=""/>
              <a:tabLst>
                <a:tab pos="457834" algn="l"/>
                <a:tab pos="458470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Secondo</a:t>
            </a:r>
            <a:r>
              <a:rPr sz="28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0D5A8F"/>
                </a:solidFill>
                <a:latin typeface="Arial"/>
                <a:cs typeface="Arial"/>
              </a:rPr>
              <a:t>CAD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8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elettronico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contiene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8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rappresentazione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informatica</a:t>
            </a:r>
            <a:r>
              <a:rPr sz="28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atti,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fatti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D5A8F"/>
                </a:solidFill>
                <a:latin typeface="Arial"/>
                <a:cs typeface="Arial"/>
              </a:rPr>
              <a:t>dati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giuridicamente</a:t>
            </a:r>
            <a:r>
              <a:rPr sz="2800" spc="-1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rilevanti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D5A8F"/>
              </a:buClr>
              <a:buFont typeface="Wingdings"/>
              <a:buChar char=""/>
            </a:pPr>
            <a:endParaRPr sz="2600" dirty="0">
              <a:latin typeface="Arial"/>
              <a:cs typeface="Arial"/>
            </a:endParaRPr>
          </a:p>
          <a:p>
            <a:pPr marL="6786880" marR="5080" lvl="1" indent="-457200">
              <a:lnSpc>
                <a:spcPct val="100000"/>
              </a:lnSpc>
              <a:buFont typeface="Wingdings"/>
              <a:buChar char=""/>
              <a:tabLst>
                <a:tab pos="6786880" algn="l"/>
                <a:tab pos="6787515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8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insieme</a:t>
            </a:r>
            <a:r>
              <a:rPr sz="28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valori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binari</a:t>
            </a:r>
            <a:r>
              <a:rPr sz="28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la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cui</a:t>
            </a:r>
            <a:r>
              <a:rPr sz="28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materialità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8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data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dal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dal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supporto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cui</a:t>
            </a:r>
            <a:r>
              <a:rPr sz="28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memorizzato</a:t>
            </a:r>
            <a:endParaRPr sz="2800" dirty="0">
              <a:latin typeface="Arial"/>
              <a:cs typeface="Arial"/>
            </a:endParaRPr>
          </a:p>
          <a:p>
            <a:pPr marL="6786880" marR="162560" lvl="1" indent="-457200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6786880" algn="l"/>
                <a:tab pos="6787515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Può</a:t>
            </a:r>
            <a:r>
              <a:rPr sz="28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essere</a:t>
            </a:r>
            <a:r>
              <a:rPr sz="28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modificato</a:t>
            </a:r>
            <a:r>
              <a:rPr sz="28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o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riprodotto</a:t>
            </a:r>
            <a:r>
              <a:rPr sz="2800" spc="-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infinite</a:t>
            </a:r>
            <a:r>
              <a:rPr sz="2800" spc="-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volte,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ottenendo</a:t>
            </a:r>
            <a:r>
              <a:rPr sz="2800" spc="-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copie</a:t>
            </a:r>
            <a:r>
              <a:rPr sz="2800" spc="-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assolutamente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identiche</a:t>
            </a:r>
            <a:r>
              <a:rPr sz="2800" spc="-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all’originale</a:t>
            </a:r>
            <a:endParaRPr sz="2800" dirty="0">
              <a:latin typeface="Arial"/>
              <a:cs typeface="Arial"/>
            </a:endParaRPr>
          </a:p>
          <a:p>
            <a:pPr marL="6786880" marR="41910" lvl="1" indent="-457200">
              <a:lnSpc>
                <a:spcPct val="100000"/>
              </a:lnSpc>
              <a:spcBef>
                <a:spcPts val="1205"/>
              </a:spcBef>
              <a:buFont typeface="Wingdings"/>
              <a:buChar char=""/>
              <a:tabLst>
                <a:tab pos="6786880" algn="l"/>
                <a:tab pos="6787515" algn="l"/>
              </a:tabLst>
            </a:pP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suo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contenuto</a:t>
            </a:r>
            <a:r>
              <a:rPr sz="28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8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D5A8F"/>
                </a:solidFill>
                <a:latin typeface="Arial"/>
                <a:cs typeface="Arial"/>
              </a:rPr>
              <a:t>svincolato</a:t>
            </a:r>
            <a:r>
              <a:rPr sz="28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D5A8F"/>
                </a:solidFill>
                <a:latin typeface="Arial"/>
                <a:cs typeface="Arial"/>
              </a:rPr>
              <a:t>dal </a:t>
            </a:r>
            <a:r>
              <a:rPr sz="2800" spc="-10" dirty="0">
                <a:solidFill>
                  <a:srgbClr val="0D5A8F"/>
                </a:solidFill>
                <a:latin typeface="Arial"/>
                <a:cs typeface="Arial"/>
              </a:rPr>
              <a:t>supporto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091" rIns="0" bIns="0" rtlCol="0">
            <a:spAutoFit/>
          </a:bodyPr>
          <a:lstStyle/>
          <a:p>
            <a:pPr marL="233235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Il</a:t>
            </a:r>
            <a:r>
              <a:rPr sz="3200" spc="-35" dirty="0"/>
              <a:t> </a:t>
            </a:r>
            <a:r>
              <a:rPr sz="3200" dirty="0"/>
              <a:t>documento</a:t>
            </a:r>
            <a:r>
              <a:rPr sz="3200" spc="-60" dirty="0"/>
              <a:t> </a:t>
            </a:r>
            <a:r>
              <a:rPr sz="3200" spc="-10" dirty="0"/>
              <a:t>informatico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97179" y="1912620"/>
            <a:ext cx="7088505" cy="2615565"/>
            <a:chOff x="297179" y="1912620"/>
            <a:chExt cx="7088505" cy="2615565"/>
          </a:xfrm>
        </p:grpSpPr>
        <p:sp>
          <p:nvSpPr>
            <p:cNvPr id="4" name="object 4"/>
            <p:cNvSpPr/>
            <p:nvPr/>
          </p:nvSpPr>
          <p:spPr>
            <a:xfrm>
              <a:off x="310133" y="1925574"/>
              <a:ext cx="7062470" cy="2589530"/>
            </a:xfrm>
            <a:custGeom>
              <a:avLst/>
              <a:gdLst/>
              <a:ahLst/>
              <a:cxnLst/>
              <a:rect l="l" t="t" r="r" b="b"/>
              <a:pathLst>
                <a:path w="7062470" h="2589529">
                  <a:moveTo>
                    <a:pt x="5767578" y="0"/>
                  </a:moveTo>
                  <a:lnTo>
                    <a:pt x="0" y="0"/>
                  </a:lnTo>
                  <a:lnTo>
                    <a:pt x="1294638" y="1294637"/>
                  </a:lnTo>
                  <a:lnTo>
                    <a:pt x="0" y="2589276"/>
                  </a:lnTo>
                  <a:lnTo>
                    <a:pt x="5767578" y="2589276"/>
                  </a:lnTo>
                  <a:lnTo>
                    <a:pt x="7062216" y="1294637"/>
                  </a:lnTo>
                  <a:lnTo>
                    <a:pt x="5767578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0133" y="1925574"/>
              <a:ext cx="7062470" cy="2589530"/>
            </a:xfrm>
            <a:custGeom>
              <a:avLst/>
              <a:gdLst/>
              <a:ahLst/>
              <a:cxnLst/>
              <a:rect l="l" t="t" r="r" b="b"/>
              <a:pathLst>
                <a:path w="7062470" h="2589529">
                  <a:moveTo>
                    <a:pt x="0" y="0"/>
                  </a:moveTo>
                  <a:lnTo>
                    <a:pt x="5767578" y="0"/>
                  </a:lnTo>
                  <a:lnTo>
                    <a:pt x="7062216" y="1294637"/>
                  </a:lnTo>
                  <a:lnTo>
                    <a:pt x="5767578" y="2589276"/>
                  </a:lnTo>
                  <a:lnTo>
                    <a:pt x="0" y="2589276"/>
                  </a:lnTo>
                  <a:lnTo>
                    <a:pt x="1294638" y="1294637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60017" y="2081910"/>
            <a:ext cx="4396105" cy="221107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 indent="6350" algn="ctr">
              <a:lnSpc>
                <a:spcPct val="86200"/>
              </a:lnSpc>
              <a:spcBef>
                <a:spcPts val="545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Le norme</a:t>
            </a:r>
            <a:r>
              <a:rPr sz="27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definiscono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principi</a:t>
            </a:r>
            <a:r>
              <a:rPr sz="27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7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regole</a:t>
            </a:r>
            <a:r>
              <a:rPr sz="27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7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2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formazione,</a:t>
            </a:r>
            <a:r>
              <a:rPr sz="2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l'archiviazione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7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7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trasmissione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documenti</a:t>
            </a:r>
            <a:r>
              <a:rPr sz="2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strumenti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informatici</a:t>
            </a:r>
            <a:r>
              <a:rPr sz="27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7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telematici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6843" y="1996439"/>
            <a:ext cx="3546348" cy="241249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87196" y="5132832"/>
            <a:ext cx="10843260" cy="4000500"/>
            <a:chOff x="1187196" y="5132832"/>
            <a:chExt cx="10843260" cy="40005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196" y="5132832"/>
              <a:ext cx="10843260" cy="4000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45870" y="5165598"/>
              <a:ext cx="10730865" cy="3888104"/>
            </a:xfrm>
            <a:custGeom>
              <a:avLst/>
              <a:gdLst/>
              <a:ahLst/>
              <a:cxnLst/>
              <a:rect l="l" t="t" r="r" b="b"/>
              <a:pathLst>
                <a:path w="10730865" h="3888104">
                  <a:moveTo>
                    <a:pt x="10341737" y="0"/>
                  </a:moveTo>
                  <a:lnTo>
                    <a:pt x="388747" y="0"/>
                  </a:lnTo>
                  <a:lnTo>
                    <a:pt x="339996" y="3030"/>
                  </a:lnTo>
                  <a:lnTo>
                    <a:pt x="293050" y="11876"/>
                  </a:lnTo>
                  <a:lnTo>
                    <a:pt x="248271" y="26175"/>
                  </a:lnTo>
                  <a:lnTo>
                    <a:pt x="206025" y="45561"/>
                  </a:lnTo>
                  <a:lnTo>
                    <a:pt x="166677" y="69669"/>
                  </a:lnTo>
                  <a:lnTo>
                    <a:pt x="130592" y="98134"/>
                  </a:lnTo>
                  <a:lnTo>
                    <a:pt x="98134" y="130592"/>
                  </a:lnTo>
                  <a:lnTo>
                    <a:pt x="69669" y="166677"/>
                  </a:lnTo>
                  <a:lnTo>
                    <a:pt x="45561" y="206025"/>
                  </a:lnTo>
                  <a:lnTo>
                    <a:pt x="26175" y="248271"/>
                  </a:lnTo>
                  <a:lnTo>
                    <a:pt x="11876" y="293050"/>
                  </a:lnTo>
                  <a:lnTo>
                    <a:pt x="3030" y="339996"/>
                  </a:lnTo>
                  <a:lnTo>
                    <a:pt x="0" y="388747"/>
                  </a:lnTo>
                  <a:lnTo>
                    <a:pt x="0" y="3498951"/>
                  </a:lnTo>
                  <a:lnTo>
                    <a:pt x="3030" y="3547719"/>
                  </a:lnTo>
                  <a:lnTo>
                    <a:pt x="11876" y="3594679"/>
                  </a:lnTo>
                  <a:lnTo>
                    <a:pt x="26175" y="3639467"/>
                  </a:lnTo>
                  <a:lnTo>
                    <a:pt x="45561" y="3681718"/>
                  </a:lnTo>
                  <a:lnTo>
                    <a:pt x="69669" y="3721068"/>
                  </a:lnTo>
                  <a:lnTo>
                    <a:pt x="98134" y="3757153"/>
                  </a:lnTo>
                  <a:lnTo>
                    <a:pt x="130592" y="3789608"/>
                  </a:lnTo>
                  <a:lnTo>
                    <a:pt x="166677" y="3818070"/>
                  </a:lnTo>
                  <a:lnTo>
                    <a:pt x="206025" y="3842174"/>
                  </a:lnTo>
                  <a:lnTo>
                    <a:pt x="248271" y="3861555"/>
                  </a:lnTo>
                  <a:lnTo>
                    <a:pt x="293050" y="3875850"/>
                  </a:lnTo>
                  <a:lnTo>
                    <a:pt x="339996" y="3884695"/>
                  </a:lnTo>
                  <a:lnTo>
                    <a:pt x="388747" y="3887724"/>
                  </a:lnTo>
                  <a:lnTo>
                    <a:pt x="10341737" y="3887724"/>
                  </a:lnTo>
                  <a:lnTo>
                    <a:pt x="10390487" y="3884695"/>
                  </a:lnTo>
                  <a:lnTo>
                    <a:pt x="10437433" y="3875850"/>
                  </a:lnTo>
                  <a:lnTo>
                    <a:pt x="10482212" y="3861555"/>
                  </a:lnTo>
                  <a:lnTo>
                    <a:pt x="10524458" y="3842174"/>
                  </a:lnTo>
                  <a:lnTo>
                    <a:pt x="10563806" y="3818070"/>
                  </a:lnTo>
                  <a:lnTo>
                    <a:pt x="10599891" y="3789608"/>
                  </a:lnTo>
                  <a:lnTo>
                    <a:pt x="10632349" y="3757153"/>
                  </a:lnTo>
                  <a:lnTo>
                    <a:pt x="10660814" y="3721068"/>
                  </a:lnTo>
                  <a:lnTo>
                    <a:pt x="10684922" y="3681718"/>
                  </a:lnTo>
                  <a:lnTo>
                    <a:pt x="10704308" y="3639467"/>
                  </a:lnTo>
                  <a:lnTo>
                    <a:pt x="10718607" y="3594679"/>
                  </a:lnTo>
                  <a:lnTo>
                    <a:pt x="10727453" y="3547719"/>
                  </a:lnTo>
                  <a:lnTo>
                    <a:pt x="10730484" y="3498951"/>
                  </a:lnTo>
                  <a:lnTo>
                    <a:pt x="10730484" y="388747"/>
                  </a:lnTo>
                  <a:lnTo>
                    <a:pt x="10727453" y="339996"/>
                  </a:lnTo>
                  <a:lnTo>
                    <a:pt x="10718607" y="293050"/>
                  </a:lnTo>
                  <a:lnTo>
                    <a:pt x="10704308" y="248271"/>
                  </a:lnTo>
                  <a:lnTo>
                    <a:pt x="10684922" y="206025"/>
                  </a:lnTo>
                  <a:lnTo>
                    <a:pt x="10660814" y="166677"/>
                  </a:lnTo>
                  <a:lnTo>
                    <a:pt x="10632349" y="130592"/>
                  </a:lnTo>
                  <a:lnTo>
                    <a:pt x="10599891" y="98134"/>
                  </a:lnTo>
                  <a:lnTo>
                    <a:pt x="10563806" y="69669"/>
                  </a:lnTo>
                  <a:lnTo>
                    <a:pt x="10524458" y="45561"/>
                  </a:lnTo>
                  <a:lnTo>
                    <a:pt x="10482212" y="26175"/>
                  </a:lnTo>
                  <a:lnTo>
                    <a:pt x="10437433" y="11876"/>
                  </a:lnTo>
                  <a:lnTo>
                    <a:pt x="10390487" y="3030"/>
                  </a:lnTo>
                  <a:lnTo>
                    <a:pt x="10341737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45870" y="5165598"/>
              <a:ext cx="10730865" cy="3888104"/>
            </a:xfrm>
            <a:custGeom>
              <a:avLst/>
              <a:gdLst/>
              <a:ahLst/>
              <a:cxnLst/>
              <a:rect l="l" t="t" r="r" b="b"/>
              <a:pathLst>
                <a:path w="10730865" h="3888104">
                  <a:moveTo>
                    <a:pt x="0" y="388747"/>
                  </a:moveTo>
                  <a:lnTo>
                    <a:pt x="3030" y="339996"/>
                  </a:lnTo>
                  <a:lnTo>
                    <a:pt x="11876" y="293050"/>
                  </a:lnTo>
                  <a:lnTo>
                    <a:pt x="26175" y="248271"/>
                  </a:lnTo>
                  <a:lnTo>
                    <a:pt x="45561" y="206025"/>
                  </a:lnTo>
                  <a:lnTo>
                    <a:pt x="69669" y="166677"/>
                  </a:lnTo>
                  <a:lnTo>
                    <a:pt x="98134" y="130592"/>
                  </a:lnTo>
                  <a:lnTo>
                    <a:pt x="130592" y="98134"/>
                  </a:lnTo>
                  <a:lnTo>
                    <a:pt x="166677" y="69669"/>
                  </a:lnTo>
                  <a:lnTo>
                    <a:pt x="206025" y="45561"/>
                  </a:lnTo>
                  <a:lnTo>
                    <a:pt x="248271" y="26175"/>
                  </a:lnTo>
                  <a:lnTo>
                    <a:pt x="293050" y="11876"/>
                  </a:lnTo>
                  <a:lnTo>
                    <a:pt x="339996" y="3030"/>
                  </a:lnTo>
                  <a:lnTo>
                    <a:pt x="388747" y="0"/>
                  </a:lnTo>
                  <a:lnTo>
                    <a:pt x="10341737" y="0"/>
                  </a:lnTo>
                  <a:lnTo>
                    <a:pt x="10390487" y="3030"/>
                  </a:lnTo>
                  <a:lnTo>
                    <a:pt x="10437433" y="11876"/>
                  </a:lnTo>
                  <a:lnTo>
                    <a:pt x="10482212" y="26175"/>
                  </a:lnTo>
                  <a:lnTo>
                    <a:pt x="10524458" y="45561"/>
                  </a:lnTo>
                  <a:lnTo>
                    <a:pt x="10563806" y="69669"/>
                  </a:lnTo>
                  <a:lnTo>
                    <a:pt x="10599891" y="98134"/>
                  </a:lnTo>
                  <a:lnTo>
                    <a:pt x="10632349" y="130592"/>
                  </a:lnTo>
                  <a:lnTo>
                    <a:pt x="10660814" y="166677"/>
                  </a:lnTo>
                  <a:lnTo>
                    <a:pt x="10684922" y="206025"/>
                  </a:lnTo>
                  <a:lnTo>
                    <a:pt x="10704308" y="248271"/>
                  </a:lnTo>
                  <a:lnTo>
                    <a:pt x="10718607" y="293050"/>
                  </a:lnTo>
                  <a:lnTo>
                    <a:pt x="10727453" y="339996"/>
                  </a:lnTo>
                  <a:lnTo>
                    <a:pt x="10730484" y="388747"/>
                  </a:lnTo>
                  <a:lnTo>
                    <a:pt x="10730484" y="3498951"/>
                  </a:lnTo>
                  <a:lnTo>
                    <a:pt x="10727453" y="3547719"/>
                  </a:lnTo>
                  <a:lnTo>
                    <a:pt x="10718607" y="3594679"/>
                  </a:lnTo>
                  <a:lnTo>
                    <a:pt x="10704308" y="3639467"/>
                  </a:lnTo>
                  <a:lnTo>
                    <a:pt x="10684922" y="3681718"/>
                  </a:lnTo>
                  <a:lnTo>
                    <a:pt x="10660814" y="3721068"/>
                  </a:lnTo>
                  <a:lnTo>
                    <a:pt x="10632349" y="3757153"/>
                  </a:lnTo>
                  <a:lnTo>
                    <a:pt x="10599891" y="3789608"/>
                  </a:lnTo>
                  <a:lnTo>
                    <a:pt x="10563806" y="3818070"/>
                  </a:lnTo>
                  <a:lnTo>
                    <a:pt x="10524458" y="3842174"/>
                  </a:lnTo>
                  <a:lnTo>
                    <a:pt x="10482212" y="3861555"/>
                  </a:lnTo>
                  <a:lnTo>
                    <a:pt x="10437433" y="3875850"/>
                  </a:lnTo>
                  <a:lnTo>
                    <a:pt x="10390487" y="3884695"/>
                  </a:lnTo>
                  <a:lnTo>
                    <a:pt x="10341737" y="3887724"/>
                  </a:lnTo>
                  <a:lnTo>
                    <a:pt x="388747" y="3887724"/>
                  </a:lnTo>
                  <a:lnTo>
                    <a:pt x="339996" y="3884695"/>
                  </a:lnTo>
                  <a:lnTo>
                    <a:pt x="293050" y="3875850"/>
                  </a:lnTo>
                  <a:lnTo>
                    <a:pt x="248271" y="3861555"/>
                  </a:lnTo>
                  <a:lnTo>
                    <a:pt x="206025" y="3842174"/>
                  </a:lnTo>
                  <a:lnTo>
                    <a:pt x="166677" y="3818070"/>
                  </a:lnTo>
                  <a:lnTo>
                    <a:pt x="130592" y="3789608"/>
                  </a:lnTo>
                  <a:lnTo>
                    <a:pt x="98134" y="3757153"/>
                  </a:lnTo>
                  <a:lnTo>
                    <a:pt x="69669" y="3721068"/>
                  </a:lnTo>
                  <a:lnTo>
                    <a:pt x="45561" y="3681718"/>
                  </a:lnTo>
                  <a:lnTo>
                    <a:pt x="26175" y="3639467"/>
                  </a:lnTo>
                  <a:lnTo>
                    <a:pt x="11876" y="3594679"/>
                  </a:lnTo>
                  <a:lnTo>
                    <a:pt x="3030" y="3547719"/>
                  </a:lnTo>
                  <a:lnTo>
                    <a:pt x="0" y="3498951"/>
                  </a:lnTo>
                  <a:lnTo>
                    <a:pt x="0" y="388747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75023" y="5707761"/>
            <a:ext cx="7806055" cy="273875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575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Sono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pubblicate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anche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specifiche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tecniche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relative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agli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strumenti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esso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connessi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quali:</a:t>
            </a:r>
            <a:endParaRPr sz="2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615"/>
              </a:spcBef>
              <a:buChar char="•"/>
              <a:tabLst>
                <a:tab pos="299720" algn="l"/>
              </a:tabLst>
            </a:pP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firma </a:t>
            </a: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digitale</a:t>
            </a:r>
            <a:endParaRPr sz="30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5"/>
              </a:spcBef>
              <a:buChar char="•"/>
              <a:tabLst>
                <a:tab pos="299720" algn="l"/>
              </a:tabLst>
            </a:pP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il</a:t>
            </a:r>
            <a:r>
              <a:rPr sz="3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protocollo</a:t>
            </a:r>
            <a:r>
              <a:rPr sz="3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informatico</a:t>
            </a:r>
            <a:endParaRPr sz="30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0"/>
              </a:spcBef>
              <a:buChar char="•"/>
              <a:tabLst>
                <a:tab pos="299720" algn="l"/>
              </a:tabLst>
            </a:pP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3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posta</a:t>
            </a:r>
            <a:r>
              <a:rPr sz="3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elettronica</a:t>
            </a:r>
            <a:r>
              <a:rPr sz="3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certificata</a:t>
            </a:r>
            <a:endParaRPr sz="30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5"/>
              </a:spcBef>
              <a:buChar char="•"/>
              <a:tabLst>
                <a:tab pos="299720" algn="l"/>
              </a:tabLst>
            </a:pP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 digitale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77339" y="5521452"/>
            <a:ext cx="2258695" cy="3223260"/>
            <a:chOff x="1577339" y="5521452"/>
            <a:chExt cx="2258695" cy="32232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7339" y="5521452"/>
              <a:ext cx="2258568" cy="32232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6013" y="5554218"/>
              <a:ext cx="2145791" cy="311048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36013" y="5554218"/>
              <a:ext cx="2146300" cy="3110865"/>
            </a:xfrm>
            <a:custGeom>
              <a:avLst/>
              <a:gdLst/>
              <a:ahLst/>
              <a:cxnLst/>
              <a:rect l="l" t="t" r="r" b="b"/>
              <a:pathLst>
                <a:path w="2146300" h="3110865">
                  <a:moveTo>
                    <a:pt x="0" y="214630"/>
                  </a:moveTo>
                  <a:lnTo>
                    <a:pt x="5664" y="165391"/>
                  </a:lnTo>
                  <a:lnTo>
                    <a:pt x="21801" y="120205"/>
                  </a:lnTo>
                  <a:lnTo>
                    <a:pt x="47126" y="80355"/>
                  </a:lnTo>
                  <a:lnTo>
                    <a:pt x="80355" y="47126"/>
                  </a:lnTo>
                  <a:lnTo>
                    <a:pt x="120205" y="21801"/>
                  </a:lnTo>
                  <a:lnTo>
                    <a:pt x="165391" y="5664"/>
                  </a:lnTo>
                  <a:lnTo>
                    <a:pt x="214630" y="0"/>
                  </a:lnTo>
                  <a:lnTo>
                    <a:pt x="1931162" y="0"/>
                  </a:lnTo>
                  <a:lnTo>
                    <a:pt x="1980400" y="5664"/>
                  </a:lnTo>
                  <a:lnTo>
                    <a:pt x="2025586" y="21801"/>
                  </a:lnTo>
                  <a:lnTo>
                    <a:pt x="2065436" y="47126"/>
                  </a:lnTo>
                  <a:lnTo>
                    <a:pt x="2098665" y="80355"/>
                  </a:lnTo>
                  <a:lnTo>
                    <a:pt x="2123990" y="120205"/>
                  </a:lnTo>
                  <a:lnTo>
                    <a:pt x="2140127" y="165391"/>
                  </a:lnTo>
                  <a:lnTo>
                    <a:pt x="2145791" y="214630"/>
                  </a:lnTo>
                  <a:lnTo>
                    <a:pt x="2145791" y="2895854"/>
                  </a:lnTo>
                  <a:lnTo>
                    <a:pt x="2140127" y="2945072"/>
                  </a:lnTo>
                  <a:lnTo>
                    <a:pt x="2123990" y="2990250"/>
                  </a:lnTo>
                  <a:lnTo>
                    <a:pt x="2098665" y="3030101"/>
                  </a:lnTo>
                  <a:lnTo>
                    <a:pt x="2065436" y="3063337"/>
                  </a:lnTo>
                  <a:lnTo>
                    <a:pt x="2025586" y="3088671"/>
                  </a:lnTo>
                  <a:lnTo>
                    <a:pt x="1980400" y="3104816"/>
                  </a:lnTo>
                  <a:lnTo>
                    <a:pt x="1931162" y="3110484"/>
                  </a:lnTo>
                  <a:lnTo>
                    <a:pt x="214630" y="3110484"/>
                  </a:lnTo>
                  <a:lnTo>
                    <a:pt x="165391" y="3104816"/>
                  </a:lnTo>
                  <a:lnTo>
                    <a:pt x="120205" y="3088671"/>
                  </a:lnTo>
                  <a:lnTo>
                    <a:pt x="80355" y="3063337"/>
                  </a:lnTo>
                  <a:lnTo>
                    <a:pt x="47126" y="3030101"/>
                  </a:lnTo>
                  <a:lnTo>
                    <a:pt x="21801" y="2990250"/>
                  </a:lnTo>
                  <a:lnTo>
                    <a:pt x="5664" y="2945072"/>
                  </a:lnTo>
                  <a:lnTo>
                    <a:pt x="0" y="2895854"/>
                  </a:lnTo>
                  <a:lnTo>
                    <a:pt x="0" y="21463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811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</a:t>
            </a:r>
            <a:r>
              <a:rPr sz="3200" spc="-30" dirty="0"/>
              <a:t> </a:t>
            </a:r>
            <a:r>
              <a:rPr sz="3200" dirty="0"/>
              <a:t>nuovi</a:t>
            </a:r>
            <a:r>
              <a:rPr sz="3200" spc="-50" dirty="0"/>
              <a:t> </a:t>
            </a:r>
            <a:r>
              <a:rPr sz="3200" dirty="0"/>
              <a:t>documenti</a:t>
            </a:r>
            <a:r>
              <a:rPr sz="3200" spc="-40" dirty="0"/>
              <a:t> </a:t>
            </a:r>
            <a:r>
              <a:rPr sz="3200" spc="-10" dirty="0"/>
              <a:t>informatici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994596" y="2561780"/>
            <a:ext cx="7664450" cy="1343025"/>
            <a:chOff x="2994596" y="2561780"/>
            <a:chExt cx="7664450" cy="1343025"/>
          </a:xfrm>
        </p:grpSpPr>
        <p:sp>
          <p:nvSpPr>
            <p:cNvPr id="4" name="object 4"/>
            <p:cNvSpPr/>
            <p:nvPr/>
          </p:nvSpPr>
          <p:spPr>
            <a:xfrm>
              <a:off x="3007613" y="2574797"/>
              <a:ext cx="7638415" cy="1316990"/>
            </a:xfrm>
            <a:custGeom>
              <a:avLst/>
              <a:gdLst/>
              <a:ahLst/>
              <a:cxnLst/>
              <a:rect l="l" t="t" r="r" b="b"/>
              <a:pathLst>
                <a:path w="7638415" h="1316989">
                  <a:moveTo>
                    <a:pt x="7638288" y="0"/>
                  </a:moveTo>
                  <a:lnTo>
                    <a:pt x="658368" y="0"/>
                  </a:lnTo>
                  <a:lnTo>
                    <a:pt x="0" y="658368"/>
                  </a:lnTo>
                  <a:lnTo>
                    <a:pt x="658368" y="1316736"/>
                  </a:lnTo>
                  <a:lnTo>
                    <a:pt x="7638288" y="1316736"/>
                  </a:lnTo>
                  <a:lnTo>
                    <a:pt x="7638288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7613" y="2574797"/>
              <a:ext cx="7638415" cy="1316990"/>
            </a:xfrm>
            <a:custGeom>
              <a:avLst/>
              <a:gdLst/>
              <a:ahLst/>
              <a:cxnLst/>
              <a:rect l="l" t="t" r="r" b="b"/>
              <a:pathLst>
                <a:path w="7638415" h="1316989">
                  <a:moveTo>
                    <a:pt x="7638288" y="1316736"/>
                  </a:moveTo>
                  <a:lnTo>
                    <a:pt x="658368" y="1316736"/>
                  </a:lnTo>
                  <a:lnTo>
                    <a:pt x="0" y="658368"/>
                  </a:lnTo>
                  <a:lnTo>
                    <a:pt x="658368" y="0"/>
                  </a:lnTo>
                  <a:lnTo>
                    <a:pt x="7638288" y="0"/>
                  </a:lnTo>
                  <a:lnTo>
                    <a:pt x="7638288" y="131673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59478" y="2881959"/>
            <a:ext cx="6480175" cy="650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algn="ctr">
              <a:lnSpc>
                <a:spcPts val="246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Documenti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testo,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fogli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calcolo,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schemi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XML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46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redatti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tramite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l’utilizzo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appositi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strumenti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98192" y="2563367"/>
            <a:ext cx="1344295" cy="1343025"/>
            <a:chOff x="2298192" y="2563367"/>
            <a:chExt cx="1344295" cy="1343025"/>
          </a:xfrm>
        </p:grpSpPr>
        <p:sp>
          <p:nvSpPr>
            <p:cNvPr id="8" name="object 8"/>
            <p:cNvSpPr/>
            <p:nvPr/>
          </p:nvSpPr>
          <p:spPr>
            <a:xfrm>
              <a:off x="2311146" y="2576321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89">
                  <a:moveTo>
                    <a:pt x="659130" y="0"/>
                  </a:moveTo>
                  <a:lnTo>
                    <a:pt x="612063" y="1653"/>
                  </a:lnTo>
                  <a:lnTo>
                    <a:pt x="565888" y="6538"/>
                  </a:lnTo>
                  <a:lnTo>
                    <a:pt x="520717" y="14543"/>
                  </a:lnTo>
                  <a:lnTo>
                    <a:pt x="476662" y="25557"/>
                  </a:lnTo>
                  <a:lnTo>
                    <a:pt x="433834" y="39469"/>
                  </a:lnTo>
                  <a:lnTo>
                    <a:pt x="392345" y="56168"/>
                  </a:lnTo>
                  <a:lnTo>
                    <a:pt x="352306" y="75541"/>
                  </a:lnTo>
                  <a:lnTo>
                    <a:pt x="313829" y="97477"/>
                  </a:lnTo>
                  <a:lnTo>
                    <a:pt x="277026" y="121866"/>
                  </a:lnTo>
                  <a:lnTo>
                    <a:pt x="242007" y="148595"/>
                  </a:lnTo>
                  <a:lnTo>
                    <a:pt x="208886" y="177553"/>
                  </a:lnTo>
                  <a:lnTo>
                    <a:pt x="177773" y="208629"/>
                  </a:lnTo>
                  <a:lnTo>
                    <a:pt x="148780" y="241711"/>
                  </a:lnTo>
                  <a:lnTo>
                    <a:pt x="122018" y="276688"/>
                  </a:lnTo>
                  <a:lnTo>
                    <a:pt x="97600" y="313448"/>
                  </a:lnTo>
                  <a:lnTo>
                    <a:pt x="75636" y="351881"/>
                  </a:lnTo>
                  <a:lnTo>
                    <a:pt x="56239" y="391874"/>
                  </a:lnTo>
                  <a:lnTo>
                    <a:pt x="39520" y="433317"/>
                  </a:lnTo>
                  <a:lnTo>
                    <a:pt x="25590" y="476097"/>
                  </a:lnTo>
                  <a:lnTo>
                    <a:pt x="14562" y="520103"/>
                  </a:lnTo>
                  <a:lnTo>
                    <a:pt x="6546" y="565225"/>
                  </a:lnTo>
                  <a:lnTo>
                    <a:pt x="1655" y="611350"/>
                  </a:lnTo>
                  <a:lnTo>
                    <a:pt x="0" y="658368"/>
                  </a:lnTo>
                  <a:lnTo>
                    <a:pt x="1655" y="705385"/>
                  </a:lnTo>
                  <a:lnTo>
                    <a:pt x="6546" y="751510"/>
                  </a:lnTo>
                  <a:lnTo>
                    <a:pt x="14562" y="796632"/>
                  </a:lnTo>
                  <a:lnTo>
                    <a:pt x="25590" y="840638"/>
                  </a:lnTo>
                  <a:lnTo>
                    <a:pt x="39520" y="883418"/>
                  </a:lnTo>
                  <a:lnTo>
                    <a:pt x="56239" y="924861"/>
                  </a:lnTo>
                  <a:lnTo>
                    <a:pt x="75636" y="964854"/>
                  </a:lnTo>
                  <a:lnTo>
                    <a:pt x="97600" y="1003287"/>
                  </a:lnTo>
                  <a:lnTo>
                    <a:pt x="122018" y="1040047"/>
                  </a:lnTo>
                  <a:lnTo>
                    <a:pt x="148780" y="1075024"/>
                  </a:lnTo>
                  <a:lnTo>
                    <a:pt x="177773" y="1108106"/>
                  </a:lnTo>
                  <a:lnTo>
                    <a:pt x="208886" y="1139182"/>
                  </a:lnTo>
                  <a:lnTo>
                    <a:pt x="242007" y="1168140"/>
                  </a:lnTo>
                  <a:lnTo>
                    <a:pt x="277026" y="1194869"/>
                  </a:lnTo>
                  <a:lnTo>
                    <a:pt x="313829" y="1219258"/>
                  </a:lnTo>
                  <a:lnTo>
                    <a:pt x="352306" y="1241194"/>
                  </a:lnTo>
                  <a:lnTo>
                    <a:pt x="392345" y="1260567"/>
                  </a:lnTo>
                  <a:lnTo>
                    <a:pt x="433834" y="1277266"/>
                  </a:lnTo>
                  <a:lnTo>
                    <a:pt x="476662" y="1291178"/>
                  </a:lnTo>
                  <a:lnTo>
                    <a:pt x="520717" y="1302192"/>
                  </a:lnTo>
                  <a:lnTo>
                    <a:pt x="565888" y="1310197"/>
                  </a:lnTo>
                  <a:lnTo>
                    <a:pt x="612063" y="1315082"/>
                  </a:lnTo>
                  <a:lnTo>
                    <a:pt x="659130" y="1316736"/>
                  </a:lnTo>
                  <a:lnTo>
                    <a:pt x="706196" y="1315082"/>
                  </a:lnTo>
                  <a:lnTo>
                    <a:pt x="752371" y="1310197"/>
                  </a:lnTo>
                  <a:lnTo>
                    <a:pt x="797542" y="1302192"/>
                  </a:lnTo>
                  <a:lnTo>
                    <a:pt x="841597" y="1291178"/>
                  </a:lnTo>
                  <a:lnTo>
                    <a:pt x="884425" y="1277266"/>
                  </a:lnTo>
                  <a:lnTo>
                    <a:pt x="925914" y="1260567"/>
                  </a:lnTo>
                  <a:lnTo>
                    <a:pt x="965953" y="1241194"/>
                  </a:lnTo>
                  <a:lnTo>
                    <a:pt x="1004430" y="1219258"/>
                  </a:lnTo>
                  <a:lnTo>
                    <a:pt x="1041233" y="1194869"/>
                  </a:lnTo>
                  <a:lnTo>
                    <a:pt x="1076252" y="1168140"/>
                  </a:lnTo>
                  <a:lnTo>
                    <a:pt x="1109373" y="1139182"/>
                  </a:lnTo>
                  <a:lnTo>
                    <a:pt x="1140486" y="1108106"/>
                  </a:lnTo>
                  <a:lnTo>
                    <a:pt x="1169479" y="1075024"/>
                  </a:lnTo>
                  <a:lnTo>
                    <a:pt x="1196241" y="1040047"/>
                  </a:lnTo>
                  <a:lnTo>
                    <a:pt x="1220659" y="1003287"/>
                  </a:lnTo>
                  <a:lnTo>
                    <a:pt x="1242623" y="964854"/>
                  </a:lnTo>
                  <a:lnTo>
                    <a:pt x="1262020" y="924861"/>
                  </a:lnTo>
                  <a:lnTo>
                    <a:pt x="1278739" y="883418"/>
                  </a:lnTo>
                  <a:lnTo>
                    <a:pt x="1292669" y="840638"/>
                  </a:lnTo>
                  <a:lnTo>
                    <a:pt x="1303697" y="796632"/>
                  </a:lnTo>
                  <a:lnTo>
                    <a:pt x="1311713" y="751510"/>
                  </a:lnTo>
                  <a:lnTo>
                    <a:pt x="1316604" y="705385"/>
                  </a:lnTo>
                  <a:lnTo>
                    <a:pt x="1318259" y="658368"/>
                  </a:lnTo>
                  <a:lnTo>
                    <a:pt x="1316604" y="611350"/>
                  </a:lnTo>
                  <a:lnTo>
                    <a:pt x="1311713" y="565225"/>
                  </a:lnTo>
                  <a:lnTo>
                    <a:pt x="1303697" y="520103"/>
                  </a:lnTo>
                  <a:lnTo>
                    <a:pt x="1292669" y="476097"/>
                  </a:lnTo>
                  <a:lnTo>
                    <a:pt x="1278739" y="433317"/>
                  </a:lnTo>
                  <a:lnTo>
                    <a:pt x="1262020" y="391874"/>
                  </a:lnTo>
                  <a:lnTo>
                    <a:pt x="1242623" y="351881"/>
                  </a:lnTo>
                  <a:lnTo>
                    <a:pt x="1220659" y="313448"/>
                  </a:lnTo>
                  <a:lnTo>
                    <a:pt x="1196241" y="276688"/>
                  </a:lnTo>
                  <a:lnTo>
                    <a:pt x="1169479" y="241711"/>
                  </a:lnTo>
                  <a:lnTo>
                    <a:pt x="1140486" y="208629"/>
                  </a:lnTo>
                  <a:lnTo>
                    <a:pt x="1109373" y="177553"/>
                  </a:lnTo>
                  <a:lnTo>
                    <a:pt x="1076252" y="148595"/>
                  </a:lnTo>
                  <a:lnTo>
                    <a:pt x="1041233" y="121866"/>
                  </a:lnTo>
                  <a:lnTo>
                    <a:pt x="1004430" y="97477"/>
                  </a:lnTo>
                  <a:lnTo>
                    <a:pt x="965953" y="75541"/>
                  </a:lnTo>
                  <a:lnTo>
                    <a:pt x="925914" y="56168"/>
                  </a:lnTo>
                  <a:lnTo>
                    <a:pt x="884425" y="39469"/>
                  </a:lnTo>
                  <a:lnTo>
                    <a:pt x="841597" y="25557"/>
                  </a:lnTo>
                  <a:lnTo>
                    <a:pt x="797542" y="14543"/>
                  </a:lnTo>
                  <a:lnTo>
                    <a:pt x="752371" y="6538"/>
                  </a:lnTo>
                  <a:lnTo>
                    <a:pt x="706196" y="1653"/>
                  </a:lnTo>
                  <a:lnTo>
                    <a:pt x="659130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11146" y="2576321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89">
                  <a:moveTo>
                    <a:pt x="0" y="658368"/>
                  </a:moveTo>
                  <a:lnTo>
                    <a:pt x="1655" y="611350"/>
                  </a:lnTo>
                  <a:lnTo>
                    <a:pt x="6546" y="565225"/>
                  </a:lnTo>
                  <a:lnTo>
                    <a:pt x="14562" y="520103"/>
                  </a:lnTo>
                  <a:lnTo>
                    <a:pt x="25590" y="476097"/>
                  </a:lnTo>
                  <a:lnTo>
                    <a:pt x="39520" y="433317"/>
                  </a:lnTo>
                  <a:lnTo>
                    <a:pt x="56239" y="391874"/>
                  </a:lnTo>
                  <a:lnTo>
                    <a:pt x="75636" y="351881"/>
                  </a:lnTo>
                  <a:lnTo>
                    <a:pt x="97600" y="313448"/>
                  </a:lnTo>
                  <a:lnTo>
                    <a:pt x="122018" y="276688"/>
                  </a:lnTo>
                  <a:lnTo>
                    <a:pt x="148780" y="241711"/>
                  </a:lnTo>
                  <a:lnTo>
                    <a:pt x="177773" y="208629"/>
                  </a:lnTo>
                  <a:lnTo>
                    <a:pt x="208886" y="177553"/>
                  </a:lnTo>
                  <a:lnTo>
                    <a:pt x="242007" y="148595"/>
                  </a:lnTo>
                  <a:lnTo>
                    <a:pt x="277026" y="121866"/>
                  </a:lnTo>
                  <a:lnTo>
                    <a:pt x="313829" y="97477"/>
                  </a:lnTo>
                  <a:lnTo>
                    <a:pt x="352306" y="75541"/>
                  </a:lnTo>
                  <a:lnTo>
                    <a:pt x="392345" y="56168"/>
                  </a:lnTo>
                  <a:lnTo>
                    <a:pt x="433834" y="39469"/>
                  </a:lnTo>
                  <a:lnTo>
                    <a:pt x="476662" y="25557"/>
                  </a:lnTo>
                  <a:lnTo>
                    <a:pt x="520717" y="14543"/>
                  </a:lnTo>
                  <a:lnTo>
                    <a:pt x="565888" y="6538"/>
                  </a:lnTo>
                  <a:lnTo>
                    <a:pt x="612063" y="1653"/>
                  </a:lnTo>
                  <a:lnTo>
                    <a:pt x="659130" y="0"/>
                  </a:lnTo>
                  <a:lnTo>
                    <a:pt x="706196" y="1653"/>
                  </a:lnTo>
                  <a:lnTo>
                    <a:pt x="752371" y="6538"/>
                  </a:lnTo>
                  <a:lnTo>
                    <a:pt x="797542" y="14543"/>
                  </a:lnTo>
                  <a:lnTo>
                    <a:pt x="841597" y="25557"/>
                  </a:lnTo>
                  <a:lnTo>
                    <a:pt x="884425" y="39469"/>
                  </a:lnTo>
                  <a:lnTo>
                    <a:pt x="925914" y="56168"/>
                  </a:lnTo>
                  <a:lnTo>
                    <a:pt x="965953" y="75541"/>
                  </a:lnTo>
                  <a:lnTo>
                    <a:pt x="1004430" y="97477"/>
                  </a:lnTo>
                  <a:lnTo>
                    <a:pt x="1041233" y="121866"/>
                  </a:lnTo>
                  <a:lnTo>
                    <a:pt x="1076252" y="148595"/>
                  </a:lnTo>
                  <a:lnTo>
                    <a:pt x="1109373" y="177553"/>
                  </a:lnTo>
                  <a:lnTo>
                    <a:pt x="1140486" y="208629"/>
                  </a:lnTo>
                  <a:lnTo>
                    <a:pt x="1169479" y="241711"/>
                  </a:lnTo>
                  <a:lnTo>
                    <a:pt x="1196241" y="276688"/>
                  </a:lnTo>
                  <a:lnTo>
                    <a:pt x="1220659" y="313448"/>
                  </a:lnTo>
                  <a:lnTo>
                    <a:pt x="1242623" y="351881"/>
                  </a:lnTo>
                  <a:lnTo>
                    <a:pt x="1262020" y="391874"/>
                  </a:lnTo>
                  <a:lnTo>
                    <a:pt x="1278739" y="433317"/>
                  </a:lnTo>
                  <a:lnTo>
                    <a:pt x="1292669" y="476097"/>
                  </a:lnTo>
                  <a:lnTo>
                    <a:pt x="1303697" y="520103"/>
                  </a:lnTo>
                  <a:lnTo>
                    <a:pt x="1311713" y="565225"/>
                  </a:lnTo>
                  <a:lnTo>
                    <a:pt x="1316604" y="611350"/>
                  </a:lnTo>
                  <a:lnTo>
                    <a:pt x="1318259" y="658368"/>
                  </a:lnTo>
                  <a:lnTo>
                    <a:pt x="1316604" y="705385"/>
                  </a:lnTo>
                  <a:lnTo>
                    <a:pt x="1311713" y="751510"/>
                  </a:lnTo>
                  <a:lnTo>
                    <a:pt x="1303697" y="796632"/>
                  </a:lnTo>
                  <a:lnTo>
                    <a:pt x="1292669" y="840638"/>
                  </a:lnTo>
                  <a:lnTo>
                    <a:pt x="1278739" y="883418"/>
                  </a:lnTo>
                  <a:lnTo>
                    <a:pt x="1262020" y="924861"/>
                  </a:lnTo>
                  <a:lnTo>
                    <a:pt x="1242623" y="964854"/>
                  </a:lnTo>
                  <a:lnTo>
                    <a:pt x="1220659" y="1003287"/>
                  </a:lnTo>
                  <a:lnTo>
                    <a:pt x="1196241" y="1040047"/>
                  </a:lnTo>
                  <a:lnTo>
                    <a:pt x="1169479" y="1075024"/>
                  </a:lnTo>
                  <a:lnTo>
                    <a:pt x="1140486" y="1108106"/>
                  </a:lnTo>
                  <a:lnTo>
                    <a:pt x="1109373" y="1139182"/>
                  </a:lnTo>
                  <a:lnTo>
                    <a:pt x="1076252" y="1168140"/>
                  </a:lnTo>
                  <a:lnTo>
                    <a:pt x="1041233" y="1194869"/>
                  </a:lnTo>
                  <a:lnTo>
                    <a:pt x="1004430" y="1219258"/>
                  </a:lnTo>
                  <a:lnTo>
                    <a:pt x="965953" y="1241194"/>
                  </a:lnTo>
                  <a:lnTo>
                    <a:pt x="925914" y="1260567"/>
                  </a:lnTo>
                  <a:lnTo>
                    <a:pt x="884425" y="1277266"/>
                  </a:lnTo>
                  <a:lnTo>
                    <a:pt x="841597" y="1291178"/>
                  </a:lnTo>
                  <a:lnTo>
                    <a:pt x="797542" y="1302192"/>
                  </a:lnTo>
                  <a:lnTo>
                    <a:pt x="752371" y="1310197"/>
                  </a:lnTo>
                  <a:lnTo>
                    <a:pt x="706196" y="1315082"/>
                  </a:lnTo>
                  <a:lnTo>
                    <a:pt x="659130" y="1316736"/>
                  </a:lnTo>
                  <a:lnTo>
                    <a:pt x="612063" y="1315082"/>
                  </a:lnTo>
                  <a:lnTo>
                    <a:pt x="565888" y="1310197"/>
                  </a:lnTo>
                  <a:lnTo>
                    <a:pt x="520717" y="1302192"/>
                  </a:lnTo>
                  <a:lnTo>
                    <a:pt x="476662" y="1291178"/>
                  </a:lnTo>
                  <a:lnTo>
                    <a:pt x="433834" y="1277266"/>
                  </a:lnTo>
                  <a:lnTo>
                    <a:pt x="392345" y="1260567"/>
                  </a:lnTo>
                  <a:lnTo>
                    <a:pt x="352306" y="1241194"/>
                  </a:lnTo>
                  <a:lnTo>
                    <a:pt x="313829" y="1219258"/>
                  </a:lnTo>
                  <a:lnTo>
                    <a:pt x="277026" y="1194869"/>
                  </a:lnTo>
                  <a:lnTo>
                    <a:pt x="242007" y="1168140"/>
                  </a:lnTo>
                  <a:lnTo>
                    <a:pt x="208886" y="1139182"/>
                  </a:lnTo>
                  <a:lnTo>
                    <a:pt x="177773" y="1108106"/>
                  </a:lnTo>
                  <a:lnTo>
                    <a:pt x="148780" y="1075024"/>
                  </a:lnTo>
                  <a:lnTo>
                    <a:pt x="122018" y="1040047"/>
                  </a:lnTo>
                  <a:lnTo>
                    <a:pt x="97600" y="1003287"/>
                  </a:lnTo>
                  <a:lnTo>
                    <a:pt x="75636" y="964854"/>
                  </a:lnTo>
                  <a:lnTo>
                    <a:pt x="56239" y="924861"/>
                  </a:lnTo>
                  <a:lnTo>
                    <a:pt x="39520" y="883418"/>
                  </a:lnTo>
                  <a:lnTo>
                    <a:pt x="25590" y="840638"/>
                  </a:lnTo>
                  <a:lnTo>
                    <a:pt x="14562" y="796632"/>
                  </a:lnTo>
                  <a:lnTo>
                    <a:pt x="6546" y="751510"/>
                  </a:lnTo>
                  <a:lnTo>
                    <a:pt x="1655" y="705385"/>
                  </a:lnTo>
                  <a:lnTo>
                    <a:pt x="0" y="65836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7668" y="2919983"/>
              <a:ext cx="647700" cy="57607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298128" y="4273232"/>
            <a:ext cx="8322945" cy="1343025"/>
            <a:chOff x="2298128" y="4273232"/>
            <a:chExt cx="8322945" cy="1343025"/>
          </a:xfrm>
        </p:grpSpPr>
        <p:sp>
          <p:nvSpPr>
            <p:cNvPr id="12" name="object 12"/>
            <p:cNvSpPr/>
            <p:nvPr/>
          </p:nvSpPr>
          <p:spPr>
            <a:xfrm>
              <a:off x="2971038" y="4286250"/>
              <a:ext cx="7637145" cy="1316990"/>
            </a:xfrm>
            <a:custGeom>
              <a:avLst/>
              <a:gdLst/>
              <a:ahLst/>
              <a:cxnLst/>
              <a:rect l="l" t="t" r="r" b="b"/>
              <a:pathLst>
                <a:path w="7637145" h="1316989">
                  <a:moveTo>
                    <a:pt x="7636763" y="0"/>
                  </a:moveTo>
                  <a:lnTo>
                    <a:pt x="658367" y="0"/>
                  </a:lnTo>
                  <a:lnTo>
                    <a:pt x="0" y="658367"/>
                  </a:lnTo>
                  <a:lnTo>
                    <a:pt x="658367" y="1316736"/>
                  </a:lnTo>
                  <a:lnTo>
                    <a:pt x="7636763" y="1316736"/>
                  </a:lnTo>
                  <a:lnTo>
                    <a:pt x="763676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71038" y="4286250"/>
              <a:ext cx="7637145" cy="1316990"/>
            </a:xfrm>
            <a:custGeom>
              <a:avLst/>
              <a:gdLst/>
              <a:ahLst/>
              <a:cxnLst/>
              <a:rect l="l" t="t" r="r" b="b"/>
              <a:pathLst>
                <a:path w="7637145" h="1316989">
                  <a:moveTo>
                    <a:pt x="7636763" y="1316736"/>
                  </a:moveTo>
                  <a:lnTo>
                    <a:pt x="658367" y="1316736"/>
                  </a:lnTo>
                  <a:lnTo>
                    <a:pt x="0" y="658367"/>
                  </a:lnTo>
                  <a:lnTo>
                    <a:pt x="658367" y="0"/>
                  </a:lnTo>
                  <a:lnTo>
                    <a:pt x="7636763" y="0"/>
                  </a:lnTo>
                  <a:lnTo>
                    <a:pt x="7636763" y="131673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11146" y="4286250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89">
                  <a:moveTo>
                    <a:pt x="659130" y="0"/>
                  </a:moveTo>
                  <a:lnTo>
                    <a:pt x="612063" y="1653"/>
                  </a:lnTo>
                  <a:lnTo>
                    <a:pt x="565888" y="6538"/>
                  </a:lnTo>
                  <a:lnTo>
                    <a:pt x="520717" y="14543"/>
                  </a:lnTo>
                  <a:lnTo>
                    <a:pt x="476662" y="25557"/>
                  </a:lnTo>
                  <a:lnTo>
                    <a:pt x="433834" y="39469"/>
                  </a:lnTo>
                  <a:lnTo>
                    <a:pt x="392345" y="56168"/>
                  </a:lnTo>
                  <a:lnTo>
                    <a:pt x="352306" y="75541"/>
                  </a:lnTo>
                  <a:lnTo>
                    <a:pt x="313829" y="97477"/>
                  </a:lnTo>
                  <a:lnTo>
                    <a:pt x="277026" y="121866"/>
                  </a:lnTo>
                  <a:lnTo>
                    <a:pt x="242007" y="148595"/>
                  </a:lnTo>
                  <a:lnTo>
                    <a:pt x="208886" y="177553"/>
                  </a:lnTo>
                  <a:lnTo>
                    <a:pt x="177773" y="208629"/>
                  </a:lnTo>
                  <a:lnTo>
                    <a:pt x="148780" y="241711"/>
                  </a:lnTo>
                  <a:lnTo>
                    <a:pt x="122018" y="276688"/>
                  </a:lnTo>
                  <a:lnTo>
                    <a:pt x="97600" y="313448"/>
                  </a:lnTo>
                  <a:lnTo>
                    <a:pt x="75636" y="351881"/>
                  </a:lnTo>
                  <a:lnTo>
                    <a:pt x="56239" y="391874"/>
                  </a:lnTo>
                  <a:lnTo>
                    <a:pt x="39520" y="433317"/>
                  </a:lnTo>
                  <a:lnTo>
                    <a:pt x="25590" y="476097"/>
                  </a:lnTo>
                  <a:lnTo>
                    <a:pt x="14562" y="520103"/>
                  </a:lnTo>
                  <a:lnTo>
                    <a:pt x="6546" y="565225"/>
                  </a:lnTo>
                  <a:lnTo>
                    <a:pt x="1655" y="611350"/>
                  </a:lnTo>
                  <a:lnTo>
                    <a:pt x="0" y="658367"/>
                  </a:lnTo>
                  <a:lnTo>
                    <a:pt x="1655" y="705385"/>
                  </a:lnTo>
                  <a:lnTo>
                    <a:pt x="6546" y="751510"/>
                  </a:lnTo>
                  <a:lnTo>
                    <a:pt x="14562" y="796632"/>
                  </a:lnTo>
                  <a:lnTo>
                    <a:pt x="25590" y="840638"/>
                  </a:lnTo>
                  <a:lnTo>
                    <a:pt x="39520" y="883418"/>
                  </a:lnTo>
                  <a:lnTo>
                    <a:pt x="56239" y="924861"/>
                  </a:lnTo>
                  <a:lnTo>
                    <a:pt x="75636" y="964854"/>
                  </a:lnTo>
                  <a:lnTo>
                    <a:pt x="97600" y="1003287"/>
                  </a:lnTo>
                  <a:lnTo>
                    <a:pt x="122018" y="1040047"/>
                  </a:lnTo>
                  <a:lnTo>
                    <a:pt x="148780" y="1075024"/>
                  </a:lnTo>
                  <a:lnTo>
                    <a:pt x="177773" y="1108106"/>
                  </a:lnTo>
                  <a:lnTo>
                    <a:pt x="208886" y="1139182"/>
                  </a:lnTo>
                  <a:lnTo>
                    <a:pt x="242007" y="1168140"/>
                  </a:lnTo>
                  <a:lnTo>
                    <a:pt x="277026" y="1194869"/>
                  </a:lnTo>
                  <a:lnTo>
                    <a:pt x="313829" y="1219258"/>
                  </a:lnTo>
                  <a:lnTo>
                    <a:pt x="352306" y="1241194"/>
                  </a:lnTo>
                  <a:lnTo>
                    <a:pt x="392345" y="1260567"/>
                  </a:lnTo>
                  <a:lnTo>
                    <a:pt x="433834" y="1277266"/>
                  </a:lnTo>
                  <a:lnTo>
                    <a:pt x="476662" y="1291178"/>
                  </a:lnTo>
                  <a:lnTo>
                    <a:pt x="520717" y="1302192"/>
                  </a:lnTo>
                  <a:lnTo>
                    <a:pt x="565888" y="1310197"/>
                  </a:lnTo>
                  <a:lnTo>
                    <a:pt x="612063" y="1315082"/>
                  </a:lnTo>
                  <a:lnTo>
                    <a:pt x="659130" y="1316736"/>
                  </a:lnTo>
                  <a:lnTo>
                    <a:pt x="706196" y="1315082"/>
                  </a:lnTo>
                  <a:lnTo>
                    <a:pt x="752371" y="1310197"/>
                  </a:lnTo>
                  <a:lnTo>
                    <a:pt x="797542" y="1302192"/>
                  </a:lnTo>
                  <a:lnTo>
                    <a:pt x="841597" y="1291178"/>
                  </a:lnTo>
                  <a:lnTo>
                    <a:pt x="884425" y="1277266"/>
                  </a:lnTo>
                  <a:lnTo>
                    <a:pt x="925914" y="1260567"/>
                  </a:lnTo>
                  <a:lnTo>
                    <a:pt x="965953" y="1241194"/>
                  </a:lnTo>
                  <a:lnTo>
                    <a:pt x="1004430" y="1219258"/>
                  </a:lnTo>
                  <a:lnTo>
                    <a:pt x="1041233" y="1194869"/>
                  </a:lnTo>
                  <a:lnTo>
                    <a:pt x="1076252" y="1168140"/>
                  </a:lnTo>
                  <a:lnTo>
                    <a:pt x="1109373" y="1139182"/>
                  </a:lnTo>
                  <a:lnTo>
                    <a:pt x="1140486" y="1108106"/>
                  </a:lnTo>
                  <a:lnTo>
                    <a:pt x="1169479" y="1075024"/>
                  </a:lnTo>
                  <a:lnTo>
                    <a:pt x="1196241" y="1040047"/>
                  </a:lnTo>
                  <a:lnTo>
                    <a:pt x="1220659" y="1003287"/>
                  </a:lnTo>
                  <a:lnTo>
                    <a:pt x="1242623" y="964854"/>
                  </a:lnTo>
                  <a:lnTo>
                    <a:pt x="1262020" y="924861"/>
                  </a:lnTo>
                  <a:lnTo>
                    <a:pt x="1278739" y="883418"/>
                  </a:lnTo>
                  <a:lnTo>
                    <a:pt x="1292669" y="840638"/>
                  </a:lnTo>
                  <a:lnTo>
                    <a:pt x="1303697" y="796632"/>
                  </a:lnTo>
                  <a:lnTo>
                    <a:pt x="1311713" y="751510"/>
                  </a:lnTo>
                  <a:lnTo>
                    <a:pt x="1316604" y="705385"/>
                  </a:lnTo>
                  <a:lnTo>
                    <a:pt x="1318259" y="658367"/>
                  </a:lnTo>
                  <a:lnTo>
                    <a:pt x="1316604" y="611350"/>
                  </a:lnTo>
                  <a:lnTo>
                    <a:pt x="1311713" y="565225"/>
                  </a:lnTo>
                  <a:lnTo>
                    <a:pt x="1303697" y="520103"/>
                  </a:lnTo>
                  <a:lnTo>
                    <a:pt x="1292669" y="476097"/>
                  </a:lnTo>
                  <a:lnTo>
                    <a:pt x="1278739" y="433317"/>
                  </a:lnTo>
                  <a:lnTo>
                    <a:pt x="1262020" y="391874"/>
                  </a:lnTo>
                  <a:lnTo>
                    <a:pt x="1242623" y="351881"/>
                  </a:lnTo>
                  <a:lnTo>
                    <a:pt x="1220659" y="313448"/>
                  </a:lnTo>
                  <a:lnTo>
                    <a:pt x="1196241" y="276688"/>
                  </a:lnTo>
                  <a:lnTo>
                    <a:pt x="1169479" y="241711"/>
                  </a:lnTo>
                  <a:lnTo>
                    <a:pt x="1140486" y="208629"/>
                  </a:lnTo>
                  <a:lnTo>
                    <a:pt x="1109373" y="177553"/>
                  </a:lnTo>
                  <a:lnTo>
                    <a:pt x="1076252" y="148595"/>
                  </a:lnTo>
                  <a:lnTo>
                    <a:pt x="1041233" y="121866"/>
                  </a:lnTo>
                  <a:lnTo>
                    <a:pt x="1004430" y="97477"/>
                  </a:lnTo>
                  <a:lnTo>
                    <a:pt x="965953" y="75541"/>
                  </a:lnTo>
                  <a:lnTo>
                    <a:pt x="925914" y="56168"/>
                  </a:lnTo>
                  <a:lnTo>
                    <a:pt x="884425" y="39469"/>
                  </a:lnTo>
                  <a:lnTo>
                    <a:pt x="841597" y="25557"/>
                  </a:lnTo>
                  <a:lnTo>
                    <a:pt x="797542" y="14543"/>
                  </a:lnTo>
                  <a:lnTo>
                    <a:pt x="752371" y="6538"/>
                  </a:lnTo>
                  <a:lnTo>
                    <a:pt x="706196" y="1653"/>
                  </a:lnTo>
                  <a:lnTo>
                    <a:pt x="659130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11146" y="4286250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89">
                  <a:moveTo>
                    <a:pt x="0" y="658367"/>
                  </a:moveTo>
                  <a:lnTo>
                    <a:pt x="1655" y="611350"/>
                  </a:lnTo>
                  <a:lnTo>
                    <a:pt x="6546" y="565225"/>
                  </a:lnTo>
                  <a:lnTo>
                    <a:pt x="14562" y="520103"/>
                  </a:lnTo>
                  <a:lnTo>
                    <a:pt x="25590" y="476097"/>
                  </a:lnTo>
                  <a:lnTo>
                    <a:pt x="39520" y="433317"/>
                  </a:lnTo>
                  <a:lnTo>
                    <a:pt x="56239" y="391874"/>
                  </a:lnTo>
                  <a:lnTo>
                    <a:pt x="75636" y="351881"/>
                  </a:lnTo>
                  <a:lnTo>
                    <a:pt x="97600" y="313448"/>
                  </a:lnTo>
                  <a:lnTo>
                    <a:pt x="122018" y="276688"/>
                  </a:lnTo>
                  <a:lnTo>
                    <a:pt x="148780" y="241711"/>
                  </a:lnTo>
                  <a:lnTo>
                    <a:pt x="177773" y="208629"/>
                  </a:lnTo>
                  <a:lnTo>
                    <a:pt x="208886" y="177553"/>
                  </a:lnTo>
                  <a:lnTo>
                    <a:pt x="242007" y="148595"/>
                  </a:lnTo>
                  <a:lnTo>
                    <a:pt x="277026" y="121866"/>
                  </a:lnTo>
                  <a:lnTo>
                    <a:pt x="313829" y="97477"/>
                  </a:lnTo>
                  <a:lnTo>
                    <a:pt x="352306" y="75541"/>
                  </a:lnTo>
                  <a:lnTo>
                    <a:pt x="392345" y="56168"/>
                  </a:lnTo>
                  <a:lnTo>
                    <a:pt x="433834" y="39469"/>
                  </a:lnTo>
                  <a:lnTo>
                    <a:pt x="476662" y="25557"/>
                  </a:lnTo>
                  <a:lnTo>
                    <a:pt x="520717" y="14543"/>
                  </a:lnTo>
                  <a:lnTo>
                    <a:pt x="565888" y="6538"/>
                  </a:lnTo>
                  <a:lnTo>
                    <a:pt x="612063" y="1653"/>
                  </a:lnTo>
                  <a:lnTo>
                    <a:pt x="659130" y="0"/>
                  </a:lnTo>
                  <a:lnTo>
                    <a:pt x="706196" y="1653"/>
                  </a:lnTo>
                  <a:lnTo>
                    <a:pt x="752371" y="6538"/>
                  </a:lnTo>
                  <a:lnTo>
                    <a:pt x="797542" y="14543"/>
                  </a:lnTo>
                  <a:lnTo>
                    <a:pt x="841597" y="25557"/>
                  </a:lnTo>
                  <a:lnTo>
                    <a:pt x="884425" y="39469"/>
                  </a:lnTo>
                  <a:lnTo>
                    <a:pt x="925914" y="56168"/>
                  </a:lnTo>
                  <a:lnTo>
                    <a:pt x="965953" y="75541"/>
                  </a:lnTo>
                  <a:lnTo>
                    <a:pt x="1004430" y="97477"/>
                  </a:lnTo>
                  <a:lnTo>
                    <a:pt x="1041233" y="121866"/>
                  </a:lnTo>
                  <a:lnTo>
                    <a:pt x="1076252" y="148595"/>
                  </a:lnTo>
                  <a:lnTo>
                    <a:pt x="1109373" y="177553"/>
                  </a:lnTo>
                  <a:lnTo>
                    <a:pt x="1140486" y="208629"/>
                  </a:lnTo>
                  <a:lnTo>
                    <a:pt x="1169479" y="241711"/>
                  </a:lnTo>
                  <a:lnTo>
                    <a:pt x="1196241" y="276688"/>
                  </a:lnTo>
                  <a:lnTo>
                    <a:pt x="1220659" y="313448"/>
                  </a:lnTo>
                  <a:lnTo>
                    <a:pt x="1242623" y="351881"/>
                  </a:lnTo>
                  <a:lnTo>
                    <a:pt x="1262020" y="391874"/>
                  </a:lnTo>
                  <a:lnTo>
                    <a:pt x="1278739" y="433317"/>
                  </a:lnTo>
                  <a:lnTo>
                    <a:pt x="1292669" y="476097"/>
                  </a:lnTo>
                  <a:lnTo>
                    <a:pt x="1303697" y="520103"/>
                  </a:lnTo>
                  <a:lnTo>
                    <a:pt x="1311713" y="565225"/>
                  </a:lnTo>
                  <a:lnTo>
                    <a:pt x="1316604" y="611350"/>
                  </a:lnTo>
                  <a:lnTo>
                    <a:pt x="1318259" y="658367"/>
                  </a:lnTo>
                  <a:lnTo>
                    <a:pt x="1316604" y="705385"/>
                  </a:lnTo>
                  <a:lnTo>
                    <a:pt x="1311713" y="751510"/>
                  </a:lnTo>
                  <a:lnTo>
                    <a:pt x="1303697" y="796632"/>
                  </a:lnTo>
                  <a:lnTo>
                    <a:pt x="1292669" y="840638"/>
                  </a:lnTo>
                  <a:lnTo>
                    <a:pt x="1278739" y="883418"/>
                  </a:lnTo>
                  <a:lnTo>
                    <a:pt x="1262020" y="924861"/>
                  </a:lnTo>
                  <a:lnTo>
                    <a:pt x="1242623" y="964854"/>
                  </a:lnTo>
                  <a:lnTo>
                    <a:pt x="1220659" y="1003287"/>
                  </a:lnTo>
                  <a:lnTo>
                    <a:pt x="1196241" y="1040047"/>
                  </a:lnTo>
                  <a:lnTo>
                    <a:pt x="1169479" y="1075024"/>
                  </a:lnTo>
                  <a:lnTo>
                    <a:pt x="1140486" y="1108106"/>
                  </a:lnTo>
                  <a:lnTo>
                    <a:pt x="1109373" y="1139182"/>
                  </a:lnTo>
                  <a:lnTo>
                    <a:pt x="1076252" y="1168140"/>
                  </a:lnTo>
                  <a:lnTo>
                    <a:pt x="1041233" y="1194869"/>
                  </a:lnTo>
                  <a:lnTo>
                    <a:pt x="1004430" y="1219258"/>
                  </a:lnTo>
                  <a:lnTo>
                    <a:pt x="965953" y="1241194"/>
                  </a:lnTo>
                  <a:lnTo>
                    <a:pt x="925914" y="1260567"/>
                  </a:lnTo>
                  <a:lnTo>
                    <a:pt x="884425" y="1277266"/>
                  </a:lnTo>
                  <a:lnTo>
                    <a:pt x="841597" y="1291178"/>
                  </a:lnTo>
                  <a:lnTo>
                    <a:pt x="797542" y="1302192"/>
                  </a:lnTo>
                  <a:lnTo>
                    <a:pt x="752371" y="1310197"/>
                  </a:lnTo>
                  <a:lnTo>
                    <a:pt x="706196" y="1315082"/>
                  </a:lnTo>
                  <a:lnTo>
                    <a:pt x="659130" y="1316736"/>
                  </a:lnTo>
                  <a:lnTo>
                    <a:pt x="612063" y="1315082"/>
                  </a:lnTo>
                  <a:lnTo>
                    <a:pt x="565888" y="1310197"/>
                  </a:lnTo>
                  <a:lnTo>
                    <a:pt x="520717" y="1302192"/>
                  </a:lnTo>
                  <a:lnTo>
                    <a:pt x="476662" y="1291178"/>
                  </a:lnTo>
                  <a:lnTo>
                    <a:pt x="433834" y="1277266"/>
                  </a:lnTo>
                  <a:lnTo>
                    <a:pt x="392345" y="1260567"/>
                  </a:lnTo>
                  <a:lnTo>
                    <a:pt x="352306" y="1241194"/>
                  </a:lnTo>
                  <a:lnTo>
                    <a:pt x="313829" y="1219258"/>
                  </a:lnTo>
                  <a:lnTo>
                    <a:pt x="277026" y="1194869"/>
                  </a:lnTo>
                  <a:lnTo>
                    <a:pt x="242007" y="1168140"/>
                  </a:lnTo>
                  <a:lnTo>
                    <a:pt x="208886" y="1139182"/>
                  </a:lnTo>
                  <a:lnTo>
                    <a:pt x="177773" y="1108106"/>
                  </a:lnTo>
                  <a:lnTo>
                    <a:pt x="148780" y="1075024"/>
                  </a:lnTo>
                  <a:lnTo>
                    <a:pt x="122018" y="1040047"/>
                  </a:lnTo>
                  <a:lnTo>
                    <a:pt x="97600" y="1003287"/>
                  </a:lnTo>
                  <a:lnTo>
                    <a:pt x="75636" y="964854"/>
                  </a:lnTo>
                  <a:lnTo>
                    <a:pt x="56239" y="924861"/>
                  </a:lnTo>
                  <a:lnTo>
                    <a:pt x="39520" y="883418"/>
                  </a:lnTo>
                  <a:lnTo>
                    <a:pt x="25590" y="840638"/>
                  </a:lnTo>
                  <a:lnTo>
                    <a:pt x="14562" y="796632"/>
                  </a:lnTo>
                  <a:lnTo>
                    <a:pt x="6546" y="751510"/>
                  </a:lnTo>
                  <a:lnTo>
                    <a:pt x="1655" y="705385"/>
                  </a:lnTo>
                  <a:lnTo>
                    <a:pt x="0" y="658367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298128" y="5983160"/>
            <a:ext cx="8322945" cy="1343025"/>
            <a:chOff x="2298128" y="5983160"/>
            <a:chExt cx="8322945" cy="1343025"/>
          </a:xfrm>
        </p:grpSpPr>
        <p:sp>
          <p:nvSpPr>
            <p:cNvPr id="17" name="object 17"/>
            <p:cNvSpPr/>
            <p:nvPr/>
          </p:nvSpPr>
          <p:spPr>
            <a:xfrm>
              <a:off x="2971038" y="5996177"/>
              <a:ext cx="7637145" cy="1316990"/>
            </a:xfrm>
            <a:custGeom>
              <a:avLst/>
              <a:gdLst/>
              <a:ahLst/>
              <a:cxnLst/>
              <a:rect l="l" t="t" r="r" b="b"/>
              <a:pathLst>
                <a:path w="7637145" h="1316990">
                  <a:moveTo>
                    <a:pt x="7636763" y="0"/>
                  </a:moveTo>
                  <a:lnTo>
                    <a:pt x="658367" y="0"/>
                  </a:lnTo>
                  <a:lnTo>
                    <a:pt x="0" y="658368"/>
                  </a:lnTo>
                  <a:lnTo>
                    <a:pt x="658367" y="1316736"/>
                  </a:lnTo>
                  <a:lnTo>
                    <a:pt x="7636763" y="1316736"/>
                  </a:lnTo>
                  <a:lnTo>
                    <a:pt x="763676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1038" y="5996177"/>
              <a:ext cx="7637145" cy="1316990"/>
            </a:xfrm>
            <a:custGeom>
              <a:avLst/>
              <a:gdLst/>
              <a:ahLst/>
              <a:cxnLst/>
              <a:rect l="l" t="t" r="r" b="b"/>
              <a:pathLst>
                <a:path w="7637145" h="1316990">
                  <a:moveTo>
                    <a:pt x="7636763" y="1316736"/>
                  </a:moveTo>
                  <a:lnTo>
                    <a:pt x="658367" y="1316736"/>
                  </a:lnTo>
                  <a:lnTo>
                    <a:pt x="0" y="658368"/>
                  </a:lnTo>
                  <a:lnTo>
                    <a:pt x="658367" y="0"/>
                  </a:lnTo>
                  <a:lnTo>
                    <a:pt x="7636763" y="0"/>
                  </a:lnTo>
                  <a:lnTo>
                    <a:pt x="7636763" y="131673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11146" y="5996177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90">
                  <a:moveTo>
                    <a:pt x="659130" y="0"/>
                  </a:moveTo>
                  <a:lnTo>
                    <a:pt x="612063" y="1653"/>
                  </a:lnTo>
                  <a:lnTo>
                    <a:pt x="565888" y="6538"/>
                  </a:lnTo>
                  <a:lnTo>
                    <a:pt x="520717" y="14543"/>
                  </a:lnTo>
                  <a:lnTo>
                    <a:pt x="476662" y="25557"/>
                  </a:lnTo>
                  <a:lnTo>
                    <a:pt x="433834" y="39469"/>
                  </a:lnTo>
                  <a:lnTo>
                    <a:pt x="392345" y="56168"/>
                  </a:lnTo>
                  <a:lnTo>
                    <a:pt x="352306" y="75541"/>
                  </a:lnTo>
                  <a:lnTo>
                    <a:pt x="313829" y="97477"/>
                  </a:lnTo>
                  <a:lnTo>
                    <a:pt x="277026" y="121866"/>
                  </a:lnTo>
                  <a:lnTo>
                    <a:pt x="242007" y="148595"/>
                  </a:lnTo>
                  <a:lnTo>
                    <a:pt x="208886" y="177553"/>
                  </a:lnTo>
                  <a:lnTo>
                    <a:pt x="177773" y="208629"/>
                  </a:lnTo>
                  <a:lnTo>
                    <a:pt x="148780" y="241711"/>
                  </a:lnTo>
                  <a:lnTo>
                    <a:pt x="122018" y="276688"/>
                  </a:lnTo>
                  <a:lnTo>
                    <a:pt x="97600" y="313448"/>
                  </a:lnTo>
                  <a:lnTo>
                    <a:pt x="75636" y="351881"/>
                  </a:lnTo>
                  <a:lnTo>
                    <a:pt x="56239" y="391874"/>
                  </a:lnTo>
                  <a:lnTo>
                    <a:pt x="39520" y="433317"/>
                  </a:lnTo>
                  <a:lnTo>
                    <a:pt x="25590" y="476097"/>
                  </a:lnTo>
                  <a:lnTo>
                    <a:pt x="14562" y="520103"/>
                  </a:lnTo>
                  <a:lnTo>
                    <a:pt x="6546" y="565225"/>
                  </a:lnTo>
                  <a:lnTo>
                    <a:pt x="1655" y="611350"/>
                  </a:lnTo>
                  <a:lnTo>
                    <a:pt x="0" y="658368"/>
                  </a:lnTo>
                  <a:lnTo>
                    <a:pt x="1655" y="705385"/>
                  </a:lnTo>
                  <a:lnTo>
                    <a:pt x="6546" y="751510"/>
                  </a:lnTo>
                  <a:lnTo>
                    <a:pt x="14562" y="796632"/>
                  </a:lnTo>
                  <a:lnTo>
                    <a:pt x="25590" y="840638"/>
                  </a:lnTo>
                  <a:lnTo>
                    <a:pt x="39520" y="883418"/>
                  </a:lnTo>
                  <a:lnTo>
                    <a:pt x="56239" y="924861"/>
                  </a:lnTo>
                  <a:lnTo>
                    <a:pt x="75636" y="964854"/>
                  </a:lnTo>
                  <a:lnTo>
                    <a:pt x="97600" y="1003287"/>
                  </a:lnTo>
                  <a:lnTo>
                    <a:pt x="122018" y="1040047"/>
                  </a:lnTo>
                  <a:lnTo>
                    <a:pt x="148780" y="1075024"/>
                  </a:lnTo>
                  <a:lnTo>
                    <a:pt x="177773" y="1108106"/>
                  </a:lnTo>
                  <a:lnTo>
                    <a:pt x="208886" y="1139182"/>
                  </a:lnTo>
                  <a:lnTo>
                    <a:pt x="242007" y="1168140"/>
                  </a:lnTo>
                  <a:lnTo>
                    <a:pt x="277026" y="1194869"/>
                  </a:lnTo>
                  <a:lnTo>
                    <a:pt x="313829" y="1219258"/>
                  </a:lnTo>
                  <a:lnTo>
                    <a:pt x="352306" y="1241194"/>
                  </a:lnTo>
                  <a:lnTo>
                    <a:pt x="392345" y="1260567"/>
                  </a:lnTo>
                  <a:lnTo>
                    <a:pt x="433834" y="1277266"/>
                  </a:lnTo>
                  <a:lnTo>
                    <a:pt x="476662" y="1291178"/>
                  </a:lnTo>
                  <a:lnTo>
                    <a:pt x="520717" y="1302192"/>
                  </a:lnTo>
                  <a:lnTo>
                    <a:pt x="565888" y="1310197"/>
                  </a:lnTo>
                  <a:lnTo>
                    <a:pt x="612063" y="1315082"/>
                  </a:lnTo>
                  <a:lnTo>
                    <a:pt x="659130" y="1316736"/>
                  </a:lnTo>
                  <a:lnTo>
                    <a:pt x="706196" y="1315082"/>
                  </a:lnTo>
                  <a:lnTo>
                    <a:pt x="752371" y="1310197"/>
                  </a:lnTo>
                  <a:lnTo>
                    <a:pt x="797542" y="1302192"/>
                  </a:lnTo>
                  <a:lnTo>
                    <a:pt x="841597" y="1291178"/>
                  </a:lnTo>
                  <a:lnTo>
                    <a:pt x="884425" y="1277266"/>
                  </a:lnTo>
                  <a:lnTo>
                    <a:pt x="925914" y="1260567"/>
                  </a:lnTo>
                  <a:lnTo>
                    <a:pt x="965953" y="1241194"/>
                  </a:lnTo>
                  <a:lnTo>
                    <a:pt x="1004430" y="1219258"/>
                  </a:lnTo>
                  <a:lnTo>
                    <a:pt x="1041233" y="1194869"/>
                  </a:lnTo>
                  <a:lnTo>
                    <a:pt x="1076252" y="1168140"/>
                  </a:lnTo>
                  <a:lnTo>
                    <a:pt x="1109373" y="1139182"/>
                  </a:lnTo>
                  <a:lnTo>
                    <a:pt x="1140486" y="1108106"/>
                  </a:lnTo>
                  <a:lnTo>
                    <a:pt x="1169479" y="1075024"/>
                  </a:lnTo>
                  <a:lnTo>
                    <a:pt x="1196241" y="1040047"/>
                  </a:lnTo>
                  <a:lnTo>
                    <a:pt x="1220659" y="1003287"/>
                  </a:lnTo>
                  <a:lnTo>
                    <a:pt x="1242623" y="964854"/>
                  </a:lnTo>
                  <a:lnTo>
                    <a:pt x="1262020" y="924861"/>
                  </a:lnTo>
                  <a:lnTo>
                    <a:pt x="1278739" y="883418"/>
                  </a:lnTo>
                  <a:lnTo>
                    <a:pt x="1292669" y="840638"/>
                  </a:lnTo>
                  <a:lnTo>
                    <a:pt x="1303697" y="796632"/>
                  </a:lnTo>
                  <a:lnTo>
                    <a:pt x="1311713" y="751510"/>
                  </a:lnTo>
                  <a:lnTo>
                    <a:pt x="1316604" y="705385"/>
                  </a:lnTo>
                  <a:lnTo>
                    <a:pt x="1318259" y="658368"/>
                  </a:lnTo>
                  <a:lnTo>
                    <a:pt x="1316604" y="611350"/>
                  </a:lnTo>
                  <a:lnTo>
                    <a:pt x="1311713" y="565225"/>
                  </a:lnTo>
                  <a:lnTo>
                    <a:pt x="1303697" y="520103"/>
                  </a:lnTo>
                  <a:lnTo>
                    <a:pt x="1292669" y="476097"/>
                  </a:lnTo>
                  <a:lnTo>
                    <a:pt x="1278739" y="433317"/>
                  </a:lnTo>
                  <a:lnTo>
                    <a:pt x="1262020" y="391874"/>
                  </a:lnTo>
                  <a:lnTo>
                    <a:pt x="1242623" y="351881"/>
                  </a:lnTo>
                  <a:lnTo>
                    <a:pt x="1220659" y="313448"/>
                  </a:lnTo>
                  <a:lnTo>
                    <a:pt x="1196241" y="276688"/>
                  </a:lnTo>
                  <a:lnTo>
                    <a:pt x="1169479" y="241711"/>
                  </a:lnTo>
                  <a:lnTo>
                    <a:pt x="1140486" y="208629"/>
                  </a:lnTo>
                  <a:lnTo>
                    <a:pt x="1109373" y="177553"/>
                  </a:lnTo>
                  <a:lnTo>
                    <a:pt x="1076252" y="148595"/>
                  </a:lnTo>
                  <a:lnTo>
                    <a:pt x="1041233" y="121866"/>
                  </a:lnTo>
                  <a:lnTo>
                    <a:pt x="1004430" y="97477"/>
                  </a:lnTo>
                  <a:lnTo>
                    <a:pt x="965953" y="75541"/>
                  </a:lnTo>
                  <a:lnTo>
                    <a:pt x="925914" y="56168"/>
                  </a:lnTo>
                  <a:lnTo>
                    <a:pt x="884425" y="39469"/>
                  </a:lnTo>
                  <a:lnTo>
                    <a:pt x="841597" y="25557"/>
                  </a:lnTo>
                  <a:lnTo>
                    <a:pt x="797542" y="14543"/>
                  </a:lnTo>
                  <a:lnTo>
                    <a:pt x="752371" y="6538"/>
                  </a:lnTo>
                  <a:lnTo>
                    <a:pt x="706196" y="1653"/>
                  </a:lnTo>
                  <a:lnTo>
                    <a:pt x="659130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11146" y="5996177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90">
                  <a:moveTo>
                    <a:pt x="0" y="658368"/>
                  </a:moveTo>
                  <a:lnTo>
                    <a:pt x="1655" y="611350"/>
                  </a:lnTo>
                  <a:lnTo>
                    <a:pt x="6546" y="565225"/>
                  </a:lnTo>
                  <a:lnTo>
                    <a:pt x="14562" y="520103"/>
                  </a:lnTo>
                  <a:lnTo>
                    <a:pt x="25590" y="476097"/>
                  </a:lnTo>
                  <a:lnTo>
                    <a:pt x="39520" y="433317"/>
                  </a:lnTo>
                  <a:lnTo>
                    <a:pt x="56239" y="391874"/>
                  </a:lnTo>
                  <a:lnTo>
                    <a:pt x="75636" y="351881"/>
                  </a:lnTo>
                  <a:lnTo>
                    <a:pt x="97600" y="313448"/>
                  </a:lnTo>
                  <a:lnTo>
                    <a:pt x="122018" y="276688"/>
                  </a:lnTo>
                  <a:lnTo>
                    <a:pt x="148780" y="241711"/>
                  </a:lnTo>
                  <a:lnTo>
                    <a:pt x="177773" y="208629"/>
                  </a:lnTo>
                  <a:lnTo>
                    <a:pt x="208886" y="177553"/>
                  </a:lnTo>
                  <a:lnTo>
                    <a:pt x="242007" y="148595"/>
                  </a:lnTo>
                  <a:lnTo>
                    <a:pt x="277026" y="121866"/>
                  </a:lnTo>
                  <a:lnTo>
                    <a:pt x="313829" y="97477"/>
                  </a:lnTo>
                  <a:lnTo>
                    <a:pt x="352306" y="75541"/>
                  </a:lnTo>
                  <a:lnTo>
                    <a:pt x="392345" y="56168"/>
                  </a:lnTo>
                  <a:lnTo>
                    <a:pt x="433834" y="39469"/>
                  </a:lnTo>
                  <a:lnTo>
                    <a:pt x="476662" y="25557"/>
                  </a:lnTo>
                  <a:lnTo>
                    <a:pt x="520717" y="14543"/>
                  </a:lnTo>
                  <a:lnTo>
                    <a:pt x="565888" y="6538"/>
                  </a:lnTo>
                  <a:lnTo>
                    <a:pt x="612063" y="1653"/>
                  </a:lnTo>
                  <a:lnTo>
                    <a:pt x="659130" y="0"/>
                  </a:lnTo>
                  <a:lnTo>
                    <a:pt x="706196" y="1653"/>
                  </a:lnTo>
                  <a:lnTo>
                    <a:pt x="752371" y="6538"/>
                  </a:lnTo>
                  <a:lnTo>
                    <a:pt x="797542" y="14543"/>
                  </a:lnTo>
                  <a:lnTo>
                    <a:pt x="841597" y="25557"/>
                  </a:lnTo>
                  <a:lnTo>
                    <a:pt x="884425" y="39469"/>
                  </a:lnTo>
                  <a:lnTo>
                    <a:pt x="925914" y="56168"/>
                  </a:lnTo>
                  <a:lnTo>
                    <a:pt x="965953" y="75541"/>
                  </a:lnTo>
                  <a:lnTo>
                    <a:pt x="1004430" y="97477"/>
                  </a:lnTo>
                  <a:lnTo>
                    <a:pt x="1041233" y="121866"/>
                  </a:lnTo>
                  <a:lnTo>
                    <a:pt x="1076252" y="148595"/>
                  </a:lnTo>
                  <a:lnTo>
                    <a:pt x="1109373" y="177553"/>
                  </a:lnTo>
                  <a:lnTo>
                    <a:pt x="1140486" y="208629"/>
                  </a:lnTo>
                  <a:lnTo>
                    <a:pt x="1169479" y="241711"/>
                  </a:lnTo>
                  <a:lnTo>
                    <a:pt x="1196241" y="276688"/>
                  </a:lnTo>
                  <a:lnTo>
                    <a:pt x="1220659" y="313448"/>
                  </a:lnTo>
                  <a:lnTo>
                    <a:pt x="1242623" y="351881"/>
                  </a:lnTo>
                  <a:lnTo>
                    <a:pt x="1262020" y="391874"/>
                  </a:lnTo>
                  <a:lnTo>
                    <a:pt x="1278739" y="433317"/>
                  </a:lnTo>
                  <a:lnTo>
                    <a:pt x="1292669" y="476097"/>
                  </a:lnTo>
                  <a:lnTo>
                    <a:pt x="1303697" y="520103"/>
                  </a:lnTo>
                  <a:lnTo>
                    <a:pt x="1311713" y="565225"/>
                  </a:lnTo>
                  <a:lnTo>
                    <a:pt x="1316604" y="611350"/>
                  </a:lnTo>
                  <a:lnTo>
                    <a:pt x="1318259" y="658368"/>
                  </a:lnTo>
                  <a:lnTo>
                    <a:pt x="1316604" y="705385"/>
                  </a:lnTo>
                  <a:lnTo>
                    <a:pt x="1311713" y="751510"/>
                  </a:lnTo>
                  <a:lnTo>
                    <a:pt x="1303697" y="796632"/>
                  </a:lnTo>
                  <a:lnTo>
                    <a:pt x="1292669" y="840638"/>
                  </a:lnTo>
                  <a:lnTo>
                    <a:pt x="1278739" y="883418"/>
                  </a:lnTo>
                  <a:lnTo>
                    <a:pt x="1262020" y="924861"/>
                  </a:lnTo>
                  <a:lnTo>
                    <a:pt x="1242623" y="964854"/>
                  </a:lnTo>
                  <a:lnTo>
                    <a:pt x="1220659" y="1003287"/>
                  </a:lnTo>
                  <a:lnTo>
                    <a:pt x="1196241" y="1040047"/>
                  </a:lnTo>
                  <a:lnTo>
                    <a:pt x="1169479" y="1075024"/>
                  </a:lnTo>
                  <a:lnTo>
                    <a:pt x="1140486" y="1108106"/>
                  </a:lnTo>
                  <a:lnTo>
                    <a:pt x="1109373" y="1139182"/>
                  </a:lnTo>
                  <a:lnTo>
                    <a:pt x="1076252" y="1168140"/>
                  </a:lnTo>
                  <a:lnTo>
                    <a:pt x="1041233" y="1194869"/>
                  </a:lnTo>
                  <a:lnTo>
                    <a:pt x="1004430" y="1219258"/>
                  </a:lnTo>
                  <a:lnTo>
                    <a:pt x="965953" y="1241194"/>
                  </a:lnTo>
                  <a:lnTo>
                    <a:pt x="925914" y="1260567"/>
                  </a:lnTo>
                  <a:lnTo>
                    <a:pt x="884425" y="1277266"/>
                  </a:lnTo>
                  <a:lnTo>
                    <a:pt x="841597" y="1291178"/>
                  </a:lnTo>
                  <a:lnTo>
                    <a:pt x="797542" y="1302192"/>
                  </a:lnTo>
                  <a:lnTo>
                    <a:pt x="752371" y="1310197"/>
                  </a:lnTo>
                  <a:lnTo>
                    <a:pt x="706196" y="1315082"/>
                  </a:lnTo>
                  <a:lnTo>
                    <a:pt x="659130" y="1316736"/>
                  </a:lnTo>
                  <a:lnTo>
                    <a:pt x="612063" y="1315082"/>
                  </a:lnTo>
                  <a:lnTo>
                    <a:pt x="565888" y="1310197"/>
                  </a:lnTo>
                  <a:lnTo>
                    <a:pt x="520717" y="1302192"/>
                  </a:lnTo>
                  <a:lnTo>
                    <a:pt x="476662" y="1291178"/>
                  </a:lnTo>
                  <a:lnTo>
                    <a:pt x="433834" y="1277266"/>
                  </a:lnTo>
                  <a:lnTo>
                    <a:pt x="392345" y="1260567"/>
                  </a:lnTo>
                  <a:lnTo>
                    <a:pt x="352306" y="1241194"/>
                  </a:lnTo>
                  <a:lnTo>
                    <a:pt x="313829" y="1219258"/>
                  </a:lnTo>
                  <a:lnTo>
                    <a:pt x="277026" y="1194869"/>
                  </a:lnTo>
                  <a:lnTo>
                    <a:pt x="242007" y="1168140"/>
                  </a:lnTo>
                  <a:lnTo>
                    <a:pt x="208886" y="1139182"/>
                  </a:lnTo>
                  <a:lnTo>
                    <a:pt x="177773" y="1108106"/>
                  </a:lnTo>
                  <a:lnTo>
                    <a:pt x="148780" y="1075024"/>
                  </a:lnTo>
                  <a:lnTo>
                    <a:pt x="122018" y="1040047"/>
                  </a:lnTo>
                  <a:lnTo>
                    <a:pt x="97600" y="1003287"/>
                  </a:lnTo>
                  <a:lnTo>
                    <a:pt x="75636" y="964854"/>
                  </a:lnTo>
                  <a:lnTo>
                    <a:pt x="56239" y="924861"/>
                  </a:lnTo>
                  <a:lnTo>
                    <a:pt x="39520" y="883418"/>
                  </a:lnTo>
                  <a:lnTo>
                    <a:pt x="25590" y="840638"/>
                  </a:lnTo>
                  <a:lnTo>
                    <a:pt x="14562" y="796632"/>
                  </a:lnTo>
                  <a:lnTo>
                    <a:pt x="6546" y="751510"/>
                  </a:lnTo>
                  <a:lnTo>
                    <a:pt x="1655" y="705385"/>
                  </a:lnTo>
                  <a:lnTo>
                    <a:pt x="0" y="65836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958020" y="7693088"/>
            <a:ext cx="7663180" cy="1343025"/>
            <a:chOff x="2958020" y="7693088"/>
            <a:chExt cx="7663180" cy="1343025"/>
          </a:xfrm>
        </p:grpSpPr>
        <p:sp>
          <p:nvSpPr>
            <p:cNvPr id="22" name="object 22"/>
            <p:cNvSpPr/>
            <p:nvPr/>
          </p:nvSpPr>
          <p:spPr>
            <a:xfrm>
              <a:off x="2971037" y="7706106"/>
              <a:ext cx="7637145" cy="1316990"/>
            </a:xfrm>
            <a:custGeom>
              <a:avLst/>
              <a:gdLst/>
              <a:ahLst/>
              <a:cxnLst/>
              <a:rect l="l" t="t" r="r" b="b"/>
              <a:pathLst>
                <a:path w="7637145" h="1316990">
                  <a:moveTo>
                    <a:pt x="7636763" y="0"/>
                  </a:moveTo>
                  <a:lnTo>
                    <a:pt x="658367" y="0"/>
                  </a:lnTo>
                  <a:lnTo>
                    <a:pt x="0" y="658368"/>
                  </a:lnTo>
                  <a:lnTo>
                    <a:pt x="658367" y="1316736"/>
                  </a:lnTo>
                  <a:lnTo>
                    <a:pt x="7636763" y="1316736"/>
                  </a:lnTo>
                  <a:lnTo>
                    <a:pt x="763676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71037" y="7706106"/>
              <a:ext cx="7637145" cy="1316990"/>
            </a:xfrm>
            <a:custGeom>
              <a:avLst/>
              <a:gdLst/>
              <a:ahLst/>
              <a:cxnLst/>
              <a:rect l="l" t="t" r="r" b="b"/>
              <a:pathLst>
                <a:path w="7637145" h="1316990">
                  <a:moveTo>
                    <a:pt x="7636763" y="1316736"/>
                  </a:moveTo>
                  <a:lnTo>
                    <a:pt x="658367" y="1316736"/>
                  </a:lnTo>
                  <a:lnTo>
                    <a:pt x="0" y="658368"/>
                  </a:lnTo>
                  <a:lnTo>
                    <a:pt x="658367" y="0"/>
                  </a:lnTo>
                  <a:lnTo>
                    <a:pt x="7636763" y="0"/>
                  </a:lnTo>
                  <a:lnTo>
                    <a:pt x="7636763" y="131673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876547" y="4449826"/>
            <a:ext cx="6574790" cy="43586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7785" marR="50800" algn="ctr">
              <a:lnSpc>
                <a:spcPct val="86100"/>
              </a:lnSpc>
              <a:spcBef>
                <a:spcPts val="459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Documenti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acquisiti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via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telematica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supporto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informatico,</a:t>
            </a:r>
            <a:r>
              <a:rPr sz="2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mail,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documenti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acquisiti</a:t>
            </a:r>
            <a:r>
              <a:rPr sz="2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come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copia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immagine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documento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analogico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50">
              <a:latin typeface="Arial"/>
              <a:cs typeface="Arial"/>
            </a:endParaRPr>
          </a:p>
          <a:p>
            <a:pPr marL="143510" marR="138430" algn="ctr">
              <a:lnSpc>
                <a:spcPct val="861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Registrazioni</a:t>
            </a:r>
            <a:r>
              <a:rPr sz="2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informatiche</a:t>
            </a:r>
            <a:r>
              <a:rPr sz="2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transazioni</a:t>
            </a:r>
            <a:r>
              <a:rPr sz="22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processi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informatici,</a:t>
            </a:r>
            <a:r>
              <a:rPr sz="22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dati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forniti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dall’utente</a:t>
            </a:r>
            <a:r>
              <a:rPr sz="22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attraverso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compilazione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moduli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formulari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elettronici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50">
              <a:latin typeface="Arial"/>
              <a:cs typeface="Arial"/>
            </a:endParaRPr>
          </a:p>
          <a:p>
            <a:pPr marL="12700" marR="5080" indent="-2540" algn="ctr">
              <a:lnSpc>
                <a:spcPct val="86100"/>
              </a:lnSpc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Insieme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dati,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provenienti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più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basi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dati,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raggruppati</a:t>
            </a:r>
            <a:r>
              <a:rPr sz="2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secondo</a:t>
            </a:r>
            <a:r>
              <a:rPr sz="2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struttura</a:t>
            </a:r>
            <a:r>
              <a:rPr sz="2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logica</a:t>
            </a:r>
            <a:r>
              <a:rPr sz="22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determinata (viste)</a:t>
            </a:r>
            <a:endParaRPr sz="2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3016" y="1521968"/>
            <a:ext cx="167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14B90"/>
                </a:solidFill>
                <a:latin typeface="Arial"/>
                <a:cs typeface="Arial"/>
              </a:rPr>
              <a:t>FORME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7667" y="4588764"/>
            <a:ext cx="647700" cy="6477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3848" y="6316979"/>
            <a:ext cx="714755" cy="697991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2298192" y="7693152"/>
            <a:ext cx="1344295" cy="1343025"/>
            <a:chOff x="2298192" y="7693152"/>
            <a:chExt cx="1344295" cy="1343025"/>
          </a:xfrm>
        </p:grpSpPr>
        <p:sp>
          <p:nvSpPr>
            <p:cNvPr id="29" name="object 29"/>
            <p:cNvSpPr/>
            <p:nvPr/>
          </p:nvSpPr>
          <p:spPr>
            <a:xfrm>
              <a:off x="2311146" y="7706106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90">
                  <a:moveTo>
                    <a:pt x="659130" y="0"/>
                  </a:moveTo>
                  <a:lnTo>
                    <a:pt x="612063" y="1653"/>
                  </a:lnTo>
                  <a:lnTo>
                    <a:pt x="565888" y="6538"/>
                  </a:lnTo>
                  <a:lnTo>
                    <a:pt x="520717" y="14543"/>
                  </a:lnTo>
                  <a:lnTo>
                    <a:pt x="476662" y="25557"/>
                  </a:lnTo>
                  <a:lnTo>
                    <a:pt x="433834" y="39469"/>
                  </a:lnTo>
                  <a:lnTo>
                    <a:pt x="392345" y="56168"/>
                  </a:lnTo>
                  <a:lnTo>
                    <a:pt x="352306" y="75541"/>
                  </a:lnTo>
                  <a:lnTo>
                    <a:pt x="313829" y="97477"/>
                  </a:lnTo>
                  <a:lnTo>
                    <a:pt x="277026" y="121866"/>
                  </a:lnTo>
                  <a:lnTo>
                    <a:pt x="242007" y="148595"/>
                  </a:lnTo>
                  <a:lnTo>
                    <a:pt x="208886" y="177553"/>
                  </a:lnTo>
                  <a:lnTo>
                    <a:pt x="177773" y="208629"/>
                  </a:lnTo>
                  <a:lnTo>
                    <a:pt x="148780" y="241711"/>
                  </a:lnTo>
                  <a:lnTo>
                    <a:pt x="122018" y="276688"/>
                  </a:lnTo>
                  <a:lnTo>
                    <a:pt x="97600" y="313448"/>
                  </a:lnTo>
                  <a:lnTo>
                    <a:pt x="75636" y="351881"/>
                  </a:lnTo>
                  <a:lnTo>
                    <a:pt x="56239" y="391874"/>
                  </a:lnTo>
                  <a:lnTo>
                    <a:pt x="39520" y="433317"/>
                  </a:lnTo>
                  <a:lnTo>
                    <a:pt x="25590" y="476097"/>
                  </a:lnTo>
                  <a:lnTo>
                    <a:pt x="14562" y="520103"/>
                  </a:lnTo>
                  <a:lnTo>
                    <a:pt x="6546" y="565225"/>
                  </a:lnTo>
                  <a:lnTo>
                    <a:pt x="1655" y="611350"/>
                  </a:lnTo>
                  <a:lnTo>
                    <a:pt x="0" y="658368"/>
                  </a:lnTo>
                  <a:lnTo>
                    <a:pt x="1655" y="705385"/>
                  </a:lnTo>
                  <a:lnTo>
                    <a:pt x="6546" y="751510"/>
                  </a:lnTo>
                  <a:lnTo>
                    <a:pt x="14562" y="796632"/>
                  </a:lnTo>
                  <a:lnTo>
                    <a:pt x="25590" y="840638"/>
                  </a:lnTo>
                  <a:lnTo>
                    <a:pt x="39520" y="883418"/>
                  </a:lnTo>
                  <a:lnTo>
                    <a:pt x="56239" y="924861"/>
                  </a:lnTo>
                  <a:lnTo>
                    <a:pt x="75636" y="964854"/>
                  </a:lnTo>
                  <a:lnTo>
                    <a:pt x="97600" y="1003287"/>
                  </a:lnTo>
                  <a:lnTo>
                    <a:pt x="122018" y="1040047"/>
                  </a:lnTo>
                  <a:lnTo>
                    <a:pt x="148780" y="1075024"/>
                  </a:lnTo>
                  <a:lnTo>
                    <a:pt x="177773" y="1108106"/>
                  </a:lnTo>
                  <a:lnTo>
                    <a:pt x="208886" y="1139182"/>
                  </a:lnTo>
                  <a:lnTo>
                    <a:pt x="242007" y="1168140"/>
                  </a:lnTo>
                  <a:lnTo>
                    <a:pt x="277026" y="1194869"/>
                  </a:lnTo>
                  <a:lnTo>
                    <a:pt x="313829" y="1219258"/>
                  </a:lnTo>
                  <a:lnTo>
                    <a:pt x="352306" y="1241194"/>
                  </a:lnTo>
                  <a:lnTo>
                    <a:pt x="392345" y="1260567"/>
                  </a:lnTo>
                  <a:lnTo>
                    <a:pt x="433834" y="1277266"/>
                  </a:lnTo>
                  <a:lnTo>
                    <a:pt x="476662" y="1291178"/>
                  </a:lnTo>
                  <a:lnTo>
                    <a:pt x="520717" y="1302192"/>
                  </a:lnTo>
                  <a:lnTo>
                    <a:pt x="565888" y="1310197"/>
                  </a:lnTo>
                  <a:lnTo>
                    <a:pt x="612063" y="1315082"/>
                  </a:lnTo>
                  <a:lnTo>
                    <a:pt x="659130" y="1316736"/>
                  </a:lnTo>
                  <a:lnTo>
                    <a:pt x="706196" y="1315082"/>
                  </a:lnTo>
                  <a:lnTo>
                    <a:pt x="752371" y="1310197"/>
                  </a:lnTo>
                  <a:lnTo>
                    <a:pt x="797542" y="1302192"/>
                  </a:lnTo>
                  <a:lnTo>
                    <a:pt x="841597" y="1291178"/>
                  </a:lnTo>
                  <a:lnTo>
                    <a:pt x="884425" y="1277266"/>
                  </a:lnTo>
                  <a:lnTo>
                    <a:pt x="925914" y="1260567"/>
                  </a:lnTo>
                  <a:lnTo>
                    <a:pt x="965953" y="1241194"/>
                  </a:lnTo>
                  <a:lnTo>
                    <a:pt x="1004430" y="1219258"/>
                  </a:lnTo>
                  <a:lnTo>
                    <a:pt x="1041233" y="1194869"/>
                  </a:lnTo>
                  <a:lnTo>
                    <a:pt x="1076252" y="1168140"/>
                  </a:lnTo>
                  <a:lnTo>
                    <a:pt x="1109373" y="1139182"/>
                  </a:lnTo>
                  <a:lnTo>
                    <a:pt x="1140486" y="1108106"/>
                  </a:lnTo>
                  <a:lnTo>
                    <a:pt x="1169479" y="1075024"/>
                  </a:lnTo>
                  <a:lnTo>
                    <a:pt x="1196241" y="1040047"/>
                  </a:lnTo>
                  <a:lnTo>
                    <a:pt x="1220659" y="1003287"/>
                  </a:lnTo>
                  <a:lnTo>
                    <a:pt x="1242623" y="964854"/>
                  </a:lnTo>
                  <a:lnTo>
                    <a:pt x="1262020" y="924861"/>
                  </a:lnTo>
                  <a:lnTo>
                    <a:pt x="1278739" y="883418"/>
                  </a:lnTo>
                  <a:lnTo>
                    <a:pt x="1292669" y="840638"/>
                  </a:lnTo>
                  <a:lnTo>
                    <a:pt x="1303697" y="796632"/>
                  </a:lnTo>
                  <a:lnTo>
                    <a:pt x="1311713" y="751510"/>
                  </a:lnTo>
                  <a:lnTo>
                    <a:pt x="1316604" y="705385"/>
                  </a:lnTo>
                  <a:lnTo>
                    <a:pt x="1318259" y="658368"/>
                  </a:lnTo>
                  <a:lnTo>
                    <a:pt x="1316604" y="611350"/>
                  </a:lnTo>
                  <a:lnTo>
                    <a:pt x="1311713" y="565225"/>
                  </a:lnTo>
                  <a:lnTo>
                    <a:pt x="1303697" y="520103"/>
                  </a:lnTo>
                  <a:lnTo>
                    <a:pt x="1292669" y="476097"/>
                  </a:lnTo>
                  <a:lnTo>
                    <a:pt x="1278739" y="433317"/>
                  </a:lnTo>
                  <a:lnTo>
                    <a:pt x="1262020" y="391874"/>
                  </a:lnTo>
                  <a:lnTo>
                    <a:pt x="1242623" y="351881"/>
                  </a:lnTo>
                  <a:lnTo>
                    <a:pt x="1220659" y="313448"/>
                  </a:lnTo>
                  <a:lnTo>
                    <a:pt x="1196241" y="276688"/>
                  </a:lnTo>
                  <a:lnTo>
                    <a:pt x="1169479" y="241711"/>
                  </a:lnTo>
                  <a:lnTo>
                    <a:pt x="1140486" y="208629"/>
                  </a:lnTo>
                  <a:lnTo>
                    <a:pt x="1109373" y="177553"/>
                  </a:lnTo>
                  <a:lnTo>
                    <a:pt x="1076252" y="148595"/>
                  </a:lnTo>
                  <a:lnTo>
                    <a:pt x="1041233" y="121866"/>
                  </a:lnTo>
                  <a:lnTo>
                    <a:pt x="1004430" y="97477"/>
                  </a:lnTo>
                  <a:lnTo>
                    <a:pt x="965953" y="75541"/>
                  </a:lnTo>
                  <a:lnTo>
                    <a:pt x="925914" y="56168"/>
                  </a:lnTo>
                  <a:lnTo>
                    <a:pt x="884425" y="39469"/>
                  </a:lnTo>
                  <a:lnTo>
                    <a:pt x="841597" y="25557"/>
                  </a:lnTo>
                  <a:lnTo>
                    <a:pt x="797542" y="14543"/>
                  </a:lnTo>
                  <a:lnTo>
                    <a:pt x="752371" y="6538"/>
                  </a:lnTo>
                  <a:lnTo>
                    <a:pt x="706196" y="1653"/>
                  </a:lnTo>
                  <a:lnTo>
                    <a:pt x="659130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11146" y="7706106"/>
              <a:ext cx="1318260" cy="1316990"/>
            </a:xfrm>
            <a:custGeom>
              <a:avLst/>
              <a:gdLst/>
              <a:ahLst/>
              <a:cxnLst/>
              <a:rect l="l" t="t" r="r" b="b"/>
              <a:pathLst>
                <a:path w="1318260" h="1316990">
                  <a:moveTo>
                    <a:pt x="0" y="658368"/>
                  </a:moveTo>
                  <a:lnTo>
                    <a:pt x="1655" y="611350"/>
                  </a:lnTo>
                  <a:lnTo>
                    <a:pt x="6546" y="565225"/>
                  </a:lnTo>
                  <a:lnTo>
                    <a:pt x="14562" y="520103"/>
                  </a:lnTo>
                  <a:lnTo>
                    <a:pt x="25590" y="476097"/>
                  </a:lnTo>
                  <a:lnTo>
                    <a:pt x="39520" y="433317"/>
                  </a:lnTo>
                  <a:lnTo>
                    <a:pt x="56239" y="391874"/>
                  </a:lnTo>
                  <a:lnTo>
                    <a:pt x="75636" y="351881"/>
                  </a:lnTo>
                  <a:lnTo>
                    <a:pt x="97600" y="313448"/>
                  </a:lnTo>
                  <a:lnTo>
                    <a:pt x="122018" y="276688"/>
                  </a:lnTo>
                  <a:lnTo>
                    <a:pt x="148780" y="241711"/>
                  </a:lnTo>
                  <a:lnTo>
                    <a:pt x="177773" y="208629"/>
                  </a:lnTo>
                  <a:lnTo>
                    <a:pt x="208886" y="177553"/>
                  </a:lnTo>
                  <a:lnTo>
                    <a:pt x="242007" y="148595"/>
                  </a:lnTo>
                  <a:lnTo>
                    <a:pt x="277026" y="121866"/>
                  </a:lnTo>
                  <a:lnTo>
                    <a:pt x="313829" y="97477"/>
                  </a:lnTo>
                  <a:lnTo>
                    <a:pt x="352306" y="75541"/>
                  </a:lnTo>
                  <a:lnTo>
                    <a:pt x="392345" y="56168"/>
                  </a:lnTo>
                  <a:lnTo>
                    <a:pt x="433834" y="39469"/>
                  </a:lnTo>
                  <a:lnTo>
                    <a:pt x="476662" y="25557"/>
                  </a:lnTo>
                  <a:lnTo>
                    <a:pt x="520717" y="14543"/>
                  </a:lnTo>
                  <a:lnTo>
                    <a:pt x="565888" y="6538"/>
                  </a:lnTo>
                  <a:lnTo>
                    <a:pt x="612063" y="1653"/>
                  </a:lnTo>
                  <a:lnTo>
                    <a:pt x="659130" y="0"/>
                  </a:lnTo>
                  <a:lnTo>
                    <a:pt x="706196" y="1653"/>
                  </a:lnTo>
                  <a:lnTo>
                    <a:pt x="752371" y="6538"/>
                  </a:lnTo>
                  <a:lnTo>
                    <a:pt x="797542" y="14543"/>
                  </a:lnTo>
                  <a:lnTo>
                    <a:pt x="841597" y="25557"/>
                  </a:lnTo>
                  <a:lnTo>
                    <a:pt x="884425" y="39469"/>
                  </a:lnTo>
                  <a:lnTo>
                    <a:pt x="925914" y="56168"/>
                  </a:lnTo>
                  <a:lnTo>
                    <a:pt x="965953" y="75541"/>
                  </a:lnTo>
                  <a:lnTo>
                    <a:pt x="1004430" y="97477"/>
                  </a:lnTo>
                  <a:lnTo>
                    <a:pt x="1041233" y="121866"/>
                  </a:lnTo>
                  <a:lnTo>
                    <a:pt x="1076252" y="148595"/>
                  </a:lnTo>
                  <a:lnTo>
                    <a:pt x="1109373" y="177553"/>
                  </a:lnTo>
                  <a:lnTo>
                    <a:pt x="1140486" y="208629"/>
                  </a:lnTo>
                  <a:lnTo>
                    <a:pt x="1169479" y="241711"/>
                  </a:lnTo>
                  <a:lnTo>
                    <a:pt x="1196241" y="276688"/>
                  </a:lnTo>
                  <a:lnTo>
                    <a:pt x="1220659" y="313448"/>
                  </a:lnTo>
                  <a:lnTo>
                    <a:pt x="1242623" y="351881"/>
                  </a:lnTo>
                  <a:lnTo>
                    <a:pt x="1262020" y="391874"/>
                  </a:lnTo>
                  <a:lnTo>
                    <a:pt x="1278739" y="433317"/>
                  </a:lnTo>
                  <a:lnTo>
                    <a:pt x="1292669" y="476097"/>
                  </a:lnTo>
                  <a:lnTo>
                    <a:pt x="1303697" y="520103"/>
                  </a:lnTo>
                  <a:lnTo>
                    <a:pt x="1311713" y="565225"/>
                  </a:lnTo>
                  <a:lnTo>
                    <a:pt x="1316604" y="611350"/>
                  </a:lnTo>
                  <a:lnTo>
                    <a:pt x="1318259" y="658368"/>
                  </a:lnTo>
                  <a:lnTo>
                    <a:pt x="1316604" y="705385"/>
                  </a:lnTo>
                  <a:lnTo>
                    <a:pt x="1311713" y="751510"/>
                  </a:lnTo>
                  <a:lnTo>
                    <a:pt x="1303697" y="796632"/>
                  </a:lnTo>
                  <a:lnTo>
                    <a:pt x="1292669" y="840638"/>
                  </a:lnTo>
                  <a:lnTo>
                    <a:pt x="1278739" y="883418"/>
                  </a:lnTo>
                  <a:lnTo>
                    <a:pt x="1262020" y="924861"/>
                  </a:lnTo>
                  <a:lnTo>
                    <a:pt x="1242623" y="964854"/>
                  </a:lnTo>
                  <a:lnTo>
                    <a:pt x="1220659" y="1003287"/>
                  </a:lnTo>
                  <a:lnTo>
                    <a:pt x="1196241" y="1040047"/>
                  </a:lnTo>
                  <a:lnTo>
                    <a:pt x="1169479" y="1075024"/>
                  </a:lnTo>
                  <a:lnTo>
                    <a:pt x="1140486" y="1108106"/>
                  </a:lnTo>
                  <a:lnTo>
                    <a:pt x="1109373" y="1139182"/>
                  </a:lnTo>
                  <a:lnTo>
                    <a:pt x="1076252" y="1168140"/>
                  </a:lnTo>
                  <a:lnTo>
                    <a:pt x="1041233" y="1194869"/>
                  </a:lnTo>
                  <a:lnTo>
                    <a:pt x="1004430" y="1219258"/>
                  </a:lnTo>
                  <a:lnTo>
                    <a:pt x="965953" y="1241194"/>
                  </a:lnTo>
                  <a:lnTo>
                    <a:pt x="925914" y="1260567"/>
                  </a:lnTo>
                  <a:lnTo>
                    <a:pt x="884425" y="1277266"/>
                  </a:lnTo>
                  <a:lnTo>
                    <a:pt x="841597" y="1291178"/>
                  </a:lnTo>
                  <a:lnTo>
                    <a:pt x="797542" y="1302192"/>
                  </a:lnTo>
                  <a:lnTo>
                    <a:pt x="752371" y="1310197"/>
                  </a:lnTo>
                  <a:lnTo>
                    <a:pt x="706196" y="1315082"/>
                  </a:lnTo>
                  <a:lnTo>
                    <a:pt x="659130" y="1316736"/>
                  </a:lnTo>
                  <a:lnTo>
                    <a:pt x="612063" y="1315082"/>
                  </a:lnTo>
                  <a:lnTo>
                    <a:pt x="565888" y="1310197"/>
                  </a:lnTo>
                  <a:lnTo>
                    <a:pt x="520717" y="1302192"/>
                  </a:lnTo>
                  <a:lnTo>
                    <a:pt x="476662" y="1291178"/>
                  </a:lnTo>
                  <a:lnTo>
                    <a:pt x="433834" y="1277266"/>
                  </a:lnTo>
                  <a:lnTo>
                    <a:pt x="392345" y="1260567"/>
                  </a:lnTo>
                  <a:lnTo>
                    <a:pt x="352306" y="1241194"/>
                  </a:lnTo>
                  <a:lnTo>
                    <a:pt x="313829" y="1219258"/>
                  </a:lnTo>
                  <a:lnTo>
                    <a:pt x="277026" y="1194869"/>
                  </a:lnTo>
                  <a:lnTo>
                    <a:pt x="242007" y="1168140"/>
                  </a:lnTo>
                  <a:lnTo>
                    <a:pt x="208886" y="1139182"/>
                  </a:lnTo>
                  <a:lnTo>
                    <a:pt x="177773" y="1108106"/>
                  </a:lnTo>
                  <a:lnTo>
                    <a:pt x="148780" y="1075024"/>
                  </a:lnTo>
                  <a:lnTo>
                    <a:pt x="122018" y="1040047"/>
                  </a:lnTo>
                  <a:lnTo>
                    <a:pt x="97600" y="1003287"/>
                  </a:lnTo>
                  <a:lnTo>
                    <a:pt x="75636" y="964854"/>
                  </a:lnTo>
                  <a:lnTo>
                    <a:pt x="56239" y="924861"/>
                  </a:lnTo>
                  <a:lnTo>
                    <a:pt x="39520" y="883418"/>
                  </a:lnTo>
                  <a:lnTo>
                    <a:pt x="25590" y="840638"/>
                  </a:lnTo>
                  <a:lnTo>
                    <a:pt x="14562" y="796632"/>
                  </a:lnTo>
                  <a:lnTo>
                    <a:pt x="6546" y="751510"/>
                  </a:lnTo>
                  <a:lnTo>
                    <a:pt x="1655" y="705385"/>
                  </a:lnTo>
                  <a:lnTo>
                    <a:pt x="0" y="65836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0424" y="7996428"/>
              <a:ext cx="694181" cy="708660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991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1F5F"/>
                </a:solidFill>
                <a:latin typeface="Arial"/>
                <a:cs typeface="Arial"/>
              </a:rPr>
              <a:t>I</a:t>
            </a:r>
            <a:r>
              <a:rPr sz="3200" b="0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001F5F"/>
                </a:solidFill>
                <a:latin typeface="Arial"/>
                <a:cs typeface="Arial"/>
              </a:rPr>
              <a:t>nuovi</a:t>
            </a:r>
            <a:r>
              <a:rPr sz="3200" b="0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001F5F"/>
                </a:solidFill>
                <a:latin typeface="Arial"/>
                <a:cs typeface="Arial"/>
              </a:rPr>
              <a:t>documenti</a:t>
            </a:r>
            <a:r>
              <a:rPr sz="3200" b="0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0" spc="-10" dirty="0">
                <a:solidFill>
                  <a:srgbClr val="001F5F"/>
                </a:solidFill>
                <a:latin typeface="Arial"/>
                <a:cs typeface="Arial"/>
              </a:rPr>
              <a:t>informatici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87104" y="2561780"/>
            <a:ext cx="8824595" cy="1056640"/>
            <a:chOff x="2487104" y="2561780"/>
            <a:chExt cx="8824595" cy="1056640"/>
          </a:xfrm>
        </p:grpSpPr>
        <p:sp>
          <p:nvSpPr>
            <p:cNvPr id="4" name="object 4"/>
            <p:cNvSpPr/>
            <p:nvPr/>
          </p:nvSpPr>
          <p:spPr>
            <a:xfrm>
              <a:off x="3015234" y="2574797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0"/>
                  </a:moveTo>
                  <a:lnTo>
                    <a:pt x="515112" y="0"/>
                  </a:lnTo>
                  <a:lnTo>
                    <a:pt x="0" y="515111"/>
                  </a:lnTo>
                  <a:lnTo>
                    <a:pt x="515112" y="1030224"/>
                  </a:lnTo>
                  <a:lnTo>
                    <a:pt x="8282940" y="1030224"/>
                  </a:lnTo>
                  <a:lnTo>
                    <a:pt x="828294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5234" y="2574797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1030224"/>
                  </a:moveTo>
                  <a:lnTo>
                    <a:pt x="515112" y="1030224"/>
                  </a:lnTo>
                  <a:lnTo>
                    <a:pt x="0" y="515111"/>
                  </a:lnTo>
                  <a:lnTo>
                    <a:pt x="515112" y="0"/>
                  </a:lnTo>
                  <a:lnTo>
                    <a:pt x="8282940" y="0"/>
                  </a:lnTo>
                  <a:lnTo>
                    <a:pt x="8282940" y="103022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00122" y="2574797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515111" y="0"/>
                  </a:moveTo>
                  <a:lnTo>
                    <a:pt x="468227" y="2105"/>
                  </a:lnTo>
                  <a:lnTo>
                    <a:pt x="422522" y="8299"/>
                  </a:lnTo>
                  <a:lnTo>
                    <a:pt x="378177" y="18400"/>
                  </a:lnTo>
                  <a:lnTo>
                    <a:pt x="335376" y="32227"/>
                  </a:lnTo>
                  <a:lnTo>
                    <a:pt x="294299" y="49597"/>
                  </a:lnTo>
                  <a:lnTo>
                    <a:pt x="255128" y="70329"/>
                  </a:lnTo>
                  <a:lnTo>
                    <a:pt x="218046" y="94241"/>
                  </a:lnTo>
                  <a:lnTo>
                    <a:pt x="183235" y="121150"/>
                  </a:lnTo>
                  <a:lnTo>
                    <a:pt x="150875" y="150875"/>
                  </a:lnTo>
                  <a:lnTo>
                    <a:pt x="121150" y="183235"/>
                  </a:lnTo>
                  <a:lnTo>
                    <a:pt x="94241" y="218046"/>
                  </a:lnTo>
                  <a:lnTo>
                    <a:pt x="70329" y="255128"/>
                  </a:lnTo>
                  <a:lnTo>
                    <a:pt x="49597" y="294299"/>
                  </a:lnTo>
                  <a:lnTo>
                    <a:pt x="32227" y="335376"/>
                  </a:lnTo>
                  <a:lnTo>
                    <a:pt x="18400" y="378177"/>
                  </a:lnTo>
                  <a:lnTo>
                    <a:pt x="8299" y="422522"/>
                  </a:lnTo>
                  <a:lnTo>
                    <a:pt x="2105" y="468227"/>
                  </a:lnTo>
                  <a:lnTo>
                    <a:pt x="0" y="515111"/>
                  </a:lnTo>
                  <a:lnTo>
                    <a:pt x="2105" y="561996"/>
                  </a:lnTo>
                  <a:lnTo>
                    <a:pt x="8299" y="607701"/>
                  </a:lnTo>
                  <a:lnTo>
                    <a:pt x="18400" y="652046"/>
                  </a:lnTo>
                  <a:lnTo>
                    <a:pt x="32227" y="694847"/>
                  </a:lnTo>
                  <a:lnTo>
                    <a:pt x="49597" y="735924"/>
                  </a:lnTo>
                  <a:lnTo>
                    <a:pt x="70329" y="775095"/>
                  </a:lnTo>
                  <a:lnTo>
                    <a:pt x="94241" y="812177"/>
                  </a:lnTo>
                  <a:lnTo>
                    <a:pt x="121150" y="846988"/>
                  </a:lnTo>
                  <a:lnTo>
                    <a:pt x="150876" y="879347"/>
                  </a:lnTo>
                  <a:lnTo>
                    <a:pt x="183235" y="909073"/>
                  </a:lnTo>
                  <a:lnTo>
                    <a:pt x="218046" y="935982"/>
                  </a:lnTo>
                  <a:lnTo>
                    <a:pt x="255128" y="959894"/>
                  </a:lnTo>
                  <a:lnTo>
                    <a:pt x="294299" y="980626"/>
                  </a:lnTo>
                  <a:lnTo>
                    <a:pt x="335376" y="997996"/>
                  </a:lnTo>
                  <a:lnTo>
                    <a:pt x="378177" y="1011823"/>
                  </a:lnTo>
                  <a:lnTo>
                    <a:pt x="422522" y="1021924"/>
                  </a:lnTo>
                  <a:lnTo>
                    <a:pt x="468227" y="1028118"/>
                  </a:lnTo>
                  <a:lnTo>
                    <a:pt x="515111" y="1030224"/>
                  </a:lnTo>
                  <a:lnTo>
                    <a:pt x="561996" y="1028118"/>
                  </a:lnTo>
                  <a:lnTo>
                    <a:pt x="607701" y="1021924"/>
                  </a:lnTo>
                  <a:lnTo>
                    <a:pt x="652046" y="1011823"/>
                  </a:lnTo>
                  <a:lnTo>
                    <a:pt x="694847" y="997996"/>
                  </a:lnTo>
                  <a:lnTo>
                    <a:pt x="735924" y="980626"/>
                  </a:lnTo>
                  <a:lnTo>
                    <a:pt x="775095" y="959894"/>
                  </a:lnTo>
                  <a:lnTo>
                    <a:pt x="812177" y="935982"/>
                  </a:lnTo>
                  <a:lnTo>
                    <a:pt x="846988" y="909073"/>
                  </a:lnTo>
                  <a:lnTo>
                    <a:pt x="879347" y="879347"/>
                  </a:lnTo>
                  <a:lnTo>
                    <a:pt x="909073" y="846988"/>
                  </a:lnTo>
                  <a:lnTo>
                    <a:pt x="935982" y="812177"/>
                  </a:lnTo>
                  <a:lnTo>
                    <a:pt x="959894" y="775095"/>
                  </a:lnTo>
                  <a:lnTo>
                    <a:pt x="980626" y="735924"/>
                  </a:lnTo>
                  <a:lnTo>
                    <a:pt x="997996" y="694847"/>
                  </a:lnTo>
                  <a:lnTo>
                    <a:pt x="1011823" y="652046"/>
                  </a:lnTo>
                  <a:lnTo>
                    <a:pt x="1021924" y="607701"/>
                  </a:lnTo>
                  <a:lnTo>
                    <a:pt x="1028118" y="561996"/>
                  </a:lnTo>
                  <a:lnTo>
                    <a:pt x="1030224" y="515111"/>
                  </a:lnTo>
                  <a:lnTo>
                    <a:pt x="1028118" y="468227"/>
                  </a:lnTo>
                  <a:lnTo>
                    <a:pt x="1021924" y="422522"/>
                  </a:lnTo>
                  <a:lnTo>
                    <a:pt x="1011823" y="378177"/>
                  </a:lnTo>
                  <a:lnTo>
                    <a:pt x="997996" y="335376"/>
                  </a:lnTo>
                  <a:lnTo>
                    <a:pt x="980626" y="294299"/>
                  </a:lnTo>
                  <a:lnTo>
                    <a:pt x="959894" y="255128"/>
                  </a:lnTo>
                  <a:lnTo>
                    <a:pt x="935982" y="218046"/>
                  </a:lnTo>
                  <a:lnTo>
                    <a:pt x="909073" y="183235"/>
                  </a:lnTo>
                  <a:lnTo>
                    <a:pt x="879348" y="150876"/>
                  </a:lnTo>
                  <a:lnTo>
                    <a:pt x="846988" y="121150"/>
                  </a:lnTo>
                  <a:lnTo>
                    <a:pt x="812177" y="94241"/>
                  </a:lnTo>
                  <a:lnTo>
                    <a:pt x="775095" y="70329"/>
                  </a:lnTo>
                  <a:lnTo>
                    <a:pt x="735924" y="49597"/>
                  </a:lnTo>
                  <a:lnTo>
                    <a:pt x="694847" y="32227"/>
                  </a:lnTo>
                  <a:lnTo>
                    <a:pt x="652046" y="18400"/>
                  </a:lnTo>
                  <a:lnTo>
                    <a:pt x="607701" y="8299"/>
                  </a:lnTo>
                  <a:lnTo>
                    <a:pt x="561996" y="2105"/>
                  </a:lnTo>
                  <a:lnTo>
                    <a:pt x="515111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00122" y="2574797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0" y="515111"/>
                  </a:moveTo>
                  <a:lnTo>
                    <a:pt x="2105" y="468227"/>
                  </a:lnTo>
                  <a:lnTo>
                    <a:pt x="8299" y="422522"/>
                  </a:lnTo>
                  <a:lnTo>
                    <a:pt x="18400" y="378177"/>
                  </a:lnTo>
                  <a:lnTo>
                    <a:pt x="32227" y="335376"/>
                  </a:lnTo>
                  <a:lnTo>
                    <a:pt x="49597" y="294299"/>
                  </a:lnTo>
                  <a:lnTo>
                    <a:pt x="70329" y="255128"/>
                  </a:lnTo>
                  <a:lnTo>
                    <a:pt x="94241" y="218046"/>
                  </a:lnTo>
                  <a:lnTo>
                    <a:pt x="121150" y="183235"/>
                  </a:lnTo>
                  <a:lnTo>
                    <a:pt x="150875" y="150875"/>
                  </a:lnTo>
                  <a:lnTo>
                    <a:pt x="183235" y="121150"/>
                  </a:lnTo>
                  <a:lnTo>
                    <a:pt x="218046" y="94241"/>
                  </a:lnTo>
                  <a:lnTo>
                    <a:pt x="255128" y="70329"/>
                  </a:lnTo>
                  <a:lnTo>
                    <a:pt x="294299" y="49597"/>
                  </a:lnTo>
                  <a:lnTo>
                    <a:pt x="335376" y="32227"/>
                  </a:lnTo>
                  <a:lnTo>
                    <a:pt x="378177" y="18400"/>
                  </a:lnTo>
                  <a:lnTo>
                    <a:pt x="422522" y="8299"/>
                  </a:lnTo>
                  <a:lnTo>
                    <a:pt x="468227" y="2105"/>
                  </a:lnTo>
                  <a:lnTo>
                    <a:pt x="515111" y="0"/>
                  </a:lnTo>
                  <a:lnTo>
                    <a:pt x="561996" y="2105"/>
                  </a:lnTo>
                  <a:lnTo>
                    <a:pt x="607701" y="8299"/>
                  </a:lnTo>
                  <a:lnTo>
                    <a:pt x="652046" y="18400"/>
                  </a:lnTo>
                  <a:lnTo>
                    <a:pt x="694847" y="32227"/>
                  </a:lnTo>
                  <a:lnTo>
                    <a:pt x="735924" y="49597"/>
                  </a:lnTo>
                  <a:lnTo>
                    <a:pt x="775095" y="70329"/>
                  </a:lnTo>
                  <a:lnTo>
                    <a:pt x="812177" y="94241"/>
                  </a:lnTo>
                  <a:lnTo>
                    <a:pt x="846988" y="121150"/>
                  </a:lnTo>
                  <a:lnTo>
                    <a:pt x="879348" y="150876"/>
                  </a:lnTo>
                  <a:lnTo>
                    <a:pt x="909073" y="183235"/>
                  </a:lnTo>
                  <a:lnTo>
                    <a:pt x="935982" y="218046"/>
                  </a:lnTo>
                  <a:lnTo>
                    <a:pt x="959894" y="255128"/>
                  </a:lnTo>
                  <a:lnTo>
                    <a:pt x="980626" y="294299"/>
                  </a:lnTo>
                  <a:lnTo>
                    <a:pt x="997996" y="335376"/>
                  </a:lnTo>
                  <a:lnTo>
                    <a:pt x="1011823" y="378177"/>
                  </a:lnTo>
                  <a:lnTo>
                    <a:pt x="1021924" y="422522"/>
                  </a:lnTo>
                  <a:lnTo>
                    <a:pt x="1028118" y="468227"/>
                  </a:lnTo>
                  <a:lnTo>
                    <a:pt x="1030224" y="515111"/>
                  </a:lnTo>
                  <a:lnTo>
                    <a:pt x="1028118" y="561996"/>
                  </a:lnTo>
                  <a:lnTo>
                    <a:pt x="1021924" y="607701"/>
                  </a:lnTo>
                  <a:lnTo>
                    <a:pt x="1011823" y="652046"/>
                  </a:lnTo>
                  <a:lnTo>
                    <a:pt x="997996" y="694847"/>
                  </a:lnTo>
                  <a:lnTo>
                    <a:pt x="980626" y="735924"/>
                  </a:lnTo>
                  <a:lnTo>
                    <a:pt x="959894" y="775095"/>
                  </a:lnTo>
                  <a:lnTo>
                    <a:pt x="935982" y="812177"/>
                  </a:lnTo>
                  <a:lnTo>
                    <a:pt x="909073" y="846988"/>
                  </a:lnTo>
                  <a:lnTo>
                    <a:pt x="879347" y="879347"/>
                  </a:lnTo>
                  <a:lnTo>
                    <a:pt x="846988" y="909073"/>
                  </a:lnTo>
                  <a:lnTo>
                    <a:pt x="812177" y="935982"/>
                  </a:lnTo>
                  <a:lnTo>
                    <a:pt x="775095" y="959894"/>
                  </a:lnTo>
                  <a:lnTo>
                    <a:pt x="735924" y="980626"/>
                  </a:lnTo>
                  <a:lnTo>
                    <a:pt x="694847" y="997996"/>
                  </a:lnTo>
                  <a:lnTo>
                    <a:pt x="652046" y="1011823"/>
                  </a:lnTo>
                  <a:lnTo>
                    <a:pt x="607701" y="1021924"/>
                  </a:lnTo>
                  <a:lnTo>
                    <a:pt x="561996" y="1028118"/>
                  </a:lnTo>
                  <a:lnTo>
                    <a:pt x="515111" y="1030224"/>
                  </a:lnTo>
                  <a:lnTo>
                    <a:pt x="468227" y="1028118"/>
                  </a:lnTo>
                  <a:lnTo>
                    <a:pt x="422522" y="1021924"/>
                  </a:lnTo>
                  <a:lnTo>
                    <a:pt x="378177" y="1011823"/>
                  </a:lnTo>
                  <a:lnTo>
                    <a:pt x="335376" y="997996"/>
                  </a:lnTo>
                  <a:lnTo>
                    <a:pt x="294299" y="980626"/>
                  </a:lnTo>
                  <a:lnTo>
                    <a:pt x="255128" y="959894"/>
                  </a:lnTo>
                  <a:lnTo>
                    <a:pt x="218046" y="935982"/>
                  </a:lnTo>
                  <a:lnTo>
                    <a:pt x="183235" y="909073"/>
                  </a:lnTo>
                  <a:lnTo>
                    <a:pt x="150876" y="879347"/>
                  </a:lnTo>
                  <a:lnTo>
                    <a:pt x="121150" y="846988"/>
                  </a:lnTo>
                  <a:lnTo>
                    <a:pt x="94241" y="812177"/>
                  </a:lnTo>
                  <a:lnTo>
                    <a:pt x="70329" y="775095"/>
                  </a:lnTo>
                  <a:lnTo>
                    <a:pt x="49597" y="735924"/>
                  </a:lnTo>
                  <a:lnTo>
                    <a:pt x="32227" y="694847"/>
                  </a:lnTo>
                  <a:lnTo>
                    <a:pt x="18400" y="652046"/>
                  </a:lnTo>
                  <a:lnTo>
                    <a:pt x="8299" y="607701"/>
                  </a:lnTo>
                  <a:lnTo>
                    <a:pt x="2105" y="561996"/>
                  </a:lnTo>
                  <a:lnTo>
                    <a:pt x="0" y="51511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487104" y="3899852"/>
            <a:ext cx="8824595" cy="1054735"/>
            <a:chOff x="2487104" y="3899852"/>
            <a:chExt cx="8824595" cy="1054735"/>
          </a:xfrm>
        </p:grpSpPr>
        <p:sp>
          <p:nvSpPr>
            <p:cNvPr id="9" name="object 9"/>
            <p:cNvSpPr/>
            <p:nvPr/>
          </p:nvSpPr>
          <p:spPr>
            <a:xfrm>
              <a:off x="3015234" y="3912870"/>
              <a:ext cx="8282940" cy="1028700"/>
            </a:xfrm>
            <a:custGeom>
              <a:avLst/>
              <a:gdLst/>
              <a:ahLst/>
              <a:cxnLst/>
              <a:rect l="l" t="t" r="r" b="b"/>
              <a:pathLst>
                <a:path w="8282940" h="1028700">
                  <a:moveTo>
                    <a:pt x="8282940" y="0"/>
                  </a:moveTo>
                  <a:lnTo>
                    <a:pt x="514350" y="0"/>
                  </a:lnTo>
                  <a:lnTo>
                    <a:pt x="0" y="514350"/>
                  </a:lnTo>
                  <a:lnTo>
                    <a:pt x="514350" y="1028700"/>
                  </a:lnTo>
                  <a:lnTo>
                    <a:pt x="8282940" y="1028700"/>
                  </a:lnTo>
                  <a:lnTo>
                    <a:pt x="828294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5234" y="3912870"/>
              <a:ext cx="8282940" cy="1028700"/>
            </a:xfrm>
            <a:custGeom>
              <a:avLst/>
              <a:gdLst/>
              <a:ahLst/>
              <a:cxnLst/>
              <a:rect l="l" t="t" r="r" b="b"/>
              <a:pathLst>
                <a:path w="8282940" h="1028700">
                  <a:moveTo>
                    <a:pt x="8282940" y="1028700"/>
                  </a:moveTo>
                  <a:lnTo>
                    <a:pt x="514350" y="1028700"/>
                  </a:lnTo>
                  <a:lnTo>
                    <a:pt x="0" y="514350"/>
                  </a:lnTo>
                  <a:lnTo>
                    <a:pt x="514350" y="0"/>
                  </a:lnTo>
                  <a:lnTo>
                    <a:pt x="8282940" y="0"/>
                  </a:lnTo>
                  <a:lnTo>
                    <a:pt x="8282940" y="102870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0122" y="3912870"/>
              <a:ext cx="1030605" cy="1028700"/>
            </a:xfrm>
            <a:custGeom>
              <a:avLst/>
              <a:gdLst/>
              <a:ahLst/>
              <a:cxnLst/>
              <a:rect l="l" t="t" r="r" b="b"/>
              <a:pathLst>
                <a:path w="1030604" h="1028700">
                  <a:moveTo>
                    <a:pt x="515111" y="0"/>
                  </a:moveTo>
                  <a:lnTo>
                    <a:pt x="468227" y="2101"/>
                  </a:lnTo>
                  <a:lnTo>
                    <a:pt x="422522" y="8285"/>
                  </a:lnTo>
                  <a:lnTo>
                    <a:pt x="378177" y="18370"/>
                  </a:lnTo>
                  <a:lnTo>
                    <a:pt x="335376" y="32175"/>
                  </a:lnTo>
                  <a:lnTo>
                    <a:pt x="294299" y="49517"/>
                  </a:lnTo>
                  <a:lnTo>
                    <a:pt x="255128" y="70216"/>
                  </a:lnTo>
                  <a:lnTo>
                    <a:pt x="218046" y="94090"/>
                  </a:lnTo>
                  <a:lnTo>
                    <a:pt x="183235" y="120958"/>
                  </a:lnTo>
                  <a:lnTo>
                    <a:pt x="150875" y="150637"/>
                  </a:lnTo>
                  <a:lnTo>
                    <a:pt x="121150" y="182947"/>
                  </a:lnTo>
                  <a:lnTo>
                    <a:pt x="94241" y="217707"/>
                  </a:lnTo>
                  <a:lnTo>
                    <a:pt x="70329" y="254733"/>
                  </a:lnTo>
                  <a:lnTo>
                    <a:pt x="49597" y="293846"/>
                  </a:lnTo>
                  <a:lnTo>
                    <a:pt x="32227" y="334863"/>
                  </a:lnTo>
                  <a:lnTo>
                    <a:pt x="18400" y="377604"/>
                  </a:lnTo>
                  <a:lnTo>
                    <a:pt x="8299" y="421886"/>
                  </a:lnTo>
                  <a:lnTo>
                    <a:pt x="2105" y="467529"/>
                  </a:lnTo>
                  <a:lnTo>
                    <a:pt x="0" y="514350"/>
                  </a:lnTo>
                  <a:lnTo>
                    <a:pt x="2105" y="561170"/>
                  </a:lnTo>
                  <a:lnTo>
                    <a:pt x="8299" y="606813"/>
                  </a:lnTo>
                  <a:lnTo>
                    <a:pt x="18400" y="651095"/>
                  </a:lnTo>
                  <a:lnTo>
                    <a:pt x="32227" y="693836"/>
                  </a:lnTo>
                  <a:lnTo>
                    <a:pt x="49597" y="734853"/>
                  </a:lnTo>
                  <a:lnTo>
                    <a:pt x="70329" y="773966"/>
                  </a:lnTo>
                  <a:lnTo>
                    <a:pt x="94241" y="810992"/>
                  </a:lnTo>
                  <a:lnTo>
                    <a:pt x="121150" y="845752"/>
                  </a:lnTo>
                  <a:lnTo>
                    <a:pt x="150876" y="878062"/>
                  </a:lnTo>
                  <a:lnTo>
                    <a:pt x="183235" y="907741"/>
                  </a:lnTo>
                  <a:lnTo>
                    <a:pt x="218046" y="934609"/>
                  </a:lnTo>
                  <a:lnTo>
                    <a:pt x="255128" y="958483"/>
                  </a:lnTo>
                  <a:lnTo>
                    <a:pt x="294299" y="979182"/>
                  </a:lnTo>
                  <a:lnTo>
                    <a:pt x="335376" y="996524"/>
                  </a:lnTo>
                  <a:lnTo>
                    <a:pt x="378177" y="1010329"/>
                  </a:lnTo>
                  <a:lnTo>
                    <a:pt x="422522" y="1020414"/>
                  </a:lnTo>
                  <a:lnTo>
                    <a:pt x="468227" y="1026598"/>
                  </a:lnTo>
                  <a:lnTo>
                    <a:pt x="515111" y="1028700"/>
                  </a:lnTo>
                  <a:lnTo>
                    <a:pt x="561996" y="1026598"/>
                  </a:lnTo>
                  <a:lnTo>
                    <a:pt x="607701" y="1020414"/>
                  </a:lnTo>
                  <a:lnTo>
                    <a:pt x="652046" y="1010329"/>
                  </a:lnTo>
                  <a:lnTo>
                    <a:pt x="694847" y="996524"/>
                  </a:lnTo>
                  <a:lnTo>
                    <a:pt x="735924" y="979182"/>
                  </a:lnTo>
                  <a:lnTo>
                    <a:pt x="775095" y="958483"/>
                  </a:lnTo>
                  <a:lnTo>
                    <a:pt x="812177" y="934609"/>
                  </a:lnTo>
                  <a:lnTo>
                    <a:pt x="846988" y="907741"/>
                  </a:lnTo>
                  <a:lnTo>
                    <a:pt x="879347" y="878062"/>
                  </a:lnTo>
                  <a:lnTo>
                    <a:pt x="909073" y="845752"/>
                  </a:lnTo>
                  <a:lnTo>
                    <a:pt x="935982" y="810992"/>
                  </a:lnTo>
                  <a:lnTo>
                    <a:pt x="959894" y="773966"/>
                  </a:lnTo>
                  <a:lnTo>
                    <a:pt x="980626" y="734853"/>
                  </a:lnTo>
                  <a:lnTo>
                    <a:pt x="997996" y="693836"/>
                  </a:lnTo>
                  <a:lnTo>
                    <a:pt x="1011823" y="651095"/>
                  </a:lnTo>
                  <a:lnTo>
                    <a:pt x="1021924" y="606813"/>
                  </a:lnTo>
                  <a:lnTo>
                    <a:pt x="1028118" y="561170"/>
                  </a:lnTo>
                  <a:lnTo>
                    <a:pt x="1030224" y="514350"/>
                  </a:lnTo>
                  <a:lnTo>
                    <a:pt x="1028118" y="467529"/>
                  </a:lnTo>
                  <a:lnTo>
                    <a:pt x="1021924" y="421886"/>
                  </a:lnTo>
                  <a:lnTo>
                    <a:pt x="1011823" y="377604"/>
                  </a:lnTo>
                  <a:lnTo>
                    <a:pt x="997996" y="334863"/>
                  </a:lnTo>
                  <a:lnTo>
                    <a:pt x="980626" y="293846"/>
                  </a:lnTo>
                  <a:lnTo>
                    <a:pt x="959894" y="254733"/>
                  </a:lnTo>
                  <a:lnTo>
                    <a:pt x="935982" y="217707"/>
                  </a:lnTo>
                  <a:lnTo>
                    <a:pt x="909073" y="182947"/>
                  </a:lnTo>
                  <a:lnTo>
                    <a:pt x="879348" y="150637"/>
                  </a:lnTo>
                  <a:lnTo>
                    <a:pt x="846988" y="120958"/>
                  </a:lnTo>
                  <a:lnTo>
                    <a:pt x="812177" y="94090"/>
                  </a:lnTo>
                  <a:lnTo>
                    <a:pt x="775095" y="70216"/>
                  </a:lnTo>
                  <a:lnTo>
                    <a:pt x="735924" y="49517"/>
                  </a:lnTo>
                  <a:lnTo>
                    <a:pt x="694847" y="32175"/>
                  </a:lnTo>
                  <a:lnTo>
                    <a:pt x="652046" y="18370"/>
                  </a:lnTo>
                  <a:lnTo>
                    <a:pt x="607701" y="8285"/>
                  </a:lnTo>
                  <a:lnTo>
                    <a:pt x="561996" y="2101"/>
                  </a:lnTo>
                  <a:lnTo>
                    <a:pt x="515111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00122" y="3912870"/>
              <a:ext cx="1030605" cy="1028700"/>
            </a:xfrm>
            <a:custGeom>
              <a:avLst/>
              <a:gdLst/>
              <a:ahLst/>
              <a:cxnLst/>
              <a:rect l="l" t="t" r="r" b="b"/>
              <a:pathLst>
                <a:path w="1030604" h="1028700">
                  <a:moveTo>
                    <a:pt x="0" y="514350"/>
                  </a:moveTo>
                  <a:lnTo>
                    <a:pt x="2105" y="467529"/>
                  </a:lnTo>
                  <a:lnTo>
                    <a:pt x="8299" y="421886"/>
                  </a:lnTo>
                  <a:lnTo>
                    <a:pt x="18400" y="377604"/>
                  </a:lnTo>
                  <a:lnTo>
                    <a:pt x="32227" y="334863"/>
                  </a:lnTo>
                  <a:lnTo>
                    <a:pt x="49597" y="293846"/>
                  </a:lnTo>
                  <a:lnTo>
                    <a:pt x="70329" y="254733"/>
                  </a:lnTo>
                  <a:lnTo>
                    <a:pt x="94241" y="217707"/>
                  </a:lnTo>
                  <a:lnTo>
                    <a:pt x="121150" y="182947"/>
                  </a:lnTo>
                  <a:lnTo>
                    <a:pt x="150875" y="150637"/>
                  </a:lnTo>
                  <a:lnTo>
                    <a:pt x="183235" y="120958"/>
                  </a:lnTo>
                  <a:lnTo>
                    <a:pt x="218046" y="94090"/>
                  </a:lnTo>
                  <a:lnTo>
                    <a:pt x="255128" y="70216"/>
                  </a:lnTo>
                  <a:lnTo>
                    <a:pt x="294299" y="49517"/>
                  </a:lnTo>
                  <a:lnTo>
                    <a:pt x="335376" y="32175"/>
                  </a:lnTo>
                  <a:lnTo>
                    <a:pt x="378177" y="18370"/>
                  </a:lnTo>
                  <a:lnTo>
                    <a:pt x="422522" y="8285"/>
                  </a:lnTo>
                  <a:lnTo>
                    <a:pt x="468227" y="2101"/>
                  </a:lnTo>
                  <a:lnTo>
                    <a:pt x="515111" y="0"/>
                  </a:lnTo>
                  <a:lnTo>
                    <a:pt x="561996" y="2101"/>
                  </a:lnTo>
                  <a:lnTo>
                    <a:pt x="607701" y="8285"/>
                  </a:lnTo>
                  <a:lnTo>
                    <a:pt x="652046" y="18370"/>
                  </a:lnTo>
                  <a:lnTo>
                    <a:pt x="694847" y="32175"/>
                  </a:lnTo>
                  <a:lnTo>
                    <a:pt x="735924" y="49517"/>
                  </a:lnTo>
                  <a:lnTo>
                    <a:pt x="775095" y="70216"/>
                  </a:lnTo>
                  <a:lnTo>
                    <a:pt x="812177" y="94090"/>
                  </a:lnTo>
                  <a:lnTo>
                    <a:pt x="846988" y="120958"/>
                  </a:lnTo>
                  <a:lnTo>
                    <a:pt x="879348" y="150637"/>
                  </a:lnTo>
                  <a:lnTo>
                    <a:pt x="909073" y="182947"/>
                  </a:lnTo>
                  <a:lnTo>
                    <a:pt x="935982" y="217707"/>
                  </a:lnTo>
                  <a:lnTo>
                    <a:pt x="959894" y="254733"/>
                  </a:lnTo>
                  <a:lnTo>
                    <a:pt x="980626" y="293846"/>
                  </a:lnTo>
                  <a:lnTo>
                    <a:pt x="997996" y="334863"/>
                  </a:lnTo>
                  <a:lnTo>
                    <a:pt x="1011823" y="377604"/>
                  </a:lnTo>
                  <a:lnTo>
                    <a:pt x="1021924" y="421886"/>
                  </a:lnTo>
                  <a:lnTo>
                    <a:pt x="1028118" y="467529"/>
                  </a:lnTo>
                  <a:lnTo>
                    <a:pt x="1030224" y="514350"/>
                  </a:lnTo>
                  <a:lnTo>
                    <a:pt x="1028118" y="561170"/>
                  </a:lnTo>
                  <a:lnTo>
                    <a:pt x="1021924" y="606813"/>
                  </a:lnTo>
                  <a:lnTo>
                    <a:pt x="1011823" y="651095"/>
                  </a:lnTo>
                  <a:lnTo>
                    <a:pt x="997996" y="693836"/>
                  </a:lnTo>
                  <a:lnTo>
                    <a:pt x="980626" y="734853"/>
                  </a:lnTo>
                  <a:lnTo>
                    <a:pt x="959894" y="773966"/>
                  </a:lnTo>
                  <a:lnTo>
                    <a:pt x="935982" y="810992"/>
                  </a:lnTo>
                  <a:lnTo>
                    <a:pt x="909073" y="845752"/>
                  </a:lnTo>
                  <a:lnTo>
                    <a:pt x="879347" y="878062"/>
                  </a:lnTo>
                  <a:lnTo>
                    <a:pt x="846988" y="907741"/>
                  </a:lnTo>
                  <a:lnTo>
                    <a:pt x="812177" y="934609"/>
                  </a:lnTo>
                  <a:lnTo>
                    <a:pt x="775095" y="958483"/>
                  </a:lnTo>
                  <a:lnTo>
                    <a:pt x="735924" y="979182"/>
                  </a:lnTo>
                  <a:lnTo>
                    <a:pt x="694847" y="996524"/>
                  </a:lnTo>
                  <a:lnTo>
                    <a:pt x="652046" y="1010329"/>
                  </a:lnTo>
                  <a:lnTo>
                    <a:pt x="607701" y="1020414"/>
                  </a:lnTo>
                  <a:lnTo>
                    <a:pt x="561996" y="1026598"/>
                  </a:lnTo>
                  <a:lnTo>
                    <a:pt x="515111" y="1028700"/>
                  </a:lnTo>
                  <a:lnTo>
                    <a:pt x="468227" y="1026598"/>
                  </a:lnTo>
                  <a:lnTo>
                    <a:pt x="422522" y="1020414"/>
                  </a:lnTo>
                  <a:lnTo>
                    <a:pt x="378177" y="1010329"/>
                  </a:lnTo>
                  <a:lnTo>
                    <a:pt x="335376" y="996524"/>
                  </a:lnTo>
                  <a:lnTo>
                    <a:pt x="294299" y="979182"/>
                  </a:lnTo>
                  <a:lnTo>
                    <a:pt x="255128" y="958483"/>
                  </a:lnTo>
                  <a:lnTo>
                    <a:pt x="218046" y="934609"/>
                  </a:lnTo>
                  <a:lnTo>
                    <a:pt x="183235" y="907741"/>
                  </a:lnTo>
                  <a:lnTo>
                    <a:pt x="150876" y="878062"/>
                  </a:lnTo>
                  <a:lnTo>
                    <a:pt x="121150" y="845752"/>
                  </a:lnTo>
                  <a:lnTo>
                    <a:pt x="94241" y="810992"/>
                  </a:lnTo>
                  <a:lnTo>
                    <a:pt x="70329" y="773966"/>
                  </a:lnTo>
                  <a:lnTo>
                    <a:pt x="49597" y="734853"/>
                  </a:lnTo>
                  <a:lnTo>
                    <a:pt x="32227" y="693836"/>
                  </a:lnTo>
                  <a:lnTo>
                    <a:pt x="18400" y="651095"/>
                  </a:lnTo>
                  <a:lnTo>
                    <a:pt x="8299" y="606813"/>
                  </a:lnTo>
                  <a:lnTo>
                    <a:pt x="2105" y="561170"/>
                  </a:lnTo>
                  <a:lnTo>
                    <a:pt x="0" y="51435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487104" y="5236400"/>
            <a:ext cx="8824595" cy="1056640"/>
            <a:chOff x="2487104" y="5236400"/>
            <a:chExt cx="8824595" cy="1056640"/>
          </a:xfrm>
        </p:grpSpPr>
        <p:sp>
          <p:nvSpPr>
            <p:cNvPr id="14" name="object 14"/>
            <p:cNvSpPr/>
            <p:nvPr/>
          </p:nvSpPr>
          <p:spPr>
            <a:xfrm>
              <a:off x="3015234" y="5249418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0"/>
                  </a:moveTo>
                  <a:lnTo>
                    <a:pt x="515112" y="0"/>
                  </a:lnTo>
                  <a:lnTo>
                    <a:pt x="0" y="515112"/>
                  </a:lnTo>
                  <a:lnTo>
                    <a:pt x="515112" y="1030224"/>
                  </a:lnTo>
                  <a:lnTo>
                    <a:pt x="8282940" y="1030224"/>
                  </a:lnTo>
                  <a:lnTo>
                    <a:pt x="828294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15234" y="5249418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1030224"/>
                  </a:moveTo>
                  <a:lnTo>
                    <a:pt x="515112" y="1030224"/>
                  </a:lnTo>
                  <a:lnTo>
                    <a:pt x="0" y="515112"/>
                  </a:lnTo>
                  <a:lnTo>
                    <a:pt x="515112" y="0"/>
                  </a:lnTo>
                  <a:lnTo>
                    <a:pt x="8282940" y="0"/>
                  </a:lnTo>
                  <a:lnTo>
                    <a:pt x="8282940" y="103022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00122" y="5249418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515111" y="0"/>
                  </a:moveTo>
                  <a:lnTo>
                    <a:pt x="468227" y="2105"/>
                  </a:lnTo>
                  <a:lnTo>
                    <a:pt x="422522" y="8299"/>
                  </a:lnTo>
                  <a:lnTo>
                    <a:pt x="378177" y="18400"/>
                  </a:lnTo>
                  <a:lnTo>
                    <a:pt x="335376" y="32227"/>
                  </a:lnTo>
                  <a:lnTo>
                    <a:pt x="294299" y="49597"/>
                  </a:lnTo>
                  <a:lnTo>
                    <a:pt x="255128" y="70329"/>
                  </a:lnTo>
                  <a:lnTo>
                    <a:pt x="218046" y="94241"/>
                  </a:lnTo>
                  <a:lnTo>
                    <a:pt x="183235" y="121150"/>
                  </a:lnTo>
                  <a:lnTo>
                    <a:pt x="150875" y="150875"/>
                  </a:lnTo>
                  <a:lnTo>
                    <a:pt x="121150" y="183235"/>
                  </a:lnTo>
                  <a:lnTo>
                    <a:pt x="94241" y="218046"/>
                  </a:lnTo>
                  <a:lnTo>
                    <a:pt x="70329" y="255128"/>
                  </a:lnTo>
                  <a:lnTo>
                    <a:pt x="49597" y="294299"/>
                  </a:lnTo>
                  <a:lnTo>
                    <a:pt x="32227" y="335376"/>
                  </a:lnTo>
                  <a:lnTo>
                    <a:pt x="18400" y="378177"/>
                  </a:lnTo>
                  <a:lnTo>
                    <a:pt x="8299" y="422522"/>
                  </a:lnTo>
                  <a:lnTo>
                    <a:pt x="2105" y="468227"/>
                  </a:lnTo>
                  <a:lnTo>
                    <a:pt x="0" y="515112"/>
                  </a:lnTo>
                  <a:lnTo>
                    <a:pt x="2105" y="561996"/>
                  </a:lnTo>
                  <a:lnTo>
                    <a:pt x="8299" y="607701"/>
                  </a:lnTo>
                  <a:lnTo>
                    <a:pt x="18400" y="652046"/>
                  </a:lnTo>
                  <a:lnTo>
                    <a:pt x="32227" y="694847"/>
                  </a:lnTo>
                  <a:lnTo>
                    <a:pt x="49597" y="735924"/>
                  </a:lnTo>
                  <a:lnTo>
                    <a:pt x="70329" y="775095"/>
                  </a:lnTo>
                  <a:lnTo>
                    <a:pt x="94241" y="812177"/>
                  </a:lnTo>
                  <a:lnTo>
                    <a:pt x="121150" y="846988"/>
                  </a:lnTo>
                  <a:lnTo>
                    <a:pt x="150876" y="879348"/>
                  </a:lnTo>
                  <a:lnTo>
                    <a:pt x="183235" y="909073"/>
                  </a:lnTo>
                  <a:lnTo>
                    <a:pt x="218046" y="935982"/>
                  </a:lnTo>
                  <a:lnTo>
                    <a:pt x="255128" y="959894"/>
                  </a:lnTo>
                  <a:lnTo>
                    <a:pt x="294299" y="980626"/>
                  </a:lnTo>
                  <a:lnTo>
                    <a:pt x="335376" y="997996"/>
                  </a:lnTo>
                  <a:lnTo>
                    <a:pt x="378177" y="1011823"/>
                  </a:lnTo>
                  <a:lnTo>
                    <a:pt x="422522" y="1021924"/>
                  </a:lnTo>
                  <a:lnTo>
                    <a:pt x="468227" y="1028118"/>
                  </a:lnTo>
                  <a:lnTo>
                    <a:pt x="515111" y="1030224"/>
                  </a:lnTo>
                  <a:lnTo>
                    <a:pt x="561996" y="1028118"/>
                  </a:lnTo>
                  <a:lnTo>
                    <a:pt x="607701" y="1021924"/>
                  </a:lnTo>
                  <a:lnTo>
                    <a:pt x="652046" y="1011823"/>
                  </a:lnTo>
                  <a:lnTo>
                    <a:pt x="694847" y="997996"/>
                  </a:lnTo>
                  <a:lnTo>
                    <a:pt x="735924" y="980626"/>
                  </a:lnTo>
                  <a:lnTo>
                    <a:pt x="775095" y="959894"/>
                  </a:lnTo>
                  <a:lnTo>
                    <a:pt x="812177" y="935982"/>
                  </a:lnTo>
                  <a:lnTo>
                    <a:pt x="846988" y="909073"/>
                  </a:lnTo>
                  <a:lnTo>
                    <a:pt x="879347" y="879348"/>
                  </a:lnTo>
                  <a:lnTo>
                    <a:pt x="909073" y="846988"/>
                  </a:lnTo>
                  <a:lnTo>
                    <a:pt x="935982" y="812177"/>
                  </a:lnTo>
                  <a:lnTo>
                    <a:pt x="959894" y="775095"/>
                  </a:lnTo>
                  <a:lnTo>
                    <a:pt x="980626" y="735924"/>
                  </a:lnTo>
                  <a:lnTo>
                    <a:pt x="997996" y="694847"/>
                  </a:lnTo>
                  <a:lnTo>
                    <a:pt x="1011823" y="652046"/>
                  </a:lnTo>
                  <a:lnTo>
                    <a:pt x="1021924" y="607701"/>
                  </a:lnTo>
                  <a:lnTo>
                    <a:pt x="1028118" y="561996"/>
                  </a:lnTo>
                  <a:lnTo>
                    <a:pt x="1030224" y="515112"/>
                  </a:lnTo>
                  <a:lnTo>
                    <a:pt x="1028118" y="468227"/>
                  </a:lnTo>
                  <a:lnTo>
                    <a:pt x="1021924" y="422522"/>
                  </a:lnTo>
                  <a:lnTo>
                    <a:pt x="1011823" y="378177"/>
                  </a:lnTo>
                  <a:lnTo>
                    <a:pt x="997996" y="335376"/>
                  </a:lnTo>
                  <a:lnTo>
                    <a:pt x="980626" y="294299"/>
                  </a:lnTo>
                  <a:lnTo>
                    <a:pt x="959894" y="255128"/>
                  </a:lnTo>
                  <a:lnTo>
                    <a:pt x="935982" y="218046"/>
                  </a:lnTo>
                  <a:lnTo>
                    <a:pt x="909073" y="183235"/>
                  </a:lnTo>
                  <a:lnTo>
                    <a:pt x="879348" y="150876"/>
                  </a:lnTo>
                  <a:lnTo>
                    <a:pt x="846988" y="121150"/>
                  </a:lnTo>
                  <a:lnTo>
                    <a:pt x="812177" y="94241"/>
                  </a:lnTo>
                  <a:lnTo>
                    <a:pt x="775095" y="70329"/>
                  </a:lnTo>
                  <a:lnTo>
                    <a:pt x="735924" y="49597"/>
                  </a:lnTo>
                  <a:lnTo>
                    <a:pt x="694847" y="32227"/>
                  </a:lnTo>
                  <a:lnTo>
                    <a:pt x="652046" y="18400"/>
                  </a:lnTo>
                  <a:lnTo>
                    <a:pt x="607701" y="8299"/>
                  </a:lnTo>
                  <a:lnTo>
                    <a:pt x="561996" y="2105"/>
                  </a:lnTo>
                  <a:lnTo>
                    <a:pt x="515111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00122" y="5249418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0" y="515112"/>
                  </a:moveTo>
                  <a:lnTo>
                    <a:pt x="2105" y="468227"/>
                  </a:lnTo>
                  <a:lnTo>
                    <a:pt x="8299" y="422522"/>
                  </a:lnTo>
                  <a:lnTo>
                    <a:pt x="18400" y="378177"/>
                  </a:lnTo>
                  <a:lnTo>
                    <a:pt x="32227" y="335376"/>
                  </a:lnTo>
                  <a:lnTo>
                    <a:pt x="49597" y="294299"/>
                  </a:lnTo>
                  <a:lnTo>
                    <a:pt x="70329" y="255128"/>
                  </a:lnTo>
                  <a:lnTo>
                    <a:pt x="94241" y="218046"/>
                  </a:lnTo>
                  <a:lnTo>
                    <a:pt x="121150" y="183235"/>
                  </a:lnTo>
                  <a:lnTo>
                    <a:pt x="150875" y="150875"/>
                  </a:lnTo>
                  <a:lnTo>
                    <a:pt x="183235" y="121150"/>
                  </a:lnTo>
                  <a:lnTo>
                    <a:pt x="218046" y="94241"/>
                  </a:lnTo>
                  <a:lnTo>
                    <a:pt x="255128" y="70329"/>
                  </a:lnTo>
                  <a:lnTo>
                    <a:pt x="294299" y="49597"/>
                  </a:lnTo>
                  <a:lnTo>
                    <a:pt x="335376" y="32227"/>
                  </a:lnTo>
                  <a:lnTo>
                    <a:pt x="378177" y="18400"/>
                  </a:lnTo>
                  <a:lnTo>
                    <a:pt x="422522" y="8299"/>
                  </a:lnTo>
                  <a:lnTo>
                    <a:pt x="468227" y="2105"/>
                  </a:lnTo>
                  <a:lnTo>
                    <a:pt x="515111" y="0"/>
                  </a:lnTo>
                  <a:lnTo>
                    <a:pt x="561996" y="2105"/>
                  </a:lnTo>
                  <a:lnTo>
                    <a:pt x="607701" y="8299"/>
                  </a:lnTo>
                  <a:lnTo>
                    <a:pt x="652046" y="18400"/>
                  </a:lnTo>
                  <a:lnTo>
                    <a:pt x="694847" y="32227"/>
                  </a:lnTo>
                  <a:lnTo>
                    <a:pt x="735924" y="49597"/>
                  </a:lnTo>
                  <a:lnTo>
                    <a:pt x="775095" y="70329"/>
                  </a:lnTo>
                  <a:lnTo>
                    <a:pt x="812177" y="94241"/>
                  </a:lnTo>
                  <a:lnTo>
                    <a:pt x="846988" y="121150"/>
                  </a:lnTo>
                  <a:lnTo>
                    <a:pt x="879348" y="150876"/>
                  </a:lnTo>
                  <a:lnTo>
                    <a:pt x="909073" y="183235"/>
                  </a:lnTo>
                  <a:lnTo>
                    <a:pt x="935982" y="218046"/>
                  </a:lnTo>
                  <a:lnTo>
                    <a:pt x="959894" y="255128"/>
                  </a:lnTo>
                  <a:lnTo>
                    <a:pt x="980626" y="294299"/>
                  </a:lnTo>
                  <a:lnTo>
                    <a:pt x="997996" y="335376"/>
                  </a:lnTo>
                  <a:lnTo>
                    <a:pt x="1011823" y="378177"/>
                  </a:lnTo>
                  <a:lnTo>
                    <a:pt x="1021924" y="422522"/>
                  </a:lnTo>
                  <a:lnTo>
                    <a:pt x="1028118" y="468227"/>
                  </a:lnTo>
                  <a:lnTo>
                    <a:pt x="1030224" y="515112"/>
                  </a:lnTo>
                  <a:lnTo>
                    <a:pt x="1028118" y="561996"/>
                  </a:lnTo>
                  <a:lnTo>
                    <a:pt x="1021924" y="607701"/>
                  </a:lnTo>
                  <a:lnTo>
                    <a:pt x="1011823" y="652046"/>
                  </a:lnTo>
                  <a:lnTo>
                    <a:pt x="997996" y="694847"/>
                  </a:lnTo>
                  <a:lnTo>
                    <a:pt x="980626" y="735924"/>
                  </a:lnTo>
                  <a:lnTo>
                    <a:pt x="959894" y="775095"/>
                  </a:lnTo>
                  <a:lnTo>
                    <a:pt x="935982" y="812177"/>
                  </a:lnTo>
                  <a:lnTo>
                    <a:pt x="909073" y="846988"/>
                  </a:lnTo>
                  <a:lnTo>
                    <a:pt x="879347" y="879348"/>
                  </a:lnTo>
                  <a:lnTo>
                    <a:pt x="846988" y="909073"/>
                  </a:lnTo>
                  <a:lnTo>
                    <a:pt x="812177" y="935982"/>
                  </a:lnTo>
                  <a:lnTo>
                    <a:pt x="775095" y="959894"/>
                  </a:lnTo>
                  <a:lnTo>
                    <a:pt x="735924" y="980626"/>
                  </a:lnTo>
                  <a:lnTo>
                    <a:pt x="694847" y="997996"/>
                  </a:lnTo>
                  <a:lnTo>
                    <a:pt x="652046" y="1011823"/>
                  </a:lnTo>
                  <a:lnTo>
                    <a:pt x="607701" y="1021924"/>
                  </a:lnTo>
                  <a:lnTo>
                    <a:pt x="561996" y="1028118"/>
                  </a:lnTo>
                  <a:lnTo>
                    <a:pt x="515111" y="1030224"/>
                  </a:lnTo>
                  <a:lnTo>
                    <a:pt x="468227" y="1028118"/>
                  </a:lnTo>
                  <a:lnTo>
                    <a:pt x="422522" y="1021924"/>
                  </a:lnTo>
                  <a:lnTo>
                    <a:pt x="378177" y="1011823"/>
                  </a:lnTo>
                  <a:lnTo>
                    <a:pt x="335376" y="997996"/>
                  </a:lnTo>
                  <a:lnTo>
                    <a:pt x="294299" y="980626"/>
                  </a:lnTo>
                  <a:lnTo>
                    <a:pt x="255128" y="959894"/>
                  </a:lnTo>
                  <a:lnTo>
                    <a:pt x="218046" y="935982"/>
                  </a:lnTo>
                  <a:lnTo>
                    <a:pt x="183235" y="909073"/>
                  </a:lnTo>
                  <a:lnTo>
                    <a:pt x="150876" y="879348"/>
                  </a:lnTo>
                  <a:lnTo>
                    <a:pt x="121150" y="846988"/>
                  </a:lnTo>
                  <a:lnTo>
                    <a:pt x="94241" y="812177"/>
                  </a:lnTo>
                  <a:lnTo>
                    <a:pt x="70329" y="775095"/>
                  </a:lnTo>
                  <a:lnTo>
                    <a:pt x="49597" y="735924"/>
                  </a:lnTo>
                  <a:lnTo>
                    <a:pt x="32227" y="694847"/>
                  </a:lnTo>
                  <a:lnTo>
                    <a:pt x="18400" y="652046"/>
                  </a:lnTo>
                  <a:lnTo>
                    <a:pt x="8299" y="607701"/>
                  </a:lnTo>
                  <a:lnTo>
                    <a:pt x="2105" y="561996"/>
                  </a:lnTo>
                  <a:lnTo>
                    <a:pt x="0" y="51511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487104" y="6574472"/>
            <a:ext cx="8824595" cy="1056640"/>
            <a:chOff x="2487104" y="6574472"/>
            <a:chExt cx="8824595" cy="1056640"/>
          </a:xfrm>
        </p:grpSpPr>
        <p:sp>
          <p:nvSpPr>
            <p:cNvPr id="19" name="object 19"/>
            <p:cNvSpPr/>
            <p:nvPr/>
          </p:nvSpPr>
          <p:spPr>
            <a:xfrm>
              <a:off x="3015234" y="6587489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0"/>
                  </a:moveTo>
                  <a:lnTo>
                    <a:pt x="515112" y="0"/>
                  </a:lnTo>
                  <a:lnTo>
                    <a:pt x="0" y="515111"/>
                  </a:lnTo>
                  <a:lnTo>
                    <a:pt x="515112" y="1030223"/>
                  </a:lnTo>
                  <a:lnTo>
                    <a:pt x="8282940" y="1030223"/>
                  </a:lnTo>
                  <a:lnTo>
                    <a:pt x="828294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15234" y="6587489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1030223"/>
                  </a:moveTo>
                  <a:lnTo>
                    <a:pt x="515112" y="1030223"/>
                  </a:lnTo>
                  <a:lnTo>
                    <a:pt x="0" y="515111"/>
                  </a:lnTo>
                  <a:lnTo>
                    <a:pt x="515112" y="0"/>
                  </a:lnTo>
                  <a:lnTo>
                    <a:pt x="8282940" y="0"/>
                  </a:lnTo>
                  <a:lnTo>
                    <a:pt x="8282940" y="103022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0122" y="6587489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515111" y="0"/>
                  </a:moveTo>
                  <a:lnTo>
                    <a:pt x="468227" y="2105"/>
                  </a:lnTo>
                  <a:lnTo>
                    <a:pt x="422522" y="8299"/>
                  </a:lnTo>
                  <a:lnTo>
                    <a:pt x="378177" y="18400"/>
                  </a:lnTo>
                  <a:lnTo>
                    <a:pt x="335376" y="32227"/>
                  </a:lnTo>
                  <a:lnTo>
                    <a:pt x="294299" y="49597"/>
                  </a:lnTo>
                  <a:lnTo>
                    <a:pt x="255128" y="70329"/>
                  </a:lnTo>
                  <a:lnTo>
                    <a:pt x="218046" y="94241"/>
                  </a:lnTo>
                  <a:lnTo>
                    <a:pt x="183235" y="121150"/>
                  </a:lnTo>
                  <a:lnTo>
                    <a:pt x="150875" y="150875"/>
                  </a:lnTo>
                  <a:lnTo>
                    <a:pt x="121150" y="183235"/>
                  </a:lnTo>
                  <a:lnTo>
                    <a:pt x="94241" y="218046"/>
                  </a:lnTo>
                  <a:lnTo>
                    <a:pt x="70329" y="255128"/>
                  </a:lnTo>
                  <a:lnTo>
                    <a:pt x="49597" y="294299"/>
                  </a:lnTo>
                  <a:lnTo>
                    <a:pt x="32227" y="335376"/>
                  </a:lnTo>
                  <a:lnTo>
                    <a:pt x="18400" y="378177"/>
                  </a:lnTo>
                  <a:lnTo>
                    <a:pt x="8299" y="422522"/>
                  </a:lnTo>
                  <a:lnTo>
                    <a:pt x="2105" y="468227"/>
                  </a:lnTo>
                  <a:lnTo>
                    <a:pt x="0" y="515111"/>
                  </a:lnTo>
                  <a:lnTo>
                    <a:pt x="2105" y="561996"/>
                  </a:lnTo>
                  <a:lnTo>
                    <a:pt x="8299" y="607701"/>
                  </a:lnTo>
                  <a:lnTo>
                    <a:pt x="18400" y="652046"/>
                  </a:lnTo>
                  <a:lnTo>
                    <a:pt x="32227" y="694847"/>
                  </a:lnTo>
                  <a:lnTo>
                    <a:pt x="49597" y="735924"/>
                  </a:lnTo>
                  <a:lnTo>
                    <a:pt x="70329" y="775095"/>
                  </a:lnTo>
                  <a:lnTo>
                    <a:pt x="94241" y="812177"/>
                  </a:lnTo>
                  <a:lnTo>
                    <a:pt x="121150" y="846988"/>
                  </a:lnTo>
                  <a:lnTo>
                    <a:pt x="150876" y="879347"/>
                  </a:lnTo>
                  <a:lnTo>
                    <a:pt x="183235" y="909073"/>
                  </a:lnTo>
                  <a:lnTo>
                    <a:pt x="218046" y="935982"/>
                  </a:lnTo>
                  <a:lnTo>
                    <a:pt x="255128" y="959894"/>
                  </a:lnTo>
                  <a:lnTo>
                    <a:pt x="294299" y="980626"/>
                  </a:lnTo>
                  <a:lnTo>
                    <a:pt x="335376" y="997996"/>
                  </a:lnTo>
                  <a:lnTo>
                    <a:pt x="378177" y="1011823"/>
                  </a:lnTo>
                  <a:lnTo>
                    <a:pt x="422522" y="1021924"/>
                  </a:lnTo>
                  <a:lnTo>
                    <a:pt x="468227" y="1028118"/>
                  </a:lnTo>
                  <a:lnTo>
                    <a:pt x="515111" y="1030223"/>
                  </a:lnTo>
                  <a:lnTo>
                    <a:pt x="561996" y="1028118"/>
                  </a:lnTo>
                  <a:lnTo>
                    <a:pt x="607701" y="1021924"/>
                  </a:lnTo>
                  <a:lnTo>
                    <a:pt x="652046" y="1011823"/>
                  </a:lnTo>
                  <a:lnTo>
                    <a:pt x="694847" y="997996"/>
                  </a:lnTo>
                  <a:lnTo>
                    <a:pt x="735924" y="980626"/>
                  </a:lnTo>
                  <a:lnTo>
                    <a:pt x="775095" y="959894"/>
                  </a:lnTo>
                  <a:lnTo>
                    <a:pt x="812177" y="935982"/>
                  </a:lnTo>
                  <a:lnTo>
                    <a:pt x="846988" y="909073"/>
                  </a:lnTo>
                  <a:lnTo>
                    <a:pt x="879347" y="879347"/>
                  </a:lnTo>
                  <a:lnTo>
                    <a:pt x="909073" y="846988"/>
                  </a:lnTo>
                  <a:lnTo>
                    <a:pt x="935982" y="812177"/>
                  </a:lnTo>
                  <a:lnTo>
                    <a:pt x="959894" y="775095"/>
                  </a:lnTo>
                  <a:lnTo>
                    <a:pt x="980626" y="735924"/>
                  </a:lnTo>
                  <a:lnTo>
                    <a:pt x="997996" y="694847"/>
                  </a:lnTo>
                  <a:lnTo>
                    <a:pt x="1011823" y="652046"/>
                  </a:lnTo>
                  <a:lnTo>
                    <a:pt x="1021924" y="607701"/>
                  </a:lnTo>
                  <a:lnTo>
                    <a:pt x="1028118" y="561996"/>
                  </a:lnTo>
                  <a:lnTo>
                    <a:pt x="1030224" y="515111"/>
                  </a:lnTo>
                  <a:lnTo>
                    <a:pt x="1028118" y="468227"/>
                  </a:lnTo>
                  <a:lnTo>
                    <a:pt x="1021924" y="422522"/>
                  </a:lnTo>
                  <a:lnTo>
                    <a:pt x="1011823" y="378177"/>
                  </a:lnTo>
                  <a:lnTo>
                    <a:pt x="997996" y="335376"/>
                  </a:lnTo>
                  <a:lnTo>
                    <a:pt x="980626" y="294299"/>
                  </a:lnTo>
                  <a:lnTo>
                    <a:pt x="959894" y="255128"/>
                  </a:lnTo>
                  <a:lnTo>
                    <a:pt x="935982" y="218046"/>
                  </a:lnTo>
                  <a:lnTo>
                    <a:pt x="909073" y="183235"/>
                  </a:lnTo>
                  <a:lnTo>
                    <a:pt x="879348" y="150875"/>
                  </a:lnTo>
                  <a:lnTo>
                    <a:pt x="846988" y="121150"/>
                  </a:lnTo>
                  <a:lnTo>
                    <a:pt x="812177" y="94241"/>
                  </a:lnTo>
                  <a:lnTo>
                    <a:pt x="775095" y="70329"/>
                  </a:lnTo>
                  <a:lnTo>
                    <a:pt x="735924" y="49597"/>
                  </a:lnTo>
                  <a:lnTo>
                    <a:pt x="694847" y="32227"/>
                  </a:lnTo>
                  <a:lnTo>
                    <a:pt x="652046" y="18400"/>
                  </a:lnTo>
                  <a:lnTo>
                    <a:pt x="607701" y="8299"/>
                  </a:lnTo>
                  <a:lnTo>
                    <a:pt x="561996" y="2105"/>
                  </a:lnTo>
                  <a:lnTo>
                    <a:pt x="515111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00122" y="6587489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0" y="515111"/>
                  </a:moveTo>
                  <a:lnTo>
                    <a:pt x="2105" y="468227"/>
                  </a:lnTo>
                  <a:lnTo>
                    <a:pt x="8299" y="422522"/>
                  </a:lnTo>
                  <a:lnTo>
                    <a:pt x="18400" y="378177"/>
                  </a:lnTo>
                  <a:lnTo>
                    <a:pt x="32227" y="335376"/>
                  </a:lnTo>
                  <a:lnTo>
                    <a:pt x="49597" y="294299"/>
                  </a:lnTo>
                  <a:lnTo>
                    <a:pt x="70329" y="255128"/>
                  </a:lnTo>
                  <a:lnTo>
                    <a:pt x="94241" y="218046"/>
                  </a:lnTo>
                  <a:lnTo>
                    <a:pt x="121150" y="183235"/>
                  </a:lnTo>
                  <a:lnTo>
                    <a:pt x="150875" y="150875"/>
                  </a:lnTo>
                  <a:lnTo>
                    <a:pt x="183235" y="121150"/>
                  </a:lnTo>
                  <a:lnTo>
                    <a:pt x="218046" y="94241"/>
                  </a:lnTo>
                  <a:lnTo>
                    <a:pt x="255128" y="70329"/>
                  </a:lnTo>
                  <a:lnTo>
                    <a:pt x="294299" y="49597"/>
                  </a:lnTo>
                  <a:lnTo>
                    <a:pt x="335376" y="32227"/>
                  </a:lnTo>
                  <a:lnTo>
                    <a:pt x="378177" y="18400"/>
                  </a:lnTo>
                  <a:lnTo>
                    <a:pt x="422522" y="8299"/>
                  </a:lnTo>
                  <a:lnTo>
                    <a:pt x="468227" y="2105"/>
                  </a:lnTo>
                  <a:lnTo>
                    <a:pt x="515111" y="0"/>
                  </a:lnTo>
                  <a:lnTo>
                    <a:pt x="561996" y="2105"/>
                  </a:lnTo>
                  <a:lnTo>
                    <a:pt x="607701" y="8299"/>
                  </a:lnTo>
                  <a:lnTo>
                    <a:pt x="652046" y="18400"/>
                  </a:lnTo>
                  <a:lnTo>
                    <a:pt x="694847" y="32227"/>
                  </a:lnTo>
                  <a:lnTo>
                    <a:pt x="735924" y="49597"/>
                  </a:lnTo>
                  <a:lnTo>
                    <a:pt x="775095" y="70329"/>
                  </a:lnTo>
                  <a:lnTo>
                    <a:pt x="812177" y="94241"/>
                  </a:lnTo>
                  <a:lnTo>
                    <a:pt x="846988" y="121150"/>
                  </a:lnTo>
                  <a:lnTo>
                    <a:pt x="879348" y="150875"/>
                  </a:lnTo>
                  <a:lnTo>
                    <a:pt x="909073" y="183235"/>
                  </a:lnTo>
                  <a:lnTo>
                    <a:pt x="935982" y="218046"/>
                  </a:lnTo>
                  <a:lnTo>
                    <a:pt x="959894" y="255128"/>
                  </a:lnTo>
                  <a:lnTo>
                    <a:pt x="980626" y="294299"/>
                  </a:lnTo>
                  <a:lnTo>
                    <a:pt x="997996" y="335376"/>
                  </a:lnTo>
                  <a:lnTo>
                    <a:pt x="1011823" y="378177"/>
                  </a:lnTo>
                  <a:lnTo>
                    <a:pt x="1021924" y="422522"/>
                  </a:lnTo>
                  <a:lnTo>
                    <a:pt x="1028118" y="468227"/>
                  </a:lnTo>
                  <a:lnTo>
                    <a:pt x="1030224" y="515111"/>
                  </a:lnTo>
                  <a:lnTo>
                    <a:pt x="1028118" y="561996"/>
                  </a:lnTo>
                  <a:lnTo>
                    <a:pt x="1021924" y="607701"/>
                  </a:lnTo>
                  <a:lnTo>
                    <a:pt x="1011823" y="652046"/>
                  </a:lnTo>
                  <a:lnTo>
                    <a:pt x="997996" y="694847"/>
                  </a:lnTo>
                  <a:lnTo>
                    <a:pt x="980626" y="735924"/>
                  </a:lnTo>
                  <a:lnTo>
                    <a:pt x="959894" y="775095"/>
                  </a:lnTo>
                  <a:lnTo>
                    <a:pt x="935982" y="812177"/>
                  </a:lnTo>
                  <a:lnTo>
                    <a:pt x="909073" y="846988"/>
                  </a:lnTo>
                  <a:lnTo>
                    <a:pt x="879347" y="879347"/>
                  </a:lnTo>
                  <a:lnTo>
                    <a:pt x="846988" y="909073"/>
                  </a:lnTo>
                  <a:lnTo>
                    <a:pt x="812177" y="935982"/>
                  </a:lnTo>
                  <a:lnTo>
                    <a:pt x="775095" y="959894"/>
                  </a:lnTo>
                  <a:lnTo>
                    <a:pt x="735924" y="980626"/>
                  </a:lnTo>
                  <a:lnTo>
                    <a:pt x="694847" y="997996"/>
                  </a:lnTo>
                  <a:lnTo>
                    <a:pt x="652046" y="1011823"/>
                  </a:lnTo>
                  <a:lnTo>
                    <a:pt x="607701" y="1021924"/>
                  </a:lnTo>
                  <a:lnTo>
                    <a:pt x="561996" y="1028118"/>
                  </a:lnTo>
                  <a:lnTo>
                    <a:pt x="515111" y="1030223"/>
                  </a:lnTo>
                  <a:lnTo>
                    <a:pt x="468227" y="1028118"/>
                  </a:lnTo>
                  <a:lnTo>
                    <a:pt x="422522" y="1021924"/>
                  </a:lnTo>
                  <a:lnTo>
                    <a:pt x="378177" y="1011823"/>
                  </a:lnTo>
                  <a:lnTo>
                    <a:pt x="335376" y="997996"/>
                  </a:lnTo>
                  <a:lnTo>
                    <a:pt x="294299" y="980626"/>
                  </a:lnTo>
                  <a:lnTo>
                    <a:pt x="255128" y="959894"/>
                  </a:lnTo>
                  <a:lnTo>
                    <a:pt x="218046" y="935982"/>
                  </a:lnTo>
                  <a:lnTo>
                    <a:pt x="183235" y="909073"/>
                  </a:lnTo>
                  <a:lnTo>
                    <a:pt x="150876" y="879347"/>
                  </a:lnTo>
                  <a:lnTo>
                    <a:pt x="121150" y="846988"/>
                  </a:lnTo>
                  <a:lnTo>
                    <a:pt x="94241" y="812177"/>
                  </a:lnTo>
                  <a:lnTo>
                    <a:pt x="70329" y="775095"/>
                  </a:lnTo>
                  <a:lnTo>
                    <a:pt x="49597" y="735924"/>
                  </a:lnTo>
                  <a:lnTo>
                    <a:pt x="32227" y="694847"/>
                  </a:lnTo>
                  <a:lnTo>
                    <a:pt x="18400" y="652046"/>
                  </a:lnTo>
                  <a:lnTo>
                    <a:pt x="8299" y="607701"/>
                  </a:lnTo>
                  <a:lnTo>
                    <a:pt x="2105" y="561996"/>
                  </a:lnTo>
                  <a:lnTo>
                    <a:pt x="0" y="51511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002216" y="7911020"/>
            <a:ext cx="8308975" cy="1056640"/>
            <a:chOff x="3002216" y="7911020"/>
            <a:chExt cx="8308975" cy="1056640"/>
          </a:xfrm>
        </p:grpSpPr>
        <p:sp>
          <p:nvSpPr>
            <p:cNvPr id="24" name="object 24"/>
            <p:cNvSpPr/>
            <p:nvPr/>
          </p:nvSpPr>
          <p:spPr>
            <a:xfrm>
              <a:off x="3015234" y="7924037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0"/>
                  </a:moveTo>
                  <a:lnTo>
                    <a:pt x="515112" y="0"/>
                  </a:lnTo>
                  <a:lnTo>
                    <a:pt x="0" y="515111"/>
                  </a:lnTo>
                  <a:lnTo>
                    <a:pt x="515112" y="1030223"/>
                  </a:lnTo>
                  <a:lnTo>
                    <a:pt x="8282940" y="1030223"/>
                  </a:lnTo>
                  <a:lnTo>
                    <a:pt x="828294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15234" y="7924037"/>
              <a:ext cx="8282940" cy="1030605"/>
            </a:xfrm>
            <a:custGeom>
              <a:avLst/>
              <a:gdLst/>
              <a:ahLst/>
              <a:cxnLst/>
              <a:rect l="l" t="t" r="r" b="b"/>
              <a:pathLst>
                <a:path w="8282940" h="1030604">
                  <a:moveTo>
                    <a:pt x="8282940" y="1030223"/>
                  </a:moveTo>
                  <a:lnTo>
                    <a:pt x="515112" y="1030223"/>
                  </a:lnTo>
                  <a:lnTo>
                    <a:pt x="0" y="515111"/>
                  </a:lnTo>
                  <a:lnTo>
                    <a:pt x="515112" y="0"/>
                  </a:lnTo>
                  <a:lnTo>
                    <a:pt x="8282940" y="0"/>
                  </a:lnTo>
                  <a:lnTo>
                    <a:pt x="8282940" y="103022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07967" y="2891408"/>
            <a:ext cx="7259955" cy="5757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essere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identificato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modo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univoco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 err="1" smtClean="0">
                <a:solidFill>
                  <a:srgbClr val="FFFFFF"/>
                </a:solidFill>
                <a:latin typeface="Arial"/>
                <a:cs typeface="Arial"/>
              </a:rPr>
              <a:t>persistente</a:t>
            </a:r>
            <a:endParaRPr lang="it-IT" sz="2100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>
              <a:lnSpc>
                <a:spcPct val="86000"/>
              </a:lnSpc>
            </a:pPr>
            <a:endParaRPr sz="2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 dirty="0">
              <a:latin typeface="Arial"/>
              <a:cs typeface="Arial"/>
            </a:endParaRPr>
          </a:p>
          <a:p>
            <a:pPr marL="202565" marR="197485" indent="2540" algn="ctr">
              <a:lnSpc>
                <a:spcPct val="110000"/>
              </a:lnSpc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essere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immodificabile,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cioè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formato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modo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che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contenuto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non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siano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alterabili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sia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garantita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staticità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nella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fase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 err="1" smtClean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endParaRPr lang="it-IT" sz="2100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202565" marR="197485" indent="2540" algn="ctr">
              <a:lnSpc>
                <a:spcPct val="110000"/>
              </a:lnSpc>
            </a:pPr>
            <a:endParaRPr lang="it-IT" sz="3200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19685" marR="15240" algn="ctr"/>
            <a:r>
              <a:rPr sz="2100" dirty="0" err="1" smtClean="0">
                <a:solidFill>
                  <a:srgbClr val="FFFFFF"/>
                </a:solidFill>
                <a:latin typeface="Arial"/>
                <a:cs typeface="Arial"/>
              </a:rPr>
              <a:t>essere</a:t>
            </a:r>
            <a:r>
              <a:rPr sz="2100" spc="-3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prodotto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uno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dei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formati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idonei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alla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 err="1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it-IT" sz="2100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19685" marR="15240" algn="ctr"/>
            <a:endParaRPr lang="it-IT" sz="2100" spc="-1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19685" marR="15240" algn="ctr"/>
            <a:endParaRPr lang="it-IT" sz="21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9685" marR="15240" algn="ctr"/>
            <a:r>
              <a:rPr sz="2100" dirty="0" err="1" smtClean="0">
                <a:solidFill>
                  <a:srgbClr val="FFFFFF"/>
                </a:solidFill>
                <a:latin typeface="Arial"/>
                <a:cs typeface="Arial"/>
              </a:rPr>
              <a:t>essere</a:t>
            </a:r>
            <a:r>
              <a:rPr sz="2100" spc="-2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memorizzato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gestione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informatica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dei</a:t>
            </a:r>
            <a:endParaRPr sz="2100" dirty="0">
              <a:latin typeface="Arial"/>
              <a:cs typeface="Arial"/>
            </a:endParaRPr>
          </a:p>
          <a:p>
            <a:pPr algn="ctr"/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documenti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cui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tenuta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può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anche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essere</a:t>
            </a:r>
            <a:endParaRPr sz="2100" dirty="0">
              <a:latin typeface="Arial"/>
              <a:cs typeface="Arial"/>
            </a:endParaRPr>
          </a:p>
          <a:p>
            <a:pPr algn="ctr"/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delegata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terzi</a:t>
            </a:r>
            <a:endParaRPr sz="2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avere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associati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almeno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minimo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metadati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3016" y="1513153"/>
            <a:ext cx="3228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Arial"/>
                <a:cs typeface="Arial"/>
              </a:rPr>
              <a:t>Caratteristiche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1007" y="5452871"/>
            <a:ext cx="576071" cy="57607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5288" y="4157471"/>
            <a:ext cx="649224" cy="60655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8523" y="6821423"/>
            <a:ext cx="620268" cy="60350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5851" y="2644139"/>
            <a:ext cx="708660" cy="708659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2487167" y="7911083"/>
            <a:ext cx="1056640" cy="1056640"/>
            <a:chOff x="2487167" y="7911083"/>
            <a:chExt cx="1056640" cy="1056640"/>
          </a:xfrm>
        </p:grpSpPr>
        <p:sp>
          <p:nvSpPr>
            <p:cNvPr id="33" name="object 33"/>
            <p:cNvSpPr/>
            <p:nvPr/>
          </p:nvSpPr>
          <p:spPr>
            <a:xfrm>
              <a:off x="2500121" y="7924037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515111" y="0"/>
                  </a:moveTo>
                  <a:lnTo>
                    <a:pt x="468227" y="2105"/>
                  </a:lnTo>
                  <a:lnTo>
                    <a:pt x="422522" y="8299"/>
                  </a:lnTo>
                  <a:lnTo>
                    <a:pt x="378177" y="18400"/>
                  </a:lnTo>
                  <a:lnTo>
                    <a:pt x="335376" y="32227"/>
                  </a:lnTo>
                  <a:lnTo>
                    <a:pt x="294299" y="49597"/>
                  </a:lnTo>
                  <a:lnTo>
                    <a:pt x="255128" y="70329"/>
                  </a:lnTo>
                  <a:lnTo>
                    <a:pt x="218046" y="94241"/>
                  </a:lnTo>
                  <a:lnTo>
                    <a:pt x="183235" y="121150"/>
                  </a:lnTo>
                  <a:lnTo>
                    <a:pt x="150875" y="150875"/>
                  </a:lnTo>
                  <a:lnTo>
                    <a:pt x="121150" y="183235"/>
                  </a:lnTo>
                  <a:lnTo>
                    <a:pt x="94241" y="218046"/>
                  </a:lnTo>
                  <a:lnTo>
                    <a:pt x="70329" y="255128"/>
                  </a:lnTo>
                  <a:lnTo>
                    <a:pt x="49597" y="294299"/>
                  </a:lnTo>
                  <a:lnTo>
                    <a:pt x="32227" y="335376"/>
                  </a:lnTo>
                  <a:lnTo>
                    <a:pt x="18400" y="378177"/>
                  </a:lnTo>
                  <a:lnTo>
                    <a:pt x="8299" y="422522"/>
                  </a:lnTo>
                  <a:lnTo>
                    <a:pt x="2105" y="468227"/>
                  </a:lnTo>
                  <a:lnTo>
                    <a:pt x="0" y="515111"/>
                  </a:lnTo>
                  <a:lnTo>
                    <a:pt x="2105" y="561998"/>
                  </a:lnTo>
                  <a:lnTo>
                    <a:pt x="8299" y="607705"/>
                  </a:lnTo>
                  <a:lnTo>
                    <a:pt x="18400" y="652050"/>
                  </a:lnTo>
                  <a:lnTo>
                    <a:pt x="32227" y="694852"/>
                  </a:lnTo>
                  <a:lnTo>
                    <a:pt x="49597" y="735930"/>
                  </a:lnTo>
                  <a:lnTo>
                    <a:pt x="70329" y="775100"/>
                  </a:lnTo>
                  <a:lnTo>
                    <a:pt x="94241" y="812182"/>
                  </a:lnTo>
                  <a:lnTo>
                    <a:pt x="121150" y="846993"/>
                  </a:lnTo>
                  <a:lnTo>
                    <a:pt x="150876" y="879352"/>
                  </a:lnTo>
                  <a:lnTo>
                    <a:pt x="183235" y="909077"/>
                  </a:lnTo>
                  <a:lnTo>
                    <a:pt x="218046" y="935986"/>
                  </a:lnTo>
                  <a:lnTo>
                    <a:pt x="255128" y="959897"/>
                  </a:lnTo>
                  <a:lnTo>
                    <a:pt x="294299" y="980628"/>
                  </a:lnTo>
                  <a:lnTo>
                    <a:pt x="335376" y="997997"/>
                  </a:lnTo>
                  <a:lnTo>
                    <a:pt x="378177" y="1011823"/>
                  </a:lnTo>
                  <a:lnTo>
                    <a:pt x="422522" y="1021924"/>
                  </a:lnTo>
                  <a:lnTo>
                    <a:pt x="468227" y="1028118"/>
                  </a:lnTo>
                  <a:lnTo>
                    <a:pt x="515111" y="1030223"/>
                  </a:lnTo>
                  <a:lnTo>
                    <a:pt x="561996" y="1028118"/>
                  </a:lnTo>
                  <a:lnTo>
                    <a:pt x="607701" y="1021924"/>
                  </a:lnTo>
                  <a:lnTo>
                    <a:pt x="652046" y="1011823"/>
                  </a:lnTo>
                  <a:lnTo>
                    <a:pt x="694847" y="997997"/>
                  </a:lnTo>
                  <a:lnTo>
                    <a:pt x="735924" y="980628"/>
                  </a:lnTo>
                  <a:lnTo>
                    <a:pt x="775095" y="959897"/>
                  </a:lnTo>
                  <a:lnTo>
                    <a:pt x="812177" y="935986"/>
                  </a:lnTo>
                  <a:lnTo>
                    <a:pt x="846988" y="909077"/>
                  </a:lnTo>
                  <a:lnTo>
                    <a:pt x="879347" y="879352"/>
                  </a:lnTo>
                  <a:lnTo>
                    <a:pt x="909073" y="846993"/>
                  </a:lnTo>
                  <a:lnTo>
                    <a:pt x="935982" y="812182"/>
                  </a:lnTo>
                  <a:lnTo>
                    <a:pt x="959894" y="775100"/>
                  </a:lnTo>
                  <a:lnTo>
                    <a:pt x="980626" y="735930"/>
                  </a:lnTo>
                  <a:lnTo>
                    <a:pt x="997996" y="694852"/>
                  </a:lnTo>
                  <a:lnTo>
                    <a:pt x="1011823" y="652050"/>
                  </a:lnTo>
                  <a:lnTo>
                    <a:pt x="1021924" y="607705"/>
                  </a:lnTo>
                  <a:lnTo>
                    <a:pt x="1028118" y="561998"/>
                  </a:lnTo>
                  <a:lnTo>
                    <a:pt x="1030224" y="515111"/>
                  </a:lnTo>
                  <a:lnTo>
                    <a:pt x="1028118" y="468227"/>
                  </a:lnTo>
                  <a:lnTo>
                    <a:pt x="1021924" y="422522"/>
                  </a:lnTo>
                  <a:lnTo>
                    <a:pt x="1011823" y="378177"/>
                  </a:lnTo>
                  <a:lnTo>
                    <a:pt x="997996" y="335376"/>
                  </a:lnTo>
                  <a:lnTo>
                    <a:pt x="980626" y="294299"/>
                  </a:lnTo>
                  <a:lnTo>
                    <a:pt x="959894" y="255128"/>
                  </a:lnTo>
                  <a:lnTo>
                    <a:pt x="935982" y="218046"/>
                  </a:lnTo>
                  <a:lnTo>
                    <a:pt x="909073" y="183235"/>
                  </a:lnTo>
                  <a:lnTo>
                    <a:pt x="879348" y="150875"/>
                  </a:lnTo>
                  <a:lnTo>
                    <a:pt x="846988" y="121150"/>
                  </a:lnTo>
                  <a:lnTo>
                    <a:pt x="812177" y="94241"/>
                  </a:lnTo>
                  <a:lnTo>
                    <a:pt x="775095" y="70329"/>
                  </a:lnTo>
                  <a:lnTo>
                    <a:pt x="735924" y="49597"/>
                  </a:lnTo>
                  <a:lnTo>
                    <a:pt x="694847" y="32227"/>
                  </a:lnTo>
                  <a:lnTo>
                    <a:pt x="652046" y="18400"/>
                  </a:lnTo>
                  <a:lnTo>
                    <a:pt x="607701" y="8299"/>
                  </a:lnTo>
                  <a:lnTo>
                    <a:pt x="561996" y="2105"/>
                  </a:lnTo>
                  <a:lnTo>
                    <a:pt x="515111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00121" y="7924037"/>
              <a:ext cx="1030605" cy="1030605"/>
            </a:xfrm>
            <a:custGeom>
              <a:avLst/>
              <a:gdLst/>
              <a:ahLst/>
              <a:cxnLst/>
              <a:rect l="l" t="t" r="r" b="b"/>
              <a:pathLst>
                <a:path w="1030604" h="1030604">
                  <a:moveTo>
                    <a:pt x="0" y="515111"/>
                  </a:moveTo>
                  <a:lnTo>
                    <a:pt x="2105" y="468227"/>
                  </a:lnTo>
                  <a:lnTo>
                    <a:pt x="8299" y="422522"/>
                  </a:lnTo>
                  <a:lnTo>
                    <a:pt x="18400" y="378177"/>
                  </a:lnTo>
                  <a:lnTo>
                    <a:pt x="32227" y="335376"/>
                  </a:lnTo>
                  <a:lnTo>
                    <a:pt x="49597" y="294299"/>
                  </a:lnTo>
                  <a:lnTo>
                    <a:pt x="70329" y="255128"/>
                  </a:lnTo>
                  <a:lnTo>
                    <a:pt x="94241" y="218046"/>
                  </a:lnTo>
                  <a:lnTo>
                    <a:pt x="121150" y="183235"/>
                  </a:lnTo>
                  <a:lnTo>
                    <a:pt x="150875" y="150875"/>
                  </a:lnTo>
                  <a:lnTo>
                    <a:pt x="183235" y="121150"/>
                  </a:lnTo>
                  <a:lnTo>
                    <a:pt x="218046" y="94241"/>
                  </a:lnTo>
                  <a:lnTo>
                    <a:pt x="255128" y="70329"/>
                  </a:lnTo>
                  <a:lnTo>
                    <a:pt x="294299" y="49597"/>
                  </a:lnTo>
                  <a:lnTo>
                    <a:pt x="335376" y="32227"/>
                  </a:lnTo>
                  <a:lnTo>
                    <a:pt x="378177" y="18400"/>
                  </a:lnTo>
                  <a:lnTo>
                    <a:pt x="422522" y="8299"/>
                  </a:lnTo>
                  <a:lnTo>
                    <a:pt x="468227" y="2105"/>
                  </a:lnTo>
                  <a:lnTo>
                    <a:pt x="515111" y="0"/>
                  </a:lnTo>
                  <a:lnTo>
                    <a:pt x="561996" y="2105"/>
                  </a:lnTo>
                  <a:lnTo>
                    <a:pt x="607701" y="8299"/>
                  </a:lnTo>
                  <a:lnTo>
                    <a:pt x="652046" y="18400"/>
                  </a:lnTo>
                  <a:lnTo>
                    <a:pt x="694847" y="32227"/>
                  </a:lnTo>
                  <a:lnTo>
                    <a:pt x="735924" y="49597"/>
                  </a:lnTo>
                  <a:lnTo>
                    <a:pt x="775095" y="70329"/>
                  </a:lnTo>
                  <a:lnTo>
                    <a:pt x="812177" y="94241"/>
                  </a:lnTo>
                  <a:lnTo>
                    <a:pt x="846988" y="121150"/>
                  </a:lnTo>
                  <a:lnTo>
                    <a:pt x="879348" y="150875"/>
                  </a:lnTo>
                  <a:lnTo>
                    <a:pt x="909073" y="183235"/>
                  </a:lnTo>
                  <a:lnTo>
                    <a:pt x="935982" y="218046"/>
                  </a:lnTo>
                  <a:lnTo>
                    <a:pt x="959894" y="255128"/>
                  </a:lnTo>
                  <a:lnTo>
                    <a:pt x="980626" y="294299"/>
                  </a:lnTo>
                  <a:lnTo>
                    <a:pt x="997996" y="335376"/>
                  </a:lnTo>
                  <a:lnTo>
                    <a:pt x="1011823" y="378177"/>
                  </a:lnTo>
                  <a:lnTo>
                    <a:pt x="1021924" y="422522"/>
                  </a:lnTo>
                  <a:lnTo>
                    <a:pt x="1028118" y="468227"/>
                  </a:lnTo>
                  <a:lnTo>
                    <a:pt x="1030224" y="515111"/>
                  </a:lnTo>
                  <a:lnTo>
                    <a:pt x="1028118" y="561998"/>
                  </a:lnTo>
                  <a:lnTo>
                    <a:pt x="1021924" y="607705"/>
                  </a:lnTo>
                  <a:lnTo>
                    <a:pt x="1011823" y="652050"/>
                  </a:lnTo>
                  <a:lnTo>
                    <a:pt x="997996" y="694852"/>
                  </a:lnTo>
                  <a:lnTo>
                    <a:pt x="980626" y="735930"/>
                  </a:lnTo>
                  <a:lnTo>
                    <a:pt x="959894" y="775100"/>
                  </a:lnTo>
                  <a:lnTo>
                    <a:pt x="935982" y="812182"/>
                  </a:lnTo>
                  <a:lnTo>
                    <a:pt x="909073" y="846993"/>
                  </a:lnTo>
                  <a:lnTo>
                    <a:pt x="879347" y="879352"/>
                  </a:lnTo>
                  <a:lnTo>
                    <a:pt x="846988" y="909077"/>
                  </a:lnTo>
                  <a:lnTo>
                    <a:pt x="812177" y="935986"/>
                  </a:lnTo>
                  <a:lnTo>
                    <a:pt x="775095" y="959897"/>
                  </a:lnTo>
                  <a:lnTo>
                    <a:pt x="735924" y="980628"/>
                  </a:lnTo>
                  <a:lnTo>
                    <a:pt x="694847" y="997997"/>
                  </a:lnTo>
                  <a:lnTo>
                    <a:pt x="652046" y="1011823"/>
                  </a:lnTo>
                  <a:lnTo>
                    <a:pt x="607701" y="1021924"/>
                  </a:lnTo>
                  <a:lnTo>
                    <a:pt x="561996" y="1028118"/>
                  </a:lnTo>
                  <a:lnTo>
                    <a:pt x="515111" y="1030223"/>
                  </a:lnTo>
                  <a:lnTo>
                    <a:pt x="468227" y="1028118"/>
                  </a:lnTo>
                  <a:lnTo>
                    <a:pt x="422522" y="1021924"/>
                  </a:lnTo>
                  <a:lnTo>
                    <a:pt x="378177" y="1011823"/>
                  </a:lnTo>
                  <a:lnTo>
                    <a:pt x="335376" y="997997"/>
                  </a:lnTo>
                  <a:lnTo>
                    <a:pt x="294299" y="980628"/>
                  </a:lnTo>
                  <a:lnTo>
                    <a:pt x="255128" y="959897"/>
                  </a:lnTo>
                  <a:lnTo>
                    <a:pt x="218046" y="935986"/>
                  </a:lnTo>
                  <a:lnTo>
                    <a:pt x="183235" y="909077"/>
                  </a:lnTo>
                  <a:lnTo>
                    <a:pt x="150876" y="879352"/>
                  </a:lnTo>
                  <a:lnTo>
                    <a:pt x="121150" y="846993"/>
                  </a:lnTo>
                  <a:lnTo>
                    <a:pt x="94241" y="812182"/>
                  </a:lnTo>
                  <a:lnTo>
                    <a:pt x="70329" y="775100"/>
                  </a:lnTo>
                  <a:lnTo>
                    <a:pt x="49597" y="735930"/>
                  </a:lnTo>
                  <a:lnTo>
                    <a:pt x="32227" y="694852"/>
                  </a:lnTo>
                  <a:lnTo>
                    <a:pt x="18400" y="652050"/>
                  </a:lnTo>
                  <a:lnTo>
                    <a:pt x="8299" y="607705"/>
                  </a:lnTo>
                  <a:lnTo>
                    <a:pt x="2105" y="561998"/>
                  </a:lnTo>
                  <a:lnTo>
                    <a:pt x="0" y="51511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2051" y="8188464"/>
              <a:ext cx="605027" cy="553199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973" rIns="0" bIns="0" rtlCol="0">
            <a:spAutoFit/>
          </a:bodyPr>
          <a:lstStyle/>
          <a:p>
            <a:pPr marL="12363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Regole</a:t>
            </a:r>
            <a:r>
              <a:rPr sz="3200" spc="-50" dirty="0"/>
              <a:t> </a:t>
            </a:r>
            <a:r>
              <a:rPr sz="3200" dirty="0"/>
              <a:t>-</a:t>
            </a:r>
            <a:r>
              <a:rPr sz="3200" spc="-10" dirty="0"/>
              <a:t> </a:t>
            </a:r>
            <a:r>
              <a:rPr sz="3200" dirty="0"/>
              <a:t>Documento</a:t>
            </a:r>
            <a:r>
              <a:rPr sz="3200" spc="-40" dirty="0"/>
              <a:t> </a:t>
            </a:r>
            <a:r>
              <a:rPr sz="3200" spc="-10" dirty="0"/>
              <a:t>informatico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401760" y="3137852"/>
            <a:ext cx="7864475" cy="1411605"/>
            <a:chOff x="2401760" y="3137852"/>
            <a:chExt cx="7864475" cy="1411605"/>
          </a:xfrm>
        </p:grpSpPr>
        <p:sp>
          <p:nvSpPr>
            <p:cNvPr id="4" name="object 4"/>
            <p:cNvSpPr/>
            <p:nvPr/>
          </p:nvSpPr>
          <p:spPr>
            <a:xfrm>
              <a:off x="2414778" y="3150869"/>
              <a:ext cx="7838440" cy="1385570"/>
            </a:xfrm>
            <a:custGeom>
              <a:avLst/>
              <a:gdLst/>
              <a:ahLst/>
              <a:cxnLst/>
              <a:rect l="l" t="t" r="r" b="b"/>
              <a:pathLst>
                <a:path w="7838440" h="1385570">
                  <a:moveTo>
                    <a:pt x="7837932" y="0"/>
                  </a:moveTo>
                  <a:lnTo>
                    <a:pt x="692658" y="0"/>
                  </a:lnTo>
                  <a:lnTo>
                    <a:pt x="0" y="692657"/>
                  </a:lnTo>
                  <a:lnTo>
                    <a:pt x="692658" y="1385315"/>
                  </a:lnTo>
                  <a:lnTo>
                    <a:pt x="7837932" y="1385315"/>
                  </a:lnTo>
                  <a:lnTo>
                    <a:pt x="7837932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14778" y="3150869"/>
              <a:ext cx="7838440" cy="1385570"/>
            </a:xfrm>
            <a:custGeom>
              <a:avLst/>
              <a:gdLst/>
              <a:ahLst/>
              <a:cxnLst/>
              <a:rect l="l" t="t" r="r" b="b"/>
              <a:pathLst>
                <a:path w="7838440" h="1385570">
                  <a:moveTo>
                    <a:pt x="7837932" y="1385315"/>
                  </a:moveTo>
                  <a:lnTo>
                    <a:pt x="692658" y="1385315"/>
                  </a:lnTo>
                  <a:lnTo>
                    <a:pt x="0" y="692657"/>
                  </a:lnTo>
                  <a:lnTo>
                    <a:pt x="692658" y="0"/>
                  </a:lnTo>
                  <a:lnTo>
                    <a:pt x="7837932" y="0"/>
                  </a:lnTo>
                  <a:lnTo>
                    <a:pt x="7837932" y="1385315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84523" y="3574541"/>
            <a:ext cx="60464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Documento</a:t>
            </a:r>
            <a:r>
              <a:rPr sz="2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informatico</a:t>
            </a:r>
            <a:r>
              <a:rPr sz="29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Arial"/>
                <a:cs typeface="Arial"/>
              </a:rPr>
              <a:t>“tradizionale”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08404" y="3137916"/>
            <a:ext cx="1412875" cy="1411605"/>
            <a:chOff x="1708404" y="3137916"/>
            <a:chExt cx="1412875" cy="1411605"/>
          </a:xfrm>
        </p:grpSpPr>
        <p:sp>
          <p:nvSpPr>
            <p:cNvPr id="8" name="object 8"/>
            <p:cNvSpPr/>
            <p:nvPr/>
          </p:nvSpPr>
          <p:spPr>
            <a:xfrm>
              <a:off x="1721358" y="3150870"/>
              <a:ext cx="1386840" cy="1385570"/>
            </a:xfrm>
            <a:custGeom>
              <a:avLst/>
              <a:gdLst/>
              <a:ahLst/>
              <a:cxnLst/>
              <a:rect l="l" t="t" r="r" b="b"/>
              <a:pathLst>
                <a:path w="1386839" h="1385570">
                  <a:moveTo>
                    <a:pt x="693419" y="0"/>
                  </a:moveTo>
                  <a:lnTo>
                    <a:pt x="645951" y="1598"/>
                  </a:lnTo>
                  <a:lnTo>
                    <a:pt x="599339" y="6323"/>
                  </a:lnTo>
                  <a:lnTo>
                    <a:pt x="553688" y="14073"/>
                  </a:lnTo>
                  <a:lnTo>
                    <a:pt x="509102" y="24743"/>
                  </a:lnTo>
                  <a:lnTo>
                    <a:pt x="465683" y="38232"/>
                  </a:lnTo>
                  <a:lnTo>
                    <a:pt x="423535" y="54435"/>
                  </a:lnTo>
                  <a:lnTo>
                    <a:pt x="382760" y="73249"/>
                  </a:lnTo>
                  <a:lnTo>
                    <a:pt x="343464" y="94572"/>
                  </a:lnTo>
                  <a:lnTo>
                    <a:pt x="305748" y="118300"/>
                  </a:lnTo>
                  <a:lnTo>
                    <a:pt x="269717" y="144330"/>
                  </a:lnTo>
                  <a:lnTo>
                    <a:pt x="235473" y="172558"/>
                  </a:lnTo>
                  <a:lnTo>
                    <a:pt x="203120" y="202882"/>
                  </a:lnTo>
                  <a:lnTo>
                    <a:pt x="172762" y="235198"/>
                  </a:lnTo>
                  <a:lnTo>
                    <a:pt x="144501" y="269404"/>
                  </a:lnTo>
                  <a:lnTo>
                    <a:pt x="118441" y="305395"/>
                  </a:lnTo>
                  <a:lnTo>
                    <a:pt x="94685" y="343069"/>
                  </a:lnTo>
                  <a:lnTo>
                    <a:pt x="73337" y="382322"/>
                  </a:lnTo>
                  <a:lnTo>
                    <a:pt x="54500" y="423052"/>
                  </a:lnTo>
                  <a:lnTo>
                    <a:pt x="38278" y="465156"/>
                  </a:lnTo>
                  <a:lnTo>
                    <a:pt x="24773" y="508529"/>
                  </a:lnTo>
                  <a:lnTo>
                    <a:pt x="14090" y="553069"/>
                  </a:lnTo>
                  <a:lnTo>
                    <a:pt x="6331" y="598672"/>
                  </a:lnTo>
                  <a:lnTo>
                    <a:pt x="1600" y="645236"/>
                  </a:lnTo>
                  <a:lnTo>
                    <a:pt x="0" y="692657"/>
                  </a:lnTo>
                  <a:lnTo>
                    <a:pt x="1600" y="740079"/>
                  </a:lnTo>
                  <a:lnTo>
                    <a:pt x="6331" y="786643"/>
                  </a:lnTo>
                  <a:lnTo>
                    <a:pt x="14090" y="832246"/>
                  </a:lnTo>
                  <a:lnTo>
                    <a:pt x="24773" y="876786"/>
                  </a:lnTo>
                  <a:lnTo>
                    <a:pt x="38278" y="920159"/>
                  </a:lnTo>
                  <a:lnTo>
                    <a:pt x="54500" y="962263"/>
                  </a:lnTo>
                  <a:lnTo>
                    <a:pt x="73337" y="1002993"/>
                  </a:lnTo>
                  <a:lnTo>
                    <a:pt x="94685" y="1042246"/>
                  </a:lnTo>
                  <a:lnTo>
                    <a:pt x="118441" y="1079920"/>
                  </a:lnTo>
                  <a:lnTo>
                    <a:pt x="144501" y="1115911"/>
                  </a:lnTo>
                  <a:lnTo>
                    <a:pt x="172762" y="1150117"/>
                  </a:lnTo>
                  <a:lnTo>
                    <a:pt x="203120" y="1182433"/>
                  </a:lnTo>
                  <a:lnTo>
                    <a:pt x="235473" y="1212757"/>
                  </a:lnTo>
                  <a:lnTo>
                    <a:pt x="269717" y="1240985"/>
                  </a:lnTo>
                  <a:lnTo>
                    <a:pt x="305748" y="1267015"/>
                  </a:lnTo>
                  <a:lnTo>
                    <a:pt x="343464" y="1290743"/>
                  </a:lnTo>
                  <a:lnTo>
                    <a:pt x="382760" y="1312066"/>
                  </a:lnTo>
                  <a:lnTo>
                    <a:pt x="423535" y="1330880"/>
                  </a:lnTo>
                  <a:lnTo>
                    <a:pt x="465683" y="1347083"/>
                  </a:lnTo>
                  <a:lnTo>
                    <a:pt x="509102" y="1360572"/>
                  </a:lnTo>
                  <a:lnTo>
                    <a:pt x="553688" y="1371242"/>
                  </a:lnTo>
                  <a:lnTo>
                    <a:pt x="599339" y="1378992"/>
                  </a:lnTo>
                  <a:lnTo>
                    <a:pt x="645951" y="1383717"/>
                  </a:lnTo>
                  <a:lnTo>
                    <a:pt x="693419" y="1385315"/>
                  </a:lnTo>
                  <a:lnTo>
                    <a:pt x="740888" y="1383717"/>
                  </a:lnTo>
                  <a:lnTo>
                    <a:pt x="787500" y="1378992"/>
                  </a:lnTo>
                  <a:lnTo>
                    <a:pt x="833151" y="1371242"/>
                  </a:lnTo>
                  <a:lnTo>
                    <a:pt x="877737" y="1360572"/>
                  </a:lnTo>
                  <a:lnTo>
                    <a:pt x="921156" y="1347083"/>
                  </a:lnTo>
                  <a:lnTo>
                    <a:pt x="963304" y="1330880"/>
                  </a:lnTo>
                  <a:lnTo>
                    <a:pt x="1004079" y="1312066"/>
                  </a:lnTo>
                  <a:lnTo>
                    <a:pt x="1043375" y="1290743"/>
                  </a:lnTo>
                  <a:lnTo>
                    <a:pt x="1081091" y="1267015"/>
                  </a:lnTo>
                  <a:lnTo>
                    <a:pt x="1117122" y="1240985"/>
                  </a:lnTo>
                  <a:lnTo>
                    <a:pt x="1151366" y="1212757"/>
                  </a:lnTo>
                  <a:lnTo>
                    <a:pt x="1183719" y="1182433"/>
                  </a:lnTo>
                  <a:lnTo>
                    <a:pt x="1214077" y="1150117"/>
                  </a:lnTo>
                  <a:lnTo>
                    <a:pt x="1242338" y="1115911"/>
                  </a:lnTo>
                  <a:lnTo>
                    <a:pt x="1268398" y="1079920"/>
                  </a:lnTo>
                  <a:lnTo>
                    <a:pt x="1292154" y="1042246"/>
                  </a:lnTo>
                  <a:lnTo>
                    <a:pt x="1313502" y="1002993"/>
                  </a:lnTo>
                  <a:lnTo>
                    <a:pt x="1332339" y="962263"/>
                  </a:lnTo>
                  <a:lnTo>
                    <a:pt x="1348561" y="920159"/>
                  </a:lnTo>
                  <a:lnTo>
                    <a:pt x="1362066" y="876786"/>
                  </a:lnTo>
                  <a:lnTo>
                    <a:pt x="1372749" y="832246"/>
                  </a:lnTo>
                  <a:lnTo>
                    <a:pt x="1380508" y="786643"/>
                  </a:lnTo>
                  <a:lnTo>
                    <a:pt x="1385239" y="740079"/>
                  </a:lnTo>
                  <a:lnTo>
                    <a:pt x="1386840" y="692657"/>
                  </a:lnTo>
                  <a:lnTo>
                    <a:pt x="1385239" y="645236"/>
                  </a:lnTo>
                  <a:lnTo>
                    <a:pt x="1380508" y="598672"/>
                  </a:lnTo>
                  <a:lnTo>
                    <a:pt x="1372749" y="553069"/>
                  </a:lnTo>
                  <a:lnTo>
                    <a:pt x="1362066" y="508529"/>
                  </a:lnTo>
                  <a:lnTo>
                    <a:pt x="1348561" y="465156"/>
                  </a:lnTo>
                  <a:lnTo>
                    <a:pt x="1332339" y="423052"/>
                  </a:lnTo>
                  <a:lnTo>
                    <a:pt x="1313502" y="382322"/>
                  </a:lnTo>
                  <a:lnTo>
                    <a:pt x="1292154" y="343069"/>
                  </a:lnTo>
                  <a:lnTo>
                    <a:pt x="1268398" y="305395"/>
                  </a:lnTo>
                  <a:lnTo>
                    <a:pt x="1242338" y="269404"/>
                  </a:lnTo>
                  <a:lnTo>
                    <a:pt x="1214077" y="235198"/>
                  </a:lnTo>
                  <a:lnTo>
                    <a:pt x="1183719" y="202882"/>
                  </a:lnTo>
                  <a:lnTo>
                    <a:pt x="1151366" y="172558"/>
                  </a:lnTo>
                  <a:lnTo>
                    <a:pt x="1117122" y="144330"/>
                  </a:lnTo>
                  <a:lnTo>
                    <a:pt x="1081091" y="118300"/>
                  </a:lnTo>
                  <a:lnTo>
                    <a:pt x="1043375" y="94572"/>
                  </a:lnTo>
                  <a:lnTo>
                    <a:pt x="1004079" y="73249"/>
                  </a:lnTo>
                  <a:lnTo>
                    <a:pt x="963304" y="54435"/>
                  </a:lnTo>
                  <a:lnTo>
                    <a:pt x="921156" y="38232"/>
                  </a:lnTo>
                  <a:lnTo>
                    <a:pt x="877737" y="24743"/>
                  </a:lnTo>
                  <a:lnTo>
                    <a:pt x="833151" y="14073"/>
                  </a:lnTo>
                  <a:lnTo>
                    <a:pt x="787500" y="6323"/>
                  </a:lnTo>
                  <a:lnTo>
                    <a:pt x="740888" y="1598"/>
                  </a:lnTo>
                  <a:lnTo>
                    <a:pt x="693419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21358" y="3150870"/>
              <a:ext cx="1386840" cy="1385570"/>
            </a:xfrm>
            <a:custGeom>
              <a:avLst/>
              <a:gdLst/>
              <a:ahLst/>
              <a:cxnLst/>
              <a:rect l="l" t="t" r="r" b="b"/>
              <a:pathLst>
                <a:path w="1386839" h="1385570">
                  <a:moveTo>
                    <a:pt x="0" y="692657"/>
                  </a:moveTo>
                  <a:lnTo>
                    <a:pt x="1600" y="645236"/>
                  </a:lnTo>
                  <a:lnTo>
                    <a:pt x="6331" y="598672"/>
                  </a:lnTo>
                  <a:lnTo>
                    <a:pt x="14090" y="553069"/>
                  </a:lnTo>
                  <a:lnTo>
                    <a:pt x="24773" y="508529"/>
                  </a:lnTo>
                  <a:lnTo>
                    <a:pt x="38278" y="465156"/>
                  </a:lnTo>
                  <a:lnTo>
                    <a:pt x="54500" y="423052"/>
                  </a:lnTo>
                  <a:lnTo>
                    <a:pt x="73337" y="382322"/>
                  </a:lnTo>
                  <a:lnTo>
                    <a:pt x="94685" y="343069"/>
                  </a:lnTo>
                  <a:lnTo>
                    <a:pt x="118441" y="305395"/>
                  </a:lnTo>
                  <a:lnTo>
                    <a:pt x="144501" y="269404"/>
                  </a:lnTo>
                  <a:lnTo>
                    <a:pt x="172762" y="235198"/>
                  </a:lnTo>
                  <a:lnTo>
                    <a:pt x="203120" y="202882"/>
                  </a:lnTo>
                  <a:lnTo>
                    <a:pt x="235473" y="172558"/>
                  </a:lnTo>
                  <a:lnTo>
                    <a:pt x="269717" y="144330"/>
                  </a:lnTo>
                  <a:lnTo>
                    <a:pt x="305748" y="118300"/>
                  </a:lnTo>
                  <a:lnTo>
                    <a:pt x="343464" y="94572"/>
                  </a:lnTo>
                  <a:lnTo>
                    <a:pt x="382760" y="73249"/>
                  </a:lnTo>
                  <a:lnTo>
                    <a:pt x="423535" y="54435"/>
                  </a:lnTo>
                  <a:lnTo>
                    <a:pt x="465683" y="38232"/>
                  </a:lnTo>
                  <a:lnTo>
                    <a:pt x="509102" y="24743"/>
                  </a:lnTo>
                  <a:lnTo>
                    <a:pt x="553688" y="14073"/>
                  </a:lnTo>
                  <a:lnTo>
                    <a:pt x="599339" y="6323"/>
                  </a:lnTo>
                  <a:lnTo>
                    <a:pt x="645951" y="1598"/>
                  </a:lnTo>
                  <a:lnTo>
                    <a:pt x="693419" y="0"/>
                  </a:lnTo>
                  <a:lnTo>
                    <a:pt x="740888" y="1598"/>
                  </a:lnTo>
                  <a:lnTo>
                    <a:pt x="787500" y="6323"/>
                  </a:lnTo>
                  <a:lnTo>
                    <a:pt x="833151" y="14073"/>
                  </a:lnTo>
                  <a:lnTo>
                    <a:pt x="877737" y="24743"/>
                  </a:lnTo>
                  <a:lnTo>
                    <a:pt x="921156" y="38232"/>
                  </a:lnTo>
                  <a:lnTo>
                    <a:pt x="963304" y="54435"/>
                  </a:lnTo>
                  <a:lnTo>
                    <a:pt x="1004079" y="73249"/>
                  </a:lnTo>
                  <a:lnTo>
                    <a:pt x="1043375" y="94572"/>
                  </a:lnTo>
                  <a:lnTo>
                    <a:pt x="1081091" y="118300"/>
                  </a:lnTo>
                  <a:lnTo>
                    <a:pt x="1117122" y="144330"/>
                  </a:lnTo>
                  <a:lnTo>
                    <a:pt x="1151366" y="172558"/>
                  </a:lnTo>
                  <a:lnTo>
                    <a:pt x="1183719" y="202882"/>
                  </a:lnTo>
                  <a:lnTo>
                    <a:pt x="1214077" y="235198"/>
                  </a:lnTo>
                  <a:lnTo>
                    <a:pt x="1242338" y="269404"/>
                  </a:lnTo>
                  <a:lnTo>
                    <a:pt x="1268398" y="305395"/>
                  </a:lnTo>
                  <a:lnTo>
                    <a:pt x="1292154" y="343069"/>
                  </a:lnTo>
                  <a:lnTo>
                    <a:pt x="1313502" y="382322"/>
                  </a:lnTo>
                  <a:lnTo>
                    <a:pt x="1332339" y="423052"/>
                  </a:lnTo>
                  <a:lnTo>
                    <a:pt x="1348561" y="465156"/>
                  </a:lnTo>
                  <a:lnTo>
                    <a:pt x="1362066" y="508529"/>
                  </a:lnTo>
                  <a:lnTo>
                    <a:pt x="1372749" y="553069"/>
                  </a:lnTo>
                  <a:lnTo>
                    <a:pt x="1380508" y="598672"/>
                  </a:lnTo>
                  <a:lnTo>
                    <a:pt x="1385239" y="645236"/>
                  </a:lnTo>
                  <a:lnTo>
                    <a:pt x="1386840" y="692657"/>
                  </a:lnTo>
                  <a:lnTo>
                    <a:pt x="1385239" y="740079"/>
                  </a:lnTo>
                  <a:lnTo>
                    <a:pt x="1380508" y="786643"/>
                  </a:lnTo>
                  <a:lnTo>
                    <a:pt x="1372749" y="832246"/>
                  </a:lnTo>
                  <a:lnTo>
                    <a:pt x="1362066" y="876786"/>
                  </a:lnTo>
                  <a:lnTo>
                    <a:pt x="1348561" y="920159"/>
                  </a:lnTo>
                  <a:lnTo>
                    <a:pt x="1332339" y="962263"/>
                  </a:lnTo>
                  <a:lnTo>
                    <a:pt x="1313502" y="1002993"/>
                  </a:lnTo>
                  <a:lnTo>
                    <a:pt x="1292154" y="1042246"/>
                  </a:lnTo>
                  <a:lnTo>
                    <a:pt x="1268398" y="1079920"/>
                  </a:lnTo>
                  <a:lnTo>
                    <a:pt x="1242338" y="1115911"/>
                  </a:lnTo>
                  <a:lnTo>
                    <a:pt x="1214077" y="1150117"/>
                  </a:lnTo>
                  <a:lnTo>
                    <a:pt x="1183719" y="1182433"/>
                  </a:lnTo>
                  <a:lnTo>
                    <a:pt x="1151366" y="1212757"/>
                  </a:lnTo>
                  <a:lnTo>
                    <a:pt x="1117122" y="1240985"/>
                  </a:lnTo>
                  <a:lnTo>
                    <a:pt x="1081091" y="1267015"/>
                  </a:lnTo>
                  <a:lnTo>
                    <a:pt x="1043375" y="1290743"/>
                  </a:lnTo>
                  <a:lnTo>
                    <a:pt x="1004079" y="1312066"/>
                  </a:lnTo>
                  <a:lnTo>
                    <a:pt x="963304" y="1330880"/>
                  </a:lnTo>
                  <a:lnTo>
                    <a:pt x="921156" y="1347083"/>
                  </a:lnTo>
                  <a:lnTo>
                    <a:pt x="877737" y="1360572"/>
                  </a:lnTo>
                  <a:lnTo>
                    <a:pt x="833151" y="1371242"/>
                  </a:lnTo>
                  <a:lnTo>
                    <a:pt x="787500" y="1378992"/>
                  </a:lnTo>
                  <a:lnTo>
                    <a:pt x="740888" y="1383717"/>
                  </a:lnTo>
                  <a:lnTo>
                    <a:pt x="693419" y="1385315"/>
                  </a:lnTo>
                  <a:lnTo>
                    <a:pt x="645951" y="1383717"/>
                  </a:lnTo>
                  <a:lnTo>
                    <a:pt x="599339" y="1378992"/>
                  </a:lnTo>
                  <a:lnTo>
                    <a:pt x="553688" y="1371242"/>
                  </a:lnTo>
                  <a:lnTo>
                    <a:pt x="509102" y="1360572"/>
                  </a:lnTo>
                  <a:lnTo>
                    <a:pt x="465683" y="1347083"/>
                  </a:lnTo>
                  <a:lnTo>
                    <a:pt x="423535" y="1330880"/>
                  </a:lnTo>
                  <a:lnTo>
                    <a:pt x="382760" y="1312066"/>
                  </a:lnTo>
                  <a:lnTo>
                    <a:pt x="343464" y="1290743"/>
                  </a:lnTo>
                  <a:lnTo>
                    <a:pt x="305748" y="1267015"/>
                  </a:lnTo>
                  <a:lnTo>
                    <a:pt x="269717" y="1240985"/>
                  </a:lnTo>
                  <a:lnTo>
                    <a:pt x="235473" y="1212757"/>
                  </a:lnTo>
                  <a:lnTo>
                    <a:pt x="203120" y="1182433"/>
                  </a:lnTo>
                  <a:lnTo>
                    <a:pt x="172762" y="1150117"/>
                  </a:lnTo>
                  <a:lnTo>
                    <a:pt x="144501" y="1115911"/>
                  </a:lnTo>
                  <a:lnTo>
                    <a:pt x="118441" y="1079920"/>
                  </a:lnTo>
                  <a:lnTo>
                    <a:pt x="94685" y="1042246"/>
                  </a:lnTo>
                  <a:lnTo>
                    <a:pt x="73337" y="1002993"/>
                  </a:lnTo>
                  <a:lnTo>
                    <a:pt x="54500" y="962263"/>
                  </a:lnTo>
                  <a:lnTo>
                    <a:pt x="38278" y="920159"/>
                  </a:lnTo>
                  <a:lnTo>
                    <a:pt x="24773" y="876786"/>
                  </a:lnTo>
                  <a:lnTo>
                    <a:pt x="14090" y="832246"/>
                  </a:lnTo>
                  <a:lnTo>
                    <a:pt x="6331" y="786643"/>
                  </a:lnTo>
                  <a:lnTo>
                    <a:pt x="1600" y="740079"/>
                  </a:lnTo>
                  <a:lnTo>
                    <a:pt x="0" y="692657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5960" y="3293364"/>
              <a:ext cx="792480" cy="103936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708340" y="4937696"/>
            <a:ext cx="8557895" cy="1411605"/>
            <a:chOff x="1708340" y="4937696"/>
            <a:chExt cx="8557895" cy="1411605"/>
          </a:xfrm>
        </p:grpSpPr>
        <p:sp>
          <p:nvSpPr>
            <p:cNvPr id="12" name="object 12"/>
            <p:cNvSpPr/>
            <p:nvPr/>
          </p:nvSpPr>
          <p:spPr>
            <a:xfrm>
              <a:off x="2414777" y="4950714"/>
              <a:ext cx="7838440" cy="1385570"/>
            </a:xfrm>
            <a:custGeom>
              <a:avLst/>
              <a:gdLst/>
              <a:ahLst/>
              <a:cxnLst/>
              <a:rect l="l" t="t" r="r" b="b"/>
              <a:pathLst>
                <a:path w="7838440" h="1385570">
                  <a:moveTo>
                    <a:pt x="7837932" y="0"/>
                  </a:moveTo>
                  <a:lnTo>
                    <a:pt x="692658" y="0"/>
                  </a:lnTo>
                  <a:lnTo>
                    <a:pt x="0" y="692658"/>
                  </a:lnTo>
                  <a:lnTo>
                    <a:pt x="692658" y="1385315"/>
                  </a:lnTo>
                  <a:lnTo>
                    <a:pt x="7837932" y="1385315"/>
                  </a:lnTo>
                  <a:lnTo>
                    <a:pt x="7837932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14777" y="4950714"/>
              <a:ext cx="7838440" cy="1385570"/>
            </a:xfrm>
            <a:custGeom>
              <a:avLst/>
              <a:gdLst/>
              <a:ahLst/>
              <a:cxnLst/>
              <a:rect l="l" t="t" r="r" b="b"/>
              <a:pathLst>
                <a:path w="7838440" h="1385570">
                  <a:moveTo>
                    <a:pt x="7837932" y="1385315"/>
                  </a:moveTo>
                  <a:lnTo>
                    <a:pt x="692658" y="1385315"/>
                  </a:lnTo>
                  <a:lnTo>
                    <a:pt x="0" y="692658"/>
                  </a:lnTo>
                  <a:lnTo>
                    <a:pt x="692658" y="0"/>
                  </a:lnTo>
                  <a:lnTo>
                    <a:pt x="7837932" y="0"/>
                  </a:lnTo>
                  <a:lnTo>
                    <a:pt x="7837932" y="1385315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21357" y="4950714"/>
              <a:ext cx="1386840" cy="1385570"/>
            </a:xfrm>
            <a:custGeom>
              <a:avLst/>
              <a:gdLst/>
              <a:ahLst/>
              <a:cxnLst/>
              <a:rect l="l" t="t" r="r" b="b"/>
              <a:pathLst>
                <a:path w="1386839" h="1385570">
                  <a:moveTo>
                    <a:pt x="693419" y="0"/>
                  </a:moveTo>
                  <a:lnTo>
                    <a:pt x="645951" y="1598"/>
                  </a:lnTo>
                  <a:lnTo>
                    <a:pt x="599339" y="6323"/>
                  </a:lnTo>
                  <a:lnTo>
                    <a:pt x="553688" y="14073"/>
                  </a:lnTo>
                  <a:lnTo>
                    <a:pt x="509102" y="24743"/>
                  </a:lnTo>
                  <a:lnTo>
                    <a:pt x="465683" y="38232"/>
                  </a:lnTo>
                  <a:lnTo>
                    <a:pt x="423535" y="54435"/>
                  </a:lnTo>
                  <a:lnTo>
                    <a:pt x="382760" y="73249"/>
                  </a:lnTo>
                  <a:lnTo>
                    <a:pt x="343464" y="94572"/>
                  </a:lnTo>
                  <a:lnTo>
                    <a:pt x="305748" y="118300"/>
                  </a:lnTo>
                  <a:lnTo>
                    <a:pt x="269717" y="144330"/>
                  </a:lnTo>
                  <a:lnTo>
                    <a:pt x="235473" y="172558"/>
                  </a:lnTo>
                  <a:lnTo>
                    <a:pt x="203120" y="202882"/>
                  </a:lnTo>
                  <a:lnTo>
                    <a:pt x="172762" y="235198"/>
                  </a:lnTo>
                  <a:lnTo>
                    <a:pt x="144501" y="269404"/>
                  </a:lnTo>
                  <a:lnTo>
                    <a:pt x="118441" y="305395"/>
                  </a:lnTo>
                  <a:lnTo>
                    <a:pt x="94685" y="343069"/>
                  </a:lnTo>
                  <a:lnTo>
                    <a:pt x="73337" y="382322"/>
                  </a:lnTo>
                  <a:lnTo>
                    <a:pt x="54500" y="423052"/>
                  </a:lnTo>
                  <a:lnTo>
                    <a:pt x="38278" y="465156"/>
                  </a:lnTo>
                  <a:lnTo>
                    <a:pt x="24773" y="508529"/>
                  </a:lnTo>
                  <a:lnTo>
                    <a:pt x="14090" y="553069"/>
                  </a:lnTo>
                  <a:lnTo>
                    <a:pt x="6331" y="598672"/>
                  </a:lnTo>
                  <a:lnTo>
                    <a:pt x="1600" y="645236"/>
                  </a:lnTo>
                  <a:lnTo>
                    <a:pt x="0" y="692658"/>
                  </a:lnTo>
                  <a:lnTo>
                    <a:pt x="1600" y="740079"/>
                  </a:lnTo>
                  <a:lnTo>
                    <a:pt x="6331" y="786643"/>
                  </a:lnTo>
                  <a:lnTo>
                    <a:pt x="14090" y="832246"/>
                  </a:lnTo>
                  <a:lnTo>
                    <a:pt x="24773" y="876786"/>
                  </a:lnTo>
                  <a:lnTo>
                    <a:pt x="38278" y="920159"/>
                  </a:lnTo>
                  <a:lnTo>
                    <a:pt x="54500" y="962263"/>
                  </a:lnTo>
                  <a:lnTo>
                    <a:pt x="73337" y="1002993"/>
                  </a:lnTo>
                  <a:lnTo>
                    <a:pt x="94685" y="1042246"/>
                  </a:lnTo>
                  <a:lnTo>
                    <a:pt x="118441" y="1079920"/>
                  </a:lnTo>
                  <a:lnTo>
                    <a:pt x="144501" y="1115911"/>
                  </a:lnTo>
                  <a:lnTo>
                    <a:pt x="172762" y="1150117"/>
                  </a:lnTo>
                  <a:lnTo>
                    <a:pt x="203120" y="1182433"/>
                  </a:lnTo>
                  <a:lnTo>
                    <a:pt x="235473" y="1212757"/>
                  </a:lnTo>
                  <a:lnTo>
                    <a:pt x="269717" y="1240985"/>
                  </a:lnTo>
                  <a:lnTo>
                    <a:pt x="305748" y="1267015"/>
                  </a:lnTo>
                  <a:lnTo>
                    <a:pt x="343464" y="1290743"/>
                  </a:lnTo>
                  <a:lnTo>
                    <a:pt x="382760" y="1312066"/>
                  </a:lnTo>
                  <a:lnTo>
                    <a:pt x="423535" y="1330880"/>
                  </a:lnTo>
                  <a:lnTo>
                    <a:pt x="465683" y="1347083"/>
                  </a:lnTo>
                  <a:lnTo>
                    <a:pt x="509102" y="1360572"/>
                  </a:lnTo>
                  <a:lnTo>
                    <a:pt x="553688" y="1371242"/>
                  </a:lnTo>
                  <a:lnTo>
                    <a:pt x="599339" y="1378992"/>
                  </a:lnTo>
                  <a:lnTo>
                    <a:pt x="645951" y="1383717"/>
                  </a:lnTo>
                  <a:lnTo>
                    <a:pt x="693419" y="1385315"/>
                  </a:lnTo>
                  <a:lnTo>
                    <a:pt x="740888" y="1383717"/>
                  </a:lnTo>
                  <a:lnTo>
                    <a:pt x="787500" y="1378992"/>
                  </a:lnTo>
                  <a:lnTo>
                    <a:pt x="833151" y="1371242"/>
                  </a:lnTo>
                  <a:lnTo>
                    <a:pt x="877737" y="1360572"/>
                  </a:lnTo>
                  <a:lnTo>
                    <a:pt x="921156" y="1347083"/>
                  </a:lnTo>
                  <a:lnTo>
                    <a:pt x="963304" y="1330880"/>
                  </a:lnTo>
                  <a:lnTo>
                    <a:pt x="1004079" y="1312066"/>
                  </a:lnTo>
                  <a:lnTo>
                    <a:pt x="1043375" y="1290743"/>
                  </a:lnTo>
                  <a:lnTo>
                    <a:pt x="1081091" y="1267015"/>
                  </a:lnTo>
                  <a:lnTo>
                    <a:pt x="1117122" y="1240985"/>
                  </a:lnTo>
                  <a:lnTo>
                    <a:pt x="1151366" y="1212757"/>
                  </a:lnTo>
                  <a:lnTo>
                    <a:pt x="1183719" y="1182433"/>
                  </a:lnTo>
                  <a:lnTo>
                    <a:pt x="1214077" y="1150117"/>
                  </a:lnTo>
                  <a:lnTo>
                    <a:pt x="1242338" y="1115911"/>
                  </a:lnTo>
                  <a:lnTo>
                    <a:pt x="1268398" y="1079920"/>
                  </a:lnTo>
                  <a:lnTo>
                    <a:pt x="1292154" y="1042246"/>
                  </a:lnTo>
                  <a:lnTo>
                    <a:pt x="1313502" y="1002993"/>
                  </a:lnTo>
                  <a:lnTo>
                    <a:pt x="1332339" y="962263"/>
                  </a:lnTo>
                  <a:lnTo>
                    <a:pt x="1348561" y="920159"/>
                  </a:lnTo>
                  <a:lnTo>
                    <a:pt x="1362066" y="876786"/>
                  </a:lnTo>
                  <a:lnTo>
                    <a:pt x="1372749" y="832246"/>
                  </a:lnTo>
                  <a:lnTo>
                    <a:pt x="1380508" y="786643"/>
                  </a:lnTo>
                  <a:lnTo>
                    <a:pt x="1385239" y="740079"/>
                  </a:lnTo>
                  <a:lnTo>
                    <a:pt x="1386840" y="692658"/>
                  </a:lnTo>
                  <a:lnTo>
                    <a:pt x="1385239" y="645236"/>
                  </a:lnTo>
                  <a:lnTo>
                    <a:pt x="1380508" y="598672"/>
                  </a:lnTo>
                  <a:lnTo>
                    <a:pt x="1372749" y="553069"/>
                  </a:lnTo>
                  <a:lnTo>
                    <a:pt x="1362066" y="508529"/>
                  </a:lnTo>
                  <a:lnTo>
                    <a:pt x="1348561" y="465156"/>
                  </a:lnTo>
                  <a:lnTo>
                    <a:pt x="1332339" y="423052"/>
                  </a:lnTo>
                  <a:lnTo>
                    <a:pt x="1313502" y="382322"/>
                  </a:lnTo>
                  <a:lnTo>
                    <a:pt x="1292154" y="343069"/>
                  </a:lnTo>
                  <a:lnTo>
                    <a:pt x="1268398" y="305395"/>
                  </a:lnTo>
                  <a:lnTo>
                    <a:pt x="1242338" y="269404"/>
                  </a:lnTo>
                  <a:lnTo>
                    <a:pt x="1214077" y="235198"/>
                  </a:lnTo>
                  <a:lnTo>
                    <a:pt x="1183719" y="202882"/>
                  </a:lnTo>
                  <a:lnTo>
                    <a:pt x="1151366" y="172558"/>
                  </a:lnTo>
                  <a:lnTo>
                    <a:pt x="1117122" y="144330"/>
                  </a:lnTo>
                  <a:lnTo>
                    <a:pt x="1081091" y="118300"/>
                  </a:lnTo>
                  <a:lnTo>
                    <a:pt x="1043375" y="94572"/>
                  </a:lnTo>
                  <a:lnTo>
                    <a:pt x="1004079" y="73249"/>
                  </a:lnTo>
                  <a:lnTo>
                    <a:pt x="963304" y="54435"/>
                  </a:lnTo>
                  <a:lnTo>
                    <a:pt x="921156" y="38232"/>
                  </a:lnTo>
                  <a:lnTo>
                    <a:pt x="877737" y="24743"/>
                  </a:lnTo>
                  <a:lnTo>
                    <a:pt x="833151" y="14073"/>
                  </a:lnTo>
                  <a:lnTo>
                    <a:pt x="787500" y="6323"/>
                  </a:lnTo>
                  <a:lnTo>
                    <a:pt x="740888" y="1598"/>
                  </a:lnTo>
                  <a:lnTo>
                    <a:pt x="693419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21357" y="4950714"/>
              <a:ext cx="1386840" cy="1385570"/>
            </a:xfrm>
            <a:custGeom>
              <a:avLst/>
              <a:gdLst/>
              <a:ahLst/>
              <a:cxnLst/>
              <a:rect l="l" t="t" r="r" b="b"/>
              <a:pathLst>
                <a:path w="1386839" h="1385570">
                  <a:moveTo>
                    <a:pt x="0" y="692658"/>
                  </a:moveTo>
                  <a:lnTo>
                    <a:pt x="1600" y="645236"/>
                  </a:lnTo>
                  <a:lnTo>
                    <a:pt x="6331" y="598672"/>
                  </a:lnTo>
                  <a:lnTo>
                    <a:pt x="14090" y="553069"/>
                  </a:lnTo>
                  <a:lnTo>
                    <a:pt x="24773" y="508529"/>
                  </a:lnTo>
                  <a:lnTo>
                    <a:pt x="38278" y="465156"/>
                  </a:lnTo>
                  <a:lnTo>
                    <a:pt x="54500" y="423052"/>
                  </a:lnTo>
                  <a:lnTo>
                    <a:pt x="73337" y="382322"/>
                  </a:lnTo>
                  <a:lnTo>
                    <a:pt x="94685" y="343069"/>
                  </a:lnTo>
                  <a:lnTo>
                    <a:pt x="118441" y="305395"/>
                  </a:lnTo>
                  <a:lnTo>
                    <a:pt x="144501" y="269404"/>
                  </a:lnTo>
                  <a:lnTo>
                    <a:pt x="172762" y="235198"/>
                  </a:lnTo>
                  <a:lnTo>
                    <a:pt x="203120" y="202882"/>
                  </a:lnTo>
                  <a:lnTo>
                    <a:pt x="235473" y="172558"/>
                  </a:lnTo>
                  <a:lnTo>
                    <a:pt x="269717" y="144330"/>
                  </a:lnTo>
                  <a:lnTo>
                    <a:pt x="305748" y="118300"/>
                  </a:lnTo>
                  <a:lnTo>
                    <a:pt x="343464" y="94572"/>
                  </a:lnTo>
                  <a:lnTo>
                    <a:pt x="382760" y="73249"/>
                  </a:lnTo>
                  <a:lnTo>
                    <a:pt x="423535" y="54435"/>
                  </a:lnTo>
                  <a:lnTo>
                    <a:pt x="465683" y="38232"/>
                  </a:lnTo>
                  <a:lnTo>
                    <a:pt x="509102" y="24743"/>
                  </a:lnTo>
                  <a:lnTo>
                    <a:pt x="553688" y="14073"/>
                  </a:lnTo>
                  <a:lnTo>
                    <a:pt x="599339" y="6323"/>
                  </a:lnTo>
                  <a:lnTo>
                    <a:pt x="645951" y="1598"/>
                  </a:lnTo>
                  <a:lnTo>
                    <a:pt x="693419" y="0"/>
                  </a:lnTo>
                  <a:lnTo>
                    <a:pt x="740888" y="1598"/>
                  </a:lnTo>
                  <a:lnTo>
                    <a:pt x="787500" y="6323"/>
                  </a:lnTo>
                  <a:lnTo>
                    <a:pt x="833151" y="14073"/>
                  </a:lnTo>
                  <a:lnTo>
                    <a:pt x="877737" y="24743"/>
                  </a:lnTo>
                  <a:lnTo>
                    <a:pt x="921156" y="38232"/>
                  </a:lnTo>
                  <a:lnTo>
                    <a:pt x="963304" y="54435"/>
                  </a:lnTo>
                  <a:lnTo>
                    <a:pt x="1004079" y="73249"/>
                  </a:lnTo>
                  <a:lnTo>
                    <a:pt x="1043375" y="94572"/>
                  </a:lnTo>
                  <a:lnTo>
                    <a:pt x="1081091" y="118300"/>
                  </a:lnTo>
                  <a:lnTo>
                    <a:pt x="1117122" y="144330"/>
                  </a:lnTo>
                  <a:lnTo>
                    <a:pt x="1151366" y="172558"/>
                  </a:lnTo>
                  <a:lnTo>
                    <a:pt x="1183719" y="202882"/>
                  </a:lnTo>
                  <a:lnTo>
                    <a:pt x="1214077" y="235198"/>
                  </a:lnTo>
                  <a:lnTo>
                    <a:pt x="1242338" y="269404"/>
                  </a:lnTo>
                  <a:lnTo>
                    <a:pt x="1268398" y="305395"/>
                  </a:lnTo>
                  <a:lnTo>
                    <a:pt x="1292154" y="343069"/>
                  </a:lnTo>
                  <a:lnTo>
                    <a:pt x="1313502" y="382322"/>
                  </a:lnTo>
                  <a:lnTo>
                    <a:pt x="1332339" y="423052"/>
                  </a:lnTo>
                  <a:lnTo>
                    <a:pt x="1348561" y="465156"/>
                  </a:lnTo>
                  <a:lnTo>
                    <a:pt x="1362066" y="508529"/>
                  </a:lnTo>
                  <a:lnTo>
                    <a:pt x="1372749" y="553069"/>
                  </a:lnTo>
                  <a:lnTo>
                    <a:pt x="1380508" y="598672"/>
                  </a:lnTo>
                  <a:lnTo>
                    <a:pt x="1385239" y="645236"/>
                  </a:lnTo>
                  <a:lnTo>
                    <a:pt x="1386840" y="692658"/>
                  </a:lnTo>
                  <a:lnTo>
                    <a:pt x="1385239" y="740079"/>
                  </a:lnTo>
                  <a:lnTo>
                    <a:pt x="1380508" y="786643"/>
                  </a:lnTo>
                  <a:lnTo>
                    <a:pt x="1372749" y="832246"/>
                  </a:lnTo>
                  <a:lnTo>
                    <a:pt x="1362066" y="876786"/>
                  </a:lnTo>
                  <a:lnTo>
                    <a:pt x="1348561" y="920159"/>
                  </a:lnTo>
                  <a:lnTo>
                    <a:pt x="1332339" y="962263"/>
                  </a:lnTo>
                  <a:lnTo>
                    <a:pt x="1313502" y="1002993"/>
                  </a:lnTo>
                  <a:lnTo>
                    <a:pt x="1292154" y="1042246"/>
                  </a:lnTo>
                  <a:lnTo>
                    <a:pt x="1268398" y="1079920"/>
                  </a:lnTo>
                  <a:lnTo>
                    <a:pt x="1242338" y="1115911"/>
                  </a:lnTo>
                  <a:lnTo>
                    <a:pt x="1214077" y="1150117"/>
                  </a:lnTo>
                  <a:lnTo>
                    <a:pt x="1183719" y="1182433"/>
                  </a:lnTo>
                  <a:lnTo>
                    <a:pt x="1151366" y="1212757"/>
                  </a:lnTo>
                  <a:lnTo>
                    <a:pt x="1117122" y="1240985"/>
                  </a:lnTo>
                  <a:lnTo>
                    <a:pt x="1081091" y="1267015"/>
                  </a:lnTo>
                  <a:lnTo>
                    <a:pt x="1043375" y="1290743"/>
                  </a:lnTo>
                  <a:lnTo>
                    <a:pt x="1004079" y="1312066"/>
                  </a:lnTo>
                  <a:lnTo>
                    <a:pt x="963304" y="1330880"/>
                  </a:lnTo>
                  <a:lnTo>
                    <a:pt x="921156" y="1347083"/>
                  </a:lnTo>
                  <a:lnTo>
                    <a:pt x="877737" y="1360572"/>
                  </a:lnTo>
                  <a:lnTo>
                    <a:pt x="833151" y="1371242"/>
                  </a:lnTo>
                  <a:lnTo>
                    <a:pt x="787500" y="1378992"/>
                  </a:lnTo>
                  <a:lnTo>
                    <a:pt x="740888" y="1383717"/>
                  </a:lnTo>
                  <a:lnTo>
                    <a:pt x="693419" y="1385315"/>
                  </a:lnTo>
                  <a:lnTo>
                    <a:pt x="645951" y="1383717"/>
                  </a:lnTo>
                  <a:lnTo>
                    <a:pt x="599339" y="1378992"/>
                  </a:lnTo>
                  <a:lnTo>
                    <a:pt x="553688" y="1371242"/>
                  </a:lnTo>
                  <a:lnTo>
                    <a:pt x="509102" y="1360572"/>
                  </a:lnTo>
                  <a:lnTo>
                    <a:pt x="465683" y="1347083"/>
                  </a:lnTo>
                  <a:lnTo>
                    <a:pt x="423535" y="1330880"/>
                  </a:lnTo>
                  <a:lnTo>
                    <a:pt x="382760" y="1312066"/>
                  </a:lnTo>
                  <a:lnTo>
                    <a:pt x="343464" y="1290743"/>
                  </a:lnTo>
                  <a:lnTo>
                    <a:pt x="305748" y="1267015"/>
                  </a:lnTo>
                  <a:lnTo>
                    <a:pt x="269717" y="1240985"/>
                  </a:lnTo>
                  <a:lnTo>
                    <a:pt x="235473" y="1212757"/>
                  </a:lnTo>
                  <a:lnTo>
                    <a:pt x="203120" y="1182433"/>
                  </a:lnTo>
                  <a:lnTo>
                    <a:pt x="172762" y="1150117"/>
                  </a:lnTo>
                  <a:lnTo>
                    <a:pt x="144501" y="1115911"/>
                  </a:lnTo>
                  <a:lnTo>
                    <a:pt x="118441" y="1079920"/>
                  </a:lnTo>
                  <a:lnTo>
                    <a:pt x="94685" y="1042246"/>
                  </a:lnTo>
                  <a:lnTo>
                    <a:pt x="73337" y="1002993"/>
                  </a:lnTo>
                  <a:lnTo>
                    <a:pt x="54500" y="962263"/>
                  </a:lnTo>
                  <a:lnTo>
                    <a:pt x="38278" y="920159"/>
                  </a:lnTo>
                  <a:lnTo>
                    <a:pt x="24773" y="876786"/>
                  </a:lnTo>
                  <a:lnTo>
                    <a:pt x="14090" y="832246"/>
                  </a:lnTo>
                  <a:lnTo>
                    <a:pt x="6331" y="786643"/>
                  </a:lnTo>
                  <a:lnTo>
                    <a:pt x="1600" y="740079"/>
                  </a:lnTo>
                  <a:lnTo>
                    <a:pt x="0" y="69265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401760" y="6737540"/>
            <a:ext cx="7864475" cy="1411605"/>
            <a:chOff x="2401760" y="6737540"/>
            <a:chExt cx="7864475" cy="1411605"/>
          </a:xfrm>
        </p:grpSpPr>
        <p:sp>
          <p:nvSpPr>
            <p:cNvPr id="17" name="object 17"/>
            <p:cNvSpPr/>
            <p:nvPr/>
          </p:nvSpPr>
          <p:spPr>
            <a:xfrm>
              <a:off x="2414778" y="6750558"/>
              <a:ext cx="7838440" cy="1385570"/>
            </a:xfrm>
            <a:custGeom>
              <a:avLst/>
              <a:gdLst/>
              <a:ahLst/>
              <a:cxnLst/>
              <a:rect l="l" t="t" r="r" b="b"/>
              <a:pathLst>
                <a:path w="7838440" h="1385570">
                  <a:moveTo>
                    <a:pt x="7837932" y="0"/>
                  </a:moveTo>
                  <a:lnTo>
                    <a:pt x="692658" y="0"/>
                  </a:lnTo>
                  <a:lnTo>
                    <a:pt x="0" y="692658"/>
                  </a:lnTo>
                  <a:lnTo>
                    <a:pt x="692658" y="1385316"/>
                  </a:lnTo>
                  <a:lnTo>
                    <a:pt x="7837932" y="1385316"/>
                  </a:lnTo>
                  <a:lnTo>
                    <a:pt x="7837932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14778" y="6750558"/>
              <a:ext cx="7838440" cy="1385570"/>
            </a:xfrm>
            <a:custGeom>
              <a:avLst/>
              <a:gdLst/>
              <a:ahLst/>
              <a:cxnLst/>
              <a:rect l="l" t="t" r="r" b="b"/>
              <a:pathLst>
                <a:path w="7838440" h="1385570">
                  <a:moveTo>
                    <a:pt x="7837932" y="1385316"/>
                  </a:moveTo>
                  <a:lnTo>
                    <a:pt x="692658" y="1385316"/>
                  </a:lnTo>
                  <a:lnTo>
                    <a:pt x="0" y="692658"/>
                  </a:lnTo>
                  <a:lnTo>
                    <a:pt x="692658" y="0"/>
                  </a:lnTo>
                  <a:lnTo>
                    <a:pt x="7837932" y="0"/>
                  </a:lnTo>
                  <a:lnTo>
                    <a:pt x="7837932" y="1385316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00120" y="5184139"/>
            <a:ext cx="6415405" cy="2839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94615" marR="86360" algn="ctr">
              <a:lnSpc>
                <a:spcPts val="3000"/>
              </a:lnSpc>
              <a:spcBef>
                <a:spcPts val="605"/>
              </a:spcBef>
            </a:pP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Documento</a:t>
            </a:r>
            <a:r>
              <a:rPr sz="29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informatico</a:t>
            </a:r>
            <a:r>
              <a:rPr sz="29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Arial"/>
                <a:cs typeface="Arial"/>
              </a:rPr>
              <a:t>documento analogico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>
              <a:latin typeface="Arial"/>
              <a:cs typeface="Arial"/>
            </a:endParaRPr>
          </a:p>
          <a:p>
            <a:pPr marL="12700" marR="5080" algn="ctr">
              <a:lnSpc>
                <a:spcPts val="3000"/>
              </a:lnSpc>
              <a:tabLst>
                <a:tab pos="3615690" algn="l"/>
              </a:tabLst>
            </a:pP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Registrazione</a:t>
            </a:r>
            <a:r>
              <a:rPr sz="2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informatica,</a:t>
            </a:r>
            <a:r>
              <a:rPr sz="29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Arial"/>
                <a:cs typeface="Arial"/>
              </a:rPr>
              <a:t>generazione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raggruppamento</a:t>
            </a:r>
            <a:r>
              <a:rPr sz="29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	insiemi</a:t>
            </a:r>
            <a:r>
              <a:rPr sz="2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dati</a:t>
            </a:r>
            <a:r>
              <a:rPr sz="2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basi</a:t>
            </a:r>
            <a:r>
              <a:rPr sz="2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FFFFFF"/>
                </a:solidFill>
                <a:latin typeface="Arial"/>
                <a:cs typeface="Arial"/>
              </a:rPr>
              <a:t>dati</a:t>
            </a:r>
            <a:r>
              <a:rPr sz="2900" spc="-10" dirty="0">
                <a:solidFill>
                  <a:srgbClr val="FFFFFF"/>
                </a:solidFill>
                <a:latin typeface="Arial"/>
                <a:cs typeface="Arial"/>
              </a:rPr>
              <a:t> (viste)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69619" y="1417319"/>
            <a:ext cx="10669905" cy="1248410"/>
            <a:chOff x="769619" y="1417319"/>
            <a:chExt cx="10669905" cy="124841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619" y="1473707"/>
              <a:ext cx="10669524" cy="10378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8987" y="1417319"/>
              <a:ext cx="8689848" cy="12481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815" y="1491995"/>
              <a:ext cx="10585704" cy="9540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13816" y="1491996"/>
            <a:ext cx="10586085" cy="954405"/>
          </a:xfrm>
          <a:prstGeom prst="rect">
            <a:avLst/>
          </a:prstGeom>
          <a:ln w="9144">
            <a:solidFill>
              <a:srgbClr val="0062C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048125" marR="1243330" indent="-2800350">
              <a:lnSpc>
                <a:spcPct val="100000"/>
              </a:lnSpc>
              <a:spcBef>
                <a:spcPts val="285"/>
              </a:spcBef>
            </a:pP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Modalità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800" b="1" spc="-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rendere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b="1" spc="-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b="1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D5A8F"/>
                </a:solidFill>
                <a:latin typeface="Arial"/>
                <a:cs typeface="Arial"/>
              </a:rPr>
              <a:t>informatico immodificabile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4332" y="5308091"/>
            <a:ext cx="987552" cy="669036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708404" y="6737604"/>
            <a:ext cx="1412875" cy="1411605"/>
            <a:chOff x="1708404" y="6737604"/>
            <a:chExt cx="1412875" cy="1411605"/>
          </a:xfrm>
        </p:grpSpPr>
        <p:sp>
          <p:nvSpPr>
            <p:cNvPr id="27" name="object 27"/>
            <p:cNvSpPr/>
            <p:nvPr/>
          </p:nvSpPr>
          <p:spPr>
            <a:xfrm>
              <a:off x="1721358" y="6750558"/>
              <a:ext cx="1386840" cy="1385570"/>
            </a:xfrm>
            <a:custGeom>
              <a:avLst/>
              <a:gdLst/>
              <a:ahLst/>
              <a:cxnLst/>
              <a:rect l="l" t="t" r="r" b="b"/>
              <a:pathLst>
                <a:path w="1386839" h="1385570">
                  <a:moveTo>
                    <a:pt x="693419" y="0"/>
                  </a:moveTo>
                  <a:lnTo>
                    <a:pt x="645951" y="1598"/>
                  </a:lnTo>
                  <a:lnTo>
                    <a:pt x="599339" y="6323"/>
                  </a:lnTo>
                  <a:lnTo>
                    <a:pt x="553688" y="14073"/>
                  </a:lnTo>
                  <a:lnTo>
                    <a:pt x="509102" y="24743"/>
                  </a:lnTo>
                  <a:lnTo>
                    <a:pt x="465683" y="38232"/>
                  </a:lnTo>
                  <a:lnTo>
                    <a:pt x="423535" y="54435"/>
                  </a:lnTo>
                  <a:lnTo>
                    <a:pt x="382760" y="73249"/>
                  </a:lnTo>
                  <a:lnTo>
                    <a:pt x="343464" y="94572"/>
                  </a:lnTo>
                  <a:lnTo>
                    <a:pt x="305748" y="118300"/>
                  </a:lnTo>
                  <a:lnTo>
                    <a:pt x="269717" y="144330"/>
                  </a:lnTo>
                  <a:lnTo>
                    <a:pt x="235473" y="172558"/>
                  </a:lnTo>
                  <a:lnTo>
                    <a:pt x="203120" y="202882"/>
                  </a:lnTo>
                  <a:lnTo>
                    <a:pt x="172762" y="235198"/>
                  </a:lnTo>
                  <a:lnTo>
                    <a:pt x="144501" y="269404"/>
                  </a:lnTo>
                  <a:lnTo>
                    <a:pt x="118441" y="305395"/>
                  </a:lnTo>
                  <a:lnTo>
                    <a:pt x="94685" y="343069"/>
                  </a:lnTo>
                  <a:lnTo>
                    <a:pt x="73337" y="382322"/>
                  </a:lnTo>
                  <a:lnTo>
                    <a:pt x="54500" y="423052"/>
                  </a:lnTo>
                  <a:lnTo>
                    <a:pt x="38278" y="465156"/>
                  </a:lnTo>
                  <a:lnTo>
                    <a:pt x="24773" y="508529"/>
                  </a:lnTo>
                  <a:lnTo>
                    <a:pt x="14090" y="553069"/>
                  </a:lnTo>
                  <a:lnTo>
                    <a:pt x="6331" y="598672"/>
                  </a:lnTo>
                  <a:lnTo>
                    <a:pt x="1600" y="645236"/>
                  </a:lnTo>
                  <a:lnTo>
                    <a:pt x="0" y="692658"/>
                  </a:lnTo>
                  <a:lnTo>
                    <a:pt x="1600" y="740079"/>
                  </a:lnTo>
                  <a:lnTo>
                    <a:pt x="6331" y="786643"/>
                  </a:lnTo>
                  <a:lnTo>
                    <a:pt x="14090" y="832246"/>
                  </a:lnTo>
                  <a:lnTo>
                    <a:pt x="24773" y="876786"/>
                  </a:lnTo>
                  <a:lnTo>
                    <a:pt x="38278" y="920159"/>
                  </a:lnTo>
                  <a:lnTo>
                    <a:pt x="54500" y="962263"/>
                  </a:lnTo>
                  <a:lnTo>
                    <a:pt x="73337" y="1002993"/>
                  </a:lnTo>
                  <a:lnTo>
                    <a:pt x="94685" y="1042246"/>
                  </a:lnTo>
                  <a:lnTo>
                    <a:pt x="118441" y="1079920"/>
                  </a:lnTo>
                  <a:lnTo>
                    <a:pt x="144501" y="1115911"/>
                  </a:lnTo>
                  <a:lnTo>
                    <a:pt x="172762" y="1150117"/>
                  </a:lnTo>
                  <a:lnTo>
                    <a:pt x="203120" y="1182433"/>
                  </a:lnTo>
                  <a:lnTo>
                    <a:pt x="235473" y="1212757"/>
                  </a:lnTo>
                  <a:lnTo>
                    <a:pt x="269717" y="1240985"/>
                  </a:lnTo>
                  <a:lnTo>
                    <a:pt x="305748" y="1267015"/>
                  </a:lnTo>
                  <a:lnTo>
                    <a:pt x="343464" y="1290743"/>
                  </a:lnTo>
                  <a:lnTo>
                    <a:pt x="382760" y="1312066"/>
                  </a:lnTo>
                  <a:lnTo>
                    <a:pt x="423535" y="1330880"/>
                  </a:lnTo>
                  <a:lnTo>
                    <a:pt x="465683" y="1347083"/>
                  </a:lnTo>
                  <a:lnTo>
                    <a:pt x="509102" y="1360572"/>
                  </a:lnTo>
                  <a:lnTo>
                    <a:pt x="553688" y="1371242"/>
                  </a:lnTo>
                  <a:lnTo>
                    <a:pt x="599339" y="1378992"/>
                  </a:lnTo>
                  <a:lnTo>
                    <a:pt x="645951" y="1383717"/>
                  </a:lnTo>
                  <a:lnTo>
                    <a:pt x="693419" y="1385316"/>
                  </a:lnTo>
                  <a:lnTo>
                    <a:pt x="740888" y="1383717"/>
                  </a:lnTo>
                  <a:lnTo>
                    <a:pt x="787500" y="1378992"/>
                  </a:lnTo>
                  <a:lnTo>
                    <a:pt x="833151" y="1371242"/>
                  </a:lnTo>
                  <a:lnTo>
                    <a:pt x="877737" y="1360572"/>
                  </a:lnTo>
                  <a:lnTo>
                    <a:pt x="921156" y="1347083"/>
                  </a:lnTo>
                  <a:lnTo>
                    <a:pt x="963304" y="1330880"/>
                  </a:lnTo>
                  <a:lnTo>
                    <a:pt x="1004079" y="1312066"/>
                  </a:lnTo>
                  <a:lnTo>
                    <a:pt x="1043375" y="1290743"/>
                  </a:lnTo>
                  <a:lnTo>
                    <a:pt x="1081091" y="1267015"/>
                  </a:lnTo>
                  <a:lnTo>
                    <a:pt x="1117122" y="1240985"/>
                  </a:lnTo>
                  <a:lnTo>
                    <a:pt x="1151366" y="1212757"/>
                  </a:lnTo>
                  <a:lnTo>
                    <a:pt x="1183719" y="1182433"/>
                  </a:lnTo>
                  <a:lnTo>
                    <a:pt x="1214077" y="1150117"/>
                  </a:lnTo>
                  <a:lnTo>
                    <a:pt x="1242338" y="1115911"/>
                  </a:lnTo>
                  <a:lnTo>
                    <a:pt x="1268398" y="1079920"/>
                  </a:lnTo>
                  <a:lnTo>
                    <a:pt x="1292154" y="1042246"/>
                  </a:lnTo>
                  <a:lnTo>
                    <a:pt x="1313502" y="1002993"/>
                  </a:lnTo>
                  <a:lnTo>
                    <a:pt x="1332339" y="962263"/>
                  </a:lnTo>
                  <a:lnTo>
                    <a:pt x="1348561" y="920159"/>
                  </a:lnTo>
                  <a:lnTo>
                    <a:pt x="1362066" y="876786"/>
                  </a:lnTo>
                  <a:lnTo>
                    <a:pt x="1372749" y="832246"/>
                  </a:lnTo>
                  <a:lnTo>
                    <a:pt x="1380508" y="786643"/>
                  </a:lnTo>
                  <a:lnTo>
                    <a:pt x="1385239" y="740079"/>
                  </a:lnTo>
                  <a:lnTo>
                    <a:pt x="1386840" y="692658"/>
                  </a:lnTo>
                  <a:lnTo>
                    <a:pt x="1385239" y="645236"/>
                  </a:lnTo>
                  <a:lnTo>
                    <a:pt x="1380508" y="598672"/>
                  </a:lnTo>
                  <a:lnTo>
                    <a:pt x="1372749" y="553069"/>
                  </a:lnTo>
                  <a:lnTo>
                    <a:pt x="1362066" y="508529"/>
                  </a:lnTo>
                  <a:lnTo>
                    <a:pt x="1348561" y="465156"/>
                  </a:lnTo>
                  <a:lnTo>
                    <a:pt x="1332339" y="423052"/>
                  </a:lnTo>
                  <a:lnTo>
                    <a:pt x="1313502" y="382322"/>
                  </a:lnTo>
                  <a:lnTo>
                    <a:pt x="1292154" y="343069"/>
                  </a:lnTo>
                  <a:lnTo>
                    <a:pt x="1268398" y="305395"/>
                  </a:lnTo>
                  <a:lnTo>
                    <a:pt x="1242338" y="269404"/>
                  </a:lnTo>
                  <a:lnTo>
                    <a:pt x="1214077" y="235198"/>
                  </a:lnTo>
                  <a:lnTo>
                    <a:pt x="1183719" y="202882"/>
                  </a:lnTo>
                  <a:lnTo>
                    <a:pt x="1151366" y="172558"/>
                  </a:lnTo>
                  <a:lnTo>
                    <a:pt x="1117122" y="144330"/>
                  </a:lnTo>
                  <a:lnTo>
                    <a:pt x="1081091" y="118300"/>
                  </a:lnTo>
                  <a:lnTo>
                    <a:pt x="1043375" y="94572"/>
                  </a:lnTo>
                  <a:lnTo>
                    <a:pt x="1004079" y="73249"/>
                  </a:lnTo>
                  <a:lnTo>
                    <a:pt x="963304" y="54435"/>
                  </a:lnTo>
                  <a:lnTo>
                    <a:pt x="921156" y="38232"/>
                  </a:lnTo>
                  <a:lnTo>
                    <a:pt x="877737" y="24743"/>
                  </a:lnTo>
                  <a:lnTo>
                    <a:pt x="833151" y="14073"/>
                  </a:lnTo>
                  <a:lnTo>
                    <a:pt x="787500" y="6323"/>
                  </a:lnTo>
                  <a:lnTo>
                    <a:pt x="740888" y="1598"/>
                  </a:lnTo>
                  <a:lnTo>
                    <a:pt x="693419" y="0"/>
                  </a:lnTo>
                  <a:close/>
                </a:path>
              </a:pathLst>
            </a:custGeom>
            <a:solidFill>
              <a:srgbClr val="BBC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21358" y="6750558"/>
              <a:ext cx="1386840" cy="1385570"/>
            </a:xfrm>
            <a:custGeom>
              <a:avLst/>
              <a:gdLst/>
              <a:ahLst/>
              <a:cxnLst/>
              <a:rect l="l" t="t" r="r" b="b"/>
              <a:pathLst>
                <a:path w="1386839" h="1385570">
                  <a:moveTo>
                    <a:pt x="0" y="692658"/>
                  </a:moveTo>
                  <a:lnTo>
                    <a:pt x="1600" y="645236"/>
                  </a:lnTo>
                  <a:lnTo>
                    <a:pt x="6331" y="598672"/>
                  </a:lnTo>
                  <a:lnTo>
                    <a:pt x="14090" y="553069"/>
                  </a:lnTo>
                  <a:lnTo>
                    <a:pt x="24773" y="508529"/>
                  </a:lnTo>
                  <a:lnTo>
                    <a:pt x="38278" y="465156"/>
                  </a:lnTo>
                  <a:lnTo>
                    <a:pt x="54500" y="423052"/>
                  </a:lnTo>
                  <a:lnTo>
                    <a:pt x="73337" y="382322"/>
                  </a:lnTo>
                  <a:lnTo>
                    <a:pt x="94685" y="343069"/>
                  </a:lnTo>
                  <a:lnTo>
                    <a:pt x="118441" y="305395"/>
                  </a:lnTo>
                  <a:lnTo>
                    <a:pt x="144501" y="269404"/>
                  </a:lnTo>
                  <a:lnTo>
                    <a:pt x="172762" y="235198"/>
                  </a:lnTo>
                  <a:lnTo>
                    <a:pt x="203120" y="202882"/>
                  </a:lnTo>
                  <a:lnTo>
                    <a:pt x="235473" y="172558"/>
                  </a:lnTo>
                  <a:lnTo>
                    <a:pt x="269717" y="144330"/>
                  </a:lnTo>
                  <a:lnTo>
                    <a:pt x="305748" y="118300"/>
                  </a:lnTo>
                  <a:lnTo>
                    <a:pt x="343464" y="94572"/>
                  </a:lnTo>
                  <a:lnTo>
                    <a:pt x="382760" y="73249"/>
                  </a:lnTo>
                  <a:lnTo>
                    <a:pt x="423535" y="54435"/>
                  </a:lnTo>
                  <a:lnTo>
                    <a:pt x="465683" y="38232"/>
                  </a:lnTo>
                  <a:lnTo>
                    <a:pt x="509102" y="24743"/>
                  </a:lnTo>
                  <a:lnTo>
                    <a:pt x="553688" y="14073"/>
                  </a:lnTo>
                  <a:lnTo>
                    <a:pt x="599339" y="6323"/>
                  </a:lnTo>
                  <a:lnTo>
                    <a:pt x="645951" y="1598"/>
                  </a:lnTo>
                  <a:lnTo>
                    <a:pt x="693419" y="0"/>
                  </a:lnTo>
                  <a:lnTo>
                    <a:pt x="740888" y="1598"/>
                  </a:lnTo>
                  <a:lnTo>
                    <a:pt x="787500" y="6323"/>
                  </a:lnTo>
                  <a:lnTo>
                    <a:pt x="833151" y="14073"/>
                  </a:lnTo>
                  <a:lnTo>
                    <a:pt x="877737" y="24743"/>
                  </a:lnTo>
                  <a:lnTo>
                    <a:pt x="921156" y="38232"/>
                  </a:lnTo>
                  <a:lnTo>
                    <a:pt x="963304" y="54435"/>
                  </a:lnTo>
                  <a:lnTo>
                    <a:pt x="1004079" y="73249"/>
                  </a:lnTo>
                  <a:lnTo>
                    <a:pt x="1043375" y="94572"/>
                  </a:lnTo>
                  <a:lnTo>
                    <a:pt x="1081091" y="118300"/>
                  </a:lnTo>
                  <a:lnTo>
                    <a:pt x="1117122" y="144330"/>
                  </a:lnTo>
                  <a:lnTo>
                    <a:pt x="1151366" y="172558"/>
                  </a:lnTo>
                  <a:lnTo>
                    <a:pt x="1183719" y="202882"/>
                  </a:lnTo>
                  <a:lnTo>
                    <a:pt x="1214077" y="235198"/>
                  </a:lnTo>
                  <a:lnTo>
                    <a:pt x="1242338" y="269404"/>
                  </a:lnTo>
                  <a:lnTo>
                    <a:pt x="1268398" y="305395"/>
                  </a:lnTo>
                  <a:lnTo>
                    <a:pt x="1292154" y="343069"/>
                  </a:lnTo>
                  <a:lnTo>
                    <a:pt x="1313502" y="382322"/>
                  </a:lnTo>
                  <a:lnTo>
                    <a:pt x="1332339" y="423052"/>
                  </a:lnTo>
                  <a:lnTo>
                    <a:pt x="1348561" y="465156"/>
                  </a:lnTo>
                  <a:lnTo>
                    <a:pt x="1362066" y="508529"/>
                  </a:lnTo>
                  <a:lnTo>
                    <a:pt x="1372749" y="553069"/>
                  </a:lnTo>
                  <a:lnTo>
                    <a:pt x="1380508" y="598672"/>
                  </a:lnTo>
                  <a:lnTo>
                    <a:pt x="1385239" y="645236"/>
                  </a:lnTo>
                  <a:lnTo>
                    <a:pt x="1386840" y="692658"/>
                  </a:lnTo>
                  <a:lnTo>
                    <a:pt x="1385239" y="740079"/>
                  </a:lnTo>
                  <a:lnTo>
                    <a:pt x="1380508" y="786643"/>
                  </a:lnTo>
                  <a:lnTo>
                    <a:pt x="1372749" y="832246"/>
                  </a:lnTo>
                  <a:lnTo>
                    <a:pt x="1362066" y="876786"/>
                  </a:lnTo>
                  <a:lnTo>
                    <a:pt x="1348561" y="920159"/>
                  </a:lnTo>
                  <a:lnTo>
                    <a:pt x="1332339" y="962263"/>
                  </a:lnTo>
                  <a:lnTo>
                    <a:pt x="1313502" y="1002993"/>
                  </a:lnTo>
                  <a:lnTo>
                    <a:pt x="1292154" y="1042246"/>
                  </a:lnTo>
                  <a:lnTo>
                    <a:pt x="1268398" y="1079920"/>
                  </a:lnTo>
                  <a:lnTo>
                    <a:pt x="1242338" y="1115911"/>
                  </a:lnTo>
                  <a:lnTo>
                    <a:pt x="1214077" y="1150117"/>
                  </a:lnTo>
                  <a:lnTo>
                    <a:pt x="1183719" y="1182433"/>
                  </a:lnTo>
                  <a:lnTo>
                    <a:pt x="1151366" y="1212757"/>
                  </a:lnTo>
                  <a:lnTo>
                    <a:pt x="1117122" y="1240985"/>
                  </a:lnTo>
                  <a:lnTo>
                    <a:pt x="1081091" y="1267015"/>
                  </a:lnTo>
                  <a:lnTo>
                    <a:pt x="1043375" y="1290743"/>
                  </a:lnTo>
                  <a:lnTo>
                    <a:pt x="1004079" y="1312066"/>
                  </a:lnTo>
                  <a:lnTo>
                    <a:pt x="963304" y="1330880"/>
                  </a:lnTo>
                  <a:lnTo>
                    <a:pt x="921156" y="1347083"/>
                  </a:lnTo>
                  <a:lnTo>
                    <a:pt x="877737" y="1360572"/>
                  </a:lnTo>
                  <a:lnTo>
                    <a:pt x="833151" y="1371242"/>
                  </a:lnTo>
                  <a:lnTo>
                    <a:pt x="787500" y="1378992"/>
                  </a:lnTo>
                  <a:lnTo>
                    <a:pt x="740888" y="1383717"/>
                  </a:lnTo>
                  <a:lnTo>
                    <a:pt x="693419" y="1385316"/>
                  </a:lnTo>
                  <a:lnTo>
                    <a:pt x="645951" y="1383717"/>
                  </a:lnTo>
                  <a:lnTo>
                    <a:pt x="599339" y="1378992"/>
                  </a:lnTo>
                  <a:lnTo>
                    <a:pt x="553688" y="1371242"/>
                  </a:lnTo>
                  <a:lnTo>
                    <a:pt x="509102" y="1360572"/>
                  </a:lnTo>
                  <a:lnTo>
                    <a:pt x="465683" y="1347083"/>
                  </a:lnTo>
                  <a:lnTo>
                    <a:pt x="423535" y="1330880"/>
                  </a:lnTo>
                  <a:lnTo>
                    <a:pt x="382760" y="1312066"/>
                  </a:lnTo>
                  <a:lnTo>
                    <a:pt x="343464" y="1290743"/>
                  </a:lnTo>
                  <a:lnTo>
                    <a:pt x="305748" y="1267015"/>
                  </a:lnTo>
                  <a:lnTo>
                    <a:pt x="269717" y="1240985"/>
                  </a:lnTo>
                  <a:lnTo>
                    <a:pt x="235473" y="1212757"/>
                  </a:lnTo>
                  <a:lnTo>
                    <a:pt x="203120" y="1182433"/>
                  </a:lnTo>
                  <a:lnTo>
                    <a:pt x="172762" y="1150117"/>
                  </a:lnTo>
                  <a:lnTo>
                    <a:pt x="144501" y="1115911"/>
                  </a:lnTo>
                  <a:lnTo>
                    <a:pt x="118441" y="1079920"/>
                  </a:lnTo>
                  <a:lnTo>
                    <a:pt x="94685" y="1042246"/>
                  </a:lnTo>
                  <a:lnTo>
                    <a:pt x="73337" y="1002993"/>
                  </a:lnTo>
                  <a:lnTo>
                    <a:pt x="54500" y="962263"/>
                  </a:lnTo>
                  <a:lnTo>
                    <a:pt x="38278" y="920159"/>
                  </a:lnTo>
                  <a:lnTo>
                    <a:pt x="24773" y="876786"/>
                  </a:lnTo>
                  <a:lnTo>
                    <a:pt x="14090" y="832246"/>
                  </a:lnTo>
                  <a:lnTo>
                    <a:pt x="6331" y="786643"/>
                  </a:lnTo>
                  <a:lnTo>
                    <a:pt x="1600" y="740079"/>
                  </a:lnTo>
                  <a:lnTo>
                    <a:pt x="0" y="692658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3288" y="7109460"/>
              <a:ext cx="940308" cy="769619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082" rIns="0" bIns="0" rtlCol="0">
            <a:spAutoFit/>
          </a:bodyPr>
          <a:lstStyle/>
          <a:p>
            <a:pPr marL="13081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1F5F"/>
                </a:solidFill>
              </a:rPr>
              <a:t>Regole</a:t>
            </a:r>
            <a:r>
              <a:rPr sz="3200" spc="-50" dirty="0">
                <a:solidFill>
                  <a:srgbClr val="001F5F"/>
                </a:solidFill>
              </a:rPr>
              <a:t> </a:t>
            </a:r>
            <a:r>
              <a:rPr sz="3200" dirty="0">
                <a:solidFill>
                  <a:srgbClr val="001F5F"/>
                </a:solidFill>
              </a:rPr>
              <a:t>-</a:t>
            </a:r>
            <a:r>
              <a:rPr sz="3200" spc="-10" dirty="0">
                <a:solidFill>
                  <a:srgbClr val="001F5F"/>
                </a:solidFill>
              </a:rPr>
              <a:t> </a:t>
            </a:r>
            <a:r>
              <a:rPr sz="3200" dirty="0">
                <a:solidFill>
                  <a:srgbClr val="001F5F"/>
                </a:solidFill>
              </a:rPr>
              <a:t>Documento</a:t>
            </a:r>
            <a:r>
              <a:rPr sz="3200" spc="-40" dirty="0">
                <a:solidFill>
                  <a:srgbClr val="001F5F"/>
                </a:solidFill>
              </a:rPr>
              <a:t> </a:t>
            </a:r>
            <a:r>
              <a:rPr sz="3200" spc="-10" dirty="0">
                <a:solidFill>
                  <a:srgbClr val="001F5F"/>
                </a:solidFill>
              </a:rPr>
              <a:t>informatico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970277" y="2934665"/>
            <a:ext cx="5890895" cy="415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55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2550" b="1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D5A8F"/>
                </a:solidFill>
                <a:latin typeface="Arial"/>
                <a:cs typeface="Arial"/>
              </a:rPr>
              <a:t>“tradizionale”</a:t>
            </a:r>
            <a:endParaRPr sz="25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08988" y="1417319"/>
            <a:ext cx="10165080" cy="1248410"/>
            <a:chOff x="1808988" y="1417319"/>
            <a:chExt cx="10165080" cy="1248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8988" y="1473707"/>
              <a:ext cx="10165079" cy="10378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6896" y="1417319"/>
              <a:ext cx="8689848" cy="12481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3184" y="1491995"/>
              <a:ext cx="10081260" cy="9540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53183" y="1491996"/>
            <a:ext cx="10081260" cy="954405"/>
          </a:xfrm>
          <a:prstGeom prst="rect">
            <a:avLst/>
          </a:prstGeom>
          <a:ln w="9144">
            <a:solidFill>
              <a:srgbClr val="0062C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796029" marR="991235" indent="-2800350">
              <a:lnSpc>
                <a:spcPct val="100000"/>
              </a:lnSpc>
              <a:spcBef>
                <a:spcPts val="285"/>
              </a:spcBef>
            </a:pP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Modalità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800" b="1" spc="-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rendere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b="1" spc="-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b="1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D5A8F"/>
                </a:solidFill>
                <a:latin typeface="Arial"/>
                <a:cs typeface="Arial"/>
              </a:rPr>
              <a:t>informatico immodificabile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99844" y="3977640"/>
            <a:ext cx="10379710" cy="5340985"/>
            <a:chOff x="1799844" y="3977640"/>
            <a:chExt cx="10379710" cy="534098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4412" y="8634939"/>
              <a:ext cx="10370065" cy="6836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9844" y="7700772"/>
              <a:ext cx="10379202" cy="10203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9844" y="6771132"/>
              <a:ext cx="10379202" cy="10203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9844" y="5839955"/>
              <a:ext cx="10379202" cy="10218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99844" y="4910328"/>
              <a:ext cx="10379202" cy="10203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9844" y="3977640"/>
              <a:ext cx="10379202" cy="1021841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sottoscrizione</a:t>
            </a:r>
            <a:r>
              <a:rPr spc="-60" dirty="0"/>
              <a:t> </a:t>
            </a:r>
            <a:r>
              <a:rPr dirty="0"/>
              <a:t>con</a:t>
            </a:r>
            <a:r>
              <a:rPr spc="-30" dirty="0"/>
              <a:t> </a:t>
            </a:r>
            <a:r>
              <a:rPr dirty="0"/>
              <a:t>firma</a:t>
            </a:r>
            <a:r>
              <a:rPr spc="-15" dirty="0"/>
              <a:t> </a:t>
            </a:r>
            <a:r>
              <a:rPr dirty="0"/>
              <a:t>digitale</a:t>
            </a:r>
            <a:r>
              <a:rPr spc="-10" dirty="0"/>
              <a:t> </a:t>
            </a:r>
            <a:r>
              <a:rPr dirty="0"/>
              <a:t>ovvero</a:t>
            </a:r>
            <a:r>
              <a:rPr spc="-25" dirty="0"/>
              <a:t> </a:t>
            </a:r>
            <a:r>
              <a:rPr dirty="0"/>
              <a:t>con</a:t>
            </a:r>
            <a:r>
              <a:rPr spc="-35" dirty="0"/>
              <a:t> </a:t>
            </a:r>
            <a:r>
              <a:rPr dirty="0"/>
              <a:t>firma</a:t>
            </a:r>
            <a:r>
              <a:rPr spc="-10" dirty="0"/>
              <a:t> </a:t>
            </a:r>
            <a:r>
              <a:rPr dirty="0"/>
              <a:t>elettronica</a:t>
            </a:r>
            <a:r>
              <a:rPr spc="-40" dirty="0"/>
              <a:t> </a:t>
            </a:r>
            <a:r>
              <a:rPr spc="-10" dirty="0"/>
              <a:t>qualificata</a:t>
            </a:r>
          </a:p>
          <a:p>
            <a:pPr>
              <a:lnSpc>
                <a:spcPct val="100000"/>
              </a:lnSpc>
            </a:pPr>
            <a:endParaRPr sz="220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/>
          </a:p>
          <a:p>
            <a:pPr marL="2540" algn="ctr">
              <a:lnSpc>
                <a:spcPct val="100000"/>
              </a:lnSpc>
            </a:pPr>
            <a:r>
              <a:rPr dirty="0"/>
              <a:t>apposizione</a:t>
            </a:r>
            <a:r>
              <a:rPr spc="-80" dirty="0"/>
              <a:t> </a:t>
            </a:r>
            <a:r>
              <a:rPr dirty="0"/>
              <a:t>di</a:t>
            </a:r>
            <a:r>
              <a:rPr spc="-35" dirty="0"/>
              <a:t> </a:t>
            </a:r>
            <a:r>
              <a:rPr dirty="0"/>
              <a:t>una</a:t>
            </a:r>
            <a:r>
              <a:rPr spc="-45" dirty="0"/>
              <a:t> </a:t>
            </a:r>
            <a:r>
              <a:rPr dirty="0"/>
              <a:t>validazione</a:t>
            </a:r>
            <a:r>
              <a:rPr spc="-40" dirty="0"/>
              <a:t> </a:t>
            </a:r>
            <a:r>
              <a:rPr spc="-10" dirty="0"/>
              <a:t>temporale</a:t>
            </a:r>
          </a:p>
          <a:p>
            <a:pPr marL="12700" marR="5080" indent="4445" algn="ctr">
              <a:lnSpc>
                <a:spcPct val="305200"/>
              </a:lnSpc>
            </a:pPr>
            <a:r>
              <a:rPr dirty="0"/>
              <a:t>trasferimento</a:t>
            </a:r>
            <a:r>
              <a:rPr spc="-4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soggetti</a:t>
            </a:r>
            <a:r>
              <a:rPr spc="-25" dirty="0"/>
              <a:t> </a:t>
            </a:r>
            <a:r>
              <a:rPr dirty="0"/>
              <a:t>terzi</a:t>
            </a:r>
            <a:r>
              <a:rPr spc="-30" dirty="0"/>
              <a:t> </a:t>
            </a:r>
            <a:r>
              <a:rPr dirty="0"/>
              <a:t>con</a:t>
            </a:r>
            <a:r>
              <a:rPr spc="-20" dirty="0"/>
              <a:t> </a:t>
            </a:r>
            <a:r>
              <a:rPr dirty="0"/>
              <a:t>posta</a:t>
            </a:r>
            <a:r>
              <a:rPr spc="-30" dirty="0"/>
              <a:t> </a:t>
            </a:r>
            <a:r>
              <a:rPr dirty="0"/>
              <a:t>elettronica</a:t>
            </a:r>
            <a:r>
              <a:rPr spc="-25" dirty="0"/>
              <a:t> </a:t>
            </a:r>
            <a:r>
              <a:rPr dirty="0"/>
              <a:t>certificata</a:t>
            </a:r>
            <a:r>
              <a:rPr spc="-35" dirty="0"/>
              <a:t> </a:t>
            </a:r>
            <a:r>
              <a:rPr dirty="0"/>
              <a:t>con</a:t>
            </a:r>
            <a:r>
              <a:rPr spc="-25" dirty="0"/>
              <a:t> </a:t>
            </a:r>
            <a:r>
              <a:rPr dirty="0"/>
              <a:t>ricevuta</a:t>
            </a:r>
            <a:r>
              <a:rPr spc="-30" dirty="0"/>
              <a:t> </a:t>
            </a:r>
            <a:r>
              <a:rPr spc="-10" dirty="0"/>
              <a:t>completa </a:t>
            </a:r>
            <a:r>
              <a:rPr dirty="0"/>
              <a:t>memorizzazione</a:t>
            </a:r>
            <a:r>
              <a:rPr spc="-55" dirty="0"/>
              <a:t> </a:t>
            </a:r>
            <a:r>
              <a:rPr dirty="0"/>
              <a:t>su</a:t>
            </a:r>
            <a:r>
              <a:rPr spc="-35" dirty="0"/>
              <a:t> </a:t>
            </a:r>
            <a:r>
              <a:rPr dirty="0"/>
              <a:t>sistemi</a:t>
            </a:r>
            <a:r>
              <a:rPr spc="-3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gestione</a:t>
            </a:r>
            <a:r>
              <a:rPr spc="-30" dirty="0"/>
              <a:t> </a:t>
            </a:r>
            <a:r>
              <a:rPr dirty="0"/>
              <a:t>documentale</a:t>
            </a:r>
            <a:r>
              <a:rPr spc="-55" dirty="0"/>
              <a:t> </a:t>
            </a:r>
            <a:r>
              <a:rPr dirty="0"/>
              <a:t>che</a:t>
            </a:r>
            <a:r>
              <a:rPr spc="-35" dirty="0"/>
              <a:t> </a:t>
            </a:r>
            <a:r>
              <a:rPr dirty="0"/>
              <a:t>adottino</a:t>
            </a:r>
            <a:r>
              <a:rPr spc="-25" dirty="0"/>
              <a:t> </a:t>
            </a:r>
            <a:r>
              <a:rPr dirty="0"/>
              <a:t>politiche</a:t>
            </a:r>
            <a:r>
              <a:rPr spc="-30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sicurezza </a:t>
            </a:r>
            <a:r>
              <a:rPr dirty="0"/>
              <a:t>riversamento</a:t>
            </a:r>
            <a:r>
              <a:rPr spc="-50" dirty="0"/>
              <a:t> </a:t>
            </a:r>
            <a:r>
              <a:rPr dirty="0"/>
              <a:t>ad</a:t>
            </a:r>
            <a:r>
              <a:rPr spc="-20" dirty="0"/>
              <a:t> </a:t>
            </a:r>
            <a:r>
              <a:rPr dirty="0"/>
              <a:t>un</a:t>
            </a:r>
            <a:r>
              <a:rPr spc="-5" dirty="0"/>
              <a:t> </a:t>
            </a:r>
            <a:r>
              <a:rPr dirty="0"/>
              <a:t>sistema</a:t>
            </a:r>
            <a:r>
              <a:rPr spc="-2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10" dirty="0"/>
              <a:t>conservazione</a:t>
            </a:r>
          </a:p>
          <a:p>
            <a:pPr>
              <a:lnSpc>
                <a:spcPct val="100000"/>
              </a:lnSpc>
            </a:pPr>
            <a:endParaRPr sz="2200"/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/>
          </a:p>
          <a:p>
            <a:pPr marL="1905" algn="ctr">
              <a:lnSpc>
                <a:spcPct val="100000"/>
              </a:lnSpc>
            </a:pPr>
            <a:r>
              <a:rPr dirty="0"/>
              <a:t>per</a:t>
            </a:r>
            <a:r>
              <a:rPr spc="-30" dirty="0"/>
              <a:t> </a:t>
            </a:r>
            <a:r>
              <a:rPr dirty="0"/>
              <a:t>le</a:t>
            </a:r>
            <a:r>
              <a:rPr spc="-5" dirty="0"/>
              <a:t> </a:t>
            </a:r>
            <a:r>
              <a:rPr spc="-85" dirty="0"/>
              <a:t>PA</a:t>
            </a:r>
            <a:r>
              <a:rPr spc="-114" dirty="0"/>
              <a:t> </a:t>
            </a:r>
            <a:r>
              <a:rPr dirty="0"/>
              <a:t>con</a:t>
            </a:r>
            <a:r>
              <a:rPr spc="-20" dirty="0"/>
              <a:t> </a:t>
            </a:r>
            <a:r>
              <a:rPr dirty="0"/>
              <a:t>la</a:t>
            </a:r>
            <a:r>
              <a:rPr spc="-5" dirty="0"/>
              <a:t> </a:t>
            </a:r>
            <a:r>
              <a:rPr dirty="0"/>
              <a:t>registrazione</a:t>
            </a:r>
            <a:r>
              <a:rPr spc="-45" dirty="0"/>
              <a:t> </a:t>
            </a:r>
            <a:r>
              <a:rPr dirty="0"/>
              <a:t>nel</a:t>
            </a:r>
            <a:r>
              <a:rPr spc="-10" dirty="0"/>
              <a:t> </a:t>
            </a:r>
            <a:r>
              <a:rPr dirty="0"/>
              <a:t>registro</a:t>
            </a:r>
            <a:r>
              <a:rPr spc="-3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dirty="0"/>
              <a:t>protocollo,</a:t>
            </a:r>
            <a:r>
              <a:rPr spc="-40" dirty="0"/>
              <a:t> </a:t>
            </a:r>
            <a:r>
              <a:rPr dirty="0"/>
              <a:t>repertori</a:t>
            </a:r>
            <a:r>
              <a:rPr spc="-35" dirty="0"/>
              <a:t> </a:t>
            </a:r>
            <a:r>
              <a:rPr dirty="0"/>
              <a:t>o</a:t>
            </a:r>
            <a:r>
              <a:rPr spc="-5" dirty="0"/>
              <a:t> </a:t>
            </a:r>
            <a:r>
              <a:rPr spc="-20" dirty="0"/>
              <a:t>albi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865632" y="2697479"/>
            <a:ext cx="832485" cy="1079500"/>
            <a:chOff x="865632" y="2697479"/>
            <a:chExt cx="832485" cy="1079500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5444" y="2717291"/>
              <a:ext cx="792480" cy="103105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5538" y="2707385"/>
              <a:ext cx="812800" cy="1059180"/>
            </a:xfrm>
            <a:custGeom>
              <a:avLst/>
              <a:gdLst/>
              <a:ahLst/>
              <a:cxnLst/>
              <a:rect l="l" t="t" r="r" b="b"/>
              <a:pathLst>
                <a:path w="812800" h="1059179">
                  <a:moveTo>
                    <a:pt x="0" y="1059180"/>
                  </a:moveTo>
                  <a:lnTo>
                    <a:pt x="812292" y="1059180"/>
                  </a:lnTo>
                  <a:lnTo>
                    <a:pt x="812292" y="0"/>
                  </a:lnTo>
                  <a:lnTo>
                    <a:pt x="0" y="0"/>
                  </a:lnTo>
                  <a:lnTo>
                    <a:pt x="0" y="1059180"/>
                  </a:lnTo>
                  <a:close/>
                </a:path>
              </a:pathLst>
            </a:custGeom>
            <a:ln w="19812">
              <a:solidFill>
                <a:srgbClr val="0033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082" rIns="0" bIns="0" rtlCol="0">
            <a:spAutoFit/>
          </a:bodyPr>
          <a:lstStyle/>
          <a:p>
            <a:pPr marL="116459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Regole</a:t>
            </a:r>
            <a:r>
              <a:rPr sz="3200" spc="-40" dirty="0"/>
              <a:t> </a:t>
            </a:r>
            <a:r>
              <a:rPr sz="3200" dirty="0"/>
              <a:t>- Documento</a:t>
            </a:r>
            <a:r>
              <a:rPr sz="3200" spc="-20" dirty="0"/>
              <a:t> </a:t>
            </a:r>
            <a:r>
              <a:rPr sz="3200" spc="-10" dirty="0"/>
              <a:t>informatico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155317" y="3341370"/>
            <a:ext cx="758952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Documento informatico</a:t>
            </a:r>
            <a:r>
              <a:rPr sz="2550" b="1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da</a:t>
            </a:r>
            <a:r>
              <a:rPr sz="255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550" b="1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D5A8F"/>
                </a:solidFill>
                <a:latin typeface="Arial"/>
                <a:cs typeface="Arial"/>
              </a:rPr>
              <a:t>analogico</a:t>
            </a:r>
            <a:endParaRPr sz="25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08988" y="1417319"/>
            <a:ext cx="10165080" cy="1248410"/>
            <a:chOff x="1808988" y="1417319"/>
            <a:chExt cx="10165080" cy="1248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8988" y="1473707"/>
              <a:ext cx="10165079" cy="10378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6896" y="1417319"/>
              <a:ext cx="8689848" cy="12481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3184" y="1491995"/>
              <a:ext cx="10081260" cy="9540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53183" y="1491996"/>
            <a:ext cx="10081260" cy="954405"/>
          </a:xfrm>
          <a:prstGeom prst="rect">
            <a:avLst/>
          </a:prstGeom>
          <a:ln w="9144">
            <a:solidFill>
              <a:srgbClr val="0062C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796029" marR="991235" indent="-2800350">
              <a:lnSpc>
                <a:spcPct val="100000"/>
              </a:lnSpc>
              <a:spcBef>
                <a:spcPts val="285"/>
              </a:spcBef>
            </a:pP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Modalità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800" b="1" spc="-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rendere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b="1" spc="-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b="1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D5A8F"/>
                </a:solidFill>
                <a:latin typeface="Arial"/>
                <a:cs typeface="Arial"/>
              </a:rPr>
              <a:t>informatico immodificabile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59536" y="3128772"/>
            <a:ext cx="1027430" cy="708660"/>
            <a:chOff x="859536" y="3128772"/>
            <a:chExt cx="1027430" cy="70866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439" y="3148584"/>
              <a:ext cx="904564" cy="6648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9442" y="3138678"/>
              <a:ext cx="1007744" cy="688975"/>
            </a:xfrm>
            <a:custGeom>
              <a:avLst/>
              <a:gdLst/>
              <a:ahLst/>
              <a:cxnLst/>
              <a:rect l="l" t="t" r="r" b="b"/>
              <a:pathLst>
                <a:path w="1007744" h="688975">
                  <a:moveTo>
                    <a:pt x="0" y="688848"/>
                  </a:moveTo>
                  <a:lnTo>
                    <a:pt x="1007363" y="688848"/>
                  </a:lnTo>
                  <a:lnTo>
                    <a:pt x="1007363" y="0"/>
                  </a:lnTo>
                  <a:lnTo>
                    <a:pt x="0" y="0"/>
                  </a:lnTo>
                  <a:lnTo>
                    <a:pt x="0" y="688848"/>
                  </a:lnTo>
                  <a:close/>
                </a:path>
              </a:pathLst>
            </a:custGeom>
            <a:ln w="19812">
              <a:solidFill>
                <a:srgbClr val="0D5A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55317" y="4477500"/>
            <a:ext cx="9131427" cy="217097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96896" y="4646167"/>
            <a:ext cx="8172704" cy="172021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algn="just">
              <a:lnSpc>
                <a:spcPct val="86300"/>
              </a:lnSpc>
              <a:spcBef>
                <a:spcPts val="605"/>
              </a:spcBef>
            </a:pP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memorizzazione</a:t>
            </a:r>
            <a:r>
              <a:rPr sz="3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1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31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31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gestione</a:t>
            </a:r>
            <a:r>
              <a:rPr sz="31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informatica</a:t>
            </a:r>
            <a:r>
              <a:rPr sz="31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dei</a:t>
            </a:r>
            <a:r>
              <a:rPr sz="31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documenti</a:t>
            </a:r>
            <a:r>
              <a:rPr sz="31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Arial"/>
                <a:cs typeface="Arial"/>
              </a:rPr>
              <a:t>che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garantisca</a:t>
            </a:r>
            <a:r>
              <a:rPr sz="31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l’inalterabilità</a:t>
            </a:r>
            <a:r>
              <a:rPr sz="31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31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Arial"/>
                <a:cs typeface="Arial"/>
              </a:rPr>
              <a:t>documento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3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3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3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endParaRPr sz="31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76" rIns="0" bIns="0" rtlCol="0">
            <a:spAutoFit/>
          </a:bodyPr>
          <a:lstStyle/>
          <a:p>
            <a:pPr marL="10922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Regole</a:t>
            </a:r>
            <a:r>
              <a:rPr sz="3200" spc="-65" dirty="0"/>
              <a:t> </a:t>
            </a:r>
            <a:r>
              <a:rPr sz="3200" dirty="0"/>
              <a:t>-</a:t>
            </a:r>
            <a:r>
              <a:rPr sz="3200" spc="-20" dirty="0"/>
              <a:t> </a:t>
            </a:r>
            <a:r>
              <a:rPr sz="3200" dirty="0"/>
              <a:t>Documento</a:t>
            </a:r>
            <a:r>
              <a:rPr sz="3200" spc="-45" dirty="0"/>
              <a:t> </a:t>
            </a:r>
            <a:r>
              <a:rPr sz="3200" spc="-10" dirty="0"/>
              <a:t>informatico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950" y="6717772"/>
            <a:ext cx="10845569" cy="12383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33627" y="6980682"/>
            <a:ext cx="10459085" cy="6216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372610" marR="5080" indent="-4360545">
              <a:lnSpc>
                <a:spcPts val="2170"/>
              </a:lnSpc>
              <a:spcBef>
                <a:spcPts val="459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produzione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estrazione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statica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dei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dati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il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trasferimento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della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stessa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nel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903" y="4931664"/>
            <a:ext cx="10853166" cy="18798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60119" y="5060060"/>
            <a:ext cx="10206990" cy="8972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065" marR="5080" algn="ctr">
              <a:lnSpc>
                <a:spcPts val="2170"/>
              </a:lnSpc>
              <a:spcBef>
                <a:spcPts val="459"/>
              </a:spcBef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operazione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registrazione</a:t>
            </a:r>
            <a:r>
              <a:rPr sz="2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dell’esito</a:t>
            </a:r>
            <a:r>
              <a:rPr sz="2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della</a:t>
            </a:r>
            <a:r>
              <a:rPr sz="2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medesima</a:t>
            </a:r>
            <a:r>
              <a:rPr sz="2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operazione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dall’applicazione</a:t>
            </a:r>
            <a:r>
              <a:rPr sz="2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misure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protezione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dell’integrità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delle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basi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dati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produzione</a:t>
            </a:r>
            <a:r>
              <a:rPr sz="2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dei</a:t>
            </a:r>
            <a:r>
              <a:rPr sz="2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log</a:t>
            </a:r>
            <a:r>
              <a:rPr sz="2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100" spc="-10" dirty="0">
                <a:solidFill>
                  <a:srgbClr val="FFFFFF"/>
                </a:solidFill>
                <a:latin typeface="Arial"/>
                <a:cs typeface="Arial"/>
              </a:rPr>
              <a:t> sistema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08988" y="1417319"/>
            <a:ext cx="10165080" cy="1248410"/>
            <a:chOff x="1808988" y="1417319"/>
            <a:chExt cx="10165080" cy="12484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8988" y="1473707"/>
              <a:ext cx="10165079" cy="10378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6896" y="1417319"/>
              <a:ext cx="8689848" cy="12481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3184" y="1491995"/>
              <a:ext cx="10081260" cy="9540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853183" y="1491996"/>
            <a:ext cx="10081260" cy="954405"/>
          </a:xfrm>
          <a:prstGeom prst="rect">
            <a:avLst/>
          </a:prstGeom>
          <a:ln w="9144">
            <a:solidFill>
              <a:srgbClr val="0062C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796029" marR="991235" indent="-2800350">
              <a:lnSpc>
                <a:spcPct val="100000"/>
              </a:lnSpc>
              <a:spcBef>
                <a:spcPts val="285"/>
              </a:spcBef>
            </a:pP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Modalità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800" b="1" spc="-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rendere</a:t>
            </a:r>
            <a:r>
              <a:rPr sz="28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b="1" spc="-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b="1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D5A8F"/>
                </a:solidFill>
                <a:latin typeface="Arial"/>
                <a:cs typeface="Arial"/>
              </a:rPr>
              <a:t>informatico immodificabile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4880" y="2976372"/>
            <a:ext cx="1184275" cy="975360"/>
            <a:chOff x="944880" y="2976372"/>
            <a:chExt cx="1184275" cy="9753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4692" y="2996184"/>
              <a:ext cx="1140377" cy="93573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4786" y="2986278"/>
              <a:ext cx="1164590" cy="955675"/>
            </a:xfrm>
            <a:custGeom>
              <a:avLst/>
              <a:gdLst/>
              <a:ahLst/>
              <a:cxnLst/>
              <a:rect l="l" t="t" r="r" b="b"/>
              <a:pathLst>
                <a:path w="1164589" h="955675">
                  <a:moveTo>
                    <a:pt x="0" y="955548"/>
                  </a:moveTo>
                  <a:lnTo>
                    <a:pt x="1164336" y="955548"/>
                  </a:lnTo>
                  <a:lnTo>
                    <a:pt x="1164336" y="0"/>
                  </a:lnTo>
                  <a:lnTo>
                    <a:pt x="0" y="0"/>
                  </a:lnTo>
                  <a:lnTo>
                    <a:pt x="0" y="955548"/>
                  </a:lnTo>
                  <a:close/>
                </a:path>
              </a:pathLst>
            </a:custGeom>
            <a:ln w="19811">
              <a:solidFill>
                <a:srgbClr val="0033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00908" y="3009138"/>
            <a:ext cx="903541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27225" marR="5080" indent="-1914525">
              <a:lnSpc>
                <a:spcPct val="100400"/>
              </a:lnSpc>
              <a:spcBef>
                <a:spcPts val="90"/>
              </a:spcBef>
              <a:tabLst>
                <a:tab pos="2396490" algn="l"/>
              </a:tabLst>
            </a:pP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Registrazione</a:t>
            </a:r>
            <a:r>
              <a:rPr sz="2550" b="1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informatica,</a:t>
            </a:r>
            <a:r>
              <a:rPr sz="2550" b="1" spc="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generazione</a:t>
            </a:r>
            <a:r>
              <a:rPr sz="2550" b="1" spc="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2550" b="1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D5A8F"/>
                </a:solidFill>
                <a:latin typeface="Arial"/>
                <a:cs typeface="Arial"/>
              </a:rPr>
              <a:t>raggruppamento </a:t>
            </a:r>
            <a:r>
              <a:rPr sz="2550" b="1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	insiemi</a:t>
            </a:r>
            <a:r>
              <a:rPr sz="2550" b="1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550" b="1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dati</a:t>
            </a:r>
            <a:r>
              <a:rPr sz="2550" b="1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da</a:t>
            </a:r>
            <a:r>
              <a:rPr sz="2550" b="1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basi</a:t>
            </a:r>
            <a:r>
              <a:rPr sz="2550" b="1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550" b="1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D5A8F"/>
                </a:solidFill>
                <a:latin typeface="Arial"/>
                <a:cs typeface="Arial"/>
              </a:rPr>
              <a:t>dati</a:t>
            </a:r>
            <a:r>
              <a:rPr sz="2550" b="1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D5A8F"/>
                </a:solidFill>
                <a:latin typeface="Arial"/>
                <a:cs typeface="Arial"/>
              </a:rPr>
              <a:t>(viste)</a:t>
            </a:r>
            <a:endParaRPr sz="25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912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Arial"/>
                <a:cs typeface="Arial"/>
              </a:rPr>
              <a:t>I</a:t>
            </a:r>
            <a:r>
              <a:rPr sz="3200" b="0" spc="-4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formati</a:t>
            </a:r>
            <a:r>
              <a:rPr sz="3200" b="0" spc="-5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dei</a:t>
            </a:r>
            <a:r>
              <a:rPr sz="3200" b="0" spc="-4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documenti</a:t>
            </a:r>
            <a:r>
              <a:rPr sz="3200" b="0" spc="-50" dirty="0">
                <a:latin typeface="Arial"/>
                <a:cs typeface="Arial"/>
              </a:rPr>
              <a:t> </a:t>
            </a:r>
            <a:r>
              <a:rPr sz="3200" b="0" spc="-10" dirty="0">
                <a:latin typeface="Arial"/>
                <a:cs typeface="Arial"/>
              </a:rPr>
              <a:t>informatici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3252" y="4864608"/>
            <a:ext cx="5370830" cy="2042160"/>
            <a:chOff x="873252" y="4864608"/>
            <a:chExt cx="5370830" cy="2042160"/>
          </a:xfrm>
        </p:grpSpPr>
        <p:sp>
          <p:nvSpPr>
            <p:cNvPr id="4" name="object 4"/>
            <p:cNvSpPr/>
            <p:nvPr/>
          </p:nvSpPr>
          <p:spPr>
            <a:xfrm>
              <a:off x="886206" y="4877562"/>
              <a:ext cx="5344795" cy="2016760"/>
            </a:xfrm>
            <a:custGeom>
              <a:avLst/>
              <a:gdLst/>
              <a:ahLst/>
              <a:cxnLst/>
              <a:rect l="l" t="t" r="r" b="b"/>
              <a:pathLst>
                <a:path w="5344795" h="2016759">
                  <a:moveTo>
                    <a:pt x="5142992" y="0"/>
                  </a:moveTo>
                  <a:lnTo>
                    <a:pt x="201625" y="0"/>
                  </a:lnTo>
                  <a:lnTo>
                    <a:pt x="155394" y="5326"/>
                  </a:lnTo>
                  <a:lnTo>
                    <a:pt x="112955" y="20499"/>
                  </a:lnTo>
                  <a:lnTo>
                    <a:pt x="75519" y="44307"/>
                  </a:lnTo>
                  <a:lnTo>
                    <a:pt x="44295" y="75539"/>
                  </a:lnTo>
                  <a:lnTo>
                    <a:pt x="20493" y="112985"/>
                  </a:lnTo>
                  <a:lnTo>
                    <a:pt x="5325" y="155434"/>
                  </a:lnTo>
                  <a:lnTo>
                    <a:pt x="0" y="201675"/>
                  </a:lnTo>
                  <a:lnTo>
                    <a:pt x="0" y="1814576"/>
                  </a:lnTo>
                  <a:lnTo>
                    <a:pt x="5325" y="1860817"/>
                  </a:lnTo>
                  <a:lnTo>
                    <a:pt x="20493" y="1903266"/>
                  </a:lnTo>
                  <a:lnTo>
                    <a:pt x="44295" y="1940712"/>
                  </a:lnTo>
                  <a:lnTo>
                    <a:pt x="75519" y="1971944"/>
                  </a:lnTo>
                  <a:lnTo>
                    <a:pt x="112955" y="1995752"/>
                  </a:lnTo>
                  <a:lnTo>
                    <a:pt x="155394" y="2010925"/>
                  </a:lnTo>
                  <a:lnTo>
                    <a:pt x="201625" y="2016252"/>
                  </a:lnTo>
                  <a:lnTo>
                    <a:pt x="5142992" y="2016252"/>
                  </a:lnTo>
                  <a:lnTo>
                    <a:pt x="5189233" y="2010925"/>
                  </a:lnTo>
                  <a:lnTo>
                    <a:pt x="5231682" y="1995752"/>
                  </a:lnTo>
                  <a:lnTo>
                    <a:pt x="5269128" y="1971944"/>
                  </a:lnTo>
                  <a:lnTo>
                    <a:pt x="5300360" y="1940712"/>
                  </a:lnTo>
                  <a:lnTo>
                    <a:pt x="5324168" y="1903266"/>
                  </a:lnTo>
                  <a:lnTo>
                    <a:pt x="5339341" y="1860817"/>
                  </a:lnTo>
                  <a:lnTo>
                    <a:pt x="5344668" y="1814576"/>
                  </a:lnTo>
                  <a:lnTo>
                    <a:pt x="5344668" y="201675"/>
                  </a:lnTo>
                  <a:lnTo>
                    <a:pt x="5339341" y="155434"/>
                  </a:lnTo>
                  <a:lnTo>
                    <a:pt x="5324168" y="112985"/>
                  </a:lnTo>
                  <a:lnTo>
                    <a:pt x="5300360" y="75539"/>
                  </a:lnTo>
                  <a:lnTo>
                    <a:pt x="5269128" y="44307"/>
                  </a:lnTo>
                  <a:lnTo>
                    <a:pt x="5231682" y="20499"/>
                  </a:lnTo>
                  <a:lnTo>
                    <a:pt x="5189233" y="5326"/>
                  </a:lnTo>
                  <a:lnTo>
                    <a:pt x="5142992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6206" y="4877562"/>
              <a:ext cx="5344795" cy="2016760"/>
            </a:xfrm>
            <a:custGeom>
              <a:avLst/>
              <a:gdLst/>
              <a:ahLst/>
              <a:cxnLst/>
              <a:rect l="l" t="t" r="r" b="b"/>
              <a:pathLst>
                <a:path w="5344795" h="2016759">
                  <a:moveTo>
                    <a:pt x="0" y="201675"/>
                  </a:moveTo>
                  <a:lnTo>
                    <a:pt x="5325" y="155434"/>
                  </a:lnTo>
                  <a:lnTo>
                    <a:pt x="20493" y="112985"/>
                  </a:lnTo>
                  <a:lnTo>
                    <a:pt x="44295" y="75539"/>
                  </a:lnTo>
                  <a:lnTo>
                    <a:pt x="75519" y="44307"/>
                  </a:lnTo>
                  <a:lnTo>
                    <a:pt x="112955" y="20499"/>
                  </a:lnTo>
                  <a:lnTo>
                    <a:pt x="155394" y="5326"/>
                  </a:lnTo>
                  <a:lnTo>
                    <a:pt x="201625" y="0"/>
                  </a:lnTo>
                  <a:lnTo>
                    <a:pt x="5142992" y="0"/>
                  </a:lnTo>
                  <a:lnTo>
                    <a:pt x="5189233" y="5326"/>
                  </a:lnTo>
                  <a:lnTo>
                    <a:pt x="5231682" y="20499"/>
                  </a:lnTo>
                  <a:lnTo>
                    <a:pt x="5269128" y="44307"/>
                  </a:lnTo>
                  <a:lnTo>
                    <a:pt x="5300360" y="75539"/>
                  </a:lnTo>
                  <a:lnTo>
                    <a:pt x="5324168" y="112985"/>
                  </a:lnTo>
                  <a:lnTo>
                    <a:pt x="5339341" y="155434"/>
                  </a:lnTo>
                  <a:lnTo>
                    <a:pt x="5344668" y="201675"/>
                  </a:lnTo>
                  <a:lnTo>
                    <a:pt x="5344668" y="1814576"/>
                  </a:lnTo>
                  <a:lnTo>
                    <a:pt x="5339341" y="1860817"/>
                  </a:lnTo>
                  <a:lnTo>
                    <a:pt x="5324168" y="1903266"/>
                  </a:lnTo>
                  <a:lnTo>
                    <a:pt x="5300360" y="1940712"/>
                  </a:lnTo>
                  <a:lnTo>
                    <a:pt x="5269128" y="1971944"/>
                  </a:lnTo>
                  <a:lnTo>
                    <a:pt x="5231682" y="1995752"/>
                  </a:lnTo>
                  <a:lnTo>
                    <a:pt x="5189233" y="2010925"/>
                  </a:lnTo>
                  <a:lnTo>
                    <a:pt x="5142992" y="2016252"/>
                  </a:lnTo>
                  <a:lnTo>
                    <a:pt x="201625" y="2016252"/>
                  </a:lnTo>
                  <a:lnTo>
                    <a:pt x="155394" y="2010925"/>
                  </a:lnTo>
                  <a:lnTo>
                    <a:pt x="112955" y="1995752"/>
                  </a:lnTo>
                  <a:lnTo>
                    <a:pt x="75519" y="1971944"/>
                  </a:lnTo>
                  <a:lnTo>
                    <a:pt x="44295" y="1940712"/>
                  </a:lnTo>
                  <a:lnTo>
                    <a:pt x="20493" y="1903266"/>
                  </a:lnTo>
                  <a:lnTo>
                    <a:pt x="5325" y="1860817"/>
                  </a:lnTo>
                  <a:lnTo>
                    <a:pt x="0" y="1814576"/>
                  </a:lnTo>
                  <a:lnTo>
                    <a:pt x="0" y="20167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73505" y="5159502"/>
            <a:ext cx="4364990" cy="13925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indent="1905" algn="ctr">
              <a:lnSpc>
                <a:spcPct val="86300"/>
              </a:lnSpc>
              <a:spcBef>
                <a:spcPts val="505"/>
              </a:spcBef>
            </a:pP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tenere</a:t>
            </a:r>
            <a:r>
              <a:rPr sz="2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considerazione</a:t>
            </a:r>
            <a:r>
              <a:rPr sz="2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Arial"/>
                <a:cs typeface="Arial"/>
              </a:rPr>
              <a:t>le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caratteristiche</a:t>
            </a:r>
            <a:r>
              <a:rPr sz="25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individuate</a:t>
            </a:r>
            <a:r>
              <a:rPr sz="2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nelle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regole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tecniche,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nel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della formazione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30568" y="4864608"/>
            <a:ext cx="5370830" cy="2042160"/>
            <a:chOff x="6830568" y="4864608"/>
            <a:chExt cx="5370830" cy="2042160"/>
          </a:xfrm>
        </p:grpSpPr>
        <p:sp>
          <p:nvSpPr>
            <p:cNvPr id="8" name="object 8"/>
            <p:cNvSpPr/>
            <p:nvPr/>
          </p:nvSpPr>
          <p:spPr>
            <a:xfrm>
              <a:off x="6843522" y="4877562"/>
              <a:ext cx="5344795" cy="2016760"/>
            </a:xfrm>
            <a:custGeom>
              <a:avLst/>
              <a:gdLst/>
              <a:ahLst/>
              <a:cxnLst/>
              <a:rect l="l" t="t" r="r" b="b"/>
              <a:pathLst>
                <a:path w="5344795" h="2016759">
                  <a:moveTo>
                    <a:pt x="5142992" y="0"/>
                  </a:moveTo>
                  <a:lnTo>
                    <a:pt x="201675" y="0"/>
                  </a:lnTo>
                  <a:lnTo>
                    <a:pt x="155434" y="5326"/>
                  </a:lnTo>
                  <a:lnTo>
                    <a:pt x="112985" y="20499"/>
                  </a:lnTo>
                  <a:lnTo>
                    <a:pt x="75539" y="44307"/>
                  </a:lnTo>
                  <a:lnTo>
                    <a:pt x="44307" y="75539"/>
                  </a:lnTo>
                  <a:lnTo>
                    <a:pt x="20499" y="112985"/>
                  </a:lnTo>
                  <a:lnTo>
                    <a:pt x="5326" y="155434"/>
                  </a:lnTo>
                  <a:lnTo>
                    <a:pt x="0" y="201675"/>
                  </a:lnTo>
                  <a:lnTo>
                    <a:pt x="0" y="1814576"/>
                  </a:lnTo>
                  <a:lnTo>
                    <a:pt x="5326" y="1860817"/>
                  </a:lnTo>
                  <a:lnTo>
                    <a:pt x="20499" y="1903266"/>
                  </a:lnTo>
                  <a:lnTo>
                    <a:pt x="44307" y="1940712"/>
                  </a:lnTo>
                  <a:lnTo>
                    <a:pt x="75539" y="1971944"/>
                  </a:lnTo>
                  <a:lnTo>
                    <a:pt x="112985" y="1995752"/>
                  </a:lnTo>
                  <a:lnTo>
                    <a:pt x="155434" y="2010925"/>
                  </a:lnTo>
                  <a:lnTo>
                    <a:pt x="201675" y="2016252"/>
                  </a:lnTo>
                  <a:lnTo>
                    <a:pt x="5142992" y="2016252"/>
                  </a:lnTo>
                  <a:lnTo>
                    <a:pt x="5189233" y="2010925"/>
                  </a:lnTo>
                  <a:lnTo>
                    <a:pt x="5231682" y="1995752"/>
                  </a:lnTo>
                  <a:lnTo>
                    <a:pt x="5269128" y="1971944"/>
                  </a:lnTo>
                  <a:lnTo>
                    <a:pt x="5300360" y="1940712"/>
                  </a:lnTo>
                  <a:lnTo>
                    <a:pt x="5324168" y="1903266"/>
                  </a:lnTo>
                  <a:lnTo>
                    <a:pt x="5339341" y="1860817"/>
                  </a:lnTo>
                  <a:lnTo>
                    <a:pt x="5344668" y="1814576"/>
                  </a:lnTo>
                  <a:lnTo>
                    <a:pt x="5344668" y="201675"/>
                  </a:lnTo>
                  <a:lnTo>
                    <a:pt x="5339341" y="155434"/>
                  </a:lnTo>
                  <a:lnTo>
                    <a:pt x="5324168" y="112985"/>
                  </a:lnTo>
                  <a:lnTo>
                    <a:pt x="5300360" y="75539"/>
                  </a:lnTo>
                  <a:lnTo>
                    <a:pt x="5269128" y="44307"/>
                  </a:lnTo>
                  <a:lnTo>
                    <a:pt x="5231682" y="20499"/>
                  </a:lnTo>
                  <a:lnTo>
                    <a:pt x="5189233" y="5326"/>
                  </a:lnTo>
                  <a:lnTo>
                    <a:pt x="5142992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43522" y="4877562"/>
              <a:ext cx="5344795" cy="2016760"/>
            </a:xfrm>
            <a:custGeom>
              <a:avLst/>
              <a:gdLst/>
              <a:ahLst/>
              <a:cxnLst/>
              <a:rect l="l" t="t" r="r" b="b"/>
              <a:pathLst>
                <a:path w="5344795" h="2016759">
                  <a:moveTo>
                    <a:pt x="0" y="201675"/>
                  </a:moveTo>
                  <a:lnTo>
                    <a:pt x="5326" y="155434"/>
                  </a:lnTo>
                  <a:lnTo>
                    <a:pt x="20499" y="112985"/>
                  </a:lnTo>
                  <a:lnTo>
                    <a:pt x="44307" y="75539"/>
                  </a:lnTo>
                  <a:lnTo>
                    <a:pt x="75539" y="44307"/>
                  </a:lnTo>
                  <a:lnTo>
                    <a:pt x="112985" y="20499"/>
                  </a:lnTo>
                  <a:lnTo>
                    <a:pt x="155434" y="5326"/>
                  </a:lnTo>
                  <a:lnTo>
                    <a:pt x="201675" y="0"/>
                  </a:lnTo>
                  <a:lnTo>
                    <a:pt x="5142992" y="0"/>
                  </a:lnTo>
                  <a:lnTo>
                    <a:pt x="5189233" y="5326"/>
                  </a:lnTo>
                  <a:lnTo>
                    <a:pt x="5231682" y="20499"/>
                  </a:lnTo>
                  <a:lnTo>
                    <a:pt x="5269128" y="44307"/>
                  </a:lnTo>
                  <a:lnTo>
                    <a:pt x="5300360" y="75539"/>
                  </a:lnTo>
                  <a:lnTo>
                    <a:pt x="5324168" y="112985"/>
                  </a:lnTo>
                  <a:lnTo>
                    <a:pt x="5339341" y="155434"/>
                  </a:lnTo>
                  <a:lnTo>
                    <a:pt x="5344668" y="201675"/>
                  </a:lnTo>
                  <a:lnTo>
                    <a:pt x="5344668" y="1814576"/>
                  </a:lnTo>
                  <a:lnTo>
                    <a:pt x="5339341" y="1860817"/>
                  </a:lnTo>
                  <a:lnTo>
                    <a:pt x="5324168" y="1903266"/>
                  </a:lnTo>
                  <a:lnTo>
                    <a:pt x="5300360" y="1940712"/>
                  </a:lnTo>
                  <a:lnTo>
                    <a:pt x="5269128" y="1971944"/>
                  </a:lnTo>
                  <a:lnTo>
                    <a:pt x="5231682" y="1995752"/>
                  </a:lnTo>
                  <a:lnTo>
                    <a:pt x="5189233" y="2010925"/>
                  </a:lnTo>
                  <a:lnTo>
                    <a:pt x="5142992" y="2016252"/>
                  </a:lnTo>
                  <a:lnTo>
                    <a:pt x="201675" y="2016252"/>
                  </a:lnTo>
                  <a:lnTo>
                    <a:pt x="155434" y="2010925"/>
                  </a:lnTo>
                  <a:lnTo>
                    <a:pt x="112985" y="1995752"/>
                  </a:lnTo>
                  <a:lnTo>
                    <a:pt x="75539" y="1971944"/>
                  </a:lnTo>
                  <a:lnTo>
                    <a:pt x="44307" y="1940712"/>
                  </a:lnTo>
                  <a:lnTo>
                    <a:pt x="20499" y="1903266"/>
                  </a:lnTo>
                  <a:lnTo>
                    <a:pt x="5326" y="1860817"/>
                  </a:lnTo>
                  <a:lnTo>
                    <a:pt x="0" y="1814576"/>
                  </a:lnTo>
                  <a:lnTo>
                    <a:pt x="0" y="20167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96176" y="4995164"/>
            <a:ext cx="5036185" cy="17214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indent="1270" algn="ctr">
              <a:lnSpc>
                <a:spcPct val="86300"/>
              </a:lnSpc>
              <a:spcBef>
                <a:spcPts val="505"/>
              </a:spcBef>
            </a:pP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essere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strumentale</a:t>
            </a:r>
            <a:r>
              <a:rPr sz="25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che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Arial"/>
                <a:cs typeface="Arial"/>
              </a:rPr>
              <a:t>il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documento</a:t>
            </a:r>
            <a:r>
              <a:rPr sz="25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assuma</a:t>
            </a:r>
            <a:r>
              <a:rPr sz="25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Arial"/>
                <a:cs typeface="Arial"/>
              </a:rPr>
              <a:t>le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caratteristiche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immodificabilità</a:t>
            </a:r>
            <a:r>
              <a:rPr sz="25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5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staticità</a:t>
            </a:r>
            <a:r>
              <a:rPr sz="25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nel</a:t>
            </a:r>
            <a:r>
              <a:rPr sz="25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tempo,</a:t>
            </a:r>
            <a:r>
              <a:rPr sz="25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nel</a:t>
            </a:r>
            <a:r>
              <a:rPr sz="25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25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della conservazione</a:t>
            </a:r>
            <a:endParaRPr sz="2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2895" y="2110485"/>
            <a:ext cx="59702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893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36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scelta</a:t>
            </a:r>
            <a:r>
              <a:rPr sz="36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36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formati</a:t>
            </a:r>
            <a:r>
              <a:rPr sz="3600" b="1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0D5A8F"/>
                </a:solidFill>
                <a:latin typeface="Arial"/>
                <a:cs typeface="Arial"/>
              </a:rPr>
              <a:t>dei </a:t>
            </a: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36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36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0D5A8F"/>
                </a:solidFill>
                <a:latin typeface="Arial"/>
                <a:cs typeface="Arial"/>
              </a:rPr>
              <a:t>deve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1070" y="7495793"/>
            <a:ext cx="70154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400" b="1" spc="-1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importante</a:t>
            </a:r>
            <a:r>
              <a:rPr sz="2400" b="1" spc="-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scegliere</a:t>
            </a:r>
            <a:r>
              <a:rPr sz="2400" b="1" spc="-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fin</a:t>
            </a:r>
            <a:r>
              <a:rPr sz="2400" b="1" spc="-1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dal</a:t>
            </a:r>
            <a:r>
              <a:rPr sz="2400" b="1" spc="-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momento</a:t>
            </a:r>
            <a:r>
              <a:rPr sz="2400" b="1" spc="-10" dirty="0">
                <a:solidFill>
                  <a:srgbClr val="0D5A8F"/>
                </a:solidFill>
                <a:latin typeface="Arial"/>
                <a:cs typeface="Arial"/>
              </a:rPr>
              <a:t>  della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formazione</a:t>
            </a:r>
            <a:r>
              <a:rPr sz="2400" b="1" spc="2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400" b="1" spc="2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formato</a:t>
            </a:r>
            <a:r>
              <a:rPr sz="2400" b="1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400" b="1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consenta</a:t>
            </a:r>
            <a:r>
              <a:rPr sz="2400" b="1" spc="2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b="1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D5A8F"/>
                </a:solidFill>
                <a:latin typeface="Arial"/>
                <a:cs typeface="Arial"/>
              </a:rPr>
              <a:t>ridurre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al</a:t>
            </a:r>
            <a:r>
              <a:rPr sz="24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minimo</a:t>
            </a:r>
            <a:r>
              <a:rPr sz="2400" b="1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i</a:t>
            </a:r>
            <a:r>
              <a:rPr sz="24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processi</a:t>
            </a:r>
            <a:r>
              <a:rPr sz="24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migrazione</a:t>
            </a:r>
            <a:r>
              <a:rPr sz="24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4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D5A8F"/>
                </a:solidFill>
                <a:latin typeface="Arial"/>
                <a:cs typeface="Arial"/>
              </a:rPr>
              <a:t>formati.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3" name="object 1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860" y="1542288"/>
            <a:ext cx="3713988" cy="269595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912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Arial"/>
                <a:cs typeface="Arial"/>
              </a:rPr>
              <a:t>I</a:t>
            </a:r>
            <a:r>
              <a:rPr sz="3200" b="0" spc="-4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formati</a:t>
            </a:r>
            <a:r>
              <a:rPr sz="3200" b="0" spc="-5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dei</a:t>
            </a:r>
            <a:r>
              <a:rPr sz="3200" b="0" spc="-4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documenti</a:t>
            </a:r>
            <a:r>
              <a:rPr sz="3200" b="0" spc="-50" dirty="0">
                <a:latin typeface="Arial"/>
                <a:cs typeface="Arial"/>
              </a:rPr>
              <a:t> </a:t>
            </a:r>
            <a:r>
              <a:rPr sz="3200" b="0" spc="-10" dirty="0">
                <a:latin typeface="Arial"/>
                <a:cs typeface="Arial"/>
              </a:rPr>
              <a:t>informatici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08888" y="3784091"/>
            <a:ext cx="5171440" cy="2834640"/>
            <a:chOff x="1008888" y="3784091"/>
            <a:chExt cx="5171440" cy="2834640"/>
          </a:xfrm>
        </p:grpSpPr>
        <p:sp>
          <p:nvSpPr>
            <p:cNvPr id="4" name="object 4"/>
            <p:cNvSpPr/>
            <p:nvPr/>
          </p:nvSpPr>
          <p:spPr>
            <a:xfrm>
              <a:off x="1021842" y="3797045"/>
              <a:ext cx="5145405" cy="2809240"/>
            </a:xfrm>
            <a:custGeom>
              <a:avLst/>
              <a:gdLst/>
              <a:ahLst/>
              <a:cxnLst/>
              <a:rect l="l" t="t" r="r" b="b"/>
              <a:pathLst>
                <a:path w="5145405" h="2809240">
                  <a:moveTo>
                    <a:pt x="4864100" y="0"/>
                  </a:moveTo>
                  <a:lnTo>
                    <a:pt x="280924" y="0"/>
                  </a:lnTo>
                  <a:lnTo>
                    <a:pt x="235352" y="3675"/>
                  </a:lnTo>
                  <a:lnTo>
                    <a:pt x="192123" y="14317"/>
                  </a:lnTo>
                  <a:lnTo>
                    <a:pt x="151815" y="31347"/>
                  </a:lnTo>
                  <a:lnTo>
                    <a:pt x="115005" y="54189"/>
                  </a:lnTo>
                  <a:lnTo>
                    <a:pt x="82273" y="82264"/>
                  </a:lnTo>
                  <a:lnTo>
                    <a:pt x="54196" y="114994"/>
                  </a:lnTo>
                  <a:lnTo>
                    <a:pt x="31352" y="151803"/>
                  </a:lnTo>
                  <a:lnTo>
                    <a:pt x="14319" y="192113"/>
                  </a:lnTo>
                  <a:lnTo>
                    <a:pt x="3676" y="235345"/>
                  </a:lnTo>
                  <a:lnTo>
                    <a:pt x="0" y="280924"/>
                  </a:lnTo>
                  <a:lnTo>
                    <a:pt x="0" y="2527807"/>
                  </a:lnTo>
                  <a:lnTo>
                    <a:pt x="3676" y="2573386"/>
                  </a:lnTo>
                  <a:lnTo>
                    <a:pt x="14319" y="2616618"/>
                  </a:lnTo>
                  <a:lnTo>
                    <a:pt x="31352" y="2656928"/>
                  </a:lnTo>
                  <a:lnTo>
                    <a:pt x="54196" y="2693737"/>
                  </a:lnTo>
                  <a:lnTo>
                    <a:pt x="82273" y="2726467"/>
                  </a:lnTo>
                  <a:lnTo>
                    <a:pt x="115005" y="2754542"/>
                  </a:lnTo>
                  <a:lnTo>
                    <a:pt x="151815" y="2777384"/>
                  </a:lnTo>
                  <a:lnTo>
                    <a:pt x="192123" y="2794414"/>
                  </a:lnTo>
                  <a:lnTo>
                    <a:pt x="235352" y="2805056"/>
                  </a:lnTo>
                  <a:lnTo>
                    <a:pt x="280924" y="2808731"/>
                  </a:lnTo>
                  <a:lnTo>
                    <a:pt x="4864100" y="2808731"/>
                  </a:lnTo>
                  <a:lnTo>
                    <a:pt x="4909678" y="2805056"/>
                  </a:lnTo>
                  <a:lnTo>
                    <a:pt x="4952910" y="2794414"/>
                  </a:lnTo>
                  <a:lnTo>
                    <a:pt x="4993220" y="2777384"/>
                  </a:lnTo>
                  <a:lnTo>
                    <a:pt x="5030029" y="2754542"/>
                  </a:lnTo>
                  <a:lnTo>
                    <a:pt x="5062759" y="2726467"/>
                  </a:lnTo>
                  <a:lnTo>
                    <a:pt x="5090834" y="2693737"/>
                  </a:lnTo>
                  <a:lnTo>
                    <a:pt x="5113676" y="2656928"/>
                  </a:lnTo>
                  <a:lnTo>
                    <a:pt x="5130706" y="2616618"/>
                  </a:lnTo>
                  <a:lnTo>
                    <a:pt x="5141348" y="2573386"/>
                  </a:lnTo>
                  <a:lnTo>
                    <a:pt x="5145024" y="2527807"/>
                  </a:lnTo>
                  <a:lnTo>
                    <a:pt x="5145024" y="280924"/>
                  </a:lnTo>
                  <a:lnTo>
                    <a:pt x="5141348" y="235345"/>
                  </a:lnTo>
                  <a:lnTo>
                    <a:pt x="5130706" y="192113"/>
                  </a:lnTo>
                  <a:lnTo>
                    <a:pt x="5113676" y="151803"/>
                  </a:lnTo>
                  <a:lnTo>
                    <a:pt x="5090834" y="114994"/>
                  </a:lnTo>
                  <a:lnTo>
                    <a:pt x="5062759" y="82264"/>
                  </a:lnTo>
                  <a:lnTo>
                    <a:pt x="5030029" y="54189"/>
                  </a:lnTo>
                  <a:lnTo>
                    <a:pt x="4993220" y="31347"/>
                  </a:lnTo>
                  <a:lnTo>
                    <a:pt x="4952910" y="14317"/>
                  </a:lnTo>
                  <a:lnTo>
                    <a:pt x="4909678" y="3675"/>
                  </a:lnTo>
                  <a:lnTo>
                    <a:pt x="486410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1842" y="3797045"/>
              <a:ext cx="5145405" cy="2809240"/>
            </a:xfrm>
            <a:custGeom>
              <a:avLst/>
              <a:gdLst/>
              <a:ahLst/>
              <a:cxnLst/>
              <a:rect l="l" t="t" r="r" b="b"/>
              <a:pathLst>
                <a:path w="5145405" h="2809240">
                  <a:moveTo>
                    <a:pt x="0" y="280924"/>
                  </a:moveTo>
                  <a:lnTo>
                    <a:pt x="3676" y="235345"/>
                  </a:lnTo>
                  <a:lnTo>
                    <a:pt x="14319" y="192113"/>
                  </a:lnTo>
                  <a:lnTo>
                    <a:pt x="31352" y="151803"/>
                  </a:lnTo>
                  <a:lnTo>
                    <a:pt x="54196" y="114994"/>
                  </a:lnTo>
                  <a:lnTo>
                    <a:pt x="82273" y="82264"/>
                  </a:lnTo>
                  <a:lnTo>
                    <a:pt x="115005" y="54189"/>
                  </a:lnTo>
                  <a:lnTo>
                    <a:pt x="151815" y="31347"/>
                  </a:lnTo>
                  <a:lnTo>
                    <a:pt x="192123" y="14317"/>
                  </a:lnTo>
                  <a:lnTo>
                    <a:pt x="235352" y="3675"/>
                  </a:lnTo>
                  <a:lnTo>
                    <a:pt x="280924" y="0"/>
                  </a:lnTo>
                  <a:lnTo>
                    <a:pt x="4864100" y="0"/>
                  </a:lnTo>
                  <a:lnTo>
                    <a:pt x="4909678" y="3675"/>
                  </a:lnTo>
                  <a:lnTo>
                    <a:pt x="4952910" y="14317"/>
                  </a:lnTo>
                  <a:lnTo>
                    <a:pt x="4993220" y="31347"/>
                  </a:lnTo>
                  <a:lnTo>
                    <a:pt x="5030029" y="54189"/>
                  </a:lnTo>
                  <a:lnTo>
                    <a:pt x="5062759" y="82264"/>
                  </a:lnTo>
                  <a:lnTo>
                    <a:pt x="5090834" y="114994"/>
                  </a:lnTo>
                  <a:lnTo>
                    <a:pt x="5113676" y="151803"/>
                  </a:lnTo>
                  <a:lnTo>
                    <a:pt x="5130706" y="192113"/>
                  </a:lnTo>
                  <a:lnTo>
                    <a:pt x="5141348" y="235345"/>
                  </a:lnTo>
                  <a:lnTo>
                    <a:pt x="5145024" y="280924"/>
                  </a:lnTo>
                  <a:lnTo>
                    <a:pt x="5145024" y="2527807"/>
                  </a:lnTo>
                  <a:lnTo>
                    <a:pt x="5141348" y="2573386"/>
                  </a:lnTo>
                  <a:lnTo>
                    <a:pt x="5130706" y="2616618"/>
                  </a:lnTo>
                  <a:lnTo>
                    <a:pt x="5113676" y="2656928"/>
                  </a:lnTo>
                  <a:lnTo>
                    <a:pt x="5090834" y="2693737"/>
                  </a:lnTo>
                  <a:lnTo>
                    <a:pt x="5062759" y="2726467"/>
                  </a:lnTo>
                  <a:lnTo>
                    <a:pt x="5030029" y="2754542"/>
                  </a:lnTo>
                  <a:lnTo>
                    <a:pt x="4993220" y="2777384"/>
                  </a:lnTo>
                  <a:lnTo>
                    <a:pt x="4952910" y="2794414"/>
                  </a:lnTo>
                  <a:lnTo>
                    <a:pt x="4909678" y="2805056"/>
                  </a:lnTo>
                  <a:lnTo>
                    <a:pt x="4864100" y="2808731"/>
                  </a:lnTo>
                  <a:lnTo>
                    <a:pt x="280924" y="2808731"/>
                  </a:lnTo>
                  <a:lnTo>
                    <a:pt x="235352" y="2805056"/>
                  </a:lnTo>
                  <a:lnTo>
                    <a:pt x="192123" y="2794414"/>
                  </a:lnTo>
                  <a:lnTo>
                    <a:pt x="151815" y="2777384"/>
                  </a:lnTo>
                  <a:lnTo>
                    <a:pt x="115005" y="2754542"/>
                  </a:lnTo>
                  <a:lnTo>
                    <a:pt x="82273" y="2726467"/>
                  </a:lnTo>
                  <a:lnTo>
                    <a:pt x="54196" y="2693737"/>
                  </a:lnTo>
                  <a:lnTo>
                    <a:pt x="31352" y="2656928"/>
                  </a:lnTo>
                  <a:lnTo>
                    <a:pt x="14319" y="2616618"/>
                  </a:lnTo>
                  <a:lnTo>
                    <a:pt x="3676" y="2573386"/>
                  </a:lnTo>
                  <a:lnTo>
                    <a:pt x="0" y="2527807"/>
                  </a:lnTo>
                  <a:lnTo>
                    <a:pt x="0" y="28092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68983" y="4146550"/>
            <a:ext cx="4650740" cy="20510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065" marR="5080" indent="-3810" algn="ctr">
              <a:lnSpc>
                <a:spcPct val="86300"/>
              </a:lnSpc>
              <a:spcBef>
                <a:spcPts val="505"/>
              </a:spcBef>
            </a:pP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privilegiare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formati</a:t>
            </a:r>
            <a:r>
              <a:rPr sz="2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legati</a:t>
            </a:r>
            <a:r>
              <a:rPr sz="25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standard</a:t>
            </a:r>
            <a:r>
              <a:rPr sz="2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internazionali</a:t>
            </a:r>
            <a:r>
              <a:rPr sz="25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(de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jure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facto)</a:t>
            </a:r>
            <a:r>
              <a:rPr sz="25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o,</a:t>
            </a:r>
            <a:r>
              <a:rPr sz="25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quando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necessario,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formati</a:t>
            </a:r>
            <a:r>
              <a:rPr sz="25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proprietari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25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Arial"/>
                <a:cs typeface="Arial"/>
              </a:rPr>
              <a:t>cui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specifiche</a:t>
            </a:r>
            <a:r>
              <a:rPr sz="25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tecniche</a:t>
            </a:r>
            <a:r>
              <a:rPr sz="25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siano pubbliche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01968" y="3784091"/>
            <a:ext cx="5171440" cy="2834640"/>
            <a:chOff x="6601968" y="3784091"/>
            <a:chExt cx="5171440" cy="2834640"/>
          </a:xfrm>
        </p:grpSpPr>
        <p:sp>
          <p:nvSpPr>
            <p:cNvPr id="8" name="object 8"/>
            <p:cNvSpPr/>
            <p:nvPr/>
          </p:nvSpPr>
          <p:spPr>
            <a:xfrm>
              <a:off x="6614922" y="3797045"/>
              <a:ext cx="5145405" cy="2809240"/>
            </a:xfrm>
            <a:custGeom>
              <a:avLst/>
              <a:gdLst/>
              <a:ahLst/>
              <a:cxnLst/>
              <a:rect l="l" t="t" r="r" b="b"/>
              <a:pathLst>
                <a:path w="5145405" h="2809240">
                  <a:moveTo>
                    <a:pt x="4864100" y="0"/>
                  </a:moveTo>
                  <a:lnTo>
                    <a:pt x="280924" y="0"/>
                  </a:lnTo>
                  <a:lnTo>
                    <a:pt x="235345" y="3675"/>
                  </a:lnTo>
                  <a:lnTo>
                    <a:pt x="192113" y="14317"/>
                  </a:lnTo>
                  <a:lnTo>
                    <a:pt x="151803" y="31347"/>
                  </a:lnTo>
                  <a:lnTo>
                    <a:pt x="114994" y="54189"/>
                  </a:lnTo>
                  <a:lnTo>
                    <a:pt x="82264" y="82264"/>
                  </a:lnTo>
                  <a:lnTo>
                    <a:pt x="54189" y="114994"/>
                  </a:lnTo>
                  <a:lnTo>
                    <a:pt x="31347" y="151803"/>
                  </a:lnTo>
                  <a:lnTo>
                    <a:pt x="14317" y="192113"/>
                  </a:lnTo>
                  <a:lnTo>
                    <a:pt x="3675" y="235345"/>
                  </a:lnTo>
                  <a:lnTo>
                    <a:pt x="0" y="280924"/>
                  </a:lnTo>
                  <a:lnTo>
                    <a:pt x="0" y="2527807"/>
                  </a:lnTo>
                  <a:lnTo>
                    <a:pt x="3675" y="2573386"/>
                  </a:lnTo>
                  <a:lnTo>
                    <a:pt x="14317" y="2616618"/>
                  </a:lnTo>
                  <a:lnTo>
                    <a:pt x="31347" y="2656928"/>
                  </a:lnTo>
                  <a:lnTo>
                    <a:pt x="54189" y="2693737"/>
                  </a:lnTo>
                  <a:lnTo>
                    <a:pt x="82264" y="2726467"/>
                  </a:lnTo>
                  <a:lnTo>
                    <a:pt x="114994" y="2754542"/>
                  </a:lnTo>
                  <a:lnTo>
                    <a:pt x="151803" y="2777384"/>
                  </a:lnTo>
                  <a:lnTo>
                    <a:pt x="192113" y="2794414"/>
                  </a:lnTo>
                  <a:lnTo>
                    <a:pt x="235345" y="2805056"/>
                  </a:lnTo>
                  <a:lnTo>
                    <a:pt x="280924" y="2808731"/>
                  </a:lnTo>
                  <a:lnTo>
                    <a:pt x="4864100" y="2808731"/>
                  </a:lnTo>
                  <a:lnTo>
                    <a:pt x="4909678" y="2805056"/>
                  </a:lnTo>
                  <a:lnTo>
                    <a:pt x="4952910" y="2794414"/>
                  </a:lnTo>
                  <a:lnTo>
                    <a:pt x="4993220" y="2777384"/>
                  </a:lnTo>
                  <a:lnTo>
                    <a:pt x="5030029" y="2754542"/>
                  </a:lnTo>
                  <a:lnTo>
                    <a:pt x="5062759" y="2726467"/>
                  </a:lnTo>
                  <a:lnTo>
                    <a:pt x="5090834" y="2693737"/>
                  </a:lnTo>
                  <a:lnTo>
                    <a:pt x="5113676" y="2656928"/>
                  </a:lnTo>
                  <a:lnTo>
                    <a:pt x="5130706" y="2616618"/>
                  </a:lnTo>
                  <a:lnTo>
                    <a:pt x="5141348" y="2573386"/>
                  </a:lnTo>
                  <a:lnTo>
                    <a:pt x="5145024" y="2527807"/>
                  </a:lnTo>
                  <a:lnTo>
                    <a:pt x="5145024" y="280924"/>
                  </a:lnTo>
                  <a:lnTo>
                    <a:pt x="5141348" y="235345"/>
                  </a:lnTo>
                  <a:lnTo>
                    <a:pt x="5130706" y="192113"/>
                  </a:lnTo>
                  <a:lnTo>
                    <a:pt x="5113676" y="151803"/>
                  </a:lnTo>
                  <a:lnTo>
                    <a:pt x="5090834" y="114994"/>
                  </a:lnTo>
                  <a:lnTo>
                    <a:pt x="5062759" y="82264"/>
                  </a:lnTo>
                  <a:lnTo>
                    <a:pt x="5030029" y="54189"/>
                  </a:lnTo>
                  <a:lnTo>
                    <a:pt x="4993220" y="31347"/>
                  </a:lnTo>
                  <a:lnTo>
                    <a:pt x="4952910" y="14317"/>
                  </a:lnTo>
                  <a:lnTo>
                    <a:pt x="4909678" y="3675"/>
                  </a:lnTo>
                  <a:lnTo>
                    <a:pt x="486410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14922" y="3797045"/>
              <a:ext cx="5145405" cy="2809240"/>
            </a:xfrm>
            <a:custGeom>
              <a:avLst/>
              <a:gdLst/>
              <a:ahLst/>
              <a:cxnLst/>
              <a:rect l="l" t="t" r="r" b="b"/>
              <a:pathLst>
                <a:path w="5145405" h="2809240">
                  <a:moveTo>
                    <a:pt x="0" y="280924"/>
                  </a:moveTo>
                  <a:lnTo>
                    <a:pt x="3675" y="235345"/>
                  </a:lnTo>
                  <a:lnTo>
                    <a:pt x="14317" y="192113"/>
                  </a:lnTo>
                  <a:lnTo>
                    <a:pt x="31347" y="151803"/>
                  </a:lnTo>
                  <a:lnTo>
                    <a:pt x="54189" y="114994"/>
                  </a:lnTo>
                  <a:lnTo>
                    <a:pt x="82264" y="82264"/>
                  </a:lnTo>
                  <a:lnTo>
                    <a:pt x="114994" y="54189"/>
                  </a:lnTo>
                  <a:lnTo>
                    <a:pt x="151803" y="31347"/>
                  </a:lnTo>
                  <a:lnTo>
                    <a:pt x="192113" y="14317"/>
                  </a:lnTo>
                  <a:lnTo>
                    <a:pt x="235345" y="3675"/>
                  </a:lnTo>
                  <a:lnTo>
                    <a:pt x="280924" y="0"/>
                  </a:lnTo>
                  <a:lnTo>
                    <a:pt x="4864100" y="0"/>
                  </a:lnTo>
                  <a:lnTo>
                    <a:pt x="4909678" y="3675"/>
                  </a:lnTo>
                  <a:lnTo>
                    <a:pt x="4952910" y="14317"/>
                  </a:lnTo>
                  <a:lnTo>
                    <a:pt x="4993220" y="31347"/>
                  </a:lnTo>
                  <a:lnTo>
                    <a:pt x="5030029" y="54189"/>
                  </a:lnTo>
                  <a:lnTo>
                    <a:pt x="5062759" y="82264"/>
                  </a:lnTo>
                  <a:lnTo>
                    <a:pt x="5090834" y="114994"/>
                  </a:lnTo>
                  <a:lnTo>
                    <a:pt x="5113676" y="151803"/>
                  </a:lnTo>
                  <a:lnTo>
                    <a:pt x="5130706" y="192113"/>
                  </a:lnTo>
                  <a:lnTo>
                    <a:pt x="5141348" y="235345"/>
                  </a:lnTo>
                  <a:lnTo>
                    <a:pt x="5145024" y="280924"/>
                  </a:lnTo>
                  <a:lnTo>
                    <a:pt x="5145024" y="2527807"/>
                  </a:lnTo>
                  <a:lnTo>
                    <a:pt x="5141348" y="2573386"/>
                  </a:lnTo>
                  <a:lnTo>
                    <a:pt x="5130706" y="2616618"/>
                  </a:lnTo>
                  <a:lnTo>
                    <a:pt x="5113676" y="2656928"/>
                  </a:lnTo>
                  <a:lnTo>
                    <a:pt x="5090834" y="2693737"/>
                  </a:lnTo>
                  <a:lnTo>
                    <a:pt x="5062759" y="2726467"/>
                  </a:lnTo>
                  <a:lnTo>
                    <a:pt x="5030029" y="2754542"/>
                  </a:lnTo>
                  <a:lnTo>
                    <a:pt x="4993220" y="2777384"/>
                  </a:lnTo>
                  <a:lnTo>
                    <a:pt x="4952910" y="2794414"/>
                  </a:lnTo>
                  <a:lnTo>
                    <a:pt x="4909678" y="2805056"/>
                  </a:lnTo>
                  <a:lnTo>
                    <a:pt x="4864100" y="2808731"/>
                  </a:lnTo>
                  <a:lnTo>
                    <a:pt x="280924" y="2808731"/>
                  </a:lnTo>
                  <a:lnTo>
                    <a:pt x="235345" y="2805056"/>
                  </a:lnTo>
                  <a:lnTo>
                    <a:pt x="192113" y="2794414"/>
                  </a:lnTo>
                  <a:lnTo>
                    <a:pt x="151803" y="2777384"/>
                  </a:lnTo>
                  <a:lnTo>
                    <a:pt x="114994" y="2754542"/>
                  </a:lnTo>
                  <a:lnTo>
                    <a:pt x="82264" y="2726467"/>
                  </a:lnTo>
                  <a:lnTo>
                    <a:pt x="54189" y="2693737"/>
                  </a:lnTo>
                  <a:lnTo>
                    <a:pt x="31347" y="2656928"/>
                  </a:lnTo>
                  <a:lnTo>
                    <a:pt x="14317" y="2616618"/>
                  </a:lnTo>
                  <a:lnTo>
                    <a:pt x="3675" y="2573386"/>
                  </a:lnTo>
                  <a:lnTo>
                    <a:pt x="0" y="2527807"/>
                  </a:lnTo>
                  <a:lnTo>
                    <a:pt x="0" y="28092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853173" y="4474921"/>
            <a:ext cx="4664710" cy="139255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065" marR="5080" indent="3175" algn="ctr">
              <a:lnSpc>
                <a:spcPct val="86300"/>
              </a:lnSpc>
              <a:spcBef>
                <a:spcPts val="509"/>
              </a:spcBef>
            </a:pP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analizzare</a:t>
            </a:r>
            <a:r>
              <a:rPr sz="2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il</a:t>
            </a:r>
            <a:r>
              <a:rPr sz="2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tempo</a:t>
            </a:r>
            <a:r>
              <a:rPr sz="25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r>
              <a:rPr sz="25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previsto</a:t>
            </a:r>
            <a:r>
              <a:rPr sz="25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dalla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normativa</a:t>
            </a:r>
            <a:r>
              <a:rPr sz="25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2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singole</a:t>
            </a:r>
            <a:r>
              <a:rPr sz="25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tipologie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5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FFFFFF"/>
                </a:solidFill>
                <a:latin typeface="Arial"/>
                <a:cs typeface="Arial"/>
              </a:rPr>
              <a:t>documenti</a:t>
            </a:r>
            <a:r>
              <a:rPr sz="25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informatici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108" y="1304544"/>
            <a:ext cx="3421379" cy="20878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29503" y="1945640"/>
            <a:ext cx="5078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Elementi</a:t>
            </a:r>
            <a:r>
              <a:rPr sz="36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3600" b="1" spc="-10" dirty="0">
                <a:solidFill>
                  <a:srgbClr val="0D5A8F"/>
                </a:solidFill>
                <a:latin typeface="Arial"/>
                <a:cs typeface="Arial"/>
              </a:rPr>
              <a:t>valutazione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892555" y="7134225"/>
            <a:ext cx="1086104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Formati</a:t>
            </a:r>
            <a:r>
              <a:rPr sz="2800" b="1" spc="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diversi</a:t>
            </a:r>
            <a:r>
              <a:rPr sz="2800" b="1" spc="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possono</a:t>
            </a:r>
            <a:r>
              <a:rPr sz="2800" b="1" spc="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essere</a:t>
            </a:r>
            <a:r>
              <a:rPr sz="2800" b="1" spc="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scelti</a:t>
            </a:r>
            <a:r>
              <a:rPr sz="2800" b="1" spc="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quando  la</a:t>
            </a:r>
            <a:r>
              <a:rPr sz="2800" b="1" spc="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natura</a:t>
            </a:r>
            <a:r>
              <a:rPr sz="2800" b="1" spc="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spc="-25" dirty="0">
                <a:solidFill>
                  <a:srgbClr val="0D5A8F"/>
                </a:solidFill>
                <a:latin typeface="Arial"/>
                <a:cs typeface="Arial"/>
              </a:rPr>
              <a:t>del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800" b="1" spc="1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2800" b="1" spc="1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lo</a:t>
            </a:r>
            <a:r>
              <a:rPr sz="2800" b="1" spc="1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richieda</a:t>
            </a:r>
            <a:r>
              <a:rPr sz="2800" b="1" spc="1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800" b="1" spc="1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800" b="1" spc="1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utilizzo</a:t>
            </a:r>
            <a:r>
              <a:rPr sz="2800" b="1" spc="1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specifico</a:t>
            </a:r>
            <a:r>
              <a:rPr sz="2800" b="1" spc="1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D5A8F"/>
                </a:solidFill>
                <a:latin typeface="Arial"/>
                <a:cs typeface="Arial"/>
              </a:rPr>
              <a:t>nel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suo</a:t>
            </a:r>
            <a:r>
              <a:rPr sz="2800" b="1" spc="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contesto</a:t>
            </a:r>
            <a:r>
              <a:rPr sz="2800" b="1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tipico.</a:t>
            </a:r>
            <a:r>
              <a:rPr sz="2800" b="1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2800" b="1" spc="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tal</a:t>
            </a:r>
            <a:r>
              <a:rPr sz="2800" b="1" spc="114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caso</a:t>
            </a:r>
            <a:r>
              <a:rPr sz="2800" b="1" spc="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devono</a:t>
            </a:r>
            <a:r>
              <a:rPr sz="2800" b="1" spc="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essere</a:t>
            </a:r>
            <a:r>
              <a:rPr sz="2800" b="1" spc="1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documentati</a:t>
            </a:r>
            <a:r>
              <a:rPr sz="2800" b="1" spc="1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D5A8F"/>
                </a:solidFill>
                <a:latin typeface="Arial"/>
                <a:cs typeface="Arial"/>
              </a:rPr>
              <a:t>nel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manuale</a:t>
            </a:r>
            <a:r>
              <a:rPr sz="2800" b="1" spc="19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800" b="1" spc="17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800" b="1" spc="18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2800" b="1" spc="18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800" b="1" spc="1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motivazione</a:t>
            </a:r>
            <a:r>
              <a:rPr sz="2800" b="1" spc="1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2800" b="1" spc="18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2800" b="1" spc="-10" dirty="0">
                <a:solidFill>
                  <a:srgbClr val="0D5A8F"/>
                </a:solidFill>
                <a:latin typeface="Arial"/>
                <a:cs typeface="Arial"/>
              </a:rPr>
              <a:t>scelte effettuate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973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Arial"/>
                <a:cs typeface="Arial"/>
              </a:rPr>
              <a:t>…</a:t>
            </a:r>
            <a:r>
              <a:rPr sz="3200" b="0" spc="-3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i</a:t>
            </a:r>
            <a:r>
              <a:rPr sz="3200" b="0" spc="-2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formati</a:t>
            </a:r>
            <a:r>
              <a:rPr sz="3200" b="0" spc="-45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dei</a:t>
            </a:r>
            <a:r>
              <a:rPr sz="3200" b="0" spc="-20" dirty="0">
                <a:latin typeface="Arial"/>
                <a:cs typeface="Arial"/>
              </a:rPr>
              <a:t> </a:t>
            </a:r>
            <a:r>
              <a:rPr sz="3200" b="0" dirty="0">
                <a:latin typeface="Arial"/>
                <a:cs typeface="Arial"/>
              </a:rPr>
              <a:t>documenti</a:t>
            </a:r>
            <a:r>
              <a:rPr sz="3200" b="0" spc="-45" dirty="0">
                <a:latin typeface="Arial"/>
                <a:cs typeface="Arial"/>
              </a:rPr>
              <a:t> </a:t>
            </a:r>
            <a:r>
              <a:rPr sz="3200" b="0" spc="-10" dirty="0">
                <a:latin typeface="Arial"/>
                <a:cs typeface="Arial"/>
              </a:rPr>
              <a:t>informatici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01595" y="1770888"/>
            <a:ext cx="9235440" cy="1644650"/>
            <a:chOff x="2101595" y="1770888"/>
            <a:chExt cx="9235440" cy="1644650"/>
          </a:xfrm>
        </p:grpSpPr>
        <p:sp>
          <p:nvSpPr>
            <p:cNvPr id="4" name="object 4"/>
            <p:cNvSpPr/>
            <p:nvPr/>
          </p:nvSpPr>
          <p:spPr>
            <a:xfrm>
              <a:off x="2114549" y="1783842"/>
              <a:ext cx="9210040" cy="1618615"/>
            </a:xfrm>
            <a:custGeom>
              <a:avLst/>
              <a:gdLst/>
              <a:ahLst/>
              <a:cxnLst/>
              <a:rect l="l" t="t" r="r" b="b"/>
              <a:pathLst>
                <a:path w="9210040" h="1618614">
                  <a:moveTo>
                    <a:pt x="9047734" y="0"/>
                  </a:moveTo>
                  <a:lnTo>
                    <a:pt x="161798" y="0"/>
                  </a:lnTo>
                  <a:lnTo>
                    <a:pt x="118812" y="5784"/>
                  </a:lnTo>
                  <a:lnTo>
                    <a:pt x="80169" y="22107"/>
                  </a:lnTo>
                  <a:lnTo>
                    <a:pt x="47418" y="47418"/>
                  </a:lnTo>
                  <a:lnTo>
                    <a:pt x="22107" y="80169"/>
                  </a:lnTo>
                  <a:lnTo>
                    <a:pt x="5784" y="118812"/>
                  </a:lnTo>
                  <a:lnTo>
                    <a:pt x="0" y="161798"/>
                  </a:lnTo>
                  <a:lnTo>
                    <a:pt x="0" y="1456689"/>
                  </a:lnTo>
                  <a:lnTo>
                    <a:pt x="5784" y="1499675"/>
                  </a:lnTo>
                  <a:lnTo>
                    <a:pt x="22107" y="1538318"/>
                  </a:lnTo>
                  <a:lnTo>
                    <a:pt x="47418" y="1571069"/>
                  </a:lnTo>
                  <a:lnTo>
                    <a:pt x="80169" y="1596380"/>
                  </a:lnTo>
                  <a:lnTo>
                    <a:pt x="118812" y="1612703"/>
                  </a:lnTo>
                  <a:lnTo>
                    <a:pt x="161798" y="1618487"/>
                  </a:lnTo>
                  <a:lnTo>
                    <a:pt x="9047734" y="1618487"/>
                  </a:lnTo>
                  <a:lnTo>
                    <a:pt x="9090719" y="1612703"/>
                  </a:lnTo>
                  <a:lnTo>
                    <a:pt x="9129362" y="1596380"/>
                  </a:lnTo>
                  <a:lnTo>
                    <a:pt x="9162113" y="1571069"/>
                  </a:lnTo>
                  <a:lnTo>
                    <a:pt x="9187424" y="1538318"/>
                  </a:lnTo>
                  <a:lnTo>
                    <a:pt x="9203747" y="1499675"/>
                  </a:lnTo>
                  <a:lnTo>
                    <a:pt x="9209532" y="1456689"/>
                  </a:lnTo>
                  <a:lnTo>
                    <a:pt x="9209532" y="161798"/>
                  </a:lnTo>
                  <a:lnTo>
                    <a:pt x="9203747" y="118812"/>
                  </a:lnTo>
                  <a:lnTo>
                    <a:pt x="9187424" y="80169"/>
                  </a:lnTo>
                  <a:lnTo>
                    <a:pt x="9162113" y="47418"/>
                  </a:lnTo>
                  <a:lnTo>
                    <a:pt x="9129362" y="22107"/>
                  </a:lnTo>
                  <a:lnTo>
                    <a:pt x="9090719" y="5784"/>
                  </a:lnTo>
                  <a:lnTo>
                    <a:pt x="9047734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14549" y="1783842"/>
              <a:ext cx="9210040" cy="1618615"/>
            </a:xfrm>
            <a:custGeom>
              <a:avLst/>
              <a:gdLst/>
              <a:ahLst/>
              <a:cxnLst/>
              <a:rect l="l" t="t" r="r" b="b"/>
              <a:pathLst>
                <a:path w="9210040" h="1618614">
                  <a:moveTo>
                    <a:pt x="0" y="161798"/>
                  </a:moveTo>
                  <a:lnTo>
                    <a:pt x="5784" y="118812"/>
                  </a:lnTo>
                  <a:lnTo>
                    <a:pt x="22107" y="80169"/>
                  </a:lnTo>
                  <a:lnTo>
                    <a:pt x="47418" y="47418"/>
                  </a:lnTo>
                  <a:lnTo>
                    <a:pt x="80169" y="22107"/>
                  </a:lnTo>
                  <a:lnTo>
                    <a:pt x="118812" y="5784"/>
                  </a:lnTo>
                  <a:lnTo>
                    <a:pt x="161798" y="0"/>
                  </a:lnTo>
                  <a:lnTo>
                    <a:pt x="9047734" y="0"/>
                  </a:lnTo>
                  <a:lnTo>
                    <a:pt x="9090719" y="5784"/>
                  </a:lnTo>
                  <a:lnTo>
                    <a:pt x="9129362" y="22107"/>
                  </a:lnTo>
                  <a:lnTo>
                    <a:pt x="9162113" y="47418"/>
                  </a:lnTo>
                  <a:lnTo>
                    <a:pt x="9187424" y="80169"/>
                  </a:lnTo>
                  <a:lnTo>
                    <a:pt x="9203747" y="118812"/>
                  </a:lnTo>
                  <a:lnTo>
                    <a:pt x="9209532" y="161798"/>
                  </a:lnTo>
                  <a:lnTo>
                    <a:pt x="9209532" y="1456689"/>
                  </a:lnTo>
                  <a:lnTo>
                    <a:pt x="9203747" y="1499675"/>
                  </a:lnTo>
                  <a:lnTo>
                    <a:pt x="9187424" y="1538318"/>
                  </a:lnTo>
                  <a:lnTo>
                    <a:pt x="9162113" y="1571069"/>
                  </a:lnTo>
                  <a:lnTo>
                    <a:pt x="9129362" y="1596380"/>
                  </a:lnTo>
                  <a:lnTo>
                    <a:pt x="9090719" y="1612703"/>
                  </a:lnTo>
                  <a:lnTo>
                    <a:pt x="9047734" y="1618487"/>
                  </a:lnTo>
                  <a:lnTo>
                    <a:pt x="161798" y="1618487"/>
                  </a:lnTo>
                  <a:lnTo>
                    <a:pt x="118812" y="1612703"/>
                  </a:lnTo>
                  <a:lnTo>
                    <a:pt x="80169" y="1596380"/>
                  </a:lnTo>
                  <a:lnTo>
                    <a:pt x="47418" y="1571069"/>
                  </a:lnTo>
                  <a:lnTo>
                    <a:pt x="22107" y="1538318"/>
                  </a:lnTo>
                  <a:lnTo>
                    <a:pt x="5784" y="1499675"/>
                  </a:lnTo>
                  <a:lnTo>
                    <a:pt x="0" y="1456689"/>
                  </a:lnTo>
                  <a:lnTo>
                    <a:pt x="0" y="16179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957696" y="2226944"/>
            <a:ext cx="1520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Criteri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5987" y="3870959"/>
            <a:ext cx="1850389" cy="5175885"/>
            <a:chOff x="665987" y="3870959"/>
            <a:chExt cx="1850389" cy="5175885"/>
          </a:xfrm>
        </p:grpSpPr>
        <p:sp>
          <p:nvSpPr>
            <p:cNvPr id="8" name="object 8"/>
            <p:cNvSpPr/>
            <p:nvPr/>
          </p:nvSpPr>
          <p:spPr>
            <a:xfrm>
              <a:off x="678941" y="3883913"/>
              <a:ext cx="1824355" cy="5149850"/>
            </a:xfrm>
            <a:custGeom>
              <a:avLst/>
              <a:gdLst/>
              <a:ahLst/>
              <a:cxnLst/>
              <a:rect l="l" t="t" r="r" b="b"/>
              <a:pathLst>
                <a:path w="1824355" h="5149850">
                  <a:moveTo>
                    <a:pt x="1641856" y="0"/>
                  </a:moveTo>
                  <a:lnTo>
                    <a:pt x="182422" y="0"/>
                  </a:lnTo>
                  <a:lnTo>
                    <a:pt x="133927" y="6515"/>
                  </a:lnTo>
                  <a:lnTo>
                    <a:pt x="90350" y="24901"/>
                  </a:lnTo>
                  <a:lnTo>
                    <a:pt x="53430" y="53419"/>
                  </a:lnTo>
                  <a:lnTo>
                    <a:pt x="24906" y="90329"/>
                  </a:lnTo>
                  <a:lnTo>
                    <a:pt x="6516" y="133893"/>
                  </a:lnTo>
                  <a:lnTo>
                    <a:pt x="0" y="182372"/>
                  </a:lnTo>
                  <a:lnTo>
                    <a:pt x="0" y="4967173"/>
                  </a:lnTo>
                  <a:lnTo>
                    <a:pt x="6516" y="5015668"/>
                  </a:lnTo>
                  <a:lnTo>
                    <a:pt x="24906" y="5059245"/>
                  </a:lnTo>
                  <a:lnTo>
                    <a:pt x="53430" y="5096165"/>
                  </a:lnTo>
                  <a:lnTo>
                    <a:pt x="90350" y="5124689"/>
                  </a:lnTo>
                  <a:lnTo>
                    <a:pt x="133927" y="5143079"/>
                  </a:lnTo>
                  <a:lnTo>
                    <a:pt x="182422" y="5149596"/>
                  </a:lnTo>
                  <a:lnTo>
                    <a:pt x="1641856" y="5149596"/>
                  </a:lnTo>
                  <a:lnTo>
                    <a:pt x="1690334" y="5143079"/>
                  </a:lnTo>
                  <a:lnTo>
                    <a:pt x="1733898" y="5124689"/>
                  </a:lnTo>
                  <a:lnTo>
                    <a:pt x="1770808" y="5096165"/>
                  </a:lnTo>
                  <a:lnTo>
                    <a:pt x="1799326" y="5059245"/>
                  </a:lnTo>
                  <a:lnTo>
                    <a:pt x="1817712" y="5015668"/>
                  </a:lnTo>
                  <a:lnTo>
                    <a:pt x="1824227" y="4967173"/>
                  </a:lnTo>
                  <a:lnTo>
                    <a:pt x="1824227" y="182372"/>
                  </a:lnTo>
                  <a:lnTo>
                    <a:pt x="1817712" y="133893"/>
                  </a:lnTo>
                  <a:lnTo>
                    <a:pt x="1799326" y="90329"/>
                  </a:lnTo>
                  <a:lnTo>
                    <a:pt x="1770808" y="53419"/>
                  </a:lnTo>
                  <a:lnTo>
                    <a:pt x="1733898" y="24901"/>
                  </a:lnTo>
                  <a:lnTo>
                    <a:pt x="1690334" y="6515"/>
                  </a:lnTo>
                  <a:lnTo>
                    <a:pt x="1641856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8941" y="3883913"/>
              <a:ext cx="1824355" cy="5149850"/>
            </a:xfrm>
            <a:custGeom>
              <a:avLst/>
              <a:gdLst/>
              <a:ahLst/>
              <a:cxnLst/>
              <a:rect l="l" t="t" r="r" b="b"/>
              <a:pathLst>
                <a:path w="1824355" h="5149850">
                  <a:moveTo>
                    <a:pt x="0" y="182372"/>
                  </a:moveTo>
                  <a:lnTo>
                    <a:pt x="6516" y="133893"/>
                  </a:lnTo>
                  <a:lnTo>
                    <a:pt x="24906" y="90329"/>
                  </a:lnTo>
                  <a:lnTo>
                    <a:pt x="53430" y="53419"/>
                  </a:lnTo>
                  <a:lnTo>
                    <a:pt x="90350" y="24901"/>
                  </a:lnTo>
                  <a:lnTo>
                    <a:pt x="133927" y="6515"/>
                  </a:lnTo>
                  <a:lnTo>
                    <a:pt x="182422" y="0"/>
                  </a:lnTo>
                  <a:lnTo>
                    <a:pt x="1641856" y="0"/>
                  </a:lnTo>
                  <a:lnTo>
                    <a:pt x="1690334" y="6515"/>
                  </a:lnTo>
                  <a:lnTo>
                    <a:pt x="1733898" y="24901"/>
                  </a:lnTo>
                  <a:lnTo>
                    <a:pt x="1770808" y="53419"/>
                  </a:lnTo>
                  <a:lnTo>
                    <a:pt x="1799326" y="90329"/>
                  </a:lnTo>
                  <a:lnTo>
                    <a:pt x="1817712" y="133893"/>
                  </a:lnTo>
                  <a:lnTo>
                    <a:pt x="1824227" y="182372"/>
                  </a:lnTo>
                  <a:lnTo>
                    <a:pt x="1824227" y="4967173"/>
                  </a:lnTo>
                  <a:lnTo>
                    <a:pt x="1817712" y="5015668"/>
                  </a:lnTo>
                  <a:lnTo>
                    <a:pt x="1799326" y="5059245"/>
                  </a:lnTo>
                  <a:lnTo>
                    <a:pt x="1770808" y="5096165"/>
                  </a:lnTo>
                  <a:lnTo>
                    <a:pt x="1733898" y="5124689"/>
                  </a:lnTo>
                  <a:lnTo>
                    <a:pt x="1690334" y="5143079"/>
                  </a:lnTo>
                  <a:lnTo>
                    <a:pt x="1641856" y="5149596"/>
                  </a:lnTo>
                  <a:lnTo>
                    <a:pt x="182422" y="5149596"/>
                  </a:lnTo>
                  <a:lnTo>
                    <a:pt x="133927" y="5143079"/>
                  </a:lnTo>
                  <a:lnTo>
                    <a:pt x="90350" y="5124689"/>
                  </a:lnTo>
                  <a:lnTo>
                    <a:pt x="53430" y="5096165"/>
                  </a:lnTo>
                  <a:lnTo>
                    <a:pt x="24906" y="5059245"/>
                  </a:lnTo>
                  <a:lnTo>
                    <a:pt x="6516" y="5015668"/>
                  </a:lnTo>
                  <a:lnTo>
                    <a:pt x="0" y="4967173"/>
                  </a:lnTo>
                  <a:lnTo>
                    <a:pt x="0" y="18237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2238" y="5723171"/>
            <a:ext cx="1294765" cy="128016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Apertura</a:t>
            </a:r>
            <a:endParaRPr sz="2400">
              <a:latin typeface="Arial"/>
              <a:cs typeface="Arial"/>
            </a:endParaRPr>
          </a:p>
          <a:p>
            <a:pPr marL="178435" marR="18415" indent="-96520">
              <a:lnSpc>
                <a:spcPts val="1660"/>
              </a:lnSpc>
              <a:spcBef>
                <a:spcPts val="975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(conformità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specifiche pubbliche)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44139" y="3870959"/>
            <a:ext cx="1850389" cy="5175885"/>
            <a:chOff x="2644139" y="3870959"/>
            <a:chExt cx="1850389" cy="5175885"/>
          </a:xfrm>
        </p:grpSpPr>
        <p:sp>
          <p:nvSpPr>
            <p:cNvPr id="12" name="object 12"/>
            <p:cNvSpPr/>
            <p:nvPr/>
          </p:nvSpPr>
          <p:spPr>
            <a:xfrm>
              <a:off x="2657093" y="3883913"/>
              <a:ext cx="1824355" cy="5149850"/>
            </a:xfrm>
            <a:custGeom>
              <a:avLst/>
              <a:gdLst/>
              <a:ahLst/>
              <a:cxnLst/>
              <a:rect l="l" t="t" r="r" b="b"/>
              <a:pathLst>
                <a:path w="1824354" h="5149850">
                  <a:moveTo>
                    <a:pt x="1641856" y="0"/>
                  </a:moveTo>
                  <a:lnTo>
                    <a:pt x="182372" y="0"/>
                  </a:lnTo>
                  <a:lnTo>
                    <a:pt x="133893" y="6515"/>
                  </a:lnTo>
                  <a:lnTo>
                    <a:pt x="90329" y="24901"/>
                  </a:lnTo>
                  <a:lnTo>
                    <a:pt x="53419" y="53419"/>
                  </a:lnTo>
                  <a:lnTo>
                    <a:pt x="24901" y="90329"/>
                  </a:lnTo>
                  <a:lnTo>
                    <a:pt x="6515" y="133893"/>
                  </a:lnTo>
                  <a:lnTo>
                    <a:pt x="0" y="182372"/>
                  </a:lnTo>
                  <a:lnTo>
                    <a:pt x="0" y="4967173"/>
                  </a:lnTo>
                  <a:lnTo>
                    <a:pt x="6515" y="5015668"/>
                  </a:lnTo>
                  <a:lnTo>
                    <a:pt x="24901" y="5059245"/>
                  </a:lnTo>
                  <a:lnTo>
                    <a:pt x="53419" y="5096165"/>
                  </a:lnTo>
                  <a:lnTo>
                    <a:pt x="90329" y="5124689"/>
                  </a:lnTo>
                  <a:lnTo>
                    <a:pt x="133893" y="5143079"/>
                  </a:lnTo>
                  <a:lnTo>
                    <a:pt x="182372" y="5149596"/>
                  </a:lnTo>
                  <a:lnTo>
                    <a:pt x="1641856" y="5149596"/>
                  </a:lnTo>
                  <a:lnTo>
                    <a:pt x="1690334" y="5143079"/>
                  </a:lnTo>
                  <a:lnTo>
                    <a:pt x="1733898" y="5124689"/>
                  </a:lnTo>
                  <a:lnTo>
                    <a:pt x="1770808" y="5096165"/>
                  </a:lnTo>
                  <a:lnTo>
                    <a:pt x="1799326" y="5059245"/>
                  </a:lnTo>
                  <a:lnTo>
                    <a:pt x="1817712" y="5015668"/>
                  </a:lnTo>
                  <a:lnTo>
                    <a:pt x="1824228" y="4967173"/>
                  </a:lnTo>
                  <a:lnTo>
                    <a:pt x="1824228" y="182372"/>
                  </a:lnTo>
                  <a:lnTo>
                    <a:pt x="1817712" y="133893"/>
                  </a:lnTo>
                  <a:lnTo>
                    <a:pt x="1799326" y="90329"/>
                  </a:lnTo>
                  <a:lnTo>
                    <a:pt x="1770808" y="53419"/>
                  </a:lnTo>
                  <a:lnTo>
                    <a:pt x="1733898" y="24901"/>
                  </a:lnTo>
                  <a:lnTo>
                    <a:pt x="1690334" y="6515"/>
                  </a:lnTo>
                  <a:lnTo>
                    <a:pt x="1641856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57093" y="3883913"/>
              <a:ext cx="1824355" cy="5149850"/>
            </a:xfrm>
            <a:custGeom>
              <a:avLst/>
              <a:gdLst/>
              <a:ahLst/>
              <a:cxnLst/>
              <a:rect l="l" t="t" r="r" b="b"/>
              <a:pathLst>
                <a:path w="1824354" h="5149850">
                  <a:moveTo>
                    <a:pt x="0" y="182372"/>
                  </a:moveTo>
                  <a:lnTo>
                    <a:pt x="6515" y="133893"/>
                  </a:lnTo>
                  <a:lnTo>
                    <a:pt x="24901" y="90329"/>
                  </a:lnTo>
                  <a:lnTo>
                    <a:pt x="53419" y="53419"/>
                  </a:lnTo>
                  <a:lnTo>
                    <a:pt x="90329" y="24901"/>
                  </a:lnTo>
                  <a:lnTo>
                    <a:pt x="133893" y="6515"/>
                  </a:lnTo>
                  <a:lnTo>
                    <a:pt x="182372" y="0"/>
                  </a:lnTo>
                  <a:lnTo>
                    <a:pt x="1641856" y="0"/>
                  </a:lnTo>
                  <a:lnTo>
                    <a:pt x="1690334" y="6515"/>
                  </a:lnTo>
                  <a:lnTo>
                    <a:pt x="1733898" y="24901"/>
                  </a:lnTo>
                  <a:lnTo>
                    <a:pt x="1770808" y="53419"/>
                  </a:lnTo>
                  <a:lnTo>
                    <a:pt x="1799326" y="90329"/>
                  </a:lnTo>
                  <a:lnTo>
                    <a:pt x="1817712" y="133893"/>
                  </a:lnTo>
                  <a:lnTo>
                    <a:pt x="1824228" y="182372"/>
                  </a:lnTo>
                  <a:lnTo>
                    <a:pt x="1824228" y="4967173"/>
                  </a:lnTo>
                  <a:lnTo>
                    <a:pt x="1817712" y="5015668"/>
                  </a:lnTo>
                  <a:lnTo>
                    <a:pt x="1799326" y="5059245"/>
                  </a:lnTo>
                  <a:lnTo>
                    <a:pt x="1770808" y="5096165"/>
                  </a:lnTo>
                  <a:lnTo>
                    <a:pt x="1733898" y="5124689"/>
                  </a:lnTo>
                  <a:lnTo>
                    <a:pt x="1690334" y="5143079"/>
                  </a:lnTo>
                  <a:lnTo>
                    <a:pt x="1641856" y="5149596"/>
                  </a:lnTo>
                  <a:lnTo>
                    <a:pt x="182372" y="5149596"/>
                  </a:lnTo>
                  <a:lnTo>
                    <a:pt x="133893" y="5143079"/>
                  </a:lnTo>
                  <a:lnTo>
                    <a:pt x="90329" y="5124689"/>
                  </a:lnTo>
                  <a:lnTo>
                    <a:pt x="53419" y="5096165"/>
                  </a:lnTo>
                  <a:lnTo>
                    <a:pt x="24901" y="5059245"/>
                  </a:lnTo>
                  <a:lnTo>
                    <a:pt x="6515" y="5015668"/>
                  </a:lnTo>
                  <a:lnTo>
                    <a:pt x="0" y="4967173"/>
                  </a:lnTo>
                  <a:lnTo>
                    <a:pt x="0" y="18237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05176" y="5092234"/>
            <a:ext cx="1529080" cy="254254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6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Sicurezza</a:t>
            </a:r>
            <a:endParaRPr sz="2400">
              <a:latin typeface="Arial"/>
              <a:cs typeface="Arial"/>
            </a:endParaRPr>
          </a:p>
          <a:p>
            <a:pPr marL="12700" marR="5080" indent="-3175" algn="ctr">
              <a:lnSpc>
                <a:spcPct val="86300"/>
              </a:lnSpc>
              <a:spcBef>
                <a:spcPts val="965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(grado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modificabilità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contenuto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600" spc="5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e la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capacità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essere immune dall’inserimento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codice maligno)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22291" y="3870959"/>
            <a:ext cx="2062480" cy="5175885"/>
            <a:chOff x="4622291" y="3870959"/>
            <a:chExt cx="2062480" cy="5175885"/>
          </a:xfrm>
        </p:grpSpPr>
        <p:sp>
          <p:nvSpPr>
            <p:cNvPr id="16" name="object 16"/>
            <p:cNvSpPr/>
            <p:nvPr/>
          </p:nvSpPr>
          <p:spPr>
            <a:xfrm>
              <a:off x="4635245" y="3883913"/>
              <a:ext cx="2036445" cy="5149850"/>
            </a:xfrm>
            <a:custGeom>
              <a:avLst/>
              <a:gdLst/>
              <a:ahLst/>
              <a:cxnLst/>
              <a:rect l="l" t="t" r="r" b="b"/>
              <a:pathLst>
                <a:path w="2036445" h="5149850">
                  <a:moveTo>
                    <a:pt x="1832482" y="0"/>
                  </a:moveTo>
                  <a:lnTo>
                    <a:pt x="203580" y="0"/>
                  </a:lnTo>
                  <a:lnTo>
                    <a:pt x="156914" y="5378"/>
                  </a:lnTo>
                  <a:lnTo>
                    <a:pt x="114068" y="20699"/>
                  </a:lnTo>
                  <a:lnTo>
                    <a:pt x="76268" y="44736"/>
                  </a:lnTo>
                  <a:lnTo>
                    <a:pt x="44736" y="76268"/>
                  </a:lnTo>
                  <a:lnTo>
                    <a:pt x="20699" y="114068"/>
                  </a:lnTo>
                  <a:lnTo>
                    <a:pt x="5378" y="156914"/>
                  </a:lnTo>
                  <a:lnTo>
                    <a:pt x="0" y="203581"/>
                  </a:lnTo>
                  <a:lnTo>
                    <a:pt x="0" y="4945989"/>
                  </a:lnTo>
                  <a:lnTo>
                    <a:pt x="5378" y="4992673"/>
                  </a:lnTo>
                  <a:lnTo>
                    <a:pt x="20699" y="5035529"/>
                  </a:lnTo>
                  <a:lnTo>
                    <a:pt x="44736" y="5073333"/>
                  </a:lnTo>
                  <a:lnTo>
                    <a:pt x="76268" y="5104865"/>
                  </a:lnTo>
                  <a:lnTo>
                    <a:pt x="114068" y="5128900"/>
                  </a:lnTo>
                  <a:lnTo>
                    <a:pt x="156914" y="5144218"/>
                  </a:lnTo>
                  <a:lnTo>
                    <a:pt x="203580" y="5149596"/>
                  </a:lnTo>
                  <a:lnTo>
                    <a:pt x="1832482" y="5149596"/>
                  </a:lnTo>
                  <a:lnTo>
                    <a:pt x="1879149" y="5144218"/>
                  </a:lnTo>
                  <a:lnTo>
                    <a:pt x="1921995" y="5128900"/>
                  </a:lnTo>
                  <a:lnTo>
                    <a:pt x="1959795" y="5104865"/>
                  </a:lnTo>
                  <a:lnTo>
                    <a:pt x="1991327" y="5073333"/>
                  </a:lnTo>
                  <a:lnTo>
                    <a:pt x="2015364" y="5035529"/>
                  </a:lnTo>
                  <a:lnTo>
                    <a:pt x="2030685" y="4992673"/>
                  </a:lnTo>
                  <a:lnTo>
                    <a:pt x="2036063" y="4945989"/>
                  </a:lnTo>
                  <a:lnTo>
                    <a:pt x="2036063" y="203581"/>
                  </a:lnTo>
                  <a:lnTo>
                    <a:pt x="2030685" y="156914"/>
                  </a:lnTo>
                  <a:lnTo>
                    <a:pt x="2015364" y="114068"/>
                  </a:lnTo>
                  <a:lnTo>
                    <a:pt x="1991327" y="76268"/>
                  </a:lnTo>
                  <a:lnTo>
                    <a:pt x="1959795" y="44736"/>
                  </a:lnTo>
                  <a:lnTo>
                    <a:pt x="1921995" y="20699"/>
                  </a:lnTo>
                  <a:lnTo>
                    <a:pt x="1879149" y="5378"/>
                  </a:lnTo>
                  <a:lnTo>
                    <a:pt x="1832482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35245" y="3883913"/>
              <a:ext cx="2036445" cy="5149850"/>
            </a:xfrm>
            <a:custGeom>
              <a:avLst/>
              <a:gdLst/>
              <a:ahLst/>
              <a:cxnLst/>
              <a:rect l="l" t="t" r="r" b="b"/>
              <a:pathLst>
                <a:path w="2036445" h="5149850">
                  <a:moveTo>
                    <a:pt x="0" y="203581"/>
                  </a:moveTo>
                  <a:lnTo>
                    <a:pt x="5378" y="156914"/>
                  </a:lnTo>
                  <a:lnTo>
                    <a:pt x="20699" y="114068"/>
                  </a:lnTo>
                  <a:lnTo>
                    <a:pt x="44736" y="76268"/>
                  </a:lnTo>
                  <a:lnTo>
                    <a:pt x="76268" y="44736"/>
                  </a:lnTo>
                  <a:lnTo>
                    <a:pt x="114068" y="20699"/>
                  </a:lnTo>
                  <a:lnTo>
                    <a:pt x="156914" y="5378"/>
                  </a:lnTo>
                  <a:lnTo>
                    <a:pt x="203580" y="0"/>
                  </a:lnTo>
                  <a:lnTo>
                    <a:pt x="1832482" y="0"/>
                  </a:lnTo>
                  <a:lnTo>
                    <a:pt x="1879149" y="5378"/>
                  </a:lnTo>
                  <a:lnTo>
                    <a:pt x="1921995" y="20699"/>
                  </a:lnTo>
                  <a:lnTo>
                    <a:pt x="1959795" y="44736"/>
                  </a:lnTo>
                  <a:lnTo>
                    <a:pt x="1991327" y="76268"/>
                  </a:lnTo>
                  <a:lnTo>
                    <a:pt x="2015364" y="114068"/>
                  </a:lnTo>
                  <a:lnTo>
                    <a:pt x="2030685" y="156914"/>
                  </a:lnTo>
                  <a:lnTo>
                    <a:pt x="2036063" y="203581"/>
                  </a:lnTo>
                  <a:lnTo>
                    <a:pt x="2036063" y="4945989"/>
                  </a:lnTo>
                  <a:lnTo>
                    <a:pt x="2030685" y="4992673"/>
                  </a:lnTo>
                  <a:lnTo>
                    <a:pt x="2015364" y="5035529"/>
                  </a:lnTo>
                  <a:lnTo>
                    <a:pt x="1991327" y="5073333"/>
                  </a:lnTo>
                  <a:lnTo>
                    <a:pt x="1959795" y="5104865"/>
                  </a:lnTo>
                  <a:lnTo>
                    <a:pt x="1921995" y="5128900"/>
                  </a:lnTo>
                  <a:lnTo>
                    <a:pt x="1879149" y="5144218"/>
                  </a:lnTo>
                  <a:lnTo>
                    <a:pt x="1832482" y="5149596"/>
                  </a:lnTo>
                  <a:lnTo>
                    <a:pt x="203580" y="5149596"/>
                  </a:lnTo>
                  <a:lnTo>
                    <a:pt x="156914" y="5144218"/>
                  </a:lnTo>
                  <a:lnTo>
                    <a:pt x="114068" y="5128900"/>
                  </a:lnTo>
                  <a:lnTo>
                    <a:pt x="76268" y="5104865"/>
                  </a:lnTo>
                  <a:lnTo>
                    <a:pt x="44736" y="5073333"/>
                  </a:lnTo>
                  <a:lnTo>
                    <a:pt x="20699" y="5035529"/>
                  </a:lnTo>
                  <a:lnTo>
                    <a:pt x="5378" y="4992673"/>
                  </a:lnTo>
                  <a:lnTo>
                    <a:pt x="0" y="4945989"/>
                  </a:lnTo>
                  <a:lnTo>
                    <a:pt x="0" y="20358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27523" y="5490218"/>
            <a:ext cx="1652270" cy="1780539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Portabilità</a:t>
            </a:r>
            <a:endParaRPr sz="2300">
              <a:latin typeface="Arial"/>
              <a:cs typeface="Arial"/>
            </a:endParaRPr>
          </a:p>
          <a:p>
            <a:pPr marL="12065" marR="5080" algn="ctr">
              <a:lnSpc>
                <a:spcPct val="86300"/>
              </a:lnSpc>
              <a:spcBef>
                <a:spcPts val="93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(facilità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cui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formati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possano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essere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usati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piattaforme diverse)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12280" y="3870959"/>
            <a:ext cx="2004060" cy="5175885"/>
            <a:chOff x="6812280" y="3870959"/>
            <a:chExt cx="2004060" cy="5175885"/>
          </a:xfrm>
        </p:grpSpPr>
        <p:sp>
          <p:nvSpPr>
            <p:cNvPr id="20" name="object 20"/>
            <p:cNvSpPr/>
            <p:nvPr/>
          </p:nvSpPr>
          <p:spPr>
            <a:xfrm>
              <a:off x="6825234" y="3883913"/>
              <a:ext cx="1978660" cy="5149850"/>
            </a:xfrm>
            <a:custGeom>
              <a:avLst/>
              <a:gdLst/>
              <a:ahLst/>
              <a:cxnLst/>
              <a:rect l="l" t="t" r="r" b="b"/>
              <a:pathLst>
                <a:path w="1978659" h="5149850">
                  <a:moveTo>
                    <a:pt x="1780286" y="0"/>
                  </a:moveTo>
                  <a:lnTo>
                    <a:pt x="197866" y="0"/>
                  </a:lnTo>
                  <a:lnTo>
                    <a:pt x="152475" y="5222"/>
                  </a:lnTo>
                  <a:lnTo>
                    <a:pt x="110819" y="20099"/>
                  </a:lnTo>
                  <a:lnTo>
                    <a:pt x="74082" y="43447"/>
                  </a:lnTo>
                  <a:lnTo>
                    <a:pt x="43447" y="74082"/>
                  </a:lnTo>
                  <a:lnTo>
                    <a:pt x="20099" y="110819"/>
                  </a:lnTo>
                  <a:lnTo>
                    <a:pt x="5222" y="152475"/>
                  </a:lnTo>
                  <a:lnTo>
                    <a:pt x="0" y="197865"/>
                  </a:lnTo>
                  <a:lnTo>
                    <a:pt x="0" y="4951780"/>
                  </a:lnTo>
                  <a:lnTo>
                    <a:pt x="5222" y="4997136"/>
                  </a:lnTo>
                  <a:lnTo>
                    <a:pt x="20099" y="5038772"/>
                  </a:lnTo>
                  <a:lnTo>
                    <a:pt x="43447" y="5075502"/>
                  </a:lnTo>
                  <a:lnTo>
                    <a:pt x="74082" y="5106136"/>
                  </a:lnTo>
                  <a:lnTo>
                    <a:pt x="110819" y="5129488"/>
                  </a:lnTo>
                  <a:lnTo>
                    <a:pt x="152475" y="5144371"/>
                  </a:lnTo>
                  <a:lnTo>
                    <a:pt x="197866" y="5149596"/>
                  </a:lnTo>
                  <a:lnTo>
                    <a:pt x="1780286" y="5149596"/>
                  </a:lnTo>
                  <a:lnTo>
                    <a:pt x="1825676" y="5144371"/>
                  </a:lnTo>
                  <a:lnTo>
                    <a:pt x="1867332" y="5129491"/>
                  </a:lnTo>
                  <a:lnTo>
                    <a:pt x="1904069" y="5106140"/>
                  </a:lnTo>
                  <a:lnTo>
                    <a:pt x="1934704" y="5075507"/>
                  </a:lnTo>
                  <a:lnTo>
                    <a:pt x="1958052" y="5038778"/>
                  </a:lnTo>
                  <a:lnTo>
                    <a:pt x="1972929" y="4997140"/>
                  </a:lnTo>
                  <a:lnTo>
                    <a:pt x="1978152" y="4951780"/>
                  </a:lnTo>
                  <a:lnTo>
                    <a:pt x="1978152" y="197865"/>
                  </a:lnTo>
                  <a:lnTo>
                    <a:pt x="1972929" y="152475"/>
                  </a:lnTo>
                  <a:lnTo>
                    <a:pt x="1958052" y="110819"/>
                  </a:lnTo>
                  <a:lnTo>
                    <a:pt x="1934704" y="74082"/>
                  </a:lnTo>
                  <a:lnTo>
                    <a:pt x="1904069" y="43447"/>
                  </a:lnTo>
                  <a:lnTo>
                    <a:pt x="1867332" y="20099"/>
                  </a:lnTo>
                  <a:lnTo>
                    <a:pt x="1825676" y="5222"/>
                  </a:lnTo>
                  <a:lnTo>
                    <a:pt x="1780286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5234" y="3883913"/>
              <a:ext cx="1978660" cy="5149850"/>
            </a:xfrm>
            <a:custGeom>
              <a:avLst/>
              <a:gdLst/>
              <a:ahLst/>
              <a:cxnLst/>
              <a:rect l="l" t="t" r="r" b="b"/>
              <a:pathLst>
                <a:path w="1978659" h="5149850">
                  <a:moveTo>
                    <a:pt x="0" y="197865"/>
                  </a:moveTo>
                  <a:lnTo>
                    <a:pt x="5222" y="152475"/>
                  </a:lnTo>
                  <a:lnTo>
                    <a:pt x="20099" y="110819"/>
                  </a:lnTo>
                  <a:lnTo>
                    <a:pt x="43447" y="74082"/>
                  </a:lnTo>
                  <a:lnTo>
                    <a:pt x="74082" y="43447"/>
                  </a:lnTo>
                  <a:lnTo>
                    <a:pt x="110819" y="20099"/>
                  </a:lnTo>
                  <a:lnTo>
                    <a:pt x="152475" y="5222"/>
                  </a:lnTo>
                  <a:lnTo>
                    <a:pt x="197866" y="0"/>
                  </a:lnTo>
                  <a:lnTo>
                    <a:pt x="1780286" y="0"/>
                  </a:lnTo>
                  <a:lnTo>
                    <a:pt x="1825676" y="5222"/>
                  </a:lnTo>
                  <a:lnTo>
                    <a:pt x="1867332" y="20099"/>
                  </a:lnTo>
                  <a:lnTo>
                    <a:pt x="1904069" y="43447"/>
                  </a:lnTo>
                  <a:lnTo>
                    <a:pt x="1934704" y="74082"/>
                  </a:lnTo>
                  <a:lnTo>
                    <a:pt x="1958052" y="110819"/>
                  </a:lnTo>
                  <a:lnTo>
                    <a:pt x="1972929" y="152475"/>
                  </a:lnTo>
                  <a:lnTo>
                    <a:pt x="1978152" y="197865"/>
                  </a:lnTo>
                  <a:lnTo>
                    <a:pt x="1978152" y="4951780"/>
                  </a:lnTo>
                  <a:lnTo>
                    <a:pt x="1972929" y="4997140"/>
                  </a:lnTo>
                  <a:lnTo>
                    <a:pt x="1958052" y="5038778"/>
                  </a:lnTo>
                  <a:lnTo>
                    <a:pt x="1934704" y="5075507"/>
                  </a:lnTo>
                  <a:lnTo>
                    <a:pt x="1904069" y="5106140"/>
                  </a:lnTo>
                  <a:lnTo>
                    <a:pt x="1867332" y="5129491"/>
                  </a:lnTo>
                  <a:lnTo>
                    <a:pt x="1825676" y="5144371"/>
                  </a:lnTo>
                  <a:lnTo>
                    <a:pt x="1780286" y="5149596"/>
                  </a:lnTo>
                  <a:lnTo>
                    <a:pt x="197866" y="5149596"/>
                  </a:lnTo>
                  <a:lnTo>
                    <a:pt x="152475" y="5144371"/>
                  </a:lnTo>
                  <a:lnTo>
                    <a:pt x="110819" y="5129488"/>
                  </a:lnTo>
                  <a:lnTo>
                    <a:pt x="74082" y="5106136"/>
                  </a:lnTo>
                  <a:lnTo>
                    <a:pt x="43447" y="5075502"/>
                  </a:lnTo>
                  <a:lnTo>
                    <a:pt x="20099" y="5038772"/>
                  </a:lnTo>
                  <a:lnTo>
                    <a:pt x="5222" y="4997136"/>
                  </a:lnTo>
                  <a:lnTo>
                    <a:pt x="0" y="4951780"/>
                  </a:lnTo>
                  <a:lnTo>
                    <a:pt x="0" y="19786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85761" y="5631533"/>
            <a:ext cx="1654810" cy="151257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Funzionalità</a:t>
            </a:r>
            <a:endParaRPr sz="2200">
              <a:latin typeface="Arial"/>
              <a:cs typeface="Arial"/>
            </a:endParaRPr>
          </a:p>
          <a:p>
            <a:pPr marL="66040" marR="54610" algn="ctr">
              <a:lnSpc>
                <a:spcPct val="86300"/>
              </a:lnSpc>
              <a:spcBef>
                <a:spcPts val="885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(varietà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funzioni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messe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disposizione dell’utente)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942831" y="3870959"/>
            <a:ext cx="1851660" cy="5175885"/>
            <a:chOff x="8942831" y="3870959"/>
            <a:chExt cx="1851660" cy="5175885"/>
          </a:xfrm>
        </p:grpSpPr>
        <p:sp>
          <p:nvSpPr>
            <p:cNvPr id="24" name="object 24"/>
            <p:cNvSpPr/>
            <p:nvPr/>
          </p:nvSpPr>
          <p:spPr>
            <a:xfrm>
              <a:off x="8955785" y="3883913"/>
              <a:ext cx="1826260" cy="5149850"/>
            </a:xfrm>
            <a:custGeom>
              <a:avLst/>
              <a:gdLst/>
              <a:ahLst/>
              <a:cxnLst/>
              <a:rect l="l" t="t" r="r" b="b"/>
              <a:pathLst>
                <a:path w="1826259" h="5149850">
                  <a:moveTo>
                    <a:pt x="1643126" y="0"/>
                  </a:moveTo>
                  <a:lnTo>
                    <a:pt x="182625" y="0"/>
                  </a:lnTo>
                  <a:lnTo>
                    <a:pt x="134084" y="6525"/>
                  </a:lnTo>
                  <a:lnTo>
                    <a:pt x="90461" y="24939"/>
                  </a:lnTo>
                  <a:lnTo>
                    <a:pt x="53498" y="53498"/>
                  </a:lnTo>
                  <a:lnTo>
                    <a:pt x="24939" y="90461"/>
                  </a:lnTo>
                  <a:lnTo>
                    <a:pt x="6525" y="134084"/>
                  </a:lnTo>
                  <a:lnTo>
                    <a:pt x="0" y="182625"/>
                  </a:lnTo>
                  <a:lnTo>
                    <a:pt x="0" y="4967020"/>
                  </a:lnTo>
                  <a:lnTo>
                    <a:pt x="6525" y="5015558"/>
                  </a:lnTo>
                  <a:lnTo>
                    <a:pt x="24939" y="5059172"/>
                  </a:lnTo>
                  <a:lnTo>
                    <a:pt x="53498" y="5096122"/>
                  </a:lnTo>
                  <a:lnTo>
                    <a:pt x="90461" y="5124670"/>
                  </a:lnTo>
                  <a:lnTo>
                    <a:pt x="134084" y="5143074"/>
                  </a:lnTo>
                  <a:lnTo>
                    <a:pt x="182625" y="5149596"/>
                  </a:lnTo>
                  <a:lnTo>
                    <a:pt x="1643126" y="5149596"/>
                  </a:lnTo>
                  <a:lnTo>
                    <a:pt x="1691667" y="5143074"/>
                  </a:lnTo>
                  <a:lnTo>
                    <a:pt x="1735290" y="5124670"/>
                  </a:lnTo>
                  <a:lnTo>
                    <a:pt x="1772253" y="5096122"/>
                  </a:lnTo>
                  <a:lnTo>
                    <a:pt x="1800812" y="5059172"/>
                  </a:lnTo>
                  <a:lnTo>
                    <a:pt x="1819226" y="5015558"/>
                  </a:lnTo>
                  <a:lnTo>
                    <a:pt x="1825752" y="4967020"/>
                  </a:lnTo>
                  <a:lnTo>
                    <a:pt x="1825752" y="182625"/>
                  </a:lnTo>
                  <a:lnTo>
                    <a:pt x="1819226" y="134084"/>
                  </a:lnTo>
                  <a:lnTo>
                    <a:pt x="1800812" y="90461"/>
                  </a:lnTo>
                  <a:lnTo>
                    <a:pt x="1772253" y="53498"/>
                  </a:lnTo>
                  <a:lnTo>
                    <a:pt x="1735290" y="24939"/>
                  </a:lnTo>
                  <a:lnTo>
                    <a:pt x="1691667" y="6525"/>
                  </a:lnTo>
                  <a:lnTo>
                    <a:pt x="1643126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55785" y="3883913"/>
              <a:ext cx="1826260" cy="5149850"/>
            </a:xfrm>
            <a:custGeom>
              <a:avLst/>
              <a:gdLst/>
              <a:ahLst/>
              <a:cxnLst/>
              <a:rect l="l" t="t" r="r" b="b"/>
              <a:pathLst>
                <a:path w="1826259" h="5149850">
                  <a:moveTo>
                    <a:pt x="0" y="182625"/>
                  </a:moveTo>
                  <a:lnTo>
                    <a:pt x="6525" y="134084"/>
                  </a:lnTo>
                  <a:lnTo>
                    <a:pt x="24939" y="90461"/>
                  </a:lnTo>
                  <a:lnTo>
                    <a:pt x="53498" y="53498"/>
                  </a:lnTo>
                  <a:lnTo>
                    <a:pt x="90461" y="24939"/>
                  </a:lnTo>
                  <a:lnTo>
                    <a:pt x="134084" y="6525"/>
                  </a:lnTo>
                  <a:lnTo>
                    <a:pt x="182625" y="0"/>
                  </a:lnTo>
                  <a:lnTo>
                    <a:pt x="1643126" y="0"/>
                  </a:lnTo>
                  <a:lnTo>
                    <a:pt x="1691667" y="6525"/>
                  </a:lnTo>
                  <a:lnTo>
                    <a:pt x="1735290" y="24939"/>
                  </a:lnTo>
                  <a:lnTo>
                    <a:pt x="1772253" y="53498"/>
                  </a:lnTo>
                  <a:lnTo>
                    <a:pt x="1800812" y="90461"/>
                  </a:lnTo>
                  <a:lnTo>
                    <a:pt x="1819226" y="134084"/>
                  </a:lnTo>
                  <a:lnTo>
                    <a:pt x="1825752" y="182625"/>
                  </a:lnTo>
                  <a:lnTo>
                    <a:pt x="1825752" y="4967020"/>
                  </a:lnTo>
                  <a:lnTo>
                    <a:pt x="1819226" y="5015558"/>
                  </a:lnTo>
                  <a:lnTo>
                    <a:pt x="1800812" y="5059172"/>
                  </a:lnTo>
                  <a:lnTo>
                    <a:pt x="1772253" y="5096122"/>
                  </a:lnTo>
                  <a:lnTo>
                    <a:pt x="1735290" y="5124670"/>
                  </a:lnTo>
                  <a:lnTo>
                    <a:pt x="1691667" y="5143074"/>
                  </a:lnTo>
                  <a:lnTo>
                    <a:pt x="1643126" y="5149596"/>
                  </a:lnTo>
                  <a:lnTo>
                    <a:pt x="182625" y="5149596"/>
                  </a:lnTo>
                  <a:lnTo>
                    <a:pt x="134084" y="5143074"/>
                  </a:lnTo>
                  <a:lnTo>
                    <a:pt x="90461" y="5124670"/>
                  </a:lnTo>
                  <a:lnTo>
                    <a:pt x="53498" y="5096122"/>
                  </a:lnTo>
                  <a:lnTo>
                    <a:pt x="24939" y="5059172"/>
                  </a:lnTo>
                  <a:lnTo>
                    <a:pt x="6525" y="5015558"/>
                  </a:lnTo>
                  <a:lnTo>
                    <a:pt x="0" y="4967020"/>
                  </a:lnTo>
                  <a:lnTo>
                    <a:pt x="0" y="1826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107169" y="4990287"/>
            <a:ext cx="1524635" cy="28809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85725" marR="76835" algn="ctr">
              <a:lnSpc>
                <a:spcPct val="86300"/>
              </a:lnSpc>
              <a:spcBef>
                <a:spcPts val="4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Supporto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allo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sviluppo</a:t>
            </a:r>
            <a:endParaRPr sz="2400">
              <a:latin typeface="Arial"/>
              <a:cs typeface="Arial"/>
            </a:endParaRPr>
          </a:p>
          <a:p>
            <a:pPr marL="12065" marR="5080" indent="84455" algn="ctr">
              <a:lnSpc>
                <a:spcPct val="87200"/>
              </a:lnSpc>
              <a:spcBef>
                <a:spcPts val="144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(modalità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messe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disposizione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ai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fini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della manutenzione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sviluppo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formato)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922507" y="3870959"/>
            <a:ext cx="1850389" cy="5175885"/>
            <a:chOff x="10922507" y="3870959"/>
            <a:chExt cx="1850389" cy="5175885"/>
          </a:xfrm>
        </p:grpSpPr>
        <p:sp>
          <p:nvSpPr>
            <p:cNvPr id="28" name="object 28"/>
            <p:cNvSpPr/>
            <p:nvPr/>
          </p:nvSpPr>
          <p:spPr>
            <a:xfrm>
              <a:off x="10935461" y="3883913"/>
              <a:ext cx="1824355" cy="5149850"/>
            </a:xfrm>
            <a:custGeom>
              <a:avLst/>
              <a:gdLst/>
              <a:ahLst/>
              <a:cxnLst/>
              <a:rect l="l" t="t" r="r" b="b"/>
              <a:pathLst>
                <a:path w="1824354" h="5149850">
                  <a:moveTo>
                    <a:pt x="1641856" y="0"/>
                  </a:moveTo>
                  <a:lnTo>
                    <a:pt x="182372" y="0"/>
                  </a:lnTo>
                  <a:lnTo>
                    <a:pt x="133893" y="6515"/>
                  </a:lnTo>
                  <a:lnTo>
                    <a:pt x="90329" y="24901"/>
                  </a:lnTo>
                  <a:lnTo>
                    <a:pt x="53419" y="53419"/>
                  </a:lnTo>
                  <a:lnTo>
                    <a:pt x="24901" y="90329"/>
                  </a:lnTo>
                  <a:lnTo>
                    <a:pt x="6515" y="133893"/>
                  </a:lnTo>
                  <a:lnTo>
                    <a:pt x="0" y="182372"/>
                  </a:lnTo>
                  <a:lnTo>
                    <a:pt x="0" y="4967173"/>
                  </a:lnTo>
                  <a:lnTo>
                    <a:pt x="6515" y="5015668"/>
                  </a:lnTo>
                  <a:lnTo>
                    <a:pt x="24901" y="5059245"/>
                  </a:lnTo>
                  <a:lnTo>
                    <a:pt x="53419" y="5096165"/>
                  </a:lnTo>
                  <a:lnTo>
                    <a:pt x="90329" y="5124689"/>
                  </a:lnTo>
                  <a:lnTo>
                    <a:pt x="133893" y="5143079"/>
                  </a:lnTo>
                  <a:lnTo>
                    <a:pt x="182372" y="5149596"/>
                  </a:lnTo>
                  <a:lnTo>
                    <a:pt x="1641856" y="5149596"/>
                  </a:lnTo>
                  <a:lnTo>
                    <a:pt x="1690334" y="5143079"/>
                  </a:lnTo>
                  <a:lnTo>
                    <a:pt x="1733898" y="5124689"/>
                  </a:lnTo>
                  <a:lnTo>
                    <a:pt x="1770808" y="5096165"/>
                  </a:lnTo>
                  <a:lnTo>
                    <a:pt x="1799326" y="5059245"/>
                  </a:lnTo>
                  <a:lnTo>
                    <a:pt x="1817712" y="5015668"/>
                  </a:lnTo>
                  <a:lnTo>
                    <a:pt x="1824228" y="4967173"/>
                  </a:lnTo>
                  <a:lnTo>
                    <a:pt x="1824228" y="182372"/>
                  </a:lnTo>
                  <a:lnTo>
                    <a:pt x="1817712" y="133893"/>
                  </a:lnTo>
                  <a:lnTo>
                    <a:pt x="1799326" y="90329"/>
                  </a:lnTo>
                  <a:lnTo>
                    <a:pt x="1770808" y="53419"/>
                  </a:lnTo>
                  <a:lnTo>
                    <a:pt x="1733898" y="24901"/>
                  </a:lnTo>
                  <a:lnTo>
                    <a:pt x="1690334" y="6515"/>
                  </a:lnTo>
                  <a:lnTo>
                    <a:pt x="1641856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935461" y="3883913"/>
              <a:ext cx="1824355" cy="5149850"/>
            </a:xfrm>
            <a:custGeom>
              <a:avLst/>
              <a:gdLst/>
              <a:ahLst/>
              <a:cxnLst/>
              <a:rect l="l" t="t" r="r" b="b"/>
              <a:pathLst>
                <a:path w="1824354" h="5149850">
                  <a:moveTo>
                    <a:pt x="0" y="182372"/>
                  </a:moveTo>
                  <a:lnTo>
                    <a:pt x="6515" y="133893"/>
                  </a:lnTo>
                  <a:lnTo>
                    <a:pt x="24901" y="90329"/>
                  </a:lnTo>
                  <a:lnTo>
                    <a:pt x="53419" y="53419"/>
                  </a:lnTo>
                  <a:lnTo>
                    <a:pt x="90329" y="24901"/>
                  </a:lnTo>
                  <a:lnTo>
                    <a:pt x="133893" y="6515"/>
                  </a:lnTo>
                  <a:lnTo>
                    <a:pt x="182372" y="0"/>
                  </a:lnTo>
                  <a:lnTo>
                    <a:pt x="1641856" y="0"/>
                  </a:lnTo>
                  <a:lnTo>
                    <a:pt x="1690334" y="6515"/>
                  </a:lnTo>
                  <a:lnTo>
                    <a:pt x="1733898" y="24901"/>
                  </a:lnTo>
                  <a:lnTo>
                    <a:pt x="1770808" y="53419"/>
                  </a:lnTo>
                  <a:lnTo>
                    <a:pt x="1799326" y="90329"/>
                  </a:lnTo>
                  <a:lnTo>
                    <a:pt x="1817712" y="133893"/>
                  </a:lnTo>
                  <a:lnTo>
                    <a:pt x="1824228" y="182372"/>
                  </a:lnTo>
                  <a:lnTo>
                    <a:pt x="1824228" y="4967173"/>
                  </a:lnTo>
                  <a:lnTo>
                    <a:pt x="1817712" y="5015668"/>
                  </a:lnTo>
                  <a:lnTo>
                    <a:pt x="1799326" y="5059245"/>
                  </a:lnTo>
                  <a:lnTo>
                    <a:pt x="1770808" y="5096165"/>
                  </a:lnTo>
                  <a:lnTo>
                    <a:pt x="1733898" y="5124689"/>
                  </a:lnTo>
                  <a:lnTo>
                    <a:pt x="1690334" y="5143079"/>
                  </a:lnTo>
                  <a:lnTo>
                    <a:pt x="1641856" y="5149596"/>
                  </a:lnTo>
                  <a:lnTo>
                    <a:pt x="182372" y="5149596"/>
                  </a:lnTo>
                  <a:lnTo>
                    <a:pt x="133893" y="5143079"/>
                  </a:lnTo>
                  <a:lnTo>
                    <a:pt x="90329" y="5124689"/>
                  </a:lnTo>
                  <a:lnTo>
                    <a:pt x="53419" y="5096165"/>
                  </a:lnTo>
                  <a:lnTo>
                    <a:pt x="24901" y="5059245"/>
                  </a:lnTo>
                  <a:lnTo>
                    <a:pt x="6515" y="5015668"/>
                  </a:lnTo>
                  <a:lnTo>
                    <a:pt x="0" y="4967173"/>
                  </a:lnTo>
                  <a:lnTo>
                    <a:pt x="0" y="18237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090529" y="5344736"/>
            <a:ext cx="1530350" cy="202692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124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Diffusione</a:t>
            </a:r>
            <a:endParaRPr sz="2400">
              <a:latin typeface="Arial"/>
              <a:cs typeface="Arial"/>
            </a:endParaRPr>
          </a:p>
          <a:p>
            <a:pPr marL="85725" marR="5080" algn="ctr">
              <a:lnSpc>
                <a:spcPct val="87100"/>
              </a:lnSpc>
              <a:spcBef>
                <a:spcPts val="12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(l’estensione dell’impiego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uno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specifico formato)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" y="0"/>
            <a:ext cx="12850495" cy="1934210"/>
            <a:chOff x="137160" y="0"/>
            <a:chExt cx="12850495" cy="193421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87328" y="0"/>
              <a:ext cx="1600200" cy="19339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347" y="1454658"/>
              <a:ext cx="202691" cy="2133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0431" rIns="0" bIns="0" rtlCol="0">
            <a:spAutoFit/>
          </a:bodyPr>
          <a:lstStyle/>
          <a:p>
            <a:pPr marL="1932939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I </a:t>
            </a:r>
            <a:r>
              <a:rPr sz="3200" spc="-10" dirty="0"/>
              <a:t>metadati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1277492" y="1348815"/>
            <a:ext cx="10800080" cy="127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  <a:tab pos="1609725" algn="l"/>
                <a:tab pos="2018030" algn="l"/>
                <a:tab pos="2528570" algn="l"/>
                <a:tab pos="4210050" algn="l"/>
                <a:tab pos="5874385" algn="l"/>
                <a:tab pos="6706234" algn="l"/>
                <a:tab pos="8131175" algn="l"/>
                <a:tab pos="8796020" algn="l"/>
                <a:tab pos="10544175" algn="l"/>
              </a:tabLst>
            </a:pPr>
            <a:r>
              <a:rPr sz="2400" spc="-50" dirty="0">
                <a:solidFill>
                  <a:srgbClr val="0D5A8F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metadati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sono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strumenti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consento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  <a:hlinkClick r:id="rId2"/>
              </a:rPr>
              <a:t>no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  <a:hlinkClick r:id="rId2"/>
              </a:rPr>
              <a:t>	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  <a:hlinkClick r:id="rId2"/>
              </a:rPr>
              <a:t>di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comprenderne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il contenuto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interpretarne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relazioni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tra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correlati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</a:t>
            </a:r>
            <a:r>
              <a:rPr sz="2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metadati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consentono</a:t>
            </a:r>
            <a:r>
              <a:rPr sz="24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raggiungimento</a:t>
            </a:r>
            <a:r>
              <a:rPr sz="24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alcuni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obiettivi: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347" y="2338577"/>
            <a:ext cx="202691" cy="2133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0086" y="2600277"/>
            <a:ext cx="10828020" cy="1854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76555" indent="-364490">
              <a:lnSpc>
                <a:spcPct val="100000"/>
              </a:lnSpc>
              <a:spcBef>
                <a:spcPts val="1295"/>
              </a:spcBef>
              <a:buFont typeface="Wingdings"/>
              <a:buChar char=""/>
              <a:tabLst>
                <a:tab pos="376555" algn="l"/>
                <a:tab pos="377190" algn="l"/>
              </a:tabLst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Ricerca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,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individuare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l’esistenza</a:t>
            </a:r>
            <a:r>
              <a:rPr sz="20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documento;</a:t>
            </a:r>
            <a:endParaRPr sz="2000">
              <a:latin typeface="Arial"/>
              <a:cs typeface="Arial"/>
            </a:endParaRPr>
          </a:p>
          <a:p>
            <a:pPr marL="376555" indent="-3644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76555" algn="l"/>
                <a:tab pos="377190" algn="l"/>
              </a:tabLst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Localizzazione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,</a:t>
            </a:r>
            <a:r>
              <a:rPr sz="20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rintracciare</a:t>
            </a:r>
            <a:r>
              <a:rPr sz="20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una</a:t>
            </a:r>
            <a:r>
              <a:rPr sz="20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particolare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occorrenza</a:t>
            </a:r>
            <a:r>
              <a:rPr sz="20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documento;</a:t>
            </a:r>
            <a:endParaRPr sz="2000">
              <a:latin typeface="Arial"/>
              <a:cs typeface="Arial"/>
            </a:endParaRPr>
          </a:p>
          <a:p>
            <a:pPr marL="376555" indent="-3644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76555" algn="l"/>
                <a:tab pos="377190" algn="l"/>
              </a:tabLst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Selezione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,</a:t>
            </a:r>
            <a:r>
              <a:rPr sz="20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analizzando,</a:t>
            </a:r>
            <a:r>
              <a:rPr sz="20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valutando</a:t>
            </a:r>
            <a:r>
              <a:rPr sz="20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0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filtrando</a:t>
            </a:r>
            <a:r>
              <a:rPr sz="20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20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una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serie</a:t>
            </a:r>
            <a:r>
              <a:rPr sz="20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 documenti;</a:t>
            </a:r>
            <a:endParaRPr sz="2000">
              <a:latin typeface="Arial"/>
              <a:cs typeface="Arial"/>
            </a:endParaRPr>
          </a:p>
          <a:p>
            <a:pPr marL="376555" indent="-3644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76555" algn="l"/>
                <a:tab pos="377190" algn="l"/>
                <a:tab pos="1708785" algn="l"/>
                <a:tab pos="2646045" algn="l"/>
                <a:tab pos="3018155" algn="l"/>
                <a:tab pos="4083050" algn="l"/>
                <a:tab pos="4456430" algn="l"/>
                <a:tab pos="5802630" algn="l"/>
                <a:tab pos="6670040" algn="l"/>
                <a:tab pos="8951595" algn="l"/>
                <a:tab pos="9324975" algn="l"/>
                <a:tab pos="10333990" algn="l"/>
              </a:tabLst>
            </a:pP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,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gestire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raccolte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grazie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all’intermediazione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banche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dati,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0086" y="4276445"/>
            <a:ext cx="10825480" cy="1702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repository</a:t>
            </a:r>
            <a:r>
              <a:rPr sz="20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0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cataloghi;</a:t>
            </a:r>
            <a:endParaRPr sz="2000">
              <a:latin typeface="Arial"/>
              <a:cs typeface="Arial"/>
            </a:endParaRPr>
          </a:p>
          <a:p>
            <a:pPr marL="376555" indent="-3644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76555" algn="l"/>
                <a:tab pos="377190" algn="l"/>
              </a:tabLst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Disponibilità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,</a:t>
            </a:r>
            <a:r>
              <a:rPr sz="20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ottenere</a:t>
            </a:r>
            <a:r>
              <a:rPr sz="20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informazioni</a:t>
            </a:r>
            <a:r>
              <a:rPr sz="20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sull’effettiva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disponibilità</a:t>
            </a:r>
            <a:r>
              <a:rPr sz="20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20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endParaRPr sz="2000">
              <a:latin typeface="Arial"/>
              <a:cs typeface="Arial"/>
            </a:endParaRPr>
          </a:p>
          <a:p>
            <a:pPr marL="376555" marR="5080" indent="-3644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76555" algn="l"/>
                <a:tab pos="377190" algn="l"/>
                <a:tab pos="2411095" algn="l"/>
                <a:tab pos="3330575" algn="l"/>
                <a:tab pos="4469130" algn="l"/>
                <a:tab pos="5839460" algn="l"/>
                <a:tab pos="6192520" algn="l"/>
                <a:tab pos="7079615" algn="l"/>
                <a:tab pos="7646670" algn="l"/>
                <a:tab pos="9259570" algn="l"/>
                <a:tab pos="9751695" algn="l"/>
                <a:tab pos="10614025" algn="l"/>
              </a:tabLst>
            </a:pP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,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gestire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l'insieme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complesso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attività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garantiscono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nel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tempo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D5A8F"/>
                </a:solidFill>
                <a:latin typeface="Arial"/>
                <a:cs typeface="Arial"/>
              </a:rPr>
              <a:t>la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fruizione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7492" y="6104890"/>
            <a:ext cx="10796905" cy="318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2400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2400" spc="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immodificabile</a:t>
            </a:r>
            <a:r>
              <a:rPr sz="2400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vengono</a:t>
            </a:r>
            <a:r>
              <a:rPr sz="2400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associati</a:t>
            </a:r>
            <a:r>
              <a:rPr sz="2400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</a:t>
            </a:r>
            <a:r>
              <a:rPr sz="2400" spc="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metadati</a:t>
            </a:r>
            <a:r>
              <a:rPr sz="2400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400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sono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stati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generati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durante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 sua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formazione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arricchiti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nel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corso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ciclo di 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vita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L’insieme</a:t>
            </a:r>
            <a:r>
              <a:rPr sz="24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minimo dei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metadati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costituito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da:</a:t>
            </a:r>
            <a:endParaRPr sz="2400">
              <a:latin typeface="Arial"/>
              <a:cs typeface="Arial"/>
            </a:endParaRPr>
          </a:p>
          <a:p>
            <a:pPr marL="407034" indent="-386080">
              <a:lnSpc>
                <a:spcPct val="100000"/>
              </a:lnSpc>
              <a:spcBef>
                <a:spcPts val="605"/>
              </a:spcBef>
              <a:buClr>
                <a:srgbClr val="001F5F"/>
              </a:buClr>
              <a:buFont typeface="Verdana"/>
              <a:buChar char="•"/>
              <a:tabLst>
                <a:tab pos="407034" algn="l"/>
                <a:tab pos="407670" algn="l"/>
              </a:tabLst>
            </a:pP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l’identificativo</a:t>
            </a:r>
            <a:r>
              <a:rPr sz="20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univoco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0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persistente</a:t>
            </a:r>
            <a:endParaRPr sz="2000">
              <a:latin typeface="Arial"/>
              <a:cs typeface="Arial"/>
            </a:endParaRPr>
          </a:p>
          <a:p>
            <a:pPr marL="407034" indent="-386080">
              <a:lnSpc>
                <a:spcPct val="100000"/>
              </a:lnSpc>
              <a:spcBef>
                <a:spcPts val="600"/>
              </a:spcBef>
              <a:buClr>
                <a:srgbClr val="001F5F"/>
              </a:buClr>
              <a:buFont typeface="Verdana"/>
              <a:buChar char="•"/>
              <a:tabLst>
                <a:tab pos="407034" algn="l"/>
                <a:tab pos="407670" algn="l"/>
              </a:tabLst>
            </a:pP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il riferimento</a:t>
            </a:r>
            <a:r>
              <a:rPr sz="20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temporale</a:t>
            </a:r>
            <a:endParaRPr sz="2000">
              <a:latin typeface="Arial"/>
              <a:cs typeface="Arial"/>
            </a:endParaRPr>
          </a:p>
          <a:p>
            <a:pPr marL="476884" indent="-455295">
              <a:lnSpc>
                <a:spcPct val="100000"/>
              </a:lnSpc>
              <a:spcBef>
                <a:spcPts val="600"/>
              </a:spcBef>
              <a:buClr>
                <a:srgbClr val="001F5F"/>
              </a:buClr>
              <a:buFont typeface="Verdana"/>
              <a:buChar char="•"/>
              <a:tabLst>
                <a:tab pos="476884" algn="l"/>
                <a:tab pos="477520" algn="l"/>
              </a:tabLst>
            </a:pP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l’oggetto</a:t>
            </a:r>
            <a:endParaRPr sz="2000">
              <a:latin typeface="Arial"/>
              <a:cs typeface="Arial"/>
            </a:endParaRPr>
          </a:p>
          <a:p>
            <a:pPr marL="407034" indent="-386080">
              <a:lnSpc>
                <a:spcPct val="100000"/>
              </a:lnSpc>
              <a:spcBef>
                <a:spcPts val="600"/>
              </a:spcBef>
              <a:buClr>
                <a:srgbClr val="001F5F"/>
              </a:buClr>
              <a:buFont typeface="Verdana"/>
              <a:buChar char="•"/>
              <a:tabLst>
                <a:tab pos="407034" algn="l"/>
                <a:tab pos="407670" algn="l"/>
              </a:tabLst>
            </a:pP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soggetto</a:t>
            </a:r>
            <a:r>
              <a:rPr sz="20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20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ha</a:t>
            </a:r>
            <a:r>
              <a:rPr sz="20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formato</a:t>
            </a:r>
            <a:r>
              <a:rPr sz="20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0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endParaRPr sz="2000">
              <a:latin typeface="Arial"/>
              <a:cs typeface="Arial"/>
            </a:endParaRPr>
          </a:p>
          <a:p>
            <a:pPr marL="407034" indent="-386080">
              <a:lnSpc>
                <a:spcPct val="100000"/>
              </a:lnSpc>
              <a:spcBef>
                <a:spcPts val="600"/>
              </a:spcBef>
              <a:buClr>
                <a:srgbClr val="001F5F"/>
              </a:buClr>
              <a:buFont typeface="Verdana"/>
              <a:buChar char="•"/>
              <a:tabLst>
                <a:tab pos="407034" algn="l"/>
                <a:tab pos="407670" algn="l"/>
              </a:tabLst>
            </a:pPr>
            <a:r>
              <a:rPr sz="2000" dirty="0">
                <a:solidFill>
                  <a:srgbClr val="0D5A8F"/>
                </a:solidFill>
                <a:latin typeface="Arial"/>
                <a:cs typeface="Arial"/>
              </a:rPr>
              <a:t>l’eventuale</a:t>
            </a:r>
            <a:r>
              <a:rPr sz="20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5A8F"/>
                </a:solidFill>
                <a:latin typeface="Arial"/>
                <a:cs typeface="Arial"/>
              </a:rPr>
              <a:t>destinatario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347" y="6209538"/>
            <a:ext cx="202691" cy="2133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347" y="7093457"/>
            <a:ext cx="202691" cy="21336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7776" y="1203959"/>
            <a:ext cx="2628900" cy="17343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082" rIns="0" bIns="0" rtlCol="0">
            <a:spAutoFit/>
          </a:bodyPr>
          <a:lstStyle/>
          <a:p>
            <a:pPr marL="17405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La</a:t>
            </a:r>
            <a:r>
              <a:rPr sz="3600" spc="-10" dirty="0"/>
              <a:t> </a:t>
            </a:r>
            <a:r>
              <a:rPr sz="3600" dirty="0"/>
              <a:t>gestione</a:t>
            </a:r>
            <a:r>
              <a:rPr sz="3600" spc="-5" dirty="0"/>
              <a:t> </a:t>
            </a:r>
            <a:r>
              <a:rPr sz="3600" spc="-10" dirty="0"/>
              <a:t>documentale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5143436" y="3622484"/>
            <a:ext cx="7105015" cy="2181225"/>
            <a:chOff x="5143436" y="3622484"/>
            <a:chExt cx="7105015" cy="2181225"/>
          </a:xfrm>
        </p:grpSpPr>
        <p:sp>
          <p:nvSpPr>
            <p:cNvPr id="5" name="object 5"/>
            <p:cNvSpPr/>
            <p:nvPr/>
          </p:nvSpPr>
          <p:spPr>
            <a:xfrm>
              <a:off x="5156453" y="3635501"/>
              <a:ext cx="7078980" cy="2155190"/>
            </a:xfrm>
            <a:custGeom>
              <a:avLst/>
              <a:gdLst/>
              <a:ahLst/>
              <a:cxnLst/>
              <a:rect l="l" t="t" r="r" b="b"/>
              <a:pathLst>
                <a:path w="7078980" h="2155190">
                  <a:moveTo>
                    <a:pt x="6719824" y="0"/>
                  </a:moveTo>
                  <a:lnTo>
                    <a:pt x="0" y="0"/>
                  </a:lnTo>
                  <a:lnTo>
                    <a:pt x="0" y="2154936"/>
                  </a:lnTo>
                  <a:lnTo>
                    <a:pt x="6719824" y="2154936"/>
                  </a:lnTo>
                  <a:lnTo>
                    <a:pt x="6768563" y="2151657"/>
                  </a:lnTo>
                  <a:lnTo>
                    <a:pt x="6815308" y="2142107"/>
                  </a:lnTo>
                  <a:lnTo>
                    <a:pt x="6859631" y="2126714"/>
                  </a:lnTo>
                  <a:lnTo>
                    <a:pt x="6901104" y="2105904"/>
                  </a:lnTo>
                  <a:lnTo>
                    <a:pt x="6939301" y="2080106"/>
                  </a:lnTo>
                  <a:lnTo>
                    <a:pt x="6973792" y="2049748"/>
                  </a:lnTo>
                  <a:lnTo>
                    <a:pt x="7004150" y="2015257"/>
                  </a:lnTo>
                  <a:lnTo>
                    <a:pt x="7029948" y="1977060"/>
                  </a:lnTo>
                  <a:lnTo>
                    <a:pt x="7050758" y="1935587"/>
                  </a:lnTo>
                  <a:lnTo>
                    <a:pt x="7066151" y="1891264"/>
                  </a:lnTo>
                  <a:lnTo>
                    <a:pt x="7075701" y="1844519"/>
                  </a:lnTo>
                  <a:lnTo>
                    <a:pt x="7078980" y="1795780"/>
                  </a:lnTo>
                  <a:lnTo>
                    <a:pt x="7078980" y="359156"/>
                  </a:lnTo>
                  <a:lnTo>
                    <a:pt x="7075701" y="310416"/>
                  </a:lnTo>
                  <a:lnTo>
                    <a:pt x="7066151" y="263671"/>
                  </a:lnTo>
                  <a:lnTo>
                    <a:pt x="7050758" y="219348"/>
                  </a:lnTo>
                  <a:lnTo>
                    <a:pt x="7029948" y="177875"/>
                  </a:lnTo>
                  <a:lnTo>
                    <a:pt x="7004150" y="139678"/>
                  </a:lnTo>
                  <a:lnTo>
                    <a:pt x="6973792" y="105187"/>
                  </a:lnTo>
                  <a:lnTo>
                    <a:pt x="6939301" y="74829"/>
                  </a:lnTo>
                  <a:lnTo>
                    <a:pt x="6901104" y="49031"/>
                  </a:lnTo>
                  <a:lnTo>
                    <a:pt x="6859631" y="28221"/>
                  </a:lnTo>
                  <a:lnTo>
                    <a:pt x="6815308" y="12828"/>
                  </a:lnTo>
                  <a:lnTo>
                    <a:pt x="6768563" y="3278"/>
                  </a:lnTo>
                  <a:lnTo>
                    <a:pt x="6719824" y="0"/>
                  </a:lnTo>
                  <a:close/>
                </a:path>
              </a:pathLst>
            </a:custGeom>
            <a:solidFill>
              <a:srgbClr val="CAD2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56453" y="3635501"/>
              <a:ext cx="7078980" cy="2155190"/>
            </a:xfrm>
            <a:custGeom>
              <a:avLst/>
              <a:gdLst/>
              <a:ahLst/>
              <a:cxnLst/>
              <a:rect l="l" t="t" r="r" b="b"/>
              <a:pathLst>
                <a:path w="7078980" h="2155190">
                  <a:moveTo>
                    <a:pt x="7078980" y="359156"/>
                  </a:moveTo>
                  <a:lnTo>
                    <a:pt x="7078980" y="1795780"/>
                  </a:lnTo>
                  <a:lnTo>
                    <a:pt x="7075701" y="1844519"/>
                  </a:lnTo>
                  <a:lnTo>
                    <a:pt x="7066151" y="1891264"/>
                  </a:lnTo>
                  <a:lnTo>
                    <a:pt x="7050758" y="1935587"/>
                  </a:lnTo>
                  <a:lnTo>
                    <a:pt x="7029948" y="1977060"/>
                  </a:lnTo>
                  <a:lnTo>
                    <a:pt x="7004150" y="2015257"/>
                  </a:lnTo>
                  <a:lnTo>
                    <a:pt x="6973792" y="2049748"/>
                  </a:lnTo>
                  <a:lnTo>
                    <a:pt x="6939301" y="2080106"/>
                  </a:lnTo>
                  <a:lnTo>
                    <a:pt x="6901104" y="2105904"/>
                  </a:lnTo>
                  <a:lnTo>
                    <a:pt x="6859631" y="2126714"/>
                  </a:lnTo>
                  <a:lnTo>
                    <a:pt x="6815308" y="2142107"/>
                  </a:lnTo>
                  <a:lnTo>
                    <a:pt x="6768563" y="2151657"/>
                  </a:lnTo>
                  <a:lnTo>
                    <a:pt x="6719824" y="2154936"/>
                  </a:lnTo>
                  <a:lnTo>
                    <a:pt x="0" y="2154936"/>
                  </a:lnTo>
                  <a:lnTo>
                    <a:pt x="0" y="0"/>
                  </a:lnTo>
                  <a:lnTo>
                    <a:pt x="6719824" y="0"/>
                  </a:lnTo>
                  <a:lnTo>
                    <a:pt x="6768563" y="3278"/>
                  </a:lnTo>
                  <a:lnTo>
                    <a:pt x="6815308" y="12828"/>
                  </a:lnTo>
                  <a:lnTo>
                    <a:pt x="6859631" y="28221"/>
                  </a:lnTo>
                  <a:lnTo>
                    <a:pt x="6901104" y="49031"/>
                  </a:lnTo>
                  <a:lnTo>
                    <a:pt x="6939301" y="74829"/>
                  </a:lnTo>
                  <a:lnTo>
                    <a:pt x="6973792" y="105187"/>
                  </a:lnTo>
                  <a:lnTo>
                    <a:pt x="7004150" y="139678"/>
                  </a:lnTo>
                  <a:lnTo>
                    <a:pt x="7029948" y="177875"/>
                  </a:lnTo>
                  <a:lnTo>
                    <a:pt x="7050758" y="219348"/>
                  </a:lnTo>
                  <a:lnTo>
                    <a:pt x="7066151" y="263671"/>
                  </a:lnTo>
                  <a:lnTo>
                    <a:pt x="7075701" y="310416"/>
                  </a:lnTo>
                  <a:lnTo>
                    <a:pt x="7078980" y="359156"/>
                  </a:lnTo>
                  <a:close/>
                </a:path>
              </a:pathLst>
            </a:custGeom>
            <a:ln w="25908">
              <a:solidFill>
                <a:srgbClr val="CAD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91150" y="3996054"/>
            <a:ext cx="5530215" cy="135509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99085" marR="5080" indent="-287020">
              <a:lnSpc>
                <a:spcPts val="3310"/>
              </a:lnSpc>
              <a:spcBef>
                <a:spcPts val="655"/>
              </a:spcBef>
              <a:buChar char="•"/>
              <a:tabLst>
                <a:tab pos="299720" algn="l"/>
              </a:tabLst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“La</a:t>
            </a:r>
            <a:r>
              <a:rPr sz="32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32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32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50" dirty="0">
                <a:solidFill>
                  <a:srgbClr val="0D5A8F"/>
                </a:solidFill>
                <a:latin typeface="Arial"/>
                <a:cs typeface="Arial"/>
              </a:rPr>
              <a:t>è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effettuata</a:t>
            </a:r>
            <a:r>
              <a:rPr sz="32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mediante</a:t>
            </a:r>
            <a:r>
              <a:rPr sz="32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sistemi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informativi</a:t>
            </a:r>
            <a:r>
              <a:rPr sz="32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automatizzati”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32916" y="3352800"/>
            <a:ext cx="4008120" cy="2720340"/>
            <a:chOff x="1232916" y="3352800"/>
            <a:chExt cx="4008120" cy="2720340"/>
          </a:xfrm>
        </p:grpSpPr>
        <p:sp>
          <p:nvSpPr>
            <p:cNvPr id="9" name="object 9"/>
            <p:cNvSpPr/>
            <p:nvPr/>
          </p:nvSpPr>
          <p:spPr>
            <a:xfrm>
              <a:off x="1245870" y="3365753"/>
              <a:ext cx="3982720" cy="2694940"/>
            </a:xfrm>
            <a:custGeom>
              <a:avLst/>
              <a:gdLst/>
              <a:ahLst/>
              <a:cxnLst/>
              <a:rect l="l" t="t" r="r" b="b"/>
              <a:pathLst>
                <a:path w="3982720" h="2694940">
                  <a:moveTo>
                    <a:pt x="3533140" y="0"/>
                  </a:moveTo>
                  <a:lnTo>
                    <a:pt x="449072" y="0"/>
                  </a:lnTo>
                  <a:lnTo>
                    <a:pt x="400137" y="2634"/>
                  </a:lnTo>
                  <a:lnTo>
                    <a:pt x="352730" y="10357"/>
                  </a:lnTo>
                  <a:lnTo>
                    <a:pt x="307124" y="22892"/>
                  </a:lnTo>
                  <a:lnTo>
                    <a:pt x="263592" y="39967"/>
                  </a:lnTo>
                  <a:lnTo>
                    <a:pt x="222409" y="61308"/>
                  </a:lnTo>
                  <a:lnTo>
                    <a:pt x="183849" y="86640"/>
                  </a:lnTo>
                  <a:lnTo>
                    <a:pt x="148184" y="115690"/>
                  </a:lnTo>
                  <a:lnTo>
                    <a:pt x="115690" y="148184"/>
                  </a:lnTo>
                  <a:lnTo>
                    <a:pt x="86640" y="183849"/>
                  </a:lnTo>
                  <a:lnTo>
                    <a:pt x="61308" y="222409"/>
                  </a:lnTo>
                  <a:lnTo>
                    <a:pt x="39967" y="263592"/>
                  </a:lnTo>
                  <a:lnTo>
                    <a:pt x="22892" y="307124"/>
                  </a:lnTo>
                  <a:lnTo>
                    <a:pt x="10357" y="352730"/>
                  </a:lnTo>
                  <a:lnTo>
                    <a:pt x="2634" y="400137"/>
                  </a:lnTo>
                  <a:lnTo>
                    <a:pt x="0" y="449072"/>
                  </a:lnTo>
                  <a:lnTo>
                    <a:pt x="0" y="2245360"/>
                  </a:lnTo>
                  <a:lnTo>
                    <a:pt x="2634" y="2294294"/>
                  </a:lnTo>
                  <a:lnTo>
                    <a:pt x="10357" y="2341701"/>
                  </a:lnTo>
                  <a:lnTo>
                    <a:pt x="22892" y="2387307"/>
                  </a:lnTo>
                  <a:lnTo>
                    <a:pt x="39967" y="2430839"/>
                  </a:lnTo>
                  <a:lnTo>
                    <a:pt x="61308" y="2472022"/>
                  </a:lnTo>
                  <a:lnTo>
                    <a:pt x="86640" y="2510582"/>
                  </a:lnTo>
                  <a:lnTo>
                    <a:pt x="115690" y="2546247"/>
                  </a:lnTo>
                  <a:lnTo>
                    <a:pt x="148184" y="2578741"/>
                  </a:lnTo>
                  <a:lnTo>
                    <a:pt x="183849" y="2607791"/>
                  </a:lnTo>
                  <a:lnTo>
                    <a:pt x="222409" y="2633123"/>
                  </a:lnTo>
                  <a:lnTo>
                    <a:pt x="263592" y="2654464"/>
                  </a:lnTo>
                  <a:lnTo>
                    <a:pt x="307124" y="2671539"/>
                  </a:lnTo>
                  <a:lnTo>
                    <a:pt x="352730" y="2684074"/>
                  </a:lnTo>
                  <a:lnTo>
                    <a:pt x="400137" y="2691797"/>
                  </a:lnTo>
                  <a:lnTo>
                    <a:pt x="449072" y="2694432"/>
                  </a:lnTo>
                  <a:lnTo>
                    <a:pt x="3533140" y="2694432"/>
                  </a:lnTo>
                  <a:lnTo>
                    <a:pt x="3582074" y="2691797"/>
                  </a:lnTo>
                  <a:lnTo>
                    <a:pt x="3629481" y="2684074"/>
                  </a:lnTo>
                  <a:lnTo>
                    <a:pt x="3675087" y="2671539"/>
                  </a:lnTo>
                  <a:lnTo>
                    <a:pt x="3718619" y="2654464"/>
                  </a:lnTo>
                  <a:lnTo>
                    <a:pt x="3759802" y="2633123"/>
                  </a:lnTo>
                  <a:lnTo>
                    <a:pt x="3798362" y="2607791"/>
                  </a:lnTo>
                  <a:lnTo>
                    <a:pt x="3834027" y="2578741"/>
                  </a:lnTo>
                  <a:lnTo>
                    <a:pt x="3866521" y="2546247"/>
                  </a:lnTo>
                  <a:lnTo>
                    <a:pt x="3895571" y="2510582"/>
                  </a:lnTo>
                  <a:lnTo>
                    <a:pt x="3920903" y="2472022"/>
                  </a:lnTo>
                  <a:lnTo>
                    <a:pt x="3942244" y="2430839"/>
                  </a:lnTo>
                  <a:lnTo>
                    <a:pt x="3959319" y="2387307"/>
                  </a:lnTo>
                  <a:lnTo>
                    <a:pt x="3971854" y="2341701"/>
                  </a:lnTo>
                  <a:lnTo>
                    <a:pt x="3979577" y="2294294"/>
                  </a:lnTo>
                  <a:lnTo>
                    <a:pt x="3982212" y="2245360"/>
                  </a:lnTo>
                  <a:lnTo>
                    <a:pt x="3982212" y="449072"/>
                  </a:lnTo>
                  <a:lnTo>
                    <a:pt x="3979577" y="400137"/>
                  </a:lnTo>
                  <a:lnTo>
                    <a:pt x="3971854" y="352730"/>
                  </a:lnTo>
                  <a:lnTo>
                    <a:pt x="3959319" y="307124"/>
                  </a:lnTo>
                  <a:lnTo>
                    <a:pt x="3942244" y="263592"/>
                  </a:lnTo>
                  <a:lnTo>
                    <a:pt x="3920903" y="222409"/>
                  </a:lnTo>
                  <a:lnTo>
                    <a:pt x="3895571" y="183849"/>
                  </a:lnTo>
                  <a:lnTo>
                    <a:pt x="3866521" y="148184"/>
                  </a:lnTo>
                  <a:lnTo>
                    <a:pt x="3834027" y="115690"/>
                  </a:lnTo>
                  <a:lnTo>
                    <a:pt x="3798362" y="86640"/>
                  </a:lnTo>
                  <a:lnTo>
                    <a:pt x="3759802" y="61308"/>
                  </a:lnTo>
                  <a:lnTo>
                    <a:pt x="3718619" y="39967"/>
                  </a:lnTo>
                  <a:lnTo>
                    <a:pt x="3675087" y="22892"/>
                  </a:lnTo>
                  <a:lnTo>
                    <a:pt x="3629481" y="10357"/>
                  </a:lnTo>
                  <a:lnTo>
                    <a:pt x="3582074" y="2634"/>
                  </a:lnTo>
                  <a:lnTo>
                    <a:pt x="353314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45870" y="3365753"/>
              <a:ext cx="3982720" cy="2694940"/>
            </a:xfrm>
            <a:custGeom>
              <a:avLst/>
              <a:gdLst/>
              <a:ahLst/>
              <a:cxnLst/>
              <a:rect l="l" t="t" r="r" b="b"/>
              <a:pathLst>
                <a:path w="3982720" h="2694940">
                  <a:moveTo>
                    <a:pt x="0" y="449072"/>
                  </a:moveTo>
                  <a:lnTo>
                    <a:pt x="2634" y="400137"/>
                  </a:lnTo>
                  <a:lnTo>
                    <a:pt x="10357" y="352730"/>
                  </a:lnTo>
                  <a:lnTo>
                    <a:pt x="22892" y="307124"/>
                  </a:lnTo>
                  <a:lnTo>
                    <a:pt x="39967" y="263592"/>
                  </a:lnTo>
                  <a:lnTo>
                    <a:pt x="61308" y="222409"/>
                  </a:lnTo>
                  <a:lnTo>
                    <a:pt x="86640" y="183849"/>
                  </a:lnTo>
                  <a:lnTo>
                    <a:pt x="115690" y="148184"/>
                  </a:lnTo>
                  <a:lnTo>
                    <a:pt x="148184" y="115690"/>
                  </a:lnTo>
                  <a:lnTo>
                    <a:pt x="183849" y="86640"/>
                  </a:lnTo>
                  <a:lnTo>
                    <a:pt x="222409" y="61308"/>
                  </a:lnTo>
                  <a:lnTo>
                    <a:pt x="263592" y="39967"/>
                  </a:lnTo>
                  <a:lnTo>
                    <a:pt x="307124" y="22892"/>
                  </a:lnTo>
                  <a:lnTo>
                    <a:pt x="352730" y="10357"/>
                  </a:lnTo>
                  <a:lnTo>
                    <a:pt x="400137" y="2634"/>
                  </a:lnTo>
                  <a:lnTo>
                    <a:pt x="449072" y="0"/>
                  </a:lnTo>
                  <a:lnTo>
                    <a:pt x="3533140" y="0"/>
                  </a:lnTo>
                  <a:lnTo>
                    <a:pt x="3582074" y="2634"/>
                  </a:lnTo>
                  <a:lnTo>
                    <a:pt x="3629481" y="10357"/>
                  </a:lnTo>
                  <a:lnTo>
                    <a:pt x="3675087" y="22892"/>
                  </a:lnTo>
                  <a:lnTo>
                    <a:pt x="3718619" y="39967"/>
                  </a:lnTo>
                  <a:lnTo>
                    <a:pt x="3759802" y="61308"/>
                  </a:lnTo>
                  <a:lnTo>
                    <a:pt x="3798362" y="86640"/>
                  </a:lnTo>
                  <a:lnTo>
                    <a:pt x="3834027" y="115690"/>
                  </a:lnTo>
                  <a:lnTo>
                    <a:pt x="3866521" y="148184"/>
                  </a:lnTo>
                  <a:lnTo>
                    <a:pt x="3895571" y="183849"/>
                  </a:lnTo>
                  <a:lnTo>
                    <a:pt x="3920903" y="222409"/>
                  </a:lnTo>
                  <a:lnTo>
                    <a:pt x="3942244" y="263592"/>
                  </a:lnTo>
                  <a:lnTo>
                    <a:pt x="3959319" y="307124"/>
                  </a:lnTo>
                  <a:lnTo>
                    <a:pt x="3971854" y="352730"/>
                  </a:lnTo>
                  <a:lnTo>
                    <a:pt x="3979577" y="400137"/>
                  </a:lnTo>
                  <a:lnTo>
                    <a:pt x="3982212" y="449072"/>
                  </a:lnTo>
                  <a:lnTo>
                    <a:pt x="3982212" y="2245360"/>
                  </a:lnTo>
                  <a:lnTo>
                    <a:pt x="3979577" y="2294294"/>
                  </a:lnTo>
                  <a:lnTo>
                    <a:pt x="3971854" y="2341701"/>
                  </a:lnTo>
                  <a:lnTo>
                    <a:pt x="3959319" y="2387307"/>
                  </a:lnTo>
                  <a:lnTo>
                    <a:pt x="3942244" y="2430839"/>
                  </a:lnTo>
                  <a:lnTo>
                    <a:pt x="3920903" y="2472022"/>
                  </a:lnTo>
                  <a:lnTo>
                    <a:pt x="3895571" y="2510582"/>
                  </a:lnTo>
                  <a:lnTo>
                    <a:pt x="3866521" y="2546247"/>
                  </a:lnTo>
                  <a:lnTo>
                    <a:pt x="3834027" y="2578741"/>
                  </a:lnTo>
                  <a:lnTo>
                    <a:pt x="3798362" y="2607791"/>
                  </a:lnTo>
                  <a:lnTo>
                    <a:pt x="3759802" y="2633123"/>
                  </a:lnTo>
                  <a:lnTo>
                    <a:pt x="3718619" y="2654464"/>
                  </a:lnTo>
                  <a:lnTo>
                    <a:pt x="3675087" y="2671539"/>
                  </a:lnTo>
                  <a:lnTo>
                    <a:pt x="3629481" y="2684074"/>
                  </a:lnTo>
                  <a:lnTo>
                    <a:pt x="3582074" y="2691797"/>
                  </a:lnTo>
                  <a:lnTo>
                    <a:pt x="3533140" y="2694432"/>
                  </a:lnTo>
                  <a:lnTo>
                    <a:pt x="449072" y="2694432"/>
                  </a:lnTo>
                  <a:lnTo>
                    <a:pt x="400137" y="2691797"/>
                  </a:lnTo>
                  <a:lnTo>
                    <a:pt x="352730" y="2684074"/>
                  </a:lnTo>
                  <a:lnTo>
                    <a:pt x="307124" y="2671539"/>
                  </a:lnTo>
                  <a:lnTo>
                    <a:pt x="263592" y="2654464"/>
                  </a:lnTo>
                  <a:lnTo>
                    <a:pt x="222409" y="2633123"/>
                  </a:lnTo>
                  <a:lnTo>
                    <a:pt x="183849" y="2607791"/>
                  </a:lnTo>
                  <a:lnTo>
                    <a:pt x="148184" y="2578741"/>
                  </a:lnTo>
                  <a:lnTo>
                    <a:pt x="115690" y="2546247"/>
                  </a:lnTo>
                  <a:lnTo>
                    <a:pt x="86640" y="2510582"/>
                  </a:lnTo>
                  <a:lnTo>
                    <a:pt x="61308" y="2472022"/>
                  </a:lnTo>
                  <a:lnTo>
                    <a:pt x="39967" y="2430839"/>
                  </a:lnTo>
                  <a:lnTo>
                    <a:pt x="22892" y="2387307"/>
                  </a:lnTo>
                  <a:lnTo>
                    <a:pt x="10357" y="2341701"/>
                  </a:lnTo>
                  <a:lnTo>
                    <a:pt x="2634" y="2294294"/>
                  </a:lnTo>
                  <a:lnTo>
                    <a:pt x="0" y="2245360"/>
                  </a:lnTo>
                  <a:lnTo>
                    <a:pt x="0" y="44907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34108" y="4269486"/>
            <a:ext cx="3201035" cy="820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3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D.P.R.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n.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445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/2000,</a:t>
            </a:r>
            <a:endParaRPr sz="2800">
              <a:latin typeface="Arial"/>
              <a:cs typeface="Arial"/>
            </a:endParaRPr>
          </a:p>
          <a:p>
            <a:pPr marL="277495">
              <a:lnSpc>
                <a:spcPts val="313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art.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c.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lett.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43436" y="6451028"/>
            <a:ext cx="7105015" cy="2181225"/>
            <a:chOff x="5143436" y="6451028"/>
            <a:chExt cx="7105015" cy="2181225"/>
          </a:xfrm>
        </p:grpSpPr>
        <p:sp>
          <p:nvSpPr>
            <p:cNvPr id="13" name="object 13"/>
            <p:cNvSpPr/>
            <p:nvPr/>
          </p:nvSpPr>
          <p:spPr>
            <a:xfrm>
              <a:off x="5156453" y="6464045"/>
              <a:ext cx="7078980" cy="2155190"/>
            </a:xfrm>
            <a:custGeom>
              <a:avLst/>
              <a:gdLst/>
              <a:ahLst/>
              <a:cxnLst/>
              <a:rect l="l" t="t" r="r" b="b"/>
              <a:pathLst>
                <a:path w="7078980" h="2155190">
                  <a:moveTo>
                    <a:pt x="6719824" y="0"/>
                  </a:moveTo>
                  <a:lnTo>
                    <a:pt x="0" y="0"/>
                  </a:lnTo>
                  <a:lnTo>
                    <a:pt x="0" y="2154935"/>
                  </a:lnTo>
                  <a:lnTo>
                    <a:pt x="6719824" y="2154935"/>
                  </a:lnTo>
                  <a:lnTo>
                    <a:pt x="6768563" y="2151657"/>
                  </a:lnTo>
                  <a:lnTo>
                    <a:pt x="6815308" y="2142107"/>
                  </a:lnTo>
                  <a:lnTo>
                    <a:pt x="6859631" y="2126714"/>
                  </a:lnTo>
                  <a:lnTo>
                    <a:pt x="6901104" y="2105904"/>
                  </a:lnTo>
                  <a:lnTo>
                    <a:pt x="6939301" y="2080106"/>
                  </a:lnTo>
                  <a:lnTo>
                    <a:pt x="6973792" y="2049748"/>
                  </a:lnTo>
                  <a:lnTo>
                    <a:pt x="7004150" y="2015257"/>
                  </a:lnTo>
                  <a:lnTo>
                    <a:pt x="7029948" y="1977060"/>
                  </a:lnTo>
                  <a:lnTo>
                    <a:pt x="7050758" y="1935587"/>
                  </a:lnTo>
                  <a:lnTo>
                    <a:pt x="7066151" y="1891264"/>
                  </a:lnTo>
                  <a:lnTo>
                    <a:pt x="7075701" y="1844519"/>
                  </a:lnTo>
                  <a:lnTo>
                    <a:pt x="7078980" y="1795779"/>
                  </a:lnTo>
                  <a:lnTo>
                    <a:pt x="7078980" y="359155"/>
                  </a:lnTo>
                  <a:lnTo>
                    <a:pt x="7075701" y="310416"/>
                  </a:lnTo>
                  <a:lnTo>
                    <a:pt x="7066151" y="263671"/>
                  </a:lnTo>
                  <a:lnTo>
                    <a:pt x="7050758" y="219348"/>
                  </a:lnTo>
                  <a:lnTo>
                    <a:pt x="7029948" y="177875"/>
                  </a:lnTo>
                  <a:lnTo>
                    <a:pt x="7004150" y="139678"/>
                  </a:lnTo>
                  <a:lnTo>
                    <a:pt x="6973792" y="105187"/>
                  </a:lnTo>
                  <a:lnTo>
                    <a:pt x="6939301" y="74829"/>
                  </a:lnTo>
                  <a:lnTo>
                    <a:pt x="6901104" y="49031"/>
                  </a:lnTo>
                  <a:lnTo>
                    <a:pt x="6859631" y="28221"/>
                  </a:lnTo>
                  <a:lnTo>
                    <a:pt x="6815308" y="12828"/>
                  </a:lnTo>
                  <a:lnTo>
                    <a:pt x="6768563" y="3278"/>
                  </a:lnTo>
                  <a:lnTo>
                    <a:pt x="6719824" y="0"/>
                  </a:lnTo>
                  <a:close/>
                </a:path>
              </a:pathLst>
            </a:custGeom>
            <a:solidFill>
              <a:srgbClr val="CAD2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56453" y="6464045"/>
              <a:ext cx="7078980" cy="2155190"/>
            </a:xfrm>
            <a:custGeom>
              <a:avLst/>
              <a:gdLst/>
              <a:ahLst/>
              <a:cxnLst/>
              <a:rect l="l" t="t" r="r" b="b"/>
              <a:pathLst>
                <a:path w="7078980" h="2155190">
                  <a:moveTo>
                    <a:pt x="7078980" y="359155"/>
                  </a:moveTo>
                  <a:lnTo>
                    <a:pt x="7078980" y="1795779"/>
                  </a:lnTo>
                  <a:lnTo>
                    <a:pt x="7075701" y="1844519"/>
                  </a:lnTo>
                  <a:lnTo>
                    <a:pt x="7066151" y="1891264"/>
                  </a:lnTo>
                  <a:lnTo>
                    <a:pt x="7050758" y="1935587"/>
                  </a:lnTo>
                  <a:lnTo>
                    <a:pt x="7029948" y="1977060"/>
                  </a:lnTo>
                  <a:lnTo>
                    <a:pt x="7004150" y="2015257"/>
                  </a:lnTo>
                  <a:lnTo>
                    <a:pt x="6973792" y="2049748"/>
                  </a:lnTo>
                  <a:lnTo>
                    <a:pt x="6939301" y="2080106"/>
                  </a:lnTo>
                  <a:lnTo>
                    <a:pt x="6901104" y="2105904"/>
                  </a:lnTo>
                  <a:lnTo>
                    <a:pt x="6859631" y="2126714"/>
                  </a:lnTo>
                  <a:lnTo>
                    <a:pt x="6815308" y="2142107"/>
                  </a:lnTo>
                  <a:lnTo>
                    <a:pt x="6768563" y="2151657"/>
                  </a:lnTo>
                  <a:lnTo>
                    <a:pt x="6719824" y="2154935"/>
                  </a:lnTo>
                  <a:lnTo>
                    <a:pt x="0" y="2154935"/>
                  </a:lnTo>
                  <a:lnTo>
                    <a:pt x="0" y="0"/>
                  </a:lnTo>
                  <a:lnTo>
                    <a:pt x="6719824" y="0"/>
                  </a:lnTo>
                  <a:lnTo>
                    <a:pt x="6768563" y="3278"/>
                  </a:lnTo>
                  <a:lnTo>
                    <a:pt x="6815308" y="12828"/>
                  </a:lnTo>
                  <a:lnTo>
                    <a:pt x="6859631" y="28221"/>
                  </a:lnTo>
                  <a:lnTo>
                    <a:pt x="6901104" y="49031"/>
                  </a:lnTo>
                  <a:lnTo>
                    <a:pt x="6939301" y="74829"/>
                  </a:lnTo>
                  <a:lnTo>
                    <a:pt x="6973792" y="105187"/>
                  </a:lnTo>
                  <a:lnTo>
                    <a:pt x="7004150" y="139678"/>
                  </a:lnTo>
                  <a:lnTo>
                    <a:pt x="7029948" y="177875"/>
                  </a:lnTo>
                  <a:lnTo>
                    <a:pt x="7050758" y="219348"/>
                  </a:lnTo>
                  <a:lnTo>
                    <a:pt x="7066151" y="263671"/>
                  </a:lnTo>
                  <a:lnTo>
                    <a:pt x="7075701" y="310416"/>
                  </a:lnTo>
                  <a:lnTo>
                    <a:pt x="7078980" y="359155"/>
                  </a:lnTo>
                  <a:close/>
                </a:path>
              </a:pathLst>
            </a:custGeom>
            <a:ln w="25908">
              <a:solidFill>
                <a:srgbClr val="CAD2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91150" y="6825488"/>
            <a:ext cx="5575300" cy="135509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99085" marR="5080" indent="-287020">
              <a:lnSpc>
                <a:spcPts val="3310"/>
              </a:lnSpc>
              <a:spcBef>
                <a:spcPts val="655"/>
              </a:spcBef>
              <a:buChar char="•"/>
              <a:tabLst>
                <a:tab pos="299720" algn="l"/>
              </a:tabLst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Requisiti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32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32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32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la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32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documenti informatici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61288" y="6181344"/>
            <a:ext cx="4008120" cy="2720340"/>
            <a:chOff x="1161288" y="6181344"/>
            <a:chExt cx="4008120" cy="2720340"/>
          </a:xfrm>
        </p:grpSpPr>
        <p:sp>
          <p:nvSpPr>
            <p:cNvPr id="17" name="object 17"/>
            <p:cNvSpPr/>
            <p:nvPr/>
          </p:nvSpPr>
          <p:spPr>
            <a:xfrm>
              <a:off x="1174242" y="6194298"/>
              <a:ext cx="3982720" cy="2694940"/>
            </a:xfrm>
            <a:custGeom>
              <a:avLst/>
              <a:gdLst/>
              <a:ahLst/>
              <a:cxnLst/>
              <a:rect l="l" t="t" r="r" b="b"/>
              <a:pathLst>
                <a:path w="3982720" h="2694940">
                  <a:moveTo>
                    <a:pt x="3533140" y="0"/>
                  </a:moveTo>
                  <a:lnTo>
                    <a:pt x="449072" y="0"/>
                  </a:lnTo>
                  <a:lnTo>
                    <a:pt x="400137" y="2634"/>
                  </a:lnTo>
                  <a:lnTo>
                    <a:pt x="352730" y="10357"/>
                  </a:lnTo>
                  <a:lnTo>
                    <a:pt x="307124" y="22892"/>
                  </a:lnTo>
                  <a:lnTo>
                    <a:pt x="263592" y="39967"/>
                  </a:lnTo>
                  <a:lnTo>
                    <a:pt x="222409" y="61308"/>
                  </a:lnTo>
                  <a:lnTo>
                    <a:pt x="183849" y="86640"/>
                  </a:lnTo>
                  <a:lnTo>
                    <a:pt x="148184" y="115690"/>
                  </a:lnTo>
                  <a:lnTo>
                    <a:pt x="115690" y="148184"/>
                  </a:lnTo>
                  <a:lnTo>
                    <a:pt x="86640" y="183849"/>
                  </a:lnTo>
                  <a:lnTo>
                    <a:pt x="61308" y="222409"/>
                  </a:lnTo>
                  <a:lnTo>
                    <a:pt x="39967" y="263592"/>
                  </a:lnTo>
                  <a:lnTo>
                    <a:pt x="22892" y="307124"/>
                  </a:lnTo>
                  <a:lnTo>
                    <a:pt x="10357" y="352730"/>
                  </a:lnTo>
                  <a:lnTo>
                    <a:pt x="2634" y="400137"/>
                  </a:lnTo>
                  <a:lnTo>
                    <a:pt x="0" y="449071"/>
                  </a:lnTo>
                  <a:lnTo>
                    <a:pt x="0" y="2245360"/>
                  </a:lnTo>
                  <a:lnTo>
                    <a:pt x="2634" y="2294289"/>
                  </a:lnTo>
                  <a:lnTo>
                    <a:pt x="10357" y="2341693"/>
                  </a:lnTo>
                  <a:lnTo>
                    <a:pt x="22892" y="2387297"/>
                  </a:lnTo>
                  <a:lnTo>
                    <a:pt x="39967" y="2430828"/>
                  </a:lnTo>
                  <a:lnTo>
                    <a:pt x="61308" y="2472010"/>
                  </a:lnTo>
                  <a:lnTo>
                    <a:pt x="86640" y="2510571"/>
                  </a:lnTo>
                  <a:lnTo>
                    <a:pt x="115690" y="2546237"/>
                  </a:lnTo>
                  <a:lnTo>
                    <a:pt x="148184" y="2578732"/>
                  </a:lnTo>
                  <a:lnTo>
                    <a:pt x="183849" y="2607784"/>
                  </a:lnTo>
                  <a:lnTo>
                    <a:pt x="222409" y="2633118"/>
                  </a:lnTo>
                  <a:lnTo>
                    <a:pt x="263592" y="2654460"/>
                  </a:lnTo>
                  <a:lnTo>
                    <a:pt x="307124" y="2671537"/>
                  </a:lnTo>
                  <a:lnTo>
                    <a:pt x="352730" y="2684073"/>
                  </a:lnTo>
                  <a:lnTo>
                    <a:pt x="400137" y="2691796"/>
                  </a:lnTo>
                  <a:lnTo>
                    <a:pt x="449072" y="2694432"/>
                  </a:lnTo>
                  <a:lnTo>
                    <a:pt x="3533140" y="2694432"/>
                  </a:lnTo>
                  <a:lnTo>
                    <a:pt x="3582074" y="2691796"/>
                  </a:lnTo>
                  <a:lnTo>
                    <a:pt x="3629481" y="2684073"/>
                  </a:lnTo>
                  <a:lnTo>
                    <a:pt x="3675087" y="2671537"/>
                  </a:lnTo>
                  <a:lnTo>
                    <a:pt x="3718619" y="2654460"/>
                  </a:lnTo>
                  <a:lnTo>
                    <a:pt x="3759802" y="2633118"/>
                  </a:lnTo>
                  <a:lnTo>
                    <a:pt x="3798362" y="2607784"/>
                  </a:lnTo>
                  <a:lnTo>
                    <a:pt x="3834027" y="2578732"/>
                  </a:lnTo>
                  <a:lnTo>
                    <a:pt x="3866521" y="2546237"/>
                  </a:lnTo>
                  <a:lnTo>
                    <a:pt x="3895571" y="2510571"/>
                  </a:lnTo>
                  <a:lnTo>
                    <a:pt x="3920903" y="2472010"/>
                  </a:lnTo>
                  <a:lnTo>
                    <a:pt x="3942244" y="2430828"/>
                  </a:lnTo>
                  <a:lnTo>
                    <a:pt x="3959319" y="2387297"/>
                  </a:lnTo>
                  <a:lnTo>
                    <a:pt x="3971854" y="2341693"/>
                  </a:lnTo>
                  <a:lnTo>
                    <a:pt x="3979577" y="2294289"/>
                  </a:lnTo>
                  <a:lnTo>
                    <a:pt x="3982212" y="2245360"/>
                  </a:lnTo>
                  <a:lnTo>
                    <a:pt x="3982212" y="449071"/>
                  </a:lnTo>
                  <a:lnTo>
                    <a:pt x="3979577" y="400137"/>
                  </a:lnTo>
                  <a:lnTo>
                    <a:pt x="3971854" y="352730"/>
                  </a:lnTo>
                  <a:lnTo>
                    <a:pt x="3959319" y="307124"/>
                  </a:lnTo>
                  <a:lnTo>
                    <a:pt x="3942244" y="263592"/>
                  </a:lnTo>
                  <a:lnTo>
                    <a:pt x="3920903" y="222409"/>
                  </a:lnTo>
                  <a:lnTo>
                    <a:pt x="3895571" y="183849"/>
                  </a:lnTo>
                  <a:lnTo>
                    <a:pt x="3866521" y="148184"/>
                  </a:lnTo>
                  <a:lnTo>
                    <a:pt x="3834027" y="115690"/>
                  </a:lnTo>
                  <a:lnTo>
                    <a:pt x="3798362" y="86640"/>
                  </a:lnTo>
                  <a:lnTo>
                    <a:pt x="3759802" y="61308"/>
                  </a:lnTo>
                  <a:lnTo>
                    <a:pt x="3718619" y="39967"/>
                  </a:lnTo>
                  <a:lnTo>
                    <a:pt x="3675087" y="22892"/>
                  </a:lnTo>
                  <a:lnTo>
                    <a:pt x="3629481" y="10357"/>
                  </a:lnTo>
                  <a:lnTo>
                    <a:pt x="3582074" y="2634"/>
                  </a:lnTo>
                  <a:lnTo>
                    <a:pt x="3533140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4242" y="6194298"/>
              <a:ext cx="3982720" cy="2694940"/>
            </a:xfrm>
            <a:custGeom>
              <a:avLst/>
              <a:gdLst/>
              <a:ahLst/>
              <a:cxnLst/>
              <a:rect l="l" t="t" r="r" b="b"/>
              <a:pathLst>
                <a:path w="3982720" h="2694940">
                  <a:moveTo>
                    <a:pt x="0" y="449071"/>
                  </a:moveTo>
                  <a:lnTo>
                    <a:pt x="2634" y="400137"/>
                  </a:lnTo>
                  <a:lnTo>
                    <a:pt x="10357" y="352730"/>
                  </a:lnTo>
                  <a:lnTo>
                    <a:pt x="22892" y="307124"/>
                  </a:lnTo>
                  <a:lnTo>
                    <a:pt x="39967" y="263592"/>
                  </a:lnTo>
                  <a:lnTo>
                    <a:pt x="61308" y="222409"/>
                  </a:lnTo>
                  <a:lnTo>
                    <a:pt x="86640" y="183849"/>
                  </a:lnTo>
                  <a:lnTo>
                    <a:pt x="115690" y="148184"/>
                  </a:lnTo>
                  <a:lnTo>
                    <a:pt x="148184" y="115690"/>
                  </a:lnTo>
                  <a:lnTo>
                    <a:pt x="183849" y="86640"/>
                  </a:lnTo>
                  <a:lnTo>
                    <a:pt x="222409" y="61308"/>
                  </a:lnTo>
                  <a:lnTo>
                    <a:pt x="263592" y="39967"/>
                  </a:lnTo>
                  <a:lnTo>
                    <a:pt x="307124" y="22892"/>
                  </a:lnTo>
                  <a:lnTo>
                    <a:pt x="352730" y="10357"/>
                  </a:lnTo>
                  <a:lnTo>
                    <a:pt x="400137" y="2634"/>
                  </a:lnTo>
                  <a:lnTo>
                    <a:pt x="449072" y="0"/>
                  </a:lnTo>
                  <a:lnTo>
                    <a:pt x="3533140" y="0"/>
                  </a:lnTo>
                  <a:lnTo>
                    <a:pt x="3582074" y="2634"/>
                  </a:lnTo>
                  <a:lnTo>
                    <a:pt x="3629481" y="10357"/>
                  </a:lnTo>
                  <a:lnTo>
                    <a:pt x="3675087" y="22892"/>
                  </a:lnTo>
                  <a:lnTo>
                    <a:pt x="3718619" y="39967"/>
                  </a:lnTo>
                  <a:lnTo>
                    <a:pt x="3759802" y="61308"/>
                  </a:lnTo>
                  <a:lnTo>
                    <a:pt x="3798362" y="86640"/>
                  </a:lnTo>
                  <a:lnTo>
                    <a:pt x="3834027" y="115690"/>
                  </a:lnTo>
                  <a:lnTo>
                    <a:pt x="3866521" y="148184"/>
                  </a:lnTo>
                  <a:lnTo>
                    <a:pt x="3895571" y="183849"/>
                  </a:lnTo>
                  <a:lnTo>
                    <a:pt x="3920903" y="222409"/>
                  </a:lnTo>
                  <a:lnTo>
                    <a:pt x="3942244" y="263592"/>
                  </a:lnTo>
                  <a:lnTo>
                    <a:pt x="3959319" y="307124"/>
                  </a:lnTo>
                  <a:lnTo>
                    <a:pt x="3971854" y="352730"/>
                  </a:lnTo>
                  <a:lnTo>
                    <a:pt x="3979577" y="400137"/>
                  </a:lnTo>
                  <a:lnTo>
                    <a:pt x="3982212" y="449071"/>
                  </a:lnTo>
                  <a:lnTo>
                    <a:pt x="3982212" y="2245360"/>
                  </a:lnTo>
                  <a:lnTo>
                    <a:pt x="3979577" y="2294289"/>
                  </a:lnTo>
                  <a:lnTo>
                    <a:pt x="3971854" y="2341693"/>
                  </a:lnTo>
                  <a:lnTo>
                    <a:pt x="3959319" y="2387297"/>
                  </a:lnTo>
                  <a:lnTo>
                    <a:pt x="3942244" y="2430828"/>
                  </a:lnTo>
                  <a:lnTo>
                    <a:pt x="3920903" y="2472010"/>
                  </a:lnTo>
                  <a:lnTo>
                    <a:pt x="3895571" y="2510571"/>
                  </a:lnTo>
                  <a:lnTo>
                    <a:pt x="3866521" y="2546237"/>
                  </a:lnTo>
                  <a:lnTo>
                    <a:pt x="3834027" y="2578732"/>
                  </a:lnTo>
                  <a:lnTo>
                    <a:pt x="3798362" y="2607784"/>
                  </a:lnTo>
                  <a:lnTo>
                    <a:pt x="3759802" y="2633118"/>
                  </a:lnTo>
                  <a:lnTo>
                    <a:pt x="3718619" y="2654460"/>
                  </a:lnTo>
                  <a:lnTo>
                    <a:pt x="3675087" y="2671537"/>
                  </a:lnTo>
                  <a:lnTo>
                    <a:pt x="3629481" y="2684073"/>
                  </a:lnTo>
                  <a:lnTo>
                    <a:pt x="3582074" y="2691796"/>
                  </a:lnTo>
                  <a:lnTo>
                    <a:pt x="3533140" y="2694432"/>
                  </a:lnTo>
                  <a:lnTo>
                    <a:pt x="449072" y="2694432"/>
                  </a:lnTo>
                  <a:lnTo>
                    <a:pt x="400137" y="2691796"/>
                  </a:lnTo>
                  <a:lnTo>
                    <a:pt x="352730" y="2684073"/>
                  </a:lnTo>
                  <a:lnTo>
                    <a:pt x="307124" y="2671537"/>
                  </a:lnTo>
                  <a:lnTo>
                    <a:pt x="263592" y="2654460"/>
                  </a:lnTo>
                  <a:lnTo>
                    <a:pt x="222409" y="2633118"/>
                  </a:lnTo>
                  <a:lnTo>
                    <a:pt x="183849" y="2607784"/>
                  </a:lnTo>
                  <a:lnTo>
                    <a:pt x="148184" y="2578732"/>
                  </a:lnTo>
                  <a:lnTo>
                    <a:pt x="115690" y="2546237"/>
                  </a:lnTo>
                  <a:lnTo>
                    <a:pt x="86640" y="2510571"/>
                  </a:lnTo>
                  <a:lnTo>
                    <a:pt x="61308" y="2472010"/>
                  </a:lnTo>
                  <a:lnTo>
                    <a:pt x="39967" y="2430828"/>
                  </a:lnTo>
                  <a:lnTo>
                    <a:pt x="22892" y="2387297"/>
                  </a:lnTo>
                  <a:lnTo>
                    <a:pt x="10357" y="2341693"/>
                  </a:lnTo>
                  <a:lnTo>
                    <a:pt x="2634" y="2294289"/>
                  </a:lnTo>
                  <a:lnTo>
                    <a:pt x="0" y="2245360"/>
                  </a:lnTo>
                  <a:lnTo>
                    <a:pt x="0" y="44907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39366" y="7098918"/>
            <a:ext cx="3247390" cy="82041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426845" marR="5080" indent="-1414780">
              <a:lnSpc>
                <a:spcPts val="2900"/>
              </a:lnSpc>
              <a:spcBef>
                <a:spcPts val="57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D.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Lgs.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82/2005,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art.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526" rIns="0" bIns="0" rtlCol="0">
            <a:spAutoFit/>
          </a:bodyPr>
          <a:lstStyle/>
          <a:p>
            <a:pPr marL="70675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La</a:t>
            </a:r>
            <a:r>
              <a:rPr sz="3200" spc="-50" dirty="0"/>
              <a:t> </a:t>
            </a:r>
            <a:r>
              <a:rPr sz="3200" dirty="0"/>
              <a:t>conservazione</a:t>
            </a:r>
            <a:r>
              <a:rPr sz="3200" spc="-70" dirty="0"/>
              <a:t> </a:t>
            </a:r>
            <a:r>
              <a:rPr sz="3200" dirty="0"/>
              <a:t>dei</a:t>
            </a:r>
            <a:r>
              <a:rPr sz="3200" spc="-35" dirty="0"/>
              <a:t> </a:t>
            </a:r>
            <a:r>
              <a:rPr sz="3200" dirty="0"/>
              <a:t>documenti</a:t>
            </a:r>
            <a:r>
              <a:rPr sz="3200" spc="-60" dirty="0"/>
              <a:t> </a:t>
            </a:r>
            <a:r>
              <a:rPr sz="3200" spc="-10" dirty="0"/>
              <a:t>informatici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605" y="1996439"/>
            <a:ext cx="3477103" cy="17876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5019" y="1340611"/>
            <a:ext cx="11455400" cy="744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3170" marR="436880" indent="-445134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773170" algn="l"/>
                <a:tab pos="3773804" algn="l"/>
              </a:tabLst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Processo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memorizzazione,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su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idoneo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supporto,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dei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digitali</a:t>
            </a:r>
            <a:r>
              <a:rPr sz="24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nell’ambito</a:t>
            </a:r>
            <a:r>
              <a:rPr sz="24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di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allo scopo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mantenerne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l’integrità</a:t>
            </a:r>
            <a:r>
              <a:rPr sz="24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0D5A8F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l’autenticità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nel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tempo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garantirne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l'accesso,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il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periodo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prescritto</a:t>
            </a:r>
            <a:r>
              <a:rPr sz="2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dalla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norma,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indipendentemente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dall'evolversi</a:t>
            </a:r>
            <a:r>
              <a:rPr sz="24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contesto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tecnologico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</a:pP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4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400" b="1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24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D5A8F"/>
                </a:solidFill>
                <a:latin typeface="Arial"/>
                <a:cs typeface="Arial"/>
              </a:rPr>
              <a:t>significa</a:t>
            </a:r>
            <a:r>
              <a:rPr sz="2400" spc="-10" dirty="0">
                <a:solidFill>
                  <a:srgbClr val="001F5F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457200" marR="242570" indent="-445134">
              <a:lnSpc>
                <a:spcPct val="100000"/>
              </a:lnSpc>
              <a:spcBef>
                <a:spcPts val="12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457200" algn="l"/>
                <a:tab pos="457834" algn="l"/>
              </a:tabLst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Proteggere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nel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tempo</a:t>
            </a:r>
            <a:r>
              <a:rPr sz="2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gli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archivi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digitali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prodotti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dalle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pubbliche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amministrazioni,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impedendone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danneggiamento,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perdita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distruzione</a:t>
            </a:r>
            <a:endParaRPr sz="2400">
              <a:latin typeface="Arial"/>
              <a:cs typeface="Arial"/>
            </a:endParaRPr>
          </a:p>
          <a:p>
            <a:pPr marL="457200" marR="57150" indent="-445134">
              <a:lnSpc>
                <a:spcPct val="100000"/>
              </a:lnSpc>
              <a:spcBef>
                <a:spcPts val="12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457200" algn="l"/>
                <a:tab pos="457834" algn="l"/>
              </a:tabLst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Garantire</a:t>
            </a:r>
            <a:r>
              <a:rPr sz="2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autenticità,</a:t>
            </a:r>
            <a:r>
              <a:rPr sz="2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integrità,</a:t>
            </a:r>
            <a:r>
              <a:rPr sz="2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leggibilità</a:t>
            </a:r>
            <a:r>
              <a:rPr sz="24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reperibilità</a:t>
            </a:r>
            <a:r>
              <a:rPr sz="24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attraverso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la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presenza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set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minimo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metadati</a:t>
            </a:r>
            <a:endParaRPr sz="2400">
              <a:latin typeface="Arial"/>
              <a:cs typeface="Arial"/>
            </a:endParaRPr>
          </a:p>
          <a:p>
            <a:pPr marL="457200" marR="74930" indent="-445134">
              <a:lnSpc>
                <a:spcPct val="100000"/>
              </a:lnSpc>
              <a:spcBef>
                <a:spcPts val="120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457200" algn="l"/>
                <a:tab pos="457834" algn="l"/>
              </a:tabLst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Consentire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l’agevole</a:t>
            </a:r>
            <a:r>
              <a:rPr sz="24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reperimento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l’accesso</a:t>
            </a:r>
            <a:r>
              <a:rPr sz="2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controllato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ai</a:t>
            </a:r>
            <a:r>
              <a:rPr sz="2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dati,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0D5A8F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informazioni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diffusione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degli stessi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fini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amministrativi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ricerca;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tutelare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valorizzare</a:t>
            </a:r>
            <a:r>
              <a:rPr sz="2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memoria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storica</a:t>
            </a:r>
            <a:endParaRPr sz="2400">
              <a:latin typeface="Arial"/>
              <a:cs typeface="Arial"/>
            </a:endParaRPr>
          </a:p>
          <a:p>
            <a:pPr marL="457200" indent="-445134">
              <a:lnSpc>
                <a:spcPct val="100000"/>
              </a:lnSpc>
              <a:spcBef>
                <a:spcPts val="12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457200" algn="l"/>
                <a:tab pos="457834" algn="l"/>
              </a:tabLst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Predisporre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idonee misure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qualità 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sicurezza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fisica,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logica 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tecnologica</a:t>
            </a:r>
            <a:endParaRPr sz="24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sistemi,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dati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D5A8F"/>
                </a:solidFill>
                <a:latin typeface="Arial"/>
                <a:cs typeface="Arial"/>
              </a:rPr>
              <a:t>dei </a:t>
            </a:r>
            <a:r>
              <a:rPr sz="2400" spc="-1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3372" y="8188452"/>
            <a:ext cx="416559" cy="600710"/>
            <a:chOff x="3363372" y="8188452"/>
            <a:chExt cx="416559" cy="600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3372" y="8192800"/>
              <a:ext cx="416242" cy="5961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93947" y="8188452"/>
              <a:ext cx="360045" cy="539750"/>
            </a:xfrm>
            <a:custGeom>
              <a:avLst/>
              <a:gdLst/>
              <a:ahLst/>
              <a:cxnLst/>
              <a:rect l="l" t="t" r="r" b="b"/>
              <a:pathLst>
                <a:path w="360045" h="539750">
                  <a:moveTo>
                    <a:pt x="179831" y="0"/>
                  </a:moveTo>
                  <a:lnTo>
                    <a:pt x="0" y="539496"/>
                  </a:lnTo>
                  <a:lnTo>
                    <a:pt x="359663" y="539496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008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877748" y="8188452"/>
            <a:ext cx="417830" cy="600710"/>
            <a:chOff x="6877748" y="8188452"/>
            <a:chExt cx="417830" cy="6007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7748" y="8192800"/>
              <a:ext cx="417690" cy="5961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908292" y="8188452"/>
              <a:ext cx="361315" cy="539750"/>
            </a:xfrm>
            <a:custGeom>
              <a:avLst/>
              <a:gdLst/>
              <a:ahLst/>
              <a:cxnLst/>
              <a:rect l="l" t="t" r="r" b="b"/>
              <a:pathLst>
                <a:path w="361315" h="539750">
                  <a:moveTo>
                    <a:pt x="180593" y="0"/>
                  </a:moveTo>
                  <a:lnTo>
                    <a:pt x="0" y="539496"/>
                  </a:lnTo>
                  <a:lnTo>
                    <a:pt x="361187" y="539496"/>
                  </a:lnTo>
                  <a:lnTo>
                    <a:pt x="180593" y="0"/>
                  </a:lnTo>
                  <a:close/>
                </a:path>
              </a:pathLst>
            </a:custGeom>
            <a:solidFill>
              <a:srgbClr val="008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414951" y="8186928"/>
            <a:ext cx="417830" cy="600710"/>
            <a:chOff x="10414951" y="8186928"/>
            <a:chExt cx="417830" cy="6007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4951" y="8191276"/>
              <a:ext cx="417690" cy="5961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445495" y="8186928"/>
              <a:ext cx="361315" cy="539750"/>
            </a:xfrm>
            <a:custGeom>
              <a:avLst/>
              <a:gdLst/>
              <a:ahLst/>
              <a:cxnLst/>
              <a:rect l="l" t="t" r="r" b="b"/>
              <a:pathLst>
                <a:path w="361315" h="539750">
                  <a:moveTo>
                    <a:pt x="180594" y="0"/>
                  </a:moveTo>
                  <a:lnTo>
                    <a:pt x="0" y="539496"/>
                  </a:lnTo>
                  <a:lnTo>
                    <a:pt x="361187" y="539496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008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978408" y="1866900"/>
            <a:ext cx="11088370" cy="0"/>
          </a:xfrm>
          <a:custGeom>
            <a:avLst/>
            <a:gdLst/>
            <a:ahLst/>
            <a:cxnLst/>
            <a:rect l="l" t="t" r="r" b="b"/>
            <a:pathLst>
              <a:path w="11088370">
                <a:moveTo>
                  <a:pt x="0" y="0"/>
                </a:moveTo>
                <a:lnTo>
                  <a:pt x="11087989" y="0"/>
                </a:lnTo>
              </a:path>
            </a:pathLst>
          </a:custGeom>
          <a:ln w="9144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10792" y="1446022"/>
            <a:ext cx="10784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0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2000" b="1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PA: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000" b="1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contesto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strategico</a:t>
            </a:r>
            <a:r>
              <a:rPr sz="2000" b="1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 riferimento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42032" y="1938527"/>
            <a:ext cx="10224770" cy="3104515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262255" marR="182880" indent="-173990">
              <a:lnSpc>
                <a:spcPct val="100000"/>
              </a:lnSpc>
              <a:spcBef>
                <a:spcPts val="1170"/>
              </a:spcBef>
              <a:buChar char="•"/>
              <a:tabLst>
                <a:tab pos="2628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Cessazione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dell’obbligo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carico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cittadini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imprese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nei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casi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cui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esso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sia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già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conservato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legge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da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una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Pubblica</a:t>
            </a:r>
            <a:r>
              <a:rPr sz="1400" spc="-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(alla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quale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sarà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possibile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richiederlo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ogni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momento)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D5A8F"/>
              </a:buClr>
              <a:buFont typeface="Arial"/>
              <a:buChar char="•"/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D5A8F"/>
              </a:buClr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262255" marR="1016635" indent="-173990">
              <a:lnSpc>
                <a:spcPct val="100000"/>
              </a:lnSpc>
              <a:buChar char="•"/>
              <a:tabLst>
                <a:tab pos="2628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tecniche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descritte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nei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due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D.P.C.M.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3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dicembre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2013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materia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protocollo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restano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comunque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pienamente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vigore,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fino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all’adozione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nuove.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D5A8F"/>
              </a:buClr>
              <a:buFont typeface="Arial"/>
              <a:buChar char="•"/>
            </a:pPr>
            <a:endParaRPr sz="1450">
              <a:latin typeface="Arial"/>
              <a:cs typeface="Arial"/>
            </a:endParaRPr>
          </a:p>
          <a:p>
            <a:pPr marL="262255" marR="698500" indent="-173990">
              <a:lnSpc>
                <a:spcPct val="100000"/>
              </a:lnSpc>
              <a:buChar char="•"/>
              <a:tabLst>
                <a:tab pos="2628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istanze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dichiarazioni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pervenute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PA</a:t>
            </a:r>
            <a:r>
              <a:rPr sz="14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via telematica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sono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valide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anche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senza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firma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l’istante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il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richiedente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identificato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attraverso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SPID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5843" y="1938527"/>
            <a:ext cx="2194560" cy="3104515"/>
          </a:xfrm>
          <a:custGeom>
            <a:avLst/>
            <a:gdLst/>
            <a:ahLst/>
            <a:cxnLst/>
            <a:rect l="l" t="t" r="r" b="b"/>
            <a:pathLst>
              <a:path w="2194560" h="3104515">
                <a:moveTo>
                  <a:pt x="2194560" y="0"/>
                </a:moveTo>
                <a:lnTo>
                  <a:pt x="0" y="0"/>
                </a:lnTo>
                <a:lnTo>
                  <a:pt x="0" y="3104388"/>
                </a:lnTo>
                <a:lnTo>
                  <a:pt x="2194560" y="3104388"/>
                </a:lnTo>
                <a:lnTo>
                  <a:pt x="2194560" y="0"/>
                </a:lnTo>
                <a:close/>
              </a:path>
            </a:pathLst>
          </a:custGeom>
          <a:solidFill>
            <a:srgbClr val="008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5843" y="1938527"/>
            <a:ext cx="2194560" cy="310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>
              <a:latin typeface="Times New Roman"/>
              <a:cs typeface="Times New Roman"/>
            </a:endParaRPr>
          </a:p>
          <a:p>
            <a:pPr marL="161290" marR="224790" algn="ctr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Decreto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legislativo n.179/2016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Arial"/>
              <a:cs typeface="Arial"/>
            </a:endParaRPr>
          </a:p>
          <a:p>
            <a:pPr marL="40640" marR="107314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Modifiche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Codice dell’Amministrazione Digitale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42032" y="5128259"/>
            <a:ext cx="10224770" cy="4174490"/>
          </a:xfrm>
          <a:custGeom>
            <a:avLst/>
            <a:gdLst/>
            <a:ahLst/>
            <a:cxnLst/>
            <a:rect l="l" t="t" r="r" b="b"/>
            <a:pathLst>
              <a:path w="10224770" h="4174490">
                <a:moveTo>
                  <a:pt x="0" y="4174236"/>
                </a:moveTo>
                <a:lnTo>
                  <a:pt x="10224516" y="4174236"/>
                </a:lnTo>
                <a:lnTo>
                  <a:pt x="10224516" y="0"/>
                </a:lnTo>
                <a:lnTo>
                  <a:pt x="0" y="0"/>
                </a:lnTo>
                <a:lnTo>
                  <a:pt x="0" y="4174236"/>
                </a:lnTo>
                <a:close/>
              </a:path>
            </a:pathLst>
          </a:custGeom>
          <a:ln w="9143">
            <a:solidFill>
              <a:srgbClr val="9797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17977" y="5156453"/>
            <a:ext cx="980630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«Piano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Triennale»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prevede,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tra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gli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altri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obiettivi:</a:t>
            </a:r>
            <a:endParaRPr sz="1400">
              <a:latin typeface="Arial"/>
              <a:cs typeface="Arial"/>
            </a:endParaRPr>
          </a:p>
          <a:p>
            <a:pPr marL="186055" marR="494665" indent="-173990">
              <a:lnSpc>
                <a:spcPct val="100000"/>
              </a:lnSpc>
              <a:buChar char="•"/>
              <a:tabLst>
                <a:tab pos="1866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realizzazione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nazionale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Poli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norma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propri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documenti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fascicoli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informatici;</a:t>
            </a:r>
            <a:endParaRPr sz="1400">
              <a:latin typeface="Arial"/>
              <a:cs typeface="Arial"/>
            </a:endParaRPr>
          </a:p>
          <a:p>
            <a:pPr marL="186055" indent="-173990">
              <a:lnSpc>
                <a:spcPct val="100000"/>
              </a:lnSpc>
              <a:buChar char="•"/>
              <a:tabLst>
                <a:tab pos="1866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razionalizzazione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data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center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pubbliche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(infrastrutture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fisiche)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diffusione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infrastrutture</a:t>
            </a:r>
            <a:endParaRPr sz="1400">
              <a:latin typeface="Arial"/>
              <a:cs typeface="Arial"/>
            </a:endParaRPr>
          </a:p>
          <a:p>
            <a:pPr marL="186055">
              <a:lnSpc>
                <a:spcPct val="100000"/>
              </a:lnSpc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immateriali</a:t>
            </a:r>
            <a:r>
              <a:rPr sz="1400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nazionali;</a:t>
            </a:r>
            <a:endParaRPr sz="1400">
              <a:latin typeface="Arial"/>
              <a:cs typeface="Arial"/>
            </a:endParaRPr>
          </a:p>
          <a:p>
            <a:pPr marL="186055" indent="-173990">
              <a:lnSpc>
                <a:spcPct val="100000"/>
              </a:lnSpc>
              <a:buChar char="•"/>
              <a:tabLst>
                <a:tab pos="1866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razionalizzazione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spesa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ICT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Pubblica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suo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riorientamento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livello</a:t>
            </a:r>
            <a:r>
              <a:rPr sz="14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nazionale.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5843" y="5128259"/>
            <a:ext cx="2194560" cy="4175760"/>
          </a:xfrm>
          <a:custGeom>
            <a:avLst/>
            <a:gdLst/>
            <a:ahLst/>
            <a:cxnLst/>
            <a:rect l="l" t="t" r="r" b="b"/>
            <a:pathLst>
              <a:path w="2194560" h="4175759">
                <a:moveTo>
                  <a:pt x="2194560" y="0"/>
                </a:moveTo>
                <a:lnTo>
                  <a:pt x="0" y="0"/>
                </a:lnTo>
                <a:lnTo>
                  <a:pt x="0" y="4175760"/>
                </a:lnTo>
                <a:lnTo>
                  <a:pt x="2194560" y="4175760"/>
                </a:lnTo>
                <a:lnTo>
                  <a:pt x="2194560" y="0"/>
                </a:lnTo>
                <a:close/>
              </a:path>
            </a:pathLst>
          </a:custGeom>
          <a:solidFill>
            <a:srgbClr val="008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5843" y="5128259"/>
            <a:ext cx="2194560" cy="417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46050" marR="210185" algn="ctr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Piano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triennale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per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l’informatica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nella Pubblica Amministrazione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2017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2019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06623" y="8138159"/>
            <a:ext cx="9962515" cy="708660"/>
            <a:chOff x="2706623" y="8138159"/>
            <a:chExt cx="9962515" cy="70866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6623" y="8138159"/>
              <a:ext cx="9962388" cy="70866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59201" y="8161781"/>
              <a:ext cx="9865360" cy="615950"/>
            </a:xfrm>
            <a:custGeom>
              <a:avLst/>
              <a:gdLst/>
              <a:ahLst/>
              <a:cxnLst/>
              <a:rect l="l" t="t" r="r" b="b"/>
              <a:pathLst>
                <a:path w="9865360" h="615950">
                  <a:moveTo>
                    <a:pt x="9557004" y="0"/>
                  </a:moveTo>
                  <a:lnTo>
                    <a:pt x="9557004" y="153924"/>
                  </a:lnTo>
                  <a:lnTo>
                    <a:pt x="0" y="153924"/>
                  </a:lnTo>
                  <a:lnTo>
                    <a:pt x="0" y="461772"/>
                  </a:lnTo>
                  <a:lnTo>
                    <a:pt x="9557004" y="461772"/>
                  </a:lnTo>
                  <a:lnTo>
                    <a:pt x="9557004" y="615696"/>
                  </a:lnTo>
                  <a:lnTo>
                    <a:pt x="9864852" y="307848"/>
                  </a:lnTo>
                  <a:lnTo>
                    <a:pt x="9557004" y="0"/>
                  </a:lnTo>
                  <a:close/>
                </a:path>
              </a:pathLst>
            </a:custGeom>
            <a:solidFill>
              <a:srgbClr val="008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59201" y="8161781"/>
              <a:ext cx="9865360" cy="615950"/>
            </a:xfrm>
            <a:custGeom>
              <a:avLst/>
              <a:gdLst/>
              <a:ahLst/>
              <a:cxnLst/>
              <a:rect l="l" t="t" r="r" b="b"/>
              <a:pathLst>
                <a:path w="9865360" h="615950">
                  <a:moveTo>
                    <a:pt x="0" y="153924"/>
                  </a:moveTo>
                  <a:lnTo>
                    <a:pt x="9557004" y="153924"/>
                  </a:lnTo>
                  <a:lnTo>
                    <a:pt x="9557004" y="0"/>
                  </a:lnTo>
                  <a:lnTo>
                    <a:pt x="9864852" y="307848"/>
                  </a:lnTo>
                  <a:lnTo>
                    <a:pt x="9557004" y="615696"/>
                  </a:lnTo>
                  <a:lnTo>
                    <a:pt x="9557004" y="461772"/>
                  </a:lnTo>
                  <a:lnTo>
                    <a:pt x="0" y="461772"/>
                  </a:lnTo>
                  <a:lnTo>
                    <a:pt x="0" y="153924"/>
                  </a:lnTo>
                  <a:close/>
                </a:path>
              </a:pathLst>
            </a:custGeom>
            <a:ln w="25908">
              <a:solidFill>
                <a:srgbClr val="0364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17977" y="6650228"/>
            <a:ext cx="991933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particolare,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nel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Piano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previsto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realizzazione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Poli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partecipino:</a:t>
            </a:r>
            <a:endParaRPr sz="1400">
              <a:latin typeface="Arial"/>
              <a:cs typeface="Arial"/>
            </a:endParaRPr>
          </a:p>
          <a:p>
            <a:pPr marL="186055" marR="5080" indent="-173990">
              <a:lnSpc>
                <a:spcPct val="100000"/>
              </a:lnSpc>
              <a:spcBef>
                <a:spcPts val="5"/>
              </a:spcBef>
              <a:buChar char="•"/>
              <a:tabLst>
                <a:tab pos="1866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realizzazione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400" b="1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1400" b="1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D5A8F"/>
                </a:solidFill>
                <a:latin typeface="Arial"/>
                <a:cs typeface="Arial"/>
              </a:rPr>
              <a:t>Procedimenti</a:t>
            </a:r>
            <a:r>
              <a:rPr sz="14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Amministrativi</a:t>
            </a:r>
            <a:r>
              <a:rPr sz="14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Nazionale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D5A8F"/>
                </a:solidFill>
                <a:latin typeface="Arial"/>
                <a:cs typeface="Arial"/>
              </a:rPr>
              <a:t>(SGPA),</a:t>
            </a:r>
            <a:r>
              <a:rPr sz="1400" b="1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stabilisce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interoperabilità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flussi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documentali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(documento,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fascicolo,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protocollo)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tra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endParaRPr sz="1400">
              <a:latin typeface="Arial"/>
              <a:cs typeface="Arial"/>
            </a:endParaRPr>
          </a:p>
          <a:p>
            <a:pPr marL="186055" indent="-173990">
              <a:lnSpc>
                <a:spcPct val="100000"/>
              </a:lnSpc>
              <a:buChar char="•"/>
              <a:tabLst>
                <a:tab pos="1866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realizzazione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degli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archivi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digitali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perenni</a:t>
            </a:r>
            <a:endParaRPr sz="1400">
              <a:latin typeface="Arial"/>
              <a:cs typeface="Arial"/>
            </a:endParaRPr>
          </a:p>
          <a:p>
            <a:pPr marL="186055" indent="-173990">
              <a:lnSpc>
                <a:spcPct val="100000"/>
              </a:lnSpc>
              <a:buChar char="•"/>
              <a:tabLst>
                <a:tab pos="186690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definizione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interscambio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l’interoperabilità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tabLst>
                <a:tab pos="4271010" algn="l"/>
                <a:tab pos="7808595" algn="l"/>
              </a:tabLst>
            </a:pPr>
            <a:r>
              <a:rPr sz="1400" b="1" spc="-20" dirty="0">
                <a:solidFill>
                  <a:srgbClr val="0086E6"/>
                </a:solidFill>
                <a:latin typeface="Arial"/>
                <a:cs typeface="Arial"/>
              </a:rPr>
              <a:t>2017</a:t>
            </a:r>
            <a:r>
              <a:rPr sz="1400" b="1" dirty="0">
                <a:solidFill>
                  <a:srgbClr val="0086E6"/>
                </a:solidFill>
                <a:latin typeface="Arial"/>
                <a:cs typeface="Arial"/>
              </a:rPr>
              <a:t>	</a:t>
            </a:r>
            <a:r>
              <a:rPr sz="1400" b="1" spc="-20" dirty="0">
                <a:solidFill>
                  <a:srgbClr val="0086E6"/>
                </a:solidFill>
                <a:latin typeface="Arial"/>
                <a:cs typeface="Arial"/>
              </a:rPr>
              <a:t>2018</a:t>
            </a:r>
            <a:r>
              <a:rPr sz="1400" b="1" dirty="0">
                <a:solidFill>
                  <a:srgbClr val="0086E6"/>
                </a:solidFill>
                <a:latin typeface="Arial"/>
                <a:cs typeface="Arial"/>
              </a:rPr>
              <a:t>	</a:t>
            </a:r>
            <a:r>
              <a:rPr sz="1400" b="1" spc="-20" dirty="0">
                <a:solidFill>
                  <a:srgbClr val="0086E6"/>
                </a:solidFill>
                <a:latin typeface="Arial"/>
                <a:cs typeface="Arial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195" y="1984248"/>
            <a:ext cx="1133856" cy="144017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848" y="5524500"/>
            <a:ext cx="1368552" cy="193395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2783839" y="8765540"/>
            <a:ext cx="2611755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1050" spc="17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Realizzazione del</a:t>
            </a:r>
            <a:r>
              <a:rPr sz="105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0D5A8F"/>
                </a:solidFill>
                <a:latin typeface="Arial"/>
                <a:cs typeface="Arial"/>
              </a:rPr>
              <a:t>SGPA</a:t>
            </a:r>
            <a:endParaRPr sz="1050">
              <a:latin typeface="Arial"/>
              <a:cs typeface="Arial"/>
            </a:endParaRPr>
          </a:p>
          <a:p>
            <a:pPr marL="182880" marR="5080" indent="-170815">
              <a:lnSpc>
                <a:spcPct val="100000"/>
              </a:lnSpc>
            </a:pP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1050" spc="18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Definizione</a:t>
            </a:r>
            <a:r>
              <a:rPr sz="105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05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05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 conservazione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degli</a:t>
            </a:r>
            <a:r>
              <a:rPr sz="105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archivi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digitali</a:t>
            </a:r>
            <a:r>
              <a:rPr sz="105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perenni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584048" y="9456038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39041" y="9496899"/>
            <a:ext cx="14541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solidFill>
                  <a:srgbClr val="FFFFFF"/>
                </a:solidFill>
                <a:latin typeface="Wingdings"/>
                <a:cs typeface="Wingdings"/>
              </a:rPr>
              <a:t></a:t>
            </a:r>
            <a:endParaRPr sz="1050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98997" y="8760358"/>
            <a:ext cx="2842895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1050" spc="1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Realizzazione</a:t>
            </a:r>
            <a:r>
              <a:rPr sz="105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05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Poli</a:t>
            </a:r>
            <a:r>
              <a:rPr sz="105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 Conservazione</a:t>
            </a:r>
            <a:endParaRPr sz="1050">
              <a:latin typeface="Arial"/>
              <a:cs typeface="Arial"/>
            </a:endParaRPr>
          </a:p>
          <a:p>
            <a:pPr marL="182880" marR="5080" indent="-170815">
              <a:lnSpc>
                <a:spcPct val="100000"/>
              </a:lnSpc>
            </a:pP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1050" spc="18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Definizione</a:t>
            </a:r>
            <a:r>
              <a:rPr sz="105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05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interscambio</a:t>
            </a:r>
            <a:r>
              <a:rPr sz="105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0D5A8F"/>
                </a:solidFill>
                <a:latin typeface="Arial"/>
                <a:cs typeface="Arial"/>
              </a:rPr>
              <a:t>per 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l’interoperabilità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 dei</a:t>
            </a:r>
            <a:r>
              <a:rPr sz="105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sistemi di</a:t>
            </a:r>
            <a:r>
              <a:rPr sz="1050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42018" y="8762186"/>
            <a:ext cx="310515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880" marR="5080" indent="-170815" algn="just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1050" spc="204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Le 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105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portano</a:t>
            </a:r>
            <a:r>
              <a:rPr sz="105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regime</a:t>
            </a:r>
            <a:r>
              <a:rPr sz="105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l’utilizzo</a:t>
            </a:r>
            <a:r>
              <a:rPr sz="105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0D5A8F"/>
                </a:solidFill>
                <a:latin typeface="Arial"/>
                <a:cs typeface="Arial"/>
              </a:rPr>
              <a:t>dei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05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05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05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05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norma</a:t>
            </a:r>
            <a:r>
              <a:rPr sz="105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05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tutti</a:t>
            </a:r>
            <a:r>
              <a:rPr sz="105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i</a:t>
            </a:r>
            <a:r>
              <a:rPr sz="105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propri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105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105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05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D5A8F"/>
                </a:solidFill>
                <a:latin typeface="Arial"/>
                <a:cs typeface="Arial"/>
              </a:rPr>
              <a:t>fascicoli</a:t>
            </a:r>
            <a:r>
              <a:rPr sz="105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D5A8F"/>
                </a:solidFill>
                <a:latin typeface="Arial"/>
                <a:cs typeface="Arial"/>
              </a:rPr>
              <a:t>informatici.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36" y="1866900"/>
            <a:ext cx="11861165" cy="0"/>
          </a:xfrm>
          <a:custGeom>
            <a:avLst/>
            <a:gdLst/>
            <a:ahLst/>
            <a:cxnLst/>
            <a:rect l="l" t="t" r="r" b="b"/>
            <a:pathLst>
              <a:path w="11861165">
                <a:moveTo>
                  <a:pt x="0" y="0"/>
                </a:moveTo>
                <a:lnTo>
                  <a:pt x="11861165" y="0"/>
                </a:lnTo>
              </a:path>
            </a:pathLst>
          </a:custGeom>
          <a:ln w="9144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1576" y="1446022"/>
            <a:ext cx="11706860" cy="250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2000" b="1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0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0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b="1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20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PA:</a:t>
            </a:r>
            <a:r>
              <a:rPr sz="20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grande</a:t>
            </a:r>
            <a:r>
              <a:rPr sz="20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cambiamento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600" spc="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formazione</a:t>
            </a:r>
            <a:r>
              <a:rPr sz="1600" spc="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600" spc="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600" spc="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1600" spc="1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600" spc="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pubblica</a:t>
            </a:r>
            <a:r>
              <a:rPr sz="1600" spc="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amministrazione</a:t>
            </a:r>
            <a:r>
              <a:rPr sz="1600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esclusivamente</a:t>
            </a:r>
            <a:r>
              <a:rPr sz="1600" spc="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600" spc="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formato</a:t>
            </a:r>
            <a:r>
              <a:rPr sz="1600" spc="1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r>
              <a:rPr sz="1600" spc="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richiede</a:t>
            </a:r>
            <a:r>
              <a:rPr sz="1600" spc="1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un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profondo</a:t>
            </a:r>
            <a:r>
              <a:rPr sz="16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cambiamento</a:t>
            </a:r>
            <a:r>
              <a:rPr sz="1600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6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PA</a:t>
            </a:r>
            <a:r>
              <a:rPr sz="16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6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livello</a:t>
            </a:r>
            <a:r>
              <a:rPr sz="16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centrale</a:t>
            </a:r>
            <a:r>
              <a:rPr sz="16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locale</a:t>
            </a:r>
            <a:r>
              <a:rPr sz="16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l’introduzione</a:t>
            </a:r>
            <a:r>
              <a:rPr sz="1600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concetti</a:t>
            </a:r>
            <a:r>
              <a:rPr sz="1600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1600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fascicolo</a:t>
            </a:r>
            <a:r>
              <a:rPr sz="1600" spc="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1600" spc="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nelle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amministrazioni.</a:t>
            </a:r>
            <a:r>
              <a:rPr sz="1600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Questo</a:t>
            </a:r>
            <a:r>
              <a:rPr sz="1600" spc="3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cambiamento</a:t>
            </a:r>
            <a:r>
              <a:rPr sz="1600" spc="3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600" spc="3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presuppone</a:t>
            </a:r>
            <a:r>
              <a:rPr sz="1600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600" spc="3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completa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digitalizzazione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dell’attività</a:t>
            </a:r>
            <a:r>
              <a:rPr sz="1600" spc="3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amministrativa,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l’adozione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informatica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flussi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documentali</a:t>
            </a:r>
            <a:r>
              <a:rPr sz="1600" spc="4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45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protocollo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informatico</a:t>
            </a:r>
            <a:r>
              <a:rPr sz="1600" spc="4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integrati</a:t>
            </a:r>
            <a:r>
              <a:rPr sz="1600" spc="45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ad</a:t>
            </a:r>
            <a:r>
              <a:rPr sz="1600" spc="45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600" spc="45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600" spc="4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4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1600" spc="45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dei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procedimenti</a:t>
            </a:r>
            <a:r>
              <a:rPr sz="1600" spc="-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amministrativi.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00">
              <a:latin typeface="Arial"/>
              <a:cs typeface="Arial"/>
            </a:endParaRPr>
          </a:p>
          <a:p>
            <a:pPr marR="73025" algn="ctr">
              <a:lnSpc>
                <a:spcPct val="100000"/>
              </a:lnSpc>
            </a:pP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600" b="1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1600" b="1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INFORMATICA</a:t>
            </a:r>
            <a:r>
              <a:rPr sz="16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b="1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FLUSSI</a:t>
            </a:r>
            <a:r>
              <a:rPr sz="16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D5A8F"/>
                </a:solidFill>
                <a:latin typeface="Arial"/>
                <a:cs typeface="Arial"/>
              </a:rPr>
              <a:t>DOCUMENTALI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080" y="5887211"/>
            <a:ext cx="11783695" cy="1007744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35560" marR="98425">
              <a:lnSpc>
                <a:spcPct val="100000"/>
              </a:lnSpc>
            </a:pP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Cambiamento</a:t>
            </a:r>
            <a:r>
              <a:rPr sz="1600" b="1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tecnologico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:</a:t>
            </a:r>
            <a:r>
              <a:rPr sz="1600" spc="114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600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1600" spc="1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devono</a:t>
            </a:r>
            <a:r>
              <a:rPr sz="1600" spc="114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dotarsi</a:t>
            </a:r>
            <a:r>
              <a:rPr sz="1600" spc="1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114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tutti</a:t>
            </a:r>
            <a:r>
              <a:rPr sz="1600" spc="114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gli</a:t>
            </a:r>
            <a:r>
              <a:rPr sz="1600" spc="114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strumenti</a:t>
            </a:r>
            <a:r>
              <a:rPr sz="1600" spc="1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hardware</a:t>
            </a:r>
            <a:r>
              <a:rPr sz="1600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1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software</a:t>
            </a:r>
            <a:r>
              <a:rPr sz="1600" spc="114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necessari</a:t>
            </a:r>
            <a:r>
              <a:rPr sz="1600" spc="1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600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gestire</a:t>
            </a:r>
            <a:r>
              <a:rPr sz="1600" spc="1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la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documentazione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formato</a:t>
            </a:r>
            <a:r>
              <a:rPr sz="16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080" y="6964680"/>
            <a:ext cx="11783695" cy="1007744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600" b="1" spc="-10" dirty="0">
                <a:solidFill>
                  <a:srgbClr val="0D5A8F"/>
                </a:solidFill>
                <a:latin typeface="Arial"/>
                <a:cs typeface="Arial"/>
              </a:rPr>
              <a:t>Cambiamento</a:t>
            </a:r>
            <a:r>
              <a:rPr sz="16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organizzativo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:</a:t>
            </a:r>
            <a:r>
              <a:rPr sz="16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attraverso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reingegnerizzazione</a:t>
            </a:r>
            <a:r>
              <a:rPr sz="16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processi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flussi</a:t>
            </a:r>
            <a:r>
              <a:rPr sz="16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lavoro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interni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alle</a:t>
            </a:r>
            <a:r>
              <a:rPr sz="16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080" y="8045195"/>
            <a:ext cx="11783695" cy="1007744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Cambiamento</a:t>
            </a:r>
            <a:r>
              <a:rPr sz="1600" b="1" spc="2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D5A8F"/>
                </a:solidFill>
                <a:latin typeface="Arial"/>
                <a:cs typeface="Arial"/>
              </a:rPr>
              <a:t>giuridico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:</a:t>
            </a:r>
            <a:r>
              <a:rPr sz="1600" spc="3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1600" spc="3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l’aggiornamento</a:t>
            </a:r>
            <a:r>
              <a:rPr sz="1600" spc="3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regolamenti</a:t>
            </a:r>
            <a:r>
              <a:rPr sz="1600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manuali</a:t>
            </a:r>
            <a:r>
              <a:rPr sz="1600" spc="29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interni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(es.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Manuale</a:t>
            </a:r>
            <a:r>
              <a:rPr sz="1600" spc="3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3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Gestione,</a:t>
            </a:r>
            <a:r>
              <a:rPr sz="1600" spc="3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Manuale</a:t>
            </a:r>
            <a:r>
              <a:rPr sz="1600" spc="30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endParaRPr sz="160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</a:pP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Conservazione)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0080" y="5236464"/>
            <a:ext cx="11783695" cy="408940"/>
          </a:xfrm>
          <a:custGeom>
            <a:avLst/>
            <a:gdLst/>
            <a:ahLst/>
            <a:cxnLst/>
            <a:rect l="l" t="t" r="r" b="b"/>
            <a:pathLst>
              <a:path w="11783695" h="408939">
                <a:moveTo>
                  <a:pt x="11289157" y="0"/>
                </a:moveTo>
                <a:lnTo>
                  <a:pt x="512940" y="17780"/>
                </a:lnTo>
                <a:lnTo>
                  <a:pt x="0" y="408432"/>
                </a:lnTo>
                <a:lnTo>
                  <a:pt x="11783568" y="408432"/>
                </a:lnTo>
                <a:lnTo>
                  <a:pt x="11289157" y="0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44116" y="4304157"/>
            <a:ext cx="13944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D5A8F"/>
                </a:solidFill>
                <a:latin typeface="Arial"/>
                <a:cs typeface="Arial"/>
              </a:rPr>
              <a:t>Registrazione</a:t>
            </a:r>
            <a:r>
              <a:rPr sz="1400" b="1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1400" b="1" spc="-10" dirty="0">
                <a:solidFill>
                  <a:srgbClr val="0D5A8F"/>
                </a:solidFill>
                <a:latin typeface="Arial"/>
                <a:cs typeface="Arial"/>
              </a:rPr>
              <a:t>protocollo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52847" y="4304791"/>
            <a:ext cx="11017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D5A8F"/>
                </a:solidFill>
                <a:latin typeface="Arial"/>
                <a:cs typeface="Arial"/>
              </a:rPr>
              <a:t>Segnatura </a:t>
            </a: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D5A8F"/>
                </a:solidFill>
                <a:latin typeface="Arial"/>
                <a:cs typeface="Arial"/>
              </a:rPr>
              <a:t>protocollo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6058" y="4196841"/>
            <a:ext cx="154432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Classificazione</a:t>
            </a:r>
            <a:r>
              <a:rPr sz="1400" b="1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0D5A8F"/>
                </a:solidFill>
                <a:latin typeface="Arial"/>
                <a:cs typeface="Arial"/>
              </a:rPr>
              <a:t>e </a:t>
            </a:r>
            <a:r>
              <a:rPr sz="1400" b="1" dirty="0">
                <a:solidFill>
                  <a:srgbClr val="0D5A8F"/>
                </a:solidFill>
                <a:latin typeface="Arial"/>
                <a:cs typeface="Arial"/>
              </a:rPr>
              <a:t>fascicolazione</a:t>
            </a:r>
            <a:r>
              <a:rPr sz="1400" b="1" spc="-9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0D5A8F"/>
                </a:solidFill>
                <a:latin typeface="Arial"/>
                <a:cs typeface="Arial"/>
              </a:rPr>
              <a:t>dei </a:t>
            </a:r>
            <a:r>
              <a:rPr sz="1400" b="1" spc="-1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50452" y="4070603"/>
            <a:ext cx="2880360" cy="928369"/>
          </a:xfrm>
          <a:custGeom>
            <a:avLst/>
            <a:gdLst/>
            <a:ahLst/>
            <a:cxnLst/>
            <a:rect l="l" t="t" r="r" b="b"/>
            <a:pathLst>
              <a:path w="2880359" h="928370">
                <a:moveTo>
                  <a:pt x="2416302" y="0"/>
                </a:moveTo>
                <a:lnTo>
                  <a:pt x="0" y="0"/>
                </a:lnTo>
                <a:lnTo>
                  <a:pt x="464057" y="464058"/>
                </a:lnTo>
                <a:lnTo>
                  <a:pt x="0" y="928116"/>
                </a:lnTo>
                <a:lnTo>
                  <a:pt x="2416302" y="928116"/>
                </a:lnTo>
                <a:lnTo>
                  <a:pt x="2880359" y="464058"/>
                </a:lnTo>
                <a:lnTo>
                  <a:pt x="2416302" y="0"/>
                </a:lnTo>
                <a:close/>
              </a:path>
            </a:pathLst>
          </a:custGeom>
          <a:solidFill>
            <a:srgbClr val="C724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762235" y="4303521"/>
            <a:ext cx="126111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208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conservazione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048" y="9456038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39041" y="9496899"/>
            <a:ext cx="14541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solidFill>
                  <a:srgbClr val="FFFFFF"/>
                </a:solidFill>
                <a:latin typeface="Wingdings"/>
                <a:cs typeface="Wingdings"/>
              </a:rPr>
              <a:t></a:t>
            </a:r>
            <a:endParaRPr sz="105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36" y="1866900"/>
            <a:ext cx="11861165" cy="0"/>
          </a:xfrm>
          <a:custGeom>
            <a:avLst/>
            <a:gdLst/>
            <a:ahLst/>
            <a:cxnLst/>
            <a:rect l="l" t="t" r="r" b="b"/>
            <a:pathLst>
              <a:path w="11861165">
                <a:moveTo>
                  <a:pt x="0" y="0"/>
                </a:moveTo>
                <a:lnTo>
                  <a:pt x="11861165" y="0"/>
                </a:lnTo>
              </a:path>
            </a:pathLst>
          </a:custGeom>
          <a:ln w="9144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2563" y="1446022"/>
            <a:ext cx="10797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0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20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PA:</a:t>
            </a:r>
            <a:r>
              <a:rPr sz="20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2000" b="1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contesto</a:t>
            </a:r>
            <a:r>
              <a:rPr sz="2000" b="1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normativo</a:t>
            </a: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20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riferimento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84048" y="9456038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39041" y="9496899"/>
            <a:ext cx="14541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solidFill>
                  <a:srgbClr val="FFFFFF"/>
                </a:solidFill>
                <a:latin typeface="Wingdings"/>
                <a:cs typeface="Wingdings"/>
              </a:rPr>
              <a:t></a:t>
            </a:r>
            <a:endParaRPr sz="10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115" y="2011679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Times New Roman"/>
              <a:cs typeface="Times New Roman"/>
            </a:endParaRPr>
          </a:p>
          <a:p>
            <a:pPr marL="66548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Codice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Civile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8439" y="2011679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36195" algn="ctr">
              <a:lnSpc>
                <a:spcPct val="100000"/>
              </a:lnSpc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Libro</a:t>
            </a:r>
            <a:r>
              <a:rPr sz="16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0D5A8F"/>
                </a:solidFill>
                <a:latin typeface="Arial"/>
                <a:cs typeface="Arial"/>
              </a:rPr>
              <a:t>V,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Titolo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II,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articolo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2215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bis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–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Documentazione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informatica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115" y="4786884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R="65405" algn="ctr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D.Lgs.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196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giugno</a:t>
            </a:r>
            <a:endParaRPr sz="1400">
              <a:latin typeface="Arial"/>
              <a:cs typeface="Arial"/>
            </a:endParaRPr>
          </a:p>
          <a:p>
            <a:pPr marR="52069" algn="ctr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2003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8439" y="4786884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Times New Roman"/>
              <a:cs typeface="Times New Roman"/>
            </a:endParaRPr>
          </a:p>
          <a:p>
            <a:pPr marL="34290" algn="ctr">
              <a:lnSpc>
                <a:spcPct val="100000"/>
              </a:lnSpc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Codice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materia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protezione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dati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personali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115" y="5711952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R="64135" algn="ctr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D.Lgs.</a:t>
            </a:r>
            <a:r>
              <a:rPr sz="14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s.m.i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22</a:t>
            </a:r>
            <a:endParaRPr sz="1400">
              <a:latin typeface="Arial"/>
              <a:cs typeface="Arial"/>
            </a:endParaRPr>
          </a:p>
          <a:p>
            <a:pPr marR="53340" algn="ctr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gennaio</a:t>
            </a: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2004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8439" y="5711952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Times New Roman"/>
              <a:cs typeface="Times New Roman"/>
            </a:endParaRPr>
          </a:p>
          <a:p>
            <a:pPr marL="36195" algn="ctr">
              <a:lnSpc>
                <a:spcPct val="100000"/>
              </a:lnSpc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Codice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Beni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Culturali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Paesaggio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115" y="7562088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031240" marR="276225" indent="-820419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D.P.C.M.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febbraio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2013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8439" y="7562088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41275" marR="2540" algn="ctr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tecniche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materia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generazione,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apposizione</a:t>
            </a:r>
            <a:r>
              <a:rPr sz="16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verifica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firme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elettroniche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avanzate,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qualificate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e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digitali,</a:t>
            </a:r>
            <a:r>
              <a:rPr sz="16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sensi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degli</a:t>
            </a:r>
            <a:r>
              <a:rPr sz="16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articoli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20,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24,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4,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28,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3,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32,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lettera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b),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35,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2,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36,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2,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71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Codice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dell’amministrazione</a:t>
            </a:r>
            <a:r>
              <a:rPr sz="16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cui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al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decreto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legislativo</a:t>
            </a:r>
            <a:r>
              <a:rPr sz="16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n.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82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2005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6115" y="8487156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R="64769" algn="ctr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D.P.C.M.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dicembre</a:t>
            </a:r>
            <a:endParaRPr sz="1400">
              <a:latin typeface="Arial"/>
              <a:cs typeface="Arial"/>
            </a:endParaRPr>
          </a:p>
          <a:p>
            <a:pPr marR="52069" algn="ctr">
              <a:lnSpc>
                <a:spcPct val="100000"/>
              </a:lnSpc>
              <a:spcBef>
                <a:spcPts val="5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2013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8439" y="8487156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tecniche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materia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sensi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degli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articoli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20,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5</a:t>
            </a:r>
            <a:r>
              <a:rPr sz="16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bis,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23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-ter,</a:t>
            </a:r>
            <a:endParaRPr sz="1600">
              <a:latin typeface="Arial"/>
              <a:cs typeface="Arial"/>
            </a:endParaRPr>
          </a:p>
          <a:p>
            <a:pPr marL="41275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4,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43,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commi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3,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44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,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44</a:t>
            </a:r>
            <a:r>
              <a:rPr sz="1600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bis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71,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comma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1,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Codice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dell’amministrazione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cui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al</a:t>
            </a:r>
            <a:endParaRPr sz="1600">
              <a:latin typeface="Arial"/>
              <a:cs typeface="Arial"/>
            </a:endParaRPr>
          </a:p>
          <a:p>
            <a:pPr marL="40005" algn="ctr">
              <a:lnSpc>
                <a:spcPct val="100000"/>
              </a:lnSpc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decreto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legislativo</a:t>
            </a:r>
            <a:r>
              <a:rPr sz="16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n.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82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2005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115" y="2936748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R="65405" algn="ctr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Legge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241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agosto</a:t>
            </a:r>
            <a:endParaRPr sz="1400">
              <a:latin typeface="Arial"/>
              <a:cs typeface="Arial"/>
            </a:endParaRPr>
          </a:p>
          <a:p>
            <a:pPr marR="53340" algn="ctr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1990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s.m.i.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58439" y="2936748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307975">
              <a:lnSpc>
                <a:spcPct val="100000"/>
              </a:lnSpc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Nuove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norme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materia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procedimento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amministrativo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diritto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accesso</a:t>
            </a:r>
            <a:r>
              <a:rPr sz="16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ai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amministrativi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115" y="3861815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D.P.R.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445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dicembre</a:t>
            </a:r>
            <a:endParaRPr sz="1400">
              <a:latin typeface="Arial"/>
              <a:cs typeface="Arial"/>
            </a:endParaRPr>
          </a:p>
          <a:p>
            <a:pPr marL="70485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2000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s.m.i.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58439" y="3861815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504190">
              <a:lnSpc>
                <a:spcPct val="100000"/>
              </a:lnSpc>
            </a:pP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Testo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unico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disposizioni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legislative</a:t>
            </a:r>
            <a:r>
              <a:rPr sz="16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regolamentari</a:t>
            </a:r>
            <a:r>
              <a:rPr sz="16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materia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documentazione</a:t>
            </a:r>
            <a:r>
              <a:rPr sz="16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D5A8F"/>
                </a:solidFill>
                <a:latin typeface="Arial"/>
                <a:cs typeface="Arial"/>
              </a:rPr>
              <a:t>amministrativa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115" y="6637019"/>
            <a:ext cx="2519680" cy="792480"/>
          </a:xfrm>
          <a:prstGeom prst="rect">
            <a:avLst/>
          </a:prstGeom>
          <a:solidFill>
            <a:srgbClr val="0086E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D.L.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179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ottobre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2012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58439" y="6637019"/>
            <a:ext cx="10079990" cy="79248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Times New Roman"/>
              <a:cs typeface="Times New Roman"/>
            </a:endParaRPr>
          </a:p>
          <a:p>
            <a:pPr marL="34925" algn="ctr">
              <a:lnSpc>
                <a:spcPct val="100000"/>
              </a:lnSpc>
            </a:pP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"Ulteriori</a:t>
            </a:r>
            <a:r>
              <a:rPr sz="16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misure</a:t>
            </a:r>
            <a:r>
              <a:rPr sz="16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urgenti</a:t>
            </a:r>
            <a:r>
              <a:rPr sz="16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6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crescita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6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Paese"</a:t>
            </a:r>
            <a:r>
              <a:rPr sz="16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(c.d.</a:t>
            </a:r>
            <a:r>
              <a:rPr sz="16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Decreto</a:t>
            </a:r>
            <a:r>
              <a:rPr sz="16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D5A8F"/>
                </a:solidFill>
                <a:latin typeface="Arial"/>
                <a:cs typeface="Arial"/>
              </a:rPr>
              <a:t>Crescita</a:t>
            </a:r>
            <a:r>
              <a:rPr sz="16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D5A8F"/>
                </a:solidFill>
                <a:latin typeface="Arial"/>
                <a:cs typeface="Arial"/>
              </a:rPr>
              <a:t>2.0)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908" y="2497835"/>
            <a:ext cx="12178284" cy="38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5894" y="1700021"/>
            <a:ext cx="12042140" cy="43935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just">
              <a:lnSpc>
                <a:spcPts val="3070"/>
              </a:lnSpc>
              <a:spcBef>
                <a:spcPts val="484"/>
              </a:spcBef>
            </a:pP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850" spc="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quanto</a:t>
            </a:r>
            <a:r>
              <a:rPr sz="2850" spc="6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riguarda</a:t>
            </a:r>
            <a:r>
              <a:rPr sz="2850" spc="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qualità</a:t>
            </a:r>
            <a:r>
              <a:rPr sz="2850" spc="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e</a:t>
            </a:r>
            <a:r>
              <a:rPr sz="2850" spc="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sicurezza,</a:t>
            </a:r>
            <a:r>
              <a:rPr sz="2850" spc="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i</a:t>
            </a:r>
            <a:r>
              <a:rPr sz="2850" spc="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sistemi</a:t>
            </a:r>
            <a:r>
              <a:rPr sz="2850" spc="3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850" spc="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r>
              <a:rPr sz="2850" spc="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devono</a:t>
            </a:r>
            <a:r>
              <a:rPr sz="2850" spc="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0D5A8F"/>
                </a:solidFill>
                <a:latin typeface="Calibri"/>
                <a:cs typeface="Calibri"/>
              </a:rPr>
              <a:t>essere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conformi</a:t>
            </a:r>
            <a:r>
              <a:rPr sz="2850" spc="-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ai</a:t>
            </a:r>
            <a:r>
              <a:rPr sz="2850" spc="-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D5A8F"/>
                </a:solidFill>
                <a:latin typeface="Calibri"/>
                <a:cs typeface="Calibri"/>
              </a:rPr>
              <a:t>seguenti</a:t>
            </a:r>
            <a:r>
              <a:rPr sz="2850" spc="-10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0D5A8F"/>
                </a:solidFill>
                <a:latin typeface="Calibri"/>
                <a:cs typeface="Calibri"/>
              </a:rPr>
              <a:t>standard:</a:t>
            </a:r>
            <a:endParaRPr sz="2850">
              <a:latin typeface="Calibri"/>
              <a:cs typeface="Calibri"/>
            </a:endParaRPr>
          </a:p>
          <a:p>
            <a:pPr marL="469265" marR="7620" indent="-457200" algn="just">
              <a:lnSpc>
                <a:spcPts val="2770"/>
              </a:lnSpc>
              <a:spcBef>
                <a:spcPts val="1015"/>
              </a:spcBef>
              <a:buClr>
                <a:srgbClr val="006FC0"/>
              </a:buClr>
              <a:buFont typeface="Wingdings"/>
              <a:buChar char=""/>
              <a:tabLst>
                <a:tab pos="469900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ISO</a:t>
            </a:r>
            <a:r>
              <a:rPr sz="2550" spc="2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14721: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2012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(OAIS-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Open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Archival</a:t>
            </a:r>
            <a:r>
              <a:rPr sz="2550" spc="2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Information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System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–</a:t>
            </a:r>
            <a:r>
              <a:rPr sz="2550" spc="1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Reference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model),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550" spc="1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la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gestione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-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processo</a:t>
            </a:r>
            <a:r>
              <a:rPr sz="2550" spc="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endParaRPr sz="2550">
              <a:latin typeface="Calibri"/>
              <a:cs typeface="Calibri"/>
            </a:endParaRPr>
          </a:p>
          <a:p>
            <a:pPr marL="469265" marR="5715" indent="-457200" algn="just">
              <a:lnSpc>
                <a:spcPct val="90400"/>
              </a:lnSpc>
              <a:spcBef>
                <a:spcPts val="960"/>
              </a:spcBef>
              <a:buClr>
                <a:srgbClr val="006FC0"/>
              </a:buClr>
              <a:buFont typeface="Wingdings"/>
              <a:buChar char=""/>
              <a:tabLst>
                <a:tab pos="469900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ISO/IEC</a:t>
            </a:r>
            <a:r>
              <a:rPr sz="2550" spc="3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27001:2013</a:t>
            </a:r>
            <a:r>
              <a:rPr sz="2550" spc="36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Information</a:t>
            </a:r>
            <a:r>
              <a:rPr sz="2550" spc="36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security</a:t>
            </a:r>
            <a:r>
              <a:rPr sz="2550" spc="36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management</a:t>
            </a:r>
            <a:r>
              <a:rPr sz="2550" spc="36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systems</a:t>
            </a:r>
            <a:r>
              <a:rPr sz="2550" spc="3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requirements</a:t>
            </a:r>
            <a:r>
              <a:rPr sz="2550" spc="36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spc="-50" dirty="0">
                <a:solidFill>
                  <a:srgbClr val="0D5A8F"/>
                </a:solidFill>
                <a:latin typeface="Calibri"/>
                <a:cs typeface="Calibri"/>
              </a:rPr>
              <a:t>-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Requisiti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sicurezza</a:t>
            </a:r>
            <a:r>
              <a:rPr sz="2550" spc="1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un</a:t>
            </a:r>
            <a:r>
              <a:rPr sz="2550" spc="1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sistema</a:t>
            </a:r>
            <a:r>
              <a:rPr sz="2550" spc="1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informativo,</a:t>
            </a:r>
            <a:r>
              <a:rPr sz="2550" spc="1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il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sistema</a:t>
            </a:r>
            <a:r>
              <a:rPr sz="2550" spc="11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1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gestione</a:t>
            </a:r>
            <a:r>
              <a:rPr sz="2550" spc="12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della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sicurezza</a:t>
            </a:r>
            <a:r>
              <a:rPr sz="2550" spc="3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delle</a:t>
            </a:r>
            <a:r>
              <a:rPr sz="2550" spc="3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informazioni</a:t>
            </a:r>
            <a:r>
              <a:rPr sz="2550" spc="3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nel</a:t>
            </a:r>
            <a:r>
              <a:rPr sz="2550" spc="3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dominio</a:t>
            </a:r>
            <a:r>
              <a:rPr sz="2550" spc="2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logico,</a:t>
            </a:r>
            <a:r>
              <a:rPr sz="2550" spc="2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fisico</a:t>
            </a:r>
            <a:r>
              <a:rPr sz="2550" spc="30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</a:t>
            </a:r>
            <a:r>
              <a:rPr sz="2550" spc="2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organizzativo</a:t>
            </a:r>
            <a:r>
              <a:rPr sz="2550" spc="2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nel</a:t>
            </a:r>
            <a:r>
              <a:rPr sz="2550" spc="3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quale</a:t>
            </a:r>
            <a:r>
              <a:rPr sz="2550" spc="3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viene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realizzato</a:t>
            </a:r>
            <a:r>
              <a:rPr sz="2550" spc="4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il</a:t>
            </a:r>
            <a:r>
              <a:rPr sz="2550" spc="6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processo</a:t>
            </a:r>
            <a:r>
              <a:rPr sz="2550" spc="6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conservazione,</a:t>
            </a:r>
            <a:r>
              <a:rPr sz="2550" spc="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</a:t>
            </a:r>
            <a:r>
              <a:rPr sz="2550" spc="6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certificazione</a:t>
            </a:r>
            <a:r>
              <a:rPr sz="2550" spc="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rilasciata</a:t>
            </a:r>
            <a:r>
              <a:rPr sz="2550" spc="6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</a:t>
            </a:r>
            <a:r>
              <a:rPr sz="2550" spc="6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un</a:t>
            </a:r>
            <a:r>
              <a:rPr sz="2550" spc="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ente</a:t>
            </a:r>
            <a:r>
              <a:rPr sz="2550" spc="6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di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certificazione</a:t>
            </a:r>
            <a:r>
              <a:rPr sz="2550" spc="3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accreditato</a:t>
            </a:r>
            <a:r>
              <a:rPr sz="2550" spc="33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</a:t>
            </a:r>
            <a:r>
              <a:rPr sz="2550" spc="33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ACCREDIA,</a:t>
            </a:r>
            <a:r>
              <a:rPr sz="2550" spc="34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</a:t>
            </a:r>
            <a:r>
              <a:rPr sz="2550" spc="3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</a:t>
            </a:r>
            <a:r>
              <a:rPr sz="2550" spc="3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altro</a:t>
            </a:r>
            <a:r>
              <a:rPr sz="2550" spc="33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ente</a:t>
            </a:r>
            <a:r>
              <a:rPr sz="2550" spc="3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3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Accreditamento</a:t>
            </a:r>
            <a:r>
              <a:rPr sz="2550" spc="34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designato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dal</a:t>
            </a:r>
            <a:r>
              <a:rPr sz="2550" spc="-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proprio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Stato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firmatario</a:t>
            </a:r>
            <a:r>
              <a:rPr sz="2550" spc="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degli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accordi</a:t>
            </a:r>
            <a:r>
              <a:rPr sz="2550" spc="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Mutuo</a:t>
            </a:r>
            <a:r>
              <a:rPr sz="2550" spc="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riconoscimento</a:t>
            </a:r>
            <a:endParaRPr sz="2550"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Font typeface="Wingdings"/>
              <a:buChar char=""/>
              <a:tabLst>
                <a:tab pos="469900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ETSI</a:t>
            </a:r>
            <a:r>
              <a:rPr sz="2550" spc="56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TS</a:t>
            </a:r>
            <a:r>
              <a:rPr sz="2550" spc="5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101</a:t>
            </a:r>
            <a:r>
              <a:rPr sz="2550" spc="56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533-1</a:t>
            </a:r>
            <a:r>
              <a:rPr sz="2550" spc="57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V1.3.1</a:t>
            </a:r>
            <a:r>
              <a:rPr sz="2550" spc="57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(2012-04),</a:t>
            </a:r>
            <a:r>
              <a:rPr sz="2550" spc="56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relativo</a:t>
            </a:r>
            <a:r>
              <a:rPr sz="2550" spc="57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ai</a:t>
            </a:r>
            <a:r>
              <a:rPr sz="2550" spc="5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requisiti</a:t>
            </a:r>
            <a:r>
              <a:rPr sz="2550" spc="56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5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sicurezza</a:t>
            </a:r>
            <a:r>
              <a:rPr sz="2550" spc="57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</a:t>
            </a:r>
            <a:r>
              <a:rPr sz="2550" spc="5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affidabilità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933094" y="6030214"/>
            <a:ext cx="1158303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75715" algn="l"/>
                <a:tab pos="3328670" algn="l"/>
                <a:tab pos="5586095" algn="l"/>
                <a:tab pos="6062980" algn="l"/>
                <a:tab pos="7732395" algn="l"/>
                <a:tab pos="8491220" algn="l"/>
                <a:tab pos="10074910" algn="l"/>
                <a:tab pos="11324590" algn="l"/>
              </a:tabLst>
            </a:pP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tecnici,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organizzativi,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infrastrutturali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50" dirty="0">
                <a:solidFill>
                  <a:srgbClr val="0D5A8F"/>
                </a:solidFill>
                <a:latin typeface="Calibri"/>
                <a:cs typeface="Calibri"/>
              </a:rPr>
              <a:t>e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gestionali,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realizzare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sistemi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894" y="6291023"/>
            <a:ext cx="12040235" cy="18129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810"/>
              </a:spcBef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r>
              <a:rPr sz="2550" spc="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affidabili</a:t>
            </a:r>
            <a:endParaRPr sz="2550">
              <a:latin typeface="Calibri"/>
              <a:cs typeface="Calibri"/>
            </a:endParaRPr>
          </a:p>
          <a:p>
            <a:pPr marL="469265" marR="8255" indent="-457200">
              <a:lnSpc>
                <a:spcPts val="2760"/>
              </a:lnSpc>
              <a:spcBef>
                <a:spcPts val="1055"/>
              </a:spcBef>
              <a:buClr>
                <a:srgbClr val="006FC0"/>
              </a:buClr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UNI-SInCRO</a:t>
            </a:r>
            <a:r>
              <a:rPr sz="2550" spc="2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11386:</a:t>
            </a:r>
            <a:r>
              <a:rPr sz="2550" spc="2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2010,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struttura</a:t>
            </a:r>
            <a:r>
              <a:rPr sz="2550" spc="2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dei</a:t>
            </a:r>
            <a:r>
              <a:rPr sz="2550" spc="2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dati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gestiti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dal</a:t>
            </a:r>
            <a:r>
              <a:rPr sz="2550" spc="2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sistema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conservazione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</a:t>
            </a:r>
            <a:r>
              <a:rPr sz="2550" spc="-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modo</a:t>
            </a:r>
            <a:r>
              <a:rPr sz="2550" spc="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anche</a:t>
            </a:r>
            <a:r>
              <a:rPr sz="2550" spc="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</a:t>
            </a:r>
            <a:r>
              <a:rPr sz="2550" spc="-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garantire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l’interoperabilità</a:t>
            </a:r>
            <a:r>
              <a:rPr sz="2550" spc="3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tra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sistemi</a:t>
            </a:r>
            <a:endParaRPr sz="25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65"/>
              </a:spcBef>
              <a:buClr>
                <a:srgbClr val="006FC0"/>
              </a:buClr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ISO</a:t>
            </a:r>
            <a:r>
              <a:rPr sz="2550" spc="18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15836:2003</a:t>
            </a:r>
            <a:r>
              <a:rPr sz="2550" spc="1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Information</a:t>
            </a:r>
            <a:r>
              <a:rPr sz="2550" spc="1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and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documentation</a:t>
            </a:r>
            <a:r>
              <a:rPr sz="2550" spc="2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-</a:t>
            </a:r>
            <a:r>
              <a:rPr sz="2550" spc="1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The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Dublin</a:t>
            </a:r>
            <a:r>
              <a:rPr sz="2550" spc="18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Core</a:t>
            </a:r>
            <a:r>
              <a:rPr sz="2550" spc="18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metadata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element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3094" y="8040446"/>
            <a:ext cx="11583035" cy="7664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2760"/>
              </a:lnSpc>
              <a:spcBef>
                <a:spcPts val="450"/>
              </a:spcBef>
              <a:tabLst>
                <a:tab pos="751205" algn="l"/>
                <a:tab pos="2050414" algn="l"/>
                <a:tab pos="2557780" algn="l"/>
                <a:tab pos="4016375" algn="l"/>
                <a:tab pos="4685665" algn="l"/>
                <a:tab pos="5808980" algn="l"/>
                <a:tab pos="6769100" algn="l"/>
                <a:tab pos="7476490" algn="l"/>
                <a:tab pos="7811770" algn="l"/>
                <a:tab pos="9268460" algn="l"/>
                <a:tab pos="9855200" algn="l"/>
                <a:tab pos="11339830" algn="l"/>
              </a:tabLst>
            </a:pPr>
            <a:r>
              <a:rPr sz="2550" spc="-20" dirty="0">
                <a:solidFill>
                  <a:srgbClr val="0D5A8F"/>
                </a:solidFill>
                <a:latin typeface="Calibri"/>
                <a:cs typeface="Calibri"/>
              </a:rPr>
              <a:t>set,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Sistema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metadati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Dublin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Core,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50" dirty="0">
                <a:solidFill>
                  <a:srgbClr val="0D5A8F"/>
                </a:solidFill>
                <a:latin typeface="Calibri"/>
                <a:cs typeface="Calibri"/>
              </a:rPr>
              <a:t>i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metadati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da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associare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	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ai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documenti/fascicoli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714" rIns="0" bIns="0" rtlCol="0">
            <a:spAutoFit/>
          </a:bodyPr>
          <a:lstStyle/>
          <a:p>
            <a:pPr marL="126428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Gli</a:t>
            </a:r>
            <a:r>
              <a:rPr sz="3200" spc="-35" dirty="0"/>
              <a:t> </a:t>
            </a:r>
            <a:r>
              <a:rPr sz="3200" dirty="0"/>
              <a:t>standard</a:t>
            </a:r>
            <a:r>
              <a:rPr sz="3200" spc="-45" dirty="0"/>
              <a:t> </a:t>
            </a:r>
            <a:r>
              <a:rPr sz="3200" dirty="0"/>
              <a:t>di</a:t>
            </a:r>
            <a:r>
              <a:rPr sz="3200" spc="-5" dirty="0"/>
              <a:t> </a:t>
            </a:r>
            <a:r>
              <a:rPr sz="3200" spc="-10" dirty="0"/>
              <a:t>riferimento</a:t>
            </a:r>
            <a:endParaRPr sz="3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15" y="184404"/>
            <a:ext cx="3435096" cy="74675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7160" y="1165860"/>
            <a:ext cx="12731750" cy="0"/>
          </a:xfrm>
          <a:custGeom>
            <a:avLst/>
            <a:gdLst/>
            <a:ahLst/>
            <a:cxnLst/>
            <a:rect l="l" t="t" r="r" b="b"/>
            <a:pathLst>
              <a:path w="12731750">
                <a:moveTo>
                  <a:pt x="0" y="0"/>
                </a:moveTo>
                <a:lnTo>
                  <a:pt x="12731496" y="0"/>
                </a:lnTo>
              </a:path>
            </a:pathLst>
          </a:custGeom>
          <a:ln w="12192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908" y="2497835"/>
            <a:ext cx="12178284" cy="38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5894" y="148209"/>
            <a:ext cx="12135485" cy="8453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71640" marR="5080" indent="-288226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DPCM</a:t>
            </a:r>
            <a:r>
              <a:rPr sz="2800" b="1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3/12/2013</a:t>
            </a:r>
            <a:r>
              <a:rPr sz="28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-</a:t>
            </a:r>
            <a:r>
              <a:rPr sz="2800" b="1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28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tecniche</a:t>
            </a:r>
            <a:r>
              <a:rPr sz="28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2800" b="1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D5A8F"/>
                </a:solidFill>
                <a:latin typeface="Arial"/>
                <a:cs typeface="Arial"/>
              </a:rPr>
              <a:t>sistema</a:t>
            </a:r>
            <a:r>
              <a:rPr sz="2800" b="1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2800" b="1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>
              <a:latin typeface="Arial"/>
              <a:cs typeface="Arial"/>
            </a:endParaRPr>
          </a:p>
          <a:p>
            <a:pPr marL="419100" marR="589915" indent="-407034" algn="just">
              <a:lnSpc>
                <a:spcPct val="100000"/>
              </a:lnSpc>
              <a:spcBef>
                <a:spcPts val="2135"/>
              </a:spcBef>
              <a:buFont typeface="Wingdings"/>
              <a:buChar char=""/>
              <a:tabLst>
                <a:tab pos="419734" algn="l"/>
              </a:tabLst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3200" spc="2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3200" spc="2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solo</a:t>
            </a:r>
            <a:r>
              <a:rPr sz="3200" spc="2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Software</a:t>
            </a:r>
            <a:r>
              <a:rPr sz="3200" spc="29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3200" spc="28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Storage,</a:t>
            </a:r>
            <a:r>
              <a:rPr sz="3200" spc="2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ma</a:t>
            </a:r>
            <a:r>
              <a:rPr sz="3200" spc="29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3200" spc="28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organizzazione,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tecnologie,</a:t>
            </a:r>
            <a:r>
              <a:rPr sz="3200" spc="5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osservanza</a:t>
            </a:r>
            <a:r>
              <a:rPr sz="3200" spc="5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3200" spc="5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standard</a:t>
            </a:r>
            <a:r>
              <a:rPr sz="3200" spc="5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3200" spc="5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qualità</a:t>
            </a:r>
            <a:r>
              <a:rPr sz="3200" spc="5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3200" spc="5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3200" spc="5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3200" spc="5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sicurezza,</a:t>
            </a:r>
            <a:r>
              <a:rPr sz="32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curando</a:t>
            </a:r>
            <a:r>
              <a:rPr sz="32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aspetti:</a:t>
            </a:r>
            <a:endParaRPr sz="3200">
              <a:latin typeface="Arial"/>
              <a:cs typeface="Arial"/>
            </a:endParaRPr>
          </a:p>
          <a:p>
            <a:pPr marL="827405" marR="590550" lvl="1" indent="-407034" algn="just">
              <a:lnSpc>
                <a:spcPct val="100000"/>
              </a:lnSpc>
              <a:spcBef>
                <a:spcPts val="1010"/>
              </a:spcBef>
              <a:buFont typeface="Wingdings"/>
              <a:buChar char=""/>
              <a:tabLst>
                <a:tab pos="828040" algn="l"/>
              </a:tabLst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Organizzativi.</a:t>
            </a:r>
            <a:r>
              <a:rPr sz="3200" spc="4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3200" spc="5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3200" spc="3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impone</a:t>
            </a:r>
            <a:r>
              <a:rPr sz="3200" spc="5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3200" spc="5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3200" spc="5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del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dato</a:t>
            </a:r>
            <a:r>
              <a:rPr sz="3200" spc="1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secondo</a:t>
            </a:r>
            <a:r>
              <a:rPr sz="3200" spc="1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determinati</a:t>
            </a:r>
            <a:r>
              <a:rPr sz="3200" spc="1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standard:</a:t>
            </a:r>
            <a:r>
              <a:rPr sz="3200" spc="1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normativi,</a:t>
            </a:r>
            <a:r>
              <a:rPr sz="3200" spc="1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archivistici</a:t>
            </a:r>
            <a:r>
              <a:rPr sz="3200" spc="1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50" dirty="0">
                <a:solidFill>
                  <a:srgbClr val="0D5A8F"/>
                </a:solidFill>
                <a:latin typeface="Arial"/>
                <a:cs typeface="Arial"/>
              </a:rPr>
              <a:t>e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gestionali.</a:t>
            </a:r>
            <a:endParaRPr sz="3200">
              <a:latin typeface="Arial"/>
              <a:cs typeface="Arial"/>
            </a:endParaRPr>
          </a:p>
          <a:p>
            <a:pPr marL="827405" marR="589915" lvl="1" indent="-407034" algn="just">
              <a:lnSpc>
                <a:spcPct val="100000"/>
              </a:lnSpc>
              <a:spcBef>
                <a:spcPts val="1000"/>
              </a:spcBef>
              <a:buFont typeface="Wingdings"/>
              <a:buChar char=""/>
              <a:tabLst>
                <a:tab pos="828040" algn="l"/>
              </a:tabLst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Professionali.</a:t>
            </a:r>
            <a:r>
              <a:rPr sz="3200" spc="465" dirty="0">
                <a:solidFill>
                  <a:srgbClr val="0D5A8F"/>
                </a:solidFill>
                <a:latin typeface="Arial"/>
                <a:cs typeface="Arial"/>
              </a:rPr>
              <a:t> 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3200" spc="470" dirty="0">
                <a:solidFill>
                  <a:srgbClr val="0D5A8F"/>
                </a:solidFill>
                <a:latin typeface="Arial"/>
                <a:cs typeface="Arial"/>
              </a:rPr>
              <a:t> 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necessario</a:t>
            </a:r>
            <a:r>
              <a:rPr sz="3200" spc="455" dirty="0">
                <a:solidFill>
                  <a:srgbClr val="0D5A8F"/>
                </a:solidFill>
                <a:latin typeface="Arial"/>
                <a:cs typeface="Arial"/>
              </a:rPr>
              <a:t> 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creare</a:t>
            </a:r>
            <a:r>
              <a:rPr sz="3200" spc="470" dirty="0">
                <a:solidFill>
                  <a:srgbClr val="0D5A8F"/>
                </a:solidFill>
                <a:latin typeface="Arial"/>
                <a:cs typeface="Arial"/>
              </a:rPr>
              <a:t> 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all’interno</a:t>
            </a:r>
            <a:r>
              <a:rPr sz="3200" spc="459" dirty="0">
                <a:solidFill>
                  <a:srgbClr val="0D5A8F"/>
                </a:solidFill>
                <a:latin typeface="Arial"/>
                <a:cs typeface="Arial"/>
              </a:rPr>
              <a:t>   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del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conservatore</a:t>
            </a:r>
            <a:r>
              <a:rPr sz="3200" spc="22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3200" spc="22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figure</a:t>
            </a:r>
            <a:r>
              <a:rPr sz="3200" spc="2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professionali</a:t>
            </a:r>
            <a:r>
              <a:rPr sz="3200" spc="2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3200" spc="2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quanto</a:t>
            </a:r>
            <a:r>
              <a:rPr sz="3200" spc="2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riguarda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gli</a:t>
            </a:r>
            <a:r>
              <a:rPr sz="32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aspetti</a:t>
            </a:r>
            <a:r>
              <a:rPr sz="32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giuridici,</a:t>
            </a:r>
            <a:r>
              <a:rPr sz="32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archivistici,</a:t>
            </a:r>
            <a:r>
              <a:rPr sz="32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tecnologici.</a:t>
            </a:r>
            <a:endParaRPr sz="3200">
              <a:latin typeface="Arial"/>
              <a:cs typeface="Arial"/>
            </a:endParaRPr>
          </a:p>
          <a:p>
            <a:pPr marL="827405" marR="593090" lvl="1" indent="-407034" algn="just">
              <a:lnSpc>
                <a:spcPct val="100000"/>
              </a:lnSpc>
              <a:spcBef>
                <a:spcPts val="1000"/>
              </a:spcBef>
              <a:buFont typeface="Wingdings"/>
              <a:buChar char=""/>
              <a:tabLst>
                <a:tab pos="828040" algn="l"/>
              </a:tabLst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3200" spc="-1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processo.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Tracciabilità</a:t>
            </a:r>
            <a:r>
              <a:rPr sz="3200" spc="-2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3200" spc="-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dato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3200" spc="-1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attività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  controllo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delle</a:t>
            </a:r>
            <a:r>
              <a:rPr sz="32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fasi</a:t>
            </a:r>
            <a:r>
              <a:rPr sz="32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32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trattamento.</a:t>
            </a:r>
            <a:endParaRPr sz="3200">
              <a:latin typeface="Arial"/>
              <a:cs typeface="Arial"/>
            </a:endParaRPr>
          </a:p>
          <a:p>
            <a:pPr marL="827405" marR="589280" lvl="1" indent="-407034" algn="just">
              <a:lnSpc>
                <a:spcPct val="100000"/>
              </a:lnSpc>
              <a:spcBef>
                <a:spcPts val="1005"/>
              </a:spcBef>
              <a:buFont typeface="Wingdings"/>
              <a:buChar char=""/>
              <a:tabLst>
                <a:tab pos="828040" algn="l"/>
              </a:tabLst>
            </a:pP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Infrastrutturali.</a:t>
            </a:r>
            <a:r>
              <a:rPr sz="3200" spc="459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Ovvero</a:t>
            </a:r>
            <a:r>
              <a:rPr sz="3200" spc="455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relativi</a:t>
            </a:r>
            <a:r>
              <a:rPr sz="3200" spc="459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3200" spc="459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sicurezza</a:t>
            </a:r>
            <a:r>
              <a:rPr sz="3200" spc="459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3200" spc="459" dirty="0">
                <a:solidFill>
                  <a:srgbClr val="0D5A8F"/>
                </a:solidFill>
                <a:latin typeface="Arial"/>
                <a:cs typeface="Arial"/>
              </a:rPr>
              <a:t>  </a:t>
            </a:r>
            <a:r>
              <a:rPr sz="3200" spc="-20" dirty="0">
                <a:solidFill>
                  <a:srgbClr val="0D5A8F"/>
                </a:solidFill>
                <a:latin typeface="Arial"/>
                <a:cs typeface="Arial"/>
              </a:rPr>
              <a:t>dati </a:t>
            </a:r>
            <a:r>
              <a:rPr sz="3200" spc="-10" dirty="0">
                <a:solidFill>
                  <a:srgbClr val="0D5A8F"/>
                </a:solidFill>
                <a:latin typeface="Arial"/>
                <a:cs typeface="Arial"/>
              </a:rPr>
              <a:t>conservati.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908" y="2497835"/>
            <a:ext cx="12178284" cy="38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5135" y="1725930"/>
            <a:ext cx="11060430" cy="74148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16559" marR="6985" indent="-403860" algn="just">
              <a:lnSpc>
                <a:spcPct val="90400"/>
              </a:lnSpc>
              <a:spcBef>
                <a:spcPts val="400"/>
              </a:spcBef>
              <a:buFont typeface="Wingdings"/>
              <a:buChar char=""/>
              <a:tabLst>
                <a:tab pos="416559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l’acquisizione</a:t>
            </a:r>
            <a:r>
              <a:rPr sz="2550" spc="409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</a:t>
            </a:r>
            <a:r>
              <a:rPr sz="2550" spc="4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parte</a:t>
            </a:r>
            <a:r>
              <a:rPr sz="2550" spc="4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4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sistema</a:t>
            </a:r>
            <a:r>
              <a:rPr sz="2550" spc="4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41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r>
              <a:rPr sz="2550" spc="4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41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pacchetto</a:t>
            </a:r>
            <a:r>
              <a:rPr sz="2550" spc="42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di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versamento</a:t>
            </a:r>
            <a:r>
              <a:rPr sz="2550" spc="4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550" spc="4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4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sua</a:t>
            </a:r>
            <a:r>
              <a:rPr sz="2550" spc="4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presa</a:t>
            </a:r>
            <a:r>
              <a:rPr sz="2550" spc="4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</a:t>
            </a:r>
            <a:r>
              <a:rPr sz="2550" spc="43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carico,</a:t>
            </a:r>
            <a:r>
              <a:rPr sz="2550" spc="4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verificandone</a:t>
            </a:r>
            <a:r>
              <a:rPr sz="2550" spc="4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4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coerenza</a:t>
            </a:r>
            <a:r>
              <a:rPr sz="2550" spc="43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</a:t>
            </a:r>
            <a:r>
              <a:rPr sz="2550" spc="4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quanto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previsto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dal</a:t>
            </a:r>
            <a:r>
              <a:rPr sz="2550" spc="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manuale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conservazione</a:t>
            </a:r>
            <a:endParaRPr sz="2550">
              <a:latin typeface="Calibri"/>
              <a:cs typeface="Calibri"/>
            </a:endParaRPr>
          </a:p>
          <a:p>
            <a:pPr marL="416559" marR="6350" indent="-403860" algn="just">
              <a:lnSpc>
                <a:spcPct val="90400"/>
              </a:lnSpc>
              <a:spcBef>
                <a:spcPts val="890"/>
              </a:spcBef>
              <a:buFont typeface="Wingdings"/>
              <a:buChar char=""/>
              <a:tabLst>
                <a:tab pos="416559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generazione,</a:t>
            </a:r>
            <a:r>
              <a:rPr sz="2550" spc="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anche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</a:t>
            </a:r>
            <a:r>
              <a:rPr sz="2550" spc="10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modo</a:t>
            </a:r>
            <a:r>
              <a:rPr sz="2550" spc="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automatico,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rapporto</a:t>
            </a:r>
            <a:r>
              <a:rPr sz="2550" spc="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0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versamento</a:t>
            </a:r>
            <a:r>
              <a:rPr sz="2550" spc="1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relativo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ad</a:t>
            </a:r>
            <a:r>
              <a:rPr sz="2550" spc="2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uno</a:t>
            </a:r>
            <a:r>
              <a:rPr sz="2550" spc="2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</a:t>
            </a:r>
            <a:r>
              <a:rPr sz="2550" spc="28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più</a:t>
            </a:r>
            <a:r>
              <a:rPr sz="2550" spc="2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pacchetti</a:t>
            </a:r>
            <a:r>
              <a:rPr sz="2550" spc="3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2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versamento</a:t>
            </a:r>
            <a:r>
              <a:rPr sz="2550" spc="2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acquisiti</a:t>
            </a:r>
            <a:r>
              <a:rPr sz="2550" spc="2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eventualmente</a:t>
            </a:r>
            <a:r>
              <a:rPr sz="2550" spc="2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sottoscritto</a:t>
            </a:r>
            <a:r>
              <a:rPr sz="2550" spc="3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dal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responsabile</a:t>
            </a:r>
            <a:r>
              <a:rPr sz="2550" spc="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della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r>
              <a:rPr sz="2550" spc="4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 firma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digitale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</a:t>
            </a:r>
            <a:r>
              <a:rPr sz="2550" spc="5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elettronica</a:t>
            </a:r>
            <a:r>
              <a:rPr sz="2550" spc="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qualificata</a:t>
            </a:r>
            <a:endParaRPr sz="2550">
              <a:latin typeface="Calibri"/>
              <a:cs typeface="Calibri"/>
            </a:endParaRPr>
          </a:p>
          <a:p>
            <a:pPr marL="416559" marR="6350" indent="-403860" algn="just">
              <a:lnSpc>
                <a:spcPts val="2760"/>
              </a:lnSpc>
              <a:spcBef>
                <a:spcPts val="1855"/>
              </a:spcBef>
              <a:buFont typeface="Wingdings"/>
              <a:buChar char=""/>
              <a:tabLst>
                <a:tab pos="416559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1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preparazione,</a:t>
            </a:r>
            <a:r>
              <a:rPr sz="2550" spc="16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15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sottoscrizione</a:t>
            </a:r>
            <a:r>
              <a:rPr sz="2550" spc="18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</a:t>
            </a:r>
            <a:r>
              <a:rPr sz="2550" spc="15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firma</a:t>
            </a:r>
            <a:r>
              <a:rPr sz="2550" spc="15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digitale</a:t>
            </a:r>
            <a:r>
              <a:rPr sz="2550" spc="15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</a:t>
            </a:r>
            <a:r>
              <a:rPr sz="2550" spc="1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elettronica</a:t>
            </a:r>
            <a:r>
              <a:rPr sz="2550" spc="17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qualificata</a:t>
            </a:r>
            <a:r>
              <a:rPr sz="2550" spc="17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del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responsabile</a:t>
            </a:r>
            <a:r>
              <a:rPr sz="2550" spc="4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della</a:t>
            </a:r>
            <a:r>
              <a:rPr sz="2550" spc="4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r>
              <a:rPr sz="2550" spc="459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</a:t>
            </a:r>
            <a:r>
              <a:rPr sz="2550" spc="4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4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gestione</a:t>
            </a:r>
            <a:r>
              <a:rPr sz="2550" spc="4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45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pacchetto</a:t>
            </a:r>
            <a:r>
              <a:rPr sz="2550" spc="45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4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archiviazione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sulla</a:t>
            </a:r>
            <a:r>
              <a:rPr sz="2550" spc="-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base delle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specifiche</a:t>
            </a:r>
            <a:r>
              <a:rPr sz="2550" spc="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della</a:t>
            </a:r>
            <a:r>
              <a:rPr sz="2550" spc="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struttura</a:t>
            </a:r>
            <a:r>
              <a:rPr sz="2550" spc="4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dati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UNI</a:t>
            </a:r>
            <a:r>
              <a:rPr sz="2550" spc="-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11386:2010</a:t>
            </a:r>
            <a:r>
              <a:rPr sz="2550" spc="5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SInCRO</a:t>
            </a:r>
            <a:endParaRPr sz="2550">
              <a:latin typeface="Calibri"/>
              <a:cs typeface="Calibri"/>
            </a:endParaRPr>
          </a:p>
          <a:p>
            <a:pPr marL="416559" marR="6350" indent="-403860" algn="just">
              <a:lnSpc>
                <a:spcPct val="90400"/>
              </a:lnSpc>
              <a:spcBef>
                <a:spcPts val="1764"/>
              </a:spcBef>
              <a:buFont typeface="Wingdings"/>
              <a:buChar char=""/>
              <a:tabLst>
                <a:tab pos="416559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24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preparazione</a:t>
            </a:r>
            <a:r>
              <a:rPr sz="2550" spc="26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</a:t>
            </a:r>
            <a:r>
              <a:rPr sz="2550" spc="25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27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sottoscrizione</a:t>
            </a:r>
            <a:r>
              <a:rPr sz="2550" spc="27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</a:t>
            </a:r>
            <a:r>
              <a:rPr sz="2550" spc="26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firma</a:t>
            </a:r>
            <a:r>
              <a:rPr sz="2550" spc="25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digitale</a:t>
            </a:r>
            <a:r>
              <a:rPr sz="2550" spc="27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</a:t>
            </a:r>
            <a:r>
              <a:rPr sz="2550" spc="25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elettronica</a:t>
            </a:r>
            <a:r>
              <a:rPr sz="2550" spc="27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qualificata,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ove</a:t>
            </a:r>
            <a:r>
              <a:rPr sz="2550" spc="11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prevista</a:t>
            </a:r>
            <a:r>
              <a:rPr sz="2550" spc="11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nel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manuale</a:t>
            </a:r>
            <a:r>
              <a:rPr sz="2550" spc="11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conservazione,</a:t>
            </a:r>
            <a:r>
              <a:rPr sz="2550" spc="1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1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pacchetto</a:t>
            </a:r>
            <a:r>
              <a:rPr sz="2550" spc="1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0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distribuzione</a:t>
            </a:r>
            <a:r>
              <a:rPr sz="2550" spc="1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ai</a:t>
            </a:r>
            <a:r>
              <a:rPr sz="2550" spc="1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0D5A8F"/>
                </a:solidFill>
                <a:latin typeface="Calibri"/>
                <a:cs typeface="Calibri"/>
              </a:rPr>
              <a:t>fini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dell’esibizione</a:t>
            </a:r>
            <a:r>
              <a:rPr sz="2550" spc="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richiesta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dall’utente</a:t>
            </a:r>
            <a:endParaRPr sz="2550">
              <a:latin typeface="Calibri"/>
              <a:cs typeface="Calibri"/>
            </a:endParaRPr>
          </a:p>
          <a:p>
            <a:pPr marL="416559" marR="8255" indent="-403860" algn="just">
              <a:lnSpc>
                <a:spcPts val="2770"/>
              </a:lnSpc>
              <a:spcBef>
                <a:spcPts val="1839"/>
              </a:spcBef>
              <a:buFont typeface="Wingdings"/>
              <a:buChar char=""/>
              <a:tabLst>
                <a:tab pos="416559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la</a:t>
            </a:r>
            <a:r>
              <a:rPr sz="2550" spc="8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produzione</a:t>
            </a:r>
            <a:r>
              <a:rPr sz="2550" spc="9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9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duplicati</a:t>
            </a:r>
            <a:r>
              <a:rPr sz="2550" spc="8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informatici</a:t>
            </a:r>
            <a:r>
              <a:rPr sz="2550" spc="8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</a:t>
            </a:r>
            <a:r>
              <a:rPr sz="2550" spc="8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8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copie</a:t>
            </a:r>
            <a:r>
              <a:rPr sz="2550" spc="8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informatiche</a:t>
            </a:r>
            <a:r>
              <a:rPr sz="2550" spc="9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effettuati</a:t>
            </a:r>
            <a:r>
              <a:rPr sz="2550" spc="9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spc="-25" dirty="0">
                <a:solidFill>
                  <a:srgbClr val="0D5A8F"/>
                </a:solidFill>
                <a:latin typeface="Calibri"/>
                <a:cs typeface="Calibri"/>
              </a:rPr>
              <a:t>su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richiesta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degli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utenti</a:t>
            </a:r>
            <a:r>
              <a:rPr sz="2550" spc="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o</a:t>
            </a:r>
            <a:r>
              <a:rPr sz="2550" spc="-2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al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fine</a:t>
            </a:r>
            <a:r>
              <a:rPr sz="2550" spc="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adeguare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il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formato</a:t>
            </a:r>
            <a:r>
              <a:rPr sz="2550" spc="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all’evoluzione</a:t>
            </a:r>
            <a:r>
              <a:rPr sz="2550" spc="2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tecnologica</a:t>
            </a:r>
            <a:endParaRPr sz="2550">
              <a:latin typeface="Calibri"/>
              <a:cs typeface="Calibri"/>
            </a:endParaRPr>
          </a:p>
          <a:p>
            <a:pPr marL="416559" marR="5080" indent="-403860" algn="just">
              <a:lnSpc>
                <a:spcPct val="90400"/>
              </a:lnSpc>
              <a:spcBef>
                <a:spcPts val="1750"/>
              </a:spcBef>
              <a:buFont typeface="Wingdings"/>
              <a:buChar char=""/>
              <a:tabLst>
                <a:tab pos="416559" algn="l"/>
              </a:tabLst>
            </a:pP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lo</a:t>
            </a:r>
            <a:r>
              <a:rPr sz="2550" spc="14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scarto</a:t>
            </a:r>
            <a:r>
              <a:rPr sz="2550" spc="15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14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pacchetto</a:t>
            </a:r>
            <a:r>
              <a:rPr sz="2550" spc="15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4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archiviazione</a:t>
            </a:r>
            <a:r>
              <a:rPr sz="2550" spc="1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dal</a:t>
            </a:r>
            <a:r>
              <a:rPr sz="2550" spc="14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sistema</a:t>
            </a:r>
            <a:r>
              <a:rPr sz="2550" spc="14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14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r>
              <a:rPr sz="2550" spc="15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spc="-20" dirty="0">
                <a:solidFill>
                  <a:srgbClr val="0D5A8F"/>
                </a:solidFill>
                <a:latin typeface="Calibri"/>
                <a:cs typeface="Calibri"/>
              </a:rPr>
              <a:t>alla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scadenza</a:t>
            </a:r>
            <a:r>
              <a:rPr sz="2550" spc="48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dei</a:t>
            </a:r>
            <a:r>
              <a:rPr sz="2550" spc="48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termini</a:t>
            </a:r>
            <a:r>
              <a:rPr sz="2550" spc="490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di</a:t>
            </a:r>
            <a:r>
              <a:rPr sz="2550" spc="48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conservazione</a:t>
            </a:r>
            <a:r>
              <a:rPr sz="2550" spc="49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previsti</a:t>
            </a:r>
            <a:r>
              <a:rPr sz="2550" spc="495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dalla</a:t>
            </a:r>
            <a:r>
              <a:rPr sz="2550" spc="48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norma,</a:t>
            </a:r>
            <a:r>
              <a:rPr sz="2550" spc="484" dirty="0">
                <a:solidFill>
                  <a:srgbClr val="0D5A8F"/>
                </a:solidFill>
                <a:latin typeface="Calibri"/>
                <a:cs typeface="Calibri"/>
              </a:rPr>
              <a:t> 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dandone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informativa</a:t>
            </a:r>
            <a:r>
              <a:rPr sz="2550" spc="1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al</a:t>
            </a:r>
            <a:r>
              <a:rPr sz="2550" spc="1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produttore,</a:t>
            </a:r>
            <a:r>
              <a:rPr sz="2550" spc="2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se</a:t>
            </a:r>
            <a:r>
              <a:rPr sz="2550" spc="1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caso</a:t>
            </a:r>
            <a:r>
              <a:rPr sz="2550" spc="19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previa</a:t>
            </a:r>
            <a:r>
              <a:rPr sz="2550" spc="204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autorizzazione</a:t>
            </a:r>
            <a:r>
              <a:rPr sz="2550" spc="1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del</a:t>
            </a:r>
            <a:r>
              <a:rPr sz="2550" spc="1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Ministero</a:t>
            </a:r>
            <a:r>
              <a:rPr sz="2550" spc="20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per</a:t>
            </a:r>
            <a:r>
              <a:rPr sz="2550" spc="19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50" dirty="0">
                <a:solidFill>
                  <a:srgbClr val="0D5A8F"/>
                </a:solidFill>
                <a:latin typeface="Calibri"/>
                <a:cs typeface="Calibri"/>
              </a:rPr>
              <a:t>i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beni,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le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attività</a:t>
            </a:r>
            <a:r>
              <a:rPr sz="2550" spc="3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culturali</a:t>
            </a:r>
            <a:r>
              <a:rPr sz="2550" spc="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e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il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turismo</a:t>
            </a:r>
            <a:r>
              <a:rPr sz="2550" spc="1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rilasciata</a:t>
            </a:r>
            <a:r>
              <a:rPr sz="2550" spc="10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0D5A8F"/>
                </a:solidFill>
                <a:latin typeface="Calibri"/>
                <a:cs typeface="Calibri"/>
              </a:rPr>
              <a:t>al</a:t>
            </a:r>
            <a:r>
              <a:rPr sz="2550" spc="-5" dirty="0">
                <a:solidFill>
                  <a:srgbClr val="0D5A8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0D5A8F"/>
                </a:solidFill>
                <a:latin typeface="Calibri"/>
                <a:cs typeface="Calibri"/>
              </a:rPr>
              <a:t>produttore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861" rIns="0" bIns="0" rtlCol="0">
            <a:spAutoFit/>
          </a:bodyPr>
          <a:lstStyle/>
          <a:p>
            <a:pPr marL="2298065">
              <a:lnSpc>
                <a:spcPct val="100000"/>
              </a:lnSpc>
              <a:spcBef>
                <a:spcPts val="105"/>
              </a:spcBef>
            </a:pPr>
            <a:r>
              <a:rPr dirty="0"/>
              <a:t>Il</a:t>
            </a:r>
            <a:r>
              <a:rPr spc="-10" dirty="0"/>
              <a:t> </a:t>
            </a:r>
            <a:r>
              <a:rPr dirty="0"/>
              <a:t>processo</a:t>
            </a:r>
            <a:r>
              <a:rPr spc="40" dirty="0"/>
              <a:t> </a:t>
            </a:r>
            <a:r>
              <a:rPr dirty="0"/>
              <a:t>di</a:t>
            </a:r>
            <a:r>
              <a:rPr spc="20" dirty="0"/>
              <a:t> </a:t>
            </a:r>
            <a:r>
              <a:rPr spc="-10" dirty="0"/>
              <a:t>conservazione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1852" y="1853183"/>
            <a:ext cx="11162030" cy="2225040"/>
          </a:xfrm>
          <a:custGeom>
            <a:avLst/>
            <a:gdLst/>
            <a:ahLst/>
            <a:cxnLst/>
            <a:rect l="l" t="t" r="r" b="b"/>
            <a:pathLst>
              <a:path w="11162030" h="2225040">
                <a:moveTo>
                  <a:pt x="11161776" y="0"/>
                </a:moveTo>
                <a:lnTo>
                  <a:pt x="0" y="0"/>
                </a:lnTo>
                <a:lnTo>
                  <a:pt x="0" y="2225039"/>
                </a:lnTo>
                <a:lnTo>
                  <a:pt x="11161776" y="2225039"/>
                </a:lnTo>
                <a:lnTo>
                  <a:pt x="11161776" y="0"/>
                </a:lnTo>
                <a:close/>
              </a:path>
            </a:pathLst>
          </a:custGeom>
          <a:solidFill>
            <a:srgbClr val="015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70964" y="2249170"/>
            <a:ext cx="9636760" cy="140271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 algn="ctr">
              <a:lnSpc>
                <a:spcPts val="3679"/>
              </a:lnSpc>
              <a:spcBef>
                <a:spcPts val="359"/>
              </a:spcBef>
            </a:pPr>
            <a:r>
              <a:rPr sz="3200" dirty="0">
                <a:solidFill>
                  <a:srgbClr val="FFFFFF"/>
                </a:solidFill>
              </a:rPr>
              <a:t>Primo</a:t>
            </a:r>
            <a:r>
              <a:rPr sz="3200" spc="-1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elenco</a:t>
            </a:r>
            <a:r>
              <a:rPr sz="3200" spc="-1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di</a:t>
            </a:r>
            <a:r>
              <a:rPr sz="3200" spc="-1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formati</a:t>
            </a:r>
            <a:r>
              <a:rPr sz="3200" spc="-1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che</a:t>
            </a:r>
            <a:r>
              <a:rPr sz="3200" spc="-1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possono</a:t>
            </a:r>
            <a:r>
              <a:rPr sz="3200" spc="-1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essere</a:t>
            </a:r>
            <a:r>
              <a:rPr sz="3200" spc="-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usati </a:t>
            </a:r>
            <a:r>
              <a:rPr sz="3200" dirty="0">
                <a:solidFill>
                  <a:srgbClr val="FFFFFF"/>
                </a:solidFill>
              </a:rPr>
              <a:t>per la </a:t>
            </a:r>
            <a:r>
              <a:rPr sz="3200" spc="-10" dirty="0">
                <a:solidFill>
                  <a:srgbClr val="FFFFFF"/>
                </a:solidFill>
              </a:rPr>
              <a:t>conservazione</a:t>
            </a:r>
            <a:endParaRPr sz="3200"/>
          </a:p>
          <a:p>
            <a:pPr marR="4445" algn="ctr">
              <a:lnSpc>
                <a:spcPts val="3225"/>
              </a:lnSpc>
            </a:pPr>
            <a:r>
              <a:rPr sz="3200" dirty="0">
                <a:solidFill>
                  <a:srgbClr val="FFFFFF"/>
                </a:solidFill>
              </a:rPr>
              <a:t>(l’elenco</a:t>
            </a:r>
            <a:r>
              <a:rPr sz="3200" spc="-3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sarà</a:t>
            </a:r>
            <a:r>
              <a:rPr sz="3200" spc="-45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periodicamente</a:t>
            </a:r>
            <a:r>
              <a:rPr sz="3200" spc="-40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aggiornato)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1091120" y="4065968"/>
            <a:ext cx="1620520" cy="4699000"/>
            <a:chOff x="1091120" y="4065968"/>
            <a:chExt cx="1620520" cy="4699000"/>
          </a:xfrm>
        </p:grpSpPr>
        <p:sp>
          <p:nvSpPr>
            <p:cNvPr id="5" name="object 5"/>
            <p:cNvSpPr/>
            <p:nvPr/>
          </p:nvSpPr>
          <p:spPr>
            <a:xfrm>
              <a:off x="1104138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5" h="4672965">
                  <a:moveTo>
                    <a:pt x="1594103" y="0"/>
                  </a:moveTo>
                  <a:lnTo>
                    <a:pt x="0" y="0"/>
                  </a:lnTo>
                  <a:lnTo>
                    <a:pt x="0" y="4672584"/>
                  </a:lnTo>
                  <a:lnTo>
                    <a:pt x="1594103" y="4672584"/>
                  </a:lnTo>
                  <a:lnTo>
                    <a:pt x="159410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4138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5" h="4672965">
                  <a:moveTo>
                    <a:pt x="0" y="4672584"/>
                  </a:moveTo>
                  <a:lnTo>
                    <a:pt x="1594103" y="4672584"/>
                  </a:lnTo>
                  <a:lnTo>
                    <a:pt x="1594103" y="0"/>
                  </a:lnTo>
                  <a:lnTo>
                    <a:pt x="0" y="0"/>
                  </a:lnTo>
                  <a:lnTo>
                    <a:pt x="0" y="4672584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09547" y="5436234"/>
            <a:ext cx="1380490" cy="19088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6034" marR="18415" indent="635" algn="ctr">
              <a:lnSpc>
                <a:spcPct val="86200"/>
              </a:lnSpc>
              <a:spcBef>
                <a:spcPts val="434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PDF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PDF/A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(ISO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32000-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endParaRPr sz="2000">
              <a:latin typeface="Arial"/>
              <a:cs typeface="Arial"/>
            </a:endParaRPr>
          </a:p>
          <a:p>
            <a:pPr marL="635" algn="ctr">
              <a:lnSpc>
                <a:spcPts val="191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ISO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19005-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07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1:2005,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ISO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070"/>
              </a:lnSpc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19005-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30"/>
              </a:lnSpc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2:2011)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5224" y="4065968"/>
            <a:ext cx="1620520" cy="4699000"/>
            <a:chOff x="2685224" y="4065968"/>
            <a:chExt cx="1620520" cy="4699000"/>
          </a:xfrm>
        </p:grpSpPr>
        <p:sp>
          <p:nvSpPr>
            <p:cNvPr id="9" name="object 9"/>
            <p:cNvSpPr/>
            <p:nvPr/>
          </p:nvSpPr>
          <p:spPr>
            <a:xfrm>
              <a:off x="2698241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5" h="4672965">
                  <a:moveTo>
                    <a:pt x="1594104" y="0"/>
                  </a:moveTo>
                  <a:lnTo>
                    <a:pt x="0" y="0"/>
                  </a:lnTo>
                  <a:lnTo>
                    <a:pt x="0" y="4672584"/>
                  </a:lnTo>
                  <a:lnTo>
                    <a:pt x="1594104" y="4672584"/>
                  </a:lnTo>
                  <a:lnTo>
                    <a:pt x="1594104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98241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5" h="4672965">
                  <a:moveTo>
                    <a:pt x="0" y="4672584"/>
                  </a:moveTo>
                  <a:lnTo>
                    <a:pt x="1594104" y="4672584"/>
                  </a:lnTo>
                  <a:lnTo>
                    <a:pt x="1594104" y="0"/>
                  </a:lnTo>
                  <a:lnTo>
                    <a:pt x="0" y="0"/>
                  </a:lnTo>
                  <a:lnTo>
                    <a:pt x="0" y="4672584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81376" y="5567552"/>
            <a:ext cx="1225550" cy="16465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ctr">
              <a:lnSpc>
                <a:spcPct val="86300"/>
              </a:lnSpc>
              <a:spcBef>
                <a:spcPts val="430"/>
              </a:spcBef>
              <a:tabLst>
                <a:tab pos="688975" algn="l"/>
              </a:tabLst>
            </a:pP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TIFF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(ISO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12639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TIFF/IT;</a:t>
            </a:r>
            <a:endParaRPr sz="2000">
              <a:latin typeface="Arial"/>
              <a:cs typeface="Arial"/>
            </a:endParaRPr>
          </a:p>
          <a:p>
            <a:pPr marL="97790" marR="88900" indent="73025" algn="just">
              <a:lnSpc>
                <a:spcPct val="86300"/>
              </a:lnSpc>
              <a:spcBef>
                <a:spcPts val="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dell'ISO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12234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TIFF/EP)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79328" y="4065968"/>
            <a:ext cx="1620520" cy="4699000"/>
            <a:chOff x="4279328" y="4065968"/>
            <a:chExt cx="1620520" cy="4699000"/>
          </a:xfrm>
        </p:grpSpPr>
        <p:sp>
          <p:nvSpPr>
            <p:cNvPr id="13" name="object 13"/>
            <p:cNvSpPr/>
            <p:nvPr/>
          </p:nvSpPr>
          <p:spPr>
            <a:xfrm>
              <a:off x="4292345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5" h="4672965">
                  <a:moveTo>
                    <a:pt x="1594103" y="0"/>
                  </a:moveTo>
                  <a:lnTo>
                    <a:pt x="0" y="0"/>
                  </a:lnTo>
                  <a:lnTo>
                    <a:pt x="0" y="4672584"/>
                  </a:lnTo>
                  <a:lnTo>
                    <a:pt x="1594103" y="4672584"/>
                  </a:lnTo>
                  <a:lnTo>
                    <a:pt x="159410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2345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5" h="4672965">
                  <a:moveTo>
                    <a:pt x="0" y="4672584"/>
                  </a:moveTo>
                  <a:lnTo>
                    <a:pt x="1594103" y="4672584"/>
                  </a:lnTo>
                  <a:lnTo>
                    <a:pt x="1594103" y="0"/>
                  </a:lnTo>
                  <a:lnTo>
                    <a:pt x="0" y="0"/>
                  </a:lnTo>
                  <a:lnTo>
                    <a:pt x="0" y="4672584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65650" y="5699251"/>
            <a:ext cx="1046480" cy="13823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-1905" algn="ctr">
              <a:lnSpc>
                <a:spcPct val="86300"/>
              </a:lnSpc>
              <a:spcBef>
                <a:spcPts val="430"/>
              </a:spcBef>
            </a:pP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JPG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(ISO/IEC 10918:1, ISO/IEC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15444-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73432" y="4065968"/>
            <a:ext cx="1620520" cy="4699000"/>
            <a:chOff x="5873432" y="4065968"/>
            <a:chExt cx="1620520" cy="4699000"/>
          </a:xfrm>
        </p:grpSpPr>
        <p:sp>
          <p:nvSpPr>
            <p:cNvPr id="17" name="object 17"/>
            <p:cNvSpPr/>
            <p:nvPr/>
          </p:nvSpPr>
          <p:spPr>
            <a:xfrm>
              <a:off x="5886450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1594103" y="0"/>
                  </a:moveTo>
                  <a:lnTo>
                    <a:pt x="0" y="0"/>
                  </a:lnTo>
                  <a:lnTo>
                    <a:pt x="0" y="4672584"/>
                  </a:lnTo>
                  <a:lnTo>
                    <a:pt x="1594103" y="4672584"/>
                  </a:lnTo>
                  <a:lnTo>
                    <a:pt x="159410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86450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0" y="4672584"/>
                  </a:moveTo>
                  <a:lnTo>
                    <a:pt x="1594103" y="4672584"/>
                  </a:lnTo>
                  <a:lnTo>
                    <a:pt x="1594103" y="0"/>
                  </a:lnTo>
                  <a:lnTo>
                    <a:pt x="0" y="0"/>
                  </a:lnTo>
                  <a:lnTo>
                    <a:pt x="0" y="4672584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54014" y="5567552"/>
            <a:ext cx="1455420" cy="16465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2540" algn="ctr">
              <a:lnSpc>
                <a:spcPct val="86300"/>
              </a:lnSpc>
              <a:spcBef>
                <a:spcPts val="43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Office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Open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XML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OOXML (ISO/IEC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DIS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29500:2008)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67536" y="4065968"/>
            <a:ext cx="1620520" cy="4699000"/>
            <a:chOff x="7467536" y="4065968"/>
            <a:chExt cx="1620520" cy="4699000"/>
          </a:xfrm>
        </p:grpSpPr>
        <p:sp>
          <p:nvSpPr>
            <p:cNvPr id="21" name="object 21"/>
            <p:cNvSpPr/>
            <p:nvPr/>
          </p:nvSpPr>
          <p:spPr>
            <a:xfrm>
              <a:off x="7480553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1594103" y="0"/>
                  </a:moveTo>
                  <a:lnTo>
                    <a:pt x="0" y="0"/>
                  </a:lnTo>
                  <a:lnTo>
                    <a:pt x="0" y="4672584"/>
                  </a:lnTo>
                  <a:lnTo>
                    <a:pt x="1594103" y="4672584"/>
                  </a:lnTo>
                  <a:lnTo>
                    <a:pt x="159410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80553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0" y="4672584"/>
                  </a:moveTo>
                  <a:lnTo>
                    <a:pt x="1594103" y="4672584"/>
                  </a:lnTo>
                  <a:lnTo>
                    <a:pt x="1594103" y="0"/>
                  </a:lnTo>
                  <a:lnTo>
                    <a:pt x="0" y="0"/>
                  </a:lnTo>
                  <a:lnTo>
                    <a:pt x="0" y="4672584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56118" y="5173217"/>
            <a:ext cx="1441450" cy="24345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-635" algn="ctr">
              <a:lnSpc>
                <a:spcPct val="86300"/>
              </a:lnSpc>
              <a:spcBef>
                <a:spcPts val="430"/>
              </a:spcBef>
            </a:pP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Open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Document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Format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ODF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(ISO/IEC 26300:2006,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UNI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CEI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ISO/IEC 26300)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061640" y="4065968"/>
            <a:ext cx="1620520" cy="4699000"/>
            <a:chOff x="9061640" y="4065968"/>
            <a:chExt cx="1620520" cy="4699000"/>
          </a:xfrm>
        </p:grpSpPr>
        <p:sp>
          <p:nvSpPr>
            <p:cNvPr id="25" name="object 25"/>
            <p:cNvSpPr/>
            <p:nvPr/>
          </p:nvSpPr>
          <p:spPr>
            <a:xfrm>
              <a:off x="9074658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1594103" y="0"/>
                  </a:moveTo>
                  <a:lnTo>
                    <a:pt x="0" y="0"/>
                  </a:lnTo>
                  <a:lnTo>
                    <a:pt x="0" y="4672584"/>
                  </a:lnTo>
                  <a:lnTo>
                    <a:pt x="1594103" y="4672584"/>
                  </a:lnTo>
                  <a:lnTo>
                    <a:pt x="159410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74658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0" y="4672584"/>
                  </a:moveTo>
                  <a:lnTo>
                    <a:pt x="1594103" y="4672584"/>
                  </a:lnTo>
                  <a:lnTo>
                    <a:pt x="1594103" y="0"/>
                  </a:lnTo>
                  <a:lnTo>
                    <a:pt x="0" y="0"/>
                  </a:lnTo>
                  <a:lnTo>
                    <a:pt x="0" y="4672584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288906" y="5830570"/>
            <a:ext cx="1164590" cy="11207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1270" algn="ctr">
              <a:lnSpc>
                <a:spcPct val="86300"/>
              </a:lnSpc>
              <a:spcBef>
                <a:spcPts val="43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Formati testo famiglia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XML,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TXT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655744" y="4065968"/>
            <a:ext cx="1620520" cy="4699000"/>
            <a:chOff x="10655744" y="4065968"/>
            <a:chExt cx="1620520" cy="4699000"/>
          </a:xfrm>
        </p:grpSpPr>
        <p:sp>
          <p:nvSpPr>
            <p:cNvPr id="29" name="object 29"/>
            <p:cNvSpPr/>
            <p:nvPr/>
          </p:nvSpPr>
          <p:spPr>
            <a:xfrm>
              <a:off x="10668761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1594103" y="0"/>
                  </a:moveTo>
                  <a:lnTo>
                    <a:pt x="0" y="0"/>
                  </a:lnTo>
                  <a:lnTo>
                    <a:pt x="0" y="4672584"/>
                  </a:lnTo>
                  <a:lnTo>
                    <a:pt x="1594103" y="4672584"/>
                  </a:lnTo>
                  <a:lnTo>
                    <a:pt x="1594103" y="0"/>
                  </a:lnTo>
                  <a:close/>
                </a:path>
              </a:pathLst>
            </a:custGeom>
            <a:solidFill>
              <a:srgbClr val="036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668761" y="4078985"/>
              <a:ext cx="1594485" cy="4672965"/>
            </a:xfrm>
            <a:custGeom>
              <a:avLst/>
              <a:gdLst/>
              <a:ahLst/>
              <a:cxnLst/>
              <a:rect l="l" t="t" r="r" b="b"/>
              <a:pathLst>
                <a:path w="1594484" h="4672965">
                  <a:moveTo>
                    <a:pt x="0" y="4672584"/>
                  </a:moveTo>
                  <a:lnTo>
                    <a:pt x="1594103" y="4672584"/>
                  </a:lnTo>
                  <a:lnTo>
                    <a:pt x="1594103" y="0"/>
                  </a:lnTo>
                  <a:lnTo>
                    <a:pt x="0" y="0"/>
                  </a:lnTo>
                  <a:lnTo>
                    <a:pt x="0" y="4672584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759567" y="5567552"/>
            <a:ext cx="1412240" cy="16465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065" marR="5080" indent="1270" algn="ctr">
              <a:lnSpc>
                <a:spcPct val="86300"/>
              </a:lnSpc>
              <a:spcBef>
                <a:spcPts val="43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Formati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messaggi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posta elettronica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(RFC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2822/MIME)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01852" y="8750807"/>
            <a:ext cx="11162030" cy="518159"/>
          </a:xfrm>
          <a:custGeom>
            <a:avLst/>
            <a:gdLst/>
            <a:ahLst/>
            <a:cxnLst/>
            <a:rect l="l" t="t" r="r" b="b"/>
            <a:pathLst>
              <a:path w="11162030" h="518159">
                <a:moveTo>
                  <a:pt x="11161776" y="0"/>
                </a:moveTo>
                <a:lnTo>
                  <a:pt x="0" y="0"/>
                </a:lnTo>
                <a:lnTo>
                  <a:pt x="0" y="518160"/>
                </a:lnTo>
                <a:lnTo>
                  <a:pt x="11161776" y="518160"/>
                </a:lnTo>
                <a:lnTo>
                  <a:pt x="11161776" y="0"/>
                </a:lnTo>
                <a:close/>
              </a:path>
            </a:pathLst>
          </a:custGeom>
          <a:solidFill>
            <a:srgbClr val="015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8260" y="2642616"/>
            <a:ext cx="1655445" cy="2447925"/>
            <a:chOff x="1318260" y="2642616"/>
            <a:chExt cx="1655445" cy="2447925"/>
          </a:xfrm>
        </p:grpSpPr>
        <p:sp>
          <p:nvSpPr>
            <p:cNvPr id="3" name="object 3"/>
            <p:cNvSpPr/>
            <p:nvPr/>
          </p:nvSpPr>
          <p:spPr>
            <a:xfrm>
              <a:off x="2470404" y="2642616"/>
              <a:ext cx="502920" cy="2447925"/>
            </a:xfrm>
            <a:custGeom>
              <a:avLst/>
              <a:gdLst/>
              <a:ahLst/>
              <a:cxnLst/>
              <a:rect l="l" t="t" r="r" b="b"/>
              <a:pathLst>
                <a:path w="502919" h="2447925">
                  <a:moveTo>
                    <a:pt x="502919" y="0"/>
                  </a:moveTo>
                  <a:lnTo>
                    <a:pt x="0" y="1223771"/>
                  </a:lnTo>
                  <a:lnTo>
                    <a:pt x="502919" y="2447543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8260" y="3092196"/>
              <a:ext cx="1524000" cy="15240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996696" y="1866900"/>
            <a:ext cx="11088370" cy="0"/>
          </a:xfrm>
          <a:custGeom>
            <a:avLst/>
            <a:gdLst/>
            <a:ahLst/>
            <a:cxnLst/>
            <a:rect l="l" t="t" r="r" b="b"/>
            <a:pathLst>
              <a:path w="11088370">
                <a:moveTo>
                  <a:pt x="0" y="0"/>
                </a:moveTo>
                <a:lnTo>
                  <a:pt x="11087989" y="0"/>
                </a:lnTo>
              </a:path>
            </a:pathLst>
          </a:custGeom>
          <a:ln w="9144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9378" y="1446022"/>
            <a:ext cx="11202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20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20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PA: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modelli</a:t>
            </a:r>
            <a:r>
              <a:rPr sz="20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organizzativi</a:t>
            </a:r>
            <a:r>
              <a:rPr sz="2000" b="1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20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figure</a:t>
            </a:r>
            <a:r>
              <a:rPr sz="2000" b="1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coinvolte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17319" y="5524500"/>
            <a:ext cx="1556385" cy="2449195"/>
            <a:chOff x="1417319" y="5524500"/>
            <a:chExt cx="1556385" cy="2449195"/>
          </a:xfrm>
        </p:grpSpPr>
        <p:sp>
          <p:nvSpPr>
            <p:cNvPr id="8" name="object 8"/>
            <p:cNvSpPr/>
            <p:nvPr/>
          </p:nvSpPr>
          <p:spPr>
            <a:xfrm>
              <a:off x="1417320" y="5524499"/>
              <a:ext cx="1556385" cy="2449195"/>
            </a:xfrm>
            <a:custGeom>
              <a:avLst/>
              <a:gdLst/>
              <a:ahLst/>
              <a:cxnLst/>
              <a:rect l="l" t="t" r="r" b="b"/>
              <a:pathLst>
                <a:path w="1556385" h="2449195">
                  <a:moveTo>
                    <a:pt x="1556004" y="0"/>
                  </a:moveTo>
                  <a:lnTo>
                    <a:pt x="1222908" y="811009"/>
                  </a:lnTo>
                  <a:lnTo>
                    <a:pt x="1214120" y="799706"/>
                  </a:lnTo>
                  <a:lnTo>
                    <a:pt x="1184021" y="765975"/>
                  </a:lnTo>
                  <a:lnTo>
                    <a:pt x="1151724" y="734275"/>
                  </a:lnTo>
                  <a:lnTo>
                    <a:pt x="1117346" y="704748"/>
                  </a:lnTo>
                  <a:lnTo>
                    <a:pt x="1080985" y="677494"/>
                  </a:lnTo>
                  <a:lnTo>
                    <a:pt x="1042784" y="652627"/>
                  </a:lnTo>
                  <a:lnTo>
                    <a:pt x="1002830" y="630250"/>
                  </a:lnTo>
                  <a:lnTo>
                    <a:pt x="961263" y="610501"/>
                  </a:lnTo>
                  <a:lnTo>
                    <a:pt x="918197" y="593471"/>
                  </a:lnTo>
                  <a:lnTo>
                    <a:pt x="873721" y="579285"/>
                  </a:lnTo>
                  <a:lnTo>
                    <a:pt x="827989" y="568045"/>
                  </a:lnTo>
                  <a:lnTo>
                    <a:pt x="781088" y="559892"/>
                  </a:lnTo>
                  <a:lnTo>
                    <a:pt x="733145" y="554901"/>
                  </a:lnTo>
                  <a:lnTo>
                    <a:pt x="684276" y="553212"/>
                  </a:lnTo>
                  <a:lnTo>
                    <a:pt x="635393" y="554901"/>
                  </a:lnTo>
                  <a:lnTo>
                    <a:pt x="587451" y="559892"/>
                  </a:lnTo>
                  <a:lnTo>
                    <a:pt x="540550" y="568045"/>
                  </a:lnTo>
                  <a:lnTo>
                    <a:pt x="494817" y="579285"/>
                  </a:lnTo>
                  <a:lnTo>
                    <a:pt x="450342" y="593471"/>
                  </a:lnTo>
                  <a:lnTo>
                    <a:pt x="407276" y="610501"/>
                  </a:lnTo>
                  <a:lnTo>
                    <a:pt x="365709" y="630250"/>
                  </a:lnTo>
                  <a:lnTo>
                    <a:pt x="325755" y="652627"/>
                  </a:lnTo>
                  <a:lnTo>
                    <a:pt x="287553" y="677494"/>
                  </a:lnTo>
                  <a:lnTo>
                    <a:pt x="251193" y="704748"/>
                  </a:lnTo>
                  <a:lnTo>
                    <a:pt x="216814" y="734275"/>
                  </a:lnTo>
                  <a:lnTo>
                    <a:pt x="184518" y="765975"/>
                  </a:lnTo>
                  <a:lnTo>
                    <a:pt x="154419" y="799706"/>
                  </a:lnTo>
                  <a:lnTo>
                    <a:pt x="126644" y="835367"/>
                  </a:lnTo>
                  <a:lnTo>
                    <a:pt x="101295" y="872858"/>
                  </a:lnTo>
                  <a:lnTo>
                    <a:pt x="78498" y="912037"/>
                  </a:lnTo>
                  <a:lnTo>
                    <a:pt x="58369" y="952817"/>
                  </a:lnTo>
                  <a:lnTo>
                    <a:pt x="41008" y="995083"/>
                  </a:lnTo>
                  <a:lnTo>
                    <a:pt x="26555" y="1038694"/>
                  </a:lnTo>
                  <a:lnTo>
                    <a:pt x="15113" y="1083564"/>
                  </a:lnTo>
                  <a:lnTo>
                    <a:pt x="6781" y="1129576"/>
                  </a:lnTo>
                  <a:lnTo>
                    <a:pt x="1714" y="1176604"/>
                  </a:lnTo>
                  <a:lnTo>
                    <a:pt x="0" y="1224534"/>
                  </a:lnTo>
                  <a:lnTo>
                    <a:pt x="1714" y="1272476"/>
                  </a:lnTo>
                  <a:lnTo>
                    <a:pt x="6781" y="1319504"/>
                  </a:lnTo>
                  <a:lnTo>
                    <a:pt x="15113" y="1365516"/>
                  </a:lnTo>
                  <a:lnTo>
                    <a:pt x="26555" y="1410385"/>
                  </a:lnTo>
                  <a:lnTo>
                    <a:pt x="41008" y="1453997"/>
                  </a:lnTo>
                  <a:lnTo>
                    <a:pt x="58369" y="1496263"/>
                  </a:lnTo>
                  <a:lnTo>
                    <a:pt x="78498" y="1537042"/>
                  </a:lnTo>
                  <a:lnTo>
                    <a:pt x="101295" y="1576222"/>
                  </a:lnTo>
                  <a:lnTo>
                    <a:pt x="126644" y="1613712"/>
                  </a:lnTo>
                  <a:lnTo>
                    <a:pt x="154419" y="1649374"/>
                  </a:lnTo>
                  <a:lnTo>
                    <a:pt x="184518" y="1683105"/>
                  </a:lnTo>
                  <a:lnTo>
                    <a:pt x="216814" y="1714804"/>
                  </a:lnTo>
                  <a:lnTo>
                    <a:pt x="251193" y="1744332"/>
                  </a:lnTo>
                  <a:lnTo>
                    <a:pt x="287553" y="1771586"/>
                  </a:lnTo>
                  <a:lnTo>
                    <a:pt x="325755" y="1796453"/>
                  </a:lnTo>
                  <a:lnTo>
                    <a:pt x="365709" y="1818830"/>
                  </a:lnTo>
                  <a:lnTo>
                    <a:pt x="407276" y="1838579"/>
                  </a:lnTo>
                  <a:lnTo>
                    <a:pt x="450342" y="1855609"/>
                  </a:lnTo>
                  <a:lnTo>
                    <a:pt x="494817" y="1869795"/>
                  </a:lnTo>
                  <a:lnTo>
                    <a:pt x="540550" y="1881035"/>
                  </a:lnTo>
                  <a:lnTo>
                    <a:pt x="587451" y="1889188"/>
                  </a:lnTo>
                  <a:lnTo>
                    <a:pt x="635393" y="1894179"/>
                  </a:lnTo>
                  <a:lnTo>
                    <a:pt x="684276" y="1895856"/>
                  </a:lnTo>
                  <a:lnTo>
                    <a:pt x="733145" y="1894179"/>
                  </a:lnTo>
                  <a:lnTo>
                    <a:pt x="781088" y="1889188"/>
                  </a:lnTo>
                  <a:lnTo>
                    <a:pt x="827989" y="1881035"/>
                  </a:lnTo>
                  <a:lnTo>
                    <a:pt x="873721" y="1869795"/>
                  </a:lnTo>
                  <a:lnTo>
                    <a:pt x="918197" y="1855609"/>
                  </a:lnTo>
                  <a:lnTo>
                    <a:pt x="961263" y="1838579"/>
                  </a:lnTo>
                  <a:lnTo>
                    <a:pt x="1002830" y="1818830"/>
                  </a:lnTo>
                  <a:lnTo>
                    <a:pt x="1042784" y="1796453"/>
                  </a:lnTo>
                  <a:lnTo>
                    <a:pt x="1080985" y="1771586"/>
                  </a:lnTo>
                  <a:lnTo>
                    <a:pt x="1117346" y="1744332"/>
                  </a:lnTo>
                  <a:lnTo>
                    <a:pt x="1151724" y="1714804"/>
                  </a:lnTo>
                  <a:lnTo>
                    <a:pt x="1184021" y="1683105"/>
                  </a:lnTo>
                  <a:lnTo>
                    <a:pt x="1214120" y="1649374"/>
                  </a:lnTo>
                  <a:lnTo>
                    <a:pt x="1222921" y="1638071"/>
                  </a:lnTo>
                  <a:lnTo>
                    <a:pt x="1556004" y="2449068"/>
                  </a:lnTo>
                  <a:lnTo>
                    <a:pt x="1556004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6775" y="6283451"/>
              <a:ext cx="929639" cy="93116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046476" y="2642616"/>
            <a:ext cx="8641080" cy="2447925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21945" indent="-191135">
              <a:lnSpc>
                <a:spcPct val="100000"/>
              </a:lnSpc>
              <a:spcBef>
                <a:spcPts val="1750"/>
              </a:spcBef>
              <a:buFont typeface="Arial"/>
              <a:buChar char="•"/>
              <a:tabLst>
                <a:tab pos="322580" algn="l"/>
              </a:tabLst>
            </a:pP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8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800" b="1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8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svolta</a:t>
            </a:r>
            <a:r>
              <a:rPr sz="1800" b="1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all’interno</a:t>
            </a:r>
            <a:r>
              <a:rPr sz="1800" b="1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8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struttura </a:t>
            </a:r>
            <a:r>
              <a:rPr sz="1800" b="1" spc="-10" dirty="0">
                <a:solidFill>
                  <a:srgbClr val="0D5A8F"/>
                </a:solidFill>
                <a:latin typeface="Arial"/>
                <a:cs typeface="Arial"/>
              </a:rPr>
              <a:t>organizzativa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D5A8F"/>
              </a:buClr>
              <a:buFont typeface="Arial"/>
              <a:buChar char="•"/>
            </a:pPr>
            <a:endParaRPr sz="1850">
              <a:latin typeface="Arial"/>
              <a:cs typeface="Arial"/>
            </a:endParaRPr>
          </a:p>
          <a:p>
            <a:pPr marL="321945" indent="-191135">
              <a:lnSpc>
                <a:spcPct val="100000"/>
              </a:lnSpc>
              <a:buFont typeface="Arial"/>
              <a:buChar char="•"/>
              <a:tabLst>
                <a:tab pos="322580" algn="l"/>
              </a:tabLst>
            </a:pP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18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Responsabile</a:t>
            </a:r>
            <a:r>
              <a:rPr sz="18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8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800" b="1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8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interno</a:t>
            </a:r>
            <a:r>
              <a:rPr sz="18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al</a:t>
            </a:r>
            <a:r>
              <a:rPr sz="18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soggetto</a:t>
            </a:r>
            <a:r>
              <a:rPr sz="18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5A8F"/>
                </a:solidFill>
                <a:latin typeface="Arial"/>
                <a:cs typeface="Arial"/>
              </a:rPr>
              <a:t>produttore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048" y="9456038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39041" y="9496899"/>
            <a:ext cx="14541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solidFill>
                  <a:srgbClr val="FFFFFF"/>
                </a:solidFill>
                <a:latin typeface="Wingdings"/>
                <a:cs typeface="Wingdings"/>
              </a:rPr>
              <a:t></a:t>
            </a:r>
            <a:endParaRPr sz="105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6476" y="5524500"/>
            <a:ext cx="8641080" cy="2449195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21945" marR="308610" indent="-1905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22580" algn="l"/>
                <a:tab pos="3025140" algn="l"/>
              </a:tabLst>
            </a:pP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8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800" b="1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8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affidata,</a:t>
            </a:r>
            <a:r>
              <a:rPr sz="18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8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modo</a:t>
            </a:r>
            <a:r>
              <a:rPr sz="1800" b="1" spc="4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totale</a:t>
            </a:r>
            <a:r>
              <a:rPr sz="1800" b="1" spc="4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1800" b="1" spc="459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parziale, esclusivamente</a:t>
            </a:r>
            <a:r>
              <a:rPr sz="1800" b="1" spc="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D5A8F"/>
                </a:solidFill>
                <a:latin typeface="Arial"/>
                <a:cs typeface="Arial"/>
              </a:rPr>
              <a:t>a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conservatori</a:t>
            </a:r>
            <a:r>
              <a:rPr sz="18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5A8F"/>
                </a:solidFill>
                <a:latin typeface="Arial"/>
                <a:cs typeface="Arial"/>
              </a:rPr>
              <a:t>accreditati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	inseriti</a:t>
            </a:r>
            <a:r>
              <a:rPr sz="18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nell’elenco</a:t>
            </a:r>
            <a:r>
              <a:rPr sz="18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800" b="1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D5A8F"/>
                </a:solidFill>
                <a:latin typeface="Arial"/>
                <a:cs typeface="Arial"/>
              </a:rPr>
              <a:t>AgID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D5A8F"/>
              </a:buClr>
              <a:buFont typeface="Arial"/>
              <a:buChar char="•"/>
            </a:pPr>
            <a:endParaRPr sz="1850">
              <a:latin typeface="Arial"/>
              <a:cs typeface="Arial"/>
            </a:endParaRPr>
          </a:p>
          <a:p>
            <a:pPr marL="321945" indent="-191135">
              <a:lnSpc>
                <a:spcPct val="100000"/>
              </a:lnSpc>
              <a:buFont typeface="Arial"/>
              <a:buChar char="•"/>
              <a:tabLst>
                <a:tab pos="322580" algn="l"/>
              </a:tabLst>
            </a:pP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Due</a:t>
            </a:r>
            <a:r>
              <a:rPr sz="1800" b="1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sono</a:t>
            </a:r>
            <a:r>
              <a:rPr sz="1800" b="1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800" b="1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figure</a:t>
            </a:r>
            <a:r>
              <a:rPr sz="18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5A8F"/>
                </a:solidFill>
                <a:latin typeface="Arial"/>
                <a:cs typeface="Arial"/>
              </a:rPr>
              <a:t>chiave:</a:t>
            </a:r>
            <a:endParaRPr sz="1800">
              <a:latin typeface="Arial"/>
              <a:cs typeface="Arial"/>
            </a:endParaRPr>
          </a:p>
          <a:p>
            <a:pPr marL="663575" lvl="1" indent="-287020">
              <a:lnSpc>
                <a:spcPct val="100000"/>
              </a:lnSpc>
              <a:buFont typeface="Courier New"/>
              <a:buChar char="o"/>
              <a:tabLst>
                <a:tab pos="664210" algn="l"/>
              </a:tabLst>
            </a:pP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Responsabile</a:t>
            </a:r>
            <a:r>
              <a:rPr sz="18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800" b="1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conservazione,</a:t>
            </a:r>
            <a:r>
              <a:rPr sz="1800" b="1" spc="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8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8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interno</a:t>
            </a:r>
            <a:r>
              <a:rPr sz="18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al</a:t>
            </a:r>
            <a:r>
              <a:rPr sz="18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soggetto</a:t>
            </a:r>
            <a:r>
              <a:rPr sz="18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5A8F"/>
                </a:solidFill>
                <a:latin typeface="Arial"/>
                <a:cs typeface="Arial"/>
              </a:rPr>
              <a:t>produttore</a:t>
            </a:r>
            <a:endParaRPr sz="1800">
              <a:latin typeface="Arial"/>
              <a:cs typeface="Arial"/>
            </a:endParaRPr>
          </a:p>
          <a:p>
            <a:pPr marL="663575" lvl="1" indent="-287020">
              <a:lnSpc>
                <a:spcPct val="100000"/>
              </a:lnSpc>
              <a:buFont typeface="Courier New"/>
              <a:buChar char="o"/>
              <a:tabLst>
                <a:tab pos="664210" algn="l"/>
              </a:tabLst>
            </a:pP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Responsabile</a:t>
            </a:r>
            <a:r>
              <a:rPr sz="1800" b="1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8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servizio</a:t>
            </a:r>
            <a:r>
              <a:rPr sz="1800" b="1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8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Conservazione che</a:t>
            </a:r>
            <a:r>
              <a:rPr sz="18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800" b="1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5A8F"/>
                </a:solidFill>
                <a:latin typeface="Arial"/>
                <a:cs typeface="Arial"/>
              </a:rPr>
              <a:t>interno</a:t>
            </a:r>
            <a:r>
              <a:rPr sz="1800" b="1" spc="-25" dirty="0">
                <a:solidFill>
                  <a:srgbClr val="0D5A8F"/>
                </a:solidFill>
                <a:latin typeface="Arial"/>
                <a:cs typeface="Arial"/>
              </a:rPr>
              <a:t> al</a:t>
            </a:r>
            <a:endParaRPr sz="1800">
              <a:latin typeface="Arial"/>
              <a:cs typeface="Arial"/>
            </a:endParaRPr>
          </a:p>
          <a:p>
            <a:pPr marL="663575">
              <a:lnSpc>
                <a:spcPct val="100000"/>
              </a:lnSpc>
            </a:pPr>
            <a:r>
              <a:rPr sz="1800" b="1" spc="-10" dirty="0">
                <a:solidFill>
                  <a:srgbClr val="0D5A8F"/>
                </a:solidFill>
                <a:latin typeface="Arial"/>
                <a:cs typeface="Arial"/>
              </a:rPr>
              <a:t>conservatore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4330" y="4614112"/>
            <a:ext cx="859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A7A7A7"/>
                </a:solidFill>
                <a:latin typeface="Arial"/>
                <a:cs typeface="Arial"/>
              </a:rPr>
              <a:t>In</a:t>
            </a:r>
            <a:r>
              <a:rPr sz="1600" b="1" spc="-1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A7A7A7"/>
                </a:solidFill>
                <a:latin typeface="Arial"/>
                <a:cs typeface="Arial"/>
              </a:rPr>
              <a:t>house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9925" y="7575295"/>
            <a:ext cx="1228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A7A7A7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8408" y="1866900"/>
            <a:ext cx="11088370" cy="0"/>
          </a:xfrm>
          <a:custGeom>
            <a:avLst/>
            <a:gdLst/>
            <a:ahLst/>
            <a:cxnLst/>
            <a:rect l="l" t="t" r="r" b="b"/>
            <a:pathLst>
              <a:path w="11088370">
                <a:moveTo>
                  <a:pt x="0" y="0"/>
                </a:moveTo>
                <a:lnTo>
                  <a:pt x="11087989" y="0"/>
                </a:lnTo>
              </a:path>
            </a:pathLst>
          </a:custGeom>
          <a:ln w="9144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703" y="1446022"/>
            <a:ext cx="6075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20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attuali</a:t>
            </a:r>
            <a:r>
              <a:rPr sz="2000" b="1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problematiche</a:t>
            </a:r>
            <a:r>
              <a:rPr sz="2000" b="1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legate</a:t>
            </a:r>
            <a:r>
              <a:rPr sz="2000" b="1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2000" b="1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5991" y="2141220"/>
            <a:ext cx="8681085" cy="2014855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261620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attuali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tecniche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approfondiscono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modalità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tecniche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processo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conservazione.</a:t>
            </a:r>
            <a:endParaRPr sz="1400">
              <a:latin typeface="Arial"/>
              <a:cs typeface="Arial"/>
            </a:endParaRPr>
          </a:p>
          <a:p>
            <a:pPr marL="261620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mai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lavorato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definizione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modello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riferimento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polo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conservazione.</a:t>
            </a:r>
            <a:endParaRPr sz="1400">
              <a:latin typeface="Arial"/>
              <a:cs typeface="Arial"/>
            </a:endParaRPr>
          </a:p>
          <a:p>
            <a:pPr marL="261620" marR="33020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Codice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dell’Amministrazione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introduce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sanzioni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dirette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400" spc="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non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formano</a:t>
            </a:r>
            <a:r>
              <a:rPr sz="1400" spc="-8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gli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originali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propri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mezzi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informatici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e/o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adottano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r>
              <a:rPr sz="14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norma: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molte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PA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continuano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quindi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ad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emettere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documenti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firma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su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carta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digitalizzarli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gestirli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secondo</a:t>
            </a:r>
            <a:r>
              <a:rPr sz="1400" spc="-7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regole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nucleo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minimo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protocollo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informatico.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Questo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modus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operandi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esporrà</a:t>
            </a:r>
            <a:r>
              <a:rPr sz="1400" spc="50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contestazioni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sulla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legittimità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degli</a:t>
            </a:r>
            <a:r>
              <a:rPr sz="1400" spc="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atti.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9119" y="2141220"/>
            <a:ext cx="3043555" cy="2014855"/>
          </a:xfrm>
          <a:custGeom>
            <a:avLst/>
            <a:gdLst/>
            <a:ahLst/>
            <a:cxnLst/>
            <a:rect l="l" t="t" r="r" b="b"/>
            <a:pathLst>
              <a:path w="3043554" h="2014854">
                <a:moveTo>
                  <a:pt x="3043428" y="0"/>
                </a:moveTo>
                <a:lnTo>
                  <a:pt x="0" y="0"/>
                </a:lnTo>
                <a:lnTo>
                  <a:pt x="0" y="2014727"/>
                </a:lnTo>
                <a:lnTo>
                  <a:pt x="3043428" y="2014727"/>
                </a:lnTo>
                <a:lnTo>
                  <a:pt x="3043428" y="0"/>
                </a:lnTo>
                <a:close/>
              </a:path>
            </a:pathLst>
          </a:custGeom>
          <a:solidFill>
            <a:srgbClr val="008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9119" y="2141220"/>
            <a:ext cx="3043555" cy="2014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50">
              <a:latin typeface="Times New Roman"/>
              <a:cs typeface="Times New Roman"/>
            </a:endParaRPr>
          </a:p>
          <a:p>
            <a:pPr marR="65405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Problematiche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«di</a:t>
            </a:r>
            <a:endParaRPr sz="1800">
              <a:latin typeface="Arial"/>
              <a:cs typeface="Arial"/>
            </a:endParaRPr>
          </a:p>
          <a:p>
            <a:pPr marR="55244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indirizzo»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718" y="2064181"/>
            <a:ext cx="885647" cy="8536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45991" y="4552188"/>
            <a:ext cx="8681085" cy="201676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61620" marR="193675" indent="-173990">
              <a:lnSpc>
                <a:spcPct val="100000"/>
              </a:lnSpc>
              <a:spcBef>
                <a:spcPts val="345"/>
              </a:spcBef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poli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oggi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esistenti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sono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interoperabili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tra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loro: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manca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linguaggio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comune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che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consenta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far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parlare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polo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l’altro,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ogni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polo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utilizza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software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archiviazione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differenti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dagli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altri.</a:t>
            </a:r>
            <a:endParaRPr sz="1400">
              <a:latin typeface="Arial"/>
              <a:cs typeface="Arial"/>
            </a:endParaRPr>
          </a:p>
          <a:p>
            <a:pPr marL="261620" marR="31750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richiede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una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gestione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digitale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tutto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ciclo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 documento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informatico,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cosa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ancora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accade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modo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diffuso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nelle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amministrazioni.</a:t>
            </a:r>
            <a:endParaRPr sz="1400">
              <a:latin typeface="Arial"/>
              <a:cs typeface="Arial"/>
            </a:endParaRPr>
          </a:p>
          <a:p>
            <a:pPr marL="261620" marR="99695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evitare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rischi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obsolescenza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tecnologica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ed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ottica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risparmio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economico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 procedure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gestione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devono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iniziare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sin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dalla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fase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ingresso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nell'archivio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corrente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dell'ente,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senza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attendere,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come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avveniva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contesto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cartaceo,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documento</a:t>
            </a:r>
            <a:r>
              <a:rPr sz="14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sia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versato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archivio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di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deposito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al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termine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suo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ciclo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attivo.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9119" y="4552188"/>
            <a:ext cx="3043555" cy="2016760"/>
          </a:xfrm>
          <a:custGeom>
            <a:avLst/>
            <a:gdLst/>
            <a:ahLst/>
            <a:cxnLst/>
            <a:rect l="l" t="t" r="r" b="b"/>
            <a:pathLst>
              <a:path w="3043554" h="2016759">
                <a:moveTo>
                  <a:pt x="3043428" y="0"/>
                </a:moveTo>
                <a:lnTo>
                  <a:pt x="0" y="0"/>
                </a:lnTo>
                <a:lnTo>
                  <a:pt x="0" y="2016252"/>
                </a:lnTo>
                <a:lnTo>
                  <a:pt x="3043428" y="2016252"/>
                </a:lnTo>
                <a:lnTo>
                  <a:pt x="3043428" y="0"/>
                </a:lnTo>
                <a:close/>
              </a:path>
            </a:pathLst>
          </a:custGeom>
          <a:solidFill>
            <a:srgbClr val="008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9119" y="4552188"/>
            <a:ext cx="3043555" cy="201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Times New Roman"/>
              <a:cs typeface="Times New Roman"/>
            </a:endParaRPr>
          </a:p>
          <a:p>
            <a:pPr marR="66675"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Problematiche</a:t>
            </a:r>
            <a:endParaRPr sz="1800">
              <a:latin typeface="Arial"/>
              <a:cs typeface="Arial"/>
            </a:endParaRPr>
          </a:p>
          <a:p>
            <a:pPr marR="53340"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«funzionali»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718" y="4526838"/>
            <a:ext cx="885647" cy="8536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45991" y="6964680"/>
            <a:ext cx="8681085" cy="2016760"/>
          </a:xfrm>
          <a:prstGeom prst="rect">
            <a:avLst/>
          </a:prstGeom>
          <a:ln w="9144">
            <a:solidFill>
              <a:srgbClr val="979797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261620" marR="71755" indent="-173990">
              <a:lnSpc>
                <a:spcPct val="100000"/>
              </a:lnSpc>
              <a:spcBef>
                <a:spcPts val="1185"/>
              </a:spcBef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pubbliche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amministrazioni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hanno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sufficienti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competenze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disponibilità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economiche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sviluppare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 conservazione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propri,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sono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quindi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sostanzialmente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«costrette»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ad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orientarsi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verso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l’adozione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offerti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da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soggetti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privati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accreditati.</a:t>
            </a:r>
            <a:endParaRPr sz="1400">
              <a:latin typeface="Arial"/>
              <a:cs typeface="Arial"/>
            </a:endParaRPr>
          </a:p>
          <a:p>
            <a:pPr marL="261620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Il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numero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poli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pubblici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accreditati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oggi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esistenti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non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sufficiente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per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coprire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tutte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necessità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della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PA.</a:t>
            </a:r>
            <a:endParaRPr sz="1400">
              <a:latin typeface="Arial"/>
              <a:cs typeface="Arial"/>
            </a:endParaRPr>
          </a:p>
          <a:p>
            <a:pPr marL="261620" marR="81280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PA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centrali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hanno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bisogno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accedere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sistemi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pubblici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loro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dedicati,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poiché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un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soggetto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privato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non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è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grado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di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garantire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continuità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nella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conservazione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lungo</a:t>
            </a:r>
            <a:r>
              <a:rPr sz="1400" spc="-3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termine.</a:t>
            </a:r>
            <a:endParaRPr sz="1400">
              <a:latin typeface="Arial"/>
              <a:cs typeface="Arial"/>
            </a:endParaRPr>
          </a:p>
          <a:p>
            <a:pPr marL="261620" marR="102870" indent="-173990">
              <a:lnSpc>
                <a:spcPct val="100000"/>
              </a:lnSpc>
              <a:buChar char="•"/>
              <a:tabLst>
                <a:tab pos="262255" algn="l"/>
              </a:tabLst>
            </a:pP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Oggi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PA</a:t>
            </a:r>
            <a:r>
              <a:rPr sz="1400" spc="-8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conservano</a:t>
            </a:r>
            <a:r>
              <a:rPr sz="1400" spc="-4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solamente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la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documentazione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viene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gestita</a:t>
            </a:r>
            <a:r>
              <a:rPr sz="1400" spc="-6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dal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protocollo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o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repertoriata,</a:t>
            </a:r>
            <a:r>
              <a:rPr sz="1400" spc="-6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ma</a:t>
            </a:r>
            <a:r>
              <a:rPr sz="1400" spc="-2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D5A8F"/>
                </a:solidFill>
                <a:latin typeface="Arial"/>
                <a:cs typeface="Arial"/>
              </a:rPr>
              <a:t>la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norma</a:t>
            </a:r>
            <a:r>
              <a:rPr sz="1400" spc="-7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prevede</a:t>
            </a:r>
            <a:r>
              <a:rPr sz="1400" spc="-4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che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vengano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conservati</a:t>
            </a:r>
            <a:r>
              <a:rPr sz="1400" spc="-5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molti</a:t>
            </a:r>
            <a:r>
              <a:rPr sz="1400" spc="-50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D5A8F"/>
                </a:solidFill>
                <a:latin typeface="Arial"/>
                <a:cs typeface="Arial"/>
              </a:rPr>
              <a:t>più</a:t>
            </a:r>
            <a:r>
              <a:rPr sz="1400" spc="-35" dirty="0">
                <a:solidFill>
                  <a:srgbClr val="0D5A8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D5A8F"/>
                </a:solidFill>
                <a:latin typeface="Arial"/>
                <a:cs typeface="Arial"/>
              </a:rPr>
              <a:t>documenti.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6072" y="6964680"/>
            <a:ext cx="3042285" cy="2016760"/>
          </a:xfrm>
          <a:custGeom>
            <a:avLst/>
            <a:gdLst/>
            <a:ahLst/>
            <a:cxnLst/>
            <a:rect l="l" t="t" r="r" b="b"/>
            <a:pathLst>
              <a:path w="3042285" h="2016759">
                <a:moveTo>
                  <a:pt x="3041904" y="0"/>
                </a:moveTo>
                <a:lnTo>
                  <a:pt x="0" y="0"/>
                </a:lnTo>
                <a:lnTo>
                  <a:pt x="0" y="2016252"/>
                </a:lnTo>
                <a:lnTo>
                  <a:pt x="3041904" y="2016252"/>
                </a:lnTo>
                <a:lnTo>
                  <a:pt x="3041904" y="0"/>
                </a:lnTo>
                <a:close/>
              </a:path>
            </a:pathLst>
          </a:custGeom>
          <a:solidFill>
            <a:srgbClr val="008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6072" y="6964680"/>
            <a:ext cx="3042285" cy="201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69723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Problematiche</a:t>
            </a:r>
            <a:endParaRPr sz="1800">
              <a:latin typeface="Arial"/>
              <a:cs typeface="Arial"/>
            </a:endParaRPr>
          </a:p>
          <a:p>
            <a:pPr marL="761365" marR="681355" indent="-6858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«organizzativo- economiche»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275" y="6957974"/>
            <a:ext cx="895426" cy="8857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84989" y="9456038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39981" y="9496899"/>
            <a:ext cx="14541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5" dirty="0">
                <a:solidFill>
                  <a:srgbClr val="FFFFFF"/>
                </a:solidFill>
                <a:latin typeface="Wingdings"/>
                <a:cs typeface="Wingdings"/>
              </a:rPr>
              <a:t></a:t>
            </a:r>
            <a:endParaRPr sz="105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409" y="9370872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D5A8F"/>
                </a:solidFill>
                <a:latin typeface="Arial"/>
                <a:cs typeface="Arial"/>
              </a:rPr>
              <a:t>30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53129" y="1973072"/>
            <a:ext cx="6242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i="1" dirty="0">
                <a:latin typeface="Arial"/>
                <a:cs typeface="Arial"/>
              </a:rPr>
              <a:t>Grazie</a:t>
            </a:r>
            <a:r>
              <a:rPr sz="4400" b="0" i="1" spc="-15" dirty="0">
                <a:latin typeface="Arial"/>
                <a:cs typeface="Arial"/>
              </a:rPr>
              <a:t> </a:t>
            </a:r>
            <a:r>
              <a:rPr sz="4400" b="0" i="1" dirty="0">
                <a:latin typeface="Arial"/>
                <a:cs typeface="Arial"/>
              </a:rPr>
              <a:t>per</a:t>
            </a:r>
            <a:r>
              <a:rPr sz="4400" b="0" i="1" spc="-25" dirty="0">
                <a:latin typeface="Arial"/>
                <a:cs typeface="Arial"/>
              </a:rPr>
              <a:t> </a:t>
            </a:r>
            <a:r>
              <a:rPr sz="4400" b="0" i="1" dirty="0">
                <a:latin typeface="Arial"/>
                <a:cs typeface="Arial"/>
              </a:rPr>
              <a:t>l’attenzione</a:t>
            </a:r>
            <a:r>
              <a:rPr sz="4400" b="0" i="1" spc="-30" dirty="0">
                <a:latin typeface="Arial"/>
                <a:cs typeface="Arial"/>
              </a:rPr>
              <a:t> </a:t>
            </a:r>
            <a:r>
              <a:rPr sz="4400" b="0" i="1" spc="-25" dirty="0">
                <a:latin typeface="Arial"/>
                <a:cs typeface="Arial"/>
              </a:rPr>
              <a:t>!!!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8104" y="3454908"/>
            <a:ext cx="6768083" cy="41742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86425" y="8140954"/>
            <a:ext cx="2397125" cy="766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118745">
              <a:lnSpc>
                <a:spcPct val="102499"/>
              </a:lnSpc>
              <a:spcBef>
                <a:spcPts val="25"/>
              </a:spcBef>
            </a:pP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4"/>
              </a:rPr>
              <a:t>www.agid.gov.it</a:t>
            </a:r>
            <a:r>
              <a:rPr sz="24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1C7391"/>
                </a:solidFill>
                <a:latin typeface="Microsoft Sans Serif"/>
                <a:cs typeface="Microsoft Sans Serif"/>
              </a:rPr>
              <a:t>twitter</a:t>
            </a:r>
            <a:r>
              <a:rPr sz="2400" spc="-15" dirty="0">
                <a:solidFill>
                  <a:srgbClr val="1C7391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1C7391"/>
                </a:solidFill>
                <a:latin typeface="Microsoft Sans Serif"/>
                <a:cs typeface="Microsoft Sans Serif"/>
              </a:rPr>
              <a:t>@AgidGov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3351</Words>
  <Application>Microsoft Office PowerPoint</Application>
  <PresentationFormat>Personalizzato</PresentationFormat>
  <Paragraphs>401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4" baseType="lpstr">
      <vt:lpstr>Office Theme</vt:lpstr>
      <vt:lpstr> La digitalizzazione, i processi di dematerializzazione e la conservazione   Considerazioni iniziali</vt:lpstr>
      <vt:lpstr>La digitalizzazione, i processi di dematerializzazione e la conservazione</vt:lpstr>
      <vt:lpstr>La digitalizzazione, i processi di dematerializzazione e la conservazione</vt:lpstr>
      <vt:lpstr>Presentazione standard di PowerPoint</vt:lpstr>
      <vt:lpstr>La dematerializzazione Definizione</vt:lpstr>
      <vt:lpstr>La dematerializzazione Definizione</vt:lpstr>
      <vt:lpstr>La dematerializzazione Principali finalità</vt:lpstr>
      <vt:lpstr>L’approccio alla dematerializzazione</vt:lpstr>
      <vt:lpstr>DPCM 13/11/2014 – Regole tecniche per la formazione del documento informatico</vt:lpstr>
      <vt:lpstr>Il documento informatico</vt:lpstr>
      <vt:lpstr>Il documento informatico</vt:lpstr>
      <vt:lpstr>I nuovi documenti informatici</vt:lpstr>
      <vt:lpstr>I nuovi documenti informatici</vt:lpstr>
      <vt:lpstr>Regole - Documento informatico</vt:lpstr>
      <vt:lpstr>Regole - Documento informatico</vt:lpstr>
      <vt:lpstr>Regole - Documento informatico</vt:lpstr>
      <vt:lpstr>Regole - Documento informatico</vt:lpstr>
      <vt:lpstr>I formati dei documenti informatici</vt:lpstr>
      <vt:lpstr>I formati dei documenti informatici</vt:lpstr>
      <vt:lpstr>… i formati dei documenti informatici</vt:lpstr>
      <vt:lpstr>I metadati</vt:lpstr>
      <vt:lpstr>La gestione documentale</vt:lpstr>
      <vt:lpstr>La conservazione dei documenti informatici</vt:lpstr>
      <vt:lpstr>Presentazione standard di PowerPoint</vt:lpstr>
      <vt:lpstr>Presentazione standard di PowerPoint</vt:lpstr>
      <vt:lpstr>Presentazione standard di PowerPoint</vt:lpstr>
      <vt:lpstr>Gli standard di riferimento</vt:lpstr>
      <vt:lpstr>Presentazione standard di PowerPoint</vt:lpstr>
      <vt:lpstr>Il processo di conservazione</vt:lpstr>
      <vt:lpstr>Primo elenco di formati che possono essere usati per la conservazione (l’elenco sarà periodicamente aggiornato)</vt:lpstr>
      <vt:lpstr>Presentazione standard di PowerPoint</vt:lpstr>
      <vt:lpstr>Presentazione standard di PowerPoint</vt:lpstr>
      <vt:lpstr>Grazie per l’attenzione 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Sirgiovanni Erica</dc:creator>
  <cp:lastModifiedBy>Enzo Chilelli</cp:lastModifiedBy>
  <cp:revision>4</cp:revision>
  <dcterms:created xsi:type="dcterms:W3CDTF">2022-11-02T10:43:39Z</dcterms:created>
  <dcterms:modified xsi:type="dcterms:W3CDTF">2022-11-28T11:27:28Z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2022-11-02T00:00:00Z</vt:filetime>
  </property>
  <property fmtid="{D5CDD505-2E9C-101B-9397-08002B2CF9AE}" pid="5" name="Producer">
    <vt:lpwstr>Microsoft® PowerPoint® 2016</vt:lpwstr>
  </property>
</Properties>
</file>