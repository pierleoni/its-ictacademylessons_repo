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3" r:id="rId2"/>
    <p:sldId id="285" r:id="rId3"/>
    <p:sldId id="311" r:id="rId4"/>
    <p:sldId id="310" r:id="rId5"/>
    <p:sldId id="309" r:id="rId6"/>
    <p:sldId id="302" r:id="rId7"/>
    <p:sldId id="304" r:id="rId8"/>
    <p:sldId id="305" r:id="rId9"/>
    <p:sldId id="306" r:id="rId10"/>
    <p:sldId id="307" r:id="rId11"/>
    <p:sldId id="308" r:id="rId12"/>
    <p:sldId id="300" r:id="rId13"/>
    <p:sldId id="303" r:id="rId14"/>
    <p:sldId id="286" r:id="rId15"/>
    <p:sldId id="287" r:id="rId16"/>
    <p:sldId id="288" r:id="rId17"/>
    <p:sldId id="257" r:id="rId18"/>
    <p:sldId id="258" r:id="rId19"/>
    <p:sldId id="259" r:id="rId20"/>
    <p:sldId id="291" r:id="rId21"/>
    <p:sldId id="292" r:id="rId22"/>
    <p:sldId id="293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36"/>
    <p:sldId id="273" r:id="rId37"/>
    <p:sldId id="274" r:id="rId38"/>
    <p:sldId id="275" r:id="rId39"/>
    <p:sldId id="276" r:id="rId40"/>
    <p:sldId id="277" r:id="rId41"/>
    <p:sldId id="278" r:id="rId42"/>
    <p:sldId id="279" r:id="rId43"/>
    <p:sldId id="289" r:id="rId44"/>
    <p:sldId id="290" r:id="rId45"/>
    <p:sldId id="281" r:id="rId46"/>
    <p:sldId id="294" r:id="rId47"/>
    <p:sldId id="295" r:id="rId48"/>
    <p:sldId id="296" r:id="rId49"/>
    <p:sldId id="297" r:id="rId50"/>
    <p:sldId id="298" r:id="rId51"/>
    <p:sldId id="299" r:id="rId52"/>
    <p:sldId id="282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40" d="100"/>
          <a:sy n="40" d="100"/>
        </p:scale>
        <p:origin x="-2172" y="-6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6DD26-32A4-2A43-990A-6F7E5E73786E}" type="datetimeFigureOut">
              <a:rPr lang="en-US" smtClean="0"/>
              <a:t>11/28/2022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AF604-6CBA-6F4A-A6F6-26E48A4D0EE4}" type="slidenum">
              <a:rPr lang="en-US" smtClean="0"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https:/docs.italia.it/italia/piano-triennale-ict/codice-amministrazione-digitale-docs/it/v2018-09-28/_rst/capo7_art71.html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jp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https:/docs.italia.it/italia/developers-italia/lg-acquisizione-e-riuso-software-per-pa-docs/it/bozza/index.html" TargetMode="External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https:/docs.italia.it/italia/piano-triennale-ict/lg-modellointeroperabilita-docs/it/bozza/index.html" TargetMode="External"/><Relationship Id="rId5" Type="http://schemas.openxmlformats.org/officeDocument/2006/relationships/hyperlink" Target="http://https:/www.agid.gov.it/it/sicurezza/cert-pa/linee-guida-sviluppo-del-software-sicuro" TargetMode="External"/><Relationship Id="rId4" Type="http://schemas.openxmlformats.org/officeDocument/2006/relationships/hyperlink" Target="http://https:/developers.italia.it/it/software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://https:/docs.google.com/spreadsheets/d/1XV_7czmMyndA1nJHRyRJC7rEgX_FspMl6NjVLpG-pmY/edit#gid=0" TargetMode="External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https:/docs.google.com/spreadsheets/d/1XV_7czmMyndA1nJHRyRJC7rEgX_FspMl6NjVLpG-pmY/edit#gid=1645990221" TargetMode="External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://https:/docs.italia.it/italia/manuale-di-abilitazione-al-cloud/manuale-di-abilitazione-al-cloud-docs/it/bozza/index.html" TargetMode="External"/><Relationship Id="rId2" Type="http://schemas.openxmlformats.org/officeDocument/2006/relationships/hyperlink" Target="http://https:/developers.italia.it/it/software" TargetMode="Externa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066" y="609600"/>
            <a:ext cx="8641080" cy="1973580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-4571" y="4953000"/>
            <a:ext cx="9153525" cy="1905000"/>
            <a:chOff x="-6095" y="4953000"/>
            <a:chExt cx="12204700" cy="1905000"/>
          </a:xfrm>
        </p:grpSpPr>
        <p:sp>
          <p:nvSpPr>
            <p:cNvPr id="3" name="object 3"/>
            <p:cNvSpPr/>
            <p:nvPr/>
          </p:nvSpPr>
          <p:spPr>
            <a:xfrm>
              <a:off x="2249424" y="4953000"/>
              <a:ext cx="9942830" cy="487680"/>
            </a:xfrm>
            <a:custGeom>
              <a:avLst/>
              <a:gdLst/>
              <a:ahLst/>
              <a:cxnLst/>
              <a:rect l="l" t="t" r="r" b="b"/>
              <a:pathLst>
                <a:path w="9942830" h="487679">
                  <a:moveTo>
                    <a:pt x="9942576" y="0"/>
                  </a:moveTo>
                  <a:lnTo>
                    <a:pt x="0" y="289687"/>
                  </a:lnTo>
                  <a:lnTo>
                    <a:pt x="9942576" y="487680"/>
                  </a:lnTo>
                  <a:lnTo>
                    <a:pt x="9942576" y="0"/>
                  </a:lnTo>
                  <a:close/>
                </a:path>
              </a:pathLst>
            </a:custGeom>
            <a:solidFill>
              <a:srgbClr val="A6B8D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000244"/>
              <a:ext cx="12191999" cy="185775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4997492"/>
              <a:ext cx="12192000" cy="789940"/>
            </a:xfrm>
            <a:custGeom>
              <a:avLst/>
              <a:gdLst/>
              <a:ahLst/>
              <a:cxnLst/>
              <a:rect l="l" t="t" r="r" b="b"/>
              <a:pathLst>
                <a:path w="12192000" h="789939">
                  <a:moveTo>
                    <a:pt x="0" y="0"/>
                  </a:moveTo>
                  <a:lnTo>
                    <a:pt x="12191999" y="789686"/>
                  </a:lnTo>
                </a:path>
              </a:pathLst>
            </a:custGeom>
            <a:ln w="12192">
              <a:solidFill>
                <a:srgbClr val="2D52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85749" y="454572"/>
            <a:ext cx="8572500" cy="4937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5"/>
              </a:spcBef>
            </a:pPr>
            <a:r>
              <a:rPr lang="it-IT" sz="4000" b="1" dirty="0" smtClean="0">
                <a:solidFill>
                  <a:schemeClr val="bg1"/>
                </a:solidFill>
              </a:rPr>
              <a:t/>
            </a:r>
            <a:br>
              <a:rPr lang="it-IT" sz="4000" b="1" dirty="0" smtClean="0">
                <a:solidFill>
                  <a:schemeClr val="bg1"/>
                </a:solidFill>
              </a:rPr>
            </a:br>
            <a:r>
              <a:rPr sz="4000" b="1" dirty="0" smtClean="0">
                <a:solidFill>
                  <a:schemeClr val="bg1"/>
                </a:solidFill>
              </a:rPr>
              <a:t>IL</a:t>
            </a:r>
            <a:r>
              <a:rPr sz="4000" b="1" spc="-25" dirty="0" smtClean="0">
                <a:solidFill>
                  <a:schemeClr val="bg1"/>
                </a:solidFill>
              </a:rPr>
              <a:t> </a:t>
            </a:r>
            <a:r>
              <a:rPr lang="it-IT" sz="4000" b="1" spc="-25" dirty="0" smtClean="0">
                <a:solidFill>
                  <a:schemeClr val="bg1"/>
                </a:solidFill>
              </a:rPr>
              <a:t>CODICE DELL’AMMINISTRAZIONE DIGITALE</a:t>
            </a:r>
            <a:br>
              <a:rPr lang="it-IT" sz="4000" b="1" spc="-25" dirty="0" smtClean="0">
                <a:solidFill>
                  <a:schemeClr val="bg1"/>
                </a:solidFill>
              </a:rPr>
            </a:br>
            <a:r>
              <a:rPr lang="it-IT" sz="4000" b="1" spc="-25" dirty="0" smtClean="0">
                <a:solidFill>
                  <a:schemeClr val="bg1"/>
                </a:solidFill>
              </a:rPr>
              <a:t/>
            </a:r>
            <a:br>
              <a:rPr lang="it-IT" sz="4000" b="1" spc="-25" dirty="0" smtClean="0">
                <a:solidFill>
                  <a:schemeClr val="bg1"/>
                </a:solidFill>
              </a:rPr>
            </a:br>
            <a:r>
              <a:rPr lang="it-IT" sz="4000" b="1" spc="-25" dirty="0">
                <a:solidFill>
                  <a:schemeClr val="bg1"/>
                </a:solidFill>
              </a:rPr>
              <a:t/>
            </a:r>
            <a:br>
              <a:rPr lang="it-IT" sz="4000" b="1" spc="-25" dirty="0">
                <a:solidFill>
                  <a:schemeClr val="bg1"/>
                </a:solidFill>
              </a:rPr>
            </a:br>
            <a:r>
              <a:rPr lang="it-IT" sz="4000" b="1" spc="-25" dirty="0" smtClean="0"/>
              <a:t>IL CONTESTO ORGANIZZATICO, LO SCOPO E LE FUNZIONI DEL</a:t>
            </a:r>
            <a:r>
              <a:rPr sz="4000" b="1" dirty="0" smtClean="0"/>
              <a:t>RESPONSABILE</a:t>
            </a:r>
            <a:r>
              <a:rPr sz="4000" b="1" spc="-45" dirty="0" smtClean="0"/>
              <a:t> </a:t>
            </a:r>
            <a:r>
              <a:rPr sz="4000" b="1" dirty="0"/>
              <a:t>DELLA</a:t>
            </a:r>
            <a:r>
              <a:rPr sz="4000" b="1" spc="-20" dirty="0"/>
              <a:t> </a:t>
            </a:r>
            <a:r>
              <a:rPr sz="4000" b="1" dirty="0"/>
              <a:t>TRANSIZIONE</a:t>
            </a:r>
            <a:r>
              <a:rPr sz="4000" b="1" spc="-55" dirty="0"/>
              <a:t> </a:t>
            </a:r>
            <a:r>
              <a:rPr sz="4000" b="1" spc="-25" dirty="0"/>
              <a:t>AL </a:t>
            </a:r>
            <a:r>
              <a:rPr sz="4000" b="1" spc="-10" dirty="0" smtClean="0"/>
              <a:t>DIGITALE</a:t>
            </a:r>
            <a:endParaRPr sz="4000" b="1" dirty="0"/>
          </a:p>
        </p:txBody>
      </p:sp>
    </p:spTree>
    <p:extLst>
      <p:ext uri="{BB962C8B-B14F-4D97-AF65-F5344CB8AC3E}">
        <p14:creationId xmlns:p14="http://schemas.microsoft.com/office/powerpoint/2010/main" val="1400465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0" y="5799033"/>
            <a:ext cx="3349202" cy="105896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5791063"/>
            <a:ext cx="3352324" cy="1067435"/>
          </a:xfrm>
          <a:custGeom>
            <a:avLst/>
            <a:gdLst/>
            <a:ahLst/>
            <a:cxnLst/>
            <a:rect l="l" t="t" r="r" b="b"/>
            <a:pathLst>
              <a:path w="4469765" h="1067434">
                <a:moveTo>
                  <a:pt x="0" y="0"/>
                </a:moveTo>
                <a:lnTo>
                  <a:pt x="4469317" y="1066935"/>
                </a:lnTo>
              </a:path>
            </a:pathLst>
          </a:custGeom>
          <a:ln w="12192">
            <a:solidFill>
              <a:srgbClr val="2D52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50" y="428847"/>
            <a:ext cx="9139449" cy="50526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lang="it-IT" sz="3200" b="1" dirty="0" smtClean="0">
                <a:solidFill>
                  <a:schemeClr val="bg1"/>
                </a:solidFill>
              </a:rPr>
              <a:t>QUANTO COSTA LA PUBBLICA AMMINISTRAZIONE?</a:t>
            </a:r>
            <a:endParaRPr sz="3200" b="1" spc="-10" dirty="0">
              <a:solidFill>
                <a:schemeClr val="bg1"/>
              </a:solidFill>
            </a:endParaRPr>
          </a:p>
        </p:txBody>
      </p:sp>
      <p:sp>
        <p:nvSpPr>
          <p:cNvPr id="4" name="Rettangolo 3"/>
          <p:cNvSpPr/>
          <p:nvPr/>
        </p:nvSpPr>
        <p:spPr>
          <a:xfrm>
            <a:off x="264695" y="1141750"/>
            <a:ext cx="8614610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it-IT" sz="2800" dirty="0" smtClean="0"/>
              <a:t>Per </a:t>
            </a:r>
            <a:r>
              <a:rPr lang="it-IT" sz="2800" dirty="0"/>
              <a:t>tenere aperti gli uffici, per pagare gli stipendi ai dipendenti pubblici, le pensioni e per erogare i servizi di natura pubblica (sanità, sicurezza, scuola, trasporti, etc.), lo Stato </a:t>
            </a:r>
            <a:r>
              <a:rPr lang="it-IT" sz="2800" dirty="0" smtClean="0"/>
              <a:t>italiano spende:</a:t>
            </a:r>
          </a:p>
          <a:p>
            <a:pPr marL="45720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it-IT" sz="2800" b="1" dirty="0" smtClean="0"/>
              <a:t>nel </a:t>
            </a:r>
            <a:r>
              <a:rPr lang="it-IT" sz="2800" b="1" dirty="0"/>
              <a:t>2020 ha speso circa 897 miliardi e 424 milioni euro</a:t>
            </a:r>
            <a:r>
              <a:rPr lang="it-IT" sz="2800" dirty="0"/>
              <a:t>, pari al 54% del PIL </a:t>
            </a:r>
            <a:endParaRPr lang="it-IT" sz="2800" dirty="0" smtClean="0"/>
          </a:p>
          <a:p>
            <a:pPr marL="45720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it-IT" sz="2800" dirty="0"/>
              <a:t>n</a:t>
            </a:r>
            <a:r>
              <a:rPr lang="it-IT" sz="2800" dirty="0" smtClean="0"/>
              <a:t>el 2021 la</a:t>
            </a:r>
            <a:r>
              <a:rPr lang="it-IT" sz="2800" dirty="0"/>
              <a:t> </a:t>
            </a:r>
            <a:r>
              <a:rPr lang="it-IT" sz="2800" b="1" dirty="0"/>
              <a:t>spesa pubblica</a:t>
            </a:r>
            <a:r>
              <a:rPr lang="it-IT" sz="2800" dirty="0"/>
              <a:t> in Italia </a:t>
            </a:r>
            <a:r>
              <a:rPr lang="it-IT" sz="2800" b="1" dirty="0" smtClean="0"/>
              <a:t>"</a:t>
            </a:r>
            <a:r>
              <a:rPr lang="it-IT" sz="2800" b="1" dirty="0"/>
              <a:t>sfonda" quota mille miliardi di </a:t>
            </a:r>
            <a:r>
              <a:rPr lang="it-IT" sz="2800" b="1" dirty="0" smtClean="0"/>
              <a:t>euro (</a:t>
            </a:r>
            <a:r>
              <a:rPr lang="it-IT" sz="2800" dirty="0" smtClean="0"/>
              <a:t>quasi</a:t>
            </a:r>
            <a:r>
              <a:rPr lang="it-IT" sz="2800" dirty="0"/>
              <a:t> </a:t>
            </a:r>
            <a:r>
              <a:rPr lang="it-IT" sz="2800" b="1" dirty="0"/>
              <a:t>3 miliardi di euro</a:t>
            </a:r>
            <a:r>
              <a:rPr lang="it-IT" sz="2800" dirty="0"/>
              <a:t> al </a:t>
            </a:r>
            <a:r>
              <a:rPr lang="it-IT" sz="2800" dirty="0" smtClean="0"/>
              <a:t>giorno).</a:t>
            </a:r>
          </a:p>
          <a:p>
            <a:pPr marL="45720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it-IT" sz="2800" dirty="0"/>
              <a:t>nel </a:t>
            </a:r>
            <a:r>
              <a:rPr lang="it-IT" sz="2800" dirty="0" smtClean="0"/>
              <a:t>2022 </a:t>
            </a:r>
            <a:r>
              <a:rPr lang="it-IT" sz="2800" dirty="0"/>
              <a:t>la </a:t>
            </a:r>
            <a:r>
              <a:rPr lang="it-IT" sz="2800" b="1" dirty="0"/>
              <a:t>spesa pubblica</a:t>
            </a:r>
            <a:r>
              <a:rPr lang="it-IT" sz="2800" dirty="0"/>
              <a:t> in Italia </a:t>
            </a:r>
            <a:r>
              <a:rPr lang="it-IT" sz="2800" dirty="0" smtClean="0"/>
              <a:t>sarà superiore ai </a:t>
            </a:r>
            <a:r>
              <a:rPr lang="it-IT" sz="2800" b="1" dirty="0" smtClean="0"/>
              <a:t> mille </a:t>
            </a:r>
            <a:r>
              <a:rPr lang="it-IT" sz="2800" b="1" dirty="0"/>
              <a:t>miliardi di </a:t>
            </a:r>
            <a:r>
              <a:rPr lang="it-IT" sz="2800" b="1" dirty="0" smtClean="0"/>
              <a:t>euro.</a:t>
            </a: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86175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0" y="5799033"/>
            <a:ext cx="3349202" cy="105896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5791063"/>
            <a:ext cx="3352324" cy="1067435"/>
          </a:xfrm>
          <a:custGeom>
            <a:avLst/>
            <a:gdLst/>
            <a:ahLst/>
            <a:cxnLst/>
            <a:rect l="l" t="t" r="r" b="b"/>
            <a:pathLst>
              <a:path w="4469765" h="1067434">
                <a:moveTo>
                  <a:pt x="0" y="0"/>
                </a:moveTo>
                <a:lnTo>
                  <a:pt x="4469317" y="1066935"/>
                </a:lnTo>
              </a:path>
            </a:pathLst>
          </a:custGeom>
          <a:ln w="12192">
            <a:solidFill>
              <a:srgbClr val="2D52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50" y="428847"/>
            <a:ext cx="9139449" cy="50526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lang="it-IT" sz="3200" b="1" dirty="0" smtClean="0">
                <a:solidFill>
                  <a:schemeClr val="bg1"/>
                </a:solidFill>
              </a:rPr>
              <a:t>QUANTO COSTA LA PUBBLICA AMMINISTRAZIONE?</a:t>
            </a:r>
            <a:endParaRPr sz="3200" b="1" spc="-10" dirty="0">
              <a:solidFill>
                <a:schemeClr val="bg1"/>
              </a:solidFill>
            </a:endParaRPr>
          </a:p>
        </p:txBody>
      </p:sp>
      <p:sp>
        <p:nvSpPr>
          <p:cNvPr id="4" name="Rettangolo 3"/>
          <p:cNvSpPr/>
          <p:nvPr/>
        </p:nvSpPr>
        <p:spPr>
          <a:xfrm>
            <a:off x="264695" y="1512969"/>
            <a:ext cx="8614610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it-IT" sz="2800" dirty="0" smtClean="0"/>
              <a:t>Ma questi livelli di spesa non sono sostenibili con un </a:t>
            </a:r>
            <a:r>
              <a:rPr lang="it-IT" sz="2800" b="1" dirty="0" smtClean="0"/>
              <a:t>debito complessivo di oltre 2.600 miliardi di euro</a:t>
            </a:r>
            <a:r>
              <a:rPr lang="it-IT" sz="2800" dirty="0" smtClean="0"/>
              <a:t>;</a:t>
            </a:r>
          </a:p>
          <a:p>
            <a:pPr algn="just">
              <a:spcAft>
                <a:spcPts val="1200"/>
              </a:spcAft>
            </a:pPr>
            <a:r>
              <a:rPr lang="it-IT" sz="2800" b="1" dirty="0" smtClean="0"/>
              <a:t>Equivalenti a un debito </a:t>
            </a:r>
            <a:r>
              <a:rPr lang="it-IT" sz="2800" b="1" dirty="0" err="1" smtClean="0"/>
              <a:t>procapite</a:t>
            </a:r>
            <a:r>
              <a:rPr lang="it-IT" sz="2800" b="1" dirty="0" smtClean="0"/>
              <a:t> di oltre 45.000 euro </a:t>
            </a:r>
            <a:r>
              <a:rPr lang="it-IT" sz="2800" dirty="0" smtClean="0"/>
              <a:t>(neonati compresi);</a:t>
            </a:r>
          </a:p>
          <a:p>
            <a:pPr algn="just">
              <a:spcAft>
                <a:spcPts val="1200"/>
              </a:spcAft>
            </a:pPr>
            <a:r>
              <a:rPr lang="it-IT" sz="2800" dirty="0" smtClean="0"/>
              <a:t>Nei </a:t>
            </a:r>
            <a:r>
              <a:rPr lang="it-IT" sz="2800" dirty="0"/>
              <a:t>prossimi anni il problema sarà quello di ridurre progressivamente le uscite per consentire al Governo di reperire le risorse utili per realizzare un strutturale e significativo calo del carico </a:t>
            </a:r>
            <a:r>
              <a:rPr lang="it-IT" sz="2800" dirty="0" smtClean="0"/>
              <a:t>fiscale a sostegno dell’occupazione giovanile e femminile.</a:t>
            </a: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292906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0" y="5799033"/>
            <a:ext cx="3349202" cy="105896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5791063"/>
            <a:ext cx="3352324" cy="1067435"/>
          </a:xfrm>
          <a:custGeom>
            <a:avLst/>
            <a:gdLst/>
            <a:ahLst/>
            <a:cxnLst/>
            <a:rect l="l" t="t" r="r" b="b"/>
            <a:pathLst>
              <a:path w="4469765" h="1067434">
                <a:moveTo>
                  <a:pt x="0" y="0"/>
                </a:moveTo>
                <a:lnTo>
                  <a:pt x="4469317" y="1066935"/>
                </a:lnTo>
              </a:path>
            </a:pathLst>
          </a:custGeom>
          <a:ln w="12192">
            <a:solidFill>
              <a:srgbClr val="2D52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50" y="428847"/>
            <a:ext cx="9139449" cy="50526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lang="it-IT" sz="3200" b="1" dirty="0" smtClean="0">
                <a:solidFill>
                  <a:schemeClr val="bg1"/>
                </a:solidFill>
              </a:rPr>
              <a:t>QUANTO COSTA LA PUBBLICA AMMINISTRAZIONE?</a:t>
            </a:r>
            <a:endParaRPr sz="3200" b="1" spc="-10" dirty="0">
              <a:solidFill>
                <a:schemeClr val="bg1"/>
              </a:solidFill>
            </a:endParaRPr>
          </a:p>
        </p:txBody>
      </p:sp>
      <p:sp>
        <p:nvSpPr>
          <p:cNvPr id="4" name="Rettangolo 3"/>
          <p:cNvSpPr/>
          <p:nvPr/>
        </p:nvSpPr>
        <p:spPr>
          <a:xfrm>
            <a:off x="264695" y="1165492"/>
            <a:ext cx="8614610" cy="5232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it-IT" sz="3600" dirty="0" smtClean="0"/>
              <a:t>Una delle soluzioni ipotizzate è quella di semplificare molto i processi amministrativi attraverso la loro digitalizzazione e l’utilizzo di dati </a:t>
            </a:r>
            <a:r>
              <a:rPr lang="it-IT" sz="3600" dirty="0" err="1" smtClean="0"/>
              <a:t>nativamenti</a:t>
            </a:r>
            <a:r>
              <a:rPr lang="it-IT" sz="3600" dirty="0" smtClean="0"/>
              <a:t> digitali.</a:t>
            </a:r>
          </a:p>
          <a:p>
            <a:pPr marL="571500" indent="-5715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it-IT" sz="3600" dirty="0" smtClean="0"/>
              <a:t>In questa lezione vedremo quali norme portano verso questa soluzione con particolare approfondimento del Codice dell’Amministrazione Digitale </a:t>
            </a:r>
            <a:endParaRPr lang="it-IT" sz="3600" dirty="0"/>
          </a:p>
        </p:txBody>
      </p:sp>
    </p:spTree>
    <p:extLst>
      <p:ext uri="{BB962C8B-B14F-4D97-AF65-F5344CB8AC3E}">
        <p14:creationId xmlns:p14="http://schemas.microsoft.com/office/powerpoint/2010/main" val="561548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0" y="5799033"/>
            <a:ext cx="3349202" cy="105896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5791063"/>
            <a:ext cx="3352324" cy="1067435"/>
          </a:xfrm>
          <a:custGeom>
            <a:avLst/>
            <a:gdLst/>
            <a:ahLst/>
            <a:cxnLst/>
            <a:rect l="l" t="t" r="r" b="b"/>
            <a:pathLst>
              <a:path w="4469765" h="1067434">
                <a:moveTo>
                  <a:pt x="0" y="0"/>
                </a:moveTo>
                <a:lnTo>
                  <a:pt x="4469317" y="1066935"/>
                </a:lnTo>
              </a:path>
            </a:pathLst>
          </a:custGeom>
          <a:ln w="12192">
            <a:solidFill>
              <a:srgbClr val="2D52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50" y="336514"/>
            <a:ext cx="9139449" cy="6899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lang="it-IT" b="1" dirty="0" smtClean="0">
                <a:solidFill>
                  <a:schemeClr val="bg1"/>
                </a:solidFill>
              </a:rPr>
              <a:t>Le norme per la Transizione</a:t>
            </a:r>
            <a:r>
              <a:rPr b="1" spc="-15" dirty="0" smtClean="0">
                <a:solidFill>
                  <a:schemeClr val="bg1"/>
                </a:solidFill>
              </a:rPr>
              <a:t> </a:t>
            </a:r>
            <a:r>
              <a:rPr b="1" spc="-10" dirty="0">
                <a:solidFill>
                  <a:schemeClr val="bg1"/>
                </a:solidFill>
              </a:rPr>
              <a:t>Digitale</a:t>
            </a:r>
          </a:p>
        </p:txBody>
      </p:sp>
      <p:sp>
        <p:nvSpPr>
          <p:cNvPr id="4" name="Rettangolo 3"/>
          <p:cNvSpPr/>
          <p:nvPr/>
        </p:nvSpPr>
        <p:spPr>
          <a:xfrm>
            <a:off x="264695" y="1141750"/>
            <a:ext cx="8614610" cy="498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it-IT" sz="2800" b="1" dirty="0"/>
              <a:t>Il modello organizzativo “reticolare” ovvero il meta-modello organizzativo delle Pubbliche amministrazioni digitali.</a:t>
            </a:r>
          </a:p>
          <a:p>
            <a:pPr algn="just"/>
            <a:r>
              <a:rPr lang="it-IT" sz="2800" dirty="0"/>
              <a:t>Ci sono timidi tentativi per la formazione di una cultura organizzativa e manageriale moderna a supporto di modelli organizzativi “</a:t>
            </a:r>
            <a:r>
              <a:rPr lang="it-IT" sz="2800" dirty="0" err="1"/>
              <a:t>nativamente</a:t>
            </a:r>
            <a:r>
              <a:rPr lang="it-IT" sz="2800" dirty="0"/>
              <a:t>” digitali per una nuova relazione tra amministrazioni e cittadini/imprese. Siamo ancorati ad un modello organizzativo di tipo </a:t>
            </a:r>
            <a:r>
              <a:rPr lang="it-IT" sz="2800" i="1" dirty="0"/>
              <a:t>gerarchico-formalistico-giuridico</a:t>
            </a:r>
            <a:r>
              <a:rPr lang="it-IT" sz="2800" dirty="0"/>
              <a:t> con attività amministrative di tipo “verticale” basate sulla logica di operare per  “pratiche” e non per “progetti”.</a:t>
            </a:r>
          </a:p>
        </p:txBody>
      </p:sp>
    </p:spTree>
    <p:extLst>
      <p:ext uri="{BB962C8B-B14F-4D97-AF65-F5344CB8AC3E}">
        <p14:creationId xmlns:p14="http://schemas.microsoft.com/office/powerpoint/2010/main" val="1522087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0" y="5799033"/>
            <a:ext cx="3349202" cy="105896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5791063"/>
            <a:ext cx="3352324" cy="1067435"/>
          </a:xfrm>
          <a:custGeom>
            <a:avLst/>
            <a:gdLst/>
            <a:ahLst/>
            <a:cxnLst/>
            <a:rect l="l" t="t" r="r" b="b"/>
            <a:pathLst>
              <a:path w="4469765" h="1067434">
                <a:moveTo>
                  <a:pt x="0" y="0"/>
                </a:moveTo>
                <a:lnTo>
                  <a:pt x="4469317" y="1066935"/>
                </a:lnTo>
              </a:path>
            </a:pathLst>
          </a:custGeom>
          <a:ln w="12192">
            <a:solidFill>
              <a:srgbClr val="2D52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50" y="336514"/>
            <a:ext cx="9139449" cy="6899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marL="1905">
              <a:spcBef>
                <a:spcPts val="100"/>
              </a:spcBef>
            </a:pPr>
            <a:r>
              <a:rPr lang="it-IT" b="1" dirty="0">
                <a:solidFill>
                  <a:schemeClr val="bg1"/>
                </a:solidFill>
              </a:rPr>
              <a:t>Le norme per la Transizione</a:t>
            </a:r>
            <a:r>
              <a:rPr lang="it-IT" b="1" spc="-15" dirty="0">
                <a:solidFill>
                  <a:schemeClr val="bg1"/>
                </a:solidFill>
              </a:rPr>
              <a:t> </a:t>
            </a:r>
            <a:r>
              <a:rPr lang="it-IT" b="1" spc="-10" dirty="0">
                <a:solidFill>
                  <a:schemeClr val="bg1"/>
                </a:solidFill>
              </a:rPr>
              <a:t>Digitale</a:t>
            </a:r>
            <a:endParaRPr b="1" spc="-10" dirty="0">
              <a:solidFill>
                <a:schemeClr val="bg1"/>
              </a:solidFill>
            </a:endParaRPr>
          </a:p>
        </p:txBody>
      </p:sp>
      <p:sp>
        <p:nvSpPr>
          <p:cNvPr id="4" name="Rettangolo 3"/>
          <p:cNvSpPr/>
          <p:nvPr/>
        </p:nvSpPr>
        <p:spPr>
          <a:xfrm>
            <a:off x="264695" y="1282949"/>
            <a:ext cx="8686800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it-IT" sz="3000" b="1" dirty="0"/>
              <a:t>Il modello organizzativo “reticolare” </a:t>
            </a:r>
          </a:p>
          <a:p>
            <a:pPr algn="just"/>
            <a:r>
              <a:rPr lang="it-IT" sz="3000" dirty="0"/>
              <a:t>Questo approccio non permette di utilizzare al meglio le risorse del PNRR: senza cambiamenti radicali le burocrazie continueranno ad essere </a:t>
            </a:r>
            <a:r>
              <a:rPr lang="it-IT" sz="3000" i="1" dirty="0"/>
              <a:t>uffici per pratiche</a:t>
            </a:r>
            <a:r>
              <a:rPr lang="it-IT" sz="3000" dirty="0"/>
              <a:t> al di fuori di organizzazioni intese come “sistemi” dinamici che si articolano e vivono per dare risposte ai bisogni dei cittadini che devono essere monitorati di continuo attraverso organizzazioni capaci di rilevare i bisogni, di analizzarli, di trovare soluzioni e rispondere quindi alle esigenze.</a:t>
            </a:r>
          </a:p>
        </p:txBody>
      </p:sp>
    </p:spTree>
    <p:extLst>
      <p:ext uri="{BB962C8B-B14F-4D97-AF65-F5344CB8AC3E}">
        <p14:creationId xmlns:p14="http://schemas.microsoft.com/office/powerpoint/2010/main" val="508536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0" y="5799033"/>
            <a:ext cx="3349202" cy="105896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5791063"/>
            <a:ext cx="3352324" cy="1067435"/>
          </a:xfrm>
          <a:custGeom>
            <a:avLst/>
            <a:gdLst/>
            <a:ahLst/>
            <a:cxnLst/>
            <a:rect l="l" t="t" r="r" b="b"/>
            <a:pathLst>
              <a:path w="4469765" h="1067434">
                <a:moveTo>
                  <a:pt x="0" y="0"/>
                </a:moveTo>
                <a:lnTo>
                  <a:pt x="4469317" y="1066935"/>
                </a:lnTo>
              </a:path>
            </a:pathLst>
          </a:custGeom>
          <a:ln w="12192">
            <a:solidFill>
              <a:srgbClr val="2D52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50" y="336514"/>
            <a:ext cx="9139449" cy="6899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marL="1905">
              <a:spcBef>
                <a:spcPts val="100"/>
              </a:spcBef>
            </a:pPr>
            <a:r>
              <a:rPr lang="it-IT" b="1" dirty="0">
                <a:solidFill>
                  <a:schemeClr val="bg1"/>
                </a:solidFill>
              </a:rPr>
              <a:t>Le norme per la Transizione</a:t>
            </a:r>
            <a:r>
              <a:rPr lang="it-IT" b="1" spc="-15" dirty="0">
                <a:solidFill>
                  <a:schemeClr val="bg1"/>
                </a:solidFill>
              </a:rPr>
              <a:t> </a:t>
            </a:r>
            <a:r>
              <a:rPr lang="it-IT" b="1" spc="-10" dirty="0">
                <a:solidFill>
                  <a:schemeClr val="bg1"/>
                </a:solidFill>
              </a:rPr>
              <a:t>Digitale</a:t>
            </a:r>
            <a:endParaRPr b="1" spc="-10" dirty="0">
              <a:solidFill>
                <a:schemeClr val="bg1"/>
              </a:solidFill>
            </a:endParaRPr>
          </a:p>
        </p:txBody>
      </p:sp>
      <p:sp>
        <p:nvSpPr>
          <p:cNvPr id="4" name="Rettangolo 3"/>
          <p:cNvSpPr/>
          <p:nvPr/>
        </p:nvSpPr>
        <p:spPr>
          <a:xfrm>
            <a:off x="264695" y="1282949"/>
            <a:ext cx="8686800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it-IT" sz="2800" b="1" dirty="0"/>
              <a:t>Il modello organizzativo “reticolare” </a:t>
            </a:r>
          </a:p>
          <a:p>
            <a:pPr algn="just">
              <a:spcAft>
                <a:spcPts val="1200"/>
              </a:spcAft>
            </a:pPr>
            <a:r>
              <a:rPr lang="it-IT" sz="2800" dirty="0"/>
              <a:t>Le risorse del PNRR “distribuite” ai diversi livelli istituzionali ed amministrativi (e nei diversi progetti) rischiano di non trovare amministrazioni pubbliche attente e preparate per progettare, realizzare, attuare i progetti e gestire il </a:t>
            </a:r>
            <a:r>
              <a:rPr lang="it-IT" sz="2800" dirty="0" smtClean="0"/>
              <a:t>cambiamento, rischiando quindi di </a:t>
            </a:r>
            <a:r>
              <a:rPr lang="it-IT" sz="2800" dirty="0"/>
              <a:t>essere vanificate e non valorizzate adeguatamente. </a:t>
            </a:r>
            <a:endParaRPr lang="it-IT" sz="2800" dirty="0" smtClean="0"/>
          </a:p>
          <a:p>
            <a:pPr algn="just"/>
            <a:r>
              <a:rPr lang="it-IT" sz="2800" dirty="0" smtClean="0"/>
              <a:t>Per </a:t>
            </a:r>
            <a:r>
              <a:rPr lang="it-IT" sz="2800" dirty="0"/>
              <a:t>operare come amministrazioni moderne e pronte per il PNRR e per qualsiasi altro piano di sviluppo a livello europeo, nazionale e locale è necessario adottare nuovi modelli di organizzazione</a:t>
            </a:r>
            <a:r>
              <a:rPr lang="it-IT" sz="2800" dirty="0" smtClean="0"/>
              <a:t>.</a:t>
            </a: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3129731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0" y="5799033"/>
            <a:ext cx="3349202" cy="105896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5791063"/>
            <a:ext cx="3352324" cy="1067435"/>
          </a:xfrm>
          <a:custGeom>
            <a:avLst/>
            <a:gdLst/>
            <a:ahLst/>
            <a:cxnLst/>
            <a:rect l="l" t="t" r="r" b="b"/>
            <a:pathLst>
              <a:path w="4469765" h="1067434">
                <a:moveTo>
                  <a:pt x="0" y="0"/>
                </a:moveTo>
                <a:lnTo>
                  <a:pt x="4469317" y="1066935"/>
                </a:lnTo>
              </a:path>
            </a:pathLst>
          </a:custGeom>
          <a:ln w="12192">
            <a:solidFill>
              <a:srgbClr val="2D52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50" y="336514"/>
            <a:ext cx="9139449" cy="6899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marL="1905">
              <a:spcBef>
                <a:spcPts val="100"/>
              </a:spcBef>
            </a:pPr>
            <a:r>
              <a:rPr lang="it-IT" b="1" dirty="0">
                <a:solidFill>
                  <a:schemeClr val="bg1"/>
                </a:solidFill>
              </a:rPr>
              <a:t>Le norme per la Transizione</a:t>
            </a:r>
            <a:r>
              <a:rPr lang="it-IT" b="1" spc="-15" dirty="0">
                <a:solidFill>
                  <a:schemeClr val="bg1"/>
                </a:solidFill>
              </a:rPr>
              <a:t> </a:t>
            </a:r>
            <a:r>
              <a:rPr lang="it-IT" b="1" spc="-10" dirty="0">
                <a:solidFill>
                  <a:schemeClr val="bg1"/>
                </a:solidFill>
              </a:rPr>
              <a:t>Digitale</a:t>
            </a:r>
            <a:endParaRPr b="1" spc="-10" dirty="0">
              <a:solidFill>
                <a:schemeClr val="bg1"/>
              </a:solidFill>
            </a:endParaRPr>
          </a:p>
        </p:txBody>
      </p:sp>
      <p:sp>
        <p:nvSpPr>
          <p:cNvPr id="4" name="Rettangolo 3"/>
          <p:cNvSpPr/>
          <p:nvPr/>
        </p:nvSpPr>
        <p:spPr>
          <a:xfrm>
            <a:off x="264695" y="1282949"/>
            <a:ext cx="8686800" cy="5416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it-IT" sz="2800" b="1" dirty="0"/>
              <a:t>Il modello organizzativo “reticolare” </a:t>
            </a:r>
            <a:r>
              <a:rPr lang="it-IT" sz="2800" b="1" dirty="0" smtClean="0"/>
              <a:t>per innovare le PA: </a:t>
            </a:r>
            <a:r>
              <a:rPr lang="it-IT" sz="2800" dirty="0" smtClean="0"/>
              <a:t> </a:t>
            </a:r>
            <a:r>
              <a:rPr lang="it-IT" sz="2800" b="1" dirty="0"/>
              <a:t>gli elementi costitutivi e caratterizzanti di base:</a:t>
            </a:r>
          </a:p>
          <a:p>
            <a:pPr marL="514350" indent="-514350">
              <a:buFont typeface="+mj-lt"/>
              <a:buAutoNum type="arabicParenR"/>
            </a:pPr>
            <a:r>
              <a:rPr lang="it-IT" sz="2800" b="1" i="1" dirty="0" smtClean="0"/>
              <a:t>amministrazioni </a:t>
            </a:r>
            <a:r>
              <a:rPr lang="it-IT" sz="2800" b="1" i="1" dirty="0"/>
              <a:t>semplificate</a:t>
            </a:r>
            <a:r>
              <a:rPr lang="it-IT" sz="2800" dirty="0"/>
              <a:t> (legge 241/90 e </a:t>
            </a:r>
            <a:r>
              <a:rPr lang="it-IT" sz="2800" dirty="0" err="1"/>
              <a:t>sm</a:t>
            </a:r>
            <a:r>
              <a:rPr lang="it-IT" sz="2800" dirty="0"/>
              <a:t>; art. 15 del Codice dell’amministrazione digitale); semplificazione di tempi, fasi, modulistica, adempimenti, ecc.</a:t>
            </a:r>
          </a:p>
          <a:p>
            <a:pPr marL="514350" indent="-514350">
              <a:buFont typeface="+mj-lt"/>
              <a:buAutoNum type="arabicParenR"/>
            </a:pPr>
            <a:r>
              <a:rPr lang="it-IT" sz="2800" b="1" i="1" dirty="0" smtClean="0"/>
              <a:t>amministrazioni </a:t>
            </a:r>
            <a:r>
              <a:rPr lang="it-IT" sz="2800" b="1" i="1" dirty="0"/>
              <a:t>trasparenti</a:t>
            </a:r>
            <a:r>
              <a:rPr lang="it-IT" sz="2800" dirty="0"/>
              <a:t> (</a:t>
            </a:r>
            <a:r>
              <a:rPr lang="it-IT" sz="2800" dirty="0" err="1"/>
              <a:t>delgs</a:t>
            </a:r>
            <a:r>
              <a:rPr lang="it-IT" sz="2800" dirty="0"/>
              <a:t> 33/2013 e </a:t>
            </a:r>
            <a:r>
              <a:rPr lang="it-IT" sz="2800" dirty="0" err="1"/>
              <a:t>sm</a:t>
            </a:r>
            <a:r>
              <a:rPr lang="it-IT" sz="2800" dirty="0"/>
              <a:t>): il cittadino viene informato sull’operato dei decisori pubblici e dei dirigenti/apicali amministrativi</a:t>
            </a:r>
          </a:p>
          <a:p>
            <a:pPr marL="514350" indent="-514350">
              <a:buFont typeface="+mj-lt"/>
              <a:buAutoNum type="arabicParenR"/>
            </a:pPr>
            <a:r>
              <a:rPr lang="it-IT" sz="2800" b="1" i="1" dirty="0" smtClean="0"/>
              <a:t>amministrazioni </a:t>
            </a:r>
            <a:r>
              <a:rPr lang="it-IT" sz="2800" b="1" i="1" dirty="0"/>
              <a:t>che operano per i cittadini</a:t>
            </a:r>
            <a:r>
              <a:rPr lang="it-IT" sz="2800" dirty="0"/>
              <a:t> per attuare l’art. 3 della Costituzione;</a:t>
            </a:r>
          </a:p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1668043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0" y="5799033"/>
            <a:ext cx="3349202" cy="105896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5791063"/>
            <a:ext cx="3352324" cy="1067435"/>
          </a:xfrm>
          <a:custGeom>
            <a:avLst/>
            <a:gdLst/>
            <a:ahLst/>
            <a:cxnLst/>
            <a:rect l="l" t="t" r="r" b="b"/>
            <a:pathLst>
              <a:path w="4469765" h="1067434">
                <a:moveTo>
                  <a:pt x="0" y="0"/>
                </a:moveTo>
                <a:lnTo>
                  <a:pt x="4469317" y="1066935"/>
                </a:lnTo>
              </a:path>
            </a:pathLst>
          </a:custGeom>
          <a:ln w="12192">
            <a:solidFill>
              <a:srgbClr val="2D52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50" y="336514"/>
            <a:ext cx="9139449" cy="6899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marL="1905">
              <a:spcBef>
                <a:spcPts val="100"/>
              </a:spcBef>
            </a:pPr>
            <a:r>
              <a:rPr lang="it-IT" b="1" dirty="0">
                <a:solidFill>
                  <a:schemeClr val="bg1"/>
                </a:solidFill>
              </a:rPr>
              <a:t>Le norme per la Transizione</a:t>
            </a:r>
            <a:r>
              <a:rPr lang="it-IT" b="1" spc="-15" dirty="0">
                <a:solidFill>
                  <a:schemeClr val="bg1"/>
                </a:solidFill>
              </a:rPr>
              <a:t> </a:t>
            </a:r>
            <a:r>
              <a:rPr lang="it-IT" b="1" spc="-10" dirty="0">
                <a:solidFill>
                  <a:schemeClr val="bg1"/>
                </a:solidFill>
              </a:rPr>
              <a:t>Digitale</a:t>
            </a:r>
            <a:endParaRPr b="1" spc="-10" dirty="0">
              <a:solidFill>
                <a:schemeClr val="bg1"/>
              </a:solidFill>
            </a:endParaRPr>
          </a:p>
        </p:txBody>
      </p:sp>
      <p:sp>
        <p:nvSpPr>
          <p:cNvPr id="4" name="Rettangolo 3"/>
          <p:cNvSpPr/>
          <p:nvPr/>
        </p:nvSpPr>
        <p:spPr>
          <a:xfrm>
            <a:off x="264695" y="1082174"/>
            <a:ext cx="8686800" cy="5416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it-IT" sz="2800" b="1" dirty="0"/>
              <a:t>Il modello organizzativo “reticolare” </a:t>
            </a:r>
            <a:r>
              <a:rPr lang="it-IT" sz="2800" b="1" dirty="0" smtClean="0"/>
              <a:t>per innovare le PA: </a:t>
            </a:r>
            <a:r>
              <a:rPr lang="it-IT" sz="2800" dirty="0" smtClean="0"/>
              <a:t> </a:t>
            </a:r>
            <a:r>
              <a:rPr lang="it-IT" sz="2800" b="1" dirty="0"/>
              <a:t>gli elementi costitutivi e caratterizzanti di base:</a:t>
            </a:r>
          </a:p>
          <a:p>
            <a:pPr marL="514350" indent="-514350" algn="just">
              <a:buFont typeface="+mj-lt"/>
              <a:buAutoNum type="arabicParenR" startAt="4"/>
            </a:pPr>
            <a:r>
              <a:rPr lang="it-IT" sz="2800" b="1" i="1" dirty="0" smtClean="0"/>
              <a:t>amministrazioni </a:t>
            </a:r>
            <a:r>
              <a:rPr lang="it-IT" sz="2800" b="1" i="1" dirty="0" err="1"/>
              <a:t>nativamente</a:t>
            </a:r>
            <a:r>
              <a:rPr lang="it-IT" sz="2800" b="1" i="1" dirty="0"/>
              <a:t> digitali</a:t>
            </a:r>
            <a:r>
              <a:rPr lang="it-IT" sz="2800" dirty="0"/>
              <a:t> (Codice dell’amministrazione digitale); passaggio da amministrazioni analogiche (di carta) ad amministrazioni che operano in modalità digitale, in rete;</a:t>
            </a:r>
          </a:p>
          <a:p>
            <a:pPr marL="514350" indent="-514350" algn="just">
              <a:buFont typeface="+mj-lt"/>
              <a:buAutoNum type="arabicParenR" startAt="4"/>
            </a:pPr>
            <a:r>
              <a:rPr lang="it-IT" sz="2800" b="1" i="1" dirty="0"/>
              <a:t>amministrazioni sostenibili</a:t>
            </a:r>
            <a:r>
              <a:rPr lang="it-IT" sz="2800" dirty="0"/>
              <a:t> (risorse certe da gestire in modo trasparente e con le dovute coperture);</a:t>
            </a:r>
          </a:p>
          <a:p>
            <a:pPr marL="514350" indent="-514350" algn="just">
              <a:buFont typeface="+mj-lt"/>
              <a:buAutoNum type="arabicParenR" startAt="4"/>
            </a:pPr>
            <a:r>
              <a:rPr lang="it-IT" sz="2800" dirty="0"/>
              <a:t>amministrazioni che operano nel rispetto dei principi di cui all’art. 97 della Costituzione: </a:t>
            </a:r>
            <a:r>
              <a:rPr lang="it-IT" sz="2800" b="1" i="1" dirty="0"/>
              <a:t>buon andamento ed imparzialità</a:t>
            </a:r>
            <a:r>
              <a:rPr lang="it-IT" sz="2800" b="1" i="1" dirty="0" smtClean="0"/>
              <a:t>;</a:t>
            </a: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1899212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0" y="5799033"/>
            <a:ext cx="3349202" cy="105896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5791063"/>
            <a:ext cx="3352324" cy="1067435"/>
          </a:xfrm>
          <a:custGeom>
            <a:avLst/>
            <a:gdLst/>
            <a:ahLst/>
            <a:cxnLst/>
            <a:rect l="l" t="t" r="r" b="b"/>
            <a:pathLst>
              <a:path w="4469765" h="1067434">
                <a:moveTo>
                  <a:pt x="0" y="0"/>
                </a:moveTo>
                <a:lnTo>
                  <a:pt x="4469317" y="1066935"/>
                </a:lnTo>
              </a:path>
            </a:pathLst>
          </a:custGeom>
          <a:ln w="12192">
            <a:solidFill>
              <a:srgbClr val="2D52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50" y="336514"/>
            <a:ext cx="9139449" cy="6899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marL="1905">
              <a:spcBef>
                <a:spcPts val="100"/>
              </a:spcBef>
            </a:pPr>
            <a:r>
              <a:rPr lang="it-IT" b="1" dirty="0">
                <a:solidFill>
                  <a:schemeClr val="bg1"/>
                </a:solidFill>
              </a:rPr>
              <a:t>Le norme per la Transizione</a:t>
            </a:r>
            <a:r>
              <a:rPr lang="it-IT" b="1" spc="-15" dirty="0">
                <a:solidFill>
                  <a:schemeClr val="bg1"/>
                </a:solidFill>
              </a:rPr>
              <a:t> </a:t>
            </a:r>
            <a:r>
              <a:rPr lang="it-IT" b="1" spc="-10" dirty="0">
                <a:solidFill>
                  <a:schemeClr val="bg1"/>
                </a:solidFill>
              </a:rPr>
              <a:t>Digitale</a:t>
            </a:r>
            <a:endParaRPr spc="-10" dirty="0">
              <a:solidFill>
                <a:schemeClr val="bg1"/>
              </a:solidFill>
            </a:endParaRPr>
          </a:p>
        </p:txBody>
      </p:sp>
      <p:sp>
        <p:nvSpPr>
          <p:cNvPr id="4" name="Rettangolo 3"/>
          <p:cNvSpPr/>
          <p:nvPr/>
        </p:nvSpPr>
        <p:spPr>
          <a:xfrm>
            <a:off x="264695" y="1282949"/>
            <a:ext cx="8686800" cy="5416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it-IT" sz="2800" b="1" dirty="0"/>
              <a:t>Il modello organizzativo “reticolare” </a:t>
            </a:r>
            <a:r>
              <a:rPr lang="it-IT" sz="2800" b="1" dirty="0" smtClean="0"/>
              <a:t>per innovare le PA: </a:t>
            </a:r>
            <a:r>
              <a:rPr lang="it-IT" sz="2800" dirty="0" smtClean="0"/>
              <a:t> </a:t>
            </a:r>
            <a:r>
              <a:rPr lang="it-IT" sz="2800" b="1" dirty="0"/>
              <a:t>gli elementi costitutivi e caratterizzanti di base:</a:t>
            </a:r>
          </a:p>
          <a:p>
            <a:pPr marL="514350" indent="-514350">
              <a:buFont typeface="+mj-lt"/>
              <a:buAutoNum type="arabicParenR" startAt="4"/>
            </a:pPr>
            <a:r>
              <a:rPr lang="it-IT" sz="2800" dirty="0"/>
              <a:t>amministrazioni che operano con</a:t>
            </a:r>
            <a:r>
              <a:rPr lang="it-IT" sz="2800" b="1" i="1" dirty="0"/>
              <a:t> pubblici dipendenti ad esclusivo servizio della Nazione </a:t>
            </a:r>
            <a:r>
              <a:rPr lang="it-IT" sz="2800" dirty="0"/>
              <a:t>(art. 98 della Costituzione);</a:t>
            </a:r>
          </a:p>
          <a:p>
            <a:pPr marL="514350" indent="-514350">
              <a:buFont typeface="+mj-lt"/>
              <a:buAutoNum type="arabicParenR" startAt="4"/>
            </a:pPr>
            <a:r>
              <a:rPr lang="it-IT" sz="2800" dirty="0"/>
              <a:t> nel caso dei comuni, come previsto dalla specifica legislazione: amministrazioni che operano secondo la logica della gestione associata delle funzioni (e delle attività).</a:t>
            </a:r>
          </a:p>
          <a:p>
            <a:pPr marL="514350" indent="-514350">
              <a:buFont typeface="+mj-lt"/>
              <a:buAutoNum type="arabicParenR" startAt="4"/>
            </a:pPr>
            <a:r>
              <a:rPr lang="it-IT" sz="2800" i="1" dirty="0"/>
              <a:t>Tutte queste caratteristiche (nessuna esclusa) devono connotare il modello di amministrazione moderna che definiremo “reticolare”. </a:t>
            </a:r>
          </a:p>
        </p:txBody>
      </p:sp>
    </p:spTree>
    <p:extLst>
      <p:ext uri="{BB962C8B-B14F-4D97-AF65-F5344CB8AC3E}">
        <p14:creationId xmlns:p14="http://schemas.microsoft.com/office/powerpoint/2010/main" val="1887800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0" y="5799033"/>
            <a:ext cx="3349202" cy="105896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5791063"/>
            <a:ext cx="3352324" cy="1067435"/>
          </a:xfrm>
          <a:custGeom>
            <a:avLst/>
            <a:gdLst/>
            <a:ahLst/>
            <a:cxnLst/>
            <a:rect l="l" t="t" r="r" b="b"/>
            <a:pathLst>
              <a:path w="4469765" h="1067434">
                <a:moveTo>
                  <a:pt x="0" y="0"/>
                </a:moveTo>
                <a:lnTo>
                  <a:pt x="4469317" y="1066935"/>
                </a:lnTo>
              </a:path>
            </a:pathLst>
          </a:custGeom>
          <a:ln w="12192">
            <a:solidFill>
              <a:srgbClr val="2D52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50" y="336514"/>
            <a:ext cx="9139449" cy="6899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marL="1905">
              <a:spcBef>
                <a:spcPts val="100"/>
              </a:spcBef>
            </a:pPr>
            <a:r>
              <a:rPr lang="it-IT" b="1" dirty="0">
                <a:solidFill>
                  <a:schemeClr val="bg1"/>
                </a:solidFill>
              </a:rPr>
              <a:t>Le norme per la Transizione</a:t>
            </a:r>
            <a:r>
              <a:rPr lang="it-IT" b="1" spc="-15" dirty="0">
                <a:solidFill>
                  <a:schemeClr val="bg1"/>
                </a:solidFill>
              </a:rPr>
              <a:t> </a:t>
            </a:r>
            <a:r>
              <a:rPr lang="it-IT" b="1" spc="-10" dirty="0">
                <a:solidFill>
                  <a:schemeClr val="bg1"/>
                </a:solidFill>
              </a:rPr>
              <a:t>Digitale</a:t>
            </a:r>
            <a:endParaRPr b="1" spc="-10" dirty="0">
              <a:solidFill>
                <a:schemeClr val="bg1"/>
              </a:solidFill>
            </a:endParaRPr>
          </a:p>
        </p:txBody>
      </p:sp>
      <p:sp>
        <p:nvSpPr>
          <p:cNvPr id="4" name="Rettangolo 3"/>
          <p:cNvSpPr/>
          <p:nvPr/>
        </p:nvSpPr>
        <p:spPr>
          <a:xfrm>
            <a:off x="264695" y="1282949"/>
            <a:ext cx="8686800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it-IT" sz="4000" b="1" dirty="0"/>
              <a:t>Il modello organizzativo “reticolare” </a:t>
            </a:r>
            <a:r>
              <a:rPr lang="it-IT" sz="4000" b="1" dirty="0" smtClean="0"/>
              <a:t>per innovare le PA: </a:t>
            </a:r>
            <a:r>
              <a:rPr lang="it-IT" sz="4000" dirty="0" smtClean="0"/>
              <a:t> </a:t>
            </a:r>
            <a:r>
              <a:rPr lang="it-IT" sz="4000" b="1" dirty="0"/>
              <a:t>gli elementi costitutivi e caratterizzanti di base:</a:t>
            </a:r>
          </a:p>
          <a:p>
            <a:pPr algn="just"/>
            <a:r>
              <a:rPr lang="it-IT" sz="4000" i="1" dirty="0"/>
              <a:t>Se manca una delle </a:t>
            </a:r>
            <a:r>
              <a:rPr lang="it-IT" sz="4000" i="1" dirty="0" smtClean="0"/>
              <a:t>caratteristiche precedentemente citate </a:t>
            </a:r>
            <a:r>
              <a:rPr lang="it-IT" sz="4000" i="1" dirty="0"/>
              <a:t>il modello non funziona nella sua completezza ed efficacia.</a:t>
            </a:r>
          </a:p>
        </p:txBody>
      </p:sp>
    </p:spTree>
    <p:extLst>
      <p:ext uri="{BB962C8B-B14F-4D97-AF65-F5344CB8AC3E}">
        <p14:creationId xmlns:p14="http://schemas.microsoft.com/office/powerpoint/2010/main" val="3957760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999" y="208547"/>
            <a:ext cx="8641080" cy="1556084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37999" y="1990950"/>
            <a:ext cx="8839200" cy="44454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44536A"/>
                </a:solidFill>
                <a:latin typeface="Calibri"/>
                <a:cs typeface="Calibri"/>
              </a:rPr>
              <a:t>Le</a:t>
            </a:r>
            <a:r>
              <a:rPr sz="3200" spc="59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4536A"/>
                </a:solidFill>
                <a:latin typeface="Calibri"/>
                <a:cs typeface="Calibri"/>
              </a:rPr>
              <a:t>PA</a:t>
            </a:r>
            <a:r>
              <a:rPr sz="3200" spc="59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dirty="0" err="1">
                <a:solidFill>
                  <a:srgbClr val="44536A"/>
                </a:solidFill>
                <a:latin typeface="Calibri"/>
                <a:cs typeface="Calibri"/>
              </a:rPr>
              <a:t>provvedono</a:t>
            </a:r>
            <a:r>
              <a:rPr sz="3200" spc="60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dirty="0" smtClean="0">
                <a:solidFill>
                  <a:srgbClr val="44536A"/>
                </a:solidFill>
                <a:latin typeface="Calibri"/>
                <a:cs typeface="Calibri"/>
              </a:rPr>
              <a:t>a</a:t>
            </a:r>
            <a:r>
              <a:rPr sz="3200" spc="585" dirty="0" smtClean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b="1" u="sng" dirty="0" err="1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razionalizzare</a:t>
            </a:r>
            <a:r>
              <a:rPr sz="3200" b="1" u="sng" spc="59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 smtClean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e</a:t>
            </a:r>
            <a:r>
              <a:rPr lang="it-IT" sz="3200" b="1" u="sng" dirty="0" smtClean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 err="1" smtClean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semplificare</a:t>
            </a:r>
            <a:r>
              <a:rPr sz="3200" b="1" u="sng" spc="590" dirty="0" smtClean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50" dirty="0" err="1" smtClean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i</a:t>
            </a:r>
            <a:r>
              <a:rPr lang="it-IT" sz="3200" b="1" spc="-5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b="1" u="sng" dirty="0" err="1" smtClean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procedimenti</a:t>
            </a:r>
            <a:r>
              <a:rPr sz="3200" b="1" u="sng" spc="290" dirty="0" smtClean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amministrativi,</a:t>
            </a:r>
            <a:r>
              <a:rPr sz="3200" b="1" u="sng" spc="29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le</a:t>
            </a:r>
            <a:r>
              <a:rPr sz="3200" b="1" u="sng" spc="27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 err="1" smtClean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attività</a:t>
            </a:r>
            <a:r>
              <a:rPr lang="it-IT" sz="3200" b="1" u="sng" dirty="0" smtClean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 err="1" smtClean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gestionali</a:t>
            </a:r>
            <a:r>
              <a:rPr sz="3200" b="1" u="sng" dirty="0" smtClean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,</a:t>
            </a:r>
            <a:r>
              <a:rPr lang="it-IT" sz="3200" b="1" u="sng" dirty="0" smtClean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285" dirty="0" smtClean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i</a:t>
            </a:r>
            <a:r>
              <a:rPr sz="3200" b="1" u="sng" spc="28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documenti,</a:t>
            </a:r>
            <a:r>
              <a:rPr sz="3200" b="1" u="sng" spc="29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2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la</a:t>
            </a:r>
            <a:r>
              <a:rPr sz="3200" b="1" spc="-2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modulistica,</a:t>
            </a:r>
            <a:r>
              <a:rPr sz="3200" b="1" u="sng" spc="6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le</a:t>
            </a:r>
            <a:r>
              <a:rPr sz="3200" b="1" u="sng" spc="5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modalità</a:t>
            </a:r>
            <a:r>
              <a:rPr sz="3200" b="1" u="sng" spc="7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di</a:t>
            </a:r>
            <a:r>
              <a:rPr sz="3200" b="1" u="sng" spc="6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accesso</a:t>
            </a:r>
            <a:r>
              <a:rPr sz="3200" b="1" u="sng" spc="6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e</a:t>
            </a:r>
            <a:r>
              <a:rPr sz="3200" b="1" u="sng" spc="5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di</a:t>
            </a:r>
            <a:r>
              <a:rPr sz="3200" b="1" u="sng" spc="7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presentazione</a:t>
            </a:r>
            <a:r>
              <a:rPr sz="3200" b="1" u="sng" spc="5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delle</a:t>
            </a:r>
            <a:r>
              <a:rPr sz="3200" b="1" u="sng" spc="6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1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istanze</a:t>
            </a:r>
            <a:r>
              <a:rPr sz="3200" b="1" spc="-1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da</a:t>
            </a:r>
            <a:r>
              <a:rPr sz="3200" b="1" u="sng" spc="73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parte</a:t>
            </a:r>
            <a:r>
              <a:rPr sz="3200" b="1" u="sng" spc="71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dei</a:t>
            </a:r>
            <a:r>
              <a:rPr sz="3200" b="1" u="sng" spc="73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cittadini</a:t>
            </a:r>
            <a:r>
              <a:rPr sz="3200" b="1" u="sng" spc="73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e</a:t>
            </a:r>
            <a:r>
              <a:rPr sz="3200" b="1" u="sng" spc="74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delle</a:t>
            </a:r>
            <a:r>
              <a:rPr sz="3200" b="1" u="sng" spc="72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imprese</a:t>
            </a:r>
            <a:r>
              <a:rPr sz="3200" dirty="0">
                <a:solidFill>
                  <a:srgbClr val="44536A"/>
                </a:solidFill>
                <a:latin typeface="Calibri"/>
                <a:cs typeface="Calibri"/>
              </a:rPr>
              <a:t>,</a:t>
            </a:r>
            <a:r>
              <a:rPr sz="3200" spc="73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4536A"/>
                </a:solidFill>
                <a:latin typeface="Calibri"/>
                <a:cs typeface="Calibri"/>
              </a:rPr>
              <a:t>assicurando</a:t>
            </a:r>
            <a:r>
              <a:rPr sz="3200" spc="73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4536A"/>
                </a:solidFill>
                <a:latin typeface="Calibri"/>
                <a:cs typeface="Calibri"/>
              </a:rPr>
              <a:t>che</a:t>
            </a:r>
            <a:r>
              <a:rPr sz="3200" spc="73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44536A"/>
                </a:solidFill>
                <a:latin typeface="Calibri"/>
                <a:cs typeface="Calibri"/>
              </a:rPr>
              <a:t>l'utilizzo </a:t>
            </a:r>
            <a:r>
              <a:rPr sz="3200" dirty="0">
                <a:solidFill>
                  <a:srgbClr val="44536A"/>
                </a:solidFill>
                <a:latin typeface="Calibri"/>
                <a:cs typeface="Calibri"/>
              </a:rPr>
              <a:t>delle</a:t>
            </a:r>
            <a:r>
              <a:rPr sz="3200" spc="10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4536A"/>
                </a:solidFill>
                <a:latin typeface="Calibri"/>
                <a:cs typeface="Calibri"/>
              </a:rPr>
              <a:t>tecnologie</a:t>
            </a:r>
            <a:r>
              <a:rPr sz="3200" spc="9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4536A"/>
                </a:solidFill>
                <a:latin typeface="Calibri"/>
                <a:cs typeface="Calibri"/>
              </a:rPr>
              <a:t>dell'informazione</a:t>
            </a:r>
            <a:r>
              <a:rPr sz="3200" spc="12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4536A"/>
                </a:solidFill>
                <a:latin typeface="Calibri"/>
                <a:cs typeface="Calibri"/>
              </a:rPr>
              <a:t>e</a:t>
            </a:r>
            <a:r>
              <a:rPr sz="3200" spc="10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4536A"/>
                </a:solidFill>
                <a:latin typeface="Calibri"/>
                <a:cs typeface="Calibri"/>
              </a:rPr>
              <a:t>della</a:t>
            </a:r>
            <a:r>
              <a:rPr sz="3200" spc="114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4536A"/>
                </a:solidFill>
                <a:latin typeface="Calibri"/>
                <a:cs typeface="Calibri"/>
              </a:rPr>
              <a:t>comunicazione</a:t>
            </a:r>
            <a:r>
              <a:rPr sz="3200" spc="10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4536A"/>
                </a:solidFill>
                <a:latin typeface="Calibri"/>
                <a:cs typeface="Calibri"/>
              </a:rPr>
              <a:t>avvenga</a:t>
            </a:r>
            <a:r>
              <a:rPr sz="3200" spc="11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44536A"/>
                </a:solidFill>
                <a:latin typeface="Calibri"/>
                <a:cs typeface="Calibri"/>
              </a:rPr>
              <a:t>in </a:t>
            </a:r>
            <a:r>
              <a:rPr sz="3200" dirty="0">
                <a:solidFill>
                  <a:srgbClr val="44536A"/>
                </a:solidFill>
                <a:latin typeface="Calibri"/>
                <a:cs typeface="Calibri"/>
              </a:rPr>
              <a:t>conformità</a:t>
            </a:r>
            <a:r>
              <a:rPr sz="3200" spc="420" dirty="0">
                <a:solidFill>
                  <a:srgbClr val="44536A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rgbClr val="44536A"/>
                </a:solidFill>
                <a:latin typeface="Calibri"/>
                <a:cs typeface="Calibri"/>
              </a:rPr>
              <a:t>alle</a:t>
            </a:r>
            <a:r>
              <a:rPr sz="3200" spc="440" dirty="0">
                <a:solidFill>
                  <a:srgbClr val="44536A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rgbClr val="44536A"/>
                </a:solidFill>
                <a:latin typeface="Calibri"/>
                <a:cs typeface="Calibri"/>
              </a:rPr>
              <a:t>prescrizioni</a:t>
            </a:r>
            <a:r>
              <a:rPr sz="3200" spc="425" dirty="0">
                <a:solidFill>
                  <a:srgbClr val="44536A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rgbClr val="44536A"/>
                </a:solidFill>
                <a:latin typeface="Calibri"/>
                <a:cs typeface="Calibri"/>
              </a:rPr>
              <a:t>tecnologiche</a:t>
            </a:r>
            <a:r>
              <a:rPr sz="3200" spc="425" dirty="0">
                <a:solidFill>
                  <a:srgbClr val="44536A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rgbClr val="44536A"/>
                </a:solidFill>
                <a:latin typeface="Calibri"/>
                <a:cs typeface="Calibri"/>
              </a:rPr>
              <a:t>definite</a:t>
            </a:r>
            <a:r>
              <a:rPr sz="3200" spc="434" dirty="0">
                <a:solidFill>
                  <a:srgbClr val="44536A"/>
                </a:solidFill>
                <a:latin typeface="Calibri"/>
                <a:cs typeface="Calibri"/>
              </a:rPr>
              <a:t>  </a:t>
            </a:r>
            <a:r>
              <a:rPr sz="3200" dirty="0">
                <a:solidFill>
                  <a:srgbClr val="44536A"/>
                </a:solidFill>
                <a:latin typeface="Calibri"/>
                <a:cs typeface="Calibri"/>
              </a:rPr>
              <a:t>nelle</a:t>
            </a:r>
            <a:r>
              <a:rPr sz="3200" spc="430" dirty="0">
                <a:solidFill>
                  <a:srgbClr val="44536A"/>
                </a:solidFill>
                <a:latin typeface="Calibri"/>
                <a:cs typeface="Calibri"/>
              </a:rPr>
              <a:t>  </a:t>
            </a:r>
            <a:r>
              <a:rPr sz="3200" spc="-10" dirty="0" err="1">
                <a:solidFill>
                  <a:srgbClr val="44536A"/>
                </a:solidFill>
                <a:latin typeface="Calibri"/>
                <a:cs typeface="Calibri"/>
              </a:rPr>
              <a:t>regole</a:t>
            </a:r>
            <a:r>
              <a:rPr sz="3200" spc="-1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dirty="0" err="1" smtClean="0">
                <a:solidFill>
                  <a:srgbClr val="44536A"/>
                </a:solidFill>
                <a:latin typeface="Calibri"/>
                <a:cs typeface="Calibri"/>
              </a:rPr>
              <a:t>tecniche</a:t>
            </a:r>
            <a:r>
              <a:rPr sz="3200" spc="-50" dirty="0" smtClean="0">
                <a:solidFill>
                  <a:srgbClr val="44536A"/>
                </a:solidFill>
                <a:latin typeface="Calibri"/>
                <a:cs typeface="Calibri"/>
              </a:rPr>
              <a:t>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7999" y="303068"/>
            <a:ext cx="8839199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lang="it-IT" b="1" dirty="0" smtClean="0">
                <a:solidFill>
                  <a:schemeClr val="bg1"/>
                </a:solidFill>
              </a:rPr>
              <a:t> </a:t>
            </a:r>
            <a:r>
              <a:rPr lang="it-IT" b="1" dirty="0" smtClean="0">
                <a:solidFill>
                  <a:srgbClr val="FFC000"/>
                </a:solidFill>
              </a:rPr>
              <a:t>ORA VEDIAMO </a:t>
            </a:r>
            <a:r>
              <a:rPr b="1" dirty="0" smtClean="0">
                <a:solidFill>
                  <a:srgbClr val="FFC000"/>
                </a:solidFill>
              </a:rPr>
              <a:t>Il </a:t>
            </a:r>
            <a:r>
              <a:rPr b="1" spc="-25" dirty="0">
                <a:solidFill>
                  <a:srgbClr val="FFC000"/>
                </a:solidFill>
              </a:rPr>
              <a:t>CAD</a:t>
            </a:r>
          </a:p>
          <a:p>
            <a:pPr marL="1270" algn="ctr">
              <a:lnSpc>
                <a:spcPct val="100000"/>
              </a:lnSpc>
            </a:pPr>
            <a:r>
              <a:rPr b="1" dirty="0">
                <a:solidFill>
                  <a:srgbClr val="FFC000"/>
                </a:solidFill>
              </a:rPr>
              <a:t>Codice</a:t>
            </a:r>
            <a:r>
              <a:rPr b="1" spc="-25" dirty="0">
                <a:solidFill>
                  <a:srgbClr val="FFC000"/>
                </a:solidFill>
              </a:rPr>
              <a:t> </a:t>
            </a:r>
            <a:r>
              <a:rPr b="1" dirty="0">
                <a:solidFill>
                  <a:srgbClr val="FFC000"/>
                </a:solidFill>
              </a:rPr>
              <a:t>dell’Amministrazione</a:t>
            </a:r>
            <a:r>
              <a:rPr b="1" spc="-15" dirty="0">
                <a:solidFill>
                  <a:srgbClr val="FFC000"/>
                </a:solidFill>
              </a:rPr>
              <a:t> </a:t>
            </a:r>
            <a:r>
              <a:rPr b="1" spc="-10" dirty="0">
                <a:solidFill>
                  <a:srgbClr val="FFC000"/>
                </a:solidFill>
              </a:rPr>
              <a:t>Digitale</a:t>
            </a:r>
          </a:p>
        </p:txBody>
      </p:sp>
    </p:spTree>
    <p:extLst>
      <p:ext uri="{BB962C8B-B14F-4D97-AF65-F5344CB8AC3E}">
        <p14:creationId xmlns:p14="http://schemas.microsoft.com/office/powerpoint/2010/main" val="2123884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0" y="5799033"/>
            <a:ext cx="3349202" cy="105896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5791063"/>
            <a:ext cx="3352324" cy="1067435"/>
          </a:xfrm>
          <a:custGeom>
            <a:avLst/>
            <a:gdLst/>
            <a:ahLst/>
            <a:cxnLst/>
            <a:rect l="l" t="t" r="r" b="b"/>
            <a:pathLst>
              <a:path w="4469765" h="1067434">
                <a:moveTo>
                  <a:pt x="0" y="0"/>
                </a:moveTo>
                <a:lnTo>
                  <a:pt x="4469317" y="1066935"/>
                </a:lnTo>
              </a:path>
            </a:pathLst>
          </a:custGeom>
          <a:ln w="12192">
            <a:solidFill>
              <a:srgbClr val="2D52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50" y="-2040"/>
            <a:ext cx="9139449" cy="136704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chemeClr val="bg1"/>
                </a:solidFill>
              </a:rPr>
              <a:t>Il </a:t>
            </a:r>
            <a:r>
              <a:rPr b="1" spc="-25" dirty="0">
                <a:solidFill>
                  <a:schemeClr val="bg1"/>
                </a:solidFill>
              </a:rPr>
              <a:t>CAD</a:t>
            </a:r>
          </a:p>
          <a:p>
            <a:pPr algn="ctr">
              <a:lnSpc>
                <a:spcPct val="100000"/>
              </a:lnSpc>
            </a:pPr>
            <a:r>
              <a:rPr b="1" dirty="0">
                <a:solidFill>
                  <a:schemeClr val="bg1"/>
                </a:solidFill>
              </a:rPr>
              <a:t>Codice</a:t>
            </a:r>
            <a:r>
              <a:rPr b="1" spc="-25" dirty="0">
                <a:solidFill>
                  <a:schemeClr val="bg1"/>
                </a:solidFill>
              </a:rPr>
              <a:t> </a:t>
            </a:r>
            <a:r>
              <a:rPr b="1" dirty="0">
                <a:solidFill>
                  <a:schemeClr val="bg1"/>
                </a:solidFill>
              </a:rPr>
              <a:t>dell’Amministrazione</a:t>
            </a:r>
            <a:r>
              <a:rPr b="1" spc="-15" dirty="0">
                <a:solidFill>
                  <a:schemeClr val="bg1"/>
                </a:solidFill>
              </a:rPr>
              <a:t> </a:t>
            </a:r>
            <a:r>
              <a:rPr b="1" spc="-10" dirty="0">
                <a:solidFill>
                  <a:schemeClr val="bg1"/>
                </a:solidFill>
              </a:rPr>
              <a:t>Digitale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19172" y="1564105"/>
            <a:ext cx="5185791" cy="496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067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60871"/>
            <a:ext cx="9144000" cy="6899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chemeClr val="bg1"/>
                </a:solidFill>
              </a:rPr>
              <a:t>Il </a:t>
            </a:r>
            <a:r>
              <a:rPr b="1" spc="-25" dirty="0">
                <a:solidFill>
                  <a:schemeClr val="bg1"/>
                </a:solidFill>
              </a:rPr>
              <a:t>CAD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0743" y="1085038"/>
            <a:ext cx="8523923" cy="40523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63" algn="ctr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44536A"/>
                </a:solidFill>
                <a:latin typeface="Calibri"/>
                <a:cs typeface="Calibri"/>
              </a:rPr>
              <a:t>Codice</a:t>
            </a:r>
            <a:r>
              <a:rPr sz="3600" b="1" spc="-2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44536A"/>
                </a:solidFill>
                <a:latin typeface="Calibri"/>
                <a:cs typeface="Calibri"/>
              </a:rPr>
              <a:t>dell’Amministrazione</a:t>
            </a:r>
            <a:r>
              <a:rPr sz="3600" b="1" spc="-1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44536A"/>
                </a:solidFill>
                <a:latin typeface="Calibri"/>
                <a:cs typeface="Calibri"/>
              </a:rPr>
              <a:t>Digitale</a:t>
            </a:r>
            <a:endParaRPr sz="3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650" dirty="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</a:pPr>
            <a:r>
              <a:rPr sz="4000" dirty="0">
                <a:solidFill>
                  <a:srgbClr val="44536A"/>
                </a:solidFill>
                <a:latin typeface="Calibri"/>
                <a:cs typeface="Calibri"/>
              </a:rPr>
              <a:t>Le</a:t>
            </a:r>
            <a:r>
              <a:rPr sz="4000" spc="5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4536A"/>
                </a:solidFill>
                <a:latin typeface="Calibri"/>
                <a:cs typeface="Calibri"/>
              </a:rPr>
              <a:t>pubbliche</a:t>
            </a:r>
            <a:r>
              <a:rPr sz="4000" spc="5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4536A"/>
                </a:solidFill>
                <a:latin typeface="Calibri"/>
                <a:cs typeface="Calibri"/>
              </a:rPr>
              <a:t>amministrazioni</a:t>
            </a:r>
            <a:r>
              <a:rPr sz="4000" spc="4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40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formano</a:t>
            </a:r>
            <a:r>
              <a:rPr sz="4000" b="1" u="sng" spc="5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40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gli</a:t>
            </a:r>
            <a:r>
              <a:rPr sz="4000" b="1" u="sng" spc="6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40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originali</a:t>
            </a:r>
            <a:r>
              <a:rPr sz="4000" b="1" u="sng" spc="5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4000" b="1" u="sng" spc="-2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dei</a:t>
            </a:r>
            <a:r>
              <a:rPr sz="4000" b="1" spc="-2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40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propri</a:t>
            </a:r>
            <a:r>
              <a:rPr sz="4000" b="1" u="sng" spc="54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 </a:t>
            </a:r>
            <a:r>
              <a:rPr sz="40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documenti</a:t>
            </a:r>
            <a:r>
              <a:rPr sz="4000" b="1" u="sng" spc="55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40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con</a:t>
            </a:r>
            <a:r>
              <a:rPr sz="4000" b="1" u="sng" spc="54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40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mezzi</a:t>
            </a:r>
            <a:r>
              <a:rPr sz="4000" b="1" u="sng" spc="53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40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informatici</a:t>
            </a:r>
            <a:r>
              <a:rPr sz="4000" b="1" spc="54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4000" dirty="0">
                <a:solidFill>
                  <a:srgbClr val="44536A"/>
                </a:solidFill>
                <a:latin typeface="Calibri"/>
                <a:cs typeface="Calibri"/>
              </a:rPr>
              <a:t>secondo</a:t>
            </a:r>
            <a:r>
              <a:rPr sz="4000" spc="54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4000" spc="-25" dirty="0">
                <a:solidFill>
                  <a:srgbClr val="44536A"/>
                </a:solidFill>
                <a:latin typeface="Calibri"/>
                <a:cs typeface="Calibri"/>
              </a:rPr>
              <a:t>le </a:t>
            </a:r>
            <a:r>
              <a:rPr sz="4000" dirty="0">
                <a:solidFill>
                  <a:srgbClr val="44536A"/>
                </a:solidFill>
                <a:latin typeface="Calibri"/>
                <a:cs typeface="Calibri"/>
              </a:rPr>
              <a:t>disposizioni</a:t>
            </a:r>
            <a:r>
              <a:rPr sz="4000" spc="280" dirty="0">
                <a:solidFill>
                  <a:srgbClr val="44536A"/>
                </a:solidFill>
                <a:latin typeface="Calibri"/>
                <a:cs typeface="Calibri"/>
              </a:rPr>
              <a:t>  </a:t>
            </a:r>
            <a:r>
              <a:rPr sz="4000" dirty="0">
                <a:solidFill>
                  <a:srgbClr val="44536A"/>
                </a:solidFill>
                <a:latin typeface="Calibri"/>
                <a:cs typeface="Calibri"/>
              </a:rPr>
              <a:t>di</a:t>
            </a:r>
            <a:r>
              <a:rPr sz="4000" spc="285" dirty="0">
                <a:solidFill>
                  <a:srgbClr val="44536A"/>
                </a:solidFill>
                <a:latin typeface="Calibri"/>
                <a:cs typeface="Calibri"/>
              </a:rPr>
              <a:t>  </a:t>
            </a:r>
            <a:r>
              <a:rPr sz="4000" dirty="0">
                <a:solidFill>
                  <a:srgbClr val="44536A"/>
                </a:solidFill>
                <a:latin typeface="Calibri"/>
                <a:cs typeface="Calibri"/>
              </a:rPr>
              <a:t>cui</a:t>
            </a:r>
            <a:r>
              <a:rPr sz="4000" spc="285" dirty="0">
                <a:solidFill>
                  <a:srgbClr val="44536A"/>
                </a:solidFill>
                <a:latin typeface="Calibri"/>
                <a:cs typeface="Calibri"/>
              </a:rPr>
              <a:t>  </a:t>
            </a:r>
            <a:r>
              <a:rPr sz="4000" dirty="0">
                <a:solidFill>
                  <a:srgbClr val="44536A"/>
                </a:solidFill>
                <a:latin typeface="Calibri"/>
                <a:cs typeface="Calibri"/>
              </a:rPr>
              <a:t>al</a:t>
            </a:r>
            <a:r>
              <a:rPr sz="4000" spc="280" dirty="0">
                <a:solidFill>
                  <a:srgbClr val="44536A"/>
                </a:solidFill>
                <a:latin typeface="Calibri"/>
                <a:cs typeface="Calibri"/>
              </a:rPr>
              <a:t>  </a:t>
            </a:r>
            <a:r>
              <a:rPr sz="4000" dirty="0">
                <a:solidFill>
                  <a:srgbClr val="44536A"/>
                </a:solidFill>
                <a:latin typeface="Calibri"/>
                <a:cs typeface="Calibri"/>
              </a:rPr>
              <a:t>presente</a:t>
            </a:r>
            <a:r>
              <a:rPr sz="4000" spc="290" dirty="0">
                <a:solidFill>
                  <a:srgbClr val="44536A"/>
                </a:solidFill>
                <a:latin typeface="Calibri"/>
                <a:cs typeface="Calibri"/>
              </a:rPr>
              <a:t>  </a:t>
            </a:r>
            <a:r>
              <a:rPr sz="4000" dirty="0">
                <a:solidFill>
                  <a:srgbClr val="44536A"/>
                </a:solidFill>
                <a:latin typeface="Calibri"/>
                <a:cs typeface="Calibri"/>
              </a:rPr>
              <a:t>codice</a:t>
            </a:r>
            <a:r>
              <a:rPr sz="4000" spc="280" dirty="0">
                <a:solidFill>
                  <a:srgbClr val="44536A"/>
                </a:solidFill>
                <a:latin typeface="Calibri"/>
                <a:cs typeface="Calibri"/>
              </a:rPr>
              <a:t>  </a:t>
            </a:r>
            <a:r>
              <a:rPr sz="4000" dirty="0">
                <a:solidFill>
                  <a:srgbClr val="44536A"/>
                </a:solidFill>
                <a:latin typeface="Calibri"/>
                <a:cs typeface="Calibri"/>
              </a:rPr>
              <a:t>e</a:t>
            </a:r>
            <a:r>
              <a:rPr sz="4000" spc="290" dirty="0">
                <a:solidFill>
                  <a:srgbClr val="44536A"/>
                </a:solidFill>
                <a:latin typeface="Calibri"/>
                <a:cs typeface="Calibri"/>
              </a:rPr>
              <a:t>  </a:t>
            </a:r>
            <a:r>
              <a:rPr sz="4000" dirty="0">
                <a:solidFill>
                  <a:srgbClr val="44536A"/>
                </a:solidFill>
                <a:latin typeface="Calibri"/>
                <a:cs typeface="Calibri"/>
              </a:rPr>
              <a:t>le</a:t>
            </a:r>
            <a:r>
              <a:rPr sz="4000" spc="285" dirty="0">
                <a:solidFill>
                  <a:srgbClr val="44536A"/>
                </a:solidFill>
                <a:latin typeface="Calibri"/>
                <a:cs typeface="Calibri"/>
              </a:rPr>
              <a:t>  </a:t>
            </a:r>
            <a:r>
              <a:rPr sz="4000" spc="-10" dirty="0" err="1">
                <a:solidFill>
                  <a:srgbClr val="44536A"/>
                </a:solidFill>
                <a:latin typeface="Calibri"/>
                <a:cs typeface="Calibri"/>
              </a:rPr>
              <a:t>regole</a:t>
            </a:r>
            <a:r>
              <a:rPr sz="4000" spc="-1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4000" dirty="0" err="1" smtClean="0">
                <a:solidFill>
                  <a:srgbClr val="44536A"/>
                </a:solidFill>
                <a:latin typeface="Calibri"/>
                <a:cs typeface="Calibri"/>
              </a:rPr>
              <a:t>tecniche</a:t>
            </a:r>
            <a:r>
              <a:rPr sz="4000" spc="-25" dirty="0" smtClean="0">
                <a:solidFill>
                  <a:srgbClr val="44536A"/>
                </a:solidFill>
                <a:latin typeface="Calibri"/>
                <a:cs typeface="Calibri"/>
              </a:rPr>
              <a:t>.</a:t>
            </a:r>
            <a:endParaRPr sz="4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8171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0743" y="1975896"/>
            <a:ext cx="8525828" cy="38901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65"/>
              </a:spcBef>
            </a:pPr>
            <a:r>
              <a:rPr sz="2800" dirty="0" smtClean="0">
                <a:solidFill>
                  <a:srgbClr val="44536A"/>
                </a:solidFill>
                <a:latin typeface="Calibri"/>
                <a:cs typeface="Calibri"/>
              </a:rPr>
              <a:t>A</a:t>
            </a:r>
            <a:r>
              <a:rPr sz="2800" spc="409" dirty="0" smtClean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partire</a:t>
            </a:r>
            <a:r>
              <a:rPr sz="2800" spc="42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dal</a:t>
            </a:r>
            <a:r>
              <a:rPr sz="2800" spc="40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1º</a:t>
            </a:r>
            <a:r>
              <a:rPr sz="2800" spc="40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gennaio</a:t>
            </a:r>
            <a:r>
              <a:rPr sz="2800" spc="409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2014,</a:t>
            </a:r>
            <a:r>
              <a:rPr sz="2800" spc="40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le</a:t>
            </a:r>
            <a:r>
              <a:rPr sz="2800" b="1" u="sng" spc="40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28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PA</a:t>
            </a:r>
            <a:r>
              <a:rPr sz="2800" b="1" u="sng" spc="40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28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utilizzano</a:t>
            </a:r>
            <a:r>
              <a:rPr sz="2800" b="1" u="sng" spc="42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28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esclusivamente</a:t>
            </a:r>
            <a:r>
              <a:rPr sz="2800" b="1" u="sng" spc="41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28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i</a:t>
            </a:r>
            <a:r>
              <a:rPr sz="2800" b="1" u="sng" spc="409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28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canali</a:t>
            </a:r>
            <a:r>
              <a:rPr sz="2800" b="1" u="sng" spc="42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28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e</a:t>
            </a:r>
            <a:r>
              <a:rPr sz="2800" b="1" u="sng" spc="41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2800" b="1" u="sng" spc="-5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i</a:t>
            </a:r>
            <a:r>
              <a:rPr sz="2800" b="1" spc="-5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servizi</a:t>
            </a:r>
            <a:r>
              <a:rPr sz="2800" b="1" u="sng" spc="254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28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telematici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,</a:t>
            </a:r>
            <a:r>
              <a:rPr sz="2800" spc="254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ivi</a:t>
            </a:r>
            <a:r>
              <a:rPr sz="2800" spc="24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inclusa</a:t>
            </a:r>
            <a:r>
              <a:rPr sz="2800" spc="254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la</a:t>
            </a:r>
            <a:r>
              <a:rPr sz="2800" spc="26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posta</a:t>
            </a:r>
            <a:r>
              <a:rPr sz="2800" spc="24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elettronica</a:t>
            </a:r>
            <a:r>
              <a:rPr sz="2800" spc="254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certificata,</a:t>
            </a:r>
            <a:r>
              <a:rPr sz="2800" spc="24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per</a:t>
            </a:r>
            <a:r>
              <a:rPr sz="2800" spc="24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l'utilizzo</a:t>
            </a:r>
            <a:r>
              <a:rPr sz="2800" spc="254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44536A"/>
                </a:solidFill>
                <a:latin typeface="Calibri"/>
                <a:cs typeface="Calibri"/>
              </a:rPr>
              <a:t>dei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propri</a:t>
            </a:r>
            <a:r>
              <a:rPr sz="2800" spc="8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servizi,</a:t>
            </a:r>
            <a:r>
              <a:rPr sz="2800" spc="7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anche</a:t>
            </a:r>
            <a:r>
              <a:rPr sz="2800" spc="8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a</a:t>
            </a:r>
            <a:r>
              <a:rPr sz="2800" spc="8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mezzo</a:t>
            </a:r>
            <a:r>
              <a:rPr sz="2800" spc="6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di</a:t>
            </a:r>
            <a:r>
              <a:rPr sz="2800" spc="7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intermediari</a:t>
            </a:r>
            <a:r>
              <a:rPr sz="2800" spc="7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abilitati,</a:t>
            </a:r>
            <a:r>
              <a:rPr sz="2800" spc="7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per</a:t>
            </a:r>
            <a:r>
              <a:rPr sz="2800" spc="7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la</a:t>
            </a:r>
            <a:r>
              <a:rPr sz="2800" spc="8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presentazione</a:t>
            </a:r>
            <a:r>
              <a:rPr sz="2800" spc="8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44536A"/>
                </a:solidFill>
                <a:latin typeface="Calibri"/>
                <a:cs typeface="Calibri"/>
              </a:rPr>
              <a:t>da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parte</a:t>
            </a:r>
            <a:r>
              <a:rPr sz="2800" spc="31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degli</a:t>
            </a:r>
            <a:r>
              <a:rPr sz="2800" spc="29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interessati</a:t>
            </a:r>
            <a:r>
              <a:rPr sz="2800" spc="31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di</a:t>
            </a:r>
            <a:r>
              <a:rPr sz="2800" spc="31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denunce,</a:t>
            </a:r>
            <a:r>
              <a:rPr sz="2800" spc="31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istanze</a:t>
            </a:r>
            <a:r>
              <a:rPr sz="2800" spc="32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e</a:t>
            </a:r>
            <a:r>
              <a:rPr sz="2800" spc="30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atti</a:t>
            </a:r>
            <a:r>
              <a:rPr sz="2800" spc="31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e</a:t>
            </a:r>
            <a:r>
              <a:rPr sz="2800" spc="30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garanzie</a:t>
            </a:r>
            <a:r>
              <a:rPr sz="2800" spc="31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fideiussorie,</a:t>
            </a:r>
            <a:r>
              <a:rPr sz="2800" spc="31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44536A"/>
                </a:solidFill>
                <a:latin typeface="Calibri"/>
                <a:cs typeface="Calibri"/>
              </a:rPr>
              <a:t>per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l'esecuzione</a:t>
            </a:r>
            <a:r>
              <a:rPr sz="2800" spc="62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di</a:t>
            </a:r>
            <a:r>
              <a:rPr sz="2800" spc="61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versamenti</a:t>
            </a:r>
            <a:r>
              <a:rPr sz="2800" spc="62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fiscali,</a:t>
            </a:r>
            <a:r>
              <a:rPr sz="2800" spc="62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contributivi,</a:t>
            </a:r>
            <a:r>
              <a:rPr sz="2800" spc="63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previdenziali,</a:t>
            </a:r>
            <a:r>
              <a:rPr sz="2800" spc="62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assistenziali</a:t>
            </a:r>
            <a:r>
              <a:rPr sz="2800" spc="61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44536A"/>
                </a:solidFill>
                <a:latin typeface="Calibri"/>
                <a:cs typeface="Calibri"/>
              </a:rPr>
              <a:t>e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assicurativi,</a:t>
            </a:r>
            <a:r>
              <a:rPr sz="2800" spc="-5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nonché</a:t>
            </a:r>
            <a:r>
              <a:rPr sz="2800" spc="-6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per</a:t>
            </a:r>
            <a:r>
              <a:rPr sz="2800" spc="-7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la</a:t>
            </a:r>
            <a:r>
              <a:rPr sz="2800" spc="-7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richiesta</a:t>
            </a:r>
            <a:r>
              <a:rPr sz="2800" spc="-7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di</a:t>
            </a:r>
            <a:r>
              <a:rPr sz="2800" spc="-7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attestazioni</a:t>
            </a:r>
            <a:r>
              <a:rPr sz="2800" spc="-7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4536A"/>
                </a:solidFill>
                <a:latin typeface="Calibri"/>
                <a:cs typeface="Calibri"/>
              </a:rPr>
              <a:t>e</a:t>
            </a:r>
            <a:r>
              <a:rPr sz="2800" spc="-9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800" spc="-10" dirty="0" err="1" smtClean="0">
                <a:solidFill>
                  <a:srgbClr val="44536A"/>
                </a:solidFill>
                <a:latin typeface="Calibri"/>
                <a:cs typeface="Calibri"/>
              </a:rPr>
              <a:t>certificazioni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Rettangolo 3"/>
          <p:cNvSpPr/>
          <p:nvPr/>
        </p:nvSpPr>
        <p:spPr>
          <a:xfrm>
            <a:off x="171450" y="152400"/>
            <a:ext cx="10287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1449" y="70286"/>
            <a:ext cx="8665121" cy="15517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Il </a:t>
            </a:r>
            <a:r>
              <a:rPr spc="-25" dirty="0" smtClean="0"/>
              <a:t>CAD</a:t>
            </a:r>
            <a:r>
              <a:rPr lang="it-IT" spc="-25" dirty="0" smtClean="0"/>
              <a:t/>
            </a:r>
            <a:br>
              <a:rPr lang="it-IT" spc="-25" dirty="0" smtClean="0"/>
            </a:br>
            <a:r>
              <a:rPr lang="it-IT" sz="2800" spc="-25" dirty="0" smtClean="0"/>
              <a:t>La carta non è più uno strumento di comunicazione </a:t>
            </a:r>
            <a:br>
              <a:rPr lang="it-IT" sz="2800" spc="-25" dirty="0" smtClean="0"/>
            </a:br>
            <a:r>
              <a:rPr lang="it-IT" sz="2800" b="1" u="sng" spc="-25" dirty="0" smtClean="0"/>
              <a:t>«con e tra» </a:t>
            </a:r>
            <a:r>
              <a:rPr lang="it-IT" sz="2800" spc="-25" dirty="0" smtClean="0"/>
              <a:t>le pubbliche amministrazioni</a:t>
            </a:r>
            <a:endParaRPr sz="2800" spc="-25" dirty="0"/>
          </a:p>
        </p:txBody>
      </p:sp>
    </p:spTree>
    <p:extLst>
      <p:ext uri="{BB962C8B-B14F-4D97-AF65-F5344CB8AC3E}">
        <p14:creationId xmlns:p14="http://schemas.microsoft.com/office/powerpoint/2010/main" val="2328653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101180" y="4022217"/>
            <a:ext cx="2614568" cy="2522855"/>
          </a:xfrm>
          <a:custGeom>
            <a:avLst/>
            <a:gdLst/>
            <a:ahLst/>
            <a:cxnLst/>
            <a:rect l="l" t="t" r="r" b="b"/>
            <a:pathLst>
              <a:path w="2563495" h="2522854">
                <a:moveTo>
                  <a:pt x="1386459" y="0"/>
                </a:moveTo>
                <a:lnTo>
                  <a:pt x="1176655" y="0"/>
                </a:lnTo>
                <a:lnTo>
                  <a:pt x="1130935" y="258571"/>
                </a:lnTo>
                <a:lnTo>
                  <a:pt x="1079063" y="267549"/>
                </a:lnTo>
                <a:lnTo>
                  <a:pt x="1027811" y="279126"/>
                </a:lnTo>
                <a:lnTo>
                  <a:pt x="977272" y="293268"/>
                </a:lnTo>
                <a:lnTo>
                  <a:pt x="927544" y="309943"/>
                </a:lnTo>
                <a:lnTo>
                  <a:pt x="878720" y="329119"/>
                </a:lnTo>
                <a:lnTo>
                  <a:pt x="830897" y="350762"/>
                </a:lnTo>
                <a:lnTo>
                  <a:pt x="784169" y="374840"/>
                </a:lnTo>
                <a:lnTo>
                  <a:pt x="738632" y="401319"/>
                </a:lnTo>
                <a:lnTo>
                  <a:pt x="537337" y="232536"/>
                </a:lnTo>
                <a:lnTo>
                  <a:pt x="376555" y="367283"/>
                </a:lnTo>
                <a:lnTo>
                  <a:pt x="507873" y="594740"/>
                </a:lnTo>
                <a:lnTo>
                  <a:pt x="473924" y="634951"/>
                </a:lnTo>
                <a:lnTo>
                  <a:pt x="442122" y="676755"/>
                </a:lnTo>
                <a:lnTo>
                  <a:pt x="412517" y="720064"/>
                </a:lnTo>
                <a:lnTo>
                  <a:pt x="385159" y="764793"/>
                </a:lnTo>
                <a:lnTo>
                  <a:pt x="360099" y="810856"/>
                </a:lnTo>
                <a:lnTo>
                  <a:pt x="337387" y="858166"/>
                </a:lnTo>
                <a:lnTo>
                  <a:pt x="317074" y="906637"/>
                </a:lnTo>
                <a:lnTo>
                  <a:pt x="299212" y="956182"/>
                </a:lnTo>
                <a:lnTo>
                  <a:pt x="36449" y="956182"/>
                </a:lnTo>
                <a:lnTo>
                  <a:pt x="0" y="1162684"/>
                </a:lnTo>
                <a:lnTo>
                  <a:pt x="246887" y="1252600"/>
                </a:lnTo>
                <a:lnTo>
                  <a:pt x="246711" y="1305227"/>
                </a:lnTo>
                <a:lnTo>
                  <a:pt x="249217" y="1357694"/>
                </a:lnTo>
                <a:lnTo>
                  <a:pt x="254384" y="1409899"/>
                </a:lnTo>
                <a:lnTo>
                  <a:pt x="262191" y="1461743"/>
                </a:lnTo>
                <a:lnTo>
                  <a:pt x="272617" y="1513124"/>
                </a:lnTo>
                <a:lnTo>
                  <a:pt x="285642" y="1563941"/>
                </a:lnTo>
                <a:lnTo>
                  <a:pt x="301245" y="1614095"/>
                </a:lnTo>
                <a:lnTo>
                  <a:pt x="319405" y="1663484"/>
                </a:lnTo>
                <a:lnTo>
                  <a:pt x="118110" y="1832279"/>
                </a:lnTo>
                <a:lnTo>
                  <a:pt x="223012" y="2013965"/>
                </a:lnTo>
                <a:lnTo>
                  <a:pt x="469900" y="1924138"/>
                </a:lnTo>
                <a:lnTo>
                  <a:pt x="503659" y="1964560"/>
                </a:lnTo>
                <a:lnTo>
                  <a:pt x="539353" y="2003142"/>
                </a:lnTo>
                <a:lnTo>
                  <a:pt x="576904" y="2039820"/>
                </a:lnTo>
                <a:lnTo>
                  <a:pt x="616235" y="2074527"/>
                </a:lnTo>
                <a:lnTo>
                  <a:pt x="657269" y="2107199"/>
                </a:lnTo>
                <a:lnTo>
                  <a:pt x="699928" y="2137770"/>
                </a:lnTo>
                <a:lnTo>
                  <a:pt x="744135" y="2166176"/>
                </a:lnTo>
                <a:lnTo>
                  <a:pt x="789813" y="2192350"/>
                </a:lnTo>
                <a:lnTo>
                  <a:pt x="744220" y="2450972"/>
                </a:lnTo>
                <a:lnTo>
                  <a:pt x="941451" y="2522727"/>
                </a:lnTo>
                <a:lnTo>
                  <a:pt x="1072768" y="2295296"/>
                </a:lnTo>
                <a:lnTo>
                  <a:pt x="1124622" y="2304597"/>
                </a:lnTo>
                <a:lnTo>
                  <a:pt x="1176770" y="2311241"/>
                </a:lnTo>
                <a:lnTo>
                  <a:pt x="1229114" y="2315227"/>
                </a:lnTo>
                <a:lnTo>
                  <a:pt x="1281557" y="2316556"/>
                </a:lnTo>
                <a:lnTo>
                  <a:pt x="1333999" y="2315227"/>
                </a:lnTo>
                <a:lnTo>
                  <a:pt x="1386343" y="2311241"/>
                </a:lnTo>
                <a:lnTo>
                  <a:pt x="1438491" y="2304597"/>
                </a:lnTo>
                <a:lnTo>
                  <a:pt x="1490344" y="2295296"/>
                </a:lnTo>
                <a:lnTo>
                  <a:pt x="1621663" y="2522727"/>
                </a:lnTo>
                <a:lnTo>
                  <a:pt x="1818893" y="2450972"/>
                </a:lnTo>
                <a:lnTo>
                  <a:pt x="1773301" y="2192350"/>
                </a:lnTo>
                <a:lnTo>
                  <a:pt x="1818978" y="2166176"/>
                </a:lnTo>
                <a:lnTo>
                  <a:pt x="1863185" y="2137770"/>
                </a:lnTo>
                <a:lnTo>
                  <a:pt x="1905844" y="2107199"/>
                </a:lnTo>
                <a:lnTo>
                  <a:pt x="1946878" y="2074527"/>
                </a:lnTo>
                <a:lnTo>
                  <a:pt x="1986209" y="2039820"/>
                </a:lnTo>
                <a:lnTo>
                  <a:pt x="2023760" y="2003142"/>
                </a:lnTo>
                <a:lnTo>
                  <a:pt x="2059454" y="1964560"/>
                </a:lnTo>
                <a:lnTo>
                  <a:pt x="2093214" y="1924138"/>
                </a:lnTo>
                <a:lnTo>
                  <a:pt x="2340102" y="2013965"/>
                </a:lnTo>
                <a:lnTo>
                  <a:pt x="2445004" y="1832279"/>
                </a:lnTo>
                <a:lnTo>
                  <a:pt x="2243709" y="1663484"/>
                </a:lnTo>
                <a:lnTo>
                  <a:pt x="2261868" y="1614095"/>
                </a:lnTo>
                <a:lnTo>
                  <a:pt x="2277471" y="1563941"/>
                </a:lnTo>
                <a:lnTo>
                  <a:pt x="2290496" y="1513124"/>
                </a:lnTo>
                <a:lnTo>
                  <a:pt x="2300922" y="1461743"/>
                </a:lnTo>
                <a:lnTo>
                  <a:pt x="2308729" y="1409899"/>
                </a:lnTo>
                <a:lnTo>
                  <a:pt x="2313896" y="1357694"/>
                </a:lnTo>
                <a:lnTo>
                  <a:pt x="2316402" y="1305227"/>
                </a:lnTo>
                <a:lnTo>
                  <a:pt x="2316226" y="1252600"/>
                </a:lnTo>
                <a:lnTo>
                  <a:pt x="2563114" y="1162684"/>
                </a:lnTo>
                <a:lnTo>
                  <a:pt x="2526665" y="956182"/>
                </a:lnTo>
                <a:lnTo>
                  <a:pt x="2263902" y="956182"/>
                </a:lnTo>
                <a:lnTo>
                  <a:pt x="2246039" y="906637"/>
                </a:lnTo>
                <a:lnTo>
                  <a:pt x="2225726" y="858166"/>
                </a:lnTo>
                <a:lnTo>
                  <a:pt x="2203014" y="810856"/>
                </a:lnTo>
                <a:lnTo>
                  <a:pt x="2177954" y="764793"/>
                </a:lnTo>
                <a:lnTo>
                  <a:pt x="2150596" y="720064"/>
                </a:lnTo>
                <a:lnTo>
                  <a:pt x="2120991" y="676755"/>
                </a:lnTo>
                <a:lnTo>
                  <a:pt x="2089189" y="634951"/>
                </a:lnTo>
                <a:lnTo>
                  <a:pt x="2055240" y="594740"/>
                </a:lnTo>
                <a:lnTo>
                  <a:pt x="2186559" y="367283"/>
                </a:lnTo>
                <a:lnTo>
                  <a:pt x="2025777" y="232536"/>
                </a:lnTo>
                <a:lnTo>
                  <a:pt x="1824482" y="401319"/>
                </a:lnTo>
                <a:lnTo>
                  <a:pt x="1778944" y="374840"/>
                </a:lnTo>
                <a:lnTo>
                  <a:pt x="1732216" y="350762"/>
                </a:lnTo>
                <a:lnTo>
                  <a:pt x="1684393" y="329119"/>
                </a:lnTo>
                <a:lnTo>
                  <a:pt x="1635569" y="309943"/>
                </a:lnTo>
                <a:lnTo>
                  <a:pt x="1585841" y="293268"/>
                </a:lnTo>
                <a:lnTo>
                  <a:pt x="1535303" y="279126"/>
                </a:lnTo>
                <a:lnTo>
                  <a:pt x="1484050" y="267549"/>
                </a:lnTo>
                <a:lnTo>
                  <a:pt x="1432179" y="258571"/>
                </a:lnTo>
                <a:lnTo>
                  <a:pt x="1386459" y="0"/>
                </a:lnTo>
                <a:close/>
              </a:path>
            </a:pathLst>
          </a:custGeom>
          <a:solidFill>
            <a:srgbClr val="00AF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45519" y="4486148"/>
            <a:ext cx="1759027" cy="15414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ts val="205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Norme</a:t>
            </a:r>
            <a:endParaRPr sz="1800" dirty="0">
              <a:latin typeface="Calibri"/>
              <a:cs typeface="Calibri"/>
            </a:endParaRPr>
          </a:p>
          <a:p>
            <a:pPr marL="12700" marR="5080" indent="1905" algn="ctr">
              <a:lnSpc>
                <a:spcPct val="90000"/>
              </a:lnSpc>
              <a:spcBef>
                <a:spcPts val="105"/>
              </a:spcBef>
            </a:pP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sull’efficacia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giuridica</a:t>
            </a:r>
            <a:r>
              <a:rPr sz="1800" b="1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FFFFFF"/>
                </a:solidFill>
                <a:latin typeface="Calibri"/>
                <a:cs typeface="Calibri"/>
              </a:rPr>
              <a:t>e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probatoria</a:t>
            </a:r>
            <a:r>
              <a:rPr sz="1800" b="1" spc="-25" dirty="0">
                <a:solidFill>
                  <a:srgbClr val="FFFFFF"/>
                </a:solidFill>
                <a:latin typeface="Calibri"/>
                <a:cs typeface="Calibri"/>
              </a:rPr>
              <a:t> dei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documenti informatici</a:t>
            </a:r>
            <a:endParaRPr sz="1800" dirty="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30379" y="3414141"/>
            <a:ext cx="1878254" cy="1851025"/>
            <a:chOff x="4039234" y="3414140"/>
            <a:chExt cx="1705610" cy="1851025"/>
          </a:xfrm>
        </p:grpSpPr>
        <p:sp>
          <p:nvSpPr>
            <p:cNvPr id="6" name="object 6"/>
            <p:cNvSpPr/>
            <p:nvPr/>
          </p:nvSpPr>
          <p:spPr>
            <a:xfrm>
              <a:off x="4045584" y="3420490"/>
              <a:ext cx="1692910" cy="1838325"/>
            </a:xfrm>
            <a:custGeom>
              <a:avLst/>
              <a:gdLst/>
              <a:ahLst/>
              <a:cxnLst/>
              <a:rect l="l" t="t" r="r" b="b"/>
              <a:pathLst>
                <a:path w="1692910" h="1838325">
                  <a:moveTo>
                    <a:pt x="948563" y="0"/>
                  </a:moveTo>
                  <a:lnTo>
                    <a:pt x="744347" y="0"/>
                  </a:lnTo>
                  <a:lnTo>
                    <a:pt x="678052" y="282321"/>
                  </a:lnTo>
                  <a:lnTo>
                    <a:pt x="630256" y="296913"/>
                  </a:lnTo>
                  <a:lnTo>
                    <a:pt x="583873" y="315035"/>
                  </a:lnTo>
                  <a:lnTo>
                    <a:pt x="539086" y="336578"/>
                  </a:lnTo>
                  <a:lnTo>
                    <a:pt x="496082" y="361434"/>
                  </a:lnTo>
                  <a:lnTo>
                    <a:pt x="455043" y="389493"/>
                  </a:lnTo>
                  <a:lnTo>
                    <a:pt x="416156" y="420647"/>
                  </a:lnTo>
                  <a:lnTo>
                    <a:pt x="379602" y="454787"/>
                  </a:lnTo>
                  <a:lnTo>
                    <a:pt x="102107" y="371094"/>
                  </a:lnTo>
                  <a:lnTo>
                    <a:pt x="0" y="548005"/>
                  </a:lnTo>
                  <a:lnTo>
                    <a:pt x="211200" y="746633"/>
                  </a:lnTo>
                  <a:lnTo>
                    <a:pt x="199957" y="795364"/>
                  </a:lnTo>
                  <a:lnTo>
                    <a:pt x="192462" y="844640"/>
                  </a:lnTo>
                  <a:lnTo>
                    <a:pt x="188714" y="894243"/>
                  </a:lnTo>
                  <a:lnTo>
                    <a:pt x="188714" y="943954"/>
                  </a:lnTo>
                  <a:lnTo>
                    <a:pt x="192462" y="993557"/>
                  </a:lnTo>
                  <a:lnTo>
                    <a:pt x="199957" y="1042833"/>
                  </a:lnTo>
                  <a:lnTo>
                    <a:pt x="211200" y="1091565"/>
                  </a:lnTo>
                  <a:lnTo>
                    <a:pt x="0" y="1290193"/>
                  </a:lnTo>
                  <a:lnTo>
                    <a:pt x="102107" y="1467104"/>
                  </a:lnTo>
                  <a:lnTo>
                    <a:pt x="379602" y="1383411"/>
                  </a:lnTo>
                  <a:lnTo>
                    <a:pt x="416156" y="1417550"/>
                  </a:lnTo>
                  <a:lnTo>
                    <a:pt x="455043" y="1448704"/>
                  </a:lnTo>
                  <a:lnTo>
                    <a:pt x="496082" y="1476763"/>
                  </a:lnTo>
                  <a:lnTo>
                    <a:pt x="539086" y="1501619"/>
                  </a:lnTo>
                  <a:lnTo>
                    <a:pt x="583873" y="1523162"/>
                  </a:lnTo>
                  <a:lnTo>
                    <a:pt x="630256" y="1541284"/>
                  </a:lnTo>
                  <a:lnTo>
                    <a:pt x="678052" y="1555877"/>
                  </a:lnTo>
                  <a:lnTo>
                    <a:pt x="744347" y="1838198"/>
                  </a:lnTo>
                  <a:lnTo>
                    <a:pt x="948563" y="1838198"/>
                  </a:lnTo>
                  <a:lnTo>
                    <a:pt x="1014856" y="1555877"/>
                  </a:lnTo>
                  <a:lnTo>
                    <a:pt x="1062653" y="1541284"/>
                  </a:lnTo>
                  <a:lnTo>
                    <a:pt x="1109036" y="1523162"/>
                  </a:lnTo>
                  <a:lnTo>
                    <a:pt x="1153823" y="1501619"/>
                  </a:lnTo>
                  <a:lnTo>
                    <a:pt x="1196827" y="1476763"/>
                  </a:lnTo>
                  <a:lnTo>
                    <a:pt x="1237866" y="1448704"/>
                  </a:lnTo>
                  <a:lnTo>
                    <a:pt x="1276753" y="1417550"/>
                  </a:lnTo>
                  <a:lnTo>
                    <a:pt x="1313306" y="1383411"/>
                  </a:lnTo>
                  <a:lnTo>
                    <a:pt x="1590802" y="1467104"/>
                  </a:lnTo>
                  <a:lnTo>
                    <a:pt x="1692910" y="1290193"/>
                  </a:lnTo>
                  <a:lnTo>
                    <a:pt x="1481709" y="1091565"/>
                  </a:lnTo>
                  <a:lnTo>
                    <a:pt x="1492952" y="1042833"/>
                  </a:lnTo>
                  <a:lnTo>
                    <a:pt x="1500447" y="993557"/>
                  </a:lnTo>
                  <a:lnTo>
                    <a:pt x="1504195" y="943954"/>
                  </a:lnTo>
                  <a:lnTo>
                    <a:pt x="1504195" y="894243"/>
                  </a:lnTo>
                  <a:lnTo>
                    <a:pt x="1500447" y="844640"/>
                  </a:lnTo>
                  <a:lnTo>
                    <a:pt x="1492952" y="795364"/>
                  </a:lnTo>
                  <a:lnTo>
                    <a:pt x="1481709" y="746633"/>
                  </a:lnTo>
                  <a:lnTo>
                    <a:pt x="1692910" y="548005"/>
                  </a:lnTo>
                  <a:lnTo>
                    <a:pt x="1590802" y="371094"/>
                  </a:lnTo>
                  <a:lnTo>
                    <a:pt x="1313306" y="454787"/>
                  </a:lnTo>
                  <a:lnTo>
                    <a:pt x="1276753" y="420647"/>
                  </a:lnTo>
                  <a:lnTo>
                    <a:pt x="1237866" y="389493"/>
                  </a:lnTo>
                  <a:lnTo>
                    <a:pt x="1196827" y="361434"/>
                  </a:lnTo>
                  <a:lnTo>
                    <a:pt x="1153823" y="336578"/>
                  </a:lnTo>
                  <a:lnTo>
                    <a:pt x="1109036" y="315035"/>
                  </a:lnTo>
                  <a:lnTo>
                    <a:pt x="1062653" y="296913"/>
                  </a:lnTo>
                  <a:lnTo>
                    <a:pt x="1014856" y="282321"/>
                  </a:lnTo>
                  <a:lnTo>
                    <a:pt x="94856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045584" y="3420490"/>
              <a:ext cx="1692910" cy="1838325"/>
            </a:xfrm>
            <a:custGeom>
              <a:avLst/>
              <a:gdLst/>
              <a:ahLst/>
              <a:cxnLst/>
              <a:rect l="l" t="t" r="r" b="b"/>
              <a:pathLst>
                <a:path w="1692910" h="1838325">
                  <a:moveTo>
                    <a:pt x="1313306" y="454787"/>
                  </a:moveTo>
                  <a:lnTo>
                    <a:pt x="1590802" y="371094"/>
                  </a:lnTo>
                  <a:lnTo>
                    <a:pt x="1692910" y="548005"/>
                  </a:lnTo>
                  <a:lnTo>
                    <a:pt x="1481709" y="746633"/>
                  </a:lnTo>
                  <a:lnTo>
                    <a:pt x="1492952" y="795364"/>
                  </a:lnTo>
                  <a:lnTo>
                    <a:pt x="1500447" y="844640"/>
                  </a:lnTo>
                  <a:lnTo>
                    <a:pt x="1504195" y="894243"/>
                  </a:lnTo>
                  <a:lnTo>
                    <a:pt x="1504195" y="943954"/>
                  </a:lnTo>
                  <a:lnTo>
                    <a:pt x="1500447" y="993557"/>
                  </a:lnTo>
                  <a:lnTo>
                    <a:pt x="1492952" y="1042833"/>
                  </a:lnTo>
                  <a:lnTo>
                    <a:pt x="1481709" y="1091565"/>
                  </a:lnTo>
                  <a:lnTo>
                    <a:pt x="1692910" y="1290193"/>
                  </a:lnTo>
                  <a:lnTo>
                    <a:pt x="1590802" y="1467104"/>
                  </a:lnTo>
                  <a:lnTo>
                    <a:pt x="1313306" y="1383411"/>
                  </a:lnTo>
                  <a:lnTo>
                    <a:pt x="1276753" y="1417550"/>
                  </a:lnTo>
                  <a:lnTo>
                    <a:pt x="1237866" y="1448704"/>
                  </a:lnTo>
                  <a:lnTo>
                    <a:pt x="1196827" y="1476763"/>
                  </a:lnTo>
                  <a:lnTo>
                    <a:pt x="1153823" y="1501619"/>
                  </a:lnTo>
                  <a:lnTo>
                    <a:pt x="1109036" y="1523162"/>
                  </a:lnTo>
                  <a:lnTo>
                    <a:pt x="1062653" y="1541284"/>
                  </a:lnTo>
                  <a:lnTo>
                    <a:pt x="1014856" y="1555877"/>
                  </a:lnTo>
                  <a:lnTo>
                    <a:pt x="948563" y="1838198"/>
                  </a:lnTo>
                  <a:lnTo>
                    <a:pt x="744347" y="1838198"/>
                  </a:lnTo>
                  <a:lnTo>
                    <a:pt x="678052" y="1555877"/>
                  </a:lnTo>
                  <a:lnTo>
                    <a:pt x="630256" y="1541284"/>
                  </a:lnTo>
                  <a:lnTo>
                    <a:pt x="583873" y="1523162"/>
                  </a:lnTo>
                  <a:lnTo>
                    <a:pt x="539086" y="1501619"/>
                  </a:lnTo>
                  <a:lnTo>
                    <a:pt x="496082" y="1476763"/>
                  </a:lnTo>
                  <a:lnTo>
                    <a:pt x="455043" y="1448704"/>
                  </a:lnTo>
                  <a:lnTo>
                    <a:pt x="416156" y="1417550"/>
                  </a:lnTo>
                  <a:lnTo>
                    <a:pt x="379602" y="1383411"/>
                  </a:lnTo>
                  <a:lnTo>
                    <a:pt x="102107" y="1467104"/>
                  </a:lnTo>
                  <a:lnTo>
                    <a:pt x="0" y="1290193"/>
                  </a:lnTo>
                  <a:lnTo>
                    <a:pt x="211200" y="1091565"/>
                  </a:lnTo>
                  <a:lnTo>
                    <a:pt x="199957" y="1042833"/>
                  </a:lnTo>
                  <a:lnTo>
                    <a:pt x="192462" y="993557"/>
                  </a:lnTo>
                  <a:lnTo>
                    <a:pt x="188714" y="943954"/>
                  </a:lnTo>
                  <a:lnTo>
                    <a:pt x="188714" y="894243"/>
                  </a:lnTo>
                  <a:lnTo>
                    <a:pt x="192462" y="844640"/>
                  </a:lnTo>
                  <a:lnTo>
                    <a:pt x="199957" y="795364"/>
                  </a:lnTo>
                  <a:lnTo>
                    <a:pt x="211200" y="746633"/>
                  </a:lnTo>
                  <a:lnTo>
                    <a:pt x="0" y="548005"/>
                  </a:lnTo>
                  <a:lnTo>
                    <a:pt x="102107" y="371094"/>
                  </a:lnTo>
                  <a:lnTo>
                    <a:pt x="379602" y="454787"/>
                  </a:lnTo>
                  <a:lnTo>
                    <a:pt x="416156" y="420647"/>
                  </a:lnTo>
                  <a:lnTo>
                    <a:pt x="455043" y="389493"/>
                  </a:lnTo>
                  <a:lnTo>
                    <a:pt x="496082" y="361434"/>
                  </a:lnTo>
                  <a:lnTo>
                    <a:pt x="539086" y="336578"/>
                  </a:lnTo>
                  <a:lnTo>
                    <a:pt x="583873" y="315035"/>
                  </a:lnTo>
                  <a:lnTo>
                    <a:pt x="630256" y="296913"/>
                  </a:lnTo>
                  <a:lnTo>
                    <a:pt x="678052" y="282321"/>
                  </a:lnTo>
                  <a:lnTo>
                    <a:pt x="744347" y="0"/>
                  </a:lnTo>
                  <a:lnTo>
                    <a:pt x="948563" y="0"/>
                  </a:lnTo>
                  <a:lnTo>
                    <a:pt x="1014856" y="282321"/>
                  </a:lnTo>
                  <a:lnTo>
                    <a:pt x="1062653" y="296913"/>
                  </a:lnTo>
                  <a:lnTo>
                    <a:pt x="1109036" y="315035"/>
                  </a:lnTo>
                  <a:lnTo>
                    <a:pt x="1153823" y="336578"/>
                  </a:lnTo>
                  <a:lnTo>
                    <a:pt x="1196827" y="361434"/>
                  </a:lnTo>
                  <a:lnTo>
                    <a:pt x="1237866" y="389493"/>
                  </a:lnTo>
                  <a:lnTo>
                    <a:pt x="1276753" y="420647"/>
                  </a:lnTo>
                  <a:lnTo>
                    <a:pt x="1313306" y="454787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741715" y="4022217"/>
            <a:ext cx="1255581" cy="65402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indent="-635" algn="ctr">
              <a:lnSpc>
                <a:spcPts val="1620"/>
              </a:lnSpc>
              <a:spcBef>
                <a:spcPts val="300"/>
              </a:spcBef>
            </a:pP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Diritti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digitali</a:t>
            </a:r>
            <a:r>
              <a:rPr sz="15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Calibri"/>
                <a:cs typeface="Calibri"/>
              </a:rPr>
              <a:t>di </a:t>
            </a: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cittadini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50" dirty="0">
                <a:solidFill>
                  <a:srgbClr val="FFFFFF"/>
                </a:solidFill>
                <a:latin typeface="Calibri"/>
                <a:cs typeface="Calibri"/>
              </a:rPr>
              <a:t>e </a:t>
            </a: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imprese</a:t>
            </a:r>
            <a:endParaRPr sz="1500" dirty="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366230" y="2022399"/>
            <a:ext cx="1700021" cy="1803400"/>
            <a:chOff x="5024501" y="2121280"/>
            <a:chExt cx="1803400" cy="1803400"/>
          </a:xfrm>
        </p:grpSpPr>
        <p:sp>
          <p:nvSpPr>
            <p:cNvPr id="10" name="object 10"/>
            <p:cNvSpPr/>
            <p:nvPr/>
          </p:nvSpPr>
          <p:spPr>
            <a:xfrm>
              <a:off x="5030851" y="2127630"/>
              <a:ext cx="1790700" cy="1790700"/>
            </a:xfrm>
            <a:custGeom>
              <a:avLst/>
              <a:gdLst/>
              <a:ahLst/>
              <a:cxnLst/>
              <a:rect l="l" t="t" r="r" b="b"/>
              <a:pathLst>
                <a:path w="1790700" h="1790700">
                  <a:moveTo>
                    <a:pt x="1219069" y="1452880"/>
                  </a:moveTo>
                  <a:lnTo>
                    <a:pt x="570991" y="1452880"/>
                  </a:lnTo>
                  <a:lnTo>
                    <a:pt x="614244" y="1475854"/>
                  </a:lnTo>
                  <a:lnTo>
                    <a:pt x="658955" y="1495428"/>
                  </a:lnTo>
                  <a:lnTo>
                    <a:pt x="704922" y="1511542"/>
                  </a:lnTo>
                  <a:lnTo>
                    <a:pt x="751940" y="1524140"/>
                  </a:lnTo>
                  <a:lnTo>
                    <a:pt x="799804" y="1533163"/>
                  </a:lnTo>
                  <a:lnTo>
                    <a:pt x="848311" y="1538555"/>
                  </a:lnTo>
                  <a:lnTo>
                    <a:pt x="897254" y="1540256"/>
                  </a:lnTo>
                  <a:lnTo>
                    <a:pt x="1031494" y="1790446"/>
                  </a:lnTo>
                  <a:lnTo>
                    <a:pt x="1224788" y="1738630"/>
                  </a:lnTo>
                  <a:lnTo>
                    <a:pt x="1216025" y="1454785"/>
                  </a:lnTo>
                  <a:lnTo>
                    <a:pt x="1219069" y="1452880"/>
                  </a:lnTo>
                  <a:close/>
                </a:path>
                <a:path w="1790700" h="1790700">
                  <a:moveTo>
                    <a:pt x="51815" y="565658"/>
                  </a:moveTo>
                  <a:lnTo>
                    <a:pt x="0" y="758952"/>
                  </a:lnTo>
                  <a:lnTo>
                    <a:pt x="250189" y="893191"/>
                  </a:lnTo>
                  <a:lnTo>
                    <a:pt x="251890" y="942134"/>
                  </a:lnTo>
                  <a:lnTo>
                    <a:pt x="257282" y="990641"/>
                  </a:lnTo>
                  <a:lnTo>
                    <a:pt x="266305" y="1038505"/>
                  </a:lnTo>
                  <a:lnTo>
                    <a:pt x="278903" y="1085523"/>
                  </a:lnTo>
                  <a:lnTo>
                    <a:pt x="295017" y="1131490"/>
                  </a:lnTo>
                  <a:lnTo>
                    <a:pt x="314591" y="1176201"/>
                  </a:lnTo>
                  <a:lnTo>
                    <a:pt x="337565" y="1219454"/>
                  </a:lnTo>
                  <a:lnTo>
                    <a:pt x="188087" y="1460881"/>
                  </a:lnTo>
                  <a:lnTo>
                    <a:pt x="329564" y="1602359"/>
                  </a:lnTo>
                  <a:lnTo>
                    <a:pt x="570991" y="1452880"/>
                  </a:lnTo>
                  <a:lnTo>
                    <a:pt x="1219069" y="1452880"/>
                  </a:lnTo>
                  <a:lnTo>
                    <a:pt x="1257529" y="1428816"/>
                  </a:lnTo>
                  <a:lnTo>
                    <a:pt x="1296816" y="1399886"/>
                  </a:lnTo>
                  <a:lnTo>
                    <a:pt x="1333737" y="1368143"/>
                  </a:lnTo>
                  <a:lnTo>
                    <a:pt x="1368143" y="1333737"/>
                  </a:lnTo>
                  <a:lnTo>
                    <a:pt x="1399886" y="1296816"/>
                  </a:lnTo>
                  <a:lnTo>
                    <a:pt x="1428816" y="1257529"/>
                  </a:lnTo>
                  <a:lnTo>
                    <a:pt x="1454785" y="1216025"/>
                  </a:lnTo>
                  <a:lnTo>
                    <a:pt x="1740979" y="1216025"/>
                  </a:lnTo>
                  <a:lnTo>
                    <a:pt x="1790446" y="1031494"/>
                  </a:lnTo>
                  <a:lnTo>
                    <a:pt x="1540255" y="897255"/>
                  </a:lnTo>
                  <a:lnTo>
                    <a:pt x="1538555" y="848311"/>
                  </a:lnTo>
                  <a:lnTo>
                    <a:pt x="1533163" y="799804"/>
                  </a:lnTo>
                  <a:lnTo>
                    <a:pt x="1524140" y="751940"/>
                  </a:lnTo>
                  <a:lnTo>
                    <a:pt x="1511542" y="704922"/>
                  </a:lnTo>
                  <a:lnTo>
                    <a:pt x="1495428" y="658955"/>
                  </a:lnTo>
                  <a:lnTo>
                    <a:pt x="1475854" y="614244"/>
                  </a:lnTo>
                  <a:lnTo>
                    <a:pt x="1454701" y="574421"/>
                  </a:lnTo>
                  <a:lnTo>
                    <a:pt x="335661" y="574421"/>
                  </a:lnTo>
                  <a:lnTo>
                    <a:pt x="51815" y="565658"/>
                  </a:lnTo>
                  <a:close/>
                </a:path>
                <a:path w="1790700" h="1790700">
                  <a:moveTo>
                    <a:pt x="1740979" y="1216025"/>
                  </a:moveTo>
                  <a:lnTo>
                    <a:pt x="1454785" y="1216025"/>
                  </a:lnTo>
                  <a:lnTo>
                    <a:pt x="1738629" y="1224788"/>
                  </a:lnTo>
                  <a:lnTo>
                    <a:pt x="1740979" y="1216025"/>
                  </a:lnTo>
                  <a:close/>
                </a:path>
                <a:path w="1790700" h="1790700">
                  <a:moveTo>
                    <a:pt x="758951" y="0"/>
                  </a:moveTo>
                  <a:lnTo>
                    <a:pt x="565658" y="51816"/>
                  </a:lnTo>
                  <a:lnTo>
                    <a:pt x="574421" y="335661"/>
                  </a:lnTo>
                  <a:lnTo>
                    <a:pt x="532916" y="361629"/>
                  </a:lnTo>
                  <a:lnTo>
                    <a:pt x="493629" y="390559"/>
                  </a:lnTo>
                  <a:lnTo>
                    <a:pt x="456708" y="422302"/>
                  </a:lnTo>
                  <a:lnTo>
                    <a:pt x="422302" y="456708"/>
                  </a:lnTo>
                  <a:lnTo>
                    <a:pt x="390559" y="493629"/>
                  </a:lnTo>
                  <a:lnTo>
                    <a:pt x="361629" y="532916"/>
                  </a:lnTo>
                  <a:lnTo>
                    <a:pt x="335661" y="574421"/>
                  </a:lnTo>
                  <a:lnTo>
                    <a:pt x="1454701" y="574421"/>
                  </a:lnTo>
                  <a:lnTo>
                    <a:pt x="1452879" y="570992"/>
                  </a:lnTo>
                  <a:lnTo>
                    <a:pt x="1597405" y="337566"/>
                  </a:lnTo>
                  <a:lnTo>
                    <a:pt x="1219453" y="337566"/>
                  </a:lnTo>
                  <a:lnTo>
                    <a:pt x="1176201" y="314591"/>
                  </a:lnTo>
                  <a:lnTo>
                    <a:pt x="1131490" y="295017"/>
                  </a:lnTo>
                  <a:lnTo>
                    <a:pt x="1085523" y="278903"/>
                  </a:lnTo>
                  <a:lnTo>
                    <a:pt x="1038505" y="266305"/>
                  </a:lnTo>
                  <a:lnTo>
                    <a:pt x="990641" y="257282"/>
                  </a:lnTo>
                  <a:lnTo>
                    <a:pt x="942134" y="251890"/>
                  </a:lnTo>
                  <a:lnTo>
                    <a:pt x="893190" y="250190"/>
                  </a:lnTo>
                  <a:lnTo>
                    <a:pt x="758951" y="0"/>
                  </a:lnTo>
                  <a:close/>
                </a:path>
                <a:path w="1790700" h="1790700">
                  <a:moveTo>
                    <a:pt x="1460881" y="188087"/>
                  </a:moveTo>
                  <a:lnTo>
                    <a:pt x="1219453" y="337566"/>
                  </a:lnTo>
                  <a:lnTo>
                    <a:pt x="1597405" y="337566"/>
                  </a:lnTo>
                  <a:lnTo>
                    <a:pt x="1602358" y="329565"/>
                  </a:lnTo>
                  <a:lnTo>
                    <a:pt x="1460881" y="188087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030851" y="2127630"/>
              <a:ext cx="1790700" cy="1790700"/>
            </a:xfrm>
            <a:custGeom>
              <a:avLst/>
              <a:gdLst/>
              <a:ahLst/>
              <a:cxnLst/>
              <a:rect l="l" t="t" r="r" b="b"/>
              <a:pathLst>
                <a:path w="1790700" h="1790700">
                  <a:moveTo>
                    <a:pt x="1219453" y="337566"/>
                  </a:moveTo>
                  <a:lnTo>
                    <a:pt x="1460881" y="188087"/>
                  </a:lnTo>
                  <a:lnTo>
                    <a:pt x="1602358" y="329565"/>
                  </a:lnTo>
                  <a:lnTo>
                    <a:pt x="1452879" y="570992"/>
                  </a:lnTo>
                  <a:lnTo>
                    <a:pt x="1475854" y="614244"/>
                  </a:lnTo>
                  <a:lnTo>
                    <a:pt x="1495428" y="658955"/>
                  </a:lnTo>
                  <a:lnTo>
                    <a:pt x="1511542" y="704922"/>
                  </a:lnTo>
                  <a:lnTo>
                    <a:pt x="1524140" y="751940"/>
                  </a:lnTo>
                  <a:lnTo>
                    <a:pt x="1533163" y="799804"/>
                  </a:lnTo>
                  <a:lnTo>
                    <a:pt x="1538555" y="848311"/>
                  </a:lnTo>
                  <a:lnTo>
                    <a:pt x="1540255" y="897255"/>
                  </a:lnTo>
                  <a:lnTo>
                    <a:pt x="1790446" y="1031494"/>
                  </a:lnTo>
                  <a:lnTo>
                    <a:pt x="1738629" y="1224788"/>
                  </a:lnTo>
                  <a:lnTo>
                    <a:pt x="1454785" y="1216025"/>
                  </a:lnTo>
                  <a:lnTo>
                    <a:pt x="1428816" y="1257529"/>
                  </a:lnTo>
                  <a:lnTo>
                    <a:pt x="1399886" y="1296816"/>
                  </a:lnTo>
                  <a:lnTo>
                    <a:pt x="1368143" y="1333737"/>
                  </a:lnTo>
                  <a:lnTo>
                    <a:pt x="1333737" y="1368143"/>
                  </a:lnTo>
                  <a:lnTo>
                    <a:pt x="1296816" y="1399886"/>
                  </a:lnTo>
                  <a:lnTo>
                    <a:pt x="1257529" y="1428816"/>
                  </a:lnTo>
                  <a:lnTo>
                    <a:pt x="1216025" y="1454785"/>
                  </a:lnTo>
                  <a:lnTo>
                    <a:pt x="1224788" y="1738630"/>
                  </a:lnTo>
                  <a:lnTo>
                    <a:pt x="1031494" y="1790446"/>
                  </a:lnTo>
                  <a:lnTo>
                    <a:pt x="897254" y="1540256"/>
                  </a:lnTo>
                  <a:lnTo>
                    <a:pt x="848311" y="1538555"/>
                  </a:lnTo>
                  <a:lnTo>
                    <a:pt x="799804" y="1533163"/>
                  </a:lnTo>
                  <a:lnTo>
                    <a:pt x="751940" y="1524140"/>
                  </a:lnTo>
                  <a:lnTo>
                    <a:pt x="704922" y="1511542"/>
                  </a:lnTo>
                  <a:lnTo>
                    <a:pt x="658955" y="1495428"/>
                  </a:lnTo>
                  <a:lnTo>
                    <a:pt x="614244" y="1475854"/>
                  </a:lnTo>
                  <a:lnTo>
                    <a:pt x="570991" y="1452880"/>
                  </a:lnTo>
                  <a:lnTo>
                    <a:pt x="329564" y="1602359"/>
                  </a:lnTo>
                  <a:lnTo>
                    <a:pt x="188087" y="1460881"/>
                  </a:lnTo>
                  <a:lnTo>
                    <a:pt x="337565" y="1219454"/>
                  </a:lnTo>
                  <a:lnTo>
                    <a:pt x="314591" y="1176201"/>
                  </a:lnTo>
                  <a:lnTo>
                    <a:pt x="295017" y="1131490"/>
                  </a:lnTo>
                  <a:lnTo>
                    <a:pt x="278903" y="1085523"/>
                  </a:lnTo>
                  <a:lnTo>
                    <a:pt x="266305" y="1038505"/>
                  </a:lnTo>
                  <a:lnTo>
                    <a:pt x="257282" y="990641"/>
                  </a:lnTo>
                  <a:lnTo>
                    <a:pt x="251890" y="942134"/>
                  </a:lnTo>
                  <a:lnTo>
                    <a:pt x="250189" y="893191"/>
                  </a:lnTo>
                  <a:lnTo>
                    <a:pt x="0" y="758952"/>
                  </a:lnTo>
                  <a:lnTo>
                    <a:pt x="51815" y="565658"/>
                  </a:lnTo>
                  <a:lnTo>
                    <a:pt x="335661" y="574421"/>
                  </a:lnTo>
                  <a:lnTo>
                    <a:pt x="361629" y="532916"/>
                  </a:lnTo>
                  <a:lnTo>
                    <a:pt x="390559" y="493629"/>
                  </a:lnTo>
                  <a:lnTo>
                    <a:pt x="422302" y="456708"/>
                  </a:lnTo>
                  <a:lnTo>
                    <a:pt x="456708" y="422302"/>
                  </a:lnTo>
                  <a:lnTo>
                    <a:pt x="493629" y="390559"/>
                  </a:lnTo>
                  <a:lnTo>
                    <a:pt x="532916" y="361629"/>
                  </a:lnTo>
                  <a:lnTo>
                    <a:pt x="574421" y="335661"/>
                  </a:lnTo>
                  <a:lnTo>
                    <a:pt x="565658" y="51816"/>
                  </a:lnTo>
                  <a:lnTo>
                    <a:pt x="758951" y="0"/>
                  </a:lnTo>
                  <a:lnTo>
                    <a:pt x="893190" y="250190"/>
                  </a:lnTo>
                  <a:lnTo>
                    <a:pt x="942134" y="251890"/>
                  </a:lnTo>
                  <a:lnTo>
                    <a:pt x="990641" y="257282"/>
                  </a:lnTo>
                  <a:lnTo>
                    <a:pt x="1038505" y="266305"/>
                  </a:lnTo>
                  <a:lnTo>
                    <a:pt x="1085523" y="278903"/>
                  </a:lnTo>
                  <a:lnTo>
                    <a:pt x="1131490" y="295017"/>
                  </a:lnTo>
                  <a:lnTo>
                    <a:pt x="1176201" y="314591"/>
                  </a:lnTo>
                  <a:lnTo>
                    <a:pt x="1219453" y="337566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668888" y="2564385"/>
            <a:ext cx="1102756" cy="859851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indent="-2540" algn="ctr">
              <a:lnSpc>
                <a:spcPts val="1620"/>
              </a:lnSpc>
              <a:spcBef>
                <a:spcPts val="305"/>
              </a:spcBef>
            </a:pP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Obbligo</a:t>
            </a:r>
            <a:r>
              <a:rPr sz="15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Calibri"/>
                <a:cs typeface="Calibri"/>
              </a:rPr>
              <a:t>di </a:t>
            </a: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contenuti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digitali</a:t>
            </a:r>
            <a:r>
              <a:rPr sz="15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Calibri"/>
                <a:cs typeface="Calibri"/>
              </a:rPr>
              <a:t>per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le</a:t>
            </a: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25" dirty="0">
                <a:solidFill>
                  <a:srgbClr val="FFFFFF"/>
                </a:solidFill>
                <a:latin typeface="Calibri"/>
                <a:cs typeface="Calibri"/>
              </a:rPr>
              <a:t>PA</a:t>
            </a:r>
            <a:endParaRPr sz="1500" dirty="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072334" y="3706294"/>
            <a:ext cx="1286828" cy="2674620"/>
          </a:xfrm>
          <a:custGeom>
            <a:avLst/>
            <a:gdLst/>
            <a:ahLst/>
            <a:cxnLst/>
            <a:rect l="l" t="t" r="r" b="b"/>
            <a:pathLst>
              <a:path w="1715770" h="2674620">
                <a:moveTo>
                  <a:pt x="163195" y="0"/>
                </a:moveTo>
                <a:lnTo>
                  <a:pt x="122336" y="545"/>
                </a:lnTo>
                <a:lnTo>
                  <a:pt x="81502" y="2174"/>
                </a:lnTo>
                <a:lnTo>
                  <a:pt x="40715" y="4875"/>
                </a:lnTo>
                <a:lnTo>
                  <a:pt x="0" y="8636"/>
                </a:lnTo>
                <a:lnTo>
                  <a:pt x="16255" y="162941"/>
                </a:lnTo>
                <a:lnTo>
                  <a:pt x="52949" y="159587"/>
                </a:lnTo>
                <a:lnTo>
                  <a:pt x="89677" y="157162"/>
                </a:lnTo>
                <a:lnTo>
                  <a:pt x="126430" y="155690"/>
                </a:lnTo>
                <a:lnTo>
                  <a:pt x="163195" y="155194"/>
                </a:lnTo>
                <a:lnTo>
                  <a:pt x="211228" y="156004"/>
                </a:lnTo>
                <a:lnTo>
                  <a:pt x="258855" y="158417"/>
                </a:lnTo>
                <a:lnTo>
                  <a:pt x="306049" y="162406"/>
                </a:lnTo>
                <a:lnTo>
                  <a:pt x="352785" y="167947"/>
                </a:lnTo>
                <a:lnTo>
                  <a:pt x="399036" y="175012"/>
                </a:lnTo>
                <a:lnTo>
                  <a:pt x="444776" y="183577"/>
                </a:lnTo>
                <a:lnTo>
                  <a:pt x="489979" y="193614"/>
                </a:lnTo>
                <a:lnTo>
                  <a:pt x="534620" y="205097"/>
                </a:lnTo>
                <a:lnTo>
                  <a:pt x="578672" y="218002"/>
                </a:lnTo>
                <a:lnTo>
                  <a:pt x="622110" y="232302"/>
                </a:lnTo>
                <a:lnTo>
                  <a:pt x="664906" y="247970"/>
                </a:lnTo>
                <a:lnTo>
                  <a:pt x="707036" y="264981"/>
                </a:lnTo>
                <a:lnTo>
                  <a:pt x="748474" y="283309"/>
                </a:lnTo>
                <a:lnTo>
                  <a:pt x="789192" y="302928"/>
                </a:lnTo>
                <a:lnTo>
                  <a:pt x="829166" y="323811"/>
                </a:lnTo>
                <a:lnTo>
                  <a:pt x="868369" y="345933"/>
                </a:lnTo>
                <a:lnTo>
                  <a:pt x="906775" y="369268"/>
                </a:lnTo>
                <a:lnTo>
                  <a:pt x="944359" y="393790"/>
                </a:lnTo>
                <a:lnTo>
                  <a:pt x="981094" y="419473"/>
                </a:lnTo>
                <a:lnTo>
                  <a:pt x="1016954" y="446290"/>
                </a:lnTo>
                <a:lnTo>
                  <a:pt x="1051914" y="474216"/>
                </a:lnTo>
                <a:lnTo>
                  <a:pt x="1085946" y="503225"/>
                </a:lnTo>
                <a:lnTo>
                  <a:pt x="1119026" y="533291"/>
                </a:lnTo>
                <a:lnTo>
                  <a:pt x="1151127" y="564388"/>
                </a:lnTo>
                <a:lnTo>
                  <a:pt x="1182224" y="596489"/>
                </a:lnTo>
                <a:lnTo>
                  <a:pt x="1212290" y="629569"/>
                </a:lnTo>
                <a:lnTo>
                  <a:pt x="1241299" y="663601"/>
                </a:lnTo>
                <a:lnTo>
                  <a:pt x="1269225" y="698561"/>
                </a:lnTo>
                <a:lnTo>
                  <a:pt x="1296042" y="734421"/>
                </a:lnTo>
                <a:lnTo>
                  <a:pt x="1321725" y="771156"/>
                </a:lnTo>
                <a:lnTo>
                  <a:pt x="1346247" y="808740"/>
                </a:lnTo>
                <a:lnTo>
                  <a:pt x="1369582" y="847146"/>
                </a:lnTo>
                <a:lnTo>
                  <a:pt x="1391704" y="886349"/>
                </a:lnTo>
                <a:lnTo>
                  <a:pt x="1412587" y="926323"/>
                </a:lnTo>
                <a:lnTo>
                  <a:pt x="1432206" y="967041"/>
                </a:lnTo>
                <a:lnTo>
                  <a:pt x="1450534" y="1008479"/>
                </a:lnTo>
                <a:lnTo>
                  <a:pt x="1467545" y="1050609"/>
                </a:lnTo>
                <a:lnTo>
                  <a:pt x="1483213" y="1093405"/>
                </a:lnTo>
                <a:lnTo>
                  <a:pt x="1497513" y="1136843"/>
                </a:lnTo>
                <a:lnTo>
                  <a:pt x="1510418" y="1180895"/>
                </a:lnTo>
                <a:lnTo>
                  <a:pt x="1521901" y="1225536"/>
                </a:lnTo>
                <a:lnTo>
                  <a:pt x="1531938" y="1270739"/>
                </a:lnTo>
                <a:lnTo>
                  <a:pt x="1540503" y="1316479"/>
                </a:lnTo>
                <a:lnTo>
                  <a:pt x="1547568" y="1362730"/>
                </a:lnTo>
                <a:lnTo>
                  <a:pt x="1553109" y="1409466"/>
                </a:lnTo>
                <a:lnTo>
                  <a:pt x="1557098" y="1456660"/>
                </a:lnTo>
                <a:lnTo>
                  <a:pt x="1559511" y="1504287"/>
                </a:lnTo>
                <a:lnTo>
                  <a:pt x="1560322" y="1552321"/>
                </a:lnTo>
                <a:lnTo>
                  <a:pt x="1559461" y="1601362"/>
                </a:lnTo>
                <a:lnTo>
                  <a:pt x="1556890" y="1650198"/>
                </a:lnTo>
                <a:lnTo>
                  <a:pt x="1552625" y="1698788"/>
                </a:lnTo>
                <a:lnTo>
                  <a:pt x="1546681" y="1747089"/>
                </a:lnTo>
                <a:lnTo>
                  <a:pt x="1539074" y="1795061"/>
                </a:lnTo>
                <a:lnTo>
                  <a:pt x="1529819" y="1842663"/>
                </a:lnTo>
                <a:lnTo>
                  <a:pt x="1518934" y="1889854"/>
                </a:lnTo>
                <a:lnTo>
                  <a:pt x="1506432" y="1936592"/>
                </a:lnTo>
                <a:lnTo>
                  <a:pt x="1492331" y="1982837"/>
                </a:lnTo>
                <a:lnTo>
                  <a:pt x="1476646" y="2028546"/>
                </a:lnTo>
                <a:lnTo>
                  <a:pt x="1459393" y="2073680"/>
                </a:lnTo>
                <a:lnTo>
                  <a:pt x="1440588" y="2118196"/>
                </a:lnTo>
                <a:lnTo>
                  <a:pt x="1420245" y="2162055"/>
                </a:lnTo>
                <a:lnTo>
                  <a:pt x="1398382" y="2205213"/>
                </a:lnTo>
                <a:lnTo>
                  <a:pt x="1375014" y="2247632"/>
                </a:lnTo>
                <a:lnTo>
                  <a:pt x="1350157" y="2289268"/>
                </a:lnTo>
                <a:lnTo>
                  <a:pt x="1323827" y="2330082"/>
                </a:lnTo>
                <a:lnTo>
                  <a:pt x="1296039" y="2370031"/>
                </a:lnTo>
                <a:lnTo>
                  <a:pt x="1266809" y="2409076"/>
                </a:lnTo>
                <a:lnTo>
                  <a:pt x="1236153" y="2447174"/>
                </a:lnTo>
                <a:lnTo>
                  <a:pt x="1204087" y="2484285"/>
                </a:lnTo>
                <a:lnTo>
                  <a:pt x="1133855" y="2408682"/>
                </a:lnTo>
                <a:lnTo>
                  <a:pt x="1167002" y="2632659"/>
                </a:lnTo>
                <a:lnTo>
                  <a:pt x="1380363" y="2674035"/>
                </a:lnTo>
                <a:lnTo>
                  <a:pt x="1310131" y="2598420"/>
                </a:lnTo>
                <a:lnTo>
                  <a:pt x="1343479" y="2560632"/>
                </a:lnTo>
                <a:lnTo>
                  <a:pt x="1375496" y="2521892"/>
                </a:lnTo>
                <a:lnTo>
                  <a:pt x="1406169" y="2482235"/>
                </a:lnTo>
                <a:lnTo>
                  <a:pt x="1435482" y="2441700"/>
                </a:lnTo>
                <a:lnTo>
                  <a:pt x="1463423" y="2400320"/>
                </a:lnTo>
                <a:lnTo>
                  <a:pt x="1489976" y="2358132"/>
                </a:lnTo>
                <a:lnTo>
                  <a:pt x="1515129" y="2315173"/>
                </a:lnTo>
                <a:lnTo>
                  <a:pt x="1538866" y="2271478"/>
                </a:lnTo>
                <a:lnTo>
                  <a:pt x="1561174" y="2227084"/>
                </a:lnTo>
                <a:lnTo>
                  <a:pt x="1582038" y="2182026"/>
                </a:lnTo>
                <a:lnTo>
                  <a:pt x="1601445" y="2136341"/>
                </a:lnTo>
                <a:lnTo>
                  <a:pt x="1619380" y="2090065"/>
                </a:lnTo>
                <a:lnTo>
                  <a:pt x="1635830" y="2043233"/>
                </a:lnTo>
                <a:lnTo>
                  <a:pt x="1650780" y="1995883"/>
                </a:lnTo>
                <a:lnTo>
                  <a:pt x="1664216" y="1948049"/>
                </a:lnTo>
                <a:lnTo>
                  <a:pt x="1676124" y="1899769"/>
                </a:lnTo>
                <a:lnTo>
                  <a:pt x="1686491" y="1851077"/>
                </a:lnTo>
                <a:lnTo>
                  <a:pt x="1695301" y="1802011"/>
                </a:lnTo>
                <a:lnTo>
                  <a:pt x="1702540" y="1752606"/>
                </a:lnTo>
                <a:lnTo>
                  <a:pt x="1708196" y="1702898"/>
                </a:lnTo>
                <a:lnTo>
                  <a:pt x="1712253" y="1652924"/>
                </a:lnTo>
                <a:lnTo>
                  <a:pt x="1714698" y="1602719"/>
                </a:lnTo>
                <a:lnTo>
                  <a:pt x="1715516" y="1552321"/>
                </a:lnTo>
                <a:lnTo>
                  <a:pt x="1714777" y="1503967"/>
                </a:lnTo>
                <a:lnTo>
                  <a:pt x="1712575" y="1455981"/>
                </a:lnTo>
                <a:lnTo>
                  <a:pt x="1708932" y="1408386"/>
                </a:lnTo>
                <a:lnTo>
                  <a:pt x="1703869" y="1361202"/>
                </a:lnTo>
                <a:lnTo>
                  <a:pt x="1697408" y="1314451"/>
                </a:lnTo>
                <a:lnTo>
                  <a:pt x="1689569" y="1268154"/>
                </a:lnTo>
                <a:lnTo>
                  <a:pt x="1680375" y="1222332"/>
                </a:lnTo>
                <a:lnTo>
                  <a:pt x="1669846" y="1177008"/>
                </a:lnTo>
                <a:lnTo>
                  <a:pt x="1658005" y="1132203"/>
                </a:lnTo>
                <a:lnTo>
                  <a:pt x="1644873" y="1087937"/>
                </a:lnTo>
                <a:lnTo>
                  <a:pt x="1630470" y="1044234"/>
                </a:lnTo>
                <a:lnTo>
                  <a:pt x="1614820" y="1001113"/>
                </a:lnTo>
                <a:lnTo>
                  <a:pt x="1597943" y="958597"/>
                </a:lnTo>
                <a:lnTo>
                  <a:pt x="1579860" y="916706"/>
                </a:lnTo>
                <a:lnTo>
                  <a:pt x="1560593" y="875463"/>
                </a:lnTo>
                <a:lnTo>
                  <a:pt x="1540164" y="834889"/>
                </a:lnTo>
                <a:lnTo>
                  <a:pt x="1518594" y="795005"/>
                </a:lnTo>
                <a:lnTo>
                  <a:pt x="1495904" y="755834"/>
                </a:lnTo>
                <a:lnTo>
                  <a:pt x="1472116" y="717395"/>
                </a:lnTo>
                <a:lnTo>
                  <a:pt x="1447251" y="679711"/>
                </a:lnTo>
                <a:lnTo>
                  <a:pt x="1421332" y="642803"/>
                </a:lnTo>
                <a:lnTo>
                  <a:pt x="1394378" y="606693"/>
                </a:lnTo>
                <a:lnTo>
                  <a:pt x="1366413" y="571402"/>
                </a:lnTo>
                <a:lnTo>
                  <a:pt x="1337456" y="536952"/>
                </a:lnTo>
                <a:lnTo>
                  <a:pt x="1307531" y="503363"/>
                </a:lnTo>
                <a:lnTo>
                  <a:pt x="1276657" y="470658"/>
                </a:lnTo>
                <a:lnTo>
                  <a:pt x="1244857" y="438858"/>
                </a:lnTo>
                <a:lnTo>
                  <a:pt x="1212152" y="407984"/>
                </a:lnTo>
                <a:lnTo>
                  <a:pt x="1178563" y="378059"/>
                </a:lnTo>
                <a:lnTo>
                  <a:pt x="1144113" y="349102"/>
                </a:lnTo>
                <a:lnTo>
                  <a:pt x="1108822" y="321137"/>
                </a:lnTo>
                <a:lnTo>
                  <a:pt x="1072712" y="294183"/>
                </a:lnTo>
                <a:lnTo>
                  <a:pt x="1035804" y="268264"/>
                </a:lnTo>
                <a:lnTo>
                  <a:pt x="998120" y="243399"/>
                </a:lnTo>
                <a:lnTo>
                  <a:pt x="959681" y="219611"/>
                </a:lnTo>
                <a:lnTo>
                  <a:pt x="920510" y="196921"/>
                </a:lnTo>
                <a:lnTo>
                  <a:pt x="880626" y="175351"/>
                </a:lnTo>
                <a:lnTo>
                  <a:pt x="840052" y="154922"/>
                </a:lnTo>
                <a:lnTo>
                  <a:pt x="798809" y="135655"/>
                </a:lnTo>
                <a:lnTo>
                  <a:pt x="756918" y="117572"/>
                </a:lnTo>
                <a:lnTo>
                  <a:pt x="714402" y="100695"/>
                </a:lnTo>
                <a:lnTo>
                  <a:pt x="671281" y="85045"/>
                </a:lnTo>
                <a:lnTo>
                  <a:pt x="627578" y="70642"/>
                </a:lnTo>
                <a:lnTo>
                  <a:pt x="583312" y="57510"/>
                </a:lnTo>
                <a:lnTo>
                  <a:pt x="538507" y="45669"/>
                </a:lnTo>
                <a:lnTo>
                  <a:pt x="493183" y="35140"/>
                </a:lnTo>
                <a:lnTo>
                  <a:pt x="447361" y="25946"/>
                </a:lnTo>
                <a:lnTo>
                  <a:pt x="401064" y="18107"/>
                </a:lnTo>
                <a:lnTo>
                  <a:pt x="354313" y="11646"/>
                </a:lnTo>
                <a:lnTo>
                  <a:pt x="307129" y="6583"/>
                </a:lnTo>
                <a:lnTo>
                  <a:pt x="259534" y="2940"/>
                </a:lnTo>
                <a:lnTo>
                  <a:pt x="211548" y="738"/>
                </a:lnTo>
                <a:lnTo>
                  <a:pt x="163195" y="0"/>
                </a:lnTo>
                <a:close/>
              </a:path>
            </a:pathLst>
          </a:custGeom>
          <a:solidFill>
            <a:srgbClr val="AFBB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763041" y="1878075"/>
            <a:ext cx="1905847" cy="2289810"/>
          </a:xfrm>
          <a:custGeom>
            <a:avLst/>
            <a:gdLst/>
            <a:ahLst/>
            <a:cxnLst/>
            <a:rect l="l" t="t" r="r" b="b"/>
            <a:pathLst>
              <a:path w="1538604" h="2289810">
                <a:moveTo>
                  <a:pt x="830326" y="1200531"/>
                </a:moveTo>
                <a:lnTo>
                  <a:pt x="770382" y="1057402"/>
                </a:lnTo>
                <a:lnTo>
                  <a:pt x="725512" y="1077328"/>
                </a:lnTo>
                <a:lnTo>
                  <a:pt x="681875" y="1099083"/>
                </a:lnTo>
                <a:lnTo>
                  <a:pt x="639483" y="1122616"/>
                </a:lnTo>
                <a:lnTo>
                  <a:pt x="598373" y="1147851"/>
                </a:lnTo>
                <a:lnTo>
                  <a:pt x="558596" y="1174737"/>
                </a:lnTo>
                <a:lnTo>
                  <a:pt x="520179" y="1203236"/>
                </a:lnTo>
                <a:lnTo>
                  <a:pt x="483171" y="1233271"/>
                </a:lnTo>
                <a:lnTo>
                  <a:pt x="447598" y="1264805"/>
                </a:lnTo>
                <a:lnTo>
                  <a:pt x="413499" y="1297762"/>
                </a:lnTo>
                <a:lnTo>
                  <a:pt x="380923" y="1332090"/>
                </a:lnTo>
                <a:lnTo>
                  <a:pt x="349885" y="1367751"/>
                </a:lnTo>
                <a:lnTo>
                  <a:pt x="320446" y="1404658"/>
                </a:lnTo>
                <a:lnTo>
                  <a:pt x="292633" y="1442770"/>
                </a:lnTo>
                <a:lnTo>
                  <a:pt x="266484" y="1482039"/>
                </a:lnTo>
                <a:lnTo>
                  <a:pt x="242036" y="1522399"/>
                </a:lnTo>
                <a:lnTo>
                  <a:pt x="219329" y="1563789"/>
                </a:lnTo>
                <a:lnTo>
                  <a:pt x="198399" y="1606156"/>
                </a:lnTo>
                <a:lnTo>
                  <a:pt x="179285" y="1649450"/>
                </a:lnTo>
                <a:lnTo>
                  <a:pt x="162013" y="1693608"/>
                </a:lnTo>
                <a:lnTo>
                  <a:pt x="146621" y="1738642"/>
                </a:lnTo>
                <a:lnTo>
                  <a:pt x="133197" y="1784299"/>
                </a:lnTo>
                <a:lnTo>
                  <a:pt x="121716" y="1830717"/>
                </a:lnTo>
                <a:lnTo>
                  <a:pt x="112242" y="1877771"/>
                </a:lnTo>
                <a:lnTo>
                  <a:pt x="104800" y="1925408"/>
                </a:lnTo>
                <a:lnTo>
                  <a:pt x="99453" y="1973567"/>
                </a:lnTo>
                <a:lnTo>
                  <a:pt x="96202" y="2022208"/>
                </a:lnTo>
                <a:lnTo>
                  <a:pt x="95123" y="2071243"/>
                </a:lnTo>
                <a:lnTo>
                  <a:pt x="95453" y="2098509"/>
                </a:lnTo>
                <a:lnTo>
                  <a:pt x="96469" y="2125776"/>
                </a:lnTo>
                <a:lnTo>
                  <a:pt x="98171" y="2153031"/>
                </a:lnTo>
                <a:lnTo>
                  <a:pt x="100584" y="2180209"/>
                </a:lnTo>
                <a:lnTo>
                  <a:pt x="0" y="2202180"/>
                </a:lnTo>
                <a:lnTo>
                  <a:pt x="196342" y="2289683"/>
                </a:lnTo>
                <a:lnTo>
                  <a:pt x="332828" y="2146808"/>
                </a:lnTo>
                <a:lnTo>
                  <a:pt x="353822" y="2124837"/>
                </a:lnTo>
                <a:lnTo>
                  <a:pt x="253365" y="2146808"/>
                </a:lnTo>
                <a:lnTo>
                  <a:pt x="252031" y="2127935"/>
                </a:lnTo>
                <a:lnTo>
                  <a:pt x="251079" y="2109025"/>
                </a:lnTo>
                <a:lnTo>
                  <a:pt x="250507" y="2090127"/>
                </a:lnTo>
                <a:lnTo>
                  <a:pt x="250317" y="2071243"/>
                </a:lnTo>
                <a:lnTo>
                  <a:pt x="251599" y="2021840"/>
                </a:lnTo>
                <a:lnTo>
                  <a:pt x="255435" y="1972932"/>
                </a:lnTo>
                <a:lnTo>
                  <a:pt x="261747" y="1924608"/>
                </a:lnTo>
                <a:lnTo>
                  <a:pt x="270510" y="1876933"/>
                </a:lnTo>
                <a:lnTo>
                  <a:pt x="281647" y="1829993"/>
                </a:lnTo>
                <a:lnTo>
                  <a:pt x="295122" y="1783880"/>
                </a:lnTo>
                <a:lnTo>
                  <a:pt x="310908" y="1738579"/>
                </a:lnTo>
                <a:lnTo>
                  <a:pt x="328853" y="1694383"/>
                </a:lnTo>
                <a:lnTo>
                  <a:pt x="349021" y="1651177"/>
                </a:lnTo>
                <a:lnTo>
                  <a:pt x="371297" y="1609090"/>
                </a:lnTo>
                <a:lnTo>
                  <a:pt x="395643" y="1568221"/>
                </a:lnTo>
                <a:lnTo>
                  <a:pt x="422021" y="1528635"/>
                </a:lnTo>
                <a:lnTo>
                  <a:pt x="450354" y="1490408"/>
                </a:lnTo>
                <a:lnTo>
                  <a:pt x="480606" y="1453629"/>
                </a:lnTo>
                <a:lnTo>
                  <a:pt x="512711" y="1418374"/>
                </a:lnTo>
                <a:lnTo>
                  <a:pt x="546633" y="1384719"/>
                </a:lnTo>
                <a:lnTo>
                  <a:pt x="582307" y="1352740"/>
                </a:lnTo>
                <a:lnTo>
                  <a:pt x="619683" y="1322514"/>
                </a:lnTo>
                <a:lnTo>
                  <a:pt x="658723" y="1294130"/>
                </a:lnTo>
                <a:lnTo>
                  <a:pt x="699350" y="1267663"/>
                </a:lnTo>
                <a:lnTo>
                  <a:pt x="741527" y="1243190"/>
                </a:lnTo>
                <a:lnTo>
                  <a:pt x="785202" y="1220787"/>
                </a:lnTo>
                <a:lnTo>
                  <a:pt x="830326" y="1200531"/>
                </a:lnTo>
                <a:close/>
              </a:path>
              <a:path w="1538604" h="2289810">
                <a:moveTo>
                  <a:pt x="1538097" y="271018"/>
                </a:moveTo>
                <a:lnTo>
                  <a:pt x="1528064" y="193929"/>
                </a:lnTo>
                <a:lnTo>
                  <a:pt x="1508760" y="45466"/>
                </a:lnTo>
                <a:lnTo>
                  <a:pt x="1298067" y="0"/>
                </a:lnTo>
                <a:lnTo>
                  <a:pt x="1366266" y="77089"/>
                </a:lnTo>
                <a:lnTo>
                  <a:pt x="1333728" y="114325"/>
                </a:lnTo>
                <a:lnTo>
                  <a:pt x="1302880" y="152730"/>
                </a:lnTo>
                <a:lnTo>
                  <a:pt x="1273721" y="192252"/>
                </a:lnTo>
                <a:lnTo>
                  <a:pt x="1246289" y="232829"/>
                </a:lnTo>
                <a:lnTo>
                  <a:pt x="1220597" y="274421"/>
                </a:lnTo>
                <a:lnTo>
                  <a:pt x="1196670" y="316953"/>
                </a:lnTo>
                <a:lnTo>
                  <a:pt x="1174521" y="360375"/>
                </a:lnTo>
                <a:lnTo>
                  <a:pt x="1154188" y="404634"/>
                </a:lnTo>
                <a:lnTo>
                  <a:pt x="1135697" y="449668"/>
                </a:lnTo>
                <a:lnTo>
                  <a:pt x="1119047" y="495414"/>
                </a:lnTo>
                <a:lnTo>
                  <a:pt x="1104265" y="541820"/>
                </a:lnTo>
                <a:lnTo>
                  <a:pt x="1091399" y="588822"/>
                </a:lnTo>
                <a:lnTo>
                  <a:pt x="1080439" y="636371"/>
                </a:lnTo>
                <a:lnTo>
                  <a:pt x="1071422" y="684403"/>
                </a:lnTo>
                <a:lnTo>
                  <a:pt x="1064374" y="732866"/>
                </a:lnTo>
                <a:lnTo>
                  <a:pt x="1059319" y="781697"/>
                </a:lnTo>
                <a:lnTo>
                  <a:pt x="1056259" y="830846"/>
                </a:lnTo>
                <a:lnTo>
                  <a:pt x="1055243" y="880237"/>
                </a:lnTo>
                <a:lnTo>
                  <a:pt x="1055497" y="905560"/>
                </a:lnTo>
                <a:lnTo>
                  <a:pt x="1056297" y="930833"/>
                </a:lnTo>
                <a:lnTo>
                  <a:pt x="1057643" y="956094"/>
                </a:lnTo>
                <a:lnTo>
                  <a:pt x="1059561" y="981329"/>
                </a:lnTo>
                <a:lnTo>
                  <a:pt x="1214120" y="968248"/>
                </a:lnTo>
                <a:lnTo>
                  <a:pt x="1212519" y="946251"/>
                </a:lnTo>
                <a:lnTo>
                  <a:pt x="1211364" y="924255"/>
                </a:lnTo>
                <a:lnTo>
                  <a:pt x="1210665" y="902246"/>
                </a:lnTo>
                <a:lnTo>
                  <a:pt x="1210437" y="880237"/>
                </a:lnTo>
                <a:lnTo>
                  <a:pt x="1211656" y="829830"/>
                </a:lnTo>
                <a:lnTo>
                  <a:pt x="1215313" y="779729"/>
                </a:lnTo>
                <a:lnTo>
                  <a:pt x="1221359" y="730021"/>
                </a:lnTo>
                <a:lnTo>
                  <a:pt x="1229779" y="680796"/>
                </a:lnTo>
                <a:lnTo>
                  <a:pt x="1240536" y="632117"/>
                </a:lnTo>
                <a:lnTo>
                  <a:pt x="1253591" y="584085"/>
                </a:lnTo>
                <a:lnTo>
                  <a:pt x="1268933" y="536778"/>
                </a:lnTo>
                <a:lnTo>
                  <a:pt x="1286510" y="490270"/>
                </a:lnTo>
                <a:lnTo>
                  <a:pt x="1306309" y="444639"/>
                </a:lnTo>
                <a:lnTo>
                  <a:pt x="1328293" y="399973"/>
                </a:lnTo>
                <a:lnTo>
                  <a:pt x="1352423" y="356349"/>
                </a:lnTo>
                <a:lnTo>
                  <a:pt x="1378686" y="313855"/>
                </a:lnTo>
                <a:lnTo>
                  <a:pt x="1407033" y="272567"/>
                </a:lnTo>
                <a:lnTo>
                  <a:pt x="1437449" y="232575"/>
                </a:lnTo>
                <a:lnTo>
                  <a:pt x="1469898" y="193929"/>
                </a:lnTo>
                <a:lnTo>
                  <a:pt x="1538097" y="271018"/>
                </a:lnTo>
                <a:close/>
              </a:path>
            </a:pathLst>
          </a:custGeom>
          <a:solidFill>
            <a:srgbClr val="AFBBD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Rettangolo 14"/>
          <p:cNvSpPr/>
          <p:nvPr/>
        </p:nvSpPr>
        <p:spPr>
          <a:xfrm>
            <a:off x="171450" y="152400"/>
            <a:ext cx="10287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162618"/>
            <a:ext cx="8229600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Il </a:t>
            </a:r>
            <a:r>
              <a:rPr spc="-25" dirty="0"/>
              <a:t>CAD</a:t>
            </a:r>
          </a:p>
          <a:p>
            <a:pPr marL="1270" algn="ctr">
              <a:lnSpc>
                <a:spcPct val="100000"/>
              </a:lnSpc>
            </a:pPr>
            <a:r>
              <a:rPr dirty="0"/>
              <a:t>Codice</a:t>
            </a:r>
            <a:r>
              <a:rPr spc="-25" dirty="0"/>
              <a:t> </a:t>
            </a:r>
            <a:r>
              <a:rPr dirty="0"/>
              <a:t>dell’Amministrazione</a:t>
            </a:r>
            <a:r>
              <a:rPr spc="-15" dirty="0"/>
              <a:t> </a:t>
            </a:r>
            <a:r>
              <a:rPr spc="-10" dirty="0"/>
              <a:t>Digitale</a:t>
            </a:r>
          </a:p>
        </p:txBody>
      </p:sp>
    </p:spTree>
    <p:extLst>
      <p:ext uri="{BB962C8B-B14F-4D97-AF65-F5344CB8AC3E}">
        <p14:creationId xmlns:p14="http://schemas.microsoft.com/office/powerpoint/2010/main" val="9406461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6"/>
          <p:cNvSpPr/>
          <p:nvPr/>
        </p:nvSpPr>
        <p:spPr>
          <a:xfrm>
            <a:off x="0" y="0"/>
            <a:ext cx="9144000" cy="6857999"/>
          </a:xfrm>
          <a:custGeom>
            <a:avLst/>
            <a:gdLst>
              <a:gd name="connsiteX0" fmla="*/ 0 w 9144000"/>
              <a:gd name="connsiteY0" fmla="*/ 6857999 h 6857999"/>
              <a:gd name="connsiteX1" fmla="*/ 9144000 w 9144000"/>
              <a:gd name="connsiteY1" fmla="*/ 6857999 h 6857999"/>
              <a:gd name="connsiteX2" fmla="*/ 9144000 w 9144000"/>
              <a:gd name="connsiteY2" fmla="*/ 0 h 6857999"/>
              <a:gd name="connsiteX3" fmla="*/ 0 w 9144000"/>
              <a:gd name="connsiteY3" fmla="*/ 0 h 6857999"/>
              <a:gd name="connsiteX4" fmla="*/ 0 w 9144000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6857999">
                <a:moveTo>
                  <a:pt x="0" y="6857999"/>
                </a:moveTo>
                <a:lnTo>
                  <a:pt x="9144000" y="6857999"/>
                </a:lnTo>
                <a:lnTo>
                  <a:pt x="9144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CFA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" y="0"/>
            <a:ext cx="8366759" cy="420624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" y="4259579"/>
            <a:ext cx="8290559" cy="1203960"/>
          </a:xfrm>
          <a:prstGeom prst="rect">
            <a:avLst/>
          </a:prstGeom>
        </p:spPr>
      </p:pic>
      <p:sp>
        <p:nvSpPr>
          <p:cNvPr id="2" name="TextBox 20"/>
          <p:cNvSpPr txBox="1"/>
          <p:nvPr/>
        </p:nvSpPr>
        <p:spPr>
          <a:xfrm>
            <a:off x="638860" y="120015"/>
            <a:ext cx="7820741" cy="51308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95833"/>
              </a:lnSpc>
            </a:pP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Articolo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15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del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Codice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Amministrazione</a:t>
            </a:r>
            <a:r>
              <a:rPr lang="en-US" altLang="zh-CN" sz="2600" spc="-16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Digitale: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“razionalizzare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2600" spc="-15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semplificare”</a:t>
            </a:r>
          </a:p>
          <a:p>
            <a:pPr>
              <a:lnSpc>
                <a:spcPts val="1764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2100" b="1" dirty="0">
                <a:solidFill>
                  <a:srgbClr val="006EBF"/>
                </a:solidFill>
                <a:latin typeface="Calibri"/>
                <a:ea typeface="Calibri"/>
              </a:rPr>
              <a:t>Articolo</a:t>
            </a:r>
            <a:r>
              <a:rPr lang="en-US" altLang="zh-CN" sz="2100" b="1" dirty="0">
                <a:solidFill>
                  <a:srgbClr val="006EBF"/>
                </a:solidFill>
                <a:latin typeface="Calibri"/>
                <a:cs typeface="Calibri"/>
              </a:rPr>
              <a:t> </a:t>
            </a:r>
            <a:r>
              <a:rPr lang="en-US" altLang="zh-CN" sz="2100" b="1" dirty="0">
                <a:solidFill>
                  <a:srgbClr val="006EBF"/>
                </a:solidFill>
                <a:latin typeface="Calibri"/>
                <a:ea typeface="Calibri"/>
              </a:rPr>
              <a:t>15,</a:t>
            </a:r>
            <a:r>
              <a:rPr lang="en-US" altLang="zh-CN" sz="2100" b="1" dirty="0">
                <a:solidFill>
                  <a:srgbClr val="006EBF"/>
                </a:solidFill>
                <a:latin typeface="Calibri"/>
                <a:cs typeface="Calibri"/>
              </a:rPr>
              <a:t> </a:t>
            </a:r>
            <a:r>
              <a:rPr lang="en-US" altLang="zh-CN" sz="2100" b="1" dirty="0">
                <a:solidFill>
                  <a:srgbClr val="006EBF"/>
                </a:solidFill>
                <a:latin typeface="Calibri"/>
                <a:ea typeface="Calibri"/>
              </a:rPr>
              <a:t>comma</a:t>
            </a:r>
            <a:r>
              <a:rPr lang="en-US" altLang="zh-CN" sz="2100" b="1" spc="-60" dirty="0">
                <a:solidFill>
                  <a:srgbClr val="006EBF"/>
                </a:solidFill>
                <a:latin typeface="Calibri"/>
                <a:cs typeface="Calibri"/>
              </a:rPr>
              <a:t> </a:t>
            </a:r>
            <a:r>
              <a:rPr lang="en-US" altLang="zh-CN" sz="2100" b="1" dirty="0">
                <a:solidFill>
                  <a:srgbClr val="006EBF"/>
                </a:solidFill>
                <a:latin typeface="Calibri"/>
                <a:ea typeface="Calibri"/>
              </a:rPr>
              <a:t>2</a:t>
            </a:r>
            <a:r>
              <a:rPr lang="en-US" altLang="zh-CN" sz="2100" dirty="0">
                <a:solidFill>
                  <a:srgbClr val="424242"/>
                </a:solidFill>
                <a:latin typeface="Calibri"/>
                <a:ea typeface="Calibri"/>
              </a:rPr>
              <a:t>:</a:t>
            </a:r>
          </a:p>
          <a:p>
            <a:pPr marL="0" hangingPunct="0">
              <a:lnSpc>
                <a:spcPct val="95416"/>
              </a:lnSpc>
              <a:spcBef>
                <a:spcPts val="154"/>
              </a:spcBef>
            </a:pP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In</a:t>
            </a:r>
            <a:r>
              <a:rPr lang="en-US" altLang="zh-CN" sz="2100" i="1" spc="-2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attuazione</a:t>
            </a:r>
            <a:r>
              <a:rPr lang="en-US" altLang="zh-CN" sz="2100" i="1" spc="-2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del</a:t>
            </a:r>
            <a:r>
              <a:rPr lang="en-US" altLang="zh-CN" sz="2100" i="1" spc="-2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comma</a:t>
            </a:r>
            <a:r>
              <a:rPr lang="en-US" altLang="zh-CN" sz="2100" i="1" spc="-2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1,</a:t>
            </a:r>
            <a:r>
              <a:rPr lang="en-US" altLang="zh-CN" sz="2100" i="1" spc="-2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le</a:t>
            </a:r>
            <a:r>
              <a:rPr lang="en-US" altLang="zh-CN" sz="2100" i="1" spc="-2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pubbliche</a:t>
            </a:r>
            <a:r>
              <a:rPr lang="en-US" altLang="zh-CN" sz="2100" i="1" spc="-2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amministrazioni</a:t>
            </a:r>
            <a:r>
              <a:rPr lang="en-US" altLang="zh-CN" sz="2100" i="1" spc="-2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provvedono</a:t>
            </a:r>
            <a:r>
              <a:rPr lang="en-US" altLang="zh-CN" sz="2100" i="1" spc="-2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in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particolare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a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b="1" i="1" dirty="0">
                <a:solidFill>
                  <a:srgbClr val="424242"/>
                </a:solidFill>
                <a:latin typeface="Calibri"/>
                <a:ea typeface="Calibri"/>
              </a:rPr>
              <a:t>razionalizzare</a:t>
            </a:r>
            <a:r>
              <a:rPr lang="en-US" altLang="zh-CN" sz="2100" b="1" i="1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b="1" i="1" dirty="0">
                <a:solidFill>
                  <a:srgbClr val="424242"/>
                </a:solidFill>
                <a:latin typeface="Calibri"/>
                <a:ea typeface="Calibri"/>
              </a:rPr>
              <a:t>e</a:t>
            </a:r>
            <a:r>
              <a:rPr lang="en-US" altLang="zh-CN" sz="2100" b="1" i="1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b="1" i="1" dirty="0">
                <a:solidFill>
                  <a:srgbClr val="424242"/>
                </a:solidFill>
                <a:latin typeface="Calibri"/>
                <a:ea typeface="Calibri"/>
              </a:rPr>
              <a:t>semplificare</a:t>
            </a:r>
            <a:r>
              <a:rPr lang="en-US" altLang="zh-CN" sz="2100" b="1" i="1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i</a:t>
            </a:r>
            <a:r>
              <a:rPr lang="en-US" altLang="zh-CN" sz="2100" i="1" spc="-6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procedimenti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amministrativi,</a:t>
            </a:r>
            <a:r>
              <a:rPr lang="en-US" altLang="zh-CN" sz="2100" i="1" spc="-2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le</a:t>
            </a:r>
            <a:r>
              <a:rPr lang="en-US" altLang="zh-CN" sz="2100" i="1" spc="-2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attività</a:t>
            </a:r>
            <a:r>
              <a:rPr lang="en-US" altLang="zh-CN" sz="2100" i="1" spc="-2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gestionali,</a:t>
            </a:r>
            <a:r>
              <a:rPr lang="en-US" altLang="zh-CN" sz="2100" i="1" spc="-2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i</a:t>
            </a:r>
            <a:r>
              <a:rPr lang="en-US" altLang="zh-CN" sz="2100" i="1" spc="-2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documenti,</a:t>
            </a:r>
            <a:r>
              <a:rPr lang="en-US" altLang="zh-CN" sz="2100" i="1" spc="-2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la</a:t>
            </a:r>
            <a:r>
              <a:rPr lang="en-US" altLang="zh-CN" sz="2100" i="1" spc="-2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modulistica,</a:t>
            </a:r>
            <a:r>
              <a:rPr lang="en-US" altLang="zh-CN" sz="2100" i="1" spc="-2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le</a:t>
            </a:r>
          </a:p>
          <a:p>
            <a:pPr marL="0">
              <a:lnSpc>
                <a:spcPct val="100000"/>
              </a:lnSpc>
              <a:spcBef>
                <a:spcPts val="189"/>
              </a:spcBef>
            </a:pP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modalità</a:t>
            </a:r>
            <a:r>
              <a:rPr lang="en-US" altLang="zh-CN" sz="2100" i="1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di</a:t>
            </a:r>
            <a:r>
              <a:rPr lang="en-US" altLang="zh-CN" sz="2100" i="1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accesso</a:t>
            </a:r>
            <a:r>
              <a:rPr lang="en-US" altLang="zh-CN" sz="2100" i="1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e</a:t>
            </a:r>
            <a:r>
              <a:rPr lang="en-US" altLang="zh-CN" sz="2100" i="1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di</a:t>
            </a:r>
            <a:r>
              <a:rPr lang="en-US" altLang="zh-CN" sz="2100" i="1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presentazione</a:t>
            </a:r>
            <a:r>
              <a:rPr lang="en-US" altLang="zh-CN" sz="2100" i="1" spc="-34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delle</a:t>
            </a:r>
            <a:r>
              <a:rPr lang="en-US" altLang="zh-CN" sz="2100" i="1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istanze</a:t>
            </a:r>
            <a:r>
              <a:rPr lang="en-US" altLang="zh-CN" sz="2100" i="1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da</a:t>
            </a:r>
            <a:r>
              <a:rPr lang="en-US" altLang="zh-CN" sz="2100" i="1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parte</a:t>
            </a:r>
            <a:r>
              <a:rPr lang="en-US" altLang="zh-CN" sz="2100" i="1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dei</a:t>
            </a:r>
            <a:r>
              <a:rPr lang="en-US" altLang="zh-CN" sz="2100" i="1" spc="-4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cittadini</a:t>
            </a:r>
          </a:p>
          <a:p>
            <a:pPr marL="0">
              <a:lnSpc>
                <a:spcPct val="100000"/>
              </a:lnSpc>
            </a:pP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e</a:t>
            </a:r>
            <a:r>
              <a:rPr lang="en-US" altLang="zh-CN" sz="2100" i="1" spc="-2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delle</a:t>
            </a:r>
            <a:r>
              <a:rPr lang="en-US" altLang="zh-CN" sz="2100" i="1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imprese,</a:t>
            </a:r>
            <a:r>
              <a:rPr lang="en-US" altLang="zh-CN" sz="2100" i="1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assicurando</a:t>
            </a:r>
            <a:r>
              <a:rPr lang="en-US" altLang="zh-CN" sz="2100" i="1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che</a:t>
            </a:r>
            <a:r>
              <a:rPr lang="en-US" altLang="zh-CN" sz="2100" i="1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l’utilizzo</a:t>
            </a:r>
            <a:r>
              <a:rPr lang="en-US" altLang="zh-CN" sz="2100" i="1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delle</a:t>
            </a:r>
            <a:r>
              <a:rPr lang="en-US" altLang="zh-CN" sz="2100" i="1" spc="-3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tecnologie</a:t>
            </a:r>
          </a:p>
          <a:p>
            <a:pPr marL="0">
              <a:lnSpc>
                <a:spcPct val="100000"/>
              </a:lnSpc>
            </a:pP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dell’informazione</a:t>
            </a:r>
            <a:r>
              <a:rPr lang="en-US" altLang="zh-CN" sz="2100" i="1" spc="-2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e</a:t>
            </a:r>
            <a:r>
              <a:rPr lang="en-US" altLang="zh-CN" sz="2100" i="1" spc="-2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della</a:t>
            </a:r>
            <a:r>
              <a:rPr lang="en-US" altLang="zh-CN" sz="2100" i="1" spc="-2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comunicazione</a:t>
            </a:r>
            <a:r>
              <a:rPr lang="en-US" altLang="zh-CN" sz="2100" i="1" spc="-2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avvenga</a:t>
            </a:r>
            <a:r>
              <a:rPr lang="en-US" altLang="zh-CN" sz="2100" i="1" spc="-2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in</a:t>
            </a:r>
            <a:r>
              <a:rPr lang="en-US" altLang="zh-CN" sz="2100" i="1" spc="-2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conformità</a:t>
            </a:r>
            <a:r>
              <a:rPr lang="en-US" altLang="zh-CN" sz="2100" i="1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</a:rPr>
              <a:t>alle</a:t>
            </a:r>
          </a:p>
          <a:p>
            <a:pPr marL="0">
              <a:lnSpc>
                <a:spcPct val="100000"/>
              </a:lnSpc>
            </a:pP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  <a:hlinkClick r:id="rId4"/>
              </a:rPr>
              <a:t>prescrizioni</a:t>
            </a:r>
            <a:r>
              <a:rPr lang="en-US" altLang="zh-CN" sz="2100" i="1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  <a:hlinkClick r:id=""/>
              </a:rPr>
              <a:t>tecnologiche</a:t>
            </a:r>
            <a:r>
              <a:rPr lang="en-US" altLang="zh-CN" sz="2100" i="1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  <a:hlinkClick r:id=""/>
              </a:rPr>
              <a:t>definite</a:t>
            </a:r>
            <a:r>
              <a:rPr lang="en-US" altLang="zh-CN" sz="2100" i="1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  <a:hlinkClick r:id=""/>
              </a:rPr>
              <a:t>nelle</a:t>
            </a:r>
            <a:r>
              <a:rPr lang="en-US" altLang="zh-CN" sz="2100" i="1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  <a:hlinkClick r:id=""/>
              </a:rPr>
              <a:t>regole</a:t>
            </a:r>
            <a:r>
              <a:rPr lang="en-US" altLang="zh-CN" sz="2100" i="1" spc="-34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  <a:hlinkClick r:id=""/>
              </a:rPr>
              <a:t>tecniche</a:t>
            </a:r>
            <a:r>
              <a:rPr lang="en-US" altLang="zh-CN" sz="2100" i="1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  <a:hlinkClick r:id=""/>
              </a:rPr>
              <a:t>di</a:t>
            </a:r>
            <a:r>
              <a:rPr lang="en-US" altLang="zh-CN" sz="2100" i="1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  <a:hlinkClick r:id=""/>
              </a:rPr>
              <a:t>cui</a:t>
            </a:r>
            <a:r>
              <a:rPr lang="en-US" altLang="zh-CN" sz="2100" i="1" spc="-3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2100" i="1" dirty="0">
                <a:solidFill>
                  <a:srgbClr val="424242"/>
                </a:solidFill>
                <a:latin typeface="Calibri"/>
                <a:ea typeface="Calibri"/>
                <a:hlinkClick r:id=""/>
              </a:rPr>
              <a:t>all’</a:t>
            </a:r>
            <a:r>
              <a:rPr lang="en-US" altLang="zh-CN" sz="2100" i="1" u="sng" dirty="0">
                <a:solidFill>
                  <a:srgbClr val="006EBF"/>
                </a:solidFill>
                <a:uFill>
                  <a:solidFill>
                    <a:srgbClr val="006EBF"/>
                  </a:solidFill>
                </a:uFill>
                <a:latin typeface="Calibri"/>
                <a:ea typeface="Calibri"/>
                <a:hlinkClick r:id=""/>
              </a:rPr>
              <a:t>articolo</a:t>
            </a:r>
          </a:p>
          <a:p>
            <a:pPr marL="0">
              <a:lnSpc>
                <a:spcPct val="100000"/>
              </a:lnSpc>
            </a:pPr>
            <a:r>
              <a:rPr lang="en-US" altLang="zh-CN" sz="2100" i="1" u="sng" dirty="0">
                <a:solidFill>
                  <a:srgbClr val="006EBF"/>
                </a:solidFill>
                <a:uFill>
                  <a:solidFill>
                    <a:srgbClr val="006EBF"/>
                  </a:solidFill>
                </a:uFill>
                <a:latin typeface="Calibri"/>
                <a:ea typeface="Calibri"/>
                <a:hlinkClick r:id=""/>
              </a:rPr>
              <a:t>71</a:t>
            </a:r>
            <a:r>
              <a:rPr lang="en-US" altLang="zh-CN" sz="2100" spc="-5" dirty="0">
                <a:solidFill>
                  <a:srgbClr val="424242"/>
                </a:solidFill>
                <a:latin typeface="Calibri"/>
                <a:ea typeface="Calibri"/>
                <a:hlinkClick r:id=""/>
              </a:rPr>
              <a:t>.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485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1800" dirty="0">
                <a:solidFill>
                  <a:srgbClr val="0000FE"/>
                </a:solidFill>
                <a:latin typeface="Calibri"/>
                <a:ea typeface="Calibri"/>
              </a:rPr>
              <a:t>da</a:t>
            </a:r>
            <a:r>
              <a:rPr lang="en-US" altLang="zh-CN" sz="1800" spc="-44" dirty="0">
                <a:solidFill>
                  <a:srgbClr val="0000FE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0000FE"/>
                </a:solidFill>
                <a:latin typeface="Calibri"/>
                <a:ea typeface="Calibri"/>
              </a:rPr>
              <a:t>“adempimento”</a:t>
            </a:r>
            <a:r>
              <a:rPr lang="en-US" altLang="zh-CN" sz="1800" b="1" spc="-50" dirty="0">
                <a:solidFill>
                  <a:srgbClr val="0000FE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0000FE"/>
                </a:solidFill>
                <a:latin typeface="Calibri"/>
                <a:ea typeface="Calibri"/>
              </a:rPr>
              <a:t>→</a:t>
            </a:r>
            <a:r>
              <a:rPr lang="en-US" altLang="zh-CN" sz="1800" b="1" spc="-44" dirty="0">
                <a:solidFill>
                  <a:srgbClr val="0000FE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0000FE"/>
                </a:solidFill>
                <a:latin typeface="Calibri"/>
                <a:ea typeface="Calibri"/>
              </a:rPr>
              <a:t>(Codice</a:t>
            </a:r>
            <a:r>
              <a:rPr lang="en-US" altLang="zh-CN" sz="1800" b="1" spc="-50" dirty="0">
                <a:solidFill>
                  <a:srgbClr val="0000FE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0000FE"/>
                </a:solidFill>
                <a:latin typeface="Calibri"/>
                <a:ea typeface="Calibri"/>
              </a:rPr>
              <a:t>Amministrazione</a:t>
            </a:r>
            <a:r>
              <a:rPr lang="en-US" altLang="zh-CN" sz="1800" b="1" spc="-50" dirty="0">
                <a:solidFill>
                  <a:srgbClr val="0000FE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0000FE"/>
                </a:solidFill>
                <a:latin typeface="Calibri"/>
                <a:ea typeface="Calibri"/>
              </a:rPr>
              <a:t>Digitale)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155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1800" dirty="0">
                <a:solidFill>
                  <a:srgbClr val="0000FE"/>
                </a:solidFill>
                <a:latin typeface="Calibri"/>
                <a:ea typeface="Calibri"/>
              </a:rPr>
              <a:t>a</a:t>
            </a:r>
            <a:r>
              <a:rPr lang="en-US" altLang="zh-CN" sz="1800" spc="-25" dirty="0">
                <a:solidFill>
                  <a:srgbClr val="0000FE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0000FE"/>
                </a:solidFill>
                <a:latin typeface="Calibri"/>
                <a:ea typeface="Calibri"/>
              </a:rPr>
              <a:t>“opportunità”→</a:t>
            </a:r>
            <a:r>
              <a:rPr lang="en-US" altLang="zh-CN" sz="1800" b="1" spc="-30" dirty="0">
                <a:solidFill>
                  <a:srgbClr val="0000FE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0000FE"/>
                </a:solidFill>
                <a:latin typeface="Calibri"/>
                <a:ea typeface="Calibri"/>
              </a:rPr>
              <a:t>(nuovo</a:t>
            </a:r>
            <a:r>
              <a:rPr lang="en-US" altLang="zh-CN" sz="1800" b="1" spc="-25" dirty="0">
                <a:solidFill>
                  <a:srgbClr val="0000FE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0000FE"/>
                </a:solidFill>
                <a:latin typeface="Calibri"/>
                <a:ea typeface="Calibri"/>
              </a:rPr>
              <a:t>modo</a:t>
            </a:r>
            <a:r>
              <a:rPr lang="en-US" altLang="zh-CN" sz="1800" b="1" spc="-30" dirty="0">
                <a:solidFill>
                  <a:srgbClr val="0000FE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0000FE"/>
                </a:solidFill>
                <a:latin typeface="Calibri"/>
                <a:ea typeface="Calibri"/>
              </a:rPr>
              <a:t>di</a:t>
            </a:r>
            <a:r>
              <a:rPr lang="en-US" altLang="zh-CN" sz="1800" b="1" spc="-25" dirty="0">
                <a:solidFill>
                  <a:srgbClr val="0000FE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0000FE"/>
                </a:solidFill>
                <a:latin typeface="Calibri"/>
                <a:ea typeface="Calibri"/>
              </a:rPr>
              <a:t>lavorare</a:t>
            </a:r>
            <a:r>
              <a:rPr lang="en-US" altLang="zh-CN" sz="1800" b="1" spc="-30" dirty="0">
                <a:solidFill>
                  <a:srgbClr val="0000FE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0000FE"/>
                </a:solidFill>
                <a:latin typeface="Calibri"/>
                <a:ea typeface="Calibri"/>
              </a:rPr>
              <a:t>e</a:t>
            </a:r>
            <a:r>
              <a:rPr lang="en-US" altLang="zh-CN" sz="1800" b="1" spc="-30" dirty="0">
                <a:solidFill>
                  <a:srgbClr val="0000FE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0000FE"/>
                </a:solidFill>
                <a:latin typeface="Calibri"/>
                <a:ea typeface="Calibri"/>
              </a:rPr>
              <a:t>di</a:t>
            </a:r>
            <a:r>
              <a:rPr lang="en-US" altLang="zh-CN" sz="1800" b="1" spc="-25" dirty="0">
                <a:solidFill>
                  <a:srgbClr val="0000FE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0000FE"/>
                </a:solidFill>
                <a:latin typeface="Calibri"/>
                <a:ea typeface="Calibri"/>
              </a:rPr>
              <a:t>far</a:t>
            </a:r>
            <a:r>
              <a:rPr lang="en-US" altLang="zh-CN" sz="1800" b="1" spc="-30" dirty="0">
                <a:solidFill>
                  <a:srgbClr val="0000FE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0000FE"/>
                </a:solidFill>
                <a:latin typeface="Calibri"/>
                <a:ea typeface="Calibri"/>
              </a:rPr>
              <a:t>fruire</a:t>
            </a:r>
            <a:r>
              <a:rPr lang="en-US" altLang="zh-CN" sz="1800" b="1" spc="-25" dirty="0">
                <a:solidFill>
                  <a:srgbClr val="0000FE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0000FE"/>
                </a:solidFill>
                <a:latin typeface="Calibri"/>
                <a:ea typeface="Calibri"/>
              </a:rPr>
              <a:t>i</a:t>
            </a:r>
            <a:r>
              <a:rPr lang="en-US" altLang="zh-CN" sz="1800" b="1" spc="-30" dirty="0">
                <a:solidFill>
                  <a:srgbClr val="0000FE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0000FE"/>
                </a:solidFill>
                <a:latin typeface="Calibri"/>
                <a:ea typeface="Calibri"/>
              </a:rPr>
              <a:t>servizi</a:t>
            </a:r>
            <a:r>
              <a:rPr lang="en-US" altLang="zh-CN" sz="1800" b="1" spc="-35" dirty="0">
                <a:solidFill>
                  <a:srgbClr val="0000FE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0000FE"/>
                </a:solidFill>
                <a:latin typeface="Calibri"/>
                <a:ea typeface="Calibri"/>
              </a:rPr>
              <a:t>pubblici)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1"/>
          <p:cNvSpPr/>
          <p:nvPr/>
        </p:nvSpPr>
        <p:spPr>
          <a:xfrm>
            <a:off x="0" y="0"/>
            <a:ext cx="9144000" cy="6857999"/>
          </a:xfrm>
          <a:custGeom>
            <a:avLst/>
            <a:gdLst>
              <a:gd name="connsiteX0" fmla="*/ 0 w 9144000"/>
              <a:gd name="connsiteY0" fmla="*/ 6857999 h 6857999"/>
              <a:gd name="connsiteX1" fmla="*/ 9144000 w 9144000"/>
              <a:gd name="connsiteY1" fmla="*/ 6857999 h 6857999"/>
              <a:gd name="connsiteX2" fmla="*/ 9144000 w 9144000"/>
              <a:gd name="connsiteY2" fmla="*/ 0 h 6857999"/>
              <a:gd name="connsiteX3" fmla="*/ 0 w 9144000"/>
              <a:gd name="connsiteY3" fmla="*/ 0 h 6857999"/>
              <a:gd name="connsiteX4" fmla="*/ 0 w 9144000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6857999">
                <a:moveTo>
                  <a:pt x="0" y="6857999"/>
                </a:moveTo>
                <a:lnTo>
                  <a:pt x="9144000" y="6857999"/>
                </a:lnTo>
                <a:lnTo>
                  <a:pt x="9144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CFA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" y="83820"/>
            <a:ext cx="8366759" cy="4335779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59" y="4541520"/>
            <a:ext cx="7993380" cy="1021080"/>
          </a:xfrm>
          <a:prstGeom prst="rect">
            <a:avLst/>
          </a:prstGeom>
        </p:spPr>
      </p:pic>
      <p:sp>
        <p:nvSpPr>
          <p:cNvPr id="2" name="TextBox 25"/>
          <p:cNvSpPr txBox="1"/>
          <p:nvPr/>
        </p:nvSpPr>
        <p:spPr>
          <a:xfrm>
            <a:off x="604113" y="268731"/>
            <a:ext cx="7879481" cy="50539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I</a:t>
            </a:r>
            <a:r>
              <a:rPr lang="en-US" altLang="zh-CN" sz="26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principi</a:t>
            </a:r>
            <a:r>
              <a:rPr lang="en-US" altLang="zh-CN" sz="26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del</a:t>
            </a:r>
            <a:r>
              <a:rPr lang="en-US" altLang="zh-CN" sz="26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vigente</a:t>
            </a:r>
            <a:r>
              <a:rPr lang="en-US" altLang="zh-CN" sz="26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Piano</a:t>
            </a:r>
            <a:r>
              <a:rPr lang="en-US" altLang="zh-CN" sz="26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triennale</a:t>
            </a:r>
            <a:r>
              <a:rPr lang="en-US" altLang="zh-CN" sz="26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per</a:t>
            </a:r>
            <a:r>
              <a:rPr lang="en-US" altLang="zh-CN" sz="2600" spc="-3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l’informatica</a:t>
            </a:r>
          </a:p>
          <a:p>
            <a:pPr>
              <a:lnSpc>
                <a:spcPts val="1679"/>
              </a:lnSpc>
            </a:pPr>
            <a:endParaRPr lang="en-US" dirty="0" smtClean="0"/>
          </a:p>
          <a:p>
            <a:pPr marL="0" indent="206044">
              <a:lnSpc>
                <a:spcPct val="100000"/>
              </a:lnSpc>
            </a:pP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●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  </a:t>
            </a:r>
            <a:r>
              <a:rPr lang="en-US" altLang="zh-CN" sz="2000" b="1" dirty="0">
                <a:solidFill>
                  <a:srgbClr val="2A428F"/>
                </a:solidFill>
                <a:latin typeface="Calibri"/>
                <a:ea typeface="Calibri"/>
              </a:rPr>
              <a:t>Digital</a:t>
            </a:r>
            <a:r>
              <a:rPr lang="en-US" altLang="zh-CN" sz="2000" b="1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b="1" dirty="0">
                <a:solidFill>
                  <a:srgbClr val="2A428F"/>
                </a:solidFill>
                <a:latin typeface="Calibri"/>
                <a:ea typeface="Calibri"/>
              </a:rPr>
              <a:t>first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,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tutto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nella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PA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nasce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in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formato</a:t>
            </a:r>
            <a:r>
              <a:rPr lang="en-US" altLang="zh-CN" sz="2000" spc="-11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digitale.</a:t>
            </a:r>
          </a:p>
          <a:p>
            <a:pPr marL="561136" indent="-355091" hangingPunct="0">
              <a:lnSpc>
                <a:spcPct val="100000"/>
              </a:lnSpc>
            </a:pP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●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  </a:t>
            </a:r>
            <a:r>
              <a:rPr lang="en-US" altLang="zh-CN" sz="2000" b="1" dirty="0">
                <a:solidFill>
                  <a:srgbClr val="2A428F"/>
                </a:solidFill>
                <a:latin typeface="Calibri"/>
                <a:ea typeface="Calibri"/>
              </a:rPr>
              <a:t>Once</a:t>
            </a:r>
            <a:r>
              <a:rPr lang="en-US" altLang="zh-CN" sz="2000" b="1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b="1" dirty="0">
                <a:solidFill>
                  <a:srgbClr val="2A428F"/>
                </a:solidFill>
                <a:latin typeface="Calibri"/>
                <a:ea typeface="Calibri"/>
              </a:rPr>
              <a:t>only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,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la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PA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chiede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un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dato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una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sola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volta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al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cittadino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se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una</a:t>
            </a:r>
            <a:r>
              <a:rPr lang="en-US" altLang="zh-CN" sz="2000" spc="-1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PA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ha</a:t>
            </a:r>
            <a:r>
              <a:rPr lang="en-US" altLang="zh-CN" sz="20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bisogno</a:t>
            </a:r>
            <a:r>
              <a:rPr lang="en-US" altLang="zh-CN" sz="20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20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informazioni</a:t>
            </a:r>
            <a:r>
              <a:rPr lang="en-US" altLang="zh-CN" sz="20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che</a:t>
            </a:r>
            <a:r>
              <a:rPr lang="en-US" altLang="zh-CN" sz="20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detiene</a:t>
            </a:r>
            <a:r>
              <a:rPr lang="en-US" altLang="zh-CN" sz="20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un</a:t>
            </a:r>
            <a:r>
              <a:rPr lang="en-US" altLang="zh-CN" sz="20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altra</a:t>
            </a:r>
            <a:r>
              <a:rPr lang="en-US" altLang="zh-CN" sz="20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PA,</a:t>
            </a:r>
            <a:r>
              <a:rPr lang="en-US" altLang="zh-CN" sz="20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non</a:t>
            </a:r>
            <a:r>
              <a:rPr lang="en-US" altLang="zh-CN" sz="20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usa</a:t>
            </a:r>
            <a:r>
              <a:rPr lang="en-US" altLang="zh-CN" sz="20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il</a:t>
            </a:r>
            <a:r>
              <a:rPr lang="en-US" altLang="zh-CN" sz="20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cittadino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come</a:t>
            </a:r>
            <a:r>
              <a:rPr lang="en-US" altLang="zh-CN" sz="20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garzone</a:t>
            </a:r>
            <a:r>
              <a:rPr lang="en-US" altLang="zh-CN" sz="20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per</a:t>
            </a:r>
            <a:r>
              <a:rPr lang="en-US" altLang="zh-CN" sz="20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il</a:t>
            </a:r>
            <a:r>
              <a:rPr lang="en-US" altLang="zh-CN" sz="20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trasferimento</a:t>
            </a:r>
            <a:r>
              <a:rPr lang="en-US" altLang="zh-CN" sz="20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del</a:t>
            </a:r>
            <a:r>
              <a:rPr lang="en-US" altLang="zh-CN" sz="20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documento,</a:t>
            </a:r>
            <a:r>
              <a:rPr lang="en-US" altLang="zh-CN" sz="20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ma</a:t>
            </a:r>
            <a:r>
              <a:rPr lang="en-US" altLang="zh-CN" sz="20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i</a:t>
            </a:r>
            <a:r>
              <a:rPr lang="en-US" altLang="zh-CN" sz="20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dati</a:t>
            </a:r>
            <a:r>
              <a:rPr lang="en-US" altLang="zh-CN" sz="2000" spc="-3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vengono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scambiati</a:t>
            </a:r>
            <a:r>
              <a:rPr lang="en-US" altLang="zh-CN" sz="2000" spc="-6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tramite</a:t>
            </a:r>
            <a:r>
              <a:rPr lang="en-US" altLang="zh-CN" sz="2000" spc="-6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interoperabilità</a:t>
            </a:r>
            <a:r>
              <a:rPr lang="en-US" altLang="zh-CN" sz="2000" spc="-7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applicativa.</a:t>
            </a:r>
          </a:p>
          <a:p>
            <a:pPr marL="0" indent="206044">
              <a:lnSpc>
                <a:spcPct val="100000"/>
              </a:lnSpc>
            </a:pP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●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  </a:t>
            </a:r>
            <a:r>
              <a:rPr lang="en-US" altLang="zh-CN" sz="2000" b="1" dirty="0">
                <a:solidFill>
                  <a:srgbClr val="2A428F"/>
                </a:solidFill>
                <a:latin typeface="Calibri"/>
                <a:ea typeface="Calibri"/>
              </a:rPr>
              <a:t>Cloud</a:t>
            </a:r>
            <a:r>
              <a:rPr lang="en-US" altLang="zh-CN" sz="2000" b="1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b="1" dirty="0">
                <a:solidFill>
                  <a:srgbClr val="2A428F"/>
                </a:solidFill>
                <a:latin typeface="Calibri"/>
                <a:ea typeface="Calibri"/>
              </a:rPr>
              <a:t>first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,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i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servizi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delle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PA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sono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gestiti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nativamente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su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servizi</a:t>
            </a:r>
            <a:r>
              <a:rPr lang="en-US" altLang="zh-CN" sz="2000" spc="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cloud.</a:t>
            </a:r>
          </a:p>
          <a:p>
            <a:pPr marL="561136" indent="-355091" hangingPunct="0">
              <a:lnSpc>
                <a:spcPct val="95416"/>
              </a:lnSpc>
              <a:spcBef>
                <a:spcPts val="150"/>
              </a:spcBef>
            </a:pP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●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  </a:t>
            </a:r>
            <a:r>
              <a:rPr lang="en-US" altLang="zh-CN" sz="2000" b="1" dirty="0">
                <a:solidFill>
                  <a:srgbClr val="2A428F"/>
                </a:solidFill>
                <a:latin typeface="Calibri"/>
                <a:ea typeface="Calibri"/>
              </a:rPr>
              <a:t>Interoperabile</a:t>
            </a:r>
            <a:r>
              <a:rPr lang="en-US" altLang="zh-CN" sz="2000" b="1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b="1" dirty="0">
                <a:solidFill>
                  <a:srgbClr val="2A428F"/>
                </a:solidFill>
                <a:latin typeface="Calibri"/>
                <a:ea typeface="Calibri"/>
              </a:rPr>
              <a:t>by</a:t>
            </a:r>
            <a:r>
              <a:rPr lang="en-US" altLang="zh-CN" sz="2000" b="1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b="1" dirty="0">
                <a:solidFill>
                  <a:srgbClr val="2A428F"/>
                </a:solidFill>
                <a:latin typeface="Calibri"/>
                <a:ea typeface="Calibri"/>
              </a:rPr>
              <a:t>design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,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le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PA,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nella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realizzazione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2000" spc="-1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piattaforme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applicative,</a:t>
            </a:r>
            <a:r>
              <a:rPr lang="en-US" altLang="zh-CN" sz="20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pensano</a:t>
            </a:r>
            <a:r>
              <a:rPr lang="en-US" altLang="zh-CN" sz="20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all’interoperabilità</a:t>
            </a:r>
            <a:r>
              <a:rPr lang="en-US" altLang="zh-CN" sz="20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dei</a:t>
            </a:r>
            <a:r>
              <a:rPr lang="en-US" altLang="zh-CN" sz="20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software</a:t>
            </a:r>
            <a:r>
              <a:rPr lang="en-US" altLang="zh-CN" sz="20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20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delle</a:t>
            </a:r>
            <a:r>
              <a:rPr lang="en-US" altLang="zh-CN" sz="20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banche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dati,</a:t>
            </a:r>
            <a:r>
              <a:rPr lang="en-US" altLang="zh-CN" sz="20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per</a:t>
            </a:r>
            <a:r>
              <a:rPr lang="en-US" altLang="zh-CN" sz="20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lo</a:t>
            </a:r>
            <a:r>
              <a:rPr lang="en-US" altLang="zh-CN" sz="20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scambio</a:t>
            </a:r>
            <a:r>
              <a:rPr lang="en-US" altLang="zh-CN" sz="20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dati</a:t>
            </a:r>
            <a:r>
              <a:rPr lang="en-US" altLang="zh-CN" sz="20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tra</a:t>
            </a:r>
            <a:r>
              <a:rPr lang="en-US" altLang="zh-CN" sz="20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lo</a:t>
            </a:r>
            <a:r>
              <a:rPr lang="en-US" altLang="zh-CN" sz="20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stesso</a:t>
            </a:r>
            <a:r>
              <a:rPr lang="en-US" altLang="zh-CN" sz="20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ente</a:t>
            </a:r>
            <a:r>
              <a:rPr lang="en-US" altLang="zh-CN" sz="20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o</a:t>
            </a:r>
            <a:r>
              <a:rPr lang="en-US" altLang="zh-CN" sz="20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tra</a:t>
            </a:r>
            <a:r>
              <a:rPr lang="en-US" altLang="zh-CN" sz="20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enti</a:t>
            </a:r>
            <a:r>
              <a:rPr lang="en-US" altLang="zh-CN" sz="20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diversi.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525"/>
              </a:lnSpc>
            </a:pPr>
            <a:endParaRPr lang="en-US" dirty="0" smtClean="0"/>
          </a:p>
          <a:p>
            <a:pPr marL="103936" hangingPunct="0">
              <a:lnSpc>
                <a:spcPct val="100000"/>
              </a:lnSpc>
            </a:pPr>
            <a:r>
              <a:rPr lang="en-US" altLang="zh-CN" sz="2100" b="1" dirty="0">
                <a:solidFill>
                  <a:srgbClr val="2A428F"/>
                </a:solidFill>
                <a:latin typeface="Courier New"/>
                <a:ea typeface="Courier New"/>
              </a:rPr>
              <a:t>Questi</a:t>
            </a:r>
            <a:r>
              <a:rPr lang="en-US" altLang="zh-CN" sz="2100" b="1" dirty="0">
                <a:solidFill>
                  <a:srgbClr val="2A428F"/>
                </a:solidFill>
                <a:latin typeface="Courier New"/>
                <a:cs typeface="Courier New"/>
              </a:rPr>
              <a:t> </a:t>
            </a:r>
            <a:r>
              <a:rPr lang="en-US" altLang="zh-CN" sz="2100" b="1" dirty="0">
                <a:solidFill>
                  <a:srgbClr val="2A428F"/>
                </a:solidFill>
                <a:latin typeface="Courier New"/>
                <a:ea typeface="Courier New"/>
              </a:rPr>
              <a:t>principi</a:t>
            </a:r>
            <a:r>
              <a:rPr lang="en-US" altLang="zh-CN" sz="2100" b="1" dirty="0">
                <a:solidFill>
                  <a:srgbClr val="2A428F"/>
                </a:solidFill>
                <a:latin typeface="Courier New"/>
                <a:cs typeface="Courier New"/>
              </a:rPr>
              <a:t> </a:t>
            </a:r>
            <a:r>
              <a:rPr lang="en-US" altLang="zh-CN" sz="2100" b="1" dirty="0">
                <a:solidFill>
                  <a:srgbClr val="2A428F"/>
                </a:solidFill>
                <a:latin typeface="Courier New"/>
                <a:ea typeface="Courier New"/>
              </a:rPr>
              <a:t>devono</a:t>
            </a:r>
            <a:r>
              <a:rPr lang="en-US" altLang="zh-CN" sz="2100" b="1" dirty="0">
                <a:solidFill>
                  <a:srgbClr val="2A428F"/>
                </a:solidFill>
                <a:latin typeface="Courier New"/>
                <a:cs typeface="Courier New"/>
              </a:rPr>
              <a:t> </a:t>
            </a:r>
            <a:r>
              <a:rPr lang="en-US" altLang="zh-CN" sz="2100" b="1" dirty="0">
                <a:solidFill>
                  <a:srgbClr val="2A428F"/>
                </a:solidFill>
                <a:latin typeface="Courier New"/>
                <a:ea typeface="Courier New"/>
              </a:rPr>
              <a:t>guidare</a:t>
            </a:r>
            <a:r>
              <a:rPr lang="en-US" altLang="zh-CN" sz="2100" b="1" dirty="0">
                <a:solidFill>
                  <a:srgbClr val="2A428F"/>
                </a:solidFill>
                <a:latin typeface="Courier New"/>
                <a:cs typeface="Courier New"/>
              </a:rPr>
              <a:t> </a:t>
            </a:r>
            <a:r>
              <a:rPr lang="en-US" altLang="zh-CN" sz="2100" b="1" dirty="0">
                <a:solidFill>
                  <a:srgbClr val="2A428F"/>
                </a:solidFill>
                <a:latin typeface="Courier New"/>
                <a:ea typeface="Courier New"/>
              </a:rPr>
              <a:t>le</a:t>
            </a:r>
            <a:r>
              <a:rPr lang="en-US" altLang="zh-CN" sz="2100" b="1" dirty="0">
                <a:solidFill>
                  <a:srgbClr val="2A428F"/>
                </a:solidFill>
                <a:latin typeface="Courier New"/>
                <a:cs typeface="Courier New"/>
              </a:rPr>
              <a:t> </a:t>
            </a:r>
            <a:r>
              <a:rPr lang="en-US" altLang="zh-CN" sz="2100" b="1" dirty="0">
                <a:solidFill>
                  <a:srgbClr val="2A428F"/>
                </a:solidFill>
                <a:latin typeface="Courier New"/>
                <a:ea typeface="Courier New"/>
              </a:rPr>
              <a:t>azioni</a:t>
            </a:r>
            <a:r>
              <a:rPr lang="en-US" altLang="zh-CN" sz="2100" b="1" spc="44" dirty="0">
                <a:solidFill>
                  <a:srgbClr val="2A428F"/>
                </a:solidFill>
                <a:latin typeface="Courier New"/>
                <a:cs typeface="Courier New"/>
              </a:rPr>
              <a:t> </a:t>
            </a:r>
            <a:r>
              <a:rPr lang="en-US" altLang="zh-CN" sz="2100" b="1" dirty="0">
                <a:solidFill>
                  <a:srgbClr val="2A428F"/>
                </a:solidFill>
                <a:latin typeface="Courier New"/>
                <a:ea typeface="Courier New"/>
              </a:rPr>
              <a:t>delle</a:t>
            </a:r>
            <a:r>
              <a:rPr lang="en-US" altLang="zh-CN" sz="2100" b="1" dirty="0">
                <a:solidFill>
                  <a:srgbClr val="2A428F"/>
                </a:solidFill>
                <a:latin typeface="Courier New"/>
                <a:cs typeface="Courier New"/>
              </a:rPr>
              <a:t> </a:t>
            </a:r>
            <a:r>
              <a:rPr lang="en-US" altLang="zh-CN" sz="2100" b="1" dirty="0">
                <a:solidFill>
                  <a:srgbClr val="2A428F"/>
                </a:solidFill>
                <a:latin typeface="Courier New"/>
                <a:ea typeface="Courier New"/>
              </a:rPr>
              <a:t>PA</a:t>
            </a:r>
            <a:r>
              <a:rPr lang="en-US" altLang="zh-CN" sz="2100" b="1" dirty="0">
                <a:solidFill>
                  <a:srgbClr val="2A428F"/>
                </a:solidFill>
                <a:latin typeface="Courier New"/>
                <a:cs typeface="Courier New"/>
              </a:rPr>
              <a:t> </a:t>
            </a:r>
            <a:r>
              <a:rPr lang="en-US" altLang="zh-CN" sz="2100" b="1" dirty="0">
                <a:solidFill>
                  <a:srgbClr val="2A428F"/>
                </a:solidFill>
                <a:latin typeface="Courier New"/>
                <a:ea typeface="Courier New"/>
              </a:rPr>
              <a:t>nel</a:t>
            </a:r>
            <a:r>
              <a:rPr lang="en-US" altLang="zh-CN" sz="2100" b="1" dirty="0">
                <a:solidFill>
                  <a:srgbClr val="2A428F"/>
                </a:solidFill>
                <a:latin typeface="Courier New"/>
                <a:cs typeface="Courier New"/>
              </a:rPr>
              <a:t> </a:t>
            </a:r>
            <a:r>
              <a:rPr lang="en-US" altLang="zh-CN" sz="2100" b="1" dirty="0">
                <a:solidFill>
                  <a:srgbClr val="2A428F"/>
                </a:solidFill>
                <a:latin typeface="Courier New"/>
                <a:ea typeface="Courier New"/>
              </a:rPr>
              <a:t>percorso</a:t>
            </a:r>
            <a:r>
              <a:rPr lang="en-US" altLang="zh-CN" sz="2100" b="1" dirty="0">
                <a:solidFill>
                  <a:srgbClr val="2A428F"/>
                </a:solidFill>
                <a:latin typeface="Courier New"/>
                <a:cs typeface="Courier New"/>
              </a:rPr>
              <a:t> </a:t>
            </a:r>
            <a:r>
              <a:rPr lang="en-US" altLang="zh-CN" sz="2100" b="1" dirty="0">
                <a:solidFill>
                  <a:srgbClr val="2A428F"/>
                </a:solidFill>
                <a:latin typeface="Courier New"/>
                <a:ea typeface="Courier New"/>
              </a:rPr>
              <a:t>di</a:t>
            </a:r>
            <a:r>
              <a:rPr lang="en-US" altLang="zh-CN" sz="2100" b="1" dirty="0">
                <a:solidFill>
                  <a:srgbClr val="2A428F"/>
                </a:solidFill>
                <a:latin typeface="Courier New"/>
                <a:cs typeface="Courier New"/>
              </a:rPr>
              <a:t> </a:t>
            </a:r>
            <a:r>
              <a:rPr lang="en-US" altLang="zh-CN" sz="2100" b="1" dirty="0">
                <a:solidFill>
                  <a:srgbClr val="2A428F"/>
                </a:solidFill>
                <a:latin typeface="Courier New"/>
                <a:ea typeface="Courier New"/>
              </a:rPr>
              <a:t>digitalizzazione</a:t>
            </a:r>
            <a:r>
              <a:rPr lang="en-US" altLang="zh-CN" sz="2100" b="1" dirty="0">
                <a:solidFill>
                  <a:srgbClr val="2A428F"/>
                </a:solidFill>
                <a:latin typeface="Courier New"/>
                <a:cs typeface="Courier New"/>
              </a:rPr>
              <a:t> </a:t>
            </a:r>
            <a:r>
              <a:rPr lang="en-US" altLang="zh-CN" sz="2100" b="1" dirty="0">
                <a:solidFill>
                  <a:srgbClr val="2A428F"/>
                </a:solidFill>
                <a:latin typeface="Courier New"/>
                <a:ea typeface="Courier New"/>
              </a:rPr>
              <a:t>dei</a:t>
            </a:r>
            <a:r>
              <a:rPr lang="en-US" altLang="zh-CN" sz="2100" b="1" spc="25" dirty="0">
                <a:solidFill>
                  <a:srgbClr val="2A428F"/>
                </a:solidFill>
                <a:latin typeface="Courier New"/>
                <a:cs typeface="Courier New"/>
              </a:rPr>
              <a:t> </a:t>
            </a:r>
            <a:r>
              <a:rPr lang="en-US" altLang="zh-CN" sz="2100" b="1" dirty="0">
                <a:solidFill>
                  <a:srgbClr val="2A428F"/>
                </a:solidFill>
                <a:latin typeface="Courier New"/>
                <a:ea typeface="Courier New"/>
              </a:rPr>
              <a:t>servizi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 26"/>
          <p:cNvSpPr/>
          <p:nvPr/>
        </p:nvSpPr>
        <p:spPr>
          <a:xfrm>
            <a:off x="0" y="0"/>
            <a:ext cx="9144000" cy="6857999"/>
          </a:xfrm>
          <a:custGeom>
            <a:avLst/>
            <a:gdLst>
              <a:gd name="connsiteX0" fmla="*/ 0 w 9144000"/>
              <a:gd name="connsiteY0" fmla="*/ 6857999 h 6857999"/>
              <a:gd name="connsiteX1" fmla="*/ 9144000 w 9144000"/>
              <a:gd name="connsiteY1" fmla="*/ 6857999 h 6857999"/>
              <a:gd name="connsiteX2" fmla="*/ 9144000 w 9144000"/>
              <a:gd name="connsiteY2" fmla="*/ 0 h 6857999"/>
              <a:gd name="connsiteX3" fmla="*/ 0 w 9144000"/>
              <a:gd name="connsiteY3" fmla="*/ 0 h 6857999"/>
              <a:gd name="connsiteX4" fmla="*/ 0 w 9144000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6857999">
                <a:moveTo>
                  <a:pt x="0" y="6857999"/>
                </a:moveTo>
                <a:lnTo>
                  <a:pt x="9144000" y="6857999"/>
                </a:lnTo>
                <a:lnTo>
                  <a:pt x="9144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CFA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" y="144780"/>
            <a:ext cx="8717280" cy="6576059"/>
          </a:xfrm>
          <a:prstGeom prst="rect">
            <a:avLst/>
          </a:prstGeom>
        </p:spPr>
      </p:pic>
      <p:sp>
        <p:nvSpPr>
          <p:cNvPr id="2" name="TextBox 28"/>
          <p:cNvSpPr txBox="1"/>
          <p:nvPr/>
        </p:nvSpPr>
        <p:spPr>
          <a:xfrm>
            <a:off x="403250" y="339470"/>
            <a:ext cx="7955416" cy="59298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2800" dirty="0">
                <a:solidFill>
                  <a:srgbClr val="2A428F"/>
                </a:solidFill>
                <a:latin typeface="Calibri"/>
                <a:ea typeface="Calibri"/>
              </a:rPr>
              <a:t>Reingegnerizzazione</a:t>
            </a:r>
            <a:r>
              <a:rPr lang="en-US" altLang="zh-CN" sz="2800" spc="-10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dirty="0">
                <a:solidFill>
                  <a:srgbClr val="2A428F"/>
                </a:solidFill>
                <a:latin typeface="Calibri"/>
                <a:ea typeface="Calibri"/>
              </a:rPr>
              <a:t>prima</a:t>
            </a:r>
            <a:r>
              <a:rPr lang="en-US" altLang="zh-CN" sz="2800" spc="-10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dirty="0">
                <a:solidFill>
                  <a:srgbClr val="2A428F"/>
                </a:solidFill>
                <a:latin typeface="Calibri"/>
                <a:ea typeface="Calibri"/>
              </a:rPr>
              <a:t>della</a:t>
            </a:r>
            <a:r>
              <a:rPr lang="en-US" altLang="zh-CN" sz="2800" spc="-109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dirty="0">
                <a:solidFill>
                  <a:srgbClr val="2A428F"/>
                </a:solidFill>
                <a:latin typeface="Calibri"/>
                <a:ea typeface="Calibri"/>
              </a:rPr>
              <a:t>digitalizzazione</a:t>
            </a:r>
          </a:p>
          <a:p>
            <a:pPr>
              <a:lnSpc>
                <a:spcPts val="1825"/>
              </a:lnSpc>
            </a:pPr>
            <a:endParaRPr lang="en-US" dirty="0" smtClean="0"/>
          </a:p>
          <a:p>
            <a:pPr marL="0" indent="83210">
              <a:lnSpc>
                <a:spcPct val="100000"/>
              </a:lnSpc>
            </a:pPr>
            <a:r>
              <a:rPr lang="en-US" altLang="zh-CN" sz="1900" b="1" dirty="0">
                <a:solidFill>
                  <a:srgbClr val="424242"/>
                </a:solidFill>
                <a:latin typeface="Calibri"/>
                <a:ea typeface="Calibri"/>
              </a:rPr>
              <a:t>La</a:t>
            </a:r>
            <a:r>
              <a:rPr lang="en-US" altLang="zh-CN" sz="1900" b="1" spc="-2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b="1" dirty="0">
                <a:solidFill>
                  <a:srgbClr val="424242"/>
                </a:solidFill>
                <a:latin typeface="Calibri"/>
                <a:ea typeface="Calibri"/>
              </a:rPr>
              <a:t>reingegnerizzazione</a:t>
            </a:r>
            <a:r>
              <a:rPr lang="en-US" altLang="zh-CN" sz="1900" b="1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b="1" dirty="0">
                <a:solidFill>
                  <a:srgbClr val="424242"/>
                </a:solidFill>
                <a:latin typeface="Calibri"/>
                <a:ea typeface="Calibri"/>
              </a:rPr>
              <a:t>è</a:t>
            </a:r>
            <a:r>
              <a:rPr lang="en-US" altLang="zh-CN" sz="1900" b="1" spc="-2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b="1" dirty="0">
                <a:solidFill>
                  <a:srgbClr val="424242"/>
                </a:solidFill>
                <a:latin typeface="Calibri"/>
                <a:ea typeface="Calibri"/>
              </a:rPr>
              <a:t>un</a:t>
            </a:r>
            <a:r>
              <a:rPr lang="en-US" altLang="zh-CN" sz="1900" b="1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b="1" dirty="0">
                <a:solidFill>
                  <a:srgbClr val="424242"/>
                </a:solidFill>
                <a:latin typeface="Calibri"/>
                <a:ea typeface="Calibri"/>
              </a:rPr>
              <a:t>attività</a:t>
            </a:r>
            <a:r>
              <a:rPr lang="en-US" altLang="zh-CN" sz="1900" b="1" spc="-2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b="1" dirty="0">
                <a:solidFill>
                  <a:srgbClr val="424242"/>
                </a:solidFill>
                <a:latin typeface="Calibri"/>
                <a:ea typeface="Calibri"/>
              </a:rPr>
              <a:t>di</a:t>
            </a:r>
            <a:r>
              <a:rPr lang="en-US" altLang="zh-CN" sz="1900" b="1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b="1" dirty="0">
                <a:solidFill>
                  <a:srgbClr val="424242"/>
                </a:solidFill>
                <a:latin typeface="Calibri"/>
                <a:ea typeface="Calibri"/>
              </a:rPr>
              <a:t>negoziazione</a:t>
            </a:r>
            <a:r>
              <a:rPr lang="en-US" altLang="zh-CN" sz="1900" b="1" spc="-3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b="1" dirty="0">
                <a:solidFill>
                  <a:srgbClr val="424242"/>
                </a:solidFill>
                <a:latin typeface="Calibri"/>
                <a:ea typeface="Calibri"/>
              </a:rPr>
              <a:t>tra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:</a:t>
            </a:r>
          </a:p>
          <a:p>
            <a:pPr marL="0" indent="191414">
              <a:lnSpc>
                <a:spcPct val="100000"/>
              </a:lnSpc>
            </a:pP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●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cs typeface="Calibri"/>
              </a:rPr>
              <a:t>  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esigenze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e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prassi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operative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consolidate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nel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tempo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negli</a:t>
            </a:r>
            <a:r>
              <a:rPr lang="en-US" altLang="zh-CN" sz="1900" spc="2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uffici;</a:t>
            </a:r>
          </a:p>
          <a:p>
            <a:pPr marL="450850" indent="-260350">
              <a:lnSpc>
                <a:spcPct val="100000"/>
              </a:lnSpc>
            </a:pP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●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cs typeface="Calibri"/>
              </a:rPr>
              <a:t>  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necessità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di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evitare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sprechi/ridondanze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nella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gestione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dei</a:t>
            </a:r>
            <a:r>
              <a:rPr lang="en-US" altLang="zh-CN" sz="1900" spc="64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 err="1">
                <a:solidFill>
                  <a:srgbClr val="424242"/>
                </a:solidFill>
                <a:latin typeface="Calibri"/>
                <a:ea typeface="Calibri"/>
              </a:rPr>
              <a:t>procedimenti</a:t>
            </a:r>
            <a:r>
              <a:rPr lang="en-US" altLang="zh-CN" sz="1900" dirty="0" smtClean="0">
                <a:solidFill>
                  <a:srgbClr val="424242"/>
                </a:solidFill>
                <a:latin typeface="Calibri"/>
                <a:ea typeface="Calibri"/>
              </a:rPr>
              <a:t>; con</a:t>
            </a:r>
            <a:r>
              <a:rPr lang="en-US" altLang="zh-CN" sz="1900" spc="-50" dirty="0" smtClean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l’obiettivo</a:t>
            </a:r>
            <a:r>
              <a:rPr lang="en-US" altLang="zh-CN" sz="1900" spc="-5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di</a:t>
            </a:r>
            <a:r>
              <a:rPr lang="en-US" altLang="zh-CN" sz="1900" spc="-5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velocizzare</a:t>
            </a:r>
            <a:r>
              <a:rPr lang="en-US" altLang="zh-CN" sz="1900" spc="-5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e</a:t>
            </a:r>
            <a:r>
              <a:rPr lang="en-US" altLang="zh-CN" sz="1900" spc="-5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ottimizzare</a:t>
            </a:r>
            <a:r>
              <a:rPr lang="en-US" altLang="zh-CN" sz="1900" spc="-5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la</a:t>
            </a:r>
            <a:r>
              <a:rPr lang="en-US" altLang="zh-CN" sz="1900" spc="-5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gestione</a:t>
            </a:r>
            <a:r>
              <a:rPr lang="en-US" altLang="zh-CN" sz="1900" spc="-5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dei</a:t>
            </a:r>
            <a:r>
              <a:rPr lang="en-US" altLang="zh-CN" sz="1900" spc="-6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procedimenti.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80"/>
              </a:lnSpc>
            </a:pPr>
            <a:endParaRPr lang="en-US" dirty="0" smtClean="0"/>
          </a:p>
          <a:p>
            <a:pPr marL="0" indent="83210">
              <a:lnSpc>
                <a:spcPct val="100000"/>
              </a:lnSpc>
            </a:pPr>
            <a:r>
              <a:rPr lang="en-US" altLang="zh-CN" sz="1900" b="1" dirty="0">
                <a:solidFill>
                  <a:srgbClr val="424242"/>
                </a:solidFill>
                <a:latin typeface="Calibri"/>
                <a:ea typeface="Calibri"/>
              </a:rPr>
              <a:t>La</a:t>
            </a:r>
            <a:r>
              <a:rPr lang="en-US" altLang="zh-CN" sz="1900" b="1" spc="-4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b="1" dirty="0">
                <a:solidFill>
                  <a:srgbClr val="424242"/>
                </a:solidFill>
                <a:latin typeface="Calibri"/>
                <a:ea typeface="Calibri"/>
              </a:rPr>
              <a:t>reingegnerizzazione</a:t>
            </a:r>
            <a:r>
              <a:rPr lang="en-US" altLang="zh-CN" sz="1900" b="1" spc="-4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b="1" dirty="0">
                <a:solidFill>
                  <a:srgbClr val="424242"/>
                </a:solidFill>
                <a:latin typeface="Calibri"/>
                <a:ea typeface="Calibri"/>
              </a:rPr>
              <a:t>va</a:t>
            </a:r>
            <a:r>
              <a:rPr lang="en-US" altLang="zh-CN" sz="1900" b="1" spc="-4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b="1" dirty="0">
                <a:solidFill>
                  <a:srgbClr val="424242"/>
                </a:solidFill>
                <a:latin typeface="Calibri"/>
                <a:ea typeface="Calibri"/>
              </a:rPr>
              <a:t>attuata</a:t>
            </a:r>
            <a:r>
              <a:rPr lang="en-US" altLang="zh-CN" sz="1900" b="1" spc="-44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b="1" dirty="0">
                <a:solidFill>
                  <a:srgbClr val="424242"/>
                </a:solidFill>
                <a:latin typeface="Calibri"/>
                <a:ea typeface="Calibri"/>
              </a:rPr>
              <a:t>per</a:t>
            </a:r>
            <a:r>
              <a:rPr lang="en-US" altLang="zh-CN" sz="1900" b="1" spc="-4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b="1" dirty="0">
                <a:solidFill>
                  <a:srgbClr val="424242"/>
                </a:solidFill>
                <a:latin typeface="Calibri"/>
                <a:ea typeface="Calibri"/>
              </a:rPr>
              <a:t>fasi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:</a:t>
            </a:r>
          </a:p>
          <a:p>
            <a:pPr marL="0" indent="191414">
              <a:lnSpc>
                <a:spcPct val="100000"/>
              </a:lnSpc>
            </a:pP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●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cs typeface="Calibri"/>
              </a:rPr>
              <a:t>  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analisi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dettagliata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dei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procedimenti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condotta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negli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uffici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responsabili</a:t>
            </a:r>
            <a:r>
              <a:rPr lang="en-US" altLang="zh-CN" sz="1900" spc="4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dei</a:t>
            </a:r>
          </a:p>
          <a:p>
            <a:pPr marL="0" indent="540410">
              <a:lnSpc>
                <a:spcPct val="100000"/>
              </a:lnSpc>
            </a:pPr>
            <a:r>
              <a:rPr lang="en-US" altLang="zh-CN" sz="1900" spc="-10" dirty="0">
                <a:solidFill>
                  <a:srgbClr val="424242"/>
                </a:solidFill>
                <a:latin typeface="Calibri"/>
                <a:ea typeface="Calibri"/>
              </a:rPr>
              <a:t>proc</a:t>
            </a:r>
            <a:r>
              <a:rPr lang="en-US" altLang="zh-CN" sz="1900" spc="-5" dirty="0">
                <a:solidFill>
                  <a:srgbClr val="424242"/>
                </a:solidFill>
                <a:latin typeface="Calibri"/>
                <a:ea typeface="Calibri"/>
              </a:rPr>
              <a:t>edimenti;</a:t>
            </a:r>
          </a:p>
          <a:p>
            <a:pPr marL="0" indent="191414">
              <a:lnSpc>
                <a:spcPct val="100000"/>
              </a:lnSpc>
            </a:pP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●</a:t>
            </a:r>
            <a:r>
              <a:rPr lang="en-US" altLang="zh-CN" sz="1900" spc="20" dirty="0">
                <a:solidFill>
                  <a:srgbClr val="424242"/>
                </a:solidFill>
                <a:latin typeface="Calibri"/>
                <a:cs typeface="Calibri"/>
              </a:rPr>
              <a:t>  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mappatura</a:t>
            </a:r>
            <a:r>
              <a:rPr lang="en-US" altLang="zh-CN" sz="1900" spc="2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dei</a:t>
            </a:r>
            <a:r>
              <a:rPr lang="en-US" altLang="zh-CN" sz="1900" spc="2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singoli</a:t>
            </a:r>
            <a:r>
              <a:rPr lang="en-US" altLang="zh-CN" sz="1900" spc="2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procedimenti</a:t>
            </a:r>
            <a:r>
              <a:rPr lang="en-US" altLang="zh-CN" sz="1900" spc="2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individuati;</a:t>
            </a:r>
          </a:p>
          <a:p>
            <a:pPr marL="0" indent="191414">
              <a:lnSpc>
                <a:spcPct val="100000"/>
              </a:lnSpc>
            </a:pP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●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cs typeface="Calibri"/>
              </a:rPr>
              <a:t>  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valutazione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congiunta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delle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attività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che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generano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“sprechi”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di</a:t>
            </a:r>
            <a:r>
              <a:rPr lang="en-US" altLang="zh-CN" sz="1900" spc="-5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lavoro.</a:t>
            </a:r>
          </a:p>
          <a:p>
            <a:pPr marL="0" indent="83210">
              <a:lnSpc>
                <a:spcPct val="100000"/>
              </a:lnSpc>
              <a:tabLst>
                <a:tab pos="450850" algn="l"/>
              </a:tabLst>
            </a:pPr>
            <a:r>
              <a:rPr lang="en-US" altLang="zh-CN" sz="1900" dirty="0" smtClean="0">
                <a:solidFill>
                  <a:srgbClr val="424242"/>
                </a:solidFill>
                <a:latin typeface="Calibri"/>
                <a:ea typeface="Calibri"/>
              </a:rPr>
              <a:t>	In</a:t>
            </a:r>
            <a:r>
              <a:rPr lang="en-US" altLang="zh-CN" sz="1900" spc="-69" dirty="0" smtClean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seguito</a:t>
            </a:r>
            <a:r>
              <a:rPr lang="en-US" altLang="zh-CN" sz="1900" spc="-7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a</a:t>
            </a:r>
            <a:r>
              <a:rPr lang="en-US" altLang="zh-CN" sz="1900" spc="-69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queste</a:t>
            </a:r>
            <a:r>
              <a:rPr lang="en-US" altLang="zh-CN" sz="1900" spc="-7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attività</a:t>
            </a:r>
            <a:r>
              <a:rPr lang="en-US" altLang="zh-CN" sz="1900" spc="-7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può</a:t>
            </a:r>
            <a:r>
              <a:rPr lang="en-US" altLang="zh-CN" sz="1900" spc="-69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essere</a:t>
            </a:r>
            <a:r>
              <a:rPr lang="en-US" altLang="zh-CN" sz="1900" spc="-7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effettuata</a:t>
            </a:r>
            <a:r>
              <a:rPr lang="en-US" altLang="zh-CN" sz="1900" spc="-7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la</a:t>
            </a:r>
            <a:r>
              <a:rPr lang="en-US" altLang="zh-CN" sz="1900" spc="-7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“digitalizzazione”.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75"/>
              </a:lnSpc>
            </a:pPr>
            <a:endParaRPr lang="en-US" dirty="0" smtClean="0"/>
          </a:p>
          <a:p>
            <a:pPr marL="0" indent="83210">
              <a:lnSpc>
                <a:spcPct val="100000"/>
              </a:lnSpc>
            </a:pPr>
            <a:r>
              <a:rPr lang="en-US" altLang="zh-CN" sz="1900" b="1" dirty="0">
                <a:solidFill>
                  <a:srgbClr val="424242"/>
                </a:solidFill>
                <a:latin typeface="Calibri"/>
                <a:ea typeface="Calibri"/>
              </a:rPr>
              <a:t>Cose</a:t>
            </a:r>
            <a:r>
              <a:rPr lang="en-US" altLang="zh-CN" sz="1900" b="1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b="1" dirty="0">
                <a:solidFill>
                  <a:srgbClr val="424242"/>
                </a:solidFill>
                <a:latin typeface="Calibri"/>
                <a:ea typeface="Calibri"/>
              </a:rPr>
              <a:t>da</a:t>
            </a:r>
            <a:r>
              <a:rPr lang="en-US" altLang="zh-CN" sz="1900" b="1" spc="-7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b="1" dirty="0">
                <a:solidFill>
                  <a:srgbClr val="424242"/>
                </a:solidFill>
                <a:latin typeface="Calibri"/>
                <a:ea typeface="Calibri"/>
              </a:rPr>
              <a:t>fare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:</a:t>
            </a:r>
          </a:p>
          <a:p>
            <a:pPr marL="0" indent="191414">
              <a:lnSpc>
                <a:spcPct val="100000"/>
              </a:lnSpc>
            </a:pP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1.</a:t>
            </a:r>
            <a:r>
              <a:rPr lang="en-US" altLang="zh-CN" sz="1900" spc="-20" dirty="0">
                <a:solidFill>
                  <a:srgbClr val="424242"/>
                </a:solidFill>
                <a:latin typeface="Calibri"/>
                <a:cs typeface="Calibri"/>
              </a:rPr>
              <a:t>  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monitorare</a:t>
            </a:r>
            <a:r>
              <a:rPr lang="en-US" altLang="zh-CN" sz="1900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le</a:t>
            </a:r>
            <a:r>
              <a:rPr lang="en-US" altLang="zh-CN" sz="1900" spc="-2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attività</a:t>
            </a:r>
            <a:r>
              <a:rPr lang="en-US" altLang="zh-CN" sz="1900" spc="-2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di</a:t>
            </a:r>
            <a:r>
              <a:rPr lang="en-US" altLang="zh-CN" sz="1900" spc="-2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gestione</a:t>
            </a:r>
            <a:r>
              <a:rPr lang="en-US" altLang="zh-CN" sz="1900" spc="-2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documentale</a:t>
            </a:r>
            <a:r>
              <a:rPr lang="en-US" altLang="zh-CN" sz="1900" spc="-2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dalla</a:t>
            </a:r>
            <a:r>
              <a:rPr lang="en-US" altLang="zh-CN" sz="1900" spc="-2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generazione</a:t>
            </a:r>
            <a:r>
              <a:rPr lang="en-US" altLang="zh-CN" sz="1900" spc="-2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alla</a:t>
            </a:r>
          </a:p>
          <a:p>
            <a:pPr marL="0" indent="540410">
              <a:lnSpc>
                <a:spcPct val="100000"/>
              </a:lnSpc>
            </a:pPr>
            <a:r>
              <a:rPr lang="en-US" altLang="zh-CN" sz="1900" spc="-10" dirty="0">
                <a:solidFill>
                  <a:srgbClr val="424242"/>
                </a:solidFill>
                <a:latin typeface="Calibri"/>
                <a:ea typeface="Calibri"/>
              </a:rPr>
              <a:t>conserv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azione;</a:t>
            </a:r>
          </a:p>
          <a:p>
            <a:pPr marL="0" indent="191414">
              <a:lnSpc>
                <a:spcPct val="100000"/>
              </a:lnSpc>
            </a:pP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2.</a:t>
            </a:r>
            <a:r>
              <a:rPr lang="en-US" altLang="zh-CN" sz="1900" spc="-30" dirty="0">
                <a:solidFill>
                  <a:srgbClr val="424242"/>
                </a:solidFill>
                <a:latin typeface="Calibri"/>
                <a:cs typeface="Calibri"/>
              </a:rPr>
              <a:t>  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attivare</a:t>
            </a:r>
            <a:r>
              <a:rPr lang="en-US" altLang="zh-CN" sz="1900" spc="-34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gruppi</a:t>
            </a:r>
            <a:r>
              <a:rPr lang="en-US" altLang="zh-CN" sz="1900" spc="-34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di</a:t>
            </a:r>
            <a:r>
              <a:rPr lang="en-US" altLang="zh-CN" sz="1900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lavoro</a:t>
            </a:r>
            <a:r>
              <a:rPr lang="en-US" altLang="zh-CN" sz="1900" spc="-34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trasversali</a:t>
            </a:r>
            <a:r>
              <a:rPr lang="en-US" altLang="zh-CN" sz="1900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agli</a:t>
            </a:r>
            <a:r>
              <a:rPr lang="en-US" altLang="zh-CN" sz="1900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uffici</a:t>
            </a:r>
            <a:r>
              <a:rPr lang="en-US" altLang="zh-CN" sz="1900" spc="-34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per</a:t>
            </a:r>
            <a:r>
              <a:rPr lang="en-US" altLang="zh-CN" sz="1900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le</a:t>
            </a:r>
            <a:r>
              <a:rPr lang="en-US" altLang="zh-CN" sz="1900" spc="-34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fasi</a:t>
            </a:r>
            <a:r>
              <a:rPr lang="en-US" altLang="zh-CN" sz="1900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sopra</a:t>
            </a:r>
            <a:r>
              <a:rPr lang="en-US" altLang="zh-CN" sz="1900" spc="-4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elencate;</a:t>
            </a:r>
          </a:p>
          <a:p>
            <a:pPr marL="0" indent="191414">
              <a:lnSpc>
                <a:spcPct val="100000"/>
              </a:lnSpc>
            </a:pP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3.</a:t>
            </a:r>
            <a:r>
              <a:rPr lang="en-US" altLang="zh-CN" sz="1900" spc="-25" dirty="0">
                <a:solidFill>
                  <a:srgbClr val="424242"/>
                </a:solidFill>
                <a:latin typeface="Calibri"/>
                <a:cs typeface="Calibri"/>
              </a:rPr>
              <a:t>  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definire</a:t>
            </a:r>
            <a:r>
              <a:rPr lang="en-US" altLang="zh-CN" sz="1900" spc="-2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nuove</a:t>
            </a:r>
            <a:r>
              <a:rPr lang="en-US" altLang="zh-CN" sz="1900" spc="-2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modalità</a:t>
            </a:r>
            <a:r>
              <a:rPr lang="en-US" altLang="zh-CN" sz="1900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di</a:t>
            </a:r>
            <a:r>
              <a:rPr lang="en-US" altLang="zh-CN" sz="1900" spc="-2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gestione/conservazione</a:t>
            </a:r>
            <a:r>
              <a:rPr lang="en-US" altLang="zh-CN" sz="1900" spc="-2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documentale,</a:t>
            </a:r>
            <a:r>
              <a:rPr lang="en-US" altLang="zh-CN" sz="1900" spc="-2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rispetto</a:t>
            </a:r>
            <a:r>
              <a:rPr lang="en-US" altLang="zh-CN" sz="1900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al</a:t>
            </a:r>
          </a:p>
          <a:p>
            <a:pPr marL="0" indent="540410">
              <a:lnSpc>
                <a:spcPct val="100000"/>
              </a:lnSpc>
            </a:pP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passato,</a:t>
            </a:r>
            <a:r>
              <a:rPr lang="en-US" altLang="zh-CN" sz="1900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che</a:t>
            </a:r>
            <a:r>
              <a:rPr lang="en-US" altLang="zh-CN" sz="1900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consentono</a:t>
            </a:r>
            <a:r>
              <a:rPr lang="en-US" altLang="zh-CN" sz="1900" spc="-34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la</a:t>
            </a:r>
            <a:r>
              <a:rPr lang="en-US" altLang="zh-CN" sz="1900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semplificazione</a:t>
            </a:r>
            <a:r>
              <a:rPr lang="en-US" altLang="zh-CN" sz="1900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e</a:t>
            </a:r>
            <a:r>
              <a:rPr lang="en-US" altLang="zh-CN" sz="1900" spc="-34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la</a:t>
            </a:r>
            <a:r>
              <a:rPr lang="en-US" altLang="zh-CN" sz="1900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più</a:t>
            </a:r>
            <a:r>
              <a:rPr lang="en-US" altLang="zh-CN" sz="1900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ampia</a:t>
            </a:r>
            <a:r>
              <a:rPr lang="en-US" altLang="zh-CN" sz="1900" spc="-4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424242"/>
                </a:solidFill>
                <a:latin typeface="Calibri"/>
                <a:ea typeface="Calibri"/>
              </a:rPr>
              <a:t>digitalizzazione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10287" y="1582876"/>
            <a:ext cx="8525351" cy="481349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715" algn="just">
              <a:lnSpc>
                <a:spcPct val="100000"/>
              </a:lnSpc>
              <a:spcBef>
                <a:spcPts val="95"/>
              </a:spcBef>
            </a:pP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1.</a:t>
            </a:r>
            <a:r>
              <a:rPr sz="2600" spc="440" dirty="0">
                <a:solidFill>
                  <a:srgbClr val="44536A"/>
                </a:solidFill>
                <a:latin typeface="Calibri"/>
                <a:cs typeface="Calibri"/>
              </a:rPr>
              <a:t> 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Le</a:t>
            </a:r>
            <a:r>
              <a:rPr sz="2600" spc="455" dirty="0">
                <a:solidFill>
                  <a:srgbClr val="44536A"/>
                </a:solidFill>
                <a:latin typeface="Calibri"/>
                <a:cs typeface="Calibri"/>
              </a:rPr>
              <a:t> 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pubbliche</a:t>
            </a:r>
            <a:r>
              <a:rPr sz="2600" spc="440" dirty="0">
                <a:solidFill>
                  <a:srgbClr val="44536A"/>
                </a:solidFill>
                <a:latin typeface="Calibri"/>
                <a:cs typeface="Calibri"/>
              </a:rPr>
              <a:t> 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amministrazioni</a:t>
            </a:r>
            <a:r>
              <a:rPr sz="2600" spc="445" dirty="0">
                <a:solidFill>
                  <a:srgbClr val="44536A"/>
                </a:solidFill>
                <a:latin typeface="Calibri"/>
                <a:cs typeface="Calibri"/>
              </a:rPr>
              <a:t> 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garantiscono</a:t>
            </a:r>
            <a:r>
              <a:rPr sz="2600" spc="450" dirty="0">
                <a:solidFill>
                  <a:srgbClr val="44536A"/>
                </a:solidFill>
                <a:latin typeface="Calibri"/>
                <a:cs typeface="Calibri"/>
              </a:rPr>
              <a:t> 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l’attuazione</a:t>
            </a:r>
            <a:r>
              <a:rPr sz="2600" spc="455" dirty="0">
                <a:solidFill>
                  <a:srgbClr val="44536A"/>
                </a:solidFill>
                <a:latin typeface="Calibri"/>
                <a:cs typeface="Calibri"/>
              </a:rPr>
              <a:t> 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delle</a:t>
            </a:r>
            <a:r>
              <a:rPr sz="2600" spc="434" dirty="0">
                <a:solidFill>
                  <a:srgbClr val="44536A"/>
                </a:solidFill>
                <a:latin typeface="Calibri"/>
                <a:cs typeface="Calibri"/>
              </a:rPr>
              <a:t>  </a:t>
            </a:r>
            <a:r>
              <a:rPr sz="2600" spc="-10" dirty="0">
                <a:solidFill>
                  <a:srgbClr val="44536A"/>
                </a:solidFill>
                <a:latin typeface="Calibri"/>
                <a:cs typeface="Calibri"/>
              </a:rPr>
              <a:t>linee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strategiche</a:t>
            </a:r>
            <a:r>
              <a:rPr sz="2600" spc="39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per</a:t>
            </a:r>
            <a:r>
              <a:rPr sz="2600" spc="38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la</a:t>
            </a:r>
            <a:r>
              <a:rPr sz="2600" spc="39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riorganizzazione</a:t>
            </a:r>
            <a:r>
              <a:rPr sz="2600" spc="38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e</a:t>
            </a:r>
            <a:r>
              <a:rPr sz="2600" spc="38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la</a:t>
            </a:r>
            <a:r>
              <a:rPr sz="2600" spc="40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digitalizzazione</a:t>
            </a:r>
            <a:r>
              <a:rPr sz="2600" spc="39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4536A"/>
                </a:solidFill>
                <a:latin typeface="Calibri"/>
                <a:cs typeface="Calibri"/>
              </a:rPr>
              <a:t>dell’amministrazione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definite</a:t>
            </a:r>
            <a:r>
              <a:rPr sz="2600" spc="-6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dal</a:t>
            </a:r>
            <a:r>
              <a:rPr sz="2600" spc="-7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Governo</a:t>
            </a:r>
            <a:r>
              <a:rPr sz="2600" spc="-7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in</a:t>
            </a:r>
            <a:r>
              <a:rPr sz="2600" spc="-7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coerenza</a:t>
            </a:r>
            <a:r>
              <a:rPr sz="2600" spc="-7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con</a:t>
            </a:r>
            <a:r>
              <a:rPr sz="2600" spc="-7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le</a:t>
            </a:r>
            <a:r>
              <a:rPr sz="2600" spc="-8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regole</a:t>
            </a:r>
            <a:r>
              <a:rPr sz="2600" spc="-9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tecniche</a:t>
            </a:r>
            <a:r>
              <a:rPr sz="2600" spc="-5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di</a:t>
            </a:r>
            <a:r>
              <a:rPr sz="2600" spc="-7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cui</a:t>
            </a:r>
            <a:r>
              <a:rPr sz="2600" spc="-7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all’articolo</a:t>
            </a:r>
            <a:r>
              <a:rPr sz="2600" spc="-8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44536A"/>
                </a:solidFill>
                <a:latin typeface="Calibri"/>
                <a:cs typeface="Calibri"/>
              </a:rPr>
              <a:t>71.</a:t>
            </a:r>
            <a:endParaRPr sz="2600" dirty="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</a:pP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A</a:t>
            </a:r>
            <a:r>
              <a:rPr sz="2600" spc="150" dirty="0">
                <a:solidFill>
                  <a:srgbClr val="44536A"/>
                </a:solidFill>
                <a:latin typeface="Calibri"/>
                <a:cs typeface="Calibri"/>
              </a:rPr>
              <a:t> 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tal</a:t>
            </a:r>
            <a:r>
              <a:rPr sz="2600" spc="155" dirty="0">
                <a:solidFill>
                  <a:srgbClr val="44536A"/>
                </a:solidFill>
                <a:latin typeface="Calibri"/>
                <a:cs typeface="Calibri"/>
              </a:rPr>
              <a:t> 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fine,</a:t>
            </a:r>
            <a:r>
              <a:rPr sz="2600" spc="155" dirty="0">
                <a:solidFill>
                  <a:srgbClr val="44536A"/>
                </a:solidFill>
                <a:latin typeface="Calibri"/>
                <a:cs typeface="Calibri"/>
              </a:rPr>
              <a:t> 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ciascuna</a:t>
            </a:r>
            <a:r>
              <a:rPr sz="2600" spc="160" dirty="0">
                <a:solidFill>
                  <a:srgbClr val="44536A"/>
                </a:solidFill>
                <a:latin typeface="Calibri"/>
                <a:cs typeface="Calibri"/>
              </a:rPr>
              <a:t> 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pubblica</a:t>
            </a:r>
            <a:r>
              <a:rPr sz="2600" spc="155" dirty="0">
                <a:solidFill>
                  <a:srgbClr val="44536A"/>
                </a:solidFill>
                <a:latin typeface="Calibri"/>
                <a:cs typeface="Calibri"/>
              </a:rPr>
              <a:t> 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amministrazione</a:t>
            </a:r>
            <a:r>
              <a:rPr sz="2600" spc="155" dirty="0">
                <a:solidFill>
                  <a:srgbClr val="44536A"/>
                </a:solidFill>
                <a:latin typeface="Calibri"/>
                <a:cs typeface="Calibri"/>
              </a:rPr>
              <a:t>  </a:t>
            </a:r>
            <a:r>
              <a:rPr sz="26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affida</a:t>
            </a:r>
            <a:r>
              <a:rPr sz="2600" b="1" u="sng" spc="16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 </a:t>
            </a:r>
            <a:r>
              <a:rPr sz="26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a</a:t>
            </a:r>
            <a:r>
              <a:rPr sz="2600" b="1" u="sng" spc="15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 </a:t>
            </a:r>
            <a:r>
              <a:rPr sz="26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un</a:t>
            </a:r>
            <a:r>
              <a:rPr sz="2600" b="1" u="sng" spc="15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 </a:t>
            </a:r>
            <a:r>
              <a:rPr sz="26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unico</a:t>
            </a:r>
            <a:r>
              <a:rPr sz="2600" b="1" u="sng" spc="15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 </a:t>
            </a:r>
            <a:r>
              <a:rPr sz="2600" b="1" u="sng" spc="-1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ufficio</a:t>
            </a:r>
            <a:r>
              <a:rPr sz="2600" b="1" spc="-1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dirigenziale</a:t>
            </a:r>
            <a:r>
              <a:rPr sz="2600" b="1" u="sng" spc="24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26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generale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,</a:t>
            </a:r>
            <a:r>
              <a:rPr sz="2600" spc="23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fermo</a:t>
            </a:r>
            <a:r>
              <a:rPr sz="2600" spc="229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restando</a:t>
            </a:r>
            <a:r>
              <a:rPr sz="2600" spc="24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il</a:t>
            </a:r>
            <a:r>
              <a:rPr sz="2600" spc="24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numero</a:t>
            </a:r>
            <a:r>
              <a:rPr sz="2600" spc="23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complessivo</a:t>
            </a:r>
            <a:r>
              <a:rPr sz="2600" spc="25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di</a:t>
            </a:r>
            <a:r>
              <a:rPr sz="2600" spc="229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tali</a:t>
            </a:r>
            <a:r>
              <a:rPr sz="2600" spc="23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uffici,</a:t>
            </a:r>
            <a:r>
              <a:rPr sz="2600" spc="23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b="1" u="sng" spc="-2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la</a:t>
            </a:r>
            <a:r>
              <a:rPr sz="2600" b="1" spc="-2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transizione</a:t>
            </a:r>
            <a:r>
              <a:rPr sz="2600" b="1" u="sng" spc="10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 </a:t>
            </a:r>
            <a:r>
              <a:rPr sz="26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alla</a:t>
            </a:r>
            <a:r>
              <a:rPr sz="2600" b="1" u="sng" spc="10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 </a:t>
            </a:r>
            <a:r>
              <a:rPr sz="26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modalità</a:t>
            </a:r>
            <a:r>
              <a:rPr sz="2600" b="1" u="sng" spc="11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 </a:t>
            </a:r>
            <a:r>
              <a:rPr sz="26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operativa</a:t>
            </a:r>
            <a:r>
              <a:rPr sz="2600" b="1" u="sng" spc="114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 </a:t>
            </a:r>
            <a:r>
              <a:rPr sz="26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digitale</a:t>
            </a:r>
            <a:r>
              <a:rPr sz="2600" b="1" u="sng" spc="11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 </a:t>
            </a:r>
            <a:r>
              <a:rPr sz="26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e</a:t>
            </a:r>
            <a:r>
              <a:rPr sz="2600" b="1" u="sng" spc="10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 </a:t>
            </a:r>
            <a:r>
              <a:rPr sz="26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i</a:t>
            </a:r>
            <a:r>
              <a:rPr sz="2600" b="1" u="sng" spc="10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 </a:t>
            </a:r>
            <a:r>
              <a:rPr sz="26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conseguenti</a:t>
            </a:r>
            <a:r>
              <a:rPr sz="2600" b="1" u="sng" spc="10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 </a:t>
            </a:r>
            <a:r>
              <a:rPr sz="26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processi</a:t>
            </a:r>
            <a:r>
              <a:rPr sz="2600" b="1" u="sng" spc="10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 </a:t>
            </a:r>
            <a:r>
              <a:rPr sz="2600" b="1" u="sng" spc="-2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di</a:t>
            </a:r>
            <a:r>
              <a:rPr sz="2600" b="1" spc="-2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riorganizzazione</a:t>
            </a:r>
            <a:r>
              <a:rPr sz="2600" b="1" spc="16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finalizzati</a:t>
            </a:r>
            <a:r>
              <a:rPr sz="2600" spc="17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alla</a:t>
            </a:r>
            <a:r>
              <a:rPr sz="2600" spc="17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realizzazione</a:t>
            </a:r>
            <a:r>
              <a:rPr sz="2600" spc="16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di</a:t>
            </a:r>
            <a:r>
              <a:rPr sz="2600" spc="17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un’amministrazione</a:t>
            </a:r>
            <a:r>
              <a:rPr sz="2600" spc="17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digitale</a:t>
            </a:r>
            <a:r>
              <a:rPr sz="2600" spc="16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spc="-50" dirty="0">
                <a:solidFill>
                  <a:srgbClr val="44536A"/>
                </a:solidFill>
                <a:latin typeface="Calibri"/>
                <a:cs typeface="Calibri"/>
              </a:rPr>
              <a:t>e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aperta,</a:t>
            </a:r>
            <a:r>
              <a:rPr sz="2600" spc="26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di</a:t>
            </a:r>
            <a:r>
              <a:rPr sz="2600" spc="28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servizi</a:t>
            </a:r>
            <a:r>
              <a:rPr sz="2600" spc="24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facilmente</a:t>
            </a:r>
            <a:r>
              <a:rPr sz="2600" spc="27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utilizzabili</a:t>
            </a:r>
            <a:r>
              <a:rPr sz="2600" spc="26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e</a:t>
            </a:r>
            <a:r>
              <a:rPr sz="2600" spc="26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di</a:t>
            </a:r>
            <a:r>
              <a:rPr sz="2600" spc="26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qualità,</a:t>
            </a:r>
            <a:r>
              <a:rPr sz="2600" spc="28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attraverso</a:t>
            </a:r>
            <a:r>
              <a:rPr sz="2600" spc="26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una</a:t>
            </a:r>
            <a:r>
              <a:rPr sz="2600" spc="27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4536A"/>
                </a:solidFill>
                <a:latin typeface="Calibri"/>
                <a:cs typeface="Calibri"/>
              </a:rPr>
              <a:t>maggiore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efficienza</a:t>
            </a:r>
            <a:r>
              <a:rPr sz="2600" spc="-10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536A"/>
                </a:solidFill>
                <a:latin typeface="Calibri"/>
                <a:cs typeface="Calibri"/>
              </a:rPr>
              <a:t>ed</a:t>
            </a:r>
            <a:r>
              <a:rPr sz="2600" spc="-8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600" spc="-10" dirty="0" err="1">
                <a:solidFill>
                  <a:srgbClr val="44536A"/>
                </a:solidFill>
                <a:latin typeface="Calibri"/>
                <a:cs typeface="Calibri"/>
              </a:rPr>
              <a:t>economicità</a:t>
            </a:r>
            <a:r>
              <a:rPr sz="2600" spc="-10" dirty="0" smtClean="0">
                <a:solidFill>
                  <a:srgbClr val="44536A"/>
                </a:solidFill>
                <a:latin typeface="Calibri"/>
                <a:cs typeface="Calibri"/>
              </a:rPr>
              <a:t>.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4" name="Rettangolo 3"/>
          <p:cNvSpPr/>
          <p:nvPr/>
        </p:nvSpPr>
        <p:spPr>
          <a:xfrm>
            <a:off x="171450" y="152400"/>
            <a:ext cx="10287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450" y="181982"/>
            <a:ext cx="8664188" cy="1328312"/>
          </a:xfrm>
          <a:prstGeom prst="rect">
            <a:avLst/>
          </a:prstGeom>
        </p:spPr>
        <p:txBody>
          <a:bodyPr vert="horz" wrap="square" lIns="0" tIns="157226" rIns="0" bIns="0" rtlCol="0">
            <a:spAutoFit/>
          </a:bodyPr>
          <a:lstStyle/>
          <a:p>
            <a:pPr marL="309880">
              <a:lnSpc>
                <a:spcPct val="100000"/>
              </a:lnSpc>
              <a:spcBef>
                <a:spcPts val="100"/>
              </a:spcBef>
            </a:pPr>
            <a:r>
              <a:rPr lang="it-IT" dirty="0" smtClean="0"/>
              <a:t>Chi realizza questi percorsi nelle PA?</a:t>
            </a:r>
            <a:br>
              <a:rPr lang="it-IT" dirty="0" smtClean="0"/>
            </a:br>
            <a:r>
              <a:rPr sz="3200" dirty="0" smtClean="0"/>
              <a:t>Il</a:t>
            </a:r>
            <a:r>
              <a:rPr sz="3200" spc="-15" dirty="0" smtClean="0"/>
              <a:t> </a:t>
            </a:r>
            <a:r>
              <a:rPr sz="3200" dirty="0"/>
              <a:t>Responsabile</a:t>
            </a:r>
            <a:r>
              <a:rPr sz="3200" spc="10" dirty="0"/>
              <a:t> </a:t>
            </a:r>
            <a:r>
              <a:rPr sz="3200" dirty="0"/>
              <a:t>per</a:t>
            </a:r>
            <a:r>
              <a:rPr sz="3200" spc="-5" dirty="0"/>
              <a:t> </a:t>
            </a:r>
            <a:r>
              <a:rPr sz="3200" dirty="0"/>
              <a:t>la</a:t>
            </a:r>
            <a:r>
              <a:rPr sz="3200" spc="-5" dirty="0"/>
              <a:t> </a:t>
            </a:r>
            <a:r>
              <a:rPr sz="3200" dirty="0"/>
              <a:t>Transizione</a:t>
            </a:r>
            <a:r>
              <a:rPr sz="3200" spc="-20" dirty="0"/>
              <a:t> </a:t>
            </a:r>
            <a:r>
              <a:rPr sz="3200" dirty="0"/>
              <a:t>al </a:t>
            </a:r>
            <a:r>
              <a:rPr sz="3200" spc="-10" dirty="0"/>
              <a:t>Digitale</a:t>
            </a:r>
          </a:p>
        </p:txBody>
      </p:sp>
    </p:spTree>
    <p:extLst>
      <p:ext uri="{BB962C8B-B14F-4D97-AF65-F5344CB8AC3E}">
        <p14:creationId xmlns:p14="http://schemas.microsoft.com/office/powerpoint/2010/main" val="2171598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0" y="5799033"/>
            <a:ext cx="3349202" cy="1058963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5791063"/>
            <a:ext cx="3352324" cy="1067435"/>
          </a:xfrm>
          <a:custGeom>
            <a:avLst/>
            <a:gdLst/>
            <a:ahLst/>
            <a:cxnLst/>
            <a:rect l="l" t="t" r="r" b="b"/>
            <a:pathLst>
              <a:path w="4469765" h="1067434">
                <a:moveTo>
                  <a:pt x="0" y="0"/>
                </a:moveTo>
                <a:lnTo>
                  <a:pt x="4469317" y="1066935"/>
                </a:lnTo>
              </a:path>
            </a:pathLst>
          </a:custGeom>
          <a:ln w="12192">
            <a:solidFill>
              <a:srgbClr val="2D52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0466" y="157307"/>
            <a:ext cx="827348" cy="113561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80845" y="922020"/>
            <a:ext cx="4782311" cy="5935977"/>
          </a:xfrm>
          <a:prstGeom prst="rect">
            <a:avLst/>
          </a:prstGeom>
        </p:spPr>
      </p:pic>
      <p:sp>
        <p:nvSpPr>
          <p:cNvPr id="7" name="Rettangolo 6"/>
          <p:cNvSpPr/>
          <p:nvPr/>
        </p:nvSpPr>
        <p:spPr>
          <a:xfrm>
            <a:off x="171450" y="152400"/>
            <a:ext cx="10287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7200" y="428203"/>
            <a:ext cx="8229600" cy="835870"/>
          </a:xfrm>
          <a:prstGeom prst="rect">
            <a:avLst/>
          </a:prstGeom>
        </p:spPr>
        <p:txBody>
          <a:bodyPr vert="horz" wrap="square" lIns="0" tIns="157226" rIns="0" bIns="0" rtlCol="0">
            <a:spAutoFit/>
          </a:bodyPr>
          <a:lstStyle/>
          <a:p>
            <a:pPr marL="771525">
              <a:lnSpc>
                <a:spcPct val="100000"/>
              </a:lnSpc>
              <a:spcBef>
                <a:spcPts val="100"/>
              </a:spcBef>
            </a:pPr>
            <a:r>
              <a:rPr dirty="0"/>
              <a:t>La</a:t>
            </a:r>
            <a:r>
              <a:rPr spc="-15" dirty="0"/>
              <a:t> </a:t>
            </a:r>
            <a:r>
              <a:rPr dirty="0"/>
              <a:t>Circolare</a:t>
            </a:r>
            <a:r>
              <a:rPr spc="-20" dirty="0"/>
              <a:t> </a:t>
            </a:r>
            <a:r>
              <a:rPr dirty="0"/>
              <a:t>n.3</a:t>
            </a:r>
            <a:r>
              <a:rPr spc="-10" dirty="0"/>
              <a:t> </a:t>
            </a:r>
            <a:r>
              <a:rPr dirty="0"/>
              <a:t>del</a:t>
            </a:r>
            <a:r>
              <a:rPr spc="-5" dirty="0"/>
              <a:t> </a:t>
            </a:r>
            <a:r>
              <a:rPr spc="-10" dirty="0"/>
              <a:t>01/10/2018</a:t>
            </a:r>
          </a:p>
        </p:txBody>
      </p:sp>
    </p:spTree>
    <p:extLst>
      <p:ext uri="{BB962C8B-B14F-4D97-AF65-F5344CB8AC3E}">
        <p14:creationId xmlns:p14="http://schemas.microsoft.com/office/powerpoint/2010/main" val="4469142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9802" y="142486"/>
            <a:ext cx="8824198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915" marR="5080" indent="-196850">
              <a:lnSpc>
                <a:spcPct val="100000"/>
              </a:lnSpc>
              <a:spcBef>
                <a:spcPts val="100"/>
              </a:spcBef>
            </a:pPr>
            <a:r>
              <a:rPr dirty="0"/>
              <a:t>Cosa</a:t>
            </a:r>
            <a:r>
              <a:rPr spc="-45" dirty="0"/>
              <a:t> </a:t>
            </a:r>
            <a:r>
              <a:rPr dirty="0"/>
              <a:t>deve</a:t>
            </a:r>
            <a:r>
              <a:rPr spc="-45" dirty="0"/>
              <a:t> </a:t>
            </a:r>
            <a:r>
              <a:rPr dirty="0"/>
              <a:t>fare</a:t>
            </a:r>
            <a:r>
              <a:rPr spc="-65" dirty="0"/>
              <a:t> </a:t>
            </a:r>
            <a:r>
              <a:rPr dirty="0"/>
              <a:t>il</a:t>
            </a:r>
            <a:r>
              <a:rPr spc="-40" dirty="0"/>
              <a:t> </a:t>
            </a:r>
            <a:r>
              <a:rPr spc="-10" dirty="0"/>
              <a:t>Responsabile </a:t>
            </a:r>
            <a:r>
              <a:rPr dirty="0"/>
              <a:t>per</a:t>
            </a:r>
            <a:r>
              <a:rPr spc="-60" dirty="0"/>
              <a:t> </a:t>
            </a:r>
            <a:r>
              <a:rPr dirty="0"/>
              <a:t>la</a:t>
            </a:r>
            <a:r>
              <a:rPr spc="-40" dirty="0"/>
              <a:t> </a:t>
            </a:r>
            <a:r>
              <a:rPr spc="-10" dirty="0"/>
              <a:t>Transizione</a:t>
            </a:r>
            <a:r>
              <a:rPr spc="-45" dirty="0"/>
              <a:t> </a:t>
            </a:r>
            <a:r>
              <a:rPr dirty="0"/>
              <a:t>al</a:t>
            </a:r>
            <a:r>
              <a:rPr spc="-40" dirty="0"/>
              <a:t> </a:t>
            </a:r>
            <a:r>
              <a:rPr spc="-10" dirty="0"/>
              <a:t>Digitale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319802" y="1600200"/>
            <a:ext cx="8366998" cy="4796057"/>
          </a:xfrm>
          <a:prstGeom prst="rect">
            <a:avLst/>
          </a:prstGeom>
        </p:spPr>
        <p:txBody>
          <a:bodyPr vert="horz" wrap="square" lIns="0" tIns="153289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05"/>
              </a:spcBef>
            </a:pPr>
            <a:r>
              <a:rPr sz="2600" dirty="0"/>
              <a:t>VERIFICA</a:t>
            </a:r>
            <a:r>
              <a:rPr sz="2600" spc="-35" dirty="0"/>
              <a:t> </a:t>
            </a:r>
            <a:r>
              <a:rPr sz="2600" b="1" u="sng" dirty="0"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COMPLETEZZA</a:t>
            </a:r>
            <a:r>
              <a:rPr sz="2600" b="1" u="sng" spc="-75" dirty="0"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2600" b="1" u="sng" dirty="0"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NOMINA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dirty="0"/>
              <a:t>E</a:t>
            </a:r>
            <a:r>
              <a:rPr sz="2600" spc="-55" dirty="0"/>
              <a:t> </a:t>
            </a:r>
            <a:r>
              <a:rPr sz="2600" spc="-35" dirty="0"/>
              <a:t>NECESSITA’</a:t>
            </a:r>
            <a:r>
              <a:rPr sz="2600" spc="-30" dirty="0"/>
              <a:t> </a:t>
            </a:r>
            <a:r>
              <a:rPr sz="2600" dirty="0"/>
              <a:t>DI</a:t>
            </a:r>
            <a:r>
              <a:rPr sz="2600" spc="-40" dirty="0"/>
              <a:t> </a:t>
            </a:r>
            <a:r>
              <a:rPr sz="2600" spc="-10" dirty="0" smtClean="0"/>
              <a:t>EVENTUALI</a:t>
            </a:r>
            <a:r>
              <a:rPr lang="it-IT" sz="2600" spc="-10" dirty="0" smtClean="0"/>
              <a:t> </a:t>
            </a:r>
            <a:r>
              <a:rPr sz="2600" spc="-10" dirty="0" smtClean="0"/>
              <a:t>INTEGRAZIONI</a:t>
            </a:r>
            <a:endParaRPr sz="2600" spc="-10" dirty="0"/>
          </a:p>
          <a:p>
            <a:pPr marL="355600" marR="601980">
              <a:lnSpc>
                <a:spcPct val="100000"/>
              </a:lnSpc>
            </a:pPr>
            <a:r>
              <a:rPr sz="2600" b="1" u="sng" dirty="0"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COSTITUZIONE</a:t>
            </a:r>
            <a:r>
              <a:rPr sz="2600" b="1" u="sng" spc="-65" dirty="0"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2600" b="1" u="sng" dirty="0"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DEL</a:t>
            </a:r>
            <a:r>
              <a:rPr sz="2600" b="1" u="sng" spc="-75" dirty="0"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2600" b="1" u="sng" dirty="0"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TEAM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dirty="0"/>
              <a:t>DI</a:t>
            </a:r>
            <a:r>
              <a:rPr sz="2600" spc="-50" dirty="0"/>
              <a:t> </a:t>
            </a:r>
            <a:r>
              <a:rPr sz="2600" dirty="0"/>
              <a:t>TRASFORMAZIONE</a:t>
            </a:r>
            <a:r>
              <a:rPr sz="2600" spc="-50" dirty="0"/>
              <a:t> </a:t>
            </a:r>
            <a:r>
              <a:rPr sz="2600" spc="-10" dirty="0"/>
              <a:t>DIGITALE </a:t>
            </a:r>
            <a:r>
              <a:rPr sz="2600" dirty="0"/>
              <a:t>PREDISPOSIZIONE</a:t>
            </a:r>
            <a:r>
              <a:rPr sz="2600" spc="-30" dirty="0"/>
              <a:t> </a:t>
            </a:r>
            <a:r>
              <a:rPr sz="2600" dirty="0"/>
              <a:t>DI</a:t>
            </a:r>
            <a:r>
              <a:rPr sz="2600" spc="-15" dirty="0"/>
              <a:t> </a:t>
            </a:r>
            <a:r>
              <a:rPr sz="2600" dirty="0"/>
              <a:t>UNA</a:t>
            </a:r>
            <a:r>
              <a:rPr sz="2600" spc="-15" dirty="0"/>
              <a:t> </a:t>
            </a:r>
            <a:r>
              <a:rPr sz="2600" b="1" u="sng" dirty="0"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RELAZIONE</a:t>
            </a:r>
            <a:r>
              <a:rPr sz="2600" b="1" u="sng" spc="-45" dirty="0"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2600" b="1" u="sng" dirty="0"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DI</a:t>
            </a:r>
            <a:r>
              <a:rPr sz="2600" b="1" u="sng" spc="-30" dirty="0"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2600" b="1" u="sng" dirty="0"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ASSESSMENT</a:t>
            </a:r>
            <a:r>
              <a:rPr sz="2600" b="1" spc="15" dirty="0">
                <a:latin typeface="Calibri"/>
                <a:cs typeface="Calibri"/>
              </a:rPr>
              <a:t> </a:t>
            </a:r>
            <a:r>
              <a:rPr sz="2600" spc="-25" dirty="0"/>
              <a:t>IN </a:t>
            </a:r>
            <a:r>
              <a:rPr sz="2600" dirty="0"/>
              <a:t>RELAZIONE</a:t>
            </a:r>
            <a:r>
              <a:rPr sz="2600" spc="-30" dirty="0"/>
              <a:t> </a:t>
            </a:r>
            <a:r>
              <a:rPr sz="2600" dirty="0"/>
              <a:t>A</a:t>
            </a:r>
            <a:r>
              <a:rPr sz="2600" spc="-40" dirty="0"/>
              <a:t> </a:t>
            </a:r>
            <a:r>
              <a:rPr sz="2600" dirty="0"/>
              <a:t>OBIETTIVI</a:t>
            </a:r>
            <a:r>
              <a:rPr sz="2600" spc="-30" dirty="0"/>
              <a:t> </a:t>
            </a:r>
            <a:r>
              <a:rPr sz="2600" spc="-20" dirty="0"/>
              <a:t>(NORMATIVI,</a:t>
            </a:r>
            <a:r>
              <a:rPr sz="2600" spc="-15" dirty="0"/>
              <a:t> </a:t>
            </a:r>
            <a:r>
              <a:rPr sz="2600" dirty="0"/>
              <a:t>PIANO</a:t>
            </a:r>
            <a:r>
              <a:rPr sz="2600" spc="-50" dirty="0"/>
              <a:t> </a:t>
            </a:r>
            <a:r>
              <a:rPr sz="2600" dirty="0"/>
              <a:t>TRIENNALE,</a:t>
            </a:r>
            <a:r>
              <a:rPr sz="2600" spc="-20" dirty="0"/>
              <a:t> </a:t>
            </a:r>
            <a:r>
              <a:rPr sz="2600" spc="-10" dirty="0"/>
              <a:t>ECC.) </a:t>
            </a:r>
            <a:r>
              <a:rPr sz="2600" dirty="0"/>
              <a:t>REDAZIONE</a:t>
            </a:r>
            <a:r>
              <a:rPr sz="2600" spc="-30" dirty="0"/>
              <a:t> </a:t>
            </a:r>
            <a:r>
              <a:rPr sz="2600" b="1" u="sng" dirty="0"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PIANO</a:t>
            </a:r>
            <a:r>
              <a:rPr sz="2600" b="1" u="sng" spc="-50" dirty="0"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2600" b="1" u="sng" spc="-10" dirty="0"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TRIENNALE</a:t>
            </a:r>
          </a:p>
          <a:p>
            <a:pPr marL="355600">
              <a:lnSpc>
                <a:spcPct val="100000"/>
              </a:lnSpc>
            </a:pPr>
            <a:r>
              <a:rPr sz="2600" dirty="0"/>
              <a:t>PREDISPOSIZIONE</a:t>
            </a:r>
            <a:r>
              <a:rPr sz="2600" spc="-25" dirty="0"/>
              <a:t> </a:t>
            </a:r>
            <a:r>
              <a:rPr sz="2600" dirty="0"/>
              <a:t>DI</a:t>
            </a:r>
            <a:r>
              <a:rPr sz="2600" spc="-10" dirty="0"/>
              <a:t> </a:t>
            </a:r>
            <a:r>
              <a:rPr sz="2600" dirty="0"/>
              <a:t>UN</a:t>
            </a:r>
            <a:r>
              <a:rPr sz="2600" spc="-10" dirty="0"/>
              <a:t> </a:t>
            </a:r>
            <a:r>
              <a:rPr sz="2600" b="1" u="sng" dirty="0"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PIANO</a:t>
            </a:r>
            <a:r>
              <a:rPr sz="2600" b="1" u="sng" spc="-25" dirty="0"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2600" b="1" u="sng" dirty="0"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DI</a:t>
            </a:r>
            <a:r>
              <a:rPr sz="2600" b="1" u="sng" spc="-20" dirty="0"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2600" b="1" u="sng" dirty="0"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FORMAZIONE</a:t>
            </a:r>
            <a:r>
              <a:rPr sz="2600" b="1" u="sng" spc="-55" dirty="0"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2600" b="1" u="sng" dirty="0"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DEL</a:t>
            </a:r>
            <a:r>
              <a:rPr sz="2600" b="1" u="sng" spc="-10" dirty="0"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PERSONALE</a:t>
            </a:r>
          </a:p>
          <a:p>
            <a:pPr marL="355600">
              <a:lnSpc>
                <a:spcPct val="100000"/>
              </a:lnSpc>
            </a:pPr>
            <a:r>
              <a:rPr sz="2600" dirty="0"/>
              <a:t>ORGANIZZAZIONE</a:t>
            </a:r>
            <a:r>
              <a:rPr sz="2600" spc="-30" dirty="0"/>
              <a:t> </a:t>
            </a:r>
            <a:r>
              <a:rPr sz="2600" dirty="0"/>
              <a:t>DI</a:t>
            </a:r>
            <a:r>
              <a:rPr sz="2600" spc="-15" dirty="0"/>
              <a:t> </a:t>
            </a:r>
            <a:r>
              <a:rPr sz="2600" b="1" u="sng" spc="-70" dirty="0"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ATTIVITA’</a:t>
            </a:r>
            <a:r>
              <a:rPr sz="2600" b="1" u="sng" spc="-45" dirty="0"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2600" b="1" u="sng" spc="-25" dirty="0"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INFORMATIVE</a:t>
            </a:r>
            <a:r>
              <a:rPr sz="2600" b="1" u="sng" spc="-65" dirty="0"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2600" b="1" u="sng" dirty="0"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PER</a:t>
            </a:r>
            <a:r>
              <a:rPr sz="2600" b="1" u="sng" spc="-45" dirty="0"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2600" b="1" u="sng" dirty="0"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GLI</a:t>
            </a:r>
            <a:r>
              <a:rPr sz="2600" b="1" u="sng" spc="-45" dirty="0"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2600" b="1" u="sng" spc="-10" dirty="0"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UTENTI</a:t>
            </a:r>
          </a:p>
        </p:txBody>
      </p:sp>
    </p:spTree>
    <p:extLst>
      <p:ext uri="{BB962C8B-B14F-4D97-AF65-F5344CB8AC3E}">
        <p14:creationId xmlns:p14="http://schemas.microsoft.com/office/powerpoint/2010/main" val="34130323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 29"/>
          <p:cNvSpPr/>
          <p:nvPr/>
        </p:nvSpPr>
        <p:spPr>
          <a:xfrm>
            <a:off x="0" y="0"/>
            <a:ext cx="9144000" cy="6857999"/>
          </a:xfrm>
          <a:custGeom>
            <a:avLst/>
            <a:gdLst>
              <a:gd name="connsiteX0" fmla="*/ 0 w 9144000"/>
              <a:gd name="connsiteY0" fmla="*/ 6857999 h 6857999"/>
              <a:gd name="connsiteX1" fmla="*/ 9144000 w 9144000"/>
              <a:gd name="connsiteY1" fmla="*/ 6857999 h 6857999"/>
              <a:gd name="connsiteX2" fmla="*/ 9144000 w 9144000"/>
              <a:gd name="connsiteY2" fmla="*/ 0 h 6857999"/>
              <a:gd name="connsiteX3" fmla="*/ 0 w 9144000"/>
              <a:gd name="connsiteY3" fmla="*/ 0 h 6857999"/>
              <a:gd name="connsiteX4" fmla="*/ 0 w 9144000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6857999">
                <a:moveTo>
                  <a:pt x="0" y="6857999"/>
                </a:moveTo>
                <a:lnTo>
                  <a:pt x="9144000" y="6857999"/>
                </a:lnTo>
                <a:lnTo>
                  <a:pt x="9144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CFA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 30"/>
          <p:cNvSpPr/>
          <p:nvPr/>
        </p:nvSpPr>
        <p:spPr>
          <a:xfrm>
            <a:off x="0" y="3934967"/>
            <a:ext cx="9144000" cy="2923031"/>
          </a:xfrm>
          <a:custGeom>
            <a:avLst/>
            <a:gdLst>
              <a:gd name="connsiteX0" fmla="*/ 0 w 9144000"/>
              <a:gd name="connsiteY0" fmla="*/ 2923031 h 2923031"/>
              <a:gd name="connsiteX1" fmla="*/ 9144000 w 9144000"/>
              <a:gd name="connsiteY1" fmla="*/ 2923031 h 2923031"/>
              <a:gd name="connsiteX2" fmla="*/ 9144000 w 9144000"/>
              <a:gd name="connsiteY2" fmla="*/ 0 h 2923031"/>
              <a:gd name="connsiteX3" fmla="*/ 0 w 9144000"/>
              <a:gd name="connsiteY3" fmla="*/ 0 h 2923031"/>
              <a:gd name="connsiteX4" fmla="*/ 0 w 9144000"/>
              <a:gd name="connsiteY4" fmla="*/ 2923031 h 2923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2923031">
                <a:moveTo>
                  <a:pt x="0" y="2923031"/>
                </a:moveTo>
                <a:lnTo>
                  <a:pt x="9144000" y="2923031"/>
                </a:lnTo>
                <a:lnTo>
                  <a:pt x="9144000" y="0"/>
                </a:lnTo>
                <a:lnTo>
                  <a:pt x="0" y="0"/>
                </a:lnTo>
                <a:lnTo>
                  <a:pt x="0" y="2923031"/>
                </a:lnTo>
                <a:close/>
              </a:path>
            </a:pathLst>
          </a:custGeom>
          <a:solidFill>
            <a:srgbClr val="CFDEE1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40140" cy="4030979"/>
          </a:xfrm>
          <a:prstGeom prst="rect">
            <a:avLst/>
          </a:prstGeom>
        </p:spPr>
      </p:pic>
      <p:sp>
        <p:nvSpPr>
          <p:cNvPr id="2" name="TextBox 32"/>
          <p:cNvSpPr txBox="1"/>
          <p:nvPr/>
        </p:nvSpPr>
        <p:spPr>
          <a:xfrm>
            <a:off x="91439" y="348742"/>
            <a:ext cx="8955061" cy="63039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5408040">
              <a:lnSpc>
                <a:spcPct val="100000"/>
              </a:lnSpc>
            </a:pPr>
            <a:r>
              <a:rPr lang="en-US" altLang="zh-CN" sz="2000" dirty="0">
                <a:solidFill>
                  <a:srgbClr val="006EBF"/>
                </a:solidFill>
                <a:latin typeface="Calibri"/>
                <a:ea typeface="Calibri"/>
              </a:rPr>
              <a:t>Pubblica</a:t>
            </a:r>
            <a:r>
              <a:rPr lang="en-US" altLang="zh-CN" sz="2000" spc="5" dirty="0">
                <a:solidFill>
                  <a:srgbClr val="006EBF"/>
                </a:solidFill>
                <a:latin typeface="Calibri"/>
                <a:cs typeface="Calibri"/>
              </a:rPr>
              <a:t> </a:t>
            </a:r>
            <a:r>
              <a:rPr lang="en-US" altLang="zh-CN" sz="2000" spc="-5" dirty="0">
                <a:solidFill>
                  <a:srgbClr val="006EBF"/>
                </a:solidFill>
                <a:latin typeface="Calibri"/>
                <a:ea typeface="Calibri"/>
              </a:rPr>
              <a:t>Amministrazione</a:t>
            </a:r>
          </a:p>
          <a:p>
            <a:pPr marL="5408040" hangingPunct="0">
              <a:lnSpc>
                <a:spcPct val="95416"/>
              </a:lnSpc>
              <a:spcBef>
                <a:spcPts val="150"/>
              </a:spcBef>
            </a:pPr>
            <a:r>
              <a:rPr lang="en-US" altLang="zh-CN" sz="2000" dirty="0">
                <a:solidFill>
                  <a:srgbClr val="006EBF"/>
                </a:solidFill>
                <a:latin typeface="Calibri"/>
                <a:ea typeface="Calibri"/>
              </a:rPr>
              <a:t>LE</a:t>
            </a:r>
            <a:r>
              <a:rPr lang="en-US" altLang="zh-CN" sz="2000" spc="-100" dirty="0">
                <a:solidFill>
                  <a:srgbClr val="006EB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006EBF"/>
                </a:solidFill>
                <a:latin typeface="Calibri"/>
                <a:ea typeface="Calibri"/>
              </a:rPr>
              <a:t>LINEE</a:t>
            </a:r>
            <a:r>
              <a:rPr lang="en-US" altLang="zh-CN" sz="2000" spc="-109" dirty="0">
                <a:solidFill>
                  <a:srgbClr val="006EB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006EBF"/>
                </a:solidFill>
                <a:latin typeface="Calibri"/>
                <a:ea typeface="Calibri"/>
              </a:rPr>
              <a:t>PROGRAMMATICHE</a:t>
            </a:r>
            <a:r>
              <a:rPr lang="en-US" altLang="zh-CN" sz="2000" dirty="0">
                <a:solidFill>
                  <a:srgbClr val="006EB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contributo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in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vista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del</a:t>
            </a:r>
            <a:r>
              <a:rPr lang="en-US" altLang="zh-CN" sz="2000" spc="-8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Piano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Nazionale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Ripresa</a:t>
            </a:r>
            <a:r>
              <a:rPr lang="en-US" altLang="zh-CN" sz="2000" spc="-8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Resilienza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580"/>
              </a:lnSpc>
            </a:pPr>
            <a:endParaRPr lang="en-US" dirty="0" smtClean="0"/>
          </a:p>
          <a:p>
            <a:pPr marL="0" indent="5408040">
              <a:lnSpc>
                <a:spcPct val="100000"/>
              </a:lnSpc>
            </a:pP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documento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del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9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marzo</a:t>
            </a:r>
            <a:r>
              <a:rPr lang="en-US" altLang="zh-CN" sz="2000" spc="-8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2021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400"/>
              </a:lnSpc>
            </a:pPr>
            <a:endParaRPr lang="en-US" dirty="0" smtClean="0"/>
          </a:p>
          <a:p>
            <a:pPr marL="0" indent="5408040">
              <a:lnSpc>
                <a:spcPct val="100000"/>
              </a:lnSpc>
            </a:pP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Premessa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(slide</a:t>
            </a:r>
            <a:r>
              <a:rPr lang="en-US" altLang="zh-CN" sz="2000" spc="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8)</a:t>
            </a:r>
          </a:p>
          <a:p>
            <a:pPr marL="0" indent="5408040">
              <a:lnSpc>
                <a:spcPct val="100000"/>
              </a:lnSpc>
            </a:pPr>
            <a:r>
              <a:rPr lang="en-US" altLang="zh-CN" sz="2000" b="1" dirty="0">
                <a:solidFill>
                  <a:srgbClr val="2A428F"/>
                </a:solidFill>
                <a:latin typeface="Calibri"/>
                <a:ea typeface="Calibri"/>
              </a:rPr>
              <a:t>BUONA</a:t>
            </a:r>
            <a:r>
              <a:rPr lang="en-US" altLang="zh-CN" sz="2000" b="1" spc="-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b="1" dirty="0">
                <a:solidFill>
                  <a:srgbClr val="2A428F"/>
                </a:solidFill>
                <a:latin typeface="Calibri"/>
                <a:ea typeface="Calibri"/>
              </a:rPr>
              <a:t>AMMINISTRAZIONE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810"/>
              </a:lnSpc>
            </a:pPr>
            <a:endParaRPr lang="en-US" dirty="0" smtClean="0"/>
          </a:p>
          <a:p>
            <a:pPr marL="0" hangingPunct="0">
              <a:lnSpc>
                <a:spcPct val="95833"/>
              </a:lnSpc>
            </a:pP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in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termini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semplificazione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delle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procedure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amministrative,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è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importante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che</a:t>
            </a:r>
            <a:r>
              <a:rPr lang="en-US" altLang="zh-CN" sz="2050" spc="9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la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b="1" dirty="0">
                <a:solidFill>
                  <a:srgbClr val="2A428F"/>
                </a:solidFill>
                <a:latin typeface="Calibri"/>
                <a:ea typeface="Calibri"/>
              </a:rPr>
              <a:t>strategia</a:t>
            </a:r>
            <a:r>
              <a:rPr lang="en-US" altLang="zh-CN" sz="2050" b="1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b="1" dirty="0">
                <a:solidFill>
                  <a:srgbClr val="2A428F"/>
                </a:solidFill>
                <a:latin typeface="Calibri"/>
                <a:ea typeface="Calibri"/>
              </a:rPr>
              <a:t>sia</a:t>
            </a:r>
            <a:r>
              <a:rPr lang="en-US" altLang="zh-CN" sz="2050" b="1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b="1" dirty="0">
                <a:solidFill>
                  <a:srgbClr val="2A428F"/>
                </a:solidFill>
                <a:latin typeface="Calibri"/>
                <a:ea typeface="Calibri"/>
              </a:rPr>
              <a:t>trasversale</a:t>
            </a:r>
            <a:r>
              <a:rPr lang="en-US" altLang="zh-CN" sz="2050" b="1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b="1" dirty="0">
                <a:solidFill>
                  <a:srgbClr val="2A428F"/>
                </a:solidFill>
                <a:latin typeface="Calibri"/>
                <a:ea typeface="Calibri"/>
              </a:rPr>
              <a:t>a</a:t>
            </a:r>
            <a:r>
              <a:rPr lang="en-US" altLang="zh-CN" sz="2050" b="1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b="1" dirty="0">
                <a:solidFill>
                  <a:srgbClr val="2A428F"/>
                </a:solidFill>
                <a:latin typeface="Calibri"/>
                <a:ea typeface="Calibri"/>
              </a:rPr>
              <a:t>tutti</a:t>
            </a:r>
            <a:r>
              <a:rPr lang="en-US" altLang="zh-CN" sz="2050" b="1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b="1" dirty="0">
                <a:solidFill>
                  <a:srgbClr val="2A428F"/>
                </a:solidFill>
                <a:latin typeface="Calibri"/>
                <a:ea typeface="Calibri"/>
              </a:rPr>
              <a:t>i</a:t>
            </a:r>
            <a:r>
              <a:rPr lang="en-US" altLang="zh-CN" sz="2050" b="1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b="1" dirty="0">
                <a:solidFill>
                  <a:srgbClr val="2A428F"/>
                </a:solidFill>
                <a:latin typeface="Calibri"/>
                <a:ea typeface="Calibri"/>
              </a:rPr>
              <a:t>procedimenti</a:t>
            </a:r>
            <a:r>
              <a:rPr lang="en-US" altLang="zh-CN" sz="2050" b="1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b="1" dirty="0">
                <a:solidFill>
                  <a:srgbClr val="2A428F"/>
                </a:solidFill>
                <a:latin typeface="Calibri"/>
                <a:ea typeface="Calibri"/>
              </a:rPr>
              <a:t>amministrativi</a:t>
            </a:r>
            <a:r>
              <a:rPr lang="en-US" altLang="zh-CN" sz="2050" b="1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e,</a:t>
            </a:r>
            <a:r>
              <a:rPr lang="en-US" altLang="zh-CN" sz="205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che</a:t>
            </a:r>
            <a:r>
              <a:rPr lang="en-US" altLang="zh-CN" sz="205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vi</a:t>
            </a:r>
            <a:r>
              <a:rPr lang="en-US" altLang="zh-CN" sz="205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sia</a:t>
            </a:r>
            <a:r>
              <a:rPr lang="en-US" altLang="zh-CN" sz="205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una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b="1" dirty="0">
                <a:solidFill>
                  <a:srgbClr val="2A428F"/>
                </a:solidFill>
                <a:latin typeface="Calibri"/>
                <a:ea typeface="Calibri"/>
              </a:rPr>
              <a:t>reingegnerizzazione</a:t>
            </a:r>
            <a:r>
              <a:rPr lang="en-US" altLang="zh-CN" sz="2050" b="1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b="1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2050" b="1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b="1" dirty="0">
                <a:solidFill>
                  <a:srgbClr val="2A428F"/>
                </a:solidFill>
                <a:latin typeface="Calibri"/>
                <a:ea typeface="Calibri"/>
              </a:rPr>
              <a:t>processi</a:t>
            </a:r>
            <a:r>
              <a:rPr lang="en-US" altLang="zh-CN" sz="2050" b="1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b="1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2050" b="1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b="1" dirty="0">
                <a:solidFill>
                  <a:srgbClr val="2A428F"/>
                </a:solidFill>
                <a:latin typeface="Calibri"/>
                <a:ea typeface="Calibri"/>
              </a:rPr>
              <a:t>procedure</a:t>
            </a:r>
            <a:r>
              <a:rPr lang="en-US" altLang="zh-CN" sz="2050" b="1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b="1" dirty="0">
                <a:solidFill>
                  <a:srgbClr val="2A428F"/>
                </a:solidFill>
                <a:latin typeface="Calibri"/>
                <a:ea typeface="Calibri"/>
              </a:rPr>
              <a:t>preliminare</a:t>
            </a:r>
            <a:r>
              <a:rPr lang="en-US" altLang="zh-CN" sz="2050" b="1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b="1" dirty="0">
                <a:solidFill>
                  <a:srgbClr val="2A428F"/>
                </a:solidFill>
                <a:latin typeface="Calibri"/>
                <a:ea typeface="Calibri"/>
              </a:rPr>
              <a:t>alla</a:t>
            </a:r>
            <a:r>
              <a:rPr lang="en-US" altLang="zh-CN" sz="2050" b="1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b="1" dirty="0">
                <a:solidFill>
                  <a:srgbClr val="2A428F"/>
                </a:solidFill>
                <a:latin typeface="Calibri"/>
                <a:ea typeface="Calibri"/>
              </a:rPr>
              <a:t>trasformazione</a:t>
            </a:r>
            <a:r>
              <a:rPr lang="en-US" altLang="zh-CN" sz="2050" b="1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b="1" dirty="0">
                <a:solidFill>
                  <a:srgbClr val="2A428F"/>
                </a:solidFill>
                <a:latin typeface="Calibri"/>
                <a:ea typeface="Calibri"/>
              </a:rPr>
              <a:t>digitale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.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La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Commissione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sottolinea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inoltre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la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necessità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agire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sui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colli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bottiglia</a:t>
            </a:r>
            <a:r>
              <a:rPr lang="en-US" altLang="zh-CN" sz="2050" spc="8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potenziare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le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attività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a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supporto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dell’implementazione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delle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misure</a:t>
            </a:r>
            <a:r>
              <a:rPr lang="en-US" altLang="zh-CN" sz="2050" spc="1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semplificazione</a:t>
            </a:r>
            <a:r>
              <a:rPr lang="en-US" altLang="zh-CN" sz="2050" spc="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identificando</a:t>
            </a:r>
            <a:r>
              <a:rPr lang="en-US" altLang="zh-CN" sz="2050" spc="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una</a:t>
            </a:r>
            <a:r>
              <a:rPr lang="en-US" altLang="zh-CN" sz="2050" spc="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adeguata</a:t>
            </a:r>
            <a:r>
              <a:rPr lang="en-US" altLang="zh-CN" sz="2050" spc="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strategia.</a:t>
            </a:r>
            <a:r>
              <a:rPr lang="en-US" altLang="zh-CN" sz="2050" spc="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La</a:t>
            </a:r>
            <a:r>
              <a:rPr lang="en-US" altLang="zh-CN" sz="2050" spc="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Commissione</a:t>
            </a:r>
            <a:r>
              <a:rPr lang="en-US" altLang="zh-CN" sz="2050" spc="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lamenta</a:t>
            </a:r>
            <a:r>
              <a:rPr lang="en-US" altLang="zh-CN" sz="2050" spc="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il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fatto</a:t>
            </a:r>
            <a:r>
              <a:rPr lang="en-US" altLang="zh-CN" sz="2050" spc="1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che</a:t>
            </a:r>
            <a:r>
              <a:rPr lang="en-US" altLang="zh-CN" sz="2050" spc="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la</a:t>
            </a:r>
            <a:r>
              <a:rPr lang="en-US" altLang="zh-CN" sz="2050" spc="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mancanza</a:t>
            </a:r>
            <a:r>
              <a:rPr lang="en-US" altLang="zh-CN" sz="2050" spc="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2050" spc="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efficacia</a:t>
            </a:r>
            <a:r>
              <a:rPr lang="en-US" altLang="zh-CN" sz="2050" spc="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delle</a:t>
            </a:r>
            <a:r>
              <a:rPr lang="en-US" altLang="zh-CN" sz="2050" spc="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politiche</a:t>
            </a:r>
            <a:r>
              <a:rPr lang="en-US" altLang="zh-CN" sz="2050" spc="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2050" spc="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semplificazione</a:t>
            </a:r>
            <a:r>
              <a:rPr lang="en-US" altLang="zh-CN" sz="2050" spc="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dipenda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dall’assenza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sistemi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monitoraggio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valutazione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degli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effetti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delle</a:t>
            </a:r>
            <a:r>
              <a:rPr lang="en-US" altLang="zh-CN" sz="2050" spc="-11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politiche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adottate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sottolinea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la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necessità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2050" spc="-6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50" dirty="0">
                <a:solidFill>
                  <a:srgbClr val="2A428F"/>
                </a:solidFill>
                <a:latin typeface="Calibri"/>
                <a:ea typeface="Calibri"/>
              </a:rPr>
              <a:t>provvedere.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33"/>
          <p:cNvSpPr/>
          <p:nvPr/>
        </p:nvSpPr>
        <p:spPr>
          <a:xfrm>
            <a:off x="0" y="0"/>
            <a:ext cx="9144000" cy="6857999"/>
          </a:xfrm>
          <a:custGeom>
            <a:avLst/>
            <a:gdLst>
              <a:gd name="connsiteX0" fmla="*/ 0 w 9144000"/>
              <a:gd name="connsiteY0" fmla="*/ 6857999 h 6857999"/>
              <a:gd name="connsiteX1" fmla="*/ 9144000 w 9144000"/>
              <a:gd name="connsiteY1" fmla="*/ 6857999 h 6857999"/>
              <a:gd name="connsiteX2" fmla="*/ 9144000 w 9144000"/>
              <a:gd name="connsiteY2" fmla="*/ 0 h 6857999"/>
              <a:gd name="connsiteX3" fmla="*/ 0 w 9144000"/>
              <a:gd name="connsiteY3" fmla="*/ 0 h 6857999"/>
              <a:gd name="connsiteX4" fmla="*/ 0 w 9144000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6857999">
                <a:moveTo>
                  <a:pt x="0" y="6857999"/>
                </a:moveTo>
                <a:lnTo>
                  <a:pt x="9144000" y="6857999"/>
                </a:lnTo>
                <a:lnTo>
                  <a:pt x="9144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CFA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 34"/>
          <p:cNvSpPr/>
          <p:nvPr/>
        </p:nvSpPr>
        <p:spPr>
          <a:xfrm>
            <a:off x="0" y="4012692"/>
            <a:ext cx="9009888" cy="2493264"/>
          </a:xfrm>
          <a:custGeom>
            <a:avLst/>
            <a:gdLst>
              <a:gd name="connsiteX0" fmla="*/ 0 w 9009888"/>
              <a:gd name="connsiteY0" fmla="*/ 2493264 h 2493264"/>
              <a:gd name="connsiteX1" fmla="*/ 9009888 w 9009888"/>
              <a:gd name="connsiteY1" fmla="*/ 2493264 h 2493264"/>
              <a:gd name="connsiteX2" fmla="*/ 9009888 w 9009888"/>
              <a:gd name="connsiteY2" fmla="*/ 0 h 2493264"/>
              <a:gd name="connsiteX3" fmla="*/ 0 w 9009888"/>
              <a:gd name="connsiteY3" fmla="*/ 0 h 2493264"/>
              <a:gd name="connsiteX4" fmla="*/ 0 w 9009888"/>
              <a:gd name="connsiteY4" fmla="*/ 2493264 h 2493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9888" h="2493264">
                <a:moveTo>
                  <a:pt x="0" y="2493264"/>
                </a:moveTo>
                <a:lnTo>
                  <a:pt x="9009888" y="2493264"/>
                </a:lnTo>
                <a:lnTo>
                  <a:pt x="9009888" y="0"/>
                </a:lnTo>
                <a:lnTo>
                  <a:pt x="0" y="0"/>
                </a:lnTo>
                <a:lnTo>
                  <a:pt x="0" y="2493264"/>
                </a:lnTo>
                <a:close/>
              </a:path>
            </a:pathLst>
          </a:custGeom>
          <a:solidFill>
            <a:srgbClr val="CFDEE1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2533650" y="4464050"/>
            <a:ext cx="1466850" cy="400050"/>
          </a:xfrm>
          <a:custGeom>
            <a:avLst/>
            <a:gdLst>
              <a:gd name="connsiteX0" fmla="*/ 14477 w 1466850"/>
              <a:gd name="connsiteY0" fmla="*/ 401574 h 400050"/>
              <a:gd name="connsiteX1" fmla="*/ 1477517 w 1466850"/>
              <a:gd name="connsiteY1" fmla="*/ 401574 h 400050"/>
              <a:gd name="connsiteX2" fmla="*/ 1477517 w 1466850"/>
              <a:gd name="connsiteY2" fmla="*/ 14478 h 400050"/>
              <a:gd name="connsiteX3" fmla="*/ 14477 w 1466850"/>
              <a:gd name="connsiteY3" fmla="*/ 14478 h 400050"/>
              <a:gd name="connsiteX4" fmla="*/ 14477 w 1466850"/>
              <a:gd name="connsiteY4" fmla="*/ 401574 h 4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66850" h="400050">
                <a:moveTo>
                  <a:pt x="14477" y="401574"/>
                </a:moveTo>
                <a:lnTo>
                  <a:pt x="1477517" y="401574"/>
                </a:lnTo>
                <a:lnTo>
                  <a:pt x="1477517" y="14478"/>
                </a:lnTo>
                <a:lnTo>
                  <a:pt x="14477" y="14478"/>
                </a:lnTo>
                <a:lnTo>
                  <a:pt x="14477" y="401574"/>
                </a:lnTo>
                <a:close/>
              </a:path>
            </a:pathLst>
          </a:custGeom>
          <a:solidFill>
            <a:srgbClr val="FEFE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 36"/>
          <p:cNvSpPr/>
          <p:nvPr/>
        </p:nvSpPr>
        <p:spPr>
          <a:xfrm>
            <a:off x="3994150" y="4464050"/>
            <a:ext cx="107950" cy="400050"/>
          </a:xfrm>
          <a:custGeom>
            <a:avLst/>
            <a:gdLst>
              <a:gd name="connsiteX0" fmla="*/ 17017 w 107950"/>
              <a:gd name="connsiteY0" fmla="*/ 401574 h 400050"/>
              <a:gd name="connsiteX1" fmla="*/ 114553 w 107950"/>
              <a:gd name="connsiteY1" fmla="*/ 401574 h 400050"/>
              <a:gd name="connsiteX2" fmla="*/ 114553 w 107950"/>
              <a:gd name="connsiteY2" fmla="*/ 14478 h 400050"/>
              <a:gd name="connsiteX3" fmla="*/ 17017 w 107950"/>
              <a:gd name="connsiteY3" fmla="*/ 14478 h 400050"/>
              <a:gd name="connsiteX4" fmla="*/ 17017 w 107950"/>
              <a:gd name="connsiteY4" fmla="*/ 401574 h 4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950" h="400050">
                <a:moveTo>
                  <a:pt x="17017" y="401574"/>
                </a:moveTo>
                <a:lnTo>
                  <a:pt x="114553" y="401574"/>
                </a:lnTo>
                <a:lnTo>
                  <a:pt x="114553" y="14478"/>
                </a:lnTo>
                <a:lnTo>
                  <a:pt x="17017" y="14478"/>
                </a:lnTo>
                <a:lnTo>
                  <a:pt x="17017" y="401574"/>
                </a:lnTo>
                <a:close/>
              </a:path>
            </a:pathLst>
          </a:custGeom>
          <a:solidFill>
            <a:srgbClr val="FEFE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4095750" y="4464050"/>
            <a:ext cx="2965450" cy="400050"/>
          </a:xfrm>
          <a:custGeom>
            <a:avLst/>
            <a:gdLst>
              <a:gd name="connsiteX0" fmla="*/ 12953 w 2965450"/>
              <a:gd name="connsiteY0" fmla="*/ 401574 h 400050"/>
              <a:gd name="connsiteX1" fmla="*/ 2967989 w 2965450"/>
              <a:gd name="connsiteY1" fmla="*/ 401574 h 400050"/>
              <a:gd name="connsiteX2" fmla="*/ 2967989 w 2965450"/>
              <a:gd name="connsiteY2" fmla="*/ 14478 h 400050"/>
              <a:gd name="connsiteX3" fmla="*/ 12953 w 2965450"/>
              <a:gd name="connsiteY3" fmla="*/ 14478 h 400050"/>
              <a:gd name="connsiteX4" fmla="*/ 12953 w 2965450"/>
              <a:gd name="connsiteY4" fmla="*/ 401574 h 4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65450" h="400050">
                <a:moveTo>
                  <a:pt x="12953" y="401574"/>
                </a:moveTo>
                <a:lnTo>
                  <a:pt x="2967989" y="401574"/>
                </a:lnTo>
                <a:lnTo>
                  <a:pt x="2967989" y="14478"/>
                </a:lnTo>
                <a:lnTo>
                  <a:pt x="12953" y="14478"/>
                </a:lnTo>
                <a:lnTo>
                  <a:pt x="12953" y="401574"/>
                </a:lnTo>
                <a:close/>
              </a:path>
            </a:pathLst>
          </a:custGeom>
          <a:solidFill>
            <a:srgbClr val="FEFE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 38"/>
          <p:cNvSpPr/>
          <p:nvPr/>
        </p:nvSpPr>
        <p:spPr>
          <a:xfrm>
            <a:off x="82550" y="4845050"/>
            <a:ext cx="8413750" cy="400050"/>
          </a:xfrm>
          <a:custGeom>
            <a:avLst/>
            <a:gdLst>
              <a:gd name="connsiteX0" fmla="*/ 8874 w 8413750"/>
              <a:gd name="connsiteY0" fmla="*/ 401574 h 400050"/>
              <a:gd name="connsiteX1" fmla="*/ 8418306 w 8413750"/>
              <a:gd name="connsiteY1" fmla="*/ 401574 h 400050"/>
              <a:gd name="connsiteX2" fmla="*/ 8418306 w 8413750"/>
              <a:gd name="connsiteY2" fmla="*/ 14478 h 400050"/>
              <a:gd name="connsiteX3" fmla="*/ 8874 w 8413750"/>
              <a:gd name="connsiteY3" fmla="*/ 14478 h 400050"/>
              <a:gd name="connsiteX4" fmla="*/ 8874 w 8413750"/>
              <a:gd name="connsiteY4" fmla="*/ 401574 h 4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13750" h="400050">
                <a:moveTo>
                  <a:pt x="8874" y="401574"/>
                </a:moveTo>
                <a:lnTo>
                  <a:pt x="8418306" y="401574"/>
                </a:lnTo>
                <a:lnTo>
                  <a:pt x="8418306" y="14478"/>
                </a:lnTo>
                <a:lnTo>
                  <a:pt x="8874" y="14478"/>
                </a:lnTo>
                <a:lnTo>
                  <a:pt x="8874" y="401574"/>
                </a:lnTo>
                <a:close/>
              </a:path>
            </a:pathLst>
          </a:custGeom>
          <a:solidFill>
            <a:srgbClr val="FEFE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 39"/>
          <p:cNvSpPr/>
          <p:nvPr/>
        </p:nvSpPr>
        <p:spPr>
          <a:xfrm>
            <a:off x="82550" y="5226050"/>
            <a:ext cx="6559550" cy="400050"/>
          </a:xfrm>
          <a:custGeom>
            <a:avLst/>
            <a:gdLst>
              <a:gd name="connsiteX0" fmla="*/ 8874 w 6559550"/>
              <a:gd name="connsiteY0" fmla="*/ 401574 h 400050"/>
              <a:gd name="connsiteX1" fmla="*/ 6571218 w 6559550"/>
              <a:gd name="connsiteY1" fmla="*/ 401574 h 400050"/>
              <a:gd name="connsiteX2" fmla="*/ 6571218 w 6559550"/>
              <a:gd name="connsiteY2" fmla="*/ 14478 h 400050"/>
              <a:gd name="connsiteX3" fmla="*/ 8874 w 6559550"/>
              <a:gd name="connsiteY3" fmla="*/ 14478 h 400050"/>
              <a:gd name="connsiteX4" fmla="*/ 8874 w 6559550"/>
              <a:gd name="connsiteY4" fmla="*/ 401574 h 4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9550" h="400050">
                <a:moveTo>
                  <a:pt x="8874" y="401574"/>
                </a:moveTo>
                <a:lnTo>
                  <a:pt x="6571218" y="401574"/>
                </a:lnTo>
                <a:lnTo>
                  <a:pt x="6571218" y="14478"/>
                </a:lnTo>
                <a:lnTo>
                  <a:pt x="8874" y="14478"/>
                </a:lnTo>
                <a:lnTo>
                  <a:pt x="8874" y="401574"/>
                </a:lnTo>
                <a:close/>
              </a:path>
            </a:pathLst>
          </a:custGeom>
          <a:solidFill>
            <a:srgbClr val="FEFE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030979"/>
          </a:xfrm>
          <a:prstGeom prst="rect">
            <a:avLst/>
          </a:prstGeom>
        </p:spPr>
      </p:pic>
      <p:sp>
        <p:nvSpPr>
          <p:cNvPr id="2" name="TextBox 41"/>
          <p:cNvSpPr txBox="1"/>
          <p:nvPr/>
        </p:nvSpPr>
        <p:spPr>
          <a:xfrm>
            <a:off x="91439" y="348742"/>
            <a:ext cx="8864989" cy="60697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5408040">
              <a:lnSpc>
                <a:spcPct val="100000"/>
              </a:lnSpc>
            </a:pPr>
            <a:r>
              <a:rPr lang="en-US" altLang="zh-CN" sz="2000" dirty="0">
                <a:solidFill>
                  <a:srgbClr val="006EBF"/>
                </a:solidFill>
                <a:latin typeface="Calibri"/>
                <a:ea typeface="Calibri"/>
              </a:rPr>
              <a:t>Pubblica</a:t>
            </a:r>
            <a:r>
              <a:rPr lang="en-US" altLang="zh-CN" sz="2000" spc="5" dirty="0">
                <a:solidFill>
                  <a:srgbClr val="006EBF"/>
                </a:solidFill>
                <a:latin typeface="Calibri"/>
                <a:cs typeface="Calibri"/>
              </a:rPr>
              <a:t> </a:t>
            </a:r>
            <a:r>
              <a:rPr lang="en-US" altLang="zh-CN" sz="2000" spc="-5" dirty="0">
                <a:solidFill>
                  <a:srgbClr val="006EBF"/>
                </a:solidFill>
                <a:latin typeface="Calibri"/>
                <a:ea typeface="Calibri"/>
              </a:rPr>
              <a:t>Amministrazione</a:t>
            </a:r>
          </a:p>
          <a:p>
            <a:pPr marL="5408040" hangingPunct="0">
              <a:lnSpc>
                <a:spcPct val="95416"/>
              </a:lnSpc>
              <a:spcBef>
                <a:spcPts val="150"/>
              </a:spcBef>
            </a:pPr>
            <a:r>
              <a:rPr lang="en-US" altLang="zh-CN" sz="2000" dirty="0">
                <a:solidFill>
                  <a:srgbClr val="006EBF"/>
                </a:solidFill>
                <a:latin typeface="Calibri"/>
                <a:ea typeface="Calibri"/>
              </a:rPr>
              <a:t>LE</a:t>
            </a:r>
            <a:r>
              <a:rPr lang="en-US" altLang="zh-CN" sz="2000" spc="-100" dirty="0">
                <a:solidFill>
                  <a:srgbClr val="006EB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006EBF"/>
                </a:solidFill>
                <a:latin typeface="Calibri"/>
                <a:ea typeface="Calibri"/>
              </a:rPr>
              <a:t>LINEE</a:t>
            </a:r>
            <a:r>
              <a:rPr lang="en-US" altLang="zh-CN" sz="2000" spc="-109" dirty="0">
                <a:solidFill>
                  <a:srgbClr val="006EB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006EBF"/>
                </a:solidFill>
                <a:latin typeface="Calibri"/>
                <a:ea typeface="Calibri"/>
              </a:rPr>
              <a:t>PROGRAMMATICHE</a:t>
            </a:r>
            <a:r>
              <a:rPr lang="en-US" altLang="zh-CN" sz="2000" dirty="0">
                <a:solidFill>
                  <a:srgbClr val="006EB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contributo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in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vista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del</a:t>
            </a:r>
            <a:r>
              <a:rPr lang="en-US" altLang="zh-CN" sz="2000" spc="-8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Piano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Nazionale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Ripresa</a:t>
            </a:r>
            <a:r>
              <a:rPr lang="en-US" altLang="zh-CN" sz="2000" spc="-8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Resilienza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580"/>
              </a:lnSpc>
            </a:pPr>
            <a:endParaRPr lang="en-US" dirty="0" smtClean="0"/>
          </a:p>
          <a:p>
            <a:pPr marL="0" indent="5408040">
              <a:lnSpc>
                <a:spcPct val="100000"/>
              </a:lnSpc>
            </a:pP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documento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del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9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marzo</a:t>
            </a:r>
            <a:r>
              <a:rPr lang="en-US" altLang="zh-CN" sz="2000" spc="-8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2021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400"/>
              </a:lnSpc>
            </a:pPr>
            <a:endParaRPr lang="en-US" dirty="0" smtClean="0"/>
          </a:p>
          <a:p>
            <a:pPr marL="0" indent="5408040">
              <a:lnSpc>
                <a:spcPct val="100000"/>
              </a:lnSpc>
            </a:pP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(slide</a:t>
            </a:r>
            <a:r>
              <a:rPr lang="en-US" altLang="zh-CN" sz="2000" spc="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2A428F"/>
                </a:solidFill>
                <a:latin typeface="Calibri"/>
                <a:ea typeface="Calibri"/>
              </a:rPr>
              <a:t>16)</a:t>
            </a:r>
          </a:p>
          <a:p>
            <a:pPr marL="0" indent="5408040">
              <a:lnSpc>
                <a:spcPct val="100000"/>
              </a:lnSpc>
            </a:pPr>
            <a:r>
              <a:rPr lang="en-US" altLang="zh-CN" sz="2000" b="1" dirty="0">
                <a:solidFill>
                  <a:srgbClr val="2A428F"/>
                </a:solidFill>
                <a:latin typeface="Calibri"/>
                <a:ea typeface="Calibri"/>
              </a:rPr>
              <a:t>UN</a:t>
            </a:r>
            <a:r>
              <a:rPr lang="en-US" altLang="zh-CN" sz="2000" b="1" spc="-8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b="1" dirty="0">
                <a:solidFill>
                  <a:srgbClr val="2A428F"/>
                </a:solidFill>
                <a:latin typeface="Calibri"/>
                <a:ea typeface="Calibri"/>
              </a:rPr>
              <a:t>NUOVO</a:t>
            </a:r>
            <a:r>
              <a:rPr lang="en-US" altLang="zh-CN" sz="2000" b="1" spc="-8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b="1" dirty="0">
                <a:solidFill>
                  <a:srgbClr val="2A428F"/>
                </a:solidFill>
                <a:latin typeface="Calibri"/>
                <a:ea typeface="Calibri"/>
              </a:rPr>
              <a:t>ALFABETO</a:t>
            </a:r>
            <a:r>
              <a:rPr lang="en-US" altLang="zh-CN" sz="2000" b="1" spc="-8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b="1" dirty="0">
                <a:solidFill>
                  <a:srgbClr val="2A428F"/>
                </a:solidFill>
                <a:latin typeface="Calibri"/>
                <a:ea typeface="Calibri"/>
              </a:rPr>
              <a:t>PER</a:t>
            </a:r>
            <a:r>
              <a:rPr lang="en-US" altLang="zh-CN" sz="2000" b="1" spc="-8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b="1" dirty="0">
                <a:solidFill>
                  <a:srgbClr val="2A428F"/>
                </a:solidFill>
                <a:latin typeface="Calibri"/>
                <a:ea typeface="Calibri"/>
              </a:rPr>
              <a:t>LA</a:t>
            </a:r>
            <a:r>
              <a:rPr lang="en-US" altLang="zh-CN" sz="2000" b="1" spc="-9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000" b="1" dirty="0">
                <a:solidFill>
                  <a:srgbClr val="2A428F"/>
                </a:solidFill>
                <a:latin typeface="Calibri"/>
                <a:ea typeface="Calibri"/>
              </a:rPr>
              <a:t>PA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185"/>
              </a:lnSpc>
            </a:pPr>
            <a:endParaRPr lang="en-US" dirty="0" smtClean="0"/>
          </a:p>
          <a:p>
            <a:pPr marL="0" hangingPunct="0">
              <a:lnSpc>
                <a:spcPct val="100000"/>
              </a:lnSpc>
            </a:pPr>
            <a:r>
              <a:rPr lang="en-US" altLang="zh-CN" sz="2500" dirty="0">
                <a:solidFill>
                  <a:srgbClr val="2A428F"/>
                </a:solidFill>
                <a:latin typeface="Calibri"/>
                <a:ea typeface="Calibri"/>
              </a:rPr>
              <a:t>Allo</a:t>
            </a:r>
            <a:r>
              <a:rPr lang="en-US" altLang="zh-CN" sz="25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ea typeface="Calibri"/>
              </a:rPr>
              <a:t>stesso</a:t>
            </a:r>
            <a:r>
              <a:rPr lang="en-US" altLang="zh-CN" sz="2500" spc="-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ea typeface="Calibri"/>
              </a:rPr>
              <a:t>modo</a:t>
            </a:r>
            <a:r>
              <a:rPr lang="en-US" altLang="zh-CN" sz="2500" spc="-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ea typeface="Calibri"/>
              </a:rPr>
              <a:t>andrebbe</a:t>
            </a:r>
            <a:r>
              <a:rPr lang="en-US" altLang="zh-CN" sz="2500" spc="-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ea typeface="Calibri"/>
              </a:rPr>
              <a:t>assicurata</a:t>
            </a:r>
            <a:r>
              <a:rPr lang="en-US" altLang="zh-CN" sz="2500" spc="-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ea typeface="Calibri"/>
              </a:rPr>
              <a:t>la</a:t>
            </a:r>
            <a:r>
              <a:rPr lang="en-US" altLang="zh-CN" sz="2500" spc="-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ea typeface="Calibri"/>
              </a:rPr>
              <a:t>piena</a:t>
            </a:r>
            <a:r>
              <a:rPr lang="en-US" altLang="zh-CN" sz="2500" spc="-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ea typeface="Calibri"/>
              </a:rPr>
              <a:t>effettività</a:t>
            </a:r>
            <a:r>
              <a:rPr lang="en-US" altLang="zh-CN" sz="2500" spc="-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ea typeface="Calibri"/>
              </a:rPr>
              <a:t>dei</a:t>
            </a:r>
            <a:r>
              <a:rPr lang="en-US" altLang="zh-CN" sz="2500" spc="-5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ea typeface="Calibri"/>
              </a:rPr>
              <a:t>principi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ea typeface="Calibri"/>
              </a:rPr>
              <a:t>semplificazione,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b="1" dirty="0">
                <a:solidFill>
                  <a:srgbClr val="2A428F"/>
                </a:solidFill>
                <a:latin typeface="Calibri"/>
                <a:ea typeface="Calibri"/>
              </a:rPr>
              <a:t>dal</a:t>
            </a:r>
            <a:r>
              <a:rPr lang="en-US" altLang="zh-CN" sz="2500" b="1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b="1" dirty="0">
                <a:solidFill>
                  <a:srgbClr val="2A428F"/>
                </a:solidFill>
                <a:latin typeface="Calibri"/>
                <a:ea typeface="Calibri"/>
              </a:rPr>
              <a:t>silenzio-assenso</a:t>
            </a:r>
            <a:r>
              <a:rPr lang="en-US" altLang="zh-CN" sz="2500" b="1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b="1" dirty="0">
                <a:solidFill>
                  <a:srgbClr val="2A428F"/>
                </a:solidFill>
                <a:latin typeface="Calibri"/>
                <a:ea typeface="Calibri"/>
              </a:rPr>
              <a:t>alla</a:t>
            </a:r>
            <a:r>
              <a:rPr lang="en-US" altLang="zh-CN" sz="2500" b="1" spc="-6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b="1" dirty="0">
                <a:solidFill>
                  <a:srgbClr val="2A428F"/>
                </a:solidFill>
                <a:latin typeface="Calibri"/>
                <a:ea typeface="Calibri"/>
              </a:rPr>
              <a:t>completa</a:t>
            </a:r>
            <a:r>
              <a:rPr lang="en-US" altLang="zh-CN" sz="2500" b="1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b="1" dirty="0">
                <a:solidFill>
                  <a:srgbClr val="2A428F"/>
                </a:solidFill>
                <a:latin typeface="Calibri"/>
                <a:ea typeface="Calibri"/>
              </a:rPr>
              <a:t>decertificazione</a:t>
            </a:r>
            <a:r>
              <a:rPr lang="en-US" altLang="zh-CN" sz="2500" b="1" spc="-5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b="1" dirty="0">
                <a:solidFill>
                  <a:srgbClr val="2A428F"/>
                </a:solidFill>
                <a:latin typeface="Calibri"/>
                <a:ea typeface="Calibri"/>
              </a:rPr>
              <a:t>(principio</a:t>
            </a:r>
            <a:r>
              <a:rPr lang="en-US" altLang="zh-CN" sz="2500" b="1" spc="-5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b="1" dirty="0">
                <a:solidFill>
                  <a:srgbClr val="2A428F"/>
                </a:solidFill>
                <a:latin typeface="Calibri"/>
                <a:ea typeface="Calibri"/>
              </a:rPr>
              <a:t>Once</a:t>
            </a:r>
            <a:r>
              <a:rPr lang="en-US" altLang="zh-CN" sz="2500" b="1" spc="-5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b="1" dirty="0">
                <a:solidFill>
                  <a:srgbClr val="2A428F"/>
                </a:solidFill>
                <a:latin typeface="Calibri"/>
                <a:ea typeface="Calibri"/>
              </a:rPr>
              <a:t>Only)</a:t>
            </a:r>
            <a:r>
              <a:rPr lang="en-US" altLang="zh-CN" sz="2500" b="1" spc="-5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b="1" dirty="0">
                <a:solidFill>
                  <a:srgbClr val="2A428F"/>
                </a:solidFill>
                <a:latin typeface="Calibri"/>
                <a:ea typeface="Calibri"/>
              </a:rPr>
              <a:t>da</a:t>
            </a:r>
            <a:r>
              <a:rPr lang="en-US" altLang="zh-CN" sz="2500" b="1" spc="-5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b="1" dirty="0">
                <a:solidFill>
                  <a:srgbClr val="2A428F"/>
                </a:solidFill>
                <a:latin typeface="Calibri"/>
                <a:ea typeface="Calibri"/>
              </a:rPr>
              <a:t>garantire</a:t>
            </a:r>
            <a:r>
              <a:rPr lang="en-US" altLang="zh-CN" sz="2500" b="1" spc="-5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b="1" dirty="0">
                <a:solidFill>
                  <a:srgbClr val="2A428F"/>
                </a:solidFill>
                <a:latin typeface="Calibri"/>
                <a:ea typeface="Calibri"/>
              </a:rPr>
              <a:t>attraverso</a:t>
            </a:r>
            <a:r>
              <a:rPr lang="en-US" altLang="zh-CN" sz="2500" b="1" spc="-6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b="1" dirty="0">
                <a:solidFill>
                  <a:srgbClr val="2A428F"/>
                </a:solidFill>
                <a:latin typeface="Calibri"/>
                <a:ea typeface="Calibri"/>
              </a:rPr>
              <a:t>la</a:t>
            </a:r>
            <a:r>
              <a:rPr lang="en-US" altLang="zh-CN" sz="2500" b="1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b="1" dirty="0">
                <a:solidFill>
                  <a:srgbClr val="2A428F"/>
                </a:solidFill>
                <a:latin typeface="Calibri"/>
                <a:ea typeface="Calibri"/>
              </a:rPr>
              <a:t>piena</a:t>
            </a:r>
            <a:r>
              <a:rPr lang="en-US" altLang="zh-CN" sz="2500" b="1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b="1" dirty="0">
                <a:solidFill>
                  <a:srgbClr val="2A428F"/>
                </a:solidFill>
                <a:latin typeface="Calibri"/>
                <a:ea typeface="Calibri"/>
              </a:rPr>
              <a:t>interoperabilità</a:t>
            </a:r>
            <a:r>
              <a:rPr lang="en-US" altLang="zh-CN" sz="2500" b="1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b="1" dirty="0">
                <a:solidFill>
                  <a:srgbClr val="2A428F"/>
                </a:solidFill>
                <a:latin typeface="Calibri"/>
                <a:ea typeface="Calibri"/>
              </a:rPr>
              <a:t>delle</a:t>
            </a:r>
            <a:r>
              <a:rPr lang="en-US" altLang="zh-CN" sz="2500" b="1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b="1" dirty="0">
                <a:solidFill>
                  <a:srgbClr val="2A428F"/>
                </a:solidFill>
                <a:latin typeface="Calibri"/>
                <a:ea typeface="Calibri"/>
              </a:rPr>
              <a:t>banche</a:t>
            </a:r>
            <a:r>
              <a:rPr lang="en-US" altLang="zh-CN" sz="2500" b="1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b="1" dirty="0">
                <a:solidFill>
                  <a:srgbClr val="2A428F"/>
                </a:solidFill>
                <a:latin typeface="Calibri"/>
                <a:ea typeface="Calibri"/>
              </a:rPr>
              <a:t>dati</a:t>
            </a:r>
            <a:r>
              <a:rPr lang="en-US" altLang="zh-CN" sz="2500" b="1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b="1" dirty="0">
                <a:solidFill>
                  <a:srgbClr val="2A428F"/>
                </a:solidFill>
                <a:latin typeface="Calibri"/>
                <a:ea typeface="Calibri"/>
              </a:rPr>
              <a:t>pubbliche</a:t>
            </a:r>
            <a:r>
              <a:rPr lang="en-US" altLang="zh-CN" sz="2500" b="1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25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ea typeface="Calibri"/>
              </a:rPr>
              <a:t>le</a:t>
            </a:r>
            <a:r>
              <a:rPr lang="en-US" altLang="zh-CN" sz="25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ea typeface="Calibri"/>
              </a:rPr>
              <a:t>numerose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ea typeface="Calibri"/>
              </a:rPr>
              <a:t>disposizioni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ea typeface="Calibri"/>
              </a:rPr>
              <a:t>in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ea typeface="Calibri"/>
              </a:rPr>
              <a:t>materia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ea typeface="Calibri"/>
              </a:rPr>
              <a:t>riduzione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ea typeface="Calibri"/>
              </a:rPr>
              <a:t>certezza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ea typeface="Calibri"/>
              </a:rPr>
              <a:t>dei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ea typeface="Calibri"/>
              </a:rPr>
              <a:t>tempi</a:t>
            </a:r>
            <a:r>
              <a:rPr lang="en-US" altLang="zh-CN" sz="2500" spc="-1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ea typeface="Calibri"/>
              </a:rPr>
              <a:t>conclusione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ea typeface="Calibri"/>
              </a:rPr>
              <a:t>delle</a:t>
            </a:r>
            <a:r>
              <a:rPr lang="en-US" altLang="zh-CN" sz="2500" spc="-10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500" dirty="0">
                <a:solidFill>
                  <a:srgbClr val="2A428F"/>
                </a:solidFill>
                <a:latin typeface="Calibri"/>
                <a:ea typeface="Calibri"/>
              </a:rPr>
              <a:t>procedure;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 42"/>
          <p:cNvSpPr/>
          <p:nvPr/>
        </p:nvSpPr>
        <p:spPr>
          <a:xfrm>
            <a:off x="0" y="0"/>
            <a:ext cx="9144000" cy="6857999"/>
          </a:xfrm>
          <a:custGeom>
            <a:avLst/>
            <a:gdLst>
              <a:gd name="connsiteX0" fmla="*/ 0 w 9144000"/>
              <a:gd name="connsiteY0" fmla="*/ 6857999 h 6857999"/>
              <a:gd name="connsiteX1" fmla="*/ 9144000 w 9144000"/>
              <a:gd name="connsiteY1" fmla="*/ 6857999 h 6857999"/>
              <a:gd name="connsiteX2" fmla="*/ 9144000 w 9144000"/>
              <a:gd name="connsiteY2" fmla="*/ 0 h 6857999"/>
              <a:gd name="connsiteX3" fmla="*/ 0 w 9144000"/>
              <a:gd name="connsiteY3" fmla="*/ 0 h 6857999"/>
              <a:gd name="connsiteX4" fmla="*/ 0 w 9144000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6857999">
                <a:moveTo>
                  <a:pt x="0" y="6857999"/>
                </a:moveTo>
                <a:lnTo>
                  <a:pt x="9144000" y="6857999"/>
                </a:lnTo>
                <a:lnTo>
                  <a:pt x="9144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CFA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5615940"/>
          </a:xfrm>
          <a:prstGeom prst="rect">
            <a:avLst/>
          </a:prstGeom>
        </p:spPr>
      </p:pic>
      <p:sp>
        <p:nvSpPr>
          <p:cNvPr id="2" name="TextBox 45"/>
          <p:cNvSpPr txBox="1"/>
          <p:nvPr/>
        </p:nvSpPr>
        <p:spPr>
          <a:xfrm>
            <a:off x="91439" y="100710"/>
            <a:ext cx="8431806" cy="52531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2900" spc="-25" dirty="0">
                <a:solidFill>
                  <a:srgbClr val="2A428F"/>
                </a:solidFill>
                <a:latin typeface="Calibri"/>
                <a:ea typeface="Calibri"/>
              </a:rPr>
              <a:t>sgombriamo</a:t>
            </a:r>
            <a:r>
              <a:rPr lang="en-US" altLang="zh-CN" sz="2900" spc="-1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900" spc="-25" dirty="0">
                <a:solidFill>
                  <a:srgbClr val="2A428F"/>
                </a:solidFill>
                <a:latin typeface="Calibri"/>
                <a:ea typeface="Calibri"/>
              </a:rPr>
              <a:t>l’argomento</a:t>
            </a:r>
            <a:r>
              <a:rPr lang="en-US" altLang="zh-CN" sz="2900" spc="-1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900" spc="-20" dirty="0">
                <a:solidFill>
                  <a:srgbClr val="2A428F"/>
                </a:solidFill>
                <a:latin typeface="Calibri"/>
                <a:ea typeface="Calibri"/>
              </a:rPr>
              <a:t>da</a:t>
            </a:r>
            <a:r>
              <a:rPr lang="en-US" altLang="zh-CN" sz="29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900" spc="-25" dirty="0">
                <a:solidFill>
                  <a:srgbClr val="2A428F"/>
                </a:solidFill>
                <a:latin typeface="Calibri"/>
                <a:ea typeface="Calibri"/>
              </a:rPr>
              <a:t>dubbi</a:t>
            </a:r>
          </a:p>
          <a:p>
            <a:pPr>
              <a:lnSpc>
                <a:spcPts val="1089"/>
              </a:lnSpc>
            </a:pPr>
            <a:endParaRPr lang="en-US" dirty="0" smtClean="0"/>
          </a:p>
          <a:p>
            <a:pPr marL="0" indent="186842">
              <a:lnSpc>
                <a:spcPct val="100000"/>
              </a:lnSpc>
            </a:pPr>
            <a:r>
              <a:rPr lang="en-US" altLang="zh-CN" sz="1800" b="1" dirty="0">
                <a:solidFill>
                  <a:srgbClr val="0000FE"/>
                </a:solidFill>
                <a:latin typeface="Calibri"/>
                <a:ea typeface="Calibri"/>
              </a:rPr>
              <a:t>DEMATERIALIZZAZIONE</a:t>
            </a:r>
            <a:r>
              <a:rPr lang="en-US" altLang="zh-CN" sz="1800" b="1" spc="-85" dirty="0">
                <a:solidFill>
                  <a:srgbClr val="0000F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1800" spc="-89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0000FE"/>
                </a:solidFill>
                <a:latin typeface="Calibri"/>
                <a:ea typeface="Calibri"/>
              </a:rPr>
              <a:t>SMATERIALIZZAZIONE</a:t>
            </a:r>
            <a:r>
              <a:rPr lang="en-US" altLang="zh-CN" sz="1800" b="1" spc="-89" dirty="0">
                <a:solidFill>
                  <a:srgbClr val="0000F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sono</a:t>
            </a:r>
            <a:r>
              <a:rPr lang="en-US" altLang="zh-CN" sz="1800" spc="-89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attività</a:t>
            </a:r>
            <a:r>
              <a:rPr lang="en-US" altLang="zh-CN" sz="1800" spc="-9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diverse.</a:t>
            </a:r>
          </a:p>
          <a:p>
            <a:pPr>
              <a:lnSpc>
                <a:spcPts val="640"/>
              </a:lnSpc>
            </a:pPr>
            <a:endParaRPr lang="en-US" dirty="0" smtClean="0"/>
          </a:p>
          <a:p>
            <a:pPr marL="186842" hangingPunct="0">
              <a:lnSpc>
                <a:spcPct val="95416"/>
              </a:lnSpc>
            </a:pP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Il</a:t>
            </a:r>
            <a:r>
              <a:rPr lang="en-US" altLang="zh-CN" sz="1800" spc="-6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Codice</a:t>
            </a:r>
            <a:r>
              <a:rPr lang="en-US" altLang="zh-CN" sz="1800" spc="-69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dell’Amministrazione</a:t>
            </a:r>
            <a:r>
              <a:rPr lang="en-US" altLang="zh-CN" sz="1800" spc="-69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Digitale</a:t>
            </a:r>
            <a:r>
              <a:rPr lang="en-US" altLang="zh-CN" sz="1800" spc="-69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prevede</a:t>
            </a:r>
            <a:r>
              <a:rPr lang="en-US" altLang="zh-CN" sz="1800" spc="-69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la</a:t>
            </a:r>
            <a:r>
              <a:rPr lang="en-US" altLang="zh-CN" sz="1800" spc="-69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DEMATERIALIZZAZIONE</a:t>
            </a:r>
            <a:r>
              <a:rPr lang="en-US" altLang="zh-CN" sz="1800" spc="-69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dei</a:t>
            </a:r>
            <a:r>
              <a:rPr lang="en-US" altLang="zh-CN" sz="1800" spc="-7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processi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amministrativi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degli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enti</a:t>
            </a:r>
            <a:r>
              <a:rPr lang="en-US" altLang="zh-CN" sz="1800" spc="-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pubblici.</a:t>
            </a:r>
          </a:p>
          <a:p>
            <a:pPr>
              <a:lnSpc>
                <a:spcPts val="534"/>
              </a:lnSpc>
            </a:pPr>
            <a:endParaRPr lang="en-US" dirty="0" smtClean="0"/>
          </a:p>
          <a:p>
            <a:pPr marL="186842" hangingPunct="0">
              <a:lnSpc>
                <a:spcPct val="95416"/>
              </a:lnSpc>
            </a:pP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I</a:t>
            </a:r>
            <a:r>
              <a:rPr lang="en-US" altLang="zh-CN" sz="18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processi</a:t>
            </a:r>
            <a:r>
              <a:rPr lang="en-US" altLang="zh-CN" sz="18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amministrativi</a:t>
            </a:r>
            <a:r>
              <a:rPr lang="en-US" altLang="zh-CN" sz="18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sono</a:t>
            </a:r>
            <a:r>
              <a:rPr lang="en-US" altLang="zh-CN" sz="18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caratterizzati</a:t>
            </a:r>
            <a:r>
              <a:rPr lang="en-US" altLang="zh-CN" sz="1800" spc="-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dalla</a:t>
            </a:r>
            <a:r>
              <a:rPr lang="en-US" altLang="zh-CN" sz="18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presenza</a:t>
            </a:r>
            <a:r>
              <a:rPr lang="en-US" altLang="zh-CN" sz="18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18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documenti</a:t>
            </a:r>
            <a:r>
              <a:rPr lang="en-US" altLang="zh-CN" sz="1800" spc="-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amministrativi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che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hanno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una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nascita,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cioè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la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formazione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del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documento,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hanno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una</a:t>
            </a:r>
            <a:r>
              <a:rPr lang="en-US" altLang="zh-CN" sz="18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fine:</a:t>
            </a:r>
          </a:p>
          <a:p>
            <a:pPr marL="0" indent="308762">
              <a:lnSpc>
                <a:spcPct val="100000"/>
              </a:lnSpc>
              <a:spcBef>
                <a:spcPts val="300"/>
              </a:spcBef>
            </a:pPr>
            <a:r>
              <a:rPr lang="en-US" altLang="zh-CN" sz="1800" dirty="0">
                <a:solidFill>
                  <a:srgbClr val="2A428F"/>
                </a:solidFill>
                <a:latin typeface="Arial"/>
                <a:ea typeface="Arial"/>
              </a:rPr>
              <a:t>●</a:t>
            </a:r>
            <a:r>
              <a:rPr lang="en-US" altLang="zh-CN" sz="1800" spc="-15" dirty="0">
                <a:solidFill>
                  <a:srgbClr val="2A428F"/>
                </a:solidFill>
                <a:latin typeface="Arial"/>
                <a:cs typeface="Arial"/>
              </a:rPr>
              <a:t>  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pubblicazione</a:t>
            </a:r>
            <a:r>
              <a:rPr lang="en-US" altLang="zh-CN" sz="18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online</a:t>
            </a:r>
            <a:r>
              <a:rPr lang="en-US" altLang="zh-CN" sz="18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(amministraz.</a:t>
            </a:r>
            <a:r>
              <a:rPr lang="en-US" altLang="zh-CN" sz="18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trasparente,</a:t>
            </a:r>
            <a:r>
              <a:rPr lang="en-US" altLang="zh-CN" sz="18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albo</a:t>
            </a:r>
            <a:r>
              <a:rPr lang="en-US" altLang="zh-CN" sz="18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pretorio,</a:t>
            </a:r>
            <a:r>
              <a:rPr lang="en-US" altLang="zh-CN" sz="18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open</a:t>
            </a:r>
            <a:r>
              <a:rPr lang="en-US" altLang="zh-CN" sz="18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data);</a:t>
            </a:r>
          </a:p>
          <a:p>
            <a:pPr marL="0" indent="308762">
              <a:lnSpc>
                <a:spcPct val="84583"/>
              </a:lnSpc>
            </a:pPr>
            <a:r>
              <a:rPr lang="en-US" altLang="zh-CN" sz="1800" dirty="0">
                <a:solidFill>
                  <a:srgbClr val="2A428F"/>
                </a:solidFill>
                <a:latin typeface="Arial"/>
                <a:ea typeface="Arial"/>
              </a:rPr>
              <a:t>●</a:t>
            </a:r>
            <a:r>
              <a:rPr lang="en-US" altLang="zh-CN" sz="1800" spc="-15" dirty="0">
                <a:solidFill>
                  <a:srgbClr val="2A428F"/>
                </a:solidFill>
                <a:latin typeface="Arial"/>
                <a:cs typeface="Arial"/>
              </a:rPr>
              <a:t>  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invio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ad</a:t>
            </a:r>
            <a:r>
              <a:rPr lang="en-US" altLang="zh-CN" sz="18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altri</a:t>
            </a:r>
            <a:r>
              <a:rPr lang="en-US" altLang="zh-CN" sz="18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enti</a:t>
            </a:r>
            <a:r>
              <a:rPr lang="en-US" altLang="zh-CN" sz="18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o</a:t>
            </a:r>
            <a:r>
              <a:rPr lang="en-US" altLang="zh-CN" sz="18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al</a:t>
            </a:r>
            <a:r>
              <a:rPr lang="en-US" altLang="zh-CN" sz="18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cittadino</a:t>
            </a:r>
            <a:r>
              <a:rPr lang="en-US" altLang="zh-CN" sz="18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(certificato,</a:t>
            </a:r>
            <a:r>
              <a:rPr lang="en-US" altLang="zh-CN" sz="18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attestazione,</a:t>
            </a:r>
            <a:r>
              <a:rPr lang="en-US" altLang="zh-CN" sz="18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autorizzazione,..)</a:t>
            </a:r>
            <a:r>
              <a:rPr lang="en-US" altLang="zh-CN" sz="18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via</a:t>
            </a:r>
          </a:p>
          <a:p>
            <a:pPr marL="0" indent="644042">
              <a:lnSpc>
                <a:spcPct val="100000"/>
              </a:lnSpc>
            </a:pP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email/PEC/applicativo_informatico</a:t>
            </a:r>
            <a:r>
              <a:rPr lang="en-US" altLang="zh-CN" sz="1800" spc="-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o</a:t>
            </a:r>
            <a:r>
              <a:rPr lang="en-US" altLang="zh-CN" sz="1800" spc="-109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posta.</a:t>
            </a:r>
          </a:p>
          <a:p>
            <a:pPr marL="186842" hangingPunct="0">
              <a:lnSpc>
                <a:spcPct val="95833"/>
              </a:lnSpc>
              <a:spcBef>
                <a:spcPts val="125"/>
              </a:spcBef>
            </a:pP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La</a:t>
            </a:r>
            <a:r>
              <a:rPr lang="en-US" altLang="zh-CN" sz="18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0000FE"/>
                </a:solidFill>
                <a:latin typeface="Calibri"/>
                <a:ea typeface="Calibri"/>
              </a:rPr>
              <a:t>SMATERIALIZZAZIONE</a:t>
            </a:r>
            <a:r>
              <a:rPr lang="en-US" altLang="zh-CN" sz="1800" b="1" spc="-40" dirty="0">
                <a:solidFill>
                  <a:srgbClr val="0000F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è</a:t>
            </a:r>
            <a:r>
              <a:rPr lang="en-US" altLang="zh-CN" sz="18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l'attività</a:t>
            </a:r>
            <a:r>
              <a:rPr lang="en-US" altLang="zh-CN" sz="18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che</a:t>
            </a:r>
            <a:r>
              <a:rPr lang="en-US" altLang="zh-CN" sz="18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si</a:t>
            </a:r>
            <a:r>
              <a:rPr lang="en-US" altLang="zh-CN" sz="18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effettua</a:t>
            </a:r>
            <a:r>
              <a:rPr lang="en-US" altLang="zh-CN" sz="18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per</a:t>
            </a:r>
            <a:r>
              <a:rPr lang="en-US" altLang="zh-CN" sz="18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riportare</a:t>
            </a:r>
            <a:r>
              <a:rPr lang="en-US" altLang="zh-CN" sz="18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un</a:t>
            </a:r>
            <a:r>
              <a:rPr lang="en-US" altLang="zh-CN" sz="18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documento</a:t>
            </a:r>
            <a:r>
              <a:rPr lang="en-US" altLang="zh-CN" sz="1800" spc="-4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cartaceo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ad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un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formato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digitale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(es.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2A428F"/>
                </a:solidFill>
                <a:latin typeface="Courier New"/>
                <a:ea typeface="Courier New"/>
              </a:rPr>
              <a:t>PDF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),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così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da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inserirlo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nel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“fascicolo”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digitale</a:t>
            </a:r>
            <a:r>
              <a:rPr lang="en-US" altLang="zh-CN" sz="1800" spc="-9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del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procedimento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amministrativo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specifico.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In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questo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caso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il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fascicolo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sarà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composto</a:t>
            </a:r>
            <a:r>
              <a:rPr lang="en-US" altLang="zh-CN" sz="1800" spc="-3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da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2A428F"/>
                </a:solidFill>
                <a:latin typeface="Calibri"/>
                <a:ea typeface="Calibri"/>
              </a:rPr>
              <a:t>documenti</a:t>
            </a:r>
            <a:r>
              <a:rPr lang="en-US" altLang="zh-CN" sz="1800" b="1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2A428F"/>
                </a:solidFill>
                <a:latin typeface="Calibri"/>
                <a:ea typeface="Calibri"/>
              </a:rPr>
              <a:t>amministrativi</a:t>
            </a:r>
            <a:r>
              <a:rPr lang="en-US" altLang="zh-CN" sz="1800" b="1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2A428F"/>
                </a:solidFill>
                <a:latin typeface="Calibri"/>
                <a:ea typeface="Calibri"/>
              </a:rPr>
              <a:t>nativi</a:t>
            </a:r>
            <a:r>
              <a:rPr lang="en-US" altLang="zh-CN" sz="1800" b="1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2A428F"/>
                </a:solidFill>
                <a:latin typeface="Calibri"/>
                <a:ea typeface="Calibri"/>
              </a:rPr>
              <a:t>digitali</a:t>
            </a:r>
            <a:r>
              <a:rPr lang="en-US" altLang="zh-CN" sz="1800" b="1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2A428F"/>
                </a:solidFill>
                <a:latin typeface="Calibri"/>
                <a:ea typeface="Calibri"/>
              </a:rPr>
              <a:t>+</a:t>
            </a:r>
            <a:r>
              <a:rPr lang="en-US" altLang="zh-CN" sz="1800" b="1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2A428F"/>
                </a:solidFill>
                <a:latin typeface="Calibri"/>
                <a:ea typeface="Calibri"/>
              </a:rPr>
              <a:t>documenti</a:t>
            </a:r>
            <a:r>
              <a:rPr lang="en-US" altLang="zh-CN" sz="1800" b="1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2A428F"/>
                </a:solidFill>
                <a:latin typeface="Calibri"/>
                <a:ea typeface="Calibri"/>
              </a:rPr>
              <a:t>informatici</a:t>
            </a:r>
            <a:r>
              <a:rPr lang="en-US" altLang="zh-CN" sz="1800" b="1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2A428F"/>
                </a:solidFill>
                <a:latin typeface="Calibri"/>
                <a:ea typeface="Calibri"/>
              </a:rPr>
              <a:t>frutto</a:t>
            </a:r>
            <a:r>
              <a:rPr lang="en-US" altLang="zh-CN" sz="1800" b="1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1800" b="1" spc="-4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2A428F"/>
                </a:solidFill>
                <a:latin typeface="Calibri"/>
                <a:ea typeface="Calibri"/>
              </a:rPr>
              <a:t>scansione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.</a:t>
            </a:r>
          </a:p>
          <a:p>
            <a:pPr marL="186842" hangingPunct="0">
              <a:lnSpc>
                <a:spcPct val="95416"/>
              </a:lnSpc>
            </a:pP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La</a:t>
            </a:r>
            <a:r>
              <a:rPr lang="en-US" altLang="zh-CN" sz="18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0000FE"/>
                </a:solidFill>
                <a:latin typeface="Calibri"/>
                <a:ea typeface="Calibri"/>
              </a:rPr>
              <a:t>DEMATERIALIZZAZIONE</a:t>
            </a:r>
            <a:r>
              <a:rPr lang="en-US" altLang="zh-CN" sz="1800" b="1" spc="-40" dirty="0">
                <a:solidFill>
                  <a:srgbClr val="0000F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è</a:t>
            </a:r>
            <a:r>
              <a:rPr lang="en-US" altLang="zh-CN" sz="18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l’attività</a:t>
            </a:r>
            <a:r>
              <a:rPr lang="en-US" altLang="zh-CN" sz="18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18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produzione,</a:t>
            </a:r>
            <a:r>
              <a:rPr lang="en-US" altLang="zh-CN" sz="18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gestione</a:t>
            </a:r>
            <a:r>
              <a:rPr lang="en-US" altLang="zh-CN" sz="18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18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conservazione</a:t>
            </a:r>
            <a:r>
              <a:rPr lang="en-US" altLang="zh-CN" sz="1800" spc="-4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dei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documenti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informatici,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che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viene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svolta</a:t>
            </a:r>
            <a:r>
              <a:rPr lang="en-US" altLang="zh-CN" sz="18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attraverso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l’uso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applicativi.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I</a:t>
            </a:r>
            <a:r>
              <a:rPr lang="en-US" altLang="zh-CN" sz="18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documenti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informatici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1)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nascono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digitali,</a:t>
            </a:r>
            <a:r>
              <a:rPr lang="en-US" altLang="zh-CN" sz="18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2)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sono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parte</a:t>
            </a:r>
            <a:r>
              <a:rPr lang="en-US" altLang="zh-CN" sz="18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integrante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dei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procedimenti</a:t>
            </a:r>
            <a:r>
              <a:rPr lang="en-US" altLang="zh-CN" sz="18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amministrativi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specifici</a:t>
            </a:r>
            <a:r>
              <a:rPr lang="en-US" altLang="zh-CN" sz="18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dell’ente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[con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applicativo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specifico]</a:t>
            </a:r>
            <a:r>
              <a:rPr lang="en-US" altLang="zh-CN" sz="18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3)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sono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collegati</a:t>
            </a:r>
            <a:r>
              <a:rPr lang="en-US" altLang="zh-CN" sz="18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al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registro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1800" spc="-3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protocollo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spc="-15" dirty="0">
                <a:solidFill>
                  <a:srgbClr val="2A428F"/>
                </a:solidFill>
                <a:latin typeface="Calibri"/>
                <a:ea typeface="Calibri"/>
              </a:rPr>
              <a:t>informatico</a:t>
            </a:r>
            <a:r>
              <a:rPr lang="en-US" altLang="zh-CN" sz="1800" spc="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spc="-10" dirty="0">
                <a:solidFill>
                  <a:srgbClr val="2A428F"/>
                </a:solidFill>
                <a:latin typeface="Calibri"/>
                <a:ea typeface="Calibri"/>
              </a:rPr>
              <a:t>dell’ente.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extBox 47"/>
          <p:cNvSpPr txBox="1"/>
          <p:nvPr/>
        </p:nvSpPr>
        <p:spPr>
          <a:xfrm>
            <a:off x="91439" y="210489"/>
            <a:ext cx="8794644" cy="46258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2700" spc="-20" dirty="0">
                <a:solidFill>
                  <a:srgbClr val="2A428F"/>
                </a:solidFill>
                <a:latin typeface="Calibri"/>
                <a:ea typeface="Calibri"/>
              </a:rPr>
              <a:t>dematerializzazio</a:t>
            </a:r>
            <a:r>
              <a:rPr lang="en-US" altLang="zh-CN" sz="2700" spc="-15" dirty="0">
                <a:solidFill>
                  <a:srgbClr val="2A428F"/>
                </a:solidFill>
                <a:latin typeface="Calibri"/>
                <a:ea typeface="Calibri"/>
              </a:rPr>
              <a:t>ne</a:t>
            </a:r>
          </a:p>
          <a:p>
            <a:pPr marL="0" hangingPunct="0">
              <a:lnSpc>
                <a:spcPct val="95416"/>
              </a:lnSpc>
            </a:pP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trasformazione</a:t>
            </a:r>
            <a:r>
              <a:rPr lang="en-US" altLang="zh-CN" sz="22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della</a:t>
            </a:r>
            <a:r>
              <a:rPr lang="en-US" altLang="zh-CN" sz="22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gestione</a:t>
            </a:r>
            <a:r>
              <a:rPr lang="en-US" altLang="zh-CN" sz="22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del</a:t>
            </a:r>
            <a:r>
              <a:rPr lang="en-US" altLang="zh-CN" sz="22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ciclo</a:t>
            </a:r>
            <a:r>
              <a:rPr lang="en-US" altLang="zh-CN" sz="22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22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vita</a:t>
            </a:r>
            <a:r>
              <a:rPr lang="en-US" altLang="zh-CN" sz="22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del</a:t>
            </a:r>
            <a:r>
              <a:rPr lang="en-US" altLang="zh-CN" sz="2200" spc="-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procedimento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amministrativo</a:t>
            </a:r>
            <a:r>
              <a:rPr lang="en-US" altLang="zh-CN" sz="22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dalla</a:t>
            </a:r>
            <a:r>
              <a:rPr lang="en-US" altLang="zh-CN" sz="22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modalità</a:t>
            </a:r>
            <a:r>
              <a:rPr lang="en-US" altLang="zh-CN" sz="2200" spc="-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analogica</a:t>
            </a:r>
            <a:r>
              <a:rPr lang="en-US" altLang="zh-CN" sz="22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(cartacea)</a:t>
            </a:r>
            <a:r>
              <a:rPr lang="en-US" altLang="zh-CN" sz="2200" spc="-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a</a:t>
            </a:r>
            <a:r>
              <a:rPr lang="en-US" altLang="zh-CN" sz="22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quella</a:t>
            </a:r>
            <a:r>
              <a:rPr lang="en-US" altLang="zh-CN" sz="2200" spc="-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digitale.</a:t>
            </a:r>
            <a:r>
              <a:rPr lang="en-US" altLang="zh-CN" sz="2200" spc="-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Il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documento</a:t>
            </a:r>
            <a:r>
              <a:rPr lang="en-US" altLang="zh-CN" sz="22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nasce</a:t>
            </a:r>
            <a:r>
              <a:rPr lang="en-US" altLang="zh-CN" sz="22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digitale</a:t>
            </a:r>
            <a:r>
              <a:rPr lang="en-US" altLang="zh-CN" sz="22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nella</a:t>
            </a:r>
            <a:r>
              <a:rPr lang="en-US" altLang="zh-CN" sz="22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nuova</a:t>
            </a:r>
            <a:r>
              <a:rPr lang="en-US" altLang="zh-CN" sz="22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modalità</a:t>
            </a:r>
            <a:r>
              <a:rPr lang="en-US" altLang="zh-CN" sz="22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ed</a:t>
            </a:r>
            <a:r>
              <a:rPr lang="en-US" altLang="zh-CN" sz="22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è</a:t>
            </a:r>
            <a:r>
              <a:rPr lang="en-US" altLang="zh-CN" sz="22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in</a:t>
            </a:r>
            <a:r>
              <a:rPr lang="en-US" altLang="zh-CN" sz="22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formato</a:t>
            </a:r>
            <a:r>
              <a:rPr lang="en-US" altLang="zh-CN" sz="22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aperto.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t/>
            </a:r>
            <a:br/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Un</a:t>
            </a:r>
            <a:r>
              <a:rPr lang="en-US" altLang="zh-CN" sz="22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programma</a:t>
            </a:r>
            <a:r>
              <a:rPr lang="en-US" altLang="zh-CN" sz="22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informatico</a:t>
            </a:r>
            <a:r>
              <a:rPr lang="en-US" altLang="zh-CN" sz="22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è</a:t>
            </a:r>
            <a:r>
              <a:rPr lang="en-US" altLang="zh-CN" sz="22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in</a:t>
            </a:r>
            <a:r>
              <a:rPr lang="en-US" altLang="zh-CN" sz="22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grado</a:t>
            </a:r>
            <a:r>
              <a:rPr lang="en-US" altLang="zh-CN" sz="22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22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leggere</a:t>
            </a:r>
            <a:r>
              <a:rPr lang="en-US" altLang="zh-CN" sz="22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22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ricercare</a:t>
            </a:r>
            <a:r>
              <a:rPr lang="en-US" altLang="zh-CN" sz="22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testo</a:t>
            </a:r>
            <a:r>
              <a:rPr lang="en-US" altLang="zh-CN" sz="22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nel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documento.</a:t>
            </a:r>
            <a:r>
              <a:rPr lang="en-US" altLang="zh-CN" sz="2200" spc="-7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Questo</a:t>
            </a:r>
            <a:r>
              <a:rPr lang="en-US" altLang="zh-CN" sz="2200" spc="-8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aspetto</a:t>
            </a:r>
            <a:r>
              <a:rPr lang="en-US" altLang="zh-CN" sz="2200" spc="-7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permette</a:t>
            </a:r>
            <a:r>
              <a:rPr lang="en-US" altLang="zh-CN" sz="2200" spc="-8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l’interoperabilità</a:t>
            </a:r>
            <a:r>
              <a:rPr lang="en-US" altLang="zh-CN" sz="2200" spc="-7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tra</a:t>
            </a:r>
            <a:r>
              <a:rPr lang="en-US" altLang="zh-CN" sz="2200" spc="-8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più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t/>
            </a:r>
            <a:br/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documenti</a:t>
            </a:r>
            <a:r>
              <a:rPr lang="en-US" altLang="zh-CN" sz="2200" spc="-129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amministrativi</a:t>
            </a:r>
            <a:r>
              <a:rPr lang="en-US" altLang="zh-CN" sz="2200" spc="-1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2A428F"/>
                </a:solidFill>
                <a:latin typeface="Calibri"/>
                <a:ea typeface="Calibri"/>
              </a:rPr>
              <a:t>informatici.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864"/>
              </a:lnSpc>
            </a:pPr>
            <a:endParaRPr lang="en-US" dirty="0" smtClean="0"/>
          </a:p>
          <a:p>
            <a:pPr marL="6088379" hangingPunct="0">
              <a:lnSpc>
                <a:spcPct val="100000"/>
              </a:lnSpc>
            </a:pPr>
            <a:r>
              <a:rPr lang="en-US" altLang="zh-CN" sz="1700" spc="5" dirty="0">
                <a:solidFill>
                  <a:srgbClr val="F2F2F2"/>
                </a:solidFill>
                <a:latin typeface="Calibri"/>
                <a:ea typeface="Calibri"/>
              </a:rPr>
              <a:t>nella</a:t>
            </a:r>
            <a:r>
              <a:rPr lang="en-US" altLang="zh-CN" sz="1700" spc="-129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b="1" spc="10" dirty="0">
                <a:solidFill>
                  <a:srgbClr val="F2F2F2"/>
                </a:solidFill>
                <a:latin typeface="Calibri"/>
                <a:ea typeface="Calibri"/>
              </a:rPr>
              <a:t>DEMATERIALIZZAZIONE</a:t>
            </a:r>
            <a:r>
              <a:rPr lang="en-US" altLang="zh-CN" sz="1700" b="1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si</a:t>
            </a:r>
            <a:r>
              <a:rPr lang="en-US" altLang="zh-CN" sz="1700" spc="-2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opera</a:t>
            </a:r>
            <a:r>
              <a:rPr lang="en-US" altLang="zh-CN" sz="1700" spc="-25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con</a:t>
            </a:r>
            <a:r>
              <a:rPr lang="en-US" altLang="zh-CN" sz="1700" spc="-2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il</a:t>
            </a:r>
            <a:r>
              <a:rPr lang="en-US" altLang="zh-CN" sz="1700" spc="-25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b="1" dirty="0">
                <a:solidFill>
                  <a:srgbClr val="FEFE00"/>
                </a:solidFill>
                <a:latin typeface="Calibri"/>
                <a:ea typeface="Calibri"/>
              </a:rPr>
              <a:t>data</a:t>
            </a:r>
            <a:r>
              <a:rPr lang="en-US" altLang="zh-CN" sz="1700" b="1" spc="-25" dirty="0">
                <a:solidFill>
                  <a:srgbClr val="FEFE00"/>
                </a:solidFill>
                <a:latin typeface="Calibri"/>
                <a:cs typeface="Calibri"/>
              </a:rPr>
              <a:t> </a:t>
            </a:r>
            <a:r>
              <a:rPr lang="en-US" altLang="zh-CN" sz="1700" b="1" dirty="0">
                <a:solidFill>
                  <a:srgbClr val="FEFE00"/>
                </a:solidFill>
                <a:latin typeface="Calibri"/>
                <a:ea typeface="Calibri"/>
              </a:rPr>
              <a:t>entry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,</a:t>
            </a:r>
            <a:r>
              <a:rPr lang="en-US" altLang="zh-CN" sz="1700" spc="-25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cioè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la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compilazione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di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testo</a:t>
            </a:r>
            <a:r>
              <a:rPr lang="en-US" altLang="zh-CN" sz="1700" spc="-5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in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campi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di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un</a:t>
            </a:r>
            <a:r>
              <a:rPr lang="en-US" altLang="zh-CN" sz="1700" spc="-5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applicativo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spc="-5" dirty="0">
                <a:solidFill>
                  <a:srgbClr val="F2F2F2"/>
                </a:solidFill>
                <a:latin typeface="Calibri"/>
                <a:ea typeface="Calibri"/>
              </a:rPr>
              <a:t>softwa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re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reeform 48"/>
          <p:cNvSpPr/>
          <p:nvPr/>
        </p:nvSpPr>
        <p:spPr>
          <a:xfrm>
            <a:off x="0" y="0"/>
            <a:ext cx="9144000" cy="6857999"/>
          </a:xfrm>
          <a:custGeom>
            <a:avLst/>
            <a:gdLst>
              <a:gd name="connsiteX0" fmla="*/ 0 w 9144000"/>
              <a:gd name="connsiteY0" fmla="*/ 6857999 h 6857999"/>
              <a:gd name="connsiteX1" fmla="*/ 9144000 w 9144000"/>
              <a:gd name="connsiteY1" fmla="*/ 6857999 h 6857999"/>
              <a:gd name="connsiteX2" fmla="*/ 9144000 w 9144000"/>
              <a:gd name="connsiteY2" fmla="*/ 0 h 6857999"/>
              <a:gd name="connsiteX3" fmla="*/ 0 w 9144000"/>
              <a:gd name="connsiteY3" fmla="*/ 0 h 6857999"/>
              <a:gd name="connsiteX4" fmla="*/ 0 w 9144000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6857999">
                <a:moveTo>
                  <a:pt x="0" y="6857999"/>
                </a:moveTo>
                <a:lnTo>
                  <a:pt x="9144000" y="6857999"/>
                </a:lnTo>
                <a:lnTo>
                  <a:pt x="9144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CFA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" y="7620"/>
            <a:ext cx="8938259" cy="6804659"/>
          </a:xfrm>
          <a:prstGeom prst="rect">
            <a:avLst/>
          </a:prstGeom>
        </p:spPr>
      </p:pic>
      <p:sp>
        <p:nvSpPr>
          <p:cNvPr id="2" name="TextBox 50"/>
          <p:cNvSpPr txBox="1"/>
          <p:nvPr/>
        </p:nvSpPr>
        <p:spPr>
          <a:xfrm>
            <a:off x="285597" y="202945"/>
            <a:ext cx="8468429" cy="61355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2700" spc="-20" dirty="0">
                <a:solidFill>
                  <a:srgbClr val="2A428F"/>
                </a:solidFill>
                <a:latin typeface="Calibri"/>
                <a:ea typeface="Calibri"/>
              </a:rPr>
              <a:t>dematerializzazione,</a:t>
            </a:r>
            <a:r>
              <a:rPr lang="en-US" altLang="zh-CN" sz="2700" spc="-1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700" spc="-20" dirty="0">
                <a:solidFill>
                  <a:srgbClr val="2A428F"/>
                </a:solidFill>
                <a:latin typeface="Calibri"/>
                <a:ea typeface="Calibri"/>
              </a:rPr>
              <a:t>in</a:t>
            </a:r>
            <a:r>
              <a:rPr lang="en-US" altLang="zh-CN" sz="2700" spc="-1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700" spc="-20" dirty="0">
                <a:solidFill>
                  <a:srgbClr val="2A428F"/>
                </a:solidFill>
                <a:latin typeface="Calibri"/>
                <a:ea typeface="Calibri"/>
              </a:rPr>
              <a:t>pratica</a:t>
            </a:r>
            <a:r>
              <a:rPr lang="en-US" altLang="zh-CN" sz="2700" spc="-1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700" spc="-20" dirty="0">
                <a:solidFill>
                  <a:srgbClr val="2A428F"/>
                </a:solidFill>
                <a:latin typeface="Calibri"/>
                <a:ea typeface="Calibri"/>
              </a:rPr>
              <a:t>(nota</a:t>
            </a:r>
            <a:r>
              <a:rPr lang="en-US" altLang="zh-CN" sz="2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700" spc="-15" dirty="0">
                <a:solidFill>
                  <a:srgbClr val="2A428F"/>
                </a:solidFill>
                <a:latin typeface="Calibri"/>
                <a:ea typeface="Calibri"/>
              </a:rPr>
              <a:t>1)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19"/>
              </a:lnSpc>
            </a:pPr>
            <a:endParaRPr lang="en-US" dirty="0" smtClean="0"/>
          </a:p>
          <a:p>
            <a:pPr marL="0" hangingPunct="0">
              <a:lnSpc>
                <a:spcPct val="100000"/>
              </a:lnSpc>
            </a:pPr>
            <a:r>
              <a:rPr lang="en-US" altLang="zh-CN" sz="1700" b="1" dirty="0">
                <a:solidFill>
                  <a:srgbClr val="2A428F"/>
                </a:solidFill>
                <a:latin typeface="Calibri"/>
                <a:ea typeface="Calibri"/>
              </a:rPr>
              <a:t>1-</a:t>
            </a:r>
            <a:r>
              <a:rPr lang="en-US" altLang="zh-CN" sz="1700" b="1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I</a:t>
            </a:r>
            <a:r>
              <a:rPr lang="en-US" altLang="zh-CN" sz="17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documenti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amministrativi</a:t>
            </a:r>
            <a:r>
              <a:rPr lang="en-US" altLang="zh-CN" sz="17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vengono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prodotti</a:t>
            </a:r>
            <a:r>
              <a:rPr lang="en-US" altLang="zh-CN" sz="17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con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i</a:t>
            </a:r>
            <a:r>
              <a:rPr lang="en-US" altLang="zh-CN" sz="17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servizi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on</a:t>
            </a:r>
            <a:r>
              <a:rPr lang="en-US" altLang="zh-CN" sz="17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line: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il</a:t>
            </a:r>
            <a:r>
              <a:rPr lang="en-US" altLang="zh-CN" sz="17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cittadino</a:t>
            </a:r>
            <a:r>
              <a:rPr lang="en-US" altLang="zh-CN" sz="17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si</a:t>
            </a:r>
            <a:r>
              <a:rPr lang="en-US" altLang="zh-CN" sz="17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autentica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nell’applicativo</a:t>
            </a:r>
            <a:r>
              <a:rPr lang="en-US" altLang="zh-CN" sz="17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dell’ente</a:t>
            </a:r>
            <a:r>
              <a:rPr lang="en-US" altLang="zh-CN" sz="17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con</a:t>
            </a:r>
            <a:r>
              <a:rPr lang="en-US" altLang="zh-CN" sz="17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SPID</a:t>
            </a:r>
            <a:r>
              <a:rPr lang="en-US" altLang="zh-CN" sz="1700" spc="-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/</a:t>
            </a:r>
            <a:r>
              <a:rPr lang="en-US" altLang="zh-CN" sz="17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CIE</a:t>
            </a:r>
            <a:r>
              <a:rPr lang="en-US" altLang="zh-CN" sz="17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1700" spc="-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compila</a:t>
            </a:r>
            <a:r>
              <a:rPr lang="en-US" altLang="zh-CN" sz="17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campi</a:t>
            </a:r>
            <a:r>
              <a:rPr lang="en-US" altLang="zh-CN" sz="17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17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un</a:t>
            </a:r>
            <a:r>
              <a:rPr lang="en-US" altLang="zh-CN" sz="1700" spc="-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applicativo</a:t>
            </a:r>
            <a:r>
              <a:rPr lang="en-US" altLang="zh-CN" sz="17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gestionale</a:t>
            </a:r>
            <a:r>
              <a:rPr lang="en-US" altLang="zh-CN" sz="1700" spc="-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dell’ente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pubblico.</a:t>
            </a:r>
            <a:r>
              <a:rPr lang="en-US" altLang="zh-CN" sz="17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Alcuni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dati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possono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essere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precompilati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(nome,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cognome,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cod.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fisc.,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via,...)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in</a:t>
            </a:r>
            <a:r>
              <a:rPr lang="en-US" altLang="zh-CN" sz="17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quanto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l’autenticazione</a:t>
            </a:r>
            <a:r>
              <a:rPr lang="en-US" altLang="zh-CN" sz="17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con</a:t>
            </a:r>
            <a:r>
              <a:rPr lang="en-US" altLang="zh-CN" sz="17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SPID</a:t>
            </a:r>
            <a:r>
              <a:rPr lang="en-US" altLang="zh-CN" sz="17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17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CIE</a:t>
            </a:r>
            <a:r>
              <a:rPr lang="en-US" altLang="zh-CN" sz="17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già</a:t>
            </a:r>
            <a:r>
              <a:rPr lang="en-US" altLang="zh-CN" sz="17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permette</a:t>
            </a:r>
            <a:r>
              <a:rPr lang="en-US" altLang="zh-CN" sz="17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alla</a:t>
            </a:r>
            <a:r>
              <a:rPr lang="en-US" altLang="zh-CN" sz="17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PA</a:t>
            </a:r>
            <a:r>
              <a:rPr lang="en-US" altLang="zh-CN" sz="17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la</a:t>
            </a:r>
            <a:r>
              <a:rPr lang="en-US" altLang="zh-CN" sz="17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ricognizione</a:t>
            </a:r>
            <a:r>
              <a:rPr lang="en-US" altLang="zh-CN" sz="17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17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dati</a:t>
            </a:r>
            <a:r>
              <a:rPr lang="en-US" altLang="zh-CN" sz="17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personali</a:t>
            </a:r>
            <a:r>
              <a:rPr lang="en-US" altLang="zh-CN" sz="1700" spc="-3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associati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all’identità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digitale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del</a:t>
            </a:r>
            <a:r>
              <a:rPr lang="en-US" altLang="zh-CN" sz="1700" spc="-10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cittadino.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39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1700" b="1" dirty="0">
                <a:solidFill>
                  <a:srgbClr val="2A428F"/>
                </a:solidFill>
                <a:latin typeface="Calibri"/>
                <a:ea typeface="Calibri"/>
              </a:rPr>
              <a:t>2-</a:t>
            </a:r>
            <a:r>
              <a:rPr lang="en-US" altLang="zh-CN" sz="1700" b="1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La</a:t>
            </a:r>
            <a:r>
              <a:rPr lang="en-US" altLang="zh-CN" sz="17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compilazione</a:t>
            </a:r>
            <a:r>
              <a:rPr lang="en-US" altLang="zh-CN" sz="17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del</a:t>
            </a:r>
            <a:r>
              <a:rPr lang="en-US" altLang="zh-CN" sz="17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documento</a:t>
            </a:r>
            <a:r>
              <a:rPr lang="en-US" altLang="zh-CN" sz="17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avviene</a:t>
            </a:r>
            <a:r>
              <a:rPr lang="en-US" altLang="zh-CN" sz="17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attraverso</a:t>
            </a:r>
            <a:r>
              <a:rPr lang="en-US" altLang="zh-CN" sz="17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compilazione</a:t>
            </a:r>
            <a:r>
              <a:rPr lang="en-US" altLang="zh-CN" sz="17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17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campi</a:t>
            </a:r>
            <a:r>
              <a:rPr lang="en-US" altLang="zh-CN" sz="17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“aperti”</a:t>
            </a:r>
            <a:r>
              <a:rPr lang="en-US" altLang="zh-CN" sz="17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del</a:t>
            </a:r>
          </a:p>
          <a:p>
            <a:pPr marL="0" hangingPunct="0">
              <a:lnSpc>
                <a:spcPct val="100000"/>
              </a:lnSpc>
            </a:pP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modulo</a:t>
            </a:r>
            <a:r>
              <a:rPr lang="en-US" altLang="zh-CN" sz="17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applicativo</a:t>
            </a:r>
            <a:r>
              <a:rPr lang="en-US" altLang="zh-CN" sz="17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dell’ente</a:t>
            </a:r>
            <a:r>
              <a:rPr lang="en-US" altLang="zh-CN" sz="17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(data</a:t>
            </a:r>
            <a:r>
              <a:rPr lang="en-US" altLang="zh-CN" sz="17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entry).</a:t>
            </a:r>
            <a:r>
              <a:rPr lang="en-US" altLang="zh-CN" sz="17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Il</a:t>
            </a:r>
            <a:r>
              <a:rPr lang="en-US" altLang="zh-CN" sz="17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software</a:t>
            </a:r>
            <a:r>
              <a:rPr lang="en-US" altLang="zh-CN" sz="17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controlla</a:t>
            </a:r>
            <a:r>
              <a:rPr lang="en-US" altLang="zh-CN" sz="17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la</a:t>
            </a:r>
            <a:r>
              <a:rPr lang="en-US" altLang="zh-CN" sz="17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valorizzazione</a:t>
            </a:r>
            <a:r>
              <a:rPr lang="en-US" altLang="zh-CN" sz="17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dei</a:t>
            </a:r>
            <a:r>
              <a:rPr lang="en-US" altLang="zh-CN" sz="17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campi</a:t>
            </a:r>
            <a:r>
              <a:rPr lang="en-US" altLang="zh-CN" sz="17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(es.:</a:t>
            </a:r>
            <a:r>
              <a:rPr lang="en-US" altLang="zh-CN" sz="17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le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date,</a:t>
            </a:r>
            <a:r>
              <a:rPr lang="en-US" altLang="zh-CN" sz="17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i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luoghi,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vari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dati</a:t>
            </a:r>
            <a:r>
              <a:rPr lang="en-US" altLang="zh-CN" sz="17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che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possono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essere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già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in</a:t>
            </a:r>
            <a:r>
              <a:rPr lang="en-US" altLang="zh-CN" sz="17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possesso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della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stessa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PA).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Il</a:t>
            </a:r>
            <a:r>
              <a:rPr lang="en-US" altLang="zh-CN" sz="17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cittadino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potrebbe</a:t>
            </a:r>
            <a:r>
              <a:rPr lang="en-US" altLang="zh-CN" sz="17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caricare</a:t>
            </a:r>
            <a:r>
              <a:rPr lang="en-US" altLang="zh-CN" sz="17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documenti</a:t>
            </a:r>
            <a:r>
              <a:rPr lang="en-US" altLang="zh-CN" sz="17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in</a:t>
            </a:r>
            <a:r>
              <a:rPr lang="en-US" altLang="zh-CN" sz="17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formato</a:t>
            </a:r>
            <a:r>
              <a:rPr lang="en-US" altLang="zh-CN" sz="17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PDF</a:t>
            </a:r>
            <a:r>
              <a:rPr lang="en-US" altLang="zh-CN" sz="17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nell’applicativo</a:t>
            </a:r>
            <a:r>
              <a:rPr lang="en-US" altLang="zh-CN" sz="17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per</a:t>
            </a:r>
            <a:r>
              <a:rPr lang="en-US" altLang="zh-CN" sz="17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istanze</a:t>
            </a:r>
            <a:r>
              <a:rPr lang="en-US" altLang="zh-CN" sz="17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particolari</a:t>
            </a:r>
            <a:r>
              <a:rPr lang="en-US" altLang="zh-CN" sz="1700" spc="-4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(edilizia,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attività</a:t>
            </a:r>
            <a:r>
              <a:rPr lang="en-US" altLang="zh-CN" sz="1700" spc="-69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produttive,</a:t>
            </a:r>
            <a:r>
              <a:rPr lang="en-US" altLang="zh-CN" sz="1700" spc="-7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..).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125"/>
              </a:lnSpc>
            </a:pPr>
            <a:endParaRPr lang="en-US" dirty="0" smtClean="0"/>
          </a:p>
          <a:p>
            <a:pPr marL="0" hangingPunct="0">
              <a:lnSpc>
                <a:spcPct val="95416"/>
              </a:lnSpc>
            </a:pPr>
            <a:r>
              <a:rPr lang="en-US" altLang="zh-CN" sz="1700" b="1" dirty="0">
                <a:solidFill>
                  <a:srgbClr val="2A428F"/>
                </a:solidFill>
                <a:latin typeface="Calibri"/>
                <a:ea typeface="Calibri"/>
              </a:rPr>
              <a:t>3-</a:t>
            </a:r>
            <a:r>
              <a:rPr lang="en-US" altLang="zh-CN" sz="1700" b="1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Un</a:t>
            </a:r>
            <a:r>
              <a:rPr lang="en-US" altLang="zh-CN" sz="17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applicativo</a:t>
            </a:r>
            <a:r>
              <a:rPr lang="en-US" altLang="zh-CN" sz="17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gestionale</a:t>
            </a:r>
            <a:r>
              <a:rPr lang="en-US" altLang="zh-CN" sz="17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è</a:t>
            </a:r>
            <a:r>
              <a:rPr lang="en-US" altLang="zh-CN" sz="17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composto</a:t>
            </a:r>
            <a:r>
              <a:rPr lang="en-US" altLang="zh-CN" sz="17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da</a:t>
            </a:r>
            <a:r>
              <a:rPr lang="en-US" altLang="zh-CN" sz="17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un</a:t>
            </a:r>
            <a:r>
              <a:rPr lang="en-US" altLang="zh-CN" sz="17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modulo</a:t>
            </a:r>
            <a:r>
              <a:rPr lang="en-US" altLang="zh-CN" sz="17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on</a:t>
            </a:r>
            <a:r>
              <a:rPr lang="en-US" altLang="zh-CN" sz="17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line</a:t>
            </a:r>
            <a:r>
              <a:rPr lang="en-US" altLang="zh-CN" sz="17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strutturato</a:t>
            </a:r>
            <a:r>
              <a:rPr lang="en-US" altLang="zh-CN" sz="17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tramite</a:t>
            </a:r>
            <a:r>
              <a:rPr lang="en-US" altLang="zh-CN" sz="1700" spc="-3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un'interfaccia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che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deve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guidare</a:t>
            </a:r>
            <a:r>
              <a:rPr lang="en-US" altLang="zh-CN" sz="17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l’utente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nella</a:t>
            </a:r>
            <a:r>
              <a:rPr lang="en-US" altLang="zh-CN" sz="17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compilazione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dei</a:t>
            </a:r>
            <a:r>
              <a:rPr lang="en-US" altLang="zh-CN" sz="17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dati.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139"/>
              </a:lnSpc>
            </a:pPr>
            <a:endParaRPr lang="en-US" dirty="0" smtClean="0"/>
          </a:p>
          <a:p>
            <a:pPr marL="0" hangingPunct="0">
              <a:lnSpc>
                <a:spcPct val="100000"/>
              </a:lnSpc>
            </a:pPr>
            <a:r>
              <a:rPr lang="en-US" altLang="zh-CN" sz="1700" b="1" dirty="0">
                <a:solidFill>
                  <a:srgbClr val="2A428F"/>
                </a:solidFill>
                <a:latin typeface="Calibri"/>
                <a:ea typeface="Calibri"/>
              </a:rPr>
              <a:t>4-</a:t>
            </a:r>
            <a:r>
              <a:rPr lang="en-US" altLang="zh-CN" sz="1700" b="1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Una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volta</a:t>
            </a:r>
            <a:r>
              <a:rPr lang="en-US" altLang="zh-CN" sz="17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compilati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i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campi</a:t>
            </a:r>
            <a:r>
              <a:rPr lang="en-US" altLang="zh-CN" sz="17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dal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cittadino,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i</a:t>
            </a:r>
            <a:r>
              <a:rPr lang="en-US" altLang="zh-CN" sz="17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dati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immessi</a:t>
            </a:r>
            <a:r>
              <a:rPr lang="en-US" altLang="zh-CN" sz="17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vengono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verificati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dal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responsabile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t/>
            </a:r>
            <a:br/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del</a:t>
            </a:r>
            <a:r>
              <a:rPr lang="en-US" altLang="zh-CN" sz="17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procedimento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nello</a:t>
            </a:r>
            <a:r>
              <a:rPr lang="en-US" altLang="zh-CN" sz="17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stesso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software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in</a:t>
            </a:r>
            <a:r>
              <a:rPr lang="en-US" altLang="zh-CN" sz="17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cui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li</a:t>
            </a:r>
            <a:r>
              <a:rPr lang="en-US" altLang="zh-CN" sz="17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ha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immessi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il</a:t>
            </a:r>
            <a:r>
              <a:rPr lang="en-US" altLang="zh-CN" sz="17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cittadino,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17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validati</a:t>
            </a:r>
            <a:r>
              <a:rPr lang="en-US" altLang="zh-CN" sz="1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per</a:t>
            </a:r>
            <a:r>
              <a:rPr lang="en-US" altLang="zh-CN" sz="17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la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generazione</a:t>
            </a:r>
            <a:r>
              <a:rPr lang="en-US" altLang="zh-CN" sz="17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automatica</a:t>
            </a:r>
            <a:r>
              <a:rPr lang="en-US" altLang="zh-CN" sz="17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del</a:t>
            </a:r>
            <a:r>
              <a:rPr lang="en-US" altLang="zh-CN" sz="17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documento</a:t>
            </a:r>
            <a:r>
              <a:rPr lang="en-US" altLang="zh-CN" sz="17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amministrativo,</a:t>
            </a:r>
            <a:r>
              <a:rPr lang="en-US" altLang="zh-CN" sz="17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che</a:t>
            </a:r>
            <a:r>
              <a:rPr lang="en-US" altLang="zh-CN" sz="17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sarà</a:t>
            </a:r>
            <a:r>
              <a:rPr lang="en-US" altLang="zh-CN" sz="17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firmato</a:t>
            </a:r>
            <a:r>
              <a:rPr lang="en-US" altLang="zh-CN" sz="17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digitalmente</a:t>
            </a:r>
            <a:r>
              <a:rPr lang="en-US" altLang="zh-CN" sz="17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dal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dirigente</a:t>
            </a:r>
            <a:r>
              <a:rPr lang="en-US" altLang="zh-CN" sz="17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responsabile,</a:t>
            </a:r>
            <a:r>
              <a:rPr lang="en-US" altLang="zh-CN" sz="17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agganciato</a:t>
            </a:r>
            <a:r>
              <a:rPr lang="en-US" altLang="zh-CN" sz="17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al</a:t>
            </a:r>
            <a:r>
              <a:rPr lang="en-US" altLang="zh-CN" sz="17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protocollo</a:t>
            </a:r>
            <a:r>
              <a:rPr lang="en-US" altLang="zh-CN" sz="17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dell’ente</a:t>
            </a:r>
            <a:r>
              <a:rPr lang="en-US" altLang="zh-CN" sz="17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per</a:t>
            </a:r>
            <a:r>
              <a:rPr lang="en-US" altLang="zh-CN" sz="17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la</a:t>
            </a:r>
            <a:r>
              <a:rPr lang="en-US" altLang="zh-CN" sz="17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numerazione,</a:t>
            </a:r>
            <a:r>
              <a:rPr lang="en-US" altLang="zh-CN" sz="17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17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restituito</a:t>
            </a:r>
            <a:r>
              <a:rPr lang="en-US" altLang="zh-CN" sz="1700" spc="-4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al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cittadino</a:t>
            </a:r>
            <a:r>
              <a:rPr lang="en-US" altLang="zh-CN" sz="17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sempre</a:t>
            </a:r>
            <a:r>
              <a:rPr lang="en-US" altLang="zh-CN" sz="17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nel</a:t>
            </a:r>
            <a:r>
              <a:rPr lang="en-US" altLang="zh-CN" sz="17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software.</a:t>
            </a:r>
            <a:r>
              <a:rPr lang="en-US" altLang="zh-CN" sz="17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Il</a:t>
            </a:r>
            <a:r>
              <a:rPr lang="en-US" altLang="zh-CN" sz="17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software</a:t>
            </a:r>
            <a:r>
              <a:rPr lang="en-US" altLang="zh-CN" sz="17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produrrà</a:t>
            </a:r>
            <a:r>
              <a:rPr lang="en-US" altLang="zh-CN" sz="17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automaticamente</a:t>
            </a:r>
            <a:r>
              <a:rPr lang="en-US" altLang="zh-CN" sz="17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un</a:t>
            </a:r>
            <a:r>
              <a:rPr lang="en-US" altLang="zh-CN" sz="17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email/PEC</a:t>
            </a:r>
            <a:r>
              <a:rPr lang="en-US" altLang="zh-CN" sz="17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al</a:t>
            </a:r>
            <a:r>
              <a:rPr lang="en-US" altLang="zh-CN" sz="17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cittadino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informandolo</a:t>
            </a:r>
            <a:r>
              <a:rPr lang="en-US" altLang="zh-CN" sz="17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della</a:t>
            </a:r>
            <a:r>
              <a:rPr lang="en-US" altLang="zh-CN" sz="17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disponibilità</a:t>
            </a:r>
            <a:r>
              <a:rPr lang="en-US" altLang="zh-CN" sz="17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del</a:t>
            </a:r>
            <a:r>
              <a:rPr lang="en-US" altLang="zh-CN" sz="17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documento</a:t>
            </a:r>
            <a:r>
              <a:rPr lang="en-US" altLang="zh-CN" sz="1700" spc="-3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2A428F"/>
                </a:solidFill>
                <a:latin typeface="Calibri"/>
                <a:ea typeface="Calibri"/>
              </a:rPr>
              <a:t>richiesto.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Freeform 51"/>
          <p:cNvSpPr/>
          <p:nvPr/>
        </p:nvSpPr>
        <p:spPr>
          <a:xfrm>
            <a:off x="0" y="0"/>
            <a:ext cx="9144000" cy="6857999"/>
          </a:xfrm>
          <a:custGeom>
            <a:avLst/>
            <a:gdLst>
              <a:gd name="connsiteX0" fmla="*/ 0 w 9144000"/>
              <a:gd name="connsiteY0" fmla="*/ 6857999 h 6857999"/>
              <a:gd name="connsiteX1" fmla="*/ 9144000 w 9144000"/>
              <a:gd name="connsiteY1" fmla="*/ 6857999 h 6857999"/>
              <a:gd name="connsiteX2" fmla="*/ 9144000 w 9144000"/>
              <a:gd name="connsiteY2" fmla="*/ 0 h 6857999"/>
              <a:gd name="connsiteX3" fmla="*/ 0 w 9144000"/>
              <a:gd name="connsiteY3" fmla="*/ 0 h 6857999"/>
              <a:gd name="connsiteX4" fmla="*/ 0 w 9144000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6857999">
                <a:moveTo>
                  <a:pt x="0" y="6857999"/>
                </a:moveTo>
                <a:lnTo>
                  <a:pt x="9144000" y="6857999"/>
                </a:lnTo>
                <a:lnTo>
                  <a:pt x="9144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CFA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Picture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" y="68580"/>
            <a:ext cx="8610600" cy="6103620"/>
          </a:xfrm>
          <a:prstGeom prst="rect">
            <a:avLst/>
          </a:prstGeom>
        </p:spPr>
      </p:pic>
      <p:sp>
        <p:nvSpPr>
          <p:cNvPr id="2" name="TextBox 53"/>
          <p:cNvSpPr txBox="1"/>
          <p:nvPr/>
        </p:nvSpPr>
        <p:spPr>
          <a:xfrm>
            <a:off x="354787" y="258444"/>
            <a:ext cx="8128748" cy="57057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2700" spc="-20" dirty="0">
                <a:solidFill>
                  <a:srgbClr val="2A428F"/>
                </a:solidFill>
                <a:latin typeface="Calibri"/>
                <a:ea typeface="Calibri"/>
              </a:rPr>
              <a:t>dematerializzazione,</a:t>
            </a:r>
            <a:r>
              <a:rPr lang="en-US" altLang="zh-CN" sz="2700" spc="-1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700" spc="-20" dirty="0">
                <a:solidFill>
                  <a:srgbClr val="2A428F"/>
                </a:solidFill>
                <a:latin typeface="Calibri"/>
                <a:ea typeface="Calibri"/>
              </a:rPr>
              <a:t>in</a:t>
            </a:r>
            <a:r>
              <a:rPr lang="en-US" altLang="zh-CN" sz="2700" spc="-1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700" spc="-20" dirty="0">
                <a:solidFill>
                  <a:srgbClr val="2A428F"/>
                </a:solidFill>
                <a:latin typeface="Calibri"/>
                <a:ea typeface="Calibri"/>
              </a:rPr>
              <a:t>pratica</a:t>
            </a:r>
            <a:r>
              <a:rPr lang="en-US" altLang="zh-CN" sz="2700" spc="-1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700" spc="-20" dirty="0">
                <a:solidFill>
                  <a:srgbClr val="2A428F"/>
                </a:solidFill>
                <a:latin typeface="Calibri"/>
                <a:ea typeface="Calibri"/>
              </a:rPr>
              <a:t>(nota</a:t>
            </a:r>
            <a:r>
              <a:rPr lang="en-US" altLang="zh-CN" sz="27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700" spc="-15" dirty="0">
                <a:solidFill>
                  <a:srgbClr val="2A428F"/>
                </a:solidFill>
                <a:latin typeface="Calibri"/>
                <a:ea typeface="Calibri"/>
              </a:rPr>
              <a:t>2)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795"/>
              </a:lnSpc>
            </a:pPr>
            <a:endParaRPr lang="en-US" dirty="0" smtClean="0"/>
          </a:p>
          <a:p>
            <a:pPr marL="0" indent="69189">
              <a:lnSpc>
                <a:spcPct val="100000"/>
              </a:lnSpc>
            </a:pPr>
            <a:r>
              <a:rPr lang="en-US" altLang="zh-CN" sz="1800" b="1" dirty="0">
                <a:solidFill>
                  <a:srgbClr val="2A428F"/>
                </a:solidFill>
                <a:latin typeface="Calibri"/>
                <a:ea typeface="Calibri"/>
              </a:rPr>
              <a:t>Un</a:t>
            </a:r>
            <a:r>
              <a:rPr lang="en-US" altLang="zh-CN" sz="1800" b="1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2A428F"/>
                </a:solidFill>
                <a:latin typeface="Calibri"/>
                <a:ea typeface="Calibri"/>
              </a:rPr>
              <a:t>documento</a:t>
            </a:r>
            <a:r>
              <a:rPr lang="en-US" altLang="zh-CN" sz="1800" b="1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2A428F"/>
                </a:solidFill>
                <a:latin typeface="Calibri"/>
                <a:ea typeface="Calibri"/>
              </a:rPr>
              <a:t>informatico</a:t>
            </a:r>
            <a:r>
              <a:rPr lang="en-US" altLang="zh-CN" sz="1800" b="1" spc="-1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2A428F"/>
                </a:solidFill>
                <a:latin typeface="Calibri"/>
                <a:ea typeface="Calibri"/>
              </a:rPr>
              <a:t>è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:</a:t>
            </a:r>
          </a:p>
          <a:p>
            <a:pPr marL="69189" hangingPunct="0">
              <a:lnSpc>
                <a:spcPct val="95416"/>
              </a:lnSpc>
              <a:spcBef>
                <a:spcPts val="135"/>
              </a:spcBef>
            </a:pP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la</a:t>
            </a:r>
            <a:r>
              <a:rPr lang="en-US" altLang="zh-CN" sz="18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memorizzazione</a:t>
            </a:r>
            <a:r>
              <a:rPr lang="en-US" altLang="zh-CN" sz="18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su</a:t>
            </a:r>
            <a:r>
              <a:rPr lang="en-US" altLang="zh-CN" sz="18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supporto</a:t>
            </a:r>
            <a:r>
              <a:rPr lang="en-US" altLang="zh-CN" sz="18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informatico</a:t>
            </a:r>
            <a:r>
              <a:rPr lang="en-US" altLang="zh-CN" sz="18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in</a:t>
            </a:r>
            <a:r>
              <a:rPr lang="en-US" altLang="zh-CN" sz="18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formato</a:t>
            </a:r>
            <a:r>
              <a:rPr lang="en-US" altLang="zh-CN" sz="18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digitale</a:t>
            </a:r>
            <a:r>
              <a:rPr lang="en-US" altLang="zh-CN" sz="18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nativo</a:t>
            </a:r>
            <a:r>
              <a:rPr lang="en-US" altLang="zh-CN" sz="18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delle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informazioni</a:t>
            </a:r>
            <a:r>
              <a:rPr lang="en-US" altLang="zh-CN" sz="18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derivanti</a:t>
            </a:r>
            <a:r>
              <a:rPr lang="en-US" altLang="zh-CN" sz="1800" spc="-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da</a:t>
            </a:r>
            <a:r>
              <a:rPr lang="en-US" altLang="zh-CN" sz="1800" spc="-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processi</a:t>
            </a:r>
            <a:r>
              <a:rPr lang="en-US" altLang="zh-CN" sz="18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informatici</a:t>
            </a:r>
            <a:r>
              <a:rPr lang="en-US" altLang="zh-CN" sz="1800" spc="-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dell’ente,</a:t>
            </a:r>
            <a:r>
              <a:rPr lang="en-US" altLang="zh-CN" sz="1800" spc="-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o</a:t>
            </a:r>
            <a:r>
              <a:rPr lang="en-US" altLang="zh-CN" sz="18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dalla</a:t>
            </a:r>
            <a:r>
              <a:rPr lang="en-US" altLang="zh-CN" sz="1800" spc="-5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presentazione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telematica</a:t>
            </a:r>
            <a:r>
              <a:rPr lang="en-US" altLang="zh-CN" sz="18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18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dati</a:t>
            </a:r>
            <a:r>
              <a:rPr lang="en-US" altLang="zh-CN" sz="18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attraverso</a:t>
            </a:r>
            <a:r>
              <a:rPr lang="en-US" altLang="zh-CN" sz="18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moduli</a:t>
            </a:r>
            <a:r>
              <a:rPr lang="en-US" altLang="zh-CN" sz="18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resi</a:t>
            </a:r>
            <a:r>
              <a:rPr lang="en-US" altLang="zh-CN" sz="18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disponibili</a:t>
            </a:r>
            <a:r>
              <a:rPr lang="en-US" altLang="zh-CN" sz="18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online</a:t>
            </a:r>
            <a:r>
              <a:rPr lang="en-US" altLang="zh-CN" sz="18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all’utente.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319"/>
              </a:lnSpc>
            </a:pPr>
            <a:endParaRPr lang="en-US" dirty="0" smtClean="0"/>
          </a:p>
          <a:p>
            <a:pPr marL="0" indent="69189">
              <a:lnSpc>
                <a:spcPct val="100000"/>
              </a:lnSpc>
            </a:pPr>
            <a:r>
              <a:rPr lang="en-US" altLang="zh-CN" sz="1800" b="1" dirty="0">
                <a:solidFill>
                  <a:srgbClr val="2A428F"/>
                </a:solidFill>
                <a:latin typeface="Calibri"/>
                <a:ea typeface="Calibri"/>
              </a:rPr>
              <a:t>Un</a:t>
            </a:r>
            <a:r>
              <a:rPr lang="en-US" altLang="zh-CN" sz="1800" b="1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2A428F"/>
                </a:solidFill>
                <a:latin typeface="Calibri"/>
                <a:ea typeface="Calibri"/>
              </a:rPr>
              <a:t>istanza</a:t>
            </a:r>
            <a:r>
              <a:rPr lang="en-US" altLang="zh-CN" sz="1800" b="1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2A428F"/>
                </a:solidFill>
                <a:latin typeface="Calibri"/>
                <a:ea typeface="Calibri"/>
              </a:rPr>
              <a:t>trasmessa</a:t>
            </a:r>
            <a:r>
              <a:rPr lang="en-US" altLang="zh-CN" sz="1800" b="1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2A428F"/>
                </a:solidFill>
                <a:latin typeface="Calibri"/>
                <a:ea typeface="Calibri"/>
              </a:rPr>
              <a:t>alla</a:t>
            </a:r>
            <a:r>
              <a:rPr lang="en-US" altLang="zh-CN" sz="1800" b="1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2A428F"/>
                </a:solidFill>
                <a:latin typeface="Calibri"/>
                <a:ea typeface="Calibri"/>
              </a:rPr>
              <a:t>PA</a:t>
            </a:r>
            <a:r>
              <a:rPr lang="en-US" altLang="zh-CN" sz="1800" b="1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2A428F"/>
                </a:solidFill>
                <a:latin typeface="Calibri"/>
                <a:ea typeface="Calibri"/>
              </a:rPr>
              <a:t>è</a:t>
            </a:r>
            <a:r>
              <a:rPr lang="en-US" altLang="zh-CN" sz="1800" b="1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2A428F"/>
                </a:solidFill>
                <a:latin typeface="Calibri"/>
                <a:ea typeface="Calibri"/>
              </a:rPr>
              <a:t>valida</a:t>
            </a:r>
            <a:r>
              <a:rPr lang="en-US" altLang="zh-CN" sz="1800" b="1" spc="-4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2A428F"/>
                </a:solidFill>
                <a:latin typeface="Calibri"/>
                <a:ea typeface="Calibri"/>
              </a:rPr>
              <a:t>se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:</a:t>
            </a:r>
          </a:p>
          <a:p>
            <a:pPr marL="0" indent="69189">
              <a:lnSpc>
                <a:spcPct val="100000"/>
              </a:lnSpc>
            </a:pPr>
            <a:r>
              <a:rPr lang="en-US" altLang="zh-CN" sz="1800" b="1" dirty="0">
                <a:solidFill>
                  <a:srgbClr val="2A428F"/>
                </a:solidFill>
                <a:latin typeface="Calibri"/>
                <a:ea typeface="Calibri"/>
              </a:rPr>
              <a:t>1-</a:t>
            </a:r>
            <a:r>
              <a:rPr lang="en-US" altLang="zh-CN" sz="1800" b="1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se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sottoscritta</a:t>
            </a:r>
            <a:r>
              <a:rPr lang="en-US" altLang="zh-CN" sz="18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con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firma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digitale</a:t>
            </a:r>
          </a:p>
          <a:p>
            <a:pPr marL="69189" hangingPunct="0">
              <a:lnSpc>
                <a:spcPct val="95416"/>
              </a:lnSpc>
            </a:pPr>
            <a:r>
              <a:rPr lang="en-US" altLang="zh-CN" sz="1800" b="1" dirty="0">
                <a:solidFill>
                  <a:srgbClr val="2A428F"/>
                </a:solidFill>
                <a:latin typeface="Calibri"/>
                <a:ea typeface="Calibri"/>
              </a:rPr>
              <a:t>2-</a:t>
            </a:r>
            <a:r>
              <a:rPr lang="en-US" altLang="zh-CN" sz="1800" b="1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se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il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richiedente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è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identificato</a:t>
            </a:r>
            <a:r>
              <a:rPr lang="en-US" altLang="zh-CN" sz="18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attraverso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il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sistema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pubblico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identità</a:t>
            </a:r>
            <a:r>
              <a:rPr lang="en-US" altLang="zh-CN" sz="18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digitale</a:t>
            </a:r>
            <a:r>
              <a:rPr lang="en-US" altLang="zh-CN" sz="1800" spc="-3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SPID,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CIE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18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CNS</a:t>
            </a:r>
          </a:p>
          <a:p>
            <a:pPr marL="69189" hangingPunct="0">
              <a:lnSpc>
                <a:spcPct val="95833"/>
              </a:lnSpc>
              <a:spcBef>
                <a:spcPts val="240"/>
              </a:spcBef>
            </a:pPr>
            <a:r>
              <a:rPr lang="en-US" altLang="zh-CN" sz="1800" b="1" dirty="0">
                <a:solidFill>
                  <a:srgbClr val="2A428F"/>
                </a:solidFill>
                <a:latin typeface="Calibri"/>
                <a:ea typeface="Calibri"/>
              </a:rPr>
              <a:t>3-</a:t>
            </a:r>
            <a:r>
              <a:rPr lang="en-US" altLang="zh-CN" sz="1800" b="1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se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sottoscritta</a:t>
            </a:r>
            <a:r>
              <a:rPr lang="en-US" altLang="zh-CN" sz="18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presentata</a:t>
            </a:r>
            <a:r>
              <a:rPr lang="en-US" altLang="zh-CN" sz="18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unitamente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alla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copia</a:t>
            </a:r>
            <a:r>
              <a:rPr lang="en-US" altLang="zh-CN" sz="18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del</a:t>
            </a:r>
            <a:r>
              <a:rPr lang="en-US" altLang="zh-CN" sz="18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documento</a:t>
            </a:r>
            <a:r>
              <a:rPr lang="en-US" altLang="zh-CN" sz="18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d’identità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t/>
            </a:r>
            <a:br/>
            <a:r>
              <a:rPr lang="en-US" altLang="zh-CN" sz="1800" b="1" dirty="0">
                <a:solidFill>
                  <a:srgbClr val="2A428F"/>
                </a:solidFill>
                <a:latin typeface="Calibri"/>
                <a:ea typeface="Calibri"/>
              </a:rPr>
              <a:t>4-</a:t>
            </a:r>
            <a:r>
              <a:rPr lang="en-US" altLang="zh-CN" sz="1800" b="1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se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trasmessa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dal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richiedente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dal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proprio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domicilio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digitale</a:t>
            </a:r>
            <a:r>
              <a:rPr lang="en-US" altLang="zh-CN" sz="1800" spc="-9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(PEC)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t/>
            </a:r>
            <a:br/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[</a:t>
            </a:r>
            <a:r>
              <a:rPr lang="en-US" altLang="zh-CN" sz="1800" dirty="0">
                <a:solidFill>
                  <a:srgbClr val="006EBF"/>
                </a:solidFill>
                <a:latin typeface="Calibri"/>
                <a:ea typeface="Calibri"/>
              </a:rPr>
              <a:t>riferimento:</a:t>
            </a:r>
            <a:r>
              <a:rPr lang="en-US" altLang="zh-CN" sz="1800" dirty="0">
                <a:solidFill>
                  <a:srgbClr val="006EB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6EBF"/>
                </a:solidFill>
                <a:latin typeface="Calibri"/>
                <a:ea typeface="Calibri"/>
              </a:rPr>
              <a:t>articolo</a:t>
            </a:r>
            <a:r>
              <a:rPr lang="en-US" altLang="zh-CN" sz="1800" dirty="0">
                <a:solidFill>
                  <a:srgbClr val="006EB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6EBF"/>
                </a:solidFill>
                <a:latin typeface="Calibri"/>
                <a:ea typeface="Calibri"/>
              </a:rPr>
              <a:t>65</a:t>
            </a:r>
            <a:r>
              <a:rPr lang="en-US" altLang="zh-CN" sz="1800" dirty="0">
                <a:solidFill>
                  <a:srgbClr val="006EB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6EBF"/>
                </a:solidFill>
                <a:latin typeface="Calibri"/>
                <a:ea typeface="Calibri"/>
              </a:rPr>
              <a:t>del</a:t>
            </a:r>
            <a:r>
              <a:rPr lang="en-US" altLang="zh-CN" sz="1800" spc="-75" dirty="0">
                <a:solidFill>
                  <a:srgbClr val="006EB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6EBF"/>
                </a:solidFill>
                <a:latin typeface="Calibri"/>
                <a:ea typeface="Calibri"/>
              </a:rPr>
              <a:t>CAD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]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294"/>
              </a:lnSpc>
            </a:pPr>
            <a:endParaRPr lang="en-US" dirty="0" smtClean="0"/>
          </a:p>
          <a:p>
            <a:pPr marL="0" indent="69189">
              <a:lnSpc>
                <a:spcPct val="100000"/>
              </a:lnSpc>
            </a:pPr>
            <a:r>
              <a:rPr lang="en-US" altLang="zh-CN" sz="1800" b="1" dirty="0">
                <a:solidFill>
                  <a:srgbClr val="2A428F"/>
                </a:solidFill>
                <a:latin typeface="Calibri"/>
                <a:ea typeface="Calibri"/>
              </a:rPr>
              <a:t>Il</a:t>
            </a:r>
            <a:r>
              <a:rPr lang="en-US" altLang="zh-CN" sz="1800" b="1" spc="-6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2A428F"/>
                </a:solidFill>
                <a:latin typeface="Calibri"/>
                <a:ea typeface="Calibri"/>
              </a:rPr>
              <a:t>protocollo</a:t>
            </a:r>
            <a:r>
              <a:rPr lang="en-US" altLang="zh-CN" sz="1800" b="1" spc="-6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2A428F"/>
                </a:solidFill>
                <a:latin typeface="Calibri"/>
                <a:ea typeface="Calibri"/>
              </a:rPr>
              <a:t>collegato</a:t>
            </a:r>
            <a:r>
              <a:rPr lang="en-US" altLang="zh-CN" sz="1800" b="1" spc="-6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2A428F"/>
                </a:solidFill>
                <a:latin typeface="Calibri"/>
                <a:ea typeface="Calibri"/>
              </a:rPr>
              <a:t>agli</a:t>
            </a:r>
            <a:r>
              <a:rPr lang="en-US" altLang="zh-CN" sz="1800" b="1" spc="-6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2A428F"/>
                </a:solidFill>
                <a:latin typeface="Calibri"/>
                <a:ea typeface="Calibri"/>
              </a:rPr>
              <a:t>applicativi</a:t>
            </a:r>
            <a:r>
              <a:rPr lang="en-US" altLang="zh-CN" sz="1800" b="1" spc="-6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2A428F"/>
                </a:solidFill>
                <a:latin typeface="Calibri"/>
                <a:ea typeface="Calibri"/>
              </a:rPr>
              <a:t>gestionali</a:t>
            </a:r>
          </a:p>
          <a:p>
            <a:pPr marL="69189" hangingPunct="0">
              <a:lnSpc>
                <a:spcPct val="100000"/>
              </a:lnSpc>
            </a:pP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Il</a:t>
            </a:r>
            <a:r>
              <a:rPr lang="en-US" altLang="zh-CN" sz="18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protocollo</a:t>
            </a:r>
            <a:r>
              <a:rPr lang="en-US" altLang="zh-CN" sz="18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è</a:t>
            </a:r>
            <a:r>
              <a:rPr lang="en-US" altLang="zh-CN" sz="18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un</a:t>
            </a:r>
            <a:r>
              <a:rPr lang="en-US" altLang="zh-CN" sz="18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applicativo</a:t>
            </a:r>
            <a:r>
              <a:rPr lang="en-US" altLang="zh-CN" sz="18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nel</a:t>
            </a:r>
            <a:r>
              <a:rPr lang="en-US" altLang="zh-CN" sz="18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quale</a:t>
            </a:r>
            <a:r>
              <a:rPr lang="en-US" altLang="zh-CN" sz="18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vengono</a:t>
            </a:r>
            <a:r>
              <a:rPr lang="en-US" altLang="zh-CN" sz="18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tracciati</a:t>
            </a:r>
            <a:r>
              <a:rPr lang="en-US" altLang="zh-CN" sz="18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18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metadatati</a:t>
            </a:r>
            <a:r>
              <a:rPr lang="en-US" altLang="zh-CN" sz="18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i</a:t>
            </a:r>
            <a:r>
              <a:rPr lang="en-US" altLang="zh-CN" sz="18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documenti</a:t>
            </a:r>
            <a:r>
              <a:rPr lang="en-US" altLang="zh-CN" sz="18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che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l’ente</a:t>
            </a:r>
            <a:r>
              <a:rPr lang="en-US" altLang="zh-CN" sz="1800" spc="-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produce.</a:t>
            </a:r>
            <a:r>
              <a:rPr lang="en-US" altLang="zh-CN" sz="1800" spc="-5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Il</a:t>
            </a:r>
            <a:r>
              <a:rPr lang="en-US" altLang="zh-CN" sz="1800" spc="-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protocollo</a:t>
            </a:r>
            <a:r>
              <a:rPr lang="en-US" altLang="zh-CN" sz="1800" spc="-5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deve</a:t>
            </a:r>
            <a:r>
              <a:rPr lang="en-US" altLang="zh-CN" sz="1800" spc="-5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essere</a:t>
            </a:r>
            <a:r>
              <a:rPr lang="en-US" altLang="zh-CN" sz="1800" spc="-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integrato</a:t>
            </a:r>
            <a:r>
              <a:rPr lang="en-US" altLang="zh-CN" sz="1800" spc="-5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informaticamente</a:t>
            </a:r>
            <a:r>
              <a:rPr lang="en-US" altLang="zh-CN" sz="1800" spc="-5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con</a:t>
            </a:r>
            <a:r>
              <a:rPr lang="en-US" altLang="zh-CN" sz="1800" spc="-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gli</a:t>
            </a:r>
            <a:r>
              <a:rPr lang="en-US" altLang="zh-CN" sz="1800" spc="-6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applicativi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gestionali</a:t>
            </a:r>
            <a:r>
              <a:rPr lang="en-US" altLang="zh-CN" sz="18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dell’ente</a:t>
            </a:r>
            <a:r>
              <a:rPr lang="en-US" altLang="zh-CN" sz="18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nei</a:t>
            </a:r>
            <a:r>
              <a:rPr lang="en-US" altLang="zh-CN" sz="18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quali</a:t>
            </a:r>
            <a:r>
              <a:rPr lang="en-US" altLang="zh-CN" sz="18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si</a:t>
            </a:r>
            <a:r>
              <a:rPr lang="en-US" altLang="zh-CN" sz="18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creano,</a:t>
            </a:r>
            <a:r>
              <a:rPr lang="en-US" altLang="zh-CN" sz="18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si</a:t>
            </a:r>
            <a:r>
              <a:rPr lang="en-US" altLang="zh-CN" sz="18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firmano</a:t>
            </a:r>
            <a:r>
              <a:rPr lang="en-US" altLang="zh-CN" sz="18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digitalmente</a:t>
            </a:r>
            <a:r>
              <a:rPr lang="en-US" altLang="zh-CN" sz="18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18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si</a:t>
            </a:r>
            <a:r>
              <a:rPr lang="en-US" altLang="zh-CN" sz="18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conservano</a:t>
            </a:r>
            <a:r>
              <a:rPr lang="en-US" altLang="zh-CN" sz="18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i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documenti</a:t>
            </a:r>
            <a:r>
              <a:rPr lang="en-US" altLang="zh-CN" sz="1800" spc="-8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amministrativi</a:t>
            </a:r>
            <a:r>
              <a:rPr lang="en-US" altLang="zh-CN" sz="1800" spc="-9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2A428F"/>
                </a:solidFill>
                <a:latin typeface="Calibri"/>
                <a:ea typeface="Calibri"/>
              </a:rPr>
              <a:t>informatici.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reeform 54"/>
          <p:cNvSpPr/>
          <p:nvPr/>
        </p:nvSpPr>
        <p:spPr>
          <a:xfrm>
            <a:off x="0" y="0"/>
            <a:ext cx="9144000" cy="6857999"/>
          </a:xfrm>
          <a:custGeom>
            <a:avLst/>
            <a:gdLst>
              <a:gd name="connsiteX0" fmla="*/ 0 w 9144000"/>
              <a:gd name="connsiteY0" fmla="*/ 6857999 h 6857999"/>
              <a:gd name="connsiteX1" fmla="*/ 9144000 w 9144000"/>
              <a:gd name="connsiteY1" fmla="*/ 6857999 h 6857999"/>
              <a:gd name="connsiteX2" fmla="*/ 9144000 w 9144000"/>
              <a:gd name="connsiteY2" fmla="*/ 0 h 6857999"/>
              <a:gd name="connsiteX3" fmla="*/ 0 w 9144000"/>
              <a:gd name="connsiteY3" fmla="*/ 0 h 6857999"/>
              <a:gd name="connsiteX4" fmla="*/ 0 w 9144000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6857999">
                <a:moveTo>
                  <a:pt x="0" y="6857999"/>
                </a:moveTo>
                <a:lnTo>
                  <a:pt x="9144000" y="6857999"/>
                </a:lnTo>
                <a:lnTo>
                  <a:pt x="9144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CFA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Picture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" y="83820"/>
            <a:ext cx="8404859" cy="3528060"/>
          </a:xfrm>
          <a:prstGeom prst="rect">
            <a:avLst/>
          </a:prstGeom>
        </p:spPr>
      </p:pic>
      <p:pic>
        <p:nvPicPr>
          <p:cNvPr id="57" name="Picture 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" y="3611879"/>
            <a:ext cx="8389620" cy="3223260"/>
          </a:xfrm>
          <a:prstGeom prst="rect">
            <a:avLst/>
          </a:prstGeom>
        </p:spPr>
      </p:pic>
      <p:sp>
        <p:nvSpPr>
          <p:cNvPr id="2" name="TextBox 57"/>
          <p:cNvSpPr txBox="1"/>
          <p:nvPr/>
        </p:nvSpPr>
        <p:spPr>
          <a:xfrm>
            <a:off x="347776" y="272161"/>
            <a:ext cx="8043107" cy="58157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2700" spc="-25" dirty="0">
                <a:solidFill>
                  <a:srgbClr val="2A428F"/>
                </a:solidFill>
                <a:latin typeface="Calibri"/>
                <a:ea typeface="Calibri"/>
              </a:rPr>
              <a:t>smaterial</a:t>
            </a:r>
            <a:r>
              <a:rPr lang="en-US" altLang="zh-CN" sz="2700" spc="-15" dirty="0">
                <a:solidFill>
                  <a:srgbClr val="2A428F"/>
                </a:solidFill>
                <a:latin typeface="Calibri"/>
                <a:ea typeface="Calibri"/>
              </a:rPr>
              <a:t>izzazione</a:t>
            </a:r>
          </a:p>
          <a:p>
            <a:pPr>
              <a:lnSpc>
                <a:spcPts val="1725"/>
              </a:lnSpc>
            </a:pPr>
            <a:endParaRPr lang="en-US" dirty="0" smtClean="0"/>
          </a:p>
          <a:p>
            <a:pPr marL="55473" hangingPunct="0">
              <a:lnSpc>
                <a:spcPct val="114999"/>
              </a:lnSpc>
            </a:pP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trasformazione</a:t>
            </a:r>
            <a:r>
              <a:rPr lang="en-US" altLang="zh-CN" sz="1800" spc="-25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del</a:t>
            </a:r>
            <a:r>
              <a:rPr lang="en-US" altLang="zh-CN" sz="1800" spc="-30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documento</a:t>
            </a:r>
            <a:r>
              <a:rPr lang="en-US" altLang="zh-CN" sz="1800" spc="-25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cartaceo</a:t>
            </a:r>
            <a:r>
              <a:rPr lang="en-US" altLang="zh-CN" sz="1800" spc="-30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in</a:t>
            </a:r>
            <a:r>
              <a:rPr lang="en-US" altLang="zh-CN" sz="1800" spc="-25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documento</a:t>
            </a:r>
            <a:r>
              <a:rPr lang="en-US" altLang="zh-CN" sz="1800" spc="-30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informatico.</a:t>
            </a:r>
            <a:r>
              <a:rPr lang="en-US" altLang="zh-CN" sz="1800" spc="-30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Esempio: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scansione</a:t>
            </a:r>
            <a:r>
              <a:rPr lang="en-US" altLang="zh-CN" sz="1800" spc="-20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del</a:t>
            </a:r>
            <a:r>
              <a:rPr lang="en-US" altLang="zh-CN" sz="1800" spc="-25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documento</a:t>
            </a:r>
            <a:r>
              <a:rPr lang="en-US" altLang="zh-CN" sz="1800" spc="-20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cartaceo</a:t>
            </a:r>
            <a:r>
              <a:rPr lang="en-US" altLang="zh-CN" sz="1800" spc="-25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con</a:t>
            </a:r>
            <a:r>
              <a:rPr lang="en-US" altLang="zh-CN" sz="1800" spc="-20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trasformazione</a:t>
            </a:r>
            <a:r>
              <a:rPr lang="en-US" altLang="zh-CN" sz="1800" spc="-25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in</a:t>
            </a:r>
            <a:r>
              <a:rPr lang="en-US" altLang="zh-CN" sz="1800" spc="-20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documento</a:t>
            </a:r>
            <a:r>
              <a:rPr lang="en-US" altLang="zh-CN" sz="1800" spc="-25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informatico</a:t>
            </a:r>
            <a:r>
              <a:rPr lang="en-US" altLang="zh-CN" sz="1800" spc="-30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in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formato</a:t>
            </a:r>
            <a:r>
              <a:rPr lang="en-US" altLang="zh-CN" sz="1800" spc="-89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001E5E"/>
                </a:solidFill>
                <a:latin typeface="Courier New"/>
                <a:ea typeface="Courier New"/>
              </a:rPr>
              <a:t>PDF</a:t>
            </a:r>
            <a:r>
              <a:rPr lang="en-US" altLang="zh-CN" sz="1800" b="1" spc="-245" dirty="0">
                <a:solidFill>
                  <a:srgbClr val="001E5E"/>
                </a:solidFill>
                <a:latin typeface="Courier New"/>
                <a:cs typeface="Courier New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/</a:t>
            </a:r>
            <a:r>
              <a:rPr lang="en-US" altLang="zh-CN" sz="1800" spc="-94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001E5E"/>
                </a:solidFill>
                <a:latin typeface="Courier New"/>
                <a:ea typeface="Courier New"/>
              </a:rPr>
              <a:t>JPG</a:t>
            </a:r>
            <a:r>
              <a:rPr lang="en-US" altLang="zh-CN" sz="1800" b="1" spc="-245" dirty="0">
                <a:solidFill>
                  <a:srgbClr val="001E5E"/>
                </a:solidFill>
                <a:latin typeface="Courier New"/>
                <a:cs typeface="Courier New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e</a:t>
            </a:r>
            <a:r>
              <a:rPr lang="en-US" altLang="zh-CN" sz="1800" spc="-94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relativa</a:t>
            </a:r>
            <a:r>
              <a:rPr lang="en-US" altLang="zh-CN" sz="1800" spc="-94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metadatazione</a:t>
            </a:r>
            <a:r>
              <a:rPr lang="en-US" altLang="zh-CN" sz="1800" spc="-89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in</a:t>
            </a:r>
            <a:r>
              <a:rPr lang="en-US" altLang="zh-CN" sz="1800" spc="-94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un</a:t>
            </a:r>
            <a:r>
              <a:rPr lang="en-US" altLang="zh-CN" sz="1800" spc="-89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programma</a:t>
            </a:r>
            <a:r>
              <a:rPr lang="en-US" altLang="zh-CN" sz="1800" spc="-94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che</a:t>
            </a:r>
            <a:r>
              <a:rPr lang="en-US" altLang="zh-CN" sz="1800" spc="-94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lo</a:t>
            </a:r>
            <a:r>
              <a:rPr lang="en-US" altLang="zh-CN" sz="1800" spc="-89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acquische</a:t>
            </a:r>
            <a:r>
              <a:rPr lang="en-US" altLang="zh-CN" sz="1800" spc="-100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nel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protocollo</a:t>
            </a:r>
            <a:r>
              <a:rPr lang="en-US" altLang="zh-CN" sz="1800" spc="-25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informatico</a:t>
            </a:r>
            <a:r>
              <a:rPr lang="en-US" altLang="zh-CN" sz="1800" spc="-25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dell’ente.</a:t>
            </a:r>
            <a:r>
              <a:rPr lang="en-US" altLang="zh-CN" sz="1800" spc="-25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Il</a:t>
            </a:r>
            <a:r>
              <a:rPr lang="en-US" altLang="zh-CN" sz="1800" spc="-25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documento</a:t>
            </a:r>
            <a:r>
              <a:rPr lang="en-US" altLang="zh-CN" sz="1800" spc="-25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non</a:t>
            </a:r>
            <a:r>
              <a:rPr lang="en-US" altLang="zh-CN" sz="1800" spc="-30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è</a:t>
            </a:r>
            <a:r>
              <a:rPr lang="en-US" altLang="zh-CN" sz="1800" spc="-25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in</a:t>
            </a:r>
            <a:r>
              <a:rPr lang="en-US" altLang="zh-CN" sz="1800" spc="-25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formato</a:t>
            </a:r>
            <a:r>
              <a:rPr lang="en-US" altLang="zh-CN" sz="1800" spc="-25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aperto</a:t>
            </a:r>
            <a:r>
              <a:rPr lang="en-US" altLang="zh-CN" sz="1800" spc="-25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e</a:t>
            </a:r>
            <a:r>
              <a:rPr lang="en-US" altLang="zh-CN" sz="1800" spc="-30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quindi</a:t>
            </a:r>
            <a:r>
              <a:rPr lang="en-US" altLang="zh-CN" sz="1800" spc="-30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un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programma</a:t>
            </a:r>
            <a:r>
              <a:rPr lang="en-US" altLang="zh-CN" sz="1800" spc="-15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informatico</a:t>
            </a:r>
            <a:r>
              <a:rPr lang="en-US" altLang="zh-CN" sz="1800" spc="-15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non</a:t>
            </a:r>
            <a:r>
              <a:rPr lang="en-US" altLang="zh-CN" sz="1800" spc="-15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è</a:t>
            </a:r>
            <a:r>
              <a:rPr lang="en-US" altLang="zh-CN" sz="1800" spc="-15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in</a:t>
            </a:r>
            <a:r>
              <a:rPr lang="en-US" altLang="zh-CN" sz="1800" spc="-20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grado</a:t>
            </a:r>
            <a:r>
              <a:rPr lang="en-US" altLang="zh-CN" sz="1800" spc="-15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di</a:t>
            </a:r>
            <a:r>
              <a:rPr lang="en-US" altLang="zh-CN" sz="1800" spc="-15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leggere</a:t>
            </a:r>
            <a:r>
              <a:rPr lang="en-US" altLang="zh-CN" sz="1800" spc="-15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il</a:t>
            </a:r>
            <a:r>
              <a:rPr lang="en-US" altLang="zh-CN" sz="1800" spc="-15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contenuto</a:t>
            </a:r>
            <a:r>
              <a:rPr lang="en-US" altLang="zh-CN" sz="1800" spc="-20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del</a:t>
            </a:r>
            <a:r>
              <a:rPr lang="en-US" altLang="zh-CN" sz="1800" spc="-20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documento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scansionato.</a:t>
            </a:r>
            <a:r>
              <a:rPr lang="en-US" altLang="zh-CN" sz="1800" spc="-15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Ne</a:t>
            </a:r>
            <a:r>
              <a:rPr lang="en-US" altLang="zh-CN" sz="1800" spc="-20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consegue</a:t>
            </a:r>
            <a:r>
              <a:rPr lang="en-US" altLang="zh-CN" sz="1800" spc="-20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che</a:t>
            </a:r>
            <a:r>
              <a:rPr lang="en-US" altLang="zh-CN" sz="1800" spc="-20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più</a:t>
            </a:r>
            <a:r>
              <a:rPr lang="en-US" altLang="zh-CN" sz="1800" spc="-20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documenti</a:t>
            </a:r>
            <a:r>
              <a:rPr lang="en-US" altLang="zh-CN" sz="1800" spc="-20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scansionati</a:t>
            </a:r>
            <a:r>
              <a:rPr lang="en-US" altLang="zh-CN" sz="1800" spc="-20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non</a:t>
            </a:r>
            <a:r>
              <a:rPr lang="en-US" altLang="zh-CN" sz="1800" spc="-20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sono</a:t>
            </a:r>
            <a:r>
              <a:rPr lang="en-US" altLang="zh-CN" sz="1800" spc="-20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interoperabili</a:t>
            </a:r>
            <a:r>
              <a:rPr lang="en-US" altLang="zh-CN" sz="1800" spc="-25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tra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loro,</a:t>
            </a:r>
            <a:r>
              <a:rPr lang="en-US" altLang="zh-CN" sz="1800" spc="-15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non</a:t>
            </a:r>
            <a:r>
              <a:rPr lang="en-US" altLang="zh-CN" sz="1800" spc="-15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permettendo,</a:t>
            </a:r>
            <a:r>
              <a:rPr lang="en-US" altLang="zh-CN" sz="1800" spc="-20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quindi,</a:t>
            </a:r>
            <a:r>
              <a:rPr lang="en-US" altLang="zh-CN" sz="1800" spc="-15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una</a:t>
            </a:r>
            <a:r>
              <a:rPr lang="en-US" altLang="zh-CN" sz="1800" spc="-20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ricerca</a:t>
            </a:r>
            <a:r>
              <a:rPr lang="en-US" altLang="zh-CN" sz="1800" spc="-15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di</a:t>
            </a:r>
            <a:r>
              <a:rPr lang="en-US" altLang="zh-CN" sz="1800" spc="-15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informazioni</a:t>
            </a:r>
            <a:r>
              <a:rPr lang="en-US" altLang="zh-CN" sz="1800" spc="-20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all’interno</a:t>
            </a:r>
            <a:r>
              <a:rPr lang="en-US" altLang="zh-CN" sz="1800" spc="-15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dei</a:t>
            </a:r>
            <a:r>
              <a:rPr lang="en-US" altLang="zh-CN" sz="1800" spc="-25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documenti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cs typeface="Calibri"/>
              </a:rPr>
              <a:t> </a:t>
            </a:r>
            <a:r>
              <a:rPr lang="en-US" altLang="zh-CN" sz="1800" spc="-5" dirty="0">
                <a:solidFill>
                  <a:srgbClr val="001E5E"/>
                </a:solidFill>
                <a:latin typeface="Calibri"/>
                <a:ea typeface="Calibri"/>
              </a:rPr>
              <a:t>scansi</a:t>
            </a:r>
            <a:r>
              <a:rPr lang="en-US" altLang="zh-CN" sz="1800" dirty="0">
                <a:solidFill>
                  <a:srgbClr val="001E5E"/>
                </a:solidFill>
                <a:latin typeface="Calibri"/>
                <a:ea typeface="Calibri"/>
              </a:rPr>
              <a:t>onati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710"/>
              </a:lnSpc>
            </a:pPr>
            <a:endParaRPr lang="en-US" dirty="0" smtClean="0"/>
          </a:p>
          <a:p>
            <a:pPr marL="4441266" hangingPunct="0">
              <a:lnSpc>
                <a:spcPct val="100000"/>
              </a:lnSpc>
            </a:pP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nella</a:t>
            </a:r>
            <a:r>
              <a:rPr lang="en-US" altLang="zh-CN" sz="1700" spc="-64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b="1" dirty="0">
                <a:solidFill>
                  <a:srgbClr val="F2F2F2"/>
                </a:solidFill>
                <a:latin typeface="Calibri"/>
                <a:ea typeface="Calibri"/>
              </a:rPr>
              <a:t>SMATERIALIZZAZIONE</a:t>
            </a:r>
            <a:r>
              <a:rPr lang="en-US" altLang="zh-CN" sz="1700" b="1" spc="-69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si</a:t>
            </a:r>
            <a:r>
              <a:rPr lang="en-US" altLang="zh-CN" sz="1700" spc="-64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opera</a:t>
            </a:r>
            <a:r>
              <a:rPr lang="en-US" altLang="zh-CN" sz="1700" spc="-75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con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la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b="1" dirty="0">
                <a:solidFill>
                  <a:srgbClr val="FEFE00"/>
                </a:solidFill>
                <a:latin typeface="Calibri"/>
                <a:ea typeface="Calibri"/>
              </a:rPr>
              <a:t>scansione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,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cioè</a:t>
            </a:r>
            <a:r>
              <a:rPr lang="en-US" altLang="zh-CN" sz="1700" spc="-11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l’acquisizione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dell’immagine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del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documento</a:t>
            </a:r>
            <a:r>
              <a:rPr lang="en-US" altLang="zh-CN" sz="1700" spc="-4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cartaceo.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Il</a:t>
            </a:r>
            <a:r>
              <a:rPr lang="en-US" altLang="zh-CN" sz="1700" spc="-2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documento</a:t>
            </a:r>
            <a:r>
              <a:rPr lang="en-US" altLang="zh-CN" sz="1700" spc="-2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scansionato</a:t>
            </a:r>
            <a:r>
              <a:rPr lang="en-US" altLang="zh-CN" sz="1700" spc="-25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è</a:t>
            </a:r>
            <a:r>
              <a:rPr lang="en-US" altLang="zh-CN" sz="1700" spc="-2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una</a:t>
            </a:r>
            <a:r>
              <a:rPr lang="en-US" altLang="zh-CN" sz="1700" spc="-25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vera</a:t>
            </a:r>
            <a:r>
              <a:rPr lang="en-US" altLang="zh-CN" sz="1700" spc="-25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e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propria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“fotografia”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del</a:t>
            </a:r>
            <a:r>
              <a:rPr lang="en-US" altLang="zh-CN" sz="1700" spc="-12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documento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cs typeface="Calibri"/>
              </a:rPr>
              <a:t> </a:t>
            </a:r>
            <a:r>
              <a:rPr lang="en-US" altLang="zh-CN" sz="1700" spc="-5" dirty="0">
                <a:solidFill>
                  <a:srgbClr val="F2F2F2"/>
                </a:solidFill>
                <a:latin typeface="Calibri"/>
                <a:ea typeface="Calibri"/>
              </a:rPr>
              <a:t>carta</a:t>
            </a:r>
            <a:r>
              <a:rPr lang="en-US" altLang="zh-CN" sz="1700" dirty="0">
                <a:solidFill>
                  <a:srgbClr val="F2F2F2"/>
                </a:solidFill>
                <a:latin typeface="Calibri"/>
                <a:ea typeface="Calibri"/>
              </a:rPr>
              <a:t>ceo.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Freeform 58"/>
          <p:cNvSpPr/>
          <p:nvPr/>
        </p:nvSpPr>
        <p:spPr>
          <a:xfrm>
            <a:off x="0" y="0"/>
            <a:ext cx="9144000" cy="6857999"/>
          </a:xfrm>
          <a:custGeom>
            <a:avLst/>
            <a:gdLst>
              <a:gd name="connsiteX0" fmla="*/ 0 w 9144000"/>
              <a:gd name="connsiteY0" fmla="*/ 6857999 h 6857999"/>
              <a:gd name="connsiteX1" fmla="*/ 9144000 w 9144000"/>
              <a:gd name="connsiteY1" fmla="*/ 6857999 h 6857999"/>
              <a:gd name="connsiteX2" fmla="*/ 9144000 w 9144000"/>
              <a:gd name="connsiteY2" fmla="*/ 0 h 6857999"/>
              <a:gd name="connsiteX3" fmla="*/ 0 w 9144000"/>
              <a:gd name="connsiteY3" fmla="*/ 0 h 6857999"/>
              <a:gd name="connsiteX4" fmla="*/ 0 w 9144000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6857999">
                <a:moveTo>
                  <a:pt x="0" y="6857999"/>
                </a:moveTo>
                <a:lnTo>
                  <a:pt x="9144000" y="6857999"/>
                </a:lnTo>
                <a:lnTo>
                  <a:pt x="9144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CFA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" name="Picture 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" y="4084320"/>
            <a:ext cx="8420100" cy="1455420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30480"/>
            <a:ext cx="8366759" cy="3886200"/>
          </a:xfrm>
          <a:prstGeom prst="rect">
            <a:avLst/>
          </a:prstGeom>
        </p:spPr>
      </p:pic>
      <p:sp>
        <p:nvSpPr>
          <p:cNvPr id="2" name="TextBox 62"/>
          <p:cNvSpPr txBox="1"/>
          <p:nvPr/>
        </p:nvSpPr>
        <p:spPr>
          <a:xfrm>
            <a:off x="490727" y="241223"/>
            <a:ext cx="7931879" cy="50530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100" spc="-15" dirty="0">
                <a:solidFill>
                  <a:srgbClr val="2A428F"/>
                </a:solidFill>
                <a:latin typeface="Calibri"/>
                <a:ea typeface="Calibri"/>
              </a:rPr>
              <a:t>step</a:t>
            </a:r>
            <a:r>
              <a:rPr lang="en-US" altLang="zh-CN" sz="3100" spc="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3100" spc="-15" dirty="0">
                <a:solidFill>
                  <a:srgbClr val="2A428F"/>
                </a:solidFill>
                <a:latin typeface="Calibri"/>
                <a:ea typeface="Calibri"/>
              </a:rPr>
              <a:t>operativi</a:t>
            </a:r>
          </a:p>
          <a:p>
            <a:pPr marL="0" indent="76200">
              <a:lnSpc>
                <a:spcPct val="100000"/>
              </a:lnSpc>
              <a:spcBef>
                <a:spcPts val="259"/>
              </a:spcBef>
            </a:pP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1.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cs typeface="Calibri"/>
              </a:rPr>
              <a:t> 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individuare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analizzare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i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procedimenti</a:t>
            </a:r>
            <a:r>
              <a:rPr lang="en-US" altLang="zh-CN" sz="2400" spc="-17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amministrativi</a:t>
            </a:r>
          </a:p>
          <a:p>
            <a:pPr marL="0" indent="76200">
              <a:lnSpc>
                <a:spcPct val="100000"/>
              </a:lnSpc>
            </a:pP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2.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cs typeface="Calibri"/>
              </a:rPr>
              <a:t> 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individuare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le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azioni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le</a:t>
            </a:r>
            <a:r>
              <a:rPr lang="en-US" altLang="zh-CN" sz="2400" spc="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priorità</a:t>
            </a:r>
          </a:p>
          <a:p>
            <a:pPr marL="0" indent="76200">
              <a:lnSpc>
                <a:spcPct val="100000"/>
              </a:lnSpc>
            </a:pP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3.</a:t>
            </a:r>
            <a:r>
              <a:rPr lang="en-US" altLang="zh-CN" sz="2400" spc="-25" dirty="0">
                <a:solidFill>
                  <a:srgbClr val="2A428F"/>
                </a:solidFill>
                <a:latin typeface="Calibri"/>
                <a:cs typeface="Calibri"/>
              </a:rPr>
              <a:t> 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preparare</a:t>
            </a:r>
            <a:r>
              <a:rPr lang="en-US" altLang="zh-CN" sz="24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la</a:t>
            </a:r>
            <a:r>
              <a:rPr lang="en-US" altLang="zh-CN" sz="24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documentazione</a:t>
            </a:r>
            <a:r>
              <a:rPr lang="en-US" altLang="zh-CN" sz="24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per</a:t>
            </a:r>
            <a:r>
              <a:rPr lang="en-US" altLang="zh-CN" sz="24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gli</a:t>
            </a:r>
            <a:r>
              <a:rPr lang="en-US" altLang="zh-CN" sz="24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informatici</a:t>
            </a:r>
            <a:r>
              <a:rPr lang="en-US" altLang="zh-CN" sz="24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2400" spc="-3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software</a:t>
            </a:r>
          </a:p>
          <a:p>
            <a:pPr marL="0" indent="457200">
              <a:lnSpc>
                <a:spcPct val="100000"/>
              </a:lnSpc>
            </a:pP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house</a:t>
            </a:r>
            <a:r>
              <a:rPr lang="en-US" altLang="zh-CN" sz="24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(capitolato</a:t>
            </a:r>
            <a:r>
              <a:rPr lang="en-US" altLang="zh-CN" sz="24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per</a:t>
            </a:r>
            <a:r>
              <a:rPr lang="en-US" altLang="zh-CN" sz="24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acquisti</a:t>
            </a:r>
            <a:r>
              <a:rPr lang="en-US" altLang="zh-CN" sz="24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2400" spc="-4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applicativi)</a:t>
            </a:r>
          </a:p>
          <a:p>
            <a:pPr marL="457200" indent="-381000" hangingPunct="0">
              <a:lnSpc>
                <a:spcPct val="95416"/>
              </a:lnSpc>
              <a:spcBef>
                <a:spcPts val="179"/>
              </a:spcBef>
            </a:pP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4.</a:t>
            </a:r>
            <a:r>
              <a:rPr lang="en-US" altLang="zh-CN" sz="2400" spc="-15" dirty="0">
                <a:solidFill>
                  <a:srgbClr val="2A428F"/>
                </a:solidFill>
                <a:latin typeface="Calibri"/>
                <a:cs typeface="Calibri"/>
              </a:rPr>
              <a:t> 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un</a:t>
            </a:r>
            <a:r>
              <a:rPr lang="en-US" altLang="zh-CN" sz="24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pizzico</a:t>
            </a:r>
            <a:r>
              <a:rPr lang="en-US" altLang="zh-CN" sz="24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24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Intelligenza</a:t>
            </a:r>
            <a:r>
              <a:rPr lang="en-US" altLang="zh-CN" sz="24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Artificiale</a:t>
            </a:r>
            <a:r>
              <a:rPr lang="en-US" altLang="zh-CN" sz="24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(uso</a:t>
            </a:r>
            <a:r>
              <a:rPr lang="en-US" altLang="zh-CN" sz="24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24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algoritmi)</a:t>
            </a:r>
            <a:r>
              <a:rPr lang="en-US" altLang="zh-CN" sz="24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per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rendere</a:t>
            </a:r>
            <a:r>
              <a:rPr lang="en-US" altLang="zh-CN" sz="24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la</a:t>
            </a:r>
            <a:r>
              <a:rPr lang="en-US" altLang="zh-CN" sz="24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vita</a:t>
            </a:r>
            <a:r>
              <a:rPr lang="en-US" altLang="zh-CN" sz="24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lavorativa</a:t>
            </a:r>
            <a:r>
              <a:rPr lang="en-US" altLang="zh-CN" sz="24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più</a:t>
            </a:r>
            <a:r>
              <a:rPr lang="en-US" altLang="zh-CN" sz="24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semplice,</a:t>
            </a:r>
            <a:r>
              <a:rPr lang="en-US" altLang="zh-CN" sz="24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per</a:t>
            </a:r>
            <a:r>
              <a:rPr lang="en-US" altLang="zh-CN" sz="24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agevolare</a:t>
            </a:r>
            <a:r>
              <a:rPr lang="en-US" altLang="zh-CN" sz="2400" spc="-4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i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cittadini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nella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fruizione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dei</a:t>
            </a:r>
            <a:r>
              <a:rPr lang="en-US" altLang="zh-CN" sz="2400" spc="-6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servizi</a:t>
            </a:r>
          </a:p>
          <a:p>
            <a:pPr marL="0">
              <a:lnSpc>
                <a:spcPct val="100000"/>
              </a:lnSpc>
              <a:spcBef>
                <a:spcPts val="215"/>
              </a:spcBef>
            </a:pP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…..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il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tutto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pensando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per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"dati"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(e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non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per</a:t>
            </a:r>
            <a:r>
              <a:rPr lang="en-US" altLang="zh-CN" sz="2400" spc="-1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400" dirty="0">
                <a:solidFill>
                  <a:srgbClr val="2A428F"/>
                </a:solidFill>
                <a:latin typeface="Calibri"/>
                <a:ea typeface="Calibri"/>
              </a:rPr>
              <a:t>PDF)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825"/>
              </a:lnSpc>
            </a:pPr>
            <a:endParaRPr lang="en-US" dirty="0" smtClean="0"/>
          </a:p>
          <a:p>
            <a:pPr marL="0" hangingPunct="0">
              <a:lnSpc>
                <a:spcPct val="95416"/>
              </a:lnSpc>
            </a:pPr>
            <a:r>
              <a:rPr lang="en-US" altLang="zh-CN" sz="2300" dirty="0">
                <a:solidFill>
                  <a:srgbClr val="3B84C4"/>
                </a:solidFill>
                <a:latin typeface="Calibri"/>
                <a:ea typeface="Calibri"/>
              </a:rPr>
              <a:t>il</a:t>
            </a:r>
            <a:r>
              <a:rPr lang="en-US" altLang="zh-CN" sz="2300" spc="-40" dirty="0">
                <a:solidFill>
                  <a:srgbClr val="3B84C4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3B84C4"/>
                </a:solidFill>
                <a:latin typeface="Calibri"/>
                <a:ea typeface="Calibri"/>
              </a:rPr>
              <a:t>Responsabile</a:t>
            </a:r>
            <a:r>
              <a:rPr lang="en-US" altLang="zh-CN" sz="2300" spc="-44" dirty="0">
                <a:solidFill>
                  <a:srgbClr val="3B84C4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3B84C4"/>
                </a:solidFill>
                <a:latin typeface="Calibri"/>
                <a:ea typeface="Calibri"/>
              </a:rPr>
              <a:t>Transizione</a:t>
            </a:r>
            <a:r>
              <a:rPr lang="en-US" altLang="zh-CN" sz="2300" spc="-40" dirty="0">
                <a:solidFill>
                  <a:srgbClr val="3B84C4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3B84C4"/>
                </a:solidFill>
                <a:latin typeface="Calibri"/>
                <a:ea typeface="Calibri"/>
              </a:rPr>
              <a:t>Digitale</a:t>
            </a:r>
            <a:r>
              <a:rPr lang="en-US" altLang="zh-CN" sz="2300" spc="-44" dirty="0">
                <a:solidFill>
                  <a:srgbClr val="3B84C4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3B84C4"/>
                </a:solidFill>
                <a:latin typeface="Calibri"/>
                <a:ea typeface="Calibri"/>
              </a:rPr>
              <a:t>avvia</a:t>
            </a:r>
            <a:r>
              <a:rPr lang="en-US" altLang="zh-CN" sz="2300" spc="-44" dirty="0">
                <a:solidFill>
                  <a:srgbClr val="3B84C4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3B84C4"/>
                </a:solidFill>
                <a:latin typeface="Calibri"/>
                <a:ea typeface="Calibri"/>
              </a:rPr>
              <a:t>le</a:t>
            </a:r>
            <a:r>
              <a:rPr lang="en-US" altLang="zh-CN" sz="2300" spc="-40" dirty="0">
                <a:solidFill>
                  <a:srgbClr val="3B84C4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3B84C4"/>
                </a:solidFill>
                <a:latin typeface="Calibri"/>
                <a:ea typeface="Calibri"/>
              </a:rPr>
              <a:t>attività</a:t>
            </a:r>
            <a:r>
              <a:rPr lang="en-US" altLang="zh-CN" sz="2300" spc="-50" dirty="0">
                <a:solidFill>
                  <a:srgbClr val="3B84C4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3B84C4"/>
                </a:solidFill>
                <a:latin typeface="Calibri"/>
                <a:ea typeface="Calibri"/>
              </a:rPr>
              <a:t>in</a:t>
            </a:r>
            <a:r>
              <a:rPr lang="en-US" altLang="zh-CN" sz="2300" dirty="0">
                <a:solidFill>
                  <a:srgbClr val="3B84C4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3B84C4"/>
                </a:solidFill>
                <a:latin typeface="Calibri"/>
                <a:ea typeface="Calibri"/>
              </a:rPr>
              <a:t>collaborazione</a:t>
            </a:r>
            <a:r>
              <a:rPr lang="en-US" altLang="zh-CN" sz="2300" spc="-25" dirty="0">
                <a:solidFill>
                  <a:srgbClr val="3B84C4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3B84C4"/>
                </a:solidFill>
                <a:latin typeface="Calibri"/>
                <a:ea typeface="Calibri"/>
              </a:rPr>
              <a:t>con</a:t>
            </a:r>
            <a:r>
              <a:rPr lang="en-US" altLang="zh-CN" sz="2300" spc="-30" dirty="0">
                <a:solidFill>
                  <a:srgbClr val="3B84C4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3B84C4"/>
                </a:solidFill>
                <a:latin typeface="Calibri"/>
                <a:ea typeface="Calibri"/>
              </a:rPr>
              <a:t>le</a:t>
            </a:r>
            <a:r>
              <a:rPr lang="en-US" altLang="zh-CN" sz="2300" spc="-25" dirty="0">
                <a:solidFill>
                  <a:srgbClr val="3B84C4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3B84C4"/>
                </a:solidFill>
                <a:latin typeface="Calibri"/>
                <a:ea typeface="Calibri"/>
              </a:rPr>
              <a:t>altre</a:t>
            </a:r>
            <a:r>
              <a:rPr lang="en-US" altLang="zh-CN" sz="2300" spc="-30" dirty="0">
                <a:solidFill>
                  <a:srgbClr val="3B84C4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3B84C4"/>
                </a:solidFill>
                <a:latin typeface="Calibri"/>
                <a:ea typeface="Calibri"/>
              </a:rPr>
              <a:t>figure</a:t>
            </a:r>
            <a:r>
              <a:rPr lang="en-US" altLang="zh-CN" sz="2300" spc="-25" dirty="0">
                <a:solidFill>
                  <a:srgbClr val="3B84C4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3B84C4"/>
                </a:solidFill>
                <a:latin typeface="Calibri"/>
                <a:ea typeface="Calibri"/>
              </a:rPr>
              <a:t>chiave</a:t>
            </a:r>
            <a:r>
              <a:rPr lang="en-US" altLang="zh-CN" sz="2300" spc="-30" dirty="0">
                <a:solidFill>
                  <a:srgbClr val="3B84C4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3B84C4"/>
                </a:solidFill>
                <a:latin typeface="Calibri"/>
                <a:ea typeface="Calibri"/>
              </a:rPr>
              <a:t>dell’Ente</a:t>
            </a:r>
            <a:r>
              <a:rPr lang="en-US" altLang="zh-CN" sz="2300" spc="-25" dirty="0">
                <a:solidFill>
                  <a:srgbClr val="3B84C4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3B84C4"/>
                </a:solidFill>
                <a:latin typeface="Calibri"/>
                <a:ea typeface="Calibri"/>
              </a:rPr>
              <a:t>(Ragioniere</a:t>
            </a:r>
            <a:r>
              <a:rPr lang="en-US" altLang="zh-CN" sz="2300" spc="-35" dirty="0">
                <a:solidFill>
                  <a:srgbClr val="3B84C4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3B84C4"/>
                </a:solidFill>
                <a:latin typeface="Calibri"/>
                <a:ea typeface="Calibri"/>
              </a:rPr>
              <a:t>Gen,</a:t>
            </a:r>
            <a:r>
              <a:rPr lang="en-US" altLang="zh-CN" sz="2300" dirty="0">
                <a:solidFill>
                  <a:srgbClr val="3B84C4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3B84C4"/>
                </a:solidFill>
                <a:latin typeface="Calibri"/>
                <a:ea typeface="Calibri"/>
              </a:rPr>
              <a:t>Segretario</a:t>
            </a:r>
            <a:r>
              <a:rPr lang="en-US" altLang="zh-CN" sz="2300" dirty="0">
                <a:solidFill>
                  <a:srgbClr val="3B84C4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3B84C4"/>
                </a:solidFill>
                <a:latin typeface="Calibri"/>
                <a:ea typeface="Calibri"/>
              </a:rPr>
              <a:t>Gen,</a:t>
            </a:r>
            <a:r>
              <a:rPr lang="en-US" altLang="zh-CN" sz="2300" spc="-104" dirty="0">
                <a:solidFill>
                  <a:srgbClr val="3B84C4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3B84C4"/>
                </a:solidFill>
                <a:latin typeface="Calibri"/>
                <a:ea typeface="Calibri"/>
              </a:rPr>
              <a:t>Dirigenti,...)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Freeform 63"/>
          <p:cNvSpPr/>
          <p:nvPr/>
        </p:nvSpPr>
        <p:spPr>
          <a:xfrm>
            <a:off x="0" y="0"/>
            <a:ext cx="9144000" cy="6857999"/>
          </a:xfrm>
          <a:custGeom>
            <a:avLst/>
            <a:gdLst>
              <a:gd name="connsiteX0" fmla="*/ 0 w 9144000"/>
              <a:gd name="connsiteY0" fmla="*/ 6857999 h 6857999"/>
              <a:gd name="connsiteX1" fmla="*/ 9144000 w 9144000"/>
              <a:gd name="connsiteY1" fmla="*/ 6857999 h 6857999"/>
              <a:gd name="connsiteX2" fmla="*/ 9144000 w 9144000"/>
              <a:gd name="connsiteY2" fmla="*/ 0 h 6857999"/>
              <a:gd name="connsiteX3" fmla="*/ 0 w 9144000"/>
              <a:gd name="connsiteY3" fmla="*/ 0 h 6857999"/>
              <a:gd name="connsiteX4" fmla="*/ 0 w 9144000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6857999">
                <a:moveTo>
                  <a:pt x="0" y="6857999"/>
                </a:moveTo>
                <a:lnTo>
                  <a:pt x="9144000" y="6857999"/>
                </a:lnTo>
                <a:lnTo>
                  <a:pt x="9144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CFA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6" name="Picture 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816340" cy="5539740"/>
          </a:xfrm>
          <a:prstGeom prst="rect">
            <a:avLst/>
          </a:prstGeom>
        </p:spPr>
      </p:pic>
      <p:sp>
        <p:nvSpPr>
          <p:cNvPr id="2" name="TextBox 66"/>
          <p:cNvSpPr txBox="1"/>
          <p:nvPr/>
        </p:nvSpPr>
        <p:spPr>
          <a:xfrm>
            <a:off x="91439" y="208584"/>
            <a:ext cx="8428298" cy="48152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3100" spc="-25" dirty="0">
                <a:solidFill>
                  <a:srgbClr val="2A428F"/>
                </a:solidFill>
                <a:latin typeface="Calibri"/>
                <a:ea typeface="Calibri"/>
              </a:rPr>
              <a:t>individuare</a:t>
            </a:r>
            <a:r>
              <a:rPr lang="en-US" altLang="zh-CN" sz="3100" spc="-1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3100" spc="-34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3100" spc="-1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3100" spc="-25" dirty="0">
                <a:solidFill>
                  <a:srgbClr val="2A428F"/>
                </a:solidFill>
                <a:latin typeface="Calibri"/>
                <a:ea typeface="Calibri"/>
              </a:rPr>
              <a:t>analizzare</a:t>
            </a:r>
            <a:r>
              <a:rPr lang="en-US" altLang="zh-CN" sz="3100" spc="-1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3100" spc="-15" dirty="0">
                <a:solidFill>
                  <a:srgbClr val="2A428F"/>
                </a:solidFill>
                <a:latin typeface="Calibri"/>
                <a:ea typeface="Calibri"/>
              </a:rPr>
              <a:t>i</a:t>
            </a:r>
            <a:r>
              <a:rPr lang="en-US" altLang="zh-CN" sz="31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3100" spc="-30" dirty="0">
                <a:solidFill>
                  <a:srgbClr val="2A428F"/>
                </a:solidFill>
                <a:latin typeface="Calibri"/>
                <a:ea typeface="Calibri"/>
              </a:rPr>
              <a:t>procedimenti</a:t>
            </a:r>
            <a:r>
              <a:rPr lang="en-US" altLang="zh-CN" sz="31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3100" spc="-25" dirty="0">
                <a:solidFill>
                  <a:srgbClr val="2A428F"/>
                </a:solidFill>
                <a:latin typeface="Calibri"/>
                <a:ea typeface="Calibri"/>
              </a:rPr>
              <a:t>amministrativi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405"/>
              </a:lnSpc>
            </a:pPr>
            <a:endParaRPr lang="en-US" dirty="0" smtClean="0"/>
          </a:p>
          <a:p>
            <a:pPr marL="673608" indent="-374904" hangingPunct="0">
              <a:lnSpc>
                <a:spcPct val="93750"/>
              </a:lnSpc>
            </a:pP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1.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fare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il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censimento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dei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procedimenti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amministrativi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negli</a:t>
            </a:r>
            <a:r>
              <a:rPr lang="en-US" altLang="zh-CN" sz="2300" spc="-69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uffici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t/>
            </a:r>
            <a:br/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(es.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usare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un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formato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tabellare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su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Google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Drive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-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o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un</a:t>
            </a:r>
            <a:r>
              <a:rPr lang="en-US" altLang="zh-CN" sz="2300" spc="-13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Google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form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può</a:t>
            </a:r>
            <a:r>
              <a:rPr lang="en-US" altLang="zh-CN" sz="2300" spc="-9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aiutare)</a:t>
            </a:r>
          </a:p>
          <a:p>
            <a:pPr marL="0" indent="298704">
              <a:lnSpc>
                <a:spcPct val="90416"/>
              </a:lnSpc>
            </a:pP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2.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verificare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le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ripetizioni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azioni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nei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vari</a:t>
            </a:r>
            <a:r>
              <a:rPr lang="en-US" altLang="zh-CN" sz="2300" spc="5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procedimenti</a:t>
            </a:r>
          </a:p>
          <a:p>
            <a:pPr marL="0" indent="673608">
              <a:lnSpc>
                <a:spcPct val="90416"/>
              </a:lnSpc>
            </a:pP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amministrativi</a:t>
            </a:r>
            <a:r>
              <a:rPr lang="en-US" altLang="zh-CN" sz="23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degli</a:t>
            </a:r>
            <a:r>
              <a:rPr lang="en-US" altLang="zh-CN" sz="2300" spc="-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uffici,</a:t>
            </a:r>
            <a:r>
              <a:rPr lang="en-US" altLang="zh-CN" sz="23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soprattutto</a:t>
            </a:r>
            <a:r>
              <a:rPr lang="en-US" altLang="zh-CN" sz="2300" spc="-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nei</a:t>
            </a:r>
            <a:r>
              <a:rPr lang="en-US" altLang="zh-CN" sz="23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grandi</a:t>
            </a:r>
            <a:r>
              <a:rPr lang="en-US" altLang="zh-CN" sz="2300" spc="-5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comuni</a:t>
            </a:r>
          </a:p>
          <a:p>
            <a:pPr marL="673608" indent="-374904" hangingPunct="0">
              <a:lnSpc>
                <a:spcPct val="89999"/>
              </a:lnSpc>
            </a:pP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3.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bonificare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processi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dei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procedimenti</a:t>
            </a:r>
            <a:r>
              <a:rPr lang="en-US" altLang="zh-CN" sz="2300" spc="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amministrativi,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t/>
            </a:r>
            <a:br/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eliminando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ridondanze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spesso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inutili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(oggi)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alla</a:t>
            </a:r>
            <a:r>
              <a:rPr lang="en-US" altLang="zh-CN" sz="2300" spc="-5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positiva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conclusione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del</a:t>
            </a:r>
            <a:r>
              <a:rPr lang="en-US" altLang="zh-CN" sz="2300" spc="-6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procedimento</a:t>
            </a:r>
          </a:p>
          <a:p>
            <a:pPr marL="673608" indent="-374904" hangingPunct="0">
              <a:lnSpc>
                <a:spcPct val="95833"/>
              </a:lnSpc>
            </a:pP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4.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definire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un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catalogo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finale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(elenco)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dei</a:t>
            </a:r>
            <a:r>
              <a:rPr lang="en-US" altLang="zh-CN" sz="2300" spc="6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procedimenti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t/>
            </a:r>
            <a:br/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consultabile</a:t>
            </a:r>
            <a:r>
              <a:rPr lang="en-US" altLang="zh-CN" sz="23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online</a:t>
            </a:r>
            <a:r>
              <a:rPr lang="en-US" altLang="zh-CN" sz="23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anche</a:t>
            </a:r>
            <a:r>
              <a:rPr lang="en-US" altLang="zh-CN" sz="23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dai</a:t>
            </a:r>
            <a:r>
              <a:rPr lang="en-US" altLang="zh-CN" sz="23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cittadini</a:t>
            </a:r>
            <a:r>
              <a:rPr lang="en-US" altLang="zh-CN" sz="23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così</a:t>
            </a:r>
            <a:r>
              <a:rPr lang="en-US" altLang="zh-CN" sz="23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da</a:t>
            </a:r>
            <a:r>
              <a:rPr lang="en-US" altLang="zh-CN" sz="23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fornire</a:t>
            </a:r>
            <a:r>
              <a:rPr lang="en-US" altLang="zh-CN" sz="23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loro</a:t>
            </a:r>
            <a:r>
              <a:rPr lang="en-US" altLang="zh-CN" sz="2300" spc="-3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info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t/>
            </a:r>
            <a:br/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sui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servizi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interesse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della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collettività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(obbligo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del</a:t>
            </a:r>
            <a:r>
              <a:rPr lang="en-US" altLang="zh-CN" sz="2300" spc="-9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d.lgs.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33/2013).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Procedimenti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correlati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ai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servizi</a:t>
            </a:r>
            <a:r>
              <a:rPr lang="en-US" altLang="zh-CN" sz="2300" spc="-10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online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/>
          <p:cNvSpPr/>
          <p:nvPr/>
        </p:nvSpPr>
        <p:spPr>
          <a:xfrm>
            <a:off x="91439" y="1179095"/>
            <a:ext cx="8230627" cy="4144243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7" name="Freeform 67"/>
          <p:cNvSpPr/>
          <p:nvPr/>
        </p:nvSpPr>
        <p:spPr>
          <a:xfrm>
            <a:off x="0" y="0"/>
            <a:ext cx="9144000" cy="6857999"/>
          </a:xfrm>
          <a:custGeom>
            <a:avLst/>
            <a:gdLst>
              <a:gd name="connsiteX0" fmla="*/ 0 w 9144000"/>
              <a:gd name="connsiteY0" fmla="*/ 6857999 h 6857999"/>
              <a:gd name="connsiteX1" fmla="*/ 9144000 w 9144000"/>
              <a:gd name="connsiteY1" fmla="*/ 6857999 h 6857999"/>
              <a:gd name="connsiteX2" fmla="*/ 9144000 w 9144000"/>
              <a:gd name="connsiteY2" fmla="*/ 0 h 6857999"/>
              <a:gd name="connsiteX3" fmla="*/ 0 w 9144000"/>
              <a:gd name="connsiteY3" fmla="*/ 0 h 6857999"/>
              <a:gd name="connsiteX4" fmla="*/ 0 w 9144000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6857999">
                <a:moveTo>
                  <a:pt x="0" y="6857999"/>
                </a:moveTo>
                <a:lnTo>
                  <a:pt x="9144000" y="6857999"/>
                </a:lnTo>
                <a:lnTo>
                  <a:pt x="9144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CFA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69"/>
          <p:cNvSpPr txBox="1"/>
          <p:nvPr/>
        </p:nvSpPr>
        <p:spPr>
          <a:xfrm>
            <a:off x="283944" y="775399"/>
            <a:ext cx="8230627" cy="49513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4400" dirty="0">
                <a:solidFill>
                  <a:srgbClr val="2A428F"/>
                </a:solidFill>
                <a:latin typeface="Calibri"/>
                <a:ea typeface="Calibri"/>
              </a:rPr>
              <a:t>individuare</a:t>
            </a:r>
            <a:r>
              <a:rPr lang="en-US" altLang="zh-CN" sz="4400" spc="-17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4400" dirty="0">
                <a:solidFill>
                  <a:srgbClr val="2A428F"/>
                </a:solidFill>
                <a:latin typeface="Calibri"/>
                <a:ea typeface="Calibri"/>
              </a:rPr>
              <a:t>le</a:t>
            </a:r>
            <a:r>
              <a:rPr lang="en-US" altLang="zh-CN" sz="4400" spc="-179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4400" dirty="0">
                <a:solidFill>
                  <a:srgbClr val="2A428F"/>
                </a:solidFill>
                <a:latin typeface="Calibri"/>
                <a:ea typeface="Calibri"/>
              </a:rPr>
              <a:t>azioni</a:t>
            </a:r>
            <a:r>
              <a:rPr lang="en-US" altLang="zh-CN" sz="4400" spc="-17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4400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4400" spc="-179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4400" dirty="0">
                <a:solidFill>
                  <a:srgbClr val="2A428F"/>
                </a:solidFill>
                <a:latin typeface="Calibri"/>
                <a:ea typeface="Calibri"/>
              </a:rPr>
              <a:t>le</a:t>
            </a:r>
            <a:r>
              <a:rPr lang="en-US" altLang="zh-CN" sz="4400" spc="-18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4400" dirty="0">
                <a:solidFill>
                  <a:srgbClr val="2A428F"/>
                </a:solidFill>
                <a:latin typeface="Calibri"/>
                <a:ea typeface="Calibri"/>
              </a:rPr>
              <a:t>priorità</a:t>
            </a:r>
          </a:p>
          <a:p>
            <a:pPr>
              <a:lnSpc>
                <a:spcPts val="1820"/>
              </a:lnSpc>
            </a:pPr>
            <a:endParaRPr lang="en-US" dirty="0" smtClean="0"/>
          </a:p>
          <a:p>
            <a:pPr marL="457200" indent="-374904" hangingPunct="0">
              <a:lnSpc>
                <a:spcPct val="104999"/>
              </a:lnSpc>
            </a:pP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1.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per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ogni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procedimento,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insieme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con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responsabili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2300" spc="89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ogni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procedimento</a:t>
            </a:r>
            <a:r>
              <a:rPr lang="en-US" altLang="zh-CN" sz="23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23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i</a:t>
            </a:r>
            <a:r>
              <a:rPr lang="en-US" altLang="zh-CN" sz="23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soggetti</a:t>
            </a:r>
            <a:r>
              <a:rPr lang="en-US" altLang="zh-CN" sz="23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coinvolti</a:t>
            </a:r>
            <a:r>
              <a:rPr lang="en-US" altLang="zh-CN" sz="23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(istruttori,...),</a:t>
            </a:r>
            <a:r>
              <a:rPr lang="en-US" altLang="zh-CN" sz="23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cominciare</a:t>
            </a:r>
            <a:r>
              <a:rPr lang="en-US" altLang="zh-CN" sz="23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a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descrivere</a:t>
            </a:r>
            <a:r>
              <a:rPr lang="en-US" altLang="zh-CN" sz="23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in</a:t>
            </a:r>
            <a:r>
              <a:rPr lang="en-US" altLang="zh-CN" sz="23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un</a:t>
            </a:r>
            <a:r>
              <a:rPr lang="en-US" altLang="zh-CN" sz="23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documento</a:t>
            </a:r>
            <a:r>
              <a:rPr lang="en-US" altLang="zh-CN" sz="23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(es.</a:t>
            </a:r>
            <a:r>
              <a:rPr lang="en-US" altLang="zh-CN" sz="23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excel)</a:t>
            </a:r>
            <a:r>
              <a:rPr lang="en-US" altLang="zh-CN" sz="2300" spc="-30" dirty="0">
                <a:solidFill>
                  <a:srgbClr val="2A428F"/>
                </a:solidFill>
                <a:latin typeface="Calibri"/>
                <a:cs typeface="Calibri"/>
              </a:rPr>
              <a:t> 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le</a:t>
            </a:r>
            <a:r>
              <a:rPr lang="en-US" altLang="zh-CN" sz="23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attività</a:t>
            </a:r>
            <a:r>
              <a:rPr lang="en-US" altLang="zh-CN" sz="23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granulari</a:t>
            </a:r>
            <a:r>
              <a:rPr lang="en-US" altLang="zh-CN" sz="23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svolte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dall'inizio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alla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fine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del</a:t>
            </a:r>
            <a:r>
              <a:rPr lang="en-US" altLang="zh-CN" sz="2300" spc="-5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procedimento</a:t>
            </a:r>
          </a:p>
          <a:p>
            <a:pPr marL="457200" indent="-374904" hangingPunct="0">
              <a:lnSpc>
                <a:spcPct val="104999"/>
              </a:lnSpc>
            </a:pP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2.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il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catalogo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dei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procedimenti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deve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contenere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le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micro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fasi</a:t>
            </a:r>
            <a:r>
              <a:rPr lang="en-US" altLang="zh-CN" sz="2300" spc="-8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dei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procedimenti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(ci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sono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procedimenti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complessi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che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se</a:t>
            </a:r>
            <a:r>
              <a:rPr lang="en-US" altLang="zh-CN" sz="23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devono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essere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transitati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alla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modalità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digitale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per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la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gestione,</a:t>
            </a:r>
            <a:r>
              <a:rPr lang="en-US" altLang="zh-CN" sz="2300" spc="-129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hanno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bisogno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essere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descritti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nella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maniera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più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esaustiva</a:t>
            </a:r>
            <a:r>
              <a:rPr lang="en-US" altLang="zh-CN" sz="2300" spc="-16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possibile)</a:t>
            </a:r>
          </a:p>
          <a:p>
            <a:pPr marL="457200" indent="-374904" hangingPunct="0">
              <a:lnSpc>
                <a:spcPct val="104999"/>
              </a:lnSpc>
            </a:pP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3.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per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ogni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procedimento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individuare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quali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quanti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uffici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hanno</a:t>
            </a:r>
            <a:r>
              <a:rPr lang="en-US" altLang="zh-CN" sz="2300" spc="7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un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ruolo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(es.: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ufficio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tecnico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proponente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+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ragioneria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+</a:t>
            </a:r>
            <a:r>
              <a:rPr lang="en-US" altLang="zh-CN" sz="2300" spc="-11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ufficio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contratti</a:t>
            </a:r>
            <a:r>
              <a:rPr lang="en-US" altLang="zh-CN" sz="2300" spc="-7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+</a:t>
            </a:r>
            <a:r>
              <a:rPr lang="en-US" altLang="zh-CN" sz="2300" spc="-7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segreteria</a:t>
            </a:r>
            <a:r>
              <a:rPr lang="en-US" altLang="zh-CN" sz="2300" spc="-8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300" dirty="0">
                <a:solidFill>
                  <a:srgbClr val="2A428F"/>
                </a:solidFill>
                <a:latin typeface="Calibri"/>
                <a:ea typeface="Calibri"/>
              </a:rPr>
              <a:t>generale,...)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Freeform 70"/>
          <p:cNvSpPr/>
          <p:nvPr/>
        </p:nvSpPr>
        <p:spPr>
          <a:xfrm>
            <a:off x="0" y="0"/>
            <a:ext cx="9144000" cy="6857999"/>
          </a:xfrm>
          <a:custGeom>
            <a:avLst/>
            <a:gdLst>
              <a:gd name="connsiteX0" fmla="*/ 0 w 9144000"/>
              <a:gd name="connsiteY0" fmla="*/ 6857999 h 6857999"/>
              <a:gd name="connsiteX1" fmla="*/ 9144000 w 9144000"/>
              <a:gd name="connsiteY1" fmla="*/ 6857999 h 6857999"/>
              <a:gd name="connsiteX2" fmla="*/ 9144000 w 9144000"/>
              <a:gd name="connsiteY2" fmla="*/ 0 h 6857999"/>
              <a:gd name="connsiteX3" fmla="*/ 0 w 9144000"/>
              <a:gd name="connsiteY3" fmla="*/ 0 h 6857999"/>
              <a:gd name="connsiteX4" fmla="*/ 0 w 9144000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6857999">
                <a:moveTo>
                  <a:pt x="0" y="6857999"/>
                </a:moveTo>
                <a:lnTo>
                  <a:pt x="9144000" y="6857999"/>
                </a:lnTo>
                <a:lnTo>
                  <a:pt x="9144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CFA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3" name="Picture 7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"/>
            <a:ext cx="8915400" cy="5364480"/>
          </a:xfrm>
          <a:prstGeom prst="rect">
            <a:avLst/>
          </a:prstGeom>
        </p:spPr>
      </p:pic>
      <p:sp>
        <p:nvSpPr>
          <p:cNvPr id="2" name="TextBox 73"/>
          <p:cNvSpPr txBox="1"/>
          <p:nvPr/>
        </p:nvSpPr>
        <p:spPr>
          <a:xfrm>
            <a:off x="91439" y="323926"/>
            <a:ext cx="8605388" cy="500677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95833"/>
              </a:lnSpc>
            </a:pPr>
            <a:r>
              <a:rPr lang="en-US" altLang="zh-CN" sz="3100" dirty="0">
                <a:solidFill>
                  <a:srgbClr val="2A428F"/>
                </a:solidFill>
                <a:latin typeface="Calibri"/>
                <a:ea typeface="Calibri"/>
              </a:rPr>
              <a:t>preparare</a:t>
            </a:r>
            <a:r>
              <a:rPr lang="en-US" altLang="zh-CN" sz="3100" spc="-189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3100" dirty="0">
                <a:solidFill>
                  <a:srgbClr val="2A428F"/>
                </a:solidFill>
                <a:latin typeface="Calibri"/>
                <a:ea typeface="Calibri"/>
              </a:rPr>
              <a:t>la</a:t>
            </a:r>
            <a:r>
              <a:rPr lang="en-US" altLang="zh-CN" sz="3100" spc="-189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3100" dirty="0">
                <a:solidFill>
                  <a:srgbClr val="2A428F"/>
                </a:solidFill>
                <a:latin typeface="Calibri"/>
                <a:ea typeface="Calibri"/>
              </a:rPr>
              <a:t>documentazione</a:t>
            </a:r>
            <a:r>
              <a:rPr lang="en-US" altLang="zh-CN" sz="3100" spc="-189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3100" dirty="0">
                <a:solidFill>
                  <a:srgbClr val="2A428F"/>
                </a:solidFill>
                <a:latin typeface="Calibri"/>
                <a:ea typeface="Calibri"/>
              </a:rPr>
              <a:t>per</a:t>
            </a:r>
            <a:r>
              <a:rPr lang="en-US" altLang="zh-CN" sz="3100" spc="-189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3100" dirty="0">
                <a:solidFill>
                  <a:srgbClr val="2A428F"/>
                </a:solidFill>
                <a:latin typeface="Calibri"/>
                <a:ea typeface="Calibri"/>
              </a:rPr>
              <a:t>gli</a:t>
            </a:r>
            <a:r>
              <a:rPr lang="en-US" altLang="zh-CN" sz="3100" spc="-19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3100" dirty="0">
                <a:solidFill>
                  <a:srgbClr val="2A428F"/>
                </a:solidFill>
                <a:latin typeface="Calibri"/>
                <a:ea typeface="Calibri"/>
              </a:rPr>
              <a:t>informatici</a:t>
            </a:r>
            <a:r>
              <a:rPr lang="en-US" altLang="zh-CN" sz="3100" spc="-19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3100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3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3100" spc="-30" dirty="0">
                <a:solidFill>
                  <a:srgbClr val="2A428F"/>
                </a:solidFill>
                <a:latin typeface="Calibri"/>
                <a:ea typeface="Calibri"/>
              </a:rPr>
              <a:t>software</a:t>
            </a:r>
            <a:r>
              <a:rPr lang="en-US" altLang="zh-CN" sz="31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3100" spc="-30" dirty="0">
                <a:solidFill>
                  <a:srgbClr val="2A428F"/>
                </a:solidFill>
                <a:latin typeface="Calibri"/>
                <a:ea typeface="Calibri"/>
              </a:rPr>
              <a:t>house</a:t>
            </a:r>
            <a:r>
              <a:rPr lang="en-US" altLang="zh-CN" sz="31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3100" spc="-20" dirty="0">
                <a:solidFill>
                  <a:srgbClr val="2A428F"/>
                </a:solidFill>
                <a:latin typeface="Calibri"/>
                <a:ea typeface="Calibri"/>
              </a:rPr>
              <a:t>(il</a:t>
            </a:r>
            <a:r>
              <a:rPr lang="en-US" altLang="zh-CN" sz="31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3100" spc="-25" dirty="0">
                <a:solidFill>
                  <a:srgbClr val="2A428F"/>
                </a:solidFill>
                <a:latin typeface="Calibri"/>
                <a:ea typeface="Calibri"/>
              </a:rPr>
              <a:t>capitolato)</a:t>
            </a:r>
          </a:p>
          <a:p>
            <a:pPr>
              <a:lnSpc>
                <a:spcPts val="1800"/>
              </a:lnSpc>
            </a:pPr>
            <a:endParaRPr lang="en-US" dirty="0" smtClean="0"/>
          </a:p>
          <a:p>
            <a:pPr marL="693419" indent="-361492" hangingPunct="0">
              <a:lnSpc>
                <a:spcPct val="93333"/>
              </a:lnSpc>
            </a:pP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1.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una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volta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predisposto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un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catalogo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(elenco)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dei</a:t>
            </a:r>
            <a:r>
              <a:rPr lang="en-US" altLang="zh-CN" sz="2100" spc="6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procedimenti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amministrativi</a:t>
            </a:r>
            <a:r>
              <a:rPr lang="en-US" altLang="zh-CN" sz="2100" spc="-8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adeguatamente</a:t>
            </a:r>
            <a:r>
              <a:rPr lang="en-US" altLang="zh-CN" sz="2100" spc="-8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dettagliato</a:t>
            </a:r>
            <a:r>
              <a:rPr lang="en-US" altLang="zh-CN" sz="2100" spc="-8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2100" spc="-8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documentato,</a:t>
            </a:r>
            <a:r>
              <a:rPr lang="en-US" altLang="zh-CN" sz="2100" spc="-9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anche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schematicamente,</a:t>
            </a:r>
            <a:r>
              <a:rPr lang="en-US" altLang="zh-CN" sz="21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si</a:t>
            </a:r>
            <a:r>
              <a:rPr lang="en-US" altLang="zh-CN" sz="21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può</a:t>
            </a:r>
            <a:r>
              <a:rPr lang="en-US" altLang="zh-CN" sz="21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includere</a:t>
            </a:r>
            <a:r>
              <a:rPr lang="en-US" altLang="zh-CN" sz="21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il</a:t>
            </a:r>
            <a:r>
              <a:rPr lang="en-US" altLang="zh-CN" sz="21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documento</a:t>
            </a:r>
            <a:r>
              <a:rPr lang="en-US" altLang="zh-CN" sz="21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in</a:t>
            </a:r>
            <a:r>
              <a:rPr lang="en-US" altLang="zh-CN" sz="21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un</a:t>
            </a:r>
            <a:r>
              <a:rPr lang="en-US" altLang="zh-CN" sz="21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capitolato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speciale</a:t>
            </a:r>
            <a:r>
              <a:rPr lang="en-US" altLang="zh-CN" sz="21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per</a:t>
            </a:r>
            <a:r>
              <a:rPr lang="en-US" altLang="zh-CN" sz="21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la</a:t>
            </a:r>
            <a:r>
              <a:rPr lang="en-US" altLang="zh-CN" sz="21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fornitura</a:t>
            </a:r>
            <a:r>
              <a:rPr lang="en-US" altLang="zh-CN" sz="21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21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servizi</a:t>
            </a:r>
            <a:r>
              <a:rPr lang="en-US" altLang="zh-CN" sz="21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per</a:t>
            </a:r>
            <a:r>
              <a:rPr lang="en-US" altLang="zh-CN" sz="21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la</a:t>
            </a:r>
            <a:r>
              <a:rPr lang="en-US" altLang="zh-CN" sz="21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digitalizzazione</a:t>
            </a:r>
            <a:r>
              <a:rPr lang="en-US" altLang="zh-CN" sz="21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21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procedimenti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spc="-10" dirty="0">
                <a:solidFill>
                  <a:srgbClr val="2A428F"/>
                </a:solidFill>
                <a:latin typeface="Calibri"/>
                <a:ea typeface="Calibri"/>
              </a:rPr>
              <a:t>ammin</a:t>
            </a:r>
            <a:r>
              <a:rPr lang="en-US" altLang="zh-CN" sz="2100" spc="-5" dirty="0">
                <a:solidFill>
                  <a:srgbClr val="2A428F"/>
                </a:solidFill>
                <a:latin typeface="Calibri"/>
                <a:ea typeface="Calibri"/>
              </a:rPr>
              <a:t>istrativi;</a:t>
            </a:r>
          </a:p>
          <a:p>
            <a:pPr marL="693419" indent="-361492" hangingPunct="0">
              <a:lnSpc>
                <a:spcPct val="89999"/>
              </a:lnSpc>
            </a:pP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2.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nelle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fasi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definizione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della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piattaforma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informatica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che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la</a:t>
            </a:r>
            <a:r>
              <a:rPr lang="en-US" altLang="zh-CN" sz="2100" spc="-1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software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house</a:t>
            </a:r>
            <a:r>
              <a:rPr lang="en-US" altLang="zh-CN" sz="21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dovrà</a:t>
            </a:r>
            <a:r>
              <a:rPr lang="en-US" altLang="zh-CN" sz="21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creare,</a:t>
            </a:r>
            <a:r>
              <a:rPr lang="en-US" altLang="zh-CN" sz="21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è</a:t>
            </a:r>
            <a:r>
              <a:rPr lang="en-US" altLang="zh-CN" sz="21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necessario</a:t>
            </a:r>
            <a:r>
              <a:rPr lang="en-US" altLang="zh-CN" sz="21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un</a:t>
            </a:r>
            <a:r>
              <a:rPr lang="en-US" altLang="zh-CN" sz="21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confronto</a:t>
            </a:r>
            <a:r>
              <a:rPr lang="en-US" altLang="zh-CN" sz="21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costante</a:t>
            </a:r>
            <a:r>
              <a:rPr lang="en-US" altLang="zh-CN" sz="21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con</a:t>
            </a:r>
            <a:r>
              <a:rPr lang="en-US" altLang="zh-CN" sz="21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i</a:t>
            </a:r>
            <a:r>
              <a:rPr lang="en-US" altLang="zh-CN" sz="21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referenti</a:t>
            </a:r>
            <a:r>
              <a:rPr lang="en-US" altLang="zh-CN" sz="2100" spc="-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uffici</a:t>
            </a:r>
            <a:r>
              <a:rPr lang="en-US" altLang="zh-CN" sz="21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che</a:t>
            </a:r>
            <a:r>
              <a:rPr lang="en-US" altLang="zh-CN" sz="21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hanno</a:t>
            </a:r>
            <a:r>
              <a:rPr lang="en-US" altLang="zh-CN" sz="21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la</a:t>
            </a:r>
            <a:r>
              <a:rPr lang="en-US" altLang="zh-CN" sz="21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consapevolezza</a:t>
            </a:r>
            <a:r>
              <a:rPr lang="en-US" altLang="zh-CN" sz="21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della</a:t>
            </a:r>
            <a:r>
              <a:rPr lang="en-US" altLang="zh-CN" sz="21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maggior</a:t>
            </a:r>
            <a:r>
              <a:rPr lang="en-US" altLang="zh-CN" sz="21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parte</a:t>
            </a:r>
            <a:r>
              <a:rPr lang="en-US" altLang="zh-CN" sz="21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dei</a:t>
            </a:r>
            <a:r>
              <a:rPr lang="en-US" altLang="zh-CN" sz="21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procedimenti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spc="-10" dirty="0">
                <a:solidFill>
                  <a:srgbClr val="2A428F"/>
                </a:solidFill>
                <a:latin typeface="Calibri"/>
                <a:ea typeface="Calibri"/>
              </a:rPr>
              <a:t>ammin</a:t>
            </a:r>
            <a:r>
              <a:rPr lang="en-US" altLang="zh-CN" sz="2100" spc="-5" dirty="0">
                <a:solidFill>
                  <a:srgbClr val="2A428F"/>
                </a:solidFill>
                <a:latin typeface="Calibri"/>
                <a:ea typeface="Calibri"/>
              </a:rPr>
              <a:t>istrativi;</a:t>
            </a:r>
          </a:p>
          <a:p>
            <a:pPr marL="693419" indent="-361492" hangingPunct="0">
              <a:lnSpc>
                <a:spcPct val="95416"/>
              </a:lnSpc>
            </a:pP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3.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nella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fase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beta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testing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della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piattaforma,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dare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un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tempo</a:t>
            </a:r>
            <a:r>
              <a:rPr lang="en-US" altLang="zh-CN" sz="2100" spc="-89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predefinito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per</a:t>
            </a:r>
            <a:r>
              <a:rPr lang="en-US" altLang="zh-CN" sz="21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testare</a:t>
            </a:r>
            <a:r>
              <a:rPr lang="en-US" altLang="zh-CN" sz="21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l'ambiente</a:t>
            </a:r>
            <a:r>
              <a:rPr lang="en-US" altLang="zh-CN" sz="21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applicativo</a:t>
            </a:r>
            <a:r>
              <a:rPr lang="en-US" altLang="zh-CN" sz="21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così</a:t>
            </a:r>
            <a:r>
              <a:rPr lang="en-US" altLang="zh-CN" sz="21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da</a:t>
            </a:r>
            <a:r>
              <a:rPr lang="en-US" altLang="zh-CN" sz="21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capire</a:t>
            </a:r>
            <a:r>
              <a:rPr lang="en-US" altLang="zh-CN" sz="21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l'usabilità</a:t>
            </a:r>
            <a:r>
              <a:rPr lang="en-US" altLang="zh-CN" sz="21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del</a:t>
            </a:r>
            <a:r>
              <a:rPr lang="en-US" altLang="zh-CN" sz="21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nuovo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strumento</a:t>
            </a:r>
            <a:r>
              <a:rPr lang="en-US" altLang="zh-CN" sz="2100" spc="-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2100" spc="-5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soprattutto</a:t>
            </a:r>
            <a:r>
              <a:rPr lang="en-US" altLang="zh-CN" sz="2100" spc="-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capire</a:t>
            </a:r>
            <a:r>
              <a:rPr lang="en-US" altLang="zh-CN" sz="2100" spc="-5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se</a:t>
            </a:r>
            <a:r>
              <a:rPr lang="en-US" altLang="zh-CN" sz="2100" spc="-5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la</a:t>
            </a:r>
            <a:r>
              <a:rPr lang="en-US" altLang="zh-CN" sz="2100" spc="-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piattaforma</a:t>
            </a:r>
            <a:r>
              <a:rPr lang="en-US" altLang="zh-CN" sz="2100" spc="-5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soddisfa</a:t>
            </a:r>
            <a:r>
              <a:rPr lang="en-US" altLang="zh-CN" sz="2100" spc="-5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le</a:t>
            </a:r>
            <a:r>
              <a:rPr lang="en-US" altLang="zh-CN" sz="2100" spc="-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esigenze</a:t>
            </a:r>
            <a:r>
              <a:rPr lang="en-US" altLang="zh-CN" sz="2100" spc="-6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gestione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del</a:t>
            </a:r>
            <a:r>
              <a:rPr lang="en-US" altLang="zh-CN" sz="2100" spc="-1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100" dirty="0">
                <a:solidFill>
                  <a:srgbClr val="2A428F"/>
                </a:solidFill>
                <a:latin typeface="Calibri"/>
                <a:ea typeface="Calibri"/>
              </a:rPr>
              <a:t>procedimento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Freeform 74"/>
          <p:cNvSpPr/>
          <p:nvPr/>
        </p:nvSpPr>
        <p:spPr>
          <a:xfrm>
            <a:off x="0" y="0"/>
            <a:ext cx="9144000" cy="6857999"/>
          </a:xfrm>
          <a:custGeom>
            <a:avLst/>
            <a:gdLst>
              <a:gd name="connsiteX0" fmla="*/ 0 w 9144000"/>
              <a:gd name="connsiteY0" fmla="*/ 6857999 h 6857999"/>
              <a:gd name="connsiteX1" fmla="*/ 9144000 w 9144000"/>
              <a:gd name="connsiteY1" fmla="*/ 6857999 h 6857999"/>
              <a:gd name="connsiteX2" fmla="*/ 9144000 w 9144000"/>
              <a:gd name="connsiteY2" fmla="*/ 0 h 6857999"/>
              <a:gd name="connsiteX3" fmla="*/ 0 w 9144000"/>
              <a:gd name="connsiteY3" fmla="*/ 0 h 6857999"/>
              <a:gd name="connsiteX4" fmla="*/ 0 w 9144000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6857999">
                <a:moveTo>
                  <a:pt x="0" y="6857999"/>
                </a:moveTo>
                <a:lnTo>
                  <a:pt x="9144000" y="6857999"/>
                </a:lnTo>
                <a:lnTo>
                  <a:pt x="9144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CFA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7" name="Picture 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0480"/>
            <a:ext cx="8732520" cy="5433060"/>
          </a:xfrm>
          <a:prstGeom prst="rect">
            <a:avLst/>
          </a:prstGeom>
        </p:spPr>
      </p:pic>
      <p:sp>
        <p:nvSpPr>
          <p:cNvPr id="2" name="TextBox 77"/>
          <p:cNvSpPr txBox="1"/>
          <p:nvPr/>
        </p:nvSpPr>
        <p:spPr>
          <a:xfrm>
            <a:off x="403555" y="238429"/>
            <a:ext cx="8305561" cy="50116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311810">
              <a:lnSpc>
                <a:spcPct val="100000"/>
              </a:lnSpc>
            </a:pPr>
            <a:r>
              <a:rPr lang="en-US" altLang="zh-CN" sz="3000" dirty="0">
                <a:solidFill>
                  <a:srgbClr val="2A428F"/>
                </a:solidFill>
                <a:latin typeface="Calibri"/>
                <a:ea typeface="Calibri"/>
              </a:rPr>
              <a:t>un</a:t>
            </a:r>
            <a:r>
              <a:rPr lang="en-US" altLang="zh-CN" sz="3000" spc="-17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3000" dirty="0">
                <a:solidFill>
                  <a:srgbClr val="2A428F"/>
                </a:solidFill>
                <a:latin typeface="Calibri"/>
                <a:ea typeface="Calibri"/>
              </a:rPr>
              <a:t>pizzico</a:t>
            </a:r>
            <a:r>
              <a:rPr lang="en-US" altLang="zh-CN" sz="3000" spc="-17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30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3000" spc="-17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3000" dirty="0">
                <a:solidFill>
                  <a:srgbClr val="2A428F"/>
                </a:solidFill>
                <a:latin typeface="Calibri"/>
                <a:ea typeface="Calibri"/>
              </a:rPr>
              <a:t>AI</a:t>
            </a:r>
            <a:r>
              <a:rPr lang="en-US" altLang="zh-CN" sz="3000" spc="-17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3000" dirty="0">
                <a:solidFill>
                  <a:srgbClr val="2A428F"/>
                </a:solidFill>
                <a:latin typeface="Calibri"/>
                <a:ea typeface="Calibri"/>
              </a:rPr>
              <a:t>(Intelligenza</a:t>
            </a:r>
            <a:r>
              <a:rPr lang="en-US" altLang="zh-CN" sz="3000" spc="-179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3000" dirty="0">
                <a:solidFill>
                  <a:srgbClr val="2A428F"/>
                </a:solidFill>
                <a:latin typeface="Calibri"/>
                <a:ea typeface="Calibri"/>
              </a:rPr>
              <a:t>Artificiale)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625"/>
              </a:lnSpc>
            </a:pPr>
            <a:endParaRPr lang="en-US" dirty="0" smtClean="0"/>
          </a:p>
          <a:p>
            <a:pPr marL="0" hangingPunct="0">
              <a:lnSpc>
                <a:spcPct val="95416"/>
              </a:lnSpc>
            </a:pP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L'</a:t>
            </a:r>
            <a:r>
              <a:rPr lang="en-US" altLang="zh-CN" sz="2000" b="1" dirty="0">
                <a:solidFill>
                  <a:srgbClr val="656565"/>
                </a:solidFill>
                <a:latin typeface="Calibri"/>
                <a:ea typeface="Calibri"/>
              </a:rPr>
              <a:t>Intelligenza</a:t>
            </a:r>
            <a:r>
              <a:rPr lang="en-US" altLang="zh-CN" sz="2000" b="1" spc="-2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b="1" dirty="0">
                <a:solidFill>
                  <a:srgbClr val="656565"/>
                </a:solidFill>
                <a:latin typeface="Calibri"/>
                <a:ea typeface="Calibri"/>
              </a:rPr>
              <a:t>Artificiale</a:t>
            </a:r>
            <a:r>
              <a:rPr lang="en-US" altLang="zh-CN" sz="2000" b="1" spc="-2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(algoritmi</a:t>
            </a:r>
            <a:r>
              <a:rPr lang="en-US" altLang="zh-CN" sz="2000" spc="-3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dentro</a:t>
            </a:r>
            <a:r>
              <a:rPr lang="en-US" altLang="zh-CN" sz="2000" spc="-2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i</a:t>
            </a:r>
            <a:r>
              <a:rPr lang="en-US" altLang="zh-CN" sz="2000" spc="-2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software)</a:t>
            </a:r>
            <a:r>
              <a:rPr lang="en-US" altLang="zh-CN" sz="2000" spc="-3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può</a:t>
            </a:r>
            <a:r>
              <a:rPr lang="en-US" altLang="zh-CN" sz="2000" spc="-2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dare</a:t>
            </a:r>
            <a:r>
              <a:rPr lang="en-US" altLang="zh-CN" sz="2000" spc="-2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un</a:t>
            </a:r>
            <a:r>
              <a:rPr lang="en-US" altLang="zh-CN" sz="2000" spc="-3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enorme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supporto</a:t>
            </a:r>
            <a:r>
              <a:rPr lang="en-US" altLang="zh-CN" sz="2000" spc="-2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nella</a:t>
            </a:r>
            <a:r>
              <a:rPr lang="en-US" altLang="zh-CN" sz="2000" spc="-2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gestione</a:t>
            </a:r>
            <a:r>
              <a:rPr lang="en-US" altLang="zh-CN" sz="2000" spc="-2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quotidiana</a:t>
            </a:r>
            <a:r>
              <a:rPr lang="en-US" altLang="zh-CN" sz="2000" spc="-2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dei</a:t>
            </a:r>
            <a:r>
              <a:rPr lang="en-US" altLang="zh-CN" sz="2000" spc="-2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procedimenti</a:t>
            </a:r>
            <a:r>
              <a:rPr lang="en-US" altLang="zh-CN" sz="2000" spc="-3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amministrativi.</a:t>
            </a:r>
          </a:p>
          <a:p>
            <a:pPr>
              <a:lnSpc>
                <a:spcPts val="869"/>
              </a:lnSpc>
            </a:pPr>
            <a:endParaRPr lang="en-US" dirty="0" smtClean="0"/>
          </a:p>
          <a:p>
            <a:pPr marL="0" hangingPunct="0">
              <a:lnSpc>
                <a:spcPct val="95416"/>
              </a:lnSpc>
            </a:pP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Dall'analisi</a:t>
            </a:r>
            <a:r>
              <a:rPr lang="en-US" altLang="zh-CN" sz="2000" spc="-2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e</a:t>
            </a:r>
            <a:r>
              <a:rPr lang="en-US" altLang="zh-CN" sz="2000" spc="-2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interpretazione</a:t>
            </a:r>
            <a:r>
              <a:rPr lang="en-US" altLang="zh-CN" sz="2000" spc="-2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“</a:t>
            </a:r>
            <a:r>
              <a:rPr lang="en-US" altLang="zh-CN" sz="2000" b="1" dirty="0">
                <a:solidFill>
                  <a:srgbClr val="656565"/>
                </a:solidFill>
                <a:latin typeface="Calibri"/>
                <a:ea typeface="Calibri"/>
              </a:rPr>
              <a:t>semantica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”</a:t>
            </a:r>
            <a:r>
              <a:rPr lang="en-US" altLang="zh-CN" sz="2000" spc="-2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del</a:t>
            </a:r>
            <a:r>
              <a:rPr lang="en-US" altLang="zh-CN" sz="2000" spc="-2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testo</a:t>
            </a:r>
            <a:r>
              <a:rPr lang="en-US" altLang="zh-CN" sz="2000" spc="-2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dei</a:t>
            </a:r>
            <a:r>
              <a:rPr lang="en-US" altLang="zh-CN" sz="2000" spc="-2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procedimenti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amministrativi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(si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pensi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alle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norme,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ai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termini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specifici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ripetuti)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può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nascere</a:t>
            </a:r>
            <a:r>
              <a:rPr lang="en-US" altLang="zh-CN" sz="2000" spc="-3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un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sistema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utile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al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personale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dell’Ente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nella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ricerca</a:t>
            </a:r>
            <a:r>
              <a:rPr lang="en-US" altLang="zh-CN" sz="2000" spc="-89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multicriterio.</a:t>
            </a:r>
          </a:p>
          <a:p>
            <a:pPr>
              <a:lnSpc>
                <a:spcPts val="810"/>
              </a:lnSpc>
            </a:pPr>
            <a:endParaRPr lang="en-US" dirty="0" smtClean="0"/>
          </a:p>
          <a:p>
            <a:pPr marL="0" hangingPunct="0">
              <a:lnSpc>
                <a:spcPct val="95416"/>
              </a:lnSpc>
            </a:pP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Si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può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disporre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di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un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auto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controllo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della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gestione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del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procedimento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nel</a:t>
            </a:r>
            <a:r>
              <a:rPr lang="en-US" altLang="zh-CN" sz="2000" spc="-2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tempo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con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tracciamento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delle</a:t>
            </a:r>
            <a:r>
              <a:rPr lang="en-US" altLang="zh-CN" sz="2000" spc="-2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azioni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dei</a:t>
            </a:r>
            <a:r>
              <a:rPr lang="en-US" altLang="zh-CN" sz="2000" spc="-2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singoli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utenti</a:t>
            </a:r>
            <a:r>
              <a:rPr lang="en-US" altLang="zh-CN" sz="2000" spc="-2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(tracking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tramite</a:t>
            </a:r>
            <a:r>
              <a:rPr lang="en-US" altLang="zh-CN" sz="2000" spc="-2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i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log)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e</a:t>
            </a:r>
            <a:r>
              <a:rPr lang="en-US" altLang="zh-CN" sz="2000" spc="-2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disporre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di</a:t>
            </a:r>
            <a:r>
              <a:rPr lang="en-US" altLang="zh-CN" sz="2000" spc="-2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avvisi</a:t>
            </a:r>
            <a:r>
              <a:rPr lang="en-US" altLang="zh-CN" sz="2000" spc="-2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di</a:t>
            </a:r>
            <a:r>
              <a:rPr lang="en-US" altLang="zh-CN" sz="2000" spc="-2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emergenze</a:t>
            </a:r>
            <a:r>
              <a:rPr lang="en-US" altLang="zh-CN" sz="2000" spc="-2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(scadenze</a:t>
            </a:r>
            <a:r>
              <a:rPr lang="en-US" altLang="zh-CN" sz="2000" spc="-2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che</a:t>
            </a:r>
            <a:r>
              <a:rPr lang="en-US" altLang="zh-CN" sz="2000" spc="-3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arrivano</a:t>
            </a:r>
            <a:r>
              <a:rPr lang="en-US" altLang="zh-CN" sz="2000" spc="-2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a</a:t>
            </a:r>
            <a:r>
              <a:rPr lang="en-US" altLang="zh-CN" sz="2000" spc="-3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breve).</a:t>
            </a:r>
          </a:p>
          <a:p>
            <a:pPr>
              <a:lnSpc>
                <a:spcPts val="880"/>
              </a:lnSpc>
            </a:pPr>
            <a:endParaRPr lang="en-US" dirty="0" smtClean="0"/>
          </a:p>
          <a:p>
            <a:pPr marL="0" hangingPunct="0">
              <a:lnSpc>
                <a:spcPct val="95416"/>
              </a:lnSpc>
            </a:pP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Può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essere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fornito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all'utente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(cittadino)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un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servizio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di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ricerca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multicriterio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e</a:t>
            </a:r>
            <a:r>
              <a:rPr lang="en-US" altLang="zh-CN" sz="2000" spc="-2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di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assistenza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virtuale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che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aiuta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nella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richiesta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di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servizi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(lato</a:t>
            </a:r>
            <a:r>
              <a:rPr lang="en-US" altLang="zh-CN" sz="2000" spc="-8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cittadino).</a:t>
            </a:r>
          </a:p>
          <a:p>
            <a:pPr>
              <a:lnSpc>
                <a:spcPts val="869"/>
              </a:lnSpc>
            </a:pPr>
            <a:endParaRPr lang="en-US" dirty="0" smtClean="0"/>
          </a:p>
          <a:p>
            <a:pPr marL="0" hangingPunct="0">
              <a:lnSpc>
                <a:spcPct val="95416"/>
              </a:lnSpc>
            </a:pP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Può</a:t>
            </a:r>
            <a:r>
              <a:rPr lang="en-US" altLang="zh-CN" sz="2000" spc="-2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essere</a:t>
            </a:r>
            <a:r>
              <a:rPr lang="en-US" altLang="zh-CN" sz="2000" spc="-3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fornito</a:t>
            </a:r>
            <a:r>
              <a:rPr lang="en-US" altLang="zh-CN" sz="2000" spc="-3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un</a:t>
            </a:r>
            <a:r>
              <a:rPr lang="en-US" altLang="zh-CN" sz="2000" spc="-3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supporto</a:t>
            </a:r>
            <a:r>
              <a:rPr lang="en-US" altLang="zh-CN" sz="2000" spc="-3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al</a:t>
            </a:r>
            <a:r>
              <a:rPr lang="en-US" altLang="zh-CN" sz="2000" spc="-3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backend</a:t>
            </a:r>
            <a:r>
              <a:rPr lang="en-US" altLang="zh-CN" sz="2000" spc="-3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(lato</a:t>
            </a:r>
            <a:r>
              <a:rPr lang="en-US" altLang="zh-CN" sz="2000" spc="-3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personale</a:t>
            </a:r>
            <a:r>
              <a:rPr lang="en-US" altLang="zh-CN" sz="2000" spc="-3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PA)</a:t>
            </a:r>
            <a:r>
              <a:rPr lang="en-US" altLang="zh-CN" sz="2000" spc="-3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che</a:t>
            </a:r>
            <a:r>
              <a:rPr lang="en-US" altLang="zh-CN" sz="2000" spc="-3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trova</a:t>
            </a:r>
            <a:r>
              <a:rPr lang="en-US" altLang="zh-CN" sz="2000" spc="-3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una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facilitazione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nella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gestione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del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processo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(documenti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-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dati)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che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interessa</a:t>
            </a:r>
            <a:r>
              <a:rPr lang="en-US" altLang="zh-CN" sz="2000" spc="-1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i</a:t>
            </a:r>
            <a:r>
              <a:rPr lang="en-US" altLang="zh-CN" sz="2000" spc="-2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ea typeface="Calibri"/>
              </a:rPr>
              <a:t>vari</a:t>
            </a:r>
            <a:r>
              <a:rPr lang="en-US" altLang="zh-CN" sz="2000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spc="-5" dirty="0">
                <a:solidFill>
                  <a:srgbClr val="656565"/>
                </a:solidFill>
                <a:latin typeface="Calibri"/>
                <a:ea typeface="Calibri"/>
              </a:rPr>
              <a:t>procedimenti</a:t>
            </a:r>
            <a:r>
              <a:rPr lang="en-US" altLang="zh-CN" sz="2000" spc="5" dirty="0">
                <a:solidFill>
                  <a:srgbClr val="656565"/>
                </a:solidFill>
                <a:latin typeface="Calibri"/>
                <a:cs typeface="Calibri"/>
              </a:rPr>
              <a:t> </a:t>
            </a:r>
            <a:r>
              <a:rPr lang="en-US" altLang="zh-CN" sz="2000" spc="-5" dirty="0">
                <a:solidFill>
                  <a:srgbClr val="656565"/>
                </a:solidFill>
                <a:latin typeface="Calibri"/>
                <a:ea typeface="Calibri"/>
              </a:rPr>
              <a:t>amministrativi.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Freeform 78"/>
          <p:cNvSpPr/>
          <p:nvPr/>
        </p:nvSpPr>
        <p:spPr>
          <a:xfrm>
            <a:off x="0" y="0"/>
            <a:ext cx="9144000" cy="6857999"/>
          </a:xfrm>
          <a:custGeom>
            <a:avLst/>
            <a:gdLst>
              <a:gd name="connsiteX0" fmla="*/ 0 w 9144000"/>
              <a:gd name="connsiteY0" fmla="*/ 6857999 h 6857999"/>
              <a:gd name="connsiteX1" fmla="*/ 9144000 w 9144000"/>
              <a:gd name="connsiteY1" fmla="*/ 6857999 h 6857999"/>
              <a:gd name="connsiteX2" fmla="*/ 9144000 w 9144000"/>
              <a:gd name="connsiteY2" fmla="*/ 0 h 6857999"/>
              <a:gd name="connsiteX3" fmla="*/ 0 w 9144000"/>
              <a:gd name="connsiteY3" fmla="*/ 0 h 6857999"/>
              <a:gd name="connsiteX4" fmla="*/ 0 w 9144000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6857999">
                <a:moveTo>
                  <a:pt x="0" y="6857999"/>
                </a:moveTo>
                <a:lnTo>
                  <a:pt x="9144000" y="6857999"/>
                </a:lnTo>
                <a:lnTo>
                  <a:pt x="9144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CFA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" name="Picture 8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907780" cy="5638800"/>
          </a:xfrm>
          <a:prstGeom prst="rect">
            <a:avLst/>
          </a:prstGeom>
        </p:spPr>
      </p:pic>
      <p:sp>
        <p:nvSpPr>
          <p:cNvPr id="2" name="TextBox 81"/>
          <p:cNvSpPr txBox="1"/>
          <p:nvPr/>
        </p:nvSpPr>
        <p:spPr>
          <a:xfrm>
            <a:off x="91439" y="151942"/>
            <a:ext cx="8544838" cy="53115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pensare</a:t>
            </a:r>
            <a:r>
              <a:rPr lang="en-US" altLang="zh-CN" sz="2600" spc="-89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a</a:t>
            </a:r>
            <a:r>
              <a:rPr lang="en-US" altLang="zh-CN" sz="2600" spc="-9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"dati"</a:t>
            </a:r>
            <a:r>
              <a:rPr lang="en-US" altLang="zh-CN" sz="2600" spc="-89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2600" spc="-9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non</a:t>
            </a:r>
            <a:r>
              <a:rPr lang="en-US" altLang="zh-CN" sz="2600" spc="-9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più</a:t>
            </a:r>
            <a:r>
              <a:rPr lang="en-US" altLang="zh-CN" sz="2600" spc="-89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a</a:t>
            </a:r>
            <a:r>
              <a:rPr lang="en-US" altLang="zh-CN" sz="2600" spc="-9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documenti</a:t>
            </a:r>
            <a:r>
              <a:rPr lang="en-US" altLang="zh-CN" sz="2600" spc="-9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in</a:t>
            </a:r>
            <a:r>
              <a:rPr lang="en-US" altLang="zh-CN" sz="2600" spc="-9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"PDF"</a:t>
            </a:r>
          </a:p>
          <a:p>
            <a:pPr>
              <a:lnSpc>
                <a:spcPts val="1135"/>
              </a:lnSpc>
            </a:pPr>
            <a:endParaRPr lang="en-US" dirty="0" smtClean="0"/>
          </a:p>
          <a:p>
            <a:pPr marL="312115" hangingPunct="0">
              <a:lnSpc>
                <a:spcPct val="95416"/>
              </a:lnSpc>
            </a:pP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Siamo</a:t>
            </a:r>
            <a:r>
              <a:rPr lang="en-US" altLang="zh-CN" sz="1900" spc="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abituati</a:t>
            </a:r>
            <a:r>
              <a:rPr lang="en-US" altLang="zh-CN" sz="1900" spc="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a</a:t>
            </a:r>
            <a:r>
              <a:rPr lang="en-US" altLang="zh-CN" sz="1900" spc="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pensare</a:t>
            </a:r>
            <a:r>
              <a:rPr lang="en-US" altLang="zh-CN" sz="1900" spc="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la</a:t>
            </a:r>
            <a:r>
              <a:rPr lang="en-US" altLang="zh-CN" sz="1900" spc="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documentazione</a:t>
            </a:r>
            <a:r>
              <a:rPr lang="en-US" altLang="zh-CN" sz="1900" spc="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della</a:t>
            </a:r>
            <a:r>
              <a:rPr lang="en-US" altLang="zh-CN" sz="1900" spc="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PA</a:t>
            </a:r>
            <a:r>
              <a:rPr lang="en-US" altLang="zh-CN" sz="1900" spc="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come</a:t>
            </a:r>
            <a:r>
              <a:rPr lang="en-US" altLang="zh-CN" sz="1900" spc="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formati</a:t>
            </a:r>
            <a:r>
              <a:rPr lang="en-US" altLang="zh-CN" sz="1900" spc="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PDF</a:t>
            </a:r>
            <a:r>
              <a:rPr lang="en-US" altLang="zh-CN" sz="1900" spc="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che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derivano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da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formati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WORD/ODT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ai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quali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abbiamo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lavorato</a:t>
            </a:r>
            <a:r>
              <a:rPr lang="en-US" altLang="zh-CN" sz="1900" spc="10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precedentemente.</a:t>
            </a:r>
          </a:p>
          <a:p>
            <a:pPr>
              <a:lnSpc>
                <a:spcPts val="640"/>
              </a:lnSpc>
            </a:pPr>
            <a:endParaRPr lang="en-US" dirty="0" smtClean="0"/>
          </a:p>
          <a:p>
            <a:pPr marL="0" indent="312115">
              <a:lnSpc>
                <a:spcPct val="100000"/>
              </a:lnSpc>
            </a:pPr>
            <a:r>
              <a:rPr lang="en-US" altLang="zh-CN" sz="2000" b="1" dirty="0">
                <a:solidFill>
                  <a:srgbClr val="FE0000"/>
                </a:solidFill>
                <a:latin typeface="Calibri"/>
                <a:ea typeface="Calibri"/>
              </a:rPr>
              <a:t>Dobbiamo</a:t>
            </a:r>
            <a:r>
              <a:rPr lang="en-US" altLang="zh-CN" sz="2000" b="1" spc="50" dirty="0">
                <a:solidFill>
                  <a:srgbClr val="FE0000"/>
                </a:solidFill>
                <a:latin typeface="Calibri"/>
                <a:cs typeface="Calibri"/>
              </a:rPr>
              <a:t> </a:t>
            </a:r>
            <a:r>
              <a:rPr lang="en-US" altLang="zh-CN" sz="2000" b="1" dirty="0">
                <a:solidFill>
                  <a:srgbClr val="FE0000"/>
                </a:solidFill>
                <a:latin typeface="Calibri"/>
                <a:ea typeface="Calibri"/>
              </a:rPr>
              <a:t>dimenticare</a:t>
            </a:r>
            <a:r>
              <a:rPr lang="en-US" altLang="zh-CN" sz="2000" b="1" spc="55" dirty="0">
                <a:solidFill>
                  <a:srgbClr val="FE0000"/>
                </a:solidFill>
                <a:latin typeface="Calibri"/>
                <a:cs typeface="Calibri"/>
              </a:rPr>
              <a:t> </a:t>
            </a:r>
            <a:r>
              <a:rPr lang="en-US" altLang="zh-CN" sz="2000" b="1" dirty="0">
                <a:solidFill>
                  <a:srgbClr val="FE0000"/>
                </a:solidFill>
                <a:latin typeface="Calibri"/>
                <a:ea typeface="Calibri"/>
              </a:rPr>
              <a:t>di</a:t>
            </a:r>
            <a:r>
              <a:rPr lang="en-US" altLang="zh-CN" sz="2000" b="1" spc="55" dirty="0">
                <a:solidFill>
                  <a:srgbClr val="FE0000"/>
                </a:solidFill>
                <a:latin typeface="Calibri"/>
                <a:cs typeface="Calibri"/>
              </a:rPr>
              <a:t> </a:t>
            </a:r>
            <a:r>
              <a:rPr lang="en-US" altLang="zh-CN" sz="2000" b="1" dirty="0">
                <a:solidFill>
                  <a:srgbClr val="FE0000"/>
                </a:solidFill>
                <a:latin typeface="Calibri"/>
                <a:ea typeface="Calibri"/>
              </a:rPr>
              <a:t>lavorare</a:t>
            </a:r>
            <a:r>
              <a:rPr lang="en-US" altLang="zh-CN" sz="2000" b="1" spc="50" dirty="0">
                <a:solidFill>
                  <a:srgbClr val="FE0000"/>
                </a:solidFill>
                <a:latin typeface="Calibri"/>
                <a:cs typeface="Calibri"/>
              </a:rPr>
              <a:t> </a:t>
            </a:r>
            <a:r>
              <a:rPr lang="en-US" altLang="zh-CN" sz="2000" b="1" dirty="0">
                <a:solidFill>
                  <a:srgbClr val="FE0000"/>
                </a:solidFill>
                <a:latin typeface="Calibri"/>
                <a:ea typeface="Calibri"/>
              </a:rPr>
              <a:t>per</a:t>
            </a:r>
            <a:r>
              <a:rPr lang="en-US" altLang="zh-CN" sz="2000" b="1" spc="55" dirty="0">
                <a:solidFill>
                  <a:srgbClr val="FE0000"/>
                </a:solidFill>
                <a:latin typeface="Calibri"/>
                <a:cs typeface="Calibri"/>
              </a:rPr>
              <a:t> </a:t>
            </a:r>
            <a:r>
              <a:rPr lang="en-US" altLang="zh-CN" sz="2000" b="1" dirty="0">
                <a:solidFill>
                  <a:srgbClr val="FE0000"/>
                </a:solidFill>
                <a:latin typeface="Calibri"/>
                <a:ea typeface="Calibri"/>
              </a:rPr>
              <a:t>documenti</a:t>
            </a:r>
            <a:r>
              <a:rPr lang="en-US" altLang="zh-CN" sz="2000" b="1" spc="55" dirty="0">
                <a:solidFill>
                  <a:srgbClr val="FE0000"/>
                </a:solidFill>
                <a:latin typeface="Calibri"/>
                <a:cs typeface="Calibri"/>
              </a:rPr>
              <a:t> </a:t>
            </a:r>
            <a:r>
              <a:rPr lang="en-US" altLang="zh-CN" sz="2000" b="1" dirty="0">
                <a:solidFill>
                  <a:srgbClr val="FE0000"/>
                </a:solidFill>
                <a:latin typeface="Calibri"/>
                <a:ea typeface="Calibri"/>
              </a:rPr>
              <a:t>PDF.</a:t>
            </a:r>
          </a:p>
          <a:p>
            <a:pPr marL="312115" hangingPunct="0">
              <a:lnSpc>
                <a:spcPct val="95416"/>
              </a:lnSpc>
              <a:spcBef>
                <a:spcPts val="114"/>
              </a:spcBef>
            </a:pPr>
            <a:r>
              <a:rPr lang="en-US" altLang="zh-CN" sz="1900" b="1" dirty="0">
                <a:solidFill>
                  <a:srgbClr val="2A428F"/>
                </a:solidFill>
                <a:latin typeface="Calibri"/>
                <a:ea typeface="Calibri"/>
              </a:rPr>
              <a:t>Dobbiamo</a:t>
            </a:r>
            <a:r>
              <a:rPr lang="en-US" altLang="zh-CN" sz="1900" b="1" spc="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b="1" dirty="0">
                <a:solidFill>
                  <a:srgbClr val="2A428F"/>
                </a:solidFill>
                <a:latin typeface="Calibri"/>
                <a:ea typeface="Calibri"/>
              </a:rPr>
              <a:t>iniziare</a:t>
            </a:r>
            <a:r>
              <a:rPr lang="en-US" altLang="zh-CN" sz="1900" b="1" spc="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b="1" dirty="0">
                <a:solidFill>
                  <a:srgbClr val="2A428F"/>
                </a:solidFill>
                <a:latin typeface="Calibri"/>
                <a:ea typeface="Calibri"/>
              </a:rPr>
              <a:t>a</a:t>
            </a:r>
            <a:r>
              <a:rPr lang="en-US" altLang="zh-CN" sz="1900" b="1" spc="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b="1" dirty="0">
                <a:solidFill>
                  <a:srgbClr val="2A428F"/>
                </a:solidFill>
                <a:latin typeface="Calibri"/>
                <a:ea typeface="Calibri"/>
              </a:rPr>
              <a:t>lavorare</a:t>
            </a:r>
            <a:r>
              <a:rPr lang="en-US" altLang="zh-CN" sz="1900" b="1" spc="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b="1" dirty="0">
                <a:solidFill>
                  <a:srgbClr val="2A428F"/>
                </a:solidFill>
                <a:latin typeface="Calibri"/>
                <a:ea typeface="Calibri"/>
              </a:rPr>
              <a:t>per</a:t>
            </a:r>
            <a:r>
              <a:rPr lang="en-US" altLang="zh-CN" sz="1900" b="1" spc="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b="1" dirty="0">
                <a:solidFill>
                  <a:srgbClr val="2A428F"/>
                </a:solidFill>
                <a:latin typeface="Calibri"/>
                <a:ea typeface="Calibri"/>
              </a:rPr>
              <a:t>compilazione</a:t>
            </a:r>
            <a:r>
              <a:rPr lang="en-US" altLang="zh-CN" sz="1900" b="1" spc="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b="1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1900" b="1" spc="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b="1" dirty="0">
                <a:solidFill>
                  <a:srgbClr val="2A428F"/>
                </a:solidFill>
                <a:latin typeface="Calibri"/>
                <a:ea typeface="Calibri"/>
              </a:rPr>
              <a:t>campi</a:t>
            </a:r>
            <a:r>
              <a:rPr lang="en-US" altLang="zh-CN" sz="1900" b="1" spc="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b="1" dirty="0">
                <a:solidFill>
                  <a:srgbClr val="2A428F"/>
                </a:solidFill>
                <a:latin typeface="Calibri"/>
                <a:ea typeface="Calibri"/>
              </a:rPr>
              <a:t>in</a:t>
            </a:r>
            <a:r>
              <a:rPr lang="en-US" altLang="zh-CN" sz="1900" b="1" spc="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b="1" dirty="0">
                <a:solidFill>
                  <a:srgbClr val="2A428F"/>
                </a:solidFill>
                <a:latin typeface="Calibri"/>
                <a:ea typeface="Calibri"/>
              </a:rPr>
              <a:t>un</a:t>
            </a:r>
            <a:r>
              <a:rPr lang="en-US" altLang="zh-CN" sz="1900" b="1" spc="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b="1" dirty="0">
                <a:solidFill>
                  <a:srgbClr val="2A428F"/>
                </a:solidFill>
                <a:latin typeface="Calibri"/>
                <a:ea typeface="Calibri"/>
              </a:rPr>
              <a:t>applicativo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,</a:t>
            </a:r>
            <a:r>
              <a:rPr lang="en-US" altLang="zh-CN" sz="1900" spc="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come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quando</a:t>
            </a:r>
            <a:r>
              <a:rPr lang="en-US" altLang="zh-CN" sz="1900" spc="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compriamo</a:t>
            </a:r>
            <a:r>
              <a:rPr lang="en-US" altLang="zh-CN" sz="1900" spc="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un</a:t>
            </a:r>
            <a:r>
              <a:rPr lang="en-US" altLang="zh-CN" sz="1900" spc="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biglietto</a:t>
            </a:r>
            <a:r>
              <a:rPr lang="en-US" altLang="zh-CN" sz="1900" spc="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aereo</a:t>
            </a:r>
            <a:r>
              <a:rPr lang="en-US" altLang="zh-CN" sz="1900" spc="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online</a:t>
            </a:r>
            <a:r>
              <a:rPr lang="en-US" altLang="zh-CN" sz="1900" spc="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o</a:t>
            </a:r>
            <a:r>
              <a:rPr lang="en-US" altLang="zh-CN" sz="1900" spc="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usiamo</a:t>
            </a:r>
            <a:r>
              <a:rPr lang="en-US" altLang="zh-CN" sz="1900" spc="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piattaforme</a:t>
            </a:r>
            <a:r>
              <a:rPr lang="en-US" altLang="zh-CN" sz="1900" spc="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1900" spc="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acquisti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online.</a:t>
            </a:r>
            <a:r>
              <a:rPr lang="en-US" altLang="zh-CN" sz="1900" spc="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Per</a:t>
            </a:r>
            <a:r>
              <a:rPr lang="en-US" altLang="zh-CN" sz="1900" spc="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comprare</a:t>
            </a:r>
            <a:r>
              <a:rPr lang="en-US" altLang="zh-CN" sz="1900" spc="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biglietti</a:t>
            </a:r>
            <a:r>
              <a:rPr lang="en-US" altLang="zh-CN" sz="1900" spc="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aerei</a:t>
            </a:r>
            <a:r>
              <a:rPr lang="en-US" altLang="zh-CN" sz="1900" spc="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o</a:t>
            </a:r>
            <a:r>
              <a:rPr lang="en-US" altLang="zh-CN" sz="1900" spc="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smartphone</a:t>
            </a:r>
            <a:r>
              <a:rPr lang="en-US" altLang="zh-CN" sz="1900" spc="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non</a:t>
            </a:r>
            <a:r>
              <a:rPr lang="en-US" altLang="zh-CN" sz="1900" spc="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carichiamo</a:t>
            </a:r>
            <a:r>
              <a:rPr lang="en-US" altLang="zh-CN" sz="1900" spc="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nessun</a:t>
            </a:r>
            <a:r>
              <a:rPr lang="en-US" altLang="zh-CN" sz="1900" spc="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PDF</a:t>
            </a:r>
            <a:r>
              <a:rPr lang="en-US" altLang="zh-CN" sz="1900" spc="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nella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piattaforma</a:t>
            </a:r>
            <a:r>
              <a:rPr lang="en-US" altLang="zh-CN" sz="1900" spc="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online,</a:t>
            </a:r>
            <a:r>
              <a:rPr lang="en-US" altLang="zh-CN" sz="1900" spc="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1900" spc="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così</a:t>
            </a:r>
            <a:r>
              <a:rPr lang="en-US" altLang="zh-CN" sz="1900" spc="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deve</a:t>
            </a:r>
            <a:r>
              <a:rPr lang="en-US" altLang="zh-CN" sz="1900" spc="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essere,</a:t>
            </a:r>
            <a:r>
              <a:rPr lang="en-US" altLang="zh-CN" sz="1900" spc="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quanto</a:t>
            </a:r>
            <a:r>
              <a:rPr lang="en-US" altLang="zh-CN" sz="1900" spc="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più</a:t>
            </a:r>
            <a:r>
              <a:rPr lang="en-US" altLang="zh-CN" sz="1900" spc="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possibile,</a:t>
            </a:r>
            <a:r>
              <a:rPr lang="en-US" altLang="zh-CN" sz="1900" spc="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per</a:t>
            </a:r>
            <a:r>
              <a:rPr lang="en-US" altLang="zh-CN" sz="1900" spc="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la</a:t>
            </a:r>
            <a:r>
              <a:rPr lang="en-US" altLang="zh-CN" sz="1900" spc="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Pubblica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spc="10" dirty="0">
                <a:solidFill>
                  <a:srgbClr val="2A428F"/>
                </a:solidFill>
                <a:latin typeface="Calibri"/>
                <a:ea typeface="Calibri"/>
              </a:rPr>
              <a:t>Am</a:t>
            </a:r>
            <a:r>
              <a:rPr lang="en-US" altLang="zh-CN" sz="1900" spc="5" dirty="0">
                <a:solidFill>
                  <a:srgbClr val="2A428F"/>
                </a:solidFill>
                <a:latin typeface="Calibri"/>
                <a:ea typeface="Calibri"/>
              </a:rPr>
              <a:t>ministrazione.</a:t>
            </a:r>
          </a:p>
          <a:p>
            <a:pPr marL="312115" hangingPunct="0">
              <a:lnSpc>
                <a:spcPct val="95833"/>
              </a:lnSpc>
            </a:pP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La</a:t>
            </a:r>
            <a:r>
              <a:rPr lang="en-US" altLang="zh-CN" sz="1900" spc="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compilazione</a:t>
            </a:r>
            <a:r>
              <a:rPr lang="en-US" altLang="zh-CN" sz="1900" spc="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(azione</a:t>
            </a:r>
            <a:r>
              <a:rPr lang="en-US" altLang="zh-CN" sz="1900" spc="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1900" spc="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editing)</a:t>
            </a:r>
            <a:r>
              <a:rPr lang="en-US" altLang="zh-CN" sz="1900" spc="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1900" spc="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campi</a:t>
            </a:r>
            <a:r>
              <a:rPr lang="en-US" altLang="zh-CN" sz="1900" spc="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in</a:t>
            </a:r>
            <a:r>
              <a:rPr lang="en-US" altLang="zh-CN" sz="1900" spc="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un</a:t>
            </a:r>
            <a:r>
              <a:rPr lang="en-US" altLang="zh-CN" sz="1900" spc="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applicativo</a:t>
            </a:r>
            <a:r>
              <a:rPr lang="en-US" altLang="zh-CN" sz="1900" spc="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genera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automaticamente</a:t>
            </a:r>
            <a:r>
              <a:rPr lang="en-US" altLang="zh-CN" sz="1900" spc="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(alla</a:t>
            </a:r>
            <a:r>
              <a:rPr lang="en-US" altLang="zh-CN" sz="1900" spc="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fine</a:t>
            </a:r>
            <a:r>
              <a:rPr lang="en-US" altLang="zh-CN" sz="1900" spc="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della</a:t>
            </a:r>
            <a:r>
              <a:rPr lang="en-US" altLang="zh-CN" sz="1900" spc="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compilazione)</a:t>
            </a:r>
            <a:r>
              <a:rPr lang="en-US" altLang="zh-CN" sz="1900" spc="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b="1" dirty="0">
                <a:solidFill>
                  <a:srgbClr val="2A428F"/>
                </a:solidFill>
                <a:latin typeface="Calibri"/>
                <a:ea typeface="Calibri"/>
              </a:rPr>
              <a:t>documenti</a:t>
            </a:r>
            <a:r>
              <a:rPr lang="en-US" altLang="zh-CN" sz="1900" b="1" spc="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in</a:t>
            </a:r>
            <a:r>
              <a:rPr lang="en-US" altLang="zh-CN" sz="1900" spc="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diversi</a:t>
            </a:r>
            <a:r>
              <a:rPr lang="en-US" altLang="zh-CN" sz="1900" spc="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formati:</a:t>
            </a:r>
          </a:p>
          <a:p>
            <a:pPr marL="0" indent="462991">
              <a:lnSpc>
                <a:spcPct val="100000"/>
              </a:lnSpc>
              <a:spcBef>
                <a:spcPts val="259"/>
              </a:spcBef>
              <a:tabLst>
                <a:tab pos="769315" algn="l"/>
              </a:tabLst>
            </a:pPr>
            <a:r>
              <a:rPr lang="en-US" altLang="zh-CN" sz="1200" dirty="0">
                <a:solidFill>
                  <a:srgbClr val="2A428F"/>
                </a:solidFill>
                <a:latin typeface="Arial"/>
                <a:ea typeface="Arial"/>
              </a:rPr>
              <a:t>●	</a:t>
            </a:r>
            <a:r>
              <a:rPr lang="en-US" altLang="zh-CN" sz="1900" b="1" dirty="0">
                <a:solidFill>
                  <a:srgbClr val="2A428F"/>
                </a:solidFill>
                <a:latin typeface="Courier New"/>
                <a:ea typeface="Courier New"/>
              </a:rPr>
              <a:t>XML</a:t>
            </a:r>
            <a:r>
              <a:rPr lang="en-US" altLang="zh-CN" sz="1900" b="1" spc="-75" dirty="0">
                <a:solidFill>
                  <a:srgbClr val="2A428F"/>
                </a:solidFill>
                <a:latin typeface="Courier New"/>
                <a:cs typeface="Courier New"/>
              </a:rPr>
              <a:t> </a:t>
            </a:r>
            <a:r>
              <a:rPr lang="en-US" altLang="zh-CN" sz="1900" b="1" dirty="0">
                <a:solidFill>
                  <a:srgbClr val="2A428F"/>
                </a:solidFill>
                <a:latin typeface="Courier New"/>
                <a:ea typeface="Courier New"/>
              </a:rPr>
              <a:t>/</a:t>
            </a:r>
            <a:r>
              <a:rPr lang="en-US" altLang="zh-CN" sz="1900" b="1" spc="-75" dirty="0">
                <a:solidFill>
                  <a:srgbClr val="2A428F"/>
                </a:solidFill>
                <a:latin typeface="Courier New"/>
                <a:cs typeface="Courier New"/>
              </a:rPr>
              <a:t> </a:t>
            </a:r>
            <a:r>
              <a:rPr lang="en-US" altLang="zh-CN" sz="1900" b="1" dirty="0">
                <a:solidFill>
                  <a:srgbClr val="2A428F"/>
                </a:solidFill>
                <a:latin typeface="Courier New"/>
                <a:ea typeface="Courier New"/>
              </a:rPr>
              <a:t>JSON</a:t>
            </a:r>
            <a:r>
              <a:rPr lang="en-US" altLang="zh-CN" sz="1900" b="1" spc="-80" dirty="0">
                <a:solidFill>
                  <a:srgbClr val="2A428F"/>
                </a:solidFill>
                <a:latin typeface="Courier New"/>
                <a:cs typeface="Courier New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per</a:t>
            </a:r>
            <a:r>
              <a:rPr lang="en-US" altLang="zh-CN" sz="19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alimentare</a:t>
            </a:r>
            <a:r>
              <a:rPr lang="en-US" altLang="zh-CN" sz="19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banche</a:t>
            </a:r>
            <a:r>
              <a:rPr lang="en-US" altLang="zh-CN" sz="19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dati</a:t>
            </a:r>
            <a:r>
              <a:rPr lang="en-US" altLang="zh-CN" sz="19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che</a:t>
            </a:r>
            <a:r>
              <a:rPr lang="en-US" altLang="zh-CN" sz="19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potrebbero</a:t>
            </a:r>
            <a:r>
              <a:rPr lang="en-US" altLang="zh-CN" sz="19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avere</a:t>
            </a:r>
            <a:r>
              <a:rPr lang="en-US" altLang="zh-CN" sz="19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come</a:t>
            </a:r>
            <a:r>
              <a:rPr lang="en-US" altLang="zh-CN" sz="19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output</a:t>
            </a:r>
          </a:p>
          <a:p>
            <a:pPr marL="0" indent="769315">
              <a:lnSpc>
                <a:spcPct val="82499"/>
              </a:lnSpc>
            </a:pP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finale</a:t>
            </a:r>
            <a:r>
              <a:rPr lang="en-US" altLang="zh-CN" sz="1900" spc="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un</a:t>
            </a:r>
            <a:r>
              <a:rPr lang="en-US" altLang="zh-CN" sz="1900" spc="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portale</a:t>
            </a:r>
            <a:r>
              <a:rPr lang="en-US" altLang="zh-CN" sz="1900" spc="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per</a:t>
            </a:r>
            <a:r>
              <a:rPr lang="en-US" altLang="zh-CN" sz="1900" spc="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open</a:t>
            </a:r>
            <a:r>
              <a:rPr lang="en-US" altLang="zh-CN" sz="1900" spc="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data</a:t>
            </a:r>
          </a:p>
          <a:p>
            <a:pPr marL="0" indent="462991">
              <a:lnSpc>
                <a:spcPct val="82916"/>
              </a:lnSpc>
              <a:tabLst>
                <a:tab pos="769315" algn="l"/>
              </a:tabLst>
            </a:pPr>
            <a:r>
              <a:rPr lang="en-US" altLang="zh-CN" sz="1200" dirty="0">
                <a:solidFill>
                  <a:srgbClr val="2A428F"/>
                </a:solidFill>
                <a:latin typeface="Arial"/>
                <a:ea typeface="Arial"/>
              </a:rPr>
              <a:t>●	</a:t>
            </a:r>
            <a:r>
              <a:rPr lang="en-US" altLang="zh-CN" sz="1900" b="1" dirty="0">
                <a:solidFill>
                  <a:srgbClr val="2A428F"/>
                </a:solidFill>
                <a:latin typeface="Courier New"/>
                <a:ea typeface="Courier New"/>
              </a:rPr>
              <a:t>ODT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,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formato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testuale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generalmente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usato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insieme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al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formato</a:t>
            </a:r>
            <a:r>
              <a:rPr lang="en-US" altLang="zh-CN" sz="1900" spc="1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b="1" dirty="0">
                <a:solidFill>
                  <a:srgbClr val="2A428F"/>
                </a:solidFill>
                <a:latin typeface="Courier New"/>
                <a:ea typeface="Courier New"/>
              </a:rPr>
              <a:t>DOCX</a:t>
            </a:r>
          </a:p>
          <a:p>
            <a:pPr marL="0" indent="462991">
              <a:lnSpc>
                <a:spcPct val="82916"/>
              </a:lnSpc>
              <a:tabLst>
                <a:tab pos="769315" algn="l"/>
              </a:tabLst>
            </a:pPr>
            <a:r>
              <a:rPr lang="en-US" altLang="zh-CN" sz="1200" dirty="0">
                <a:solidFill>
                  <a:srgbClr val="2A428F"/>
                </a:solidFill>
                <a:latin typeface="Arial"/>
                <a:ea typeface="Arial"/>
              </a:rPr>
              <a:t>●	</a:t>
            </a:r>
            <a:r>
              <a:rPr lang="en-US" altLang="zh-CN" sz="1900" b="1" dirty="0">
                <a:solidFill>
                  <a:srgbClr val="2A428F"/>
                </a:solidFill>
                <a:latin typeface="Courier New"/>
                <a:ea typeface="Courier New"/>
              </a:rPr>
              <a:t>PDF</a:t>
            </a:r>
            <a:r>
              <a:rPr lang="en-US" altLang="zh-CN" sz="1900" b="1" spc="-80" dirty="0">
                <a:solidFill>
                  <a:srgbClr val="2A428F"/>
                </a:solidFill>
                <a:latin typeface="Courier New"/>
                <a:cs typeface="Courier New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per</a:t>
            </a:r>
            <a:r>
              <a:rPr lang="en-US" altLang="zh-CN" sz="19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la</a:t>
            </a:r>
            <a:r>
              <a:rPr lang="en-US" altLang="zh-CN" sz="19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finalità</a:t>
            </a:r>
            <a:r>
              <a:rPr lang="en-US" altLang="zh-CN" sz="19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19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essere</a:t>
            </a:r>
            <a:r>
              <a:rPr lang="en-US" altLang="zh-CN" sz="19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firmato</a:t>
            </a:r>
            <a:r>
              <a:rPr lang="en-US" altLang="zh-CN" sz="19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digitalmente</a:t>
            </a:r>
            <a:r>
              <a:rPr lang="en-US" altLang="zh-CN" sz="19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(a</a:t>
            </a:r>
            <a:r>
              <a:rPr lang="en-US" altLang="zh-CN" sz="19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norma</a:t>
            </a:r>
            <a:r>
              <a:rPr lang="en-US" altLang="zh-CN" sz="19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del</a:t>
            </a:r>
            <a:r>
              <a:rPr lang="en-US" altLang="zh-CN" sz="19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CAD)</a:t>
            </a:r>
            <a:r>
              <a:rPr lang="en-US" altLang="zh-CN" sz="19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dal</a:t>
            </a:r>
          </a:p>
          <a:p>
            <a:pPr marL="769315" hangingPunct="0">
              <a:lnSpc>
                <a:spcPct val="95416"/>
              </a:lnSpc>
            </a:pP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dirigente</a:t>
            </a:r>
            <a:r>
              <a:rPr lang="en-US" altLang="zh-CN" sz="1900" spc="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1900" spc="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riferimento,</a:t>
            </a:r>
            <a:r>
              <a:rPr lang="en-US" altLang="zh-CN" sz="1900" spc="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per</a:t>
            </a:r>
            <a:r>
              <a:rPr lang="en-US" altLang="zh-CN" sz="1900" spc="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poi</a:t>
            </a:r>
            <a:r>
              <a:rPr lang="en-US" altLang="zh-CN" sz="1900" spc="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finire</a:t>
            </a:r>
            <a:r>
              <a:rPr lang="en-US" altLang="zh-CN" sz="1900" spc="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-</a:t>
            </a:r>
            <a:r>
              <a:rPr lang="en-US" altLang="zh-CN" sz="1900" spc="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automaticamente-</a:t>
            </a:r>
            <a:r>
              <a:rPr lang="en-US" altLang="zh-CN" sz="1900" spc="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nel</a:t>
            </a:r>
            <a:r>
              <a:rPr lang="en-US" altLang="zh-CN" sz="1900" spc="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contenitore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dell'Albo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Pretorio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/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Amministrazione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Trasparente,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per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gli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obblighi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previsti</a:t>
            </a:r>
            <a:r>
              <a:rPr lang="en-US" altLang="zh-CN" sz="1900" spc="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da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legge,</a:t>
            </a:r>
            <a:r>
              <a:rPr lang="en-US" altLang="zh-CN" sz="1900" spc="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o</a:t>
            </a:r>
            <a:r>
              <a:rPr lang="en-US" altLang="zh-CN" sz="1900" spc="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per</a:t>
            </a:r>
            <a:r>
              <a:rPr lang="en-US" altLang="zh-CN" sz="1900" spc="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essere</a:t>
            </a:r>
            <a:r>
              <a:rPr lang="en-US" altLang="zh-CN" sz="1900" spc="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inviato</a:t>
            </a:r>
            <a:r>
              <a:rPr lang="en-US" altLang="zh-CN" sz="1900" spc="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al</a:t>
            </a:r>
            <a:r>
              <a:rPr lang="en-US" altLang="zh-CN" sz="1900" spc="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cittadino</a:t>
            </a:r>
            <a:r>
              <a:rPr lang="en-US" altLang="zh-CN" sz="1900" spc="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che</a:t>
            </a:r>
            <a:r>
              <a:rPr lang="en-US" altLang="zh-CN" sz="1900" spc="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ha</a:t>
            </a:r>
            <a:r>
              <a:rPr lang="en-US" altLang="zh-CN" sz="1900" spc="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richiesto</a:t>
            </a:r>
            <a:r>
              <a:rPr lang="en-US" altLang="zh-CN" sz="1900" spc="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un</a:t>
            </a:r>
            <a:r>
              <a:rPr lang="en-US" altLang="zh-CN" sz="1900" spc="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servizio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Freeform 82"/>
          <p:cNvSpPr/>
          <p:nvPr/>
        </p:nvSpPr>
        <p:spPr>
          <a:xfrm>
            <a:off x="0" y="0"/>
            <a:ext cx="9144000" cy="6857999"/>
          </a:xfrm>
          <a:custGeom>
            <a:avLst/>
            <a:gdLst>
              <a:gd name="connsiteX0" fmla="*/ 0 w 9144000"/>
              <a:gd name="connsiteY0" fmla="*/ 6857999 h 6857999"/>
              <a:gd name="connsiteX1" fmla="*/ 9144000 w 9144000"/>
              <a:gd name="connsiteY1" fmla="*/ 6857999 h 6857999"/>
              <a:gd name="connsiteX2" fmla="*/ 9144000 w 9144000"/>
              <a:gd name="connsiteY2" fmla="*/ 0 h 6857999"/>
              <a:gd name="connsiteX3" fmla="*/ 0 w 9144000"/>
              <a:gd name="connsiteY3" fmla="*/ 0 h 6857999"/>
              <a:gd name="connsiteX4" fmla="*/ 0 w 9144000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6857999">
                <a:moveTo>
                  <a:pt x="0" y="6857999"/>
                </a:moveTo>
                <a:lnTo>
                  <a:pt x="9144000" y="6857999"/>
                </a:lnTo>
                <a:lnTo>
                  <a:pt x="9144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CFA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5" name="Picture 8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3360"/>
            <a:ext cx="8420100" cy="1196340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" y="2049780"/>
            <a:ext cx="8100059" cy="2217420"/>
          </a:xfrm>
          <a:prstGeom prst="rect">
            <a:avLst/>
          </a:prstGeom>
        </p:spPr>
      </p:pic>
      <p:sp>
        <p:nvSpPr>
          <p:cNvPr id="2" name="Freeform 86"/>
          <p:cNvSpPr/>
          <p:nvPr/>
        </p:nvSpPr>
        <p:spPr>
          <a:xfrm>
            <a:off x="4143375" y="3495675"/>
            <a:ext cx="1190625" cy="1165225"/>
          </a:xfrm>
          <a:custGeom>
            <a:avLst/>
            <a:gdLst>
              <a:gd name="connsiteX0" fmla="*/ 20192 w 1190625"/>
              <a:gd name="connsiteY0" fmla="*/ 210693 h 1165225"/>
              <a:gd name="connsiteX1" fmla="*/ 212216 w 1190625"/>
              <a:gd name="connsiteY1" fmla="*/ 18669 h 1165225"/>
              <a:gd name="connsiteX2" fmla="*/ 1004696 w 1190625"/>
              <a:gd name="connsiteY2" fmla="*/ 18669 h 1165225"/>
              <a:gd name="connsiteX3" fmla="*/ 1196721 w 1190625"/>
              <a:gd name="connsiteY3" fmla="*/ 210693 h 1165225"/>
              <a:gd name="connsiteX4" fmla="*/ 1196721 w 1190625"/>
              <a:gd name="connsiteY4" fmla="*/ 978789 h 1165225"/>
              <a:gd name="connsiteX5" fmla="*/ 1004696 w 1190625"/>
              <a:gd name="connsiteY5" fmla="*/ 1170813 h 1165225"/>
              <a:gd name="connsiteX6" fmla="*/ 212216 w 1190625"/>
              <a:gd name="connsiteY6" fmla="*/ 1170813 h 1165225"/>
              <a:gd name="connsiteX7" fmla="*/ 20192 w 1190625"/>
              <a:gd name="connsiteY7" fmla="*/ 978789 h 1165225"/>
              <a:gd name="connsiteX8" fmla="*/ 20192 w 1190625"/>
              <a:gd name="connsiteY8" fmla="*/ 210693 h 1165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0625" h="1165225">
                <a:moveTo>
                  <a:pt x="20192" y="210693"/>
                </a:moveTo>
                <a:cubicBezTo>
                  <a:pt x="20192" y="104648"/>
                  <a:pt x="106171" y="18669"/>
                  <a:pt x="212216" y="18669"/>
                </a:cubicBezTo>
                <a:lnTo>
                  <a:pt x="1004696" y="18669"/>
                </a:lnTo>
                <a:cubicBezTo>
                  <a:pt x="1110741" y="18669"/>
                  <a:pt x="1196721" y="104648"/>
                  <a:pt x="1196721" y="210693"/>
                </a:cubicBezTo>
                <a:lnTo>
                  <a:pt x="1196721" y="978789"/>
                </a:lnTo>
                <a:cubicBezTo>
                  <a:pt x="1196721" y="1084834"/>
                  <a:pt x="1110741" y="1170813"/>
                  <a:pt x="1004696" y="1170813"/>
                </a:cubicBezTo>
                <a:lnTo>
                  <a:pt x="212216" y="1170813"/>
                </a:lnTo>
                <a:cubicBezTo>
                  <a:pt x="106171" y="1170813"/>
                  <a:pt x="20192" y="1084834"/>
                  <a:pt x="20192" y="978789"/>
                </a:cubicBezTo>
                <a:lnTo>
                  <a:pt x="20192" y="210693"/>
                </a:lnTo>
                <a:close/>
              </a:path>
            </a:pathLst>
          </a:custGeom>
          <a:solidFill>
            <a:srgbClr val="0000FF">
              <a:alpha val="0"/>
            </a:srgbClr>
          </a:solidFill>
          <a:ln w="9525">
            <a:solidFill>
              <a:srgbClr val="FE0000">
                <a:alpha val="100000"/>
              </a:srgb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7"/>
          <p:cNvSpPr txBox="1"/>
          <p:nvPr/>
        </p:nvSpPr>
        <p:spPr>
          <a:xfrm>
            <a:off x="91439" y="390982"/>
            <a:ext cx="8598250" cy="48627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95416"/>
              </a:lnSpc>
            </a:pP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passare</a:t>
            </a:r>
            <a:r>
              <a:rPr lang="en-US" altLang="zh-CN" sz="2600" spc="-6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da</a:t>
            </a:r>
            <a:r>
              <a:rPr lang="en-US" altLang="zh-CN" sz="2600" spc="-6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un</a:t>
            </a:r>
            <a:r>
              <a:rPr lang="en-US" altLang="zh-CN" sz="2600" spc="-6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modello</a:t>
            </a:r>
            <a:r>
              <a:rPr lang="en-US" altLang="zh-CN" sz="2600" spc="-6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gestionale</a:t>
            </a:r>
            <a:r>
              <a:rPr lang="en-US" altLang="zh-CN" sz="2600" spc="-6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dei</a:t>
            </a:r>
            <a:r>
              <a:rPr lang="en-US" altLang="zh-CN" sz="2600" spc="-6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documenti</a:t>
            </a:r>
            <a:r>
              <a:rPr lang="en-US" altLang="zh-CN" sz="2600" spc="-6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cartacei</a:t>
            </a:r>
            <a:r>
              <a:rPr lang="en-US" altLang="zh-CN" sz="2600" spc="-6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ad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t/>
            </a:r>
            <a:br/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un</a:t>
            </a:r>
            <a:r>
              <a:rPr lang="en-US" altLang="zh-CN" sz="2600" spc="-1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modello</a:t>
            </a:r>
            <a:r>
              <a:rPr lang="en-US" altLang="zh-CN" sz="2600" spc="-129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totalmente</a:t>
            </a:r>
            <a:r>
              <a:rPr lang="en-US" altLang="zh-CN" sz="2600" spc="-1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dirty="0">
                <a:solidFill>
                  <a:srgbClr val="2A428F"/>
                </a:solidFill>
                <a:latin typeface="Calibri"/>
                <a:ea typeface="Calibri"/>
              </a:rPr>
              <a:t>digitale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550"/>
              </a:lnSpc>
            </a:pPr>
            <a:endParaRPr lang="en-US" dirty="0" smtClean="0"/>
          </a:p>
          <a:p>
            <a:pPr marL="4384801" hangingPunct="0">
              <a:lnSpc>
                <a:spcPct val="95416"/>
              </a:lnSpc>
            </a:pPr>
            <a:r>
              <a:rPr lang="en-US" altLang="zh-CN" sz="2000" b="1" dirty="0">
                <a:solidFill>
                  <a:srgbClr val="FE0000"/>
                </a:solidFill>
                <a:latin typeface="Calibri"/>
                <a:ea typeface="Calibri"/>
              </a:rPr>
              <a:t>online</a:t>
            </a:r>
            <a:r>
              <a:rPr lang="en-US" altLang="zh-CN" sz="2000" b="1" spc="30" dirty="0">
                <a:solidFill>
                  <a:srgbClr val="FE0000"/>
                </a:solidFill>
                <a:latin typeface="Calibri"/>
                <a:cs typeface="Calibri"/>
              </a:rPr>
              <a:t>  </a:t>
            </a:r>
            <a:r>
              <a:rPr lang="en-US" altLang="zh-CN" sz="1900" dirty="0">
                <a:solidFill>
                  <a:srgbClr val="095192"/>
                </a:solidFill>
                <a:latin typeface="Calibri"/>
                <a:ea typeface="Calibri"/>
              </a:rPr>
              <a:t>=</a:t>
            </a:r>
            <a:r>
              <a:rPr lang="en-US" altLang="zh-CN" sz="1900" spc="40" dirty="0">
                <a:solidFill>
                  <a:srgbClr val="09519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095192"/>
                </a:solidFill>
                <a:latin typeface="Calibri"/>
                <a:ea typeface="Calibri"/>
              </a:rPr>
              <a:t>servizi</a:t>
            </a:r>
            <a:r>
              <a:rPr lang="en-US" altLang="zh-CN" sz="1900" spc="34" dirty="0">
                <a:solidFill>
                  <a:srgbClr val="095192"/>
                </a:solidFill>
                <a:latin typeface="Calibri"/>
                <a:cs typeface="Calibri"/>
              </a:rPr>
              <a:t> </a:t>
            </a:r>
            <a:r>
              <a:rPr lang="en-US" altLang="zh-CN" sz="2100" b="1" dirty="0">
                <a:solidFill>
                  <a:srgbClr val="095192"/>
                </a:solidFill>
                <a:latin typeface="Calibri"/>
                <a:ea typeface="Calibri"/>
              </a:rPr>
              <a:t>cloud</a:t>
            </a:r>
            <a:r>
              <a:rPr lang="en-US" altLang="zh-CN" sz="2100" b="1" spc="34" dirty="0">
                <a:solidFill>
                  <a:srgbClr val="09519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095192"/>
                </a:solidFill>
                <a:latin typeface="Calibri"/>
                <a:ea typeface="Calibri"/>
              </a:rPr>
              <a:t>forniti</a:t>
            </a:r>
            <a:r>
              <a:rPr lang="en-US" altLang="zh-CN" sz="1900" spc="30" dirty="0">
                <a:solidFill>
                  <a:srgbClr val="09519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095192"/>
                </a:solidFill>
                <a:latin typeface="Calibri"/>
                <a:ea typeface="Calibri"/>
              </a:rPr>
              <a:t>da</a:t>
            </a:r>
            <a:r>
              <a:rPr lang="en-US" altLang="zh-CN" sz="1900" spc="34" dirty="0">
                <a:solidFill>
                  <a:srgbClr val="09519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095192"/>
                </a:solidFill>
                <a:latin typeface="Calibri"/>
                <a:ea typeface="Calibri"/>
              </a:rPr>
              <a:t>software</a:t>
            </a:r>
            <a:r>
              <a:rPr lang="en-US" altLang="zh-CN" sz="1900" dirty="0">
                <a:solidFill>
                  <a:srgbClr val="09519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095192"/>
                </a:solidFill>
                <a:latin typeface="Calibri"/>
                <a:ea typeface="Calibri"/>
              </a:rPr>
              <a:t>house</a:t>
            </a:r>
            <a:r>
              <a:rPr lang="en-US" altLang="zh-CN" sz="1900" spc="-20" dirty="0">
                <a:solidFill>
                  <a:srgbClr val="095192"/>
                </a:solidFill>
                <a:latin typeface="Calibri"/>
                <a:cs typeface="Calibri"/>
              </a:rPr>
              <a:t>  </a:t>
            </a:r>
            <a:r>
              <a:rPr lang="en-US" altLang="zh-CN" sz="1900" dirty="0">
                <a:solidFill>
                  <a:srgbClr val="095192"/>
                </a:solidFill>
                <a:latin typeface="Calibri"/>
                <a:ea typeface="Calibri"/>
              </a:rPr>
              <a:t>che</a:t>
            </a:r>
            <a:r>
              <a:rPr lang="en-US" altLang="zh-CN" sz="1900" spc="-30" dirty="0">
                <a:solidFill>
                  <a:srgbClr val="09519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095192"/>
                </a:solidFill>
                <a:latin typeface="Calibri"/>
                <a:ea typeface="Calibri"/>
              </a:rPr>
              <a:t>rispettano</a:t>
            </a:r>
            <a:r>
              <a:rPr lang="en-US" altLang="zh-CN" sz="1900" spc="-25" dirty="0">
                <a:solidFill>
                  <a:srgbClr val="09519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095192"/>
                </a:solidFill>
                <a:latin typeface="Calibri"/>
                <a:ea typeface="Calibri"/>
              </a:rPr>
              <a:t>i</a:t>
            </a:r>
            <a:r>
              <a:rPr lang="en-US" altLang="zh-CN" sz="1900" spc="-25" dirty="0">
                <a:solidFill>
                  <a:srgbClr val="09519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095192"/>
                </a:solidFill>
                <a:latin typeface="Calibri"/>
                <a:ea typeface="Calibri"/>
              </a:rPr>
              <a:t>criteri</a:t>
            </a:r>
            <a:r>
              <a:rPr lang="en-US" altLang="zh-CN" sz="1900" spc="-30" dirty="0">
                <a:solidFill>
                  <a:srgbClr val="09519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095192"/>
                </a:solidFill>
                <a:latin typeface="Calibri"/>
                <a:ea typeface="Calibri"/>
              </a:rPr>
              <a:t>stabiliti</a:t>
            </a:r>
            <a:r>
              <a:rPr lang="en-US" altLang="zh-CN" sz="1900" dirty="0">
                <a:solidFill>
                  <a:srgbClr val="09519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095192"/>
                </a:solidFill>
                <a:latin typeface="Calibri"/>
                <a:ea typeface="Calibri"/>
              </a:rPr>
              <a:t>dall’Agenzia</a:t>
            </a:r>
            <a:r>
              <a:rPr lang="en-US" altLang="zh-CN" sz="1900" spc="-104" dirty="0">
                <a:solidFill>
                  <a:srgbClr val="09519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095192"/>
                </a:solidFill>
                <a:latin typeface="Calibri"/>
                <a:ea typeface="Calibri"/>
              </a:rPr>
              <a:t>per</a:t>
            </a:r>
            <a:r>
              <a:rPr lang="en-US" altLang="zh-CN" sz="1900" spc="-110" dirty="0">
                <a:solidFill>
                  <a:srgbClr val="09519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095192"/>
                </a:solidFill>
                <a:latin typeface="Calibri"/>
                <a:ea typeface="Calibri"/>
              </a:rPr>
              <a:t>l’Italia</a:t>
            </a:r>
            <a:r>
              <a:rPr lang="en-US" altLang="zh-CN" sz="1900" spc="-109" dirty="0">
                <a:solidFill>
                  <a:srgbClr val="095192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095192"/>
                </a:solidFill>
                <a:latin typeface="Calibri"/>
                <a:ea typeface="Calibri"/>
              </a:rPr>
              <a:t>Digitale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907780" cy="5638800"/>
          </a:xfrm>
          <a:prstGeom prst="rect">
            <a:avLst/>
          </a:prstGeom>
        </p:spPr>
      </p:pic>
      <p:sp>
        <p:nvSpPr>
          <p:cNvPr id="2" name="TextBox 91"/>
          <p:cNvSpPr txBox="1"/>
          <p:nvPr/>
        </p:nvSpPr>
        <p:spPr>
          <a:xfrm>
            <a:off x="248943" y="614886"/>
            <a:ext cx="8658837" cy="46867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189"/>
              </a:lnSpc>
            </a:pPr>
            <a:endParaRPr lang="en-US" dirty="0" smtClean="0"/>
          </a:p>
          <a:p>
            <a:pPr marL="0" indent="126187">
              <a:lnSpc>
                <a:spcPct val="100000"/>
              </a:lnSpc>
            </a:pPr>
            <a:r>
              <a:rPr lang="en-US" altLang="zh-CN" sz="2350" dirty="0">
                <a:solidFill>
                  <a:srgbClr val="006EBF"/>
                </a:solidFill>
                <a:latin typeface="Calibri"/>
                <a:ea typeface="Calibri"/>
              </a:rPr>
              <a:t>5-</a:t>
            </a:r>
            <a:r>
              <a:rPr lang="en-US" altLang="zh-CN" sz="2350" spc="-69" dirty="0">
                <a:solidFill>
                  <a:srgbClr val="006EBF"/>
                </a:solidFill>
                <a:latin typeface="Calibri"/>
                <a:cs typeface="Calibri"/>
              </a:rPr>
              <a:t> </a:t>
            </a:r>
            <a:r>
              <a:rPr lang="en-US" altLang="zh-CN" sz="2350" dirty="0">
                <a:solidFill>
                  <a:srgbClr val="006EBF"/>
                </a:solidFill>
                <a:latin typeface="Calibri"/>
                <a:ea typeface="Calibri"/>
              </a:rPr>
              <a:t>Le</a:t>
            </a:r>
            <a:r>
              <a:rPr lang="en-US" altLang="zh-CN" sz="2350" spc="-69" dirty="0">
                <a:solidFill>
                  <a:srgbClr val="006EBF"/>
                </a:solidFill>
                <a:latin typeface="Calibri"/>
                <a:cs typeface="Calibri"/>
              </a:rPr>
              <a:t> </a:t>
            </a:r>
            <a:r>
              <a:rPr lang="en-US" altLang="zh-CN" sz="2350" dirty="0">
                <a:solidFill>
                  <a:srgbClr val="006EBF"/>
                </a:solidFill>
                <a:latin typeface="Calibri"/>
                <a:ea typeface="Calibri"/>
              </a:rPr>
              <a:t>tappe</a:t>
            </a:r>
            <a:r>
              <a:rPr lang="en-US" altLang="zh-CN" sz="2350" spc="-69" dirty="0">
                <a:solidFill>
                  <a:srgbClr val="006EBF"/>
                </a:solidFill>
                <a:latin typeface="Calibri"/>
                <a:cs typeface="Calibri"/>
              </a:rPr>
              <a:t> </a:t>
            </a:r>
            <a:r>
              <a:rPr lang="en-US" altLang="zh-CN" sz="2350" dirty="0">
                <a:solidFill>
                  <a:srgbClr val="006EBF"/>
                </a:solidFill>
                <a:latin typeface="Calibri"/>
                <a:ea typeface="Calibri"/>
              </a:rPr>
              <a:t>per</a:t>
            </a:r>
            <a:r>
              <a:rPr lang="en-US" altLang="zh-CN" sz="2350" spc="-69" dirty="0">
                <a:solidFill>
                  <a:srgbClr val="006EBF"/>
                </a:solidFill>
                <a:latin typeface="Calibri"/>
                <a:cs typeface="Calibri"/>
              </a:rPr>
              <a:t> </a:t>
            </a:r>
            <a:r>
              <a:rPr lang="en-US" altLang="zh-CN" sz="2350" dirty="0">
                <a:solidFill>
                  <a:srgbClr val="006EBF"/>
                </a:solidFill>
                <a:latin typeface="Calibri"/>
                <a:ea typeface="Calibri"/>
              </a:rPr>
              <a:t>la</a:t>
            </a:r>
            <a:r>
              <a:rPr lang="en-US" altLang="zh-CN" sz="2350" spc="-75" dirty="0">
                <a:solidFill>
                  <a:srgbClr val="006EBF"/>
                </a:solidFill>
                <a:latin typeface="Calibri"/>
                <a:cs typeface="Calibri"/>
              </a:rPr>
              <a:t> </a:t>
            </a:r>
            <a:r>
              <a:rPr lang="en-US" altLang="zh-CN" sz="2350" dirty="0">
                <a:solidFill>
                  <a:srgbClr val="006EBF"/>
                </a:solidFill>
                <a:latin typeface="Calibri"/>
                <a:ea typeface="Calibri"/>
              </a:rPr>
              <a:t>dematerializzazione</a:t>
            </a:r>
            <a:r>
              <a:rPr lang="en-US" altLang="zh-CN" sz="2350" spc="-75" dirty="0">
                <a:solidFill>
                  <a:srgbClr val="006EBF"/>
                </a:solidFill>
                <a:latin typeface="Calibri"/>
                <a:cs typeface="Calibri"/>
              </a:rPr>
              <a:t> </a:t>
            </a:r>
            <a:r>
              <a:rPr lang="en-US" altLang="zh-CN" sz="2350" dirty="0">
                <a:solidFill>
                  <a:srgbClr val="006EBF"/>
                </a:solidFill>
                <a:latin typeface="Calibri"/>
                <a:ea typeface="Calibri"/>
              </a:rPr>
              <a:t>documentale</a:t>
            </a:r>
          </a:p>
          <a:p>
            <a:pPr>
              <a:lnSpc>
                <a:spcPts val="405"/>
              </a:lnSpc>
            </a:pPr>
            <a:endParaRPr lang="en-US" dirty="0" smtClean="0"/>
          </a:p>
          <a:p>
            <a:pPr indent="234695">
              <a:lnSpc>
                <a:spcPct val="100000"/>
              </a:lnSpc>
            </a:pPr>
            <a:r>
              <a:rPr lang="en-US" altLang="zh-CN" sz="2800" dirty="0">
                <a:solidFill>
                  <a:srgbClr val="2A428F"/>
                </a:solidFill>
                <a:ea typeface="Arial"/>
              </a:rPr>
              <a:t>●  </a:t>
            </a:r>
            <a:r>
              <a:rPr lang="en-US" altLang="zh-CN" sz="2800" dirty="0" err="1" smtClean="0">
                <a:solidFill>
                  <a:srgbClr val="2A428F"/>
                </a:solidFill>
                <a:ea typeface="Arial"/>
              </a:rPr>
              <a:t>Analisi</a:t>
            </a:r>
            <a:r>
              <a:rPr lang="en-US" altLang="zh-CN" sz="2800" dirty="0" smtClean="0">
                <a:solidFill>
                  <a:srgbClr val="2A428F"/>
                </a:solidFill>
                <a:ea typeface="Arial"/>
              </a:rPr>
              <a:t> </a:t>
            </a:r>
            <a:r>
              <a:rPr lang="en-US" altLang="zh-CN" sz="2800" dirty="0">
                <a:solidFill>
                  <a:srgbClr val="2A428F"/>
                </a:solidFill>
                <a:ea typeface="Arial"/>
              </a:rPr>
              <a:t>dei Processi amministrativi</a:t>
            </a:r>
          </a:p>
          <a:p>
            <a:pPr marL="0" indent="240792">
              <a:lnSpc>
                <a:spcPct val="80416"/>
              </a:lnSpc>
            </a:pPr>
            <a:r>
              <a:rPr lang="en-US" altLang="zh-CN" sz="2800" dirty="0">
                <a:solidFill>
                  <a:srgbClr val="2A428F"/>
                </a:solidFill>
                <a:ea typeface="Arial"/>
              </a:rPr>
              <a:t>●</a:t>
            </a:r>
            <a:r>
              <a:rPr lang="en-US" altLang="zh-CN" sz="2800" dirty="0">
                <a:solidFill>
                  <a:srgbClr val="2A428F"/>
                </a:solidFill>
                <a:cs typeface="Arial"/>
              </a:rPr>
              <a:t>  </a:t>
            </a:r>
            <a:r>
              <a:rPr lang="en-US" altLang="zh-CN" sz="2800" dirty="0" err="1" smtClean="0">
                <a:solidFill>
                  <a:srgbClr val="2A428F"/>
                </a:solidFill>
                <a:ea typeface="Calibri"/>
              </a:rPr>
              <a:t>Determinazioni</a:t>
            </a:r>
            <a:r>
              <a:rPr lang="en-US" altLang="zh-CN" sz="2800" dirty="0" smtClean="0">
                <a:solidFill>
                  <a:srgbClr val="2A428F"/>
                </a:solidFill>
                <a:cs typeface="Calibri"/>
              </a:rPr>
              <a:t> </a:t>
            </a:r>
            <a:r>
              <a:rPr lang="en-US" altLang="zh-CN" sz="2800" dirty="0">
                <a:solidFill>
                  <a:srgbClr val="2A428F"/>
                </a:solidFill>
                <a:ea typeface="Calibri"/>
              </a:rPr>
              <a:t>/</a:t>
            </a:r>
            <a:r>
              <a:rPr lang="en-US" altLang="zh-CN" sz="2800" dirty="0">
                <a:solidFill>
                  <a:srgbClr val="2A428F"/>
                </a:solidFill>
                <a:cs typeface="Calibri"/>
              </a:rPr>
              <a:t> </a:t>
            </a:r>
            <a:r>
              <a:rPr lang="en-US" altLang="zh-CN" sz="2800" dirty="0">
                <a:solidFill>
                  <a:srgbClr val="2A428F"/>
                </a:solidFill>
                <a:ea typeface="Calibri"/>
              </a:rPr>
              <a:t>Deliberazioni</a:t>
            </a:r>
            <a:r>
              <a:rPr lang="en-US" altLang="zh-CN" sz="2800" dirty="0">
                <a:solidFill>
                  <a:srgbClr val="2A428F"/>
                </a:solidFill>
                <a:cs typeface="Calibri"/>
              </a:rPr>
              <a:t> </a:t>
            </a:r>
            <a:r>
              <a:rPr lang="en-US" altLang="zh-CN" sz="2800" dirty="0">
                <a:solidFill>
                  <a:srgbClr val="2A428F"/>
                </a:solidFill>
                <a:ea typeface="Calibri"/>
              </a:rPr>
              <a:t>di</a:t>
            </a:r>
            <a:r>
              <a:rPr lang="en-US" altLang="zh-CN" sz="2800" spc="-175" dirty="0">
                <a:solidFill>
                  <a:srgbClr val="2A428F"/>
                </a:solidFill>
                <a:cs typeface="Calibri"/>
              </a:rPr>
              <a:t> </a:t>
            </a:r>
            <a:r>
              <a:rPr lang="en-US" altLang="zh-CN" sz="2800" dirty="0">
                <a:solidFill>
                  <a:srgbClr val="2A428F"/>
                </a:solidFill>
                <a:ea typeface="Calibri"/>
              </a:rPr>
              <a:t>Giunta/Consiglio</a:t>
            </a:r>
          </a:p>
          <a:p>
            <a:pPr marL="0" indent="583691">
              <a:lnSpc>
                <a:spcPct val="80833"/>
              </a:lnSpc>
            </a:pPr>
            <a:r>
              <a:rPr lang="en-US" altLang="zh-CN" sz="2800" spc="-10" dirty="0">
                <a:solidFill>
                  <a:srgbClr val="2A428F"/>
                </a:solidFill>
                <a:ea typeface="Calibri"/>
              </a:rPr>
              <a:t>digita</a:t>
            </a:r>
            <a:r>
              <a:rPr lang="en-US" altLang="zh-CN" sz="2800" spc="-5" dirty="0">
                <a:solidFill>
                  <a:srgbClr val="2A428F"/>
                </a:solidFill>
                <a:ea typeface="Calibri"/>
              </a:rPr>
              <a:t>li</a:t>
            </a:r>
          </a:p>
          <a:p>
            <a:pPr marL="0" indent="240792">
              <a:lnSpc>
                <a:spcPct val="80833"/>
              </a:lnSpc>
            </a:pPr>
            <a:r>
              <a:rPr lang="en-US" altLang="zh-CN" sz="2800" dirty="0">
                <a:solidFill>
                  <a:srgbClr val="2A428F"/>
                </a:solidFill>
                <a:ea typeface="Arial"/>
              </a:rPr>
              <a:t>●</a:t>
            </a:r>
            <a:r>
              <a:rPr lang="en-US" altLang="zh-CN" sz="2800" dirty="0">
                <a:solidFill>
                  <a:srgbClr val="2A428F"/>
                </a:solidFill>
                <a:cs typeface="Arial"/>
              </a:rPr>
              <a:t>  </a:t>
            </a:r>
            <a:r>
              <a:rPr lang="en-US" altLang="zh-CN" sz="2800" dirty="0" err="1" smtClean="0">
                <a:solidFill>
                  <a:srgbClr val="2A428F"/>
                </a:solidFill>
                <a:ea typeface="Calibri"/>
              </a:rPr>
              <a:t>Manuale</a:t>
            </a:r>
            <a:r>
              <a:rPr lang="en-US" altLang="zh-CN" sz="2800" dirty="0" smtClean="0">
                <a:solidFill>
                  <a:srgbClr val="2A428F"/>
                </a:solidFill>
                <a:cs typeface="Calibri"/>
              </a:rPr>
              <a:t> </a:t>
            </a:r>
            <a:r>
              <a:rPr lang="en-US" altLang="zh-CN" sz="2800" dirty="0">
                <a:solidFill>
                  <a:srgbClr val="2A428F"/>
                </a:solidFill>
                <a:ea typeface="Calibri"/>
              </a:rPr>
              <a:t>di</a:t>
            </a:r>
            <a:r>
              <a:rPr lang="en-US" altLang="zh-CN" sz="2800" dirty="0">
                <a:solidFill>
                  <a:srgbClr val="2A428F"/>
                </a:solidFill>
                <a:cs typeface="Calibri"/>
              </a:rPr>
              <a:t> </a:t>
            </a:r>
            <a:r>
              <a:rPr lang="en-US" altLang="zh-CN" sz="2800" dirty="0">
                <a:solidFill>
                  <a:srgbClr val="2A428F"/>
                </a:solidFill>
                <a:ea typeface="Calibri"/>
              </a:rPr>
              <a:t>Gestione</a:t>
            </a:r>
            <a:r>
              <a:rPr lang="en-US" altLang="zh-CN" sz="2800" dirty="0">
                <a:solidFill>
                  <a:srgbClr val="2A428F"/>
                </a:solidFill>
                <a:cs typeface="Calibri"/>
              </a:rPr>
              <a:t> </a:t>
            </a:r>
            <a:r>
              <a:rPr lang="en-US" altLang="zh-CN" sz="2800" dirty="0">
                <a:solidFill>
                  <a:srgbClr val="2A428F"/>
                </a:solidFill>
                <a:ea typeface="Calibri"/>
              </a:rPr>
              <a:t>del</a:t>
            </a:r>
            <a:r>
              <a:rPr lang="en-US" altLang="zh-CN" sz="2800" dirty="0">
                <a:solidFill>
                  <a:srgbClr val="2A428F"/>
                </a:solidFill>
                <a:cs typeface="Calibri"/>
              </a:rPr>
              <a:t> </a:t>
            </a:r>
            <a:r>
              <a:rPr lang="en-US" altLang="zh-CN" sz="2800" dirty="0">
                <a:solidFill>
                  <a:srgbClr val="2A428F"/>
                </a:solidFill>
                <a:ea typeface="Calibri"/>
              </a:rPr>
              <a:t>documento</a:t>
            </a:r>
            <a:r>
              <a:rPr lang="en-US" altLang="zh-CN" sz="2800" dirty="0">
                <a:solidFill>
                  <a:srgbClr val="2A428F"/>
                </a:solidFill>
                <a:cs typeface="Calibri"/>
              </a:rPr>
              <a:t> </a:t>
            </a:r>
            <a:r>
              <a:rPr lang="en-US" altLang="zh-CN" sz="2800" dirty="0">
                <a:solidFill>
                  <a:srgbClr val="2A428F"/>
                </a:solidFill>
                <a:ea typeface="Calibri"/>
              </a:rPr>
              <a:t>informatico</a:t>
            </a:r>
            <a:r>
              <a:rPr lang="en-US" altLang="zh-CN" sz="2800" dirty="0">
                <a:solidFill>
                  <a:srgbClr val="2A428F"/>
                </a:solidFill>
                <a:cs typeface="Calibri"/>
              </a:rPr>
              <a:t> </a:t>
            </a:r>
            <a:r>
              <a:rPr lang="en-US" altLang="zh-CN" sz="2800" dirty="0">
                <a:solidFill>
                  <a:srgbClr val="2A428F"/>
                </a:solidFill>
                <a:ea typeface="Calibri"/>
              </a:rPr>
              <a:t>e</a:t>
            </a:r>
            <a:r>
              <a:rPr lang="en-US" altLang="zh-CN" sz="2800" spc="-145" dirty="0">
                <a:solidFill>
                  <a:srgbClr val="2A428F"/>
                </a:solidFill>
                <a:cs typeface="Calibri"/>
              </a:rPr>
              <a:t> </a:t>
            </a:r>
            <a:r>
              <a:rPr lang="en-US" altLang="zh-CN" sz="2800" dirty="0">
                <a:solidFill>
                  <a:srgbClr val="2A428F"/>
                </a:solidFill>
                <a:ea typeface="Calibri"/>
              </a:rPr>
              <a:t>del</a:t>
            </a:r>
          </a:p>
          <a:p>
            <a:pPr marL="0" indent="583691">
              <a:lnSpc>
                <a:spcPct val="100000"/>
              </a:lnSpc>
            </a:pPr>
            <a:r>
              <a:rPr lang="en-US" altLang="zh-CN" sz="2800" spc="-15" dirty="0">
                <a:solidFill>
                  <a:srgbClr val="2A428F"/>
                </a:solidFill>
                <a:ea typeface="Calibri"/>
              </a:rPr>
              <a:t>protocollo</a:t>
            </a:r>
            <a:r>
              <a:rPr lang="en-US" altLang="zh-CN" sz="2800" spc="-5" dirty="0">
                <a:solidFill>
                  <a:srgbClr val="2A428F"/>
                </a:solidFill>
                <a:cs typeface="Calibri"/>
              </a:rPr>
              <a:t> </a:t>
            </a:r>
            <a:r>
              <a:rPr lang="en-US" altLang="zh-CN" sz="2800" spc="-10" dirty="0">
                <a:solidFill>
                  <a:srgbClr val="2A428F"/>
                </a:solidFill>
                <a:ea typeface="Calibri"/>
              </a:rPr>
              <a:t>informatico</a:t>
            </a:r>
          </a:p>
          <a:p>
            <a:pPr marL="0" indent="126187">
              <a:lnSpc>
                <a:spcPct val="100000"/>
              </a:lnSpc>
              <a:spcBef>
                <a:spcPts val="290"/>
              </a:spcBef>
            </a:pPr>
            <a:r>
              <a:rPr lang="en-US" altLang="zh-CN" sz="1900" b="1" dirty="0">
                <a:solidFill>
                  <a:srgbClr val="2A428F"/>
                </a:solidFill>
                <a:latin typeface="Calibri"/>
                <a:ea typeface="Calibri"/>
              </a:rPr>
              <a:t>Analisi</a:t>
            </a:r>
            <a:r>
              <a:rPr lang="en-US" altLang="zh-CN" sz="1900" b="1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b="1" dirty="0">
                <a:solidFill>
                  <a:srgbClr val="2A428F"/>
                </a:solidFill>
                <a:latin typeface="Calibri"/>
                <a:ea typeface="Calibri"/>
              </a:rPr>
              <a:t>dei</a:t>
            </a:r>
            <a:r>
              <a:rPr lang="en-US" altLang="zh-CN" sz="1900" b="1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b="1" dirty="0">
                <a:solidFill>
                  <a:srgbClr val="2A428F"/>
                </a:solidFill>
                <a:latin typeface="Calibri"/>
                <a:ea typeface="Calibri"/>
              </a:rPr>
              <a:t>procedimenti</a:t>
            </a:r>
            <a:r>
              <a:rPr lang="en-US" altLang="zh-CN" sz="1900" b="1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b="1" dirty="0">
                <a:solidFill>
                  <a:srgbClr val="2A428F"/>
                </a:solidFill>
                <a:latin typeface="Calibri"/>
                <a:ea typeface="Calibri"/>
              </a:rPr>
              <a:t>amministrativi</a:t>
            </a:r>
            <a:r>
              <a:rPr lang="en-US" altLang="zh-CN" sz="1900" b="1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b="1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1900" b="1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b="1" dirty="0">
                <a:solidFill>
                  <a:srgbClr val="2A428F"/>
                </a:solidFill>
                <a:latin typeface="Calibri"/>
                <a:ea typeface="Calibri"/>
              </a:rPr>
              <a:t>dei</a:t>
            </a:r>
            <a:r>
              <a:rPr lang="en-US" altLang="zh-CN" sz="1900" b="1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b="1" dirty="0">
                <a:solidFill>
                  <a:srgbClr val="2A428F"/>
                </a:solidFill>
                <a:latin typeface="Calibri"/>
                <a:ea typeface="Calibri"/>
              </a:rPr>
              <a:t>processi</a:t>
            </a:r>
          </a:p>
          <a:p>
            <a:pPr>
              <a:lnSpc>
                <a:spcPts val="430"/>
              </a:lnSpc>
            </a:pPr>
            <a:endParaRPr lang="en-US" dirty="0" smtClean="0"/>
          </a:p>
          <a:p>
            <a:pPr marL="126187" hangingPunct="0">
              <a:lnSpc>
                <a:spcPct val="95416"/>
              </a:lnSpc>
            </a:pP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Per</a:t>
            </a:r>
            <a:r>
              <a:rPr lang="en-US" altLang="zh-CN" sz="19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raggiungere</a:t>
            </a:r>
            <a:r>
              <a:rPr lang="en-US" altLang="zh-CN" sz="19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concretamente</a:t>
            </a:r>
            <a:r>
              <a:rPr lang="en-US" altLang="zh-CN" sz="19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gli</a:t>
            </a:r>
            <a:r>
              <a:rPr lang="en-US" altLang="zh-CN" sz="19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obiettivi</a:t>
            </a:r>
            <a:r>
              <a:rPr lang="en-US" altLang="zh-CN" sz="19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19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dematerializzazione</a:t>
            </a:r>
            <a:r>
              <a:rPr lang="en-US" altLang="zh-CN" sz="19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documentale,</a:t>
            </a:r>
            <a:r>
              <a:rPr lang="en-US" altLang="zh-CN" sz="1900" spc="-3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gli</a:t>
            </a:r>
            <a:r>
              <a:rPr lang="en-US" altLang="zh-CN" sz="1900" spc="-3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uffici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avviano</a:t>
            </a:r>
            <a:r>
              <a:rPr lang="en-US" altLang="zh-CN" sz="19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l’attività</a:t>
            </a:r>
            <a:r>
              <a:rPr lang="en-US" altLang="zh-CN" sz="19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19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analisi</a:t>
            </a:r>
            <a:r>
              <a:rPr lang="en-US" altLang="zh-CN" sz="19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dei</a:t>
            </a:r>
            <a:r>
              <a:rPr lang="en-US" altLang="zh-CN" sz="19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Procedimenti</a:t>
            </a:r>
            <a:r>
              <a:rPr lang="en-US" altLang="zh-CN" sz="19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amministrativi,</a:t>
            </a:r>
            <a:r>
              <a:rPr lang="en-US" altLang="zh-CN" sz="19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necessaria</a:t>
            </a:r>
            <a:r>
              <a:rPr lang="en-US" altLang="zh-CN" sz="1900" spc="-3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alla</a:t>
            </a:r>
            <a:r>
              <a:rPr lang="en-US" altLang="zh-CN" sz="1900" spc="-4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re-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ingegnerizzazione</a:t>
            </a:r>
            <a:r>
              <a:rPr lang="en-US" altLang="zh-CN" sz="19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dei</a:t>
            </a:r>
            <a:r>
              <a:rPr lang="en-US" altLang="zh-CN" sz="19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processi,</a:t>
            </a:r>
            <a:r>
              <a:rPr lang="en-US" altLang="zh-CN" sz="19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così</a:t>
            </a:r>
            <a:r>
              <a:rPr lang="en-US" altLang="zh-CN" sz="19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da</a:t>
            </a:r>
            <a:r>
              <a:rPr lang="en-US" altLang="zh-CN" sz="19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ottenere</a:t>
            </a:r>
            <a:r>
              <a:rPr lang="en-US" altLang="zh-CN" sz="19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livelli</a:t>
            </a:r>
            <a:r>
              <a:rPr lang="en-US" altLang="zh-CN" sz="19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semplificati</a:t>
            </a:r>
            <a:r>
              <a:rPr lang="en-US" altLang="zh-CN" sz="19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19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gestione</a:t>
            </a:r>
            <a:r>
              <a:rPr lang="en-US" altLang="zh-CN" sz="19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del</a:t>
            </a:r>
            <a:r>
              <a:rPr lang="en-US" altLang="zh-CN" sz="19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lavoro.</a:t>
            </a:r>
          </a:p>
          <a:p>
            <a:pPr marL="126187" hangingPunct="0">
              <a:lnSpc>
                <a:spcPct val="95416"/>
              </a:lnSpc>
              <a:spcBef>
                <a:spcPts val="325"/>
              </a:spcBef>
            </a:pP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L’Analisi</a:t>
            </a:r>
            <a:r>
              <a:rPr lang="en-US" altLang="zh-CN" sz="19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dei</a:t>
            </a:r>
            <a:r>
              <a:rPr lang="en-US" altLang="zh-CN" sz="19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Processi</a:t>
            </a:r>
            <a:r>
              <a:rPr lang="en-US" altLang="zh-CN" sz="19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è</a:t>
            </a:r>
            <a:r>
              <a:rPr lang="en-US" altLang="zh-CN" sz="19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comunque</a:t>
            </a:r>
            <a:r>
              <a:rPr lang="en-US" altLang="zh-CN" sz="19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rilevante</a:t>
            </a:r>
            <a:r>
              <a:rPr lang="en-US" altLang="zh-CN" sz="19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ai</a:t>
            </a:r>
            <a:r>
              <a:rPr lang="en-US" altLang="zh-CN" sz="19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fini</a:t>
            </a:r>
            <a:r>
              <a:rPr lang="en-US" altLang="zh-CN" sz="19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della</a:t>
            </a:r>
            <a:r>
              <a:rPr lang="en-US" altLang="zh-CN" sz="19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misurazione</a:t>
            </a:r>
            <a:r>
              <a:rPr lang="en-US" altLang="zh-CN" sz="19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e</a:t>
            </a:r>
            <a:r>
              <a:rPr lang="en-US" altLang="zh-CN" sz="1900" spc="-44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valutazione</a:t>
            </a:r>
            <a:r>
              <a:rPr lang="en-US" altLang="zh-CN" sz="1900" spc="-5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della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performance</a:t>
            </a:r>
            <a:r>
              <a:rPr lang="en-US" altLang="zh-CN" sz="19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organizzativa</a:t>
            </a:r>
            <a:r>
              <a:rPr lang="en-US" altLang="zh-CN" sz="19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ed</a:t>
            </a:r>
            <a:r>
              <a:rPr lang="en-US" altLang="zh-CN" sz="19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individuale</a:t>
            </a:r>
            <a:r>
              <a:rPr lang="en-US" altLang="zh-CN" sz="19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dei</a:t>
            </a:r>
            <a:r>
              <a:rPr lang="en-US" altLang="zh-CN" sz="1900" spc="-2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dirigenti</a:t>
            </a:r>
            <a:r>
              <a:rPr lang="en-US" altLang="zh-CN" sz="19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(</a:t>
            </a:r>
            <a:r>
              <a:rPr lang="en-US" altLang="zh-CN" sz="1900" dirty="0">
                <a:solidFill>
                  <a:srgbClr val="006EBF"/>
                </a:solidFill>
                <a:latin typeface="Calibri"/>
                <a:ea typeface="Calibri"/>
              </a:rPr>
              <a:t>art.12,</a:t>
            </a:r>
            <a:r>
              <a:rPr lang="en-US" altLang="zh-CN" sz="1900" spc="-25" dirty="0">
                <a:solidFill>
                  <a:srgbClr val="006EB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006EBF"/>
                </a:solidFill>
                <a:latin typeface="Calibri"/>
                <a:ea typeface="Calibri"/>
              </a:rPr>
              <a:t>comma</a:t>
            </a:r>
            <a:r>
              <a:rPr lang="en-US" altLang="zh-CN" sz="1900" spc="-20" dirty="0">
                <a:solidFill>
                  <a:srgbClr val="006EB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006EBF"/>
                </a:solidFill>
                <a:latin typeface="Calibri"/>
                <a:ea typeface="Calibri"/>
              </a:rPr>
              <a:t>1-ter</a:t>
            </a:r>
            <a:r>
              <a:rPr lang="en-US" altLang="zh-CN" sz="1900" spc="-25" dirty="0">
                <a:solidFill>
                  <a:srgbClr val="006EB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006EBF"/>
                </a:solidFill>
                <a:latin typeface="Calibri"/>
                <a:ea typeface="Calibri"/>
              </a:rPr>
              <a:t>del</a:t>
            </a:r>
            <a:r>
              <a:rPr lang="en-US" altLang="zh-CN" sz="1900" spc="-25" dirty="0">
                <a:solidFill>
                  <a:srgbClr val="006EBF"/>
                </a:solidFill>
                <a:latin typeface="Calibri"/>
                <a:cs typeface="Calibri"/>
              </a:rPr>
              <a:t> </a:t>
            </a:r>
            <a:r>
              <a:rPr lang="en-US" altLang="zh-CN" sz="1900" dirty="0">
                <a:solidFill>
                  <a:srgbClr val="006EBF"/>
                </a:solidFill>
                <a:latin typeface="Calibri"/>
                <a:ea typeface="Calibri"/>
              </a:rPr>
              <a:t>CAD</a:t>
            </a:r>
            <a:r>
              <a:rPr lang="en-US" altLang="zh-CN" sz="1900" dirty="0">
                <a:solidFill>
                  <a:srgbClr val="2A428F"/>
                </a:solidFill>
                <a:latin typeface="Calibri"/>
                <a:ea typeface="Calibri"/>
              </a:rPr>
              <a:t>).</a:t>
            </a:r>
          </a:p>
        </p:txBody>
      </p:sp>
      <p:sp>
        <p:nvSpPr>
          <p:cNvPr id="3" name="Rettangolo 2"/>
          <p:cNvSpPr/>
          <p:nvPr/>
        </p:nvSpPr>
        <p:spPr>
          <a:xfrm>
            <a:off x="119271" y="159026"/>
            <a:ext cx="9024730" cy="32699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800" dirty="0" err="1">
                <a:solidFill>
                  <a:srgbClr val="2A428F"/>
                </a:solidFill>
                <a:ea typeface="Calibri"/>
              </a:rPr>
              <a:t>capitolo</a:t>
            </a:r>
            <a:r>
              <a:rPr lang="en-US" altLang="zh-CN" sz="2800" spc="-170" dirty="0">
                <a:solidFill>
                  <a:srgbClr val="2A428F"/>
                </a:solidFill>
                <a:cs typeface="Calibri"/>
              </a:rPr>
              <a:t> </a:t>
            </a:r>
            <a:r>
              <a:rPr lang="en-US" altLang="zh-CN" sz="2800" dirty="0">
                <a:solidFill>
                  <a:srgbClr val="2A428F"/>
                </a:solidFill>
                <a:ea typeface="Calibri"/>
              </a:rPr>
              <a:t>5</a:t>
            </a:r>
            <a:r>
              <a:rPr lang="en-US" altLang="zh-CN" sz="2800" spc="-175" dirty="0">
                <a:solidFill>
                  <a:srgbClr val="2A428F"/>
                </a:solidFill>
                <a:cs typeface="Calibri"/>
              </a:rPr>
              <a:t> </a:t>
            </a:r>
            <a:r>
              <a:rPr lang="en-US" altLang="zh-CN" sz="2800" dirty="0">
                <a:solidFill>
                  <a:srgbClr val="2A428F"/>
                </a:solidFill>
                <a:ea typeface="Calibri"/>
              </a:rPr>
              <a:t>del</a:t>
            </a:r>
            <a:r>
              <a:rPr lang="en-US" altLang="zh-CN" sz="2800" spc="-175" dirty="0">
                <a:solidFill>
                  <a:srgbClr val="2A428F"/>
                </a:solidFill>
                <a:cs typeface="Calibri"/>
              </a:rPr>
              <a:t> </a:t>
            </a:r>
            <a:r>
              <a:rPr lang="en-US" altLang="zh-CN" sz="2800" dirty="0">
                <a:solidFill>
                  <a:srgbClr val="2A428F"/>
                </a:solidFill>
                <a:ea typeface="Calibri"/>
              </a:rPr>
              <a:t>Piano</a:t>
            </a:r>
            <a:r>
              <a:rPr lang="en-US" altLang="zh-CN" sz="2800" spc="-175" dirty="0">
                <a:solidFill>
                  <a:srgbClr val="2A428F"/>
                </a:solidFill>
                <a:cs typeface="Calibri"/>
              </a:rPr>
              <a:t> </a:t>
            </a:r>
            <a:r>
              <a:rPr lang="en-US" altLang="zh-CN" sz="2800" dirty="0" err="1">
                <a:solidFill>
                  <a:srgbClr val="2A428F"/>
                </a:solidFill>
                <a:ea typeface="Calibri"/>
              </a:rPr>
              <a:t>triennale</a:t>
            </a:r>
            <a:r>
              <a:rPr lang="en-US" altLang="zh-CN" sz="2800" spc="-175" dirty="0">
                <a:solidFill>
                  <a:srgbClr val="2A428F"/>
                </a:solidFill>
                <a:cs typeface="Calibri"/>
              </a:rPr>
              <a:t> </a:t>
            </a:r>
            <a:r>
              <a:rPr lang="en-US" altLang="zh-CN" sz="2800" dirty="0" err="1">
                <a:solidFill>
                  <a:srgbClr val="2A428F"/>
                </a:solidFill>
                <a:ea typeface="Calibri"/>
              </a:rPr>
              <a:t>Informatica</a:t>
            </a:r>
            <a:r>
              <a:rPr lang="en-US" altLang="zh-CN" sz="2800" spc="-179" dirty="0">
                <a:solidFill>
                  <a:srgbClr val="2A428F"/>
                </a:solidFill>
                <a:cs typeface="Calibri"/>
              </a:rPr>
              <a:t> </a:t>
            </a:r>
            <a:r>
              <a:rPr lang="en-US" altLang="zh-CN" sz="2800" dirty="0" err="1">
                <a:solidFill>
                  <a:srgbClr val="2A428F"/>
                </a:solidFill>
                <a:ea typeface="Calibri"/>
              </a:rPr>
              <a:t>dell’Ente</a:t>
            </a:r>
            <a:endParaRPr lang="en-US" altLang="zh-CN" sz="2800" dirty="0">
              <a:solidFill>
                <a:srgbClr val="2A428F"/>
              </a:solidFill>
              <a:ea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Freeform 92"/>
          <p:cNvSpPr/>
          <p:nvPr/>
        </p:nvSpPr>
        <p:spPr>
          <a:xfrm>
            <a:off x="0" y="0"/>
            <a:ext cx="9144000" cy="6857999"/>
          </a:xfrm>
          <a:custGeom>
            <a:avLst/>
            <a:gdLst>
              <a:gd name="connsiteX0" fmla="*/ 0 w 9144000"/>
              <a:gd name="connsiteY0" fmla="*/ 6857999 h 6857999"/>
              <a:gd name="connsiteX1" fmla="*/ 9144000 w 9144000"/>
              <a:gd name="connsiteY1" fmla="*/ 6857999 h 6857999"/>
              <a:gd name="connsiteX2" fmla="*/ 9144000 w 9144000"/>
              <a:gd name="connsiteY2" fmla="*/ 0 h 6857999"/>
              <a:gd name="connsiteX3" fmla="*/ 0 w 9144000"/>
              <a:gd name="connsiteY3" fmla="*/ 0 h 6857999"/>
              <a:gd name="connsiteX4" fmla="*/ 0 w 9144000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6857999">
                <a:moveTo>
                  <a:pt x="0" y="6857999"/>
                </a:moveTo>
                <a:lnTo>
                  <a:pt x="9144000" y="6857999"/>
                </a:lnTo>
                <a:lnTo>
                  <a:pt x="9144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CFA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4" name="Picture 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" y="160020"/>
            <a:ext cx="8649694" cy="6332220"/>
          </a:xfrm>
          <a:prstGeom prst="rect">
            <a:avLst/>
          </a:prstGeom>
        </p:spPr>
      </p:pic>
      <p:sp>
        <p:nvSpPr>
          <p:cNvPr id="3" name="Rettangolo 2"/>
          <p:cNvSpPr/>
          <p:nvPr/>
        </p:nvSpPr>
        <p:spPr>
          <a:xfrm>
            <a:off x="649357" y="5685183"/>
            <a:ext cx="2080591" cy="807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Rettangolo 3"/>
          <p:cNvSpPr/>
          <p:nvPr/>
        </p:nvSpPr>
        <p:spPr>
          <a:xfrm>
            <a:off x="7673009" y="5685183"/>
            <a:ext cx="914400" cy="689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4"/>
          <p:cNvSpPr/>
          <p:nvPr/>
        </p:nvSpPr>
        <p:spPr>
          <a:xfrm>
            <a:off x="344555" y="340691"/>
            <a:ext cx="8454887" cy="7421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extBox 94"/>
          <p:cNvSpPr txBox="1"/>
          <p:nvPr/>
        </p:nvSpPr>
        <p:spPr>
          <a:xfrm>
            <a:off x="491847" y="374926"/>
            <a:ext cx="7726959" cy="7078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4600" b="1" dirty="0" smtClean="0">
                <a:solidFill>
                  <a:srgbClr val="2A428F"/>
                </a:solidFill>
                <a:latin typeface="Calibri"/>
                <a:ea typeface="Calibri"/>
              </a:rPr>
              <a:t>Schema</a:t>
            </a:r>
            <a:r>
              <a:rPr lang="en-US" altLang="zh-CN" sz="4600" b="1" spc="-189" dirty="0" smtClean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4600" b="1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4600" b="1" spc="-189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4600" b="1" dirty="0" err="1" smtClean="0">
                <a:solidFill>
                  <a:srgbClr val="2A428F"/>
                </a:solidFill>
                <a:latin typeface="Calibri"/>
                <a:ea typeface="Calibri"/>
              </a:rPr>
              <a:t>processo</a:t>
            </a:r>
            <a:endParaRPr lang="en-US" altLang="zh-CN" sz="4600" b="1" dirty="0">
              <a:solidFill>
                <a:srgbClr val="2A428F"/>
              </a:solidFill>
              <a:latin typeface="Calibri"/>
              <a:ea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Freeform 95"/>
          <p:cNvSpPr/>
          <p:nvPr/>
        </p:nvSpPr>
        <p:spPr>
          <a:xfrm>
            <a:off x="0" y="0"/>
            <a:ext cx="9144000" cy="6857999"/>
          </a:xfrm>
          <a:custGeom>
            <a:avLst/>
            <a:gdLst>
              <a:gd name="connsiteX0" fmla="*/ 0 w 9144000"/>
              <a:gd name="connsiteY0" fmla="*/ 6857999 h 6857999"/>
              <a:gd name="connsiteX1" fmla="*/ 9144000 w 9144000"/>
              <a:gd name="connsiteY1" fmla="*/ 6857999 h 6857999"/>
              <a:gd name="connsiteX2" fmla="*/ 9144000 w 9144000"/>
              <a:gd name="connsiteY2" fmla="*/ 0 h 6857999"/>
              <a:gd name="connsiteX3" fmla="*/ 0 w 9144000"/>
              <a:gd name="connsiteY3" fmla="*/ 0 h 6857999"/>
              <a:gd name="connsiteX4" fmla="*/ 0 w 9144000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6857999">
                <a:moveTo>
                  <a:pt x="0" y="6857999"/>
                </a:moveTo>
                <a:lnTo>
                  <a:pt x="9144000" y="6857999"/>
                </a:lnTo>
                <a:lnTo>
                  <a:pt x="9144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CFA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7" name="Picture 9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60"/>
            <a:ext cx="9144000" cy="6164580"/>
          </a:xfrm>
          <a:prstGeom prst="rect">
            <a:avLst/>
          </a:prstGeom>
        </p:spPr>
      </p:pic>
      <p:sp>
        <p:nvSpPr>
          <p:cNvPr id="2" name="TextBox 97"/>
          <p:cNvSpPr txBox="1"/>
          <p:nvPr/>
        </p:nvSpPr>
        <p:spPr>
          <a:xfrm>
            <a:off x="304800" y="311404"/>
            <a:ext cx="8728698" cy="57141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4000" dirty="0">
                <a:solidFill>
                  <a:srgbClr val="2A428F"/>
                </a:solidFill>
                <a:latin typeface="Calibri"/>
                <a:ea typeface="Calibri"/>
              </a:rPr>
              <a:t>Analisi</a:t>
            </a:r>
            <a:r>
              <a:rPr lang="en-US" altLang="zh-CN" sz="4000" spc="-18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4000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4000" spc="-189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4000" dirty="0">
                <a:solidFill>
                  <a:srgbClr val="2A428F"/>
                </a:solidFill>
                <a:latin typeface="Calibri"/>
                <a:ea typeface="Calibri"/>
              </a:rPr>
              <a:t>un</a:t>
            </a:r>
            <a:r>
              <a:rPr lang="en-US" altLang="zh-CN" sz="4000" spc="-189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4000" dirty="0" err="1" smtClean="0">
                <a:solidFill>
                  <a:srgbClr val="2A428F"/>
                </a:solidFill>
                <a:latin typeface="Calibri"/>
                <a:ea typeface="Calibri"/>
              </a:rPr>
              <a:t>processo</a:t>
            </a: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775"/>
              </a:lnSpc>
            </a:pPr>
            <a:endParaRPr lang="en-US" dirty="0" smtClean="0"/>
          </a:p>
          <a:p>
            <a:pPr marL="6368795" hangingPunct="0">
              <a:lnSpc>
                <a:spcPct val="114583"/>
              </a:lnSpc>
            </a:pP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  <a:hlinkClick r:id="rId3"/>
              </a:rPr>
              <a:t>Linee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  <a:hlinkClick r:id=""/>
              </a:rPr>
              <a:t>guida</a:t>
            </a:r>
            <a:r>
              <a:rPr lang="en-US" altLang="zh-CN" sz="1800" b="1" spc="-10" dirty="0">
                <a:solidFill>
                  <a:srgbClr val="4C5354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  <a:hlinkClick r:id=""/>
              </a:rPr>
              <a:t>su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  <a:hlinkClick r:id=""/>
              </a:rPr>
              <a:t>acquisizione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  <a:hlinkClick r:id=""/>
              </a:rPr>
              <a:t>e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  <a:hlinkClick r:id=""/>
              </a:rPr>
              <a:t>riuso</a:t>
            </a:r>
            <a:r>
              <a:rPr lang="en-US" altLang="zh-CN" sz="1800" b="1" spc="-89" dirty="0">
                <a:solidFill>
                  <a:srgbClr val="4C5354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</a:rPr>
              <a:t>di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  <a:hlinkClick r:id=""/>
              </a:rPr>
              <a:t>software</a:t>
            </a:r>
            <a:r>
              <a:rPr lang="en-US" altLang="zh-CN" sz="1800" b="1" spc="-55" dirty="0">
                <a:solidFill>
                  <a:srgbClr val="4C5354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  <a:hlinkClick r:id=""/>
              </a:rPr>
              <a:t>per</a:t>
            </a:r>
            <a:r>
              <a:rPr lang="en-US" altLang="zh-CN" sz="1800" b="1" spc="-55" dirty="0">
                <a:solidFill>
                  <a:srgbClr val="4C5354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  <a:hlinkClick r:id=""/>
              </a:rPr>
              <a:t>le</a:t>
            </a:r>
            <a:r>
              <a:rPr lang="en-US" altLang="zh-CN" sz="1800" b="1" spc="-60" dirty="0">
                <a:solidFill>
                  <a:srgbClr val="4C5354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  <a:hlinkClick r:id=""/>
              </a:rPr>
              <a:t>PA</a:t>
            </a:r>
          </a:p>
          <a:p>
            <a:pPr>
              <a:lnSpc>
                <a:spcPts val="1225"/>
              </a:lnSpc>
            </a:pPr>
            <a:endParaRPr lang="en-US" dirty="0" smtClean="0"/>
          </a:p>
          <a:p>
            <a:pPr marL="6368795" hangingPunct="0">
              <a:lnSpc>
                <a:spcPct val="114999"/>
              </a:lnSpc>
            </a:pP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  <a:hlinkClick r:id="rId4"/>
              </a:rPr>
              <a:t>Catalogo</a:t>
            </a:r>
            <a:r>
              <a:rPr lang="en-US" altLang="zh-CN" sz="1800" b="1" spc="-69" dirty="0">
                <a:solidFill>
                  <a:srgbClr val="4C5354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  <a:hlinkClick r:id="rId3"/>
              </a:rPr>
              <a:t>del</a:t>
            </a:r>
            <a:r>
              <a:rPr lang="en-US" altLang="zh-CN" sz="1800" b="1" spc="-80" dirty="0">
                <a:solidFill>
                  <a:srgbClr val="4C5354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</a:rPr>
              <a:t>software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  <a:hlinkClick r:id="rId3"/>
              </a:rPr>
              <a:t>open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  <a:hlinkClick r:id="rId3"/>
              </a:rPr>
              <a:t>source</a:t>
            </a:r>
            <a:r>
              <a:rPr lang="en-US" altLang="zh-CN" sz="1800" b="1" spc="-15" dirty="0">
                <a:solidFill>
                  <a:srgbClr val="4C5354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  <a:hlinkClick r:id="rId3"/>
              </a:rPr>
              <a:t>a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  <a:hlinkClick r:id="rId3"/>
              </a:rPr>
              <a:t>disposizione</a:t>
            </a:r>
            <a:r>
              <a:rPr lang="en-US" altLang="zh-CN" sz="1800" b="1" spc="-85" dirty="0">
                <a:solidFill>
                  <a:srgbClr val="4C5354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  <a:hlinkClick r:id="rId3"/>
              </a:rPr>
              <a:t>della</a:t>
            </a:r>
            <a:r>
              <a:rPr lang="en-US" altLang="zh-CN" sz="1800" b="1" spc="-94" dirty="0">
                <a:solidFill>
                  <a:srgbClr val="4C5354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  <a:hlinkClick r:id="rId3"/>
              </a:rPr>
              <a:t>PA</a:t>
            </a:r>
          </a:p>
          <a:p>
            <a:pPr>
              <a:lnSpc>
                <a:spcPts val="1200"/>
              </a:lnSpc>
            </a:pPr>
            <a:endParaRPr lang="en-US" dirty="0" smtClean="0"/>
          </a:p>
          <a:p>
            <a:pPr marL="6368795" hangingPunct="0">
              <a:lnSpc>
                <a:spcPct val="114583"/>
              </a:lnSpc>
            </a:pP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  <a:hlinkClick r:id="rId5"/>
              </a:rPr>
              <a:t>Linee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  <a:hlinkClick r:id="rId4"/>
              </a:rPr>
              <a:t>guida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  <a:hlinkClick r:id="rId4"/>
              </a:rPr>
              <a:t>per</a:t>
            </a:r>
            <a:r>
              <a:rPr lang="en-US" altLang="zh-CN" sz="1800" b="1" spc="-20" dirty="0">
                <a:solidFill>
                  <a:srgbClr val="4C5354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  <a:hlinkClick r:id="rId4"/>
              </a:rPr>
              <a:t>lo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  <a:hlinkClick r:id="rId4"/>
              </a:rPr>
              <a:t>sviluppo</a:t>
            </a:r>
            <a:r>
              <a:rPr lang="en-US" altLang="zh-CN" sz="1800" b="1" spc="-64" dirty="0">
                <a:solidFill>
                  <a:srgbClr val="4C5354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  <a:hlinkClick r:id="rId4"/>
              </a:rPr>
              <a:t>del</a:t>
            </a:r>
            <a:r>
              <a:rPr lang="en-US" altLang="zh-CN" sz="1800" b="1" spc="-75" dirty="0">
                <a:solidFill>
                  <a:srgbClr val="4C5354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</a:rPr>
              <a:t>software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  <a:hlinkClick r:id="rId4"/>
              </a:rPr>
              <a:t>sicuro</a:t>
            </a:r>
            <a:r>
              <a:rPr lang="en-US" altLang="zh-CN" sz="1800" b="1" spc="-85" dirty="0">
                <a:solidFill>
                  <a:srgbClr val="4C5354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  <a:hlinkClick r:id="rId4"/>
              </a:rPr>
              <a:t>nella</a:t>
            </a:r>
            <a:r>
              <a:rPr lang="en-US" altLang="zh-CN" sz="1800" b="1" spc="-94" dirty="0">
                <a:solidFill>
                  <a:srgbClr val="4C5354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  <a:hlinkClick r:id="rId4"/>
              </a:rPr>
              <a:t>PA</a:t>
            </a:r>
          </a:p>
          <a:p>
            <a:pPr>
              <a:lnSpc>
                <a:spcPts val="1219"/>
              </a:lnSpc>
            </a:pPr>
            <a:endParaRPr lang="en-US" dirty="0" smtClean="0"/>
          </a:p>
          <a:p>
            <a:pPr marL="6368795" hangingPunct="0">
              <a:lnSpc>
                <a:spcPct val="114999"/>
              </a:lnSpc>
            </a:pP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  <a:hlinkClick r:id="rId6"/>
              </a:rPr>
              <a:t>Linee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  <a:hlinkClick r:id="rId5"/>
              </a:rPr>
              <a:t>guida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  <a:hlinkClick r:id="rId5"/>
              </a:rPr>
              <a:t>del</a:t>
            </a:r>
            <a:r>
              <a:rPr lang="en-US" altLang="zh-CN" sz="1800" b="1" spc="-30" dirty="0">
                <a:solidFill>
                  <a:srgbClr val="4C5354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  <a:hlinkClick r:id="rId5"/>
              </a:rPr>
              <a:t>modello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  <a:hlinkClick r:id="rId5"/>
              </a:rPr>
              <a:t>di</a:t>
            </a:r>
            <a:r>
              <a:rPr lang="en-US" altLang="zh-CN" sz="1800" b="1" spc="-64" dirty="0">
                <a:solidFill>
                  <a:srgbClr val="4C5354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  <a:hlinkClick r:id="rId5"/>
              </a:rPr>
              <a:t>interoperabilità</a:t>
            </a:r>
            <a:r>
              <a:rPr lang="en-US" altLang="zh-CN" sz="1800" b="1" spc="-64" dirty="0">
                <a:solidFill>
                  <a:srgbClr val="4C5354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  <a:hlinkClick r:id="rId5"/>
              </a:rPr>
              <a:t>per</a:t>
            </a:r>
            <a:r>
              <a:rPr lang="en-US" altLang="zh-CN" sz="1800" b="1" spc="-69" dirty="0">
                <a:solidFill>
                  <a:srgbClr val="4C5354"/>
                </a:solidFill>
                <a:latin typeface="Calibri"/>
                <a:cs typeface="Calibri"/>
              </a:rPr>
              <a:t> 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ea typeface="Calibri"/>
              </a:rPr>
              <a:t>la</a:t>
            </a:r>
            <a:r>
              <a:rPr lang="en-US" altLang="zh-CN" sz="1800" b="1" dirty="0">
                <a:solidFill>
                  <a:srgbClr val="4C5354"/>
                </a:solidFill>
                <a:latin typeface="Calibri"/>
                <a:cs typeface="Calibri"/>
              </a:rPr>
              <a:t> </a:t>
            </a:r>
            <a:r>
              <a:rPr lang="en-US" altLang="zh-CN" sz="1800" b="1" spc="-65" dirty="0">
                <a:solidFill>
                  <a:srgbClr val="4C5354"/>
                </a:solidFill>
                <a:latin typeface="Calibri"/>
                <a:ea typeface="Calibri"/>
                <a:hlinkClick r:id="rId5"/>
              </a:rPr>
              <a:t>PA</a:t>
            </a:r>
          </a:p>
        </p:txBody>
      </p:sp>
      <p:sp>
        <p:nvSpPr>
          <p:cNvPr id="3" name="Rettangolo 2"/>
          <p:cNvSpPr/>
          <p:nvPr/>
        </p:nvSpPr>
        <p:spPr>
          <a:xfrm>
            <a:off x="4669149" y="311404"/>
            <a:ext cx="2672555" cy="6427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Rettangolo 3"/>
          <p:cNvSpPr/>
          <p:nvPr/>
        </p:nvSpPr>
        <p:spPr>
          <a:xfrm>
            <a:off x="5671930" y="5181600"/>
            <a:ext cx="768627" cy="6758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4"/>
          <p:cNvSpPr/>
          <p:nvPr/>
        </p:nvSpPr>
        <p:spPr>
          <a:xfrm>
            <a:off x="304800" y="5519530"/>
            <a:ext cx="1391478" cy="337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Freeform 98"/>
          <p:cNvSpPr/>
          <p:nvPr/>
        </p:nvSpPr>
        <p:spPr>
          <a:xfrm>
            <a:off x="0" y="0"/>
            <a:ext cx="9144000" cy="6857999"/>
          </a:xfrm>
          <a:custGeom>
            <a:avLst/>
            <a:gdLst>
              <a:gd name="connsiteX0" fmla="*/ 0 w 9144000"/>
              <a:gd name="connsiteY0" fmla="*/ 6857999 h 6857999"/>
              <a:gd name="connsiteX1" fmla="*/ 9144000 w 9144000"/>
              <a:gd name="connsiteY1" fmla="*/ 6857999 h 6857999"/>
              <a:gd name="connsiteX2" fmla="*/ 9144000 w 9144000"/>
              <a:gd name="connsiteY2" fmla="*/ 0 h 6857999"/>
              <a:gd name="connsiteX3" fmla="*/ 0 w 9144000"/>
              <a:gd name="connsiteY3" fmla="*/ 0 h 6857999"/>
              <a:gd name="connsiteX4" fmla="*/ 0 w 9144000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6857999">
                <a:moveTo>
                  <a:pt x="0" y="6857999"/>
                </a:moveTo>
                <a:lnTo>
                  <a:pt x="9144000" y="6857999"/>
                </a:lnTo>
                <a:lnTo>
                  <a:pt x="9144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CFA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0" name="Picture 1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450580" cy="6377940"/>
          </a:xfrm>
          <a:prstGeom prst="rect">
            <a:avLst/>
          </a:prstGeom>
        </p:spPr>
      </p:pic>
      <p:sp>
        <p:nvSpPr>
          <p:cNvPr id="2" name="TextBox 100"/>
          <p:cNvSpPr txBox="1"/>
          <p:nvPr/>
        </p:nvSpPr>
        <p:spPr>
          <a:xfrm>
            <a:off x="267919" y="249732"/>
            <a:ext cx="7929655" cy="6096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4000" spc="-40" dirty="0">
                <a:solidFill>
                  <a:srgbClr val="2A428F"/>
                </a:solidFill>
                <a:latin typeface="Calibri"/>
                <a:ea typeface="Calibri"/>
              </a:rPr>
              <a:t>Mappatura</a:t>
            </a:r>
            <a:r>
              <a:rPr lang="en-US" altLang="zh-CN" sz="4000" spc="-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4000" spc="-40" dirty="0">
                <a:solidFill>
                  <a:srgbClr val="2A428F"/>
                </a:solidFill>
                <a:latin typeface="Calibri"/>
                <a:ea typeface="Calibri"/>
              </a:rPr>
              <a:t>dei</a:t>
            </a:r>
            <a:r>
              <a:rPr lang="en-US" altLang="zh-CN" sz="4000" spc="-1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4000" spc="-35" dirty="0">
                <a:solidFill>
                  <a:srgbClr val="2A428F"/>
                </a:solidFill>
                <a:latin typeface="Calibri"/>
                <a:ea typeface="Calibri"/>
              </a:rPr>
              <a:t>processi</a:t>
            </a:r>
            <a:r>
              <a:rPr lang="en-US" altLang="zh-CN" sz="40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4000" spc="-35" dirty="0">
                <a:solidFill>
                  <a:srgbClr val="2A428F"/>
                </a:solidFill>
                <a:latin typeface="Calibri"/>
                <a:ea typeface="Calibri"/>
              </a:rPr>
              <a:t>amministrativi</a:t>
            </a:r>
          </a:p>
        </p:txBody>
      </p:sp>
      <p:sp>
        <p:nvSpPr>
          <p:cNvPr id="3" name="Rettangolo 2"/>
          <p:cNvSpPr/>
          <p:nvPr/>
        </p:nvSpPr>
        <p:spPr>
          <a:xfrm>
            <a:off x="384313" y="5724939"/>
            <a:ext cx="2067339" cy="653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Rettangolo 3"/>
          <p:cNvSpPr/>
          <p:nvPr/>
        </p:nvSpPr>
        <p:spPr>
          <a:xfrm>
            <a:off x="6718852" y="5724939"/>
            <a:ext cx="940905" cy="5565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Freeform 101"/>
          <p:cNvSpPr/>
          <p:nvPr/>
        </p:nvSpPr>
        <p:spPr>
          <a:xfrm>
            <a:off x="0" y="0"/>
            <a:ext cx="9144000" cy="6857999"/>
          </a:xfrm>
          <a:custGeom>
            <a:avLst/>
            <a:gdLst>
              <a:gd name="connsiteX0" fmla="*/ 0 w 9144000"/>
              <a:gd name="connsiteY0" fmla="*/ 6857999 h 6857999"/>
              <a:gd name="connsiteX1" fmla="*/ 9144000 w 9144000"/>
              <a:gd name="connsiteY1" fmla="*/ 6857999 h 6857999"/>
              <a:gd name="connsiteX2" fmla="*/ 9144000 w 9144000"/>
              <a:gd name="connsiteY2" fmla="*/ 0 h 6857999"/>
              <a:gd name="connsiteX3" fmla="*/ 0 w 9144000"/>
              <a:gd name="connsiteY3" fmla="*/ 0 h 6857999"/>
              <a:gd name="connsiteX4" fmla="*/ 0 w 9144000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6857999">
                <a:moveTo>
                  <a:pt x="0" y="6857999"/>
                </a:moveTo>
                <a:lnTo>
                  <a:pt x="9144000" y="6857999"/>
                </a:lnTo>
                <a:lnTo>
                  <a:pt x="9144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CFA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" name="Picture 1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193280" cy="739140"/>
          </a:xfrm>
          <a:prstGeom prst="rect">
            <a:avLst/>
          </a:prstGeom>
        </p:spPr>
      </p:pic>
      <p:sp>
        <p:nvSpPr>
          <p:cNvPr id="2" name="Freeform 103"/>
          <p:cNvSpPr/>
          <p:nvPr/>
        </p:nvSpPr>
        <p:spPr>
          <a:xfrm>
            <a:off x="196850" y="539750"/>
            <a:ext cx="5695950" cy="654050"/>
          </a:xfrm>
          <a:custGeom>
            <a:avLst/>
            <a:gdLst>
              <a:gd name="connsiteX0" fmla="*/ 17030 w 5695950"/>
              <a:gd name="connsiteY0" fmla="*/ 660527 h 654050"/>
              <a:gd name="connsiteX1" fmla="*/ 5704979 w 5695950"/>
              <a:gd name="connsiteY1" fmla="*/ 660527 h 654050"/>
              <a:gd name="connsiteX2" fmla="*/ 5704979 w 5695950"/>
              <a:gd name="connsiteY2" fmla="*/ 18288 h 654050"/>
              <a:gd name="connsiteX3" fmla="*/ 17030 w 5695950"/>
              <a:gd name="connsiteY3" fmla="*/ 18288 h 654050"/>
              <a:gd name="connsiteX4" fmla="*/ 17030 w 5695950"/>
              <a:gd name="connsiteY4" fmla="*/ 660527 h 65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95950" h="654050">
                <a:moveTo>
                  <a:pt x="17030" y="660527"/>
                </a:moveTo>
                <a:lnTo>
                  <a:pt x="5704979" y="660527"/>
                </a:lnTo>
                <a:lnTo>
                  <a:pt x="5704979" y="18288"/>
                </a:lnTo>
                <a:lnTo>
                  <a:pt x="17030" y="18288"/>
                </a:lnTo>
                <a:lnTo>
                  <a:pt x="17030" y="660527"/>
                </a:lnTo>
                <a:close/>
              </a:path>
            </a:pathLst>
          </a:custGeom>
          <a:solidFill>
            <a:srgbClr val="FEFE0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Freeform 104"/>
          <p:cNvSpPr/>
          <p:nvPr/>
        </p:nvSpPr>
        <p:spPr>
          <a:xfrm>
            <a:off x="196850" y="1187450"/>
            <a:ext cx="5708650" cy="6350"/>
          </a:xfrm>
          <a:custGeom>
            <a:avLst/>
            <a:gdLst>
              <a:gd name="connsiteX0" fmla="*/ 12268 w 5708650"/>
              <a:gd name="connsiteY0" fmla="*/ 12827 h 6350"/>
              <a:gd name="connsiteX1" fmla="*/ 5709792 w 5708650"/>
              <a:gd name="connsiteY1" fmla="*/ 12827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08650" h="6350">
                <a:moveTo>
                  <a:pt x="12268" y="12827"/>
                </a:moveTo>
                <a:lnTo>
                  <a:pt x="5709792" y="12827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Freeform 105"/>
          <p:cNvSpPr/>
          <p:nvPr/>
        </p:nvSpPr>
        <p:spPr>
          <a:xfrm>
            <a:off x="196850" y="1454150"/>
            <a:ext cx="5708650" cy="6350"/>
          </a:xfrm>
          <a:custGeom>
            <a:avLst/>
            <a:gdLst>
              <a:gd name="connsiteX0" fmla="*/ 12268 w 5708650"/>
              <a:gd name="connsiteY0" fmla="*/ 12319 h 6350"/>
              <a:gd name="connsiteX1" fmla="*/ 5709792 w 5708650"/>
              <a:gd name="connsiteY1" fmla="*/ 12319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08650" h="6350">
                <a:moveTo>
                  <a:pt x="12268" y="12319"/>
                </a:moveTo>
                <a:lnTo>
                  <a:pt x="5709792" y="12319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Freeform 106"/>
          <p:cNvSpPr/>
          <p:nvPr/>
        </p:nvSpPr>
        <p:spPr>
          <a:xfrm>
            <a:off x="196850" y="1720850"/>
            <a:ext cx="5708650" cy="6350"/>
          </a:xfrm>
          <a:custGeom>
            <a:avLst/>
            <a:gdLst>
              <a:gd name="connsiteX0" fmla="*/ 12268 w 5708650"/>
              <a:gd name="connsiteY0" fmla="*/ 11811 h 6350"/>
              <a:gd name="connsiteX1" fmla="*/ 5709792 w 5708650"/>
              <a:gd name="connsiteY1" fmla="*/ 11811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08650" h="6350">
                <a:moveTo>
                  <a:pt x="12268" y="11811"/>
                </a:moveTo>
                <a:lnTo>
                  <a:pt x="5709792" y="11811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Freeform 107"/>
          <p:cNvSpPr/>
          <p:nvPr/>
        </p:nvSpPr>
        <p:spPr>
          <a:xfrm>
            <a:off x="196850" y="1987550"/>
            <a:ext cx="5708650" cy="6350"/>
          </a:xfrm>
          <a:custGeom>
            <a:avLst/>
            <a:gdLst>
              <a:gd name="connsiteX0" fmla="*/ 12268 w 5708650"/>
              <a:gd name="connsiteY0" fmla="*/ 11303 h 6350"/>
              <a:gd name="connsiteX1" fmla="*/ 5709792 w 5708650"/>
              <a:gd name="connsiteY1" fmla="*/ 11303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08650" h="6350">
                <a:moveTo>
                  <a:pt x="12268" y="11303"/>
                </a:moveTo>
                <a:lnTo>
                  <a:pt x="5709792" y="11303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Freeform 108"/>
          <p:cNvSpPr/>
          <p:nvPr/>
        </p:nvSpPr>
        <p:spPr>
          <a:xfrm>
            <a:off x="196850" y="2495550"/>
            <a:ext cx="5708650" cy="6350"/>
          </a:xfrm>
          <a:custGeom>
            <a:avLst/>
            <a:gdLst>
              <a:gd name="connsiteX0" fmla="*/ 12268 w 5708650"/>
              <a:gd name="connsiteY0" fmla="*/ 7239 h 6350"/>
              <a:gd name="connsiteX1" fmla="*/ 5709792 w 5708650"/>
              <a:gd name="connsiteY1" fmla="*/ 7239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08650" h="6350">
                <a:moveTo>
                  <a:pt x="12268" y="7239"/>
                </a:moveTo>
                <a:lnTo>
                  <a:pt x="5709792" y="7239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Freeform 109"/>
          <p:cNvSpPr/>
          <p:nvPr/>
        </p:nvSpPr>
        <p:spPr>
          <a:xfrm>
            <a:off x="196850" y="2762250"/>
            <a:ext cx="5708650" cy="6350"/>
          </a:xfrm>
          <a:custGeom>
            <a:avLst/>
            <a:gdLst>
              <a:gd name="connsiteX0" fmla="*/ 12268 w 5708650"/>
              <a:gd name="connsiteY0" fmla="*/ 6731 h 6350"/>
              <a:gd name="connsiteX1" fmla="*/ 5709792 w 5708650"/>
              <a:gd name="connsiteY1" fmla="*/ 6731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08650" h="6350">
                <a:moveTo>
                  <a:pt x="12268" y="6731"/>
                </a:moveTo>
                <a:lnTo>
                  <a:pt x="5709792" y="6731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Freeform 110"/>
          <p:cNvSpPr/>
          <p:nvPr/>
        </p:nvSpPr>
        <p:spPr>
          <a:xfrm>
            <a:off x="196850" y="3105150"/>
            <a:ext cx="5708650" cy="6350"/>
          </a:xfrm>
          <a:custGeom>
            <a:avLst/>
            <a:gdLst>
              <a:gd name="connsiteX0" fmla="*/ 12268 w 5708650"/>
              <a:gd name="connsiteY0" fmla="*/ 15748 h 6350"/>
              <a:gd name="connsiteX1" fmla="*/ 5709792 w 5708650"/>
              <a:gd name="connsiteY1" fmla="*/ 15748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08650" h="6350">
                <a:moveTo>
                  <a:pt x="12268" y="15748"/>
                </a:moveTo>
                <a:lnTo>
                  <a:pt x="5709792" y="15748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Freeform 111"/>
          <p:cNvSpPr/>
          <p:nvPr/>
        </p:nvSpPr>
        <p:spPr>
          <a:xfrm>
            <a:off x="196850" y="3371850"/>
            <a:ext cx="5708650" cy="6350"/>
          </a:xfrm>
          <a:custGeom>
            <a:avLst/>
            <a:gdLst>
              <a:gd name="connsiteX0" fmla="*/ 12268 w 5708650"/>
              <a:gd name="connsiteY0" fmla="*/ 15240 h 6350"/>
              <a:gd name="connsiteX1" fmla="*/ 5709792 w 5708650"/>
              <a:gd name="connsiteY1" fmla="*/ 1524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08650" h="6350">
                <a:moveTo>
                  <a:pt x="12268" y="15240"/>
                </a:moveTo>
                <a:lnTo>
                  <a:pt x="5709792" y="15240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Freeform 112"/>
          <p:cNvSpPr/>
          <p:nvPr/>
        </p:nvSpPr>
        <p:spPr>
          <a:xfrm>
            <a:off x="196850" y="3879850"/>
            <a:ext cx="5708650" cy="6350"/>
          </a:xfrm>
          <a:custGeom>
            <a:avLst/>
            <a:gdLst>
              <a:gd name="connsiteX0" fmla="*/ 12268 w 5708650"/>
              <a:gd name="connsiteY0" fmla="*/ 11176 h 6350"/>
              <a:gd name="connsiteX1" fmla="*/ 5709792 w 5708650"/>
              <a:gd name="connsiteY1" fmla="*/ 11176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08650" h="6350">
                <a:moveTo>
                  <a:pt x="12268" y="11176"/>
                </a:moveTo>
                <a:lnTo>
                  <a:pt x="5709792" y="11176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Freeform 113"/>
          <p:cNvSpPr/>
          <p:nvPr/>
        </p:nvSpPr>
        <p:spPr>
          <a:xfrm>
            <a:off x="196850" y="4375150"/>
            <a:ext cx="5708650" cy="6350"/>
          </a:xfrm>
          <a:custGeom>
            <a:avLst/>
            <a:gdLst>
              <a:gd name="connsiteX0" fmla="*/ 12268 w 5708650"/>
              <a:gd name="connsiteY0" fmla="*/ 10287 h 6350"/>
              <a:gd name="connsiteX1" fmla="*/ 5709792 w 5708650"/>
              <a:gd name="connsiteY1" fmla="*/ 10287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08650" h="6350">
                <a:moveTo>
                  <a:pt x="12268" y="10287"/>
                </a:moveTo>
                <a:lnTo>
                  <a:pt x="5709792" y="10287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Freeform 114"/>
          <p:cNvSpPr/>
          <p:nvPr/>
        </p:nvSpPr>
        <p:spPr>
          <a:xfrm>
            <a:off x="196850" y="4870450"/>
            <a:ext cx="5708650" cy="6350"/>
          </a:xfrm>
          <a:custGeom>
            <a:avLst/>
            <a:gdLst>
              <a:gd name="connsiteX0" fmla="*/ 12268 w 5708650"/>
              <a:gd name="connsiteY0" fmla="*/ 9398 h 6350"/>
              <a:gd name="connsiteX1" fmla="*/ 5709792 w 5708650"/>
              <a:gd name="connsiteY1" fmla="*/ 9398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08650" h="6350">
                <a:moveTo>
                  <a:pt x="12268" y="9398"/>
                </a:moveTo>
                <a:lnTo>
                  <a:pt x="5709792" y="9398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Freeform 115"/>
          <p:cNvSpPr/>
          <p:nvPr/>
        </p:nvSpPr>
        <p:spPr>
          <a:xfrm>
            <a:off x="196850" y="5594350"/>
            <a:ext cx="5708650" cy="6350"/>
          </a:xfrm>
          <a:custGeom>
            <a:avLst/>
            <a:gdLst>
              <a:gd name="connsiteX0" fmla="*/ 12268 w 5708650"/>
              <a:gd name="connsiteY0" fmla="*/ 8090 h 6350"/>
              <a:gd name="connsiteX1" fmla="*/ 5709792 w 5708650"/>
              <a:gd name="connsiteY1" fmla="*/ 8090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08650" h="6350">
                <a:moveTo>
                  <a:pt x="12268" y="8090"/>
                </a:moveTo>
                <a:lnTo>
                  <a:pt x="5709792" y="8090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Freeform 116"/>
          <p:cNvSpPr/>
          <p:nvPr/>
        </p:nvSpPr>
        <p:spPr>
          <a:xfrm>
            <a:off x="196850" y="6318250"/>
            <a:ext cx="5708650" cy="6350"/>
          </a:xfrm>
          <a:custGeom>
            <a:avLst/>
            <a:gdLst>
              <a:gd name="connsiteX0" fmla="*/ 12268 w 5708650"/>
              <a:gd name="connsiteY0" fmla="*/ 6794 h 6350"/>
              <a:gd name="connsiteX1" fmla="*/ 5709792 w 5708650"/>
              <a:gd name="connsiteY1" fmla="*/ 6794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08650" h="6350">
                <a:moveTo>
                  <a:pt x="12268" y="6794"/>
                </a:moveTo>
                <a:lnTo>
                  <a:pt x="5709792" y="6794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Freeform 117"/>
          <p:cNvSpPr/>
          <p:nvPr/>
        </p:nvSpPr>
        <p:spPr>
          <a:xfrm>
            <a:off x="196850" y="6572250"/>
            <a:ext cx="5708650" cy="6350"/>
          </a:xfrm>
          <a:custGeom>
            <a:avLst/>
            <a:gdLst>
              <a:gd name="connsiteX0" fmla="*/ 12268 w 5708650"/>
              <a:gd name="connsiteY0" fmla="*/ 19012 h 6350"/>
              <a:gd name="connsiteX1" fmla="*/ 5709792 w 5708650"/>
              <a:gd name="connsiteY1" fmla="*/ 19012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08650" h="6350">
                <a:moveTo>
                  <a:pt x="12268" y="19012"/>
                </a:moveTo>
                <a:lnTo>
                  <a:pt x="5709792" y="19012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Freeform 118"/>
          <p:cNvSpPr/>
          <p:nvPr/>
        </p:nvSpPr>
        <p:spPr>
          <a:xfrm>
            <a:off x="196850" y="539750"/>
            <a:ext cx="6350" cy="6318250"/>
          </a:xfrm>
          <a:custGeom>
            <a:avLst/>
            <a:gdLst>
              <a:gd name="connsiteX0" fmla="*/ 17030 w 6350"/>
              <a:gd name="connsiteY0" fmla="*/ 13462 h 6318250"/>
              <a:gd name="connsiteX1" fmla="*/ 17030 w 6350"/>
              <a:gd name="connsiteY1" fmla="*/ 6322500 h 631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6318250">
                <a:moveTo>
                  <a:pt x="17030" y="13462"/>
                </a:moveTo>
                <a:lnTo>
                  <a:pt x="17030" y="6322500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Freeform 119"/>
          <p:cNvSpPr/>
          <p:nvPr/>
        </p:nvSpPr>
        <p:spPr>
          <a:xfrm>
            <a:off x="5886450" y="539750"/>
            <a:ext cx="6350" cy="6318250"/>
          </a:xfrm>
          <a:custGeom>
            <a:avLst/>
            <a:gdLst>
              <a:gd name="connsiteX0" fmla="*/ 15366 w 6350"/>
              <a:gd name="connsiteY0" fmla="*/ 13462 h 6318250"/>
              <a:gd name="connsiteX1" fmla="*/ 15366 w 6350"/>
              <a:gd name="connsiteY1" fmla="*/ 6322500 h 631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" h="6318250">
                <a:moveTo>
                  <a:pt x="15366" y="13462"/>
                </a:moveTo>
                <a:lnTo>
                  <a:pt x="15366" y="6322500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Freeform 120"/>
          <p:cNvSpPr/>
          <p:nvPr/>
        </p:nvSpPr>
        <p:spPr>
          <a:xfrm>
            <a:off x="196850" y="6838950"/>
            <a:ext cx="5708650" cy="6350"/>
          </a:xfrm>
          <a:custGeom>
            <a:avLst/>
            <a:gdLst>
              <a:gd name="connsiteX0" fmla="*/ 12268 w 5708650"/>
              <a:gd name="connsiteY0" fmla="*/ 18538 h 6350"/>
              <a:gd name="connsiteX1" fmla="*/ 5709792 w 5708650"/>
              <a:gd name="connsiteY1" fmla="*/ 18538 h 6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08650" h="6350">
                <a:moveTo>
                  <a:pt x="12268" y="18538"/>
                </a:moveTo>
                <a:lnTo>
                  <a:pt x="5709792" y="18538"/>
                </a:lnTo>
              </a:path>
            </a:pathLst>
          </a:custGeom>
          <a:ln w="9525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Freeform 121"/>
          <p:cNvSpPr/>
          <p:nvPr/>
        </p:nvSpPr>
        <p:spPr>
          <a:xfrm>
            <a:off x="6089650" y="1758950"/>
            <a:ext cx="2444750" cy="19050"/>
          </a:xfrm>
          <a:custGeom>
            <a:avLst/>
            <a:gdLst>
              <a:gd name="connsiteX0" fmla="*/ 16636 w 2444750"/>
              <a:gd name="connsiteY0" fmla="*/ 11811 h 19050"/>
              <a:gd name="connsiteX1" fmla="*/ 626618 w 2444750"/>
              <a:gd name="connsiteY1" fmla="*/ 11811 h 19050"/>
              <a:gd name="connsiteX2" fmla="*/ 1236598 w 2444750"/>
              <a:gd name="connsiteY2" fmla="*/ 11811 h 19050"/>
              <a:gd name="connsiteX3" fmla="*/ 1846580 w 2444750"/>
              <a:gd name="connsiteY3" fmla="*/ 11811 h 19050"/>
              <a:gd name="connsiteX4" fmla="*/ 2456560 w 2444750"/>
              <a:gd name="connsiteY4" fmla="*/ 11811 h 19050"/>
              <a:gd name="connsiteX5" fmla="*/ 2456560 w 2444750"/>
              <a:gd name="connsiteY5" fmla="*/ 31623 h 19050"/>
              <a:gd name="connsiteX6" fmla="*/ 1846580 w 2444750"/>
              <a:gd name="connsiteY6" fmla="*/ 31623 h 19050"/>
              <a:gd name="connsiteX7" fmla="*/ 1236598 w 2444750"/>
              <a:gd name="connsiteY7" fmla="*/ 31623 h 19050"/>
              <a:gd name="connsiteX8" fmla="*/ 626618 w 2444750"/>
              <a:gd name="connsiteY8" fmla="*/ 31623 h 19050"/>
              <a:gd name="connsiteX9" fmla="*/ 16636 w 2444750"/>
              <a:gd name="connsiteY9" fmla="*/ 31623 h 19050"/>
              <a:gd name="connsiteX10" fmla="*/ 16636 w 2444750"/>
              <a:gd name="connsiteY10" fmla="*/ 11811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4750" h="19050">
                <a:moveTo>
                  <a:pt x="16636" y="11811"/>
                </a:moveTo>
                <a:lnTo>
                  <a:pt x="626618" y="11811"/>
                </a:lnTo>
                <a:lnTo>
                  <a:pt x="1236598" y="11811"/>
                </a:lnTo>
                <a:lnTo>
                  <a:pt x="1846580" y="11811"/>
                </a:lnTo>
                <a:lnTo>
                  <a:pt x="2456560" y="11811"/>
                </a:lnTo>
                <a:lnTo>
                  <a:pt x="2456560" y="31623"/>
                </a:lnTo>
                <a:lnTo>
                  <a:pt x="1846580" y="31623"/>
                </a:lnTo>
                <a:lnTo>
                  <a:pt x="1236598" y="31623"/>
                </a:lnTo>
                <a:lnTo>
                  <a:pt x="626618" y="31623"/>
                </a:lnTo>
                <a:lnTo>
                  <a:pt x="16636" y="31623"/>
                </a:lnTo>
                <a:lnTo>
                  <a:pt x="16636" y="11811"/>
                </a:lnTo>
                <a:close/>
              </a:path>
            </a:pathLst>
          </a:custGeom>
          <a:solidFill>
            <a:srgbClr val="006EB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Freeform 122"/>
          <p:cNvSpPr/>
          <p:nvPr/>
        </p:nvSpPr>
        <p:spPr>
          <a:xfrm>
            <a:off x="6089650" y="2127250"/>
            <a:ext cx="2051050" cy="19050"/>
          </a:xfrm>
          <a:custGeom>
            <a:avLst/>
            <a:gdLst>
              <a:gd name="connsiteX0" fmla="*/ 16636 w 2051050"/>
              <a:gd name="connsiteY0" fmla="*/ 9271 h 19050"/>
              <a:gd name="connsiteX1" fmla="*/ 697865 w 2051050"/>
              <a:gd name="connsiteY1" fmla="*/ 9271 h 19050"/>
              <a:gd name="connsiteX2" fmla="*/ 1379093 w 2051050"/>
              <a:gd name="connsiteY2" fmla="*/ 9271 h 19050"/>
              <a:gd name="connsiteX3" fmla="*/ 2060320 w 2051050"/>
              <a:gd name="connsiteY3" fmla="*/ 9271 h 19050"/>
              <a:gd name="connsiteX4" fmla="*/ 2060320 w 2051050"/>
              <a:gd name="connsiteY4" fmla="*/ 29083 h 19050"/>
              <a:gd name="connsiteX5" fmla="*/ 1379093 w 2051050"/>
              <a:gd name="connsiteY5" fmla="*/ 29083 h 19050"/>
              <a:gd name="connsiteX6" fmla="*/ 697865 w 2051050"/>
              <a:gd name="connsiteY6" fmla="*/ 29083 h 19050"/>
              <a:gd name="connsiteX7" fmla="*/ 16636 w 2051050"/>
              <a:gd name="connsiteY7" fmla="*/ 29083 h 19050"/>
              <a:gd name="connsiteX8" fmla="*/ 16636 w 2051050"/>
              <a:gd name="connsiteY8" fmla="*/ 9271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51050" h="19050">
                <a:moveTo>
                  <a:pt x="16636" y="9271"/>
                </a:moveTo>
                <a:lnTo>
                  <a:pt x="697865" y="9271"/>
                </a:lnTo>
                <a:lnTo>
                  <a:pt x="1379093" y="9271"/>
                </a:lnTo>
                <a:lnTo>
                  <a:pt x="2060320" y="9271"/>
                </a:lnTo>
                <a:lnTo>
                  <a:pt x="2060320" y="29083"/>
                </a:lnTo>
                <a:lnTo>
                  <a:pt x="1379093" y="29083"/>
                </a:lnTo>
                <a:lnTo>
                  <a:pt x="697865" y="29083"/>
                </a:lnTo>
                <a:lnTo>
                  <a:pt x="16636" y="29083"/>
                </a:lnTo>
                <a:lnTo>
                  <a:pt x="16636" y="9271"/>
                </a:lnTo>
                <a:close/>
              </a:path>
            </a:pathLst>
          </a:custGeom>
          <a:solidFill>
            <a:srgbClr val="006EB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Freeform 123"/>
          <p:cNvSpPr/>
          <p:nvPr/>
        </p:nvSpPr>
        <p:spPr>
          <a:xfrm>
            <a:off x="6089650" y="2495550"/>
            <a:ext cx="1466850" cy="19050"/>
          </a:xfrm>
          <a:custGeom>
            <a:avLst/>
            <a:gdLst>
              <a:gd name="connsiteX0" fmla="*/ 16636 w 1466850"/>
              <a:gd name="connsiteY0" fmla="*/ 6731 h 19050"/>
              <a:gd name="connsiteX1" fmla="*/ 501777 w 1466850"/>
              <a:gd name="connsiteY1" fmla="*/ 6731 h 19050"/>
              <a:gd name="connsiteX2" fmla="*/ 986917 w 1466850"/>
              <a:gd name="connsiteY2" fmla="*/ 6731 h 19050"/>
              <a:gd name="connsiteX3" fmla="*/ 1472056 w 1466850"/>
              <a:gd name="connsiteY3" fmla="*/ 6731 h 19050"/>
              <a:gd name="connsiteX4" fmla="*/ 1472056 w 1466850"/>
              <a:gd name="connsiteY4" fmla="*/ 26543 h 19050"/>
              <a:gd name="connsiteX5" fmla="*/ 986917 w 1466850"/>
              <a:gd name="connsiteY5" fmla="*/ 26543 h 19050"/>
              <a:gd name="connsiteX6" fmla="*/ 501777 w 1466850"/>
              <a:gd name="connsiteY6" fmla="*/ 26543 h 19050"/>
              <a:gd name="connsiteX7" fmla="*/ 16636 w 1466850"/>
              <a:gd name="connsiteY7" fmla="*/ 26543 h 19050"/>
              <a:gd name="connsiteX8" fmla="*/ 16636 w 1466850"/>
              <a:gd name="connsiteY8" fmla="*/ 6731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66850" h="19050">
                <a:moveTo>
                  <a:pt x="16636" y="6731"/>
                </a:moveTo>
                <a:lnTo>
                  <a:pt x="501777" y="6731"/>
                </a:lnTo>
                <a:lnTo>
                  <a:pt x="986917" y="6731"/>
                </a:lnTo>
                <a:lnTo>
                  <a:pt x="1472056" y="6731"/>
                </a:lnTo>
                <a:lnTo>
                  <a:pt x="1472056" y="26543"/>
                </a:lnTo>
                <a:lnTo>
                  <a:pt x="986917" y="26543"/>
                </a:lnTo>
                <a:lnTo>
                  <a:pt x="501777" y="26543"/>
                </a:lnTo>
                <a:lnTo>
                  <a:pt x="16636" y="26543"/>
                </a:lnTo>
                <a:lnTo>
                  <a:pt x="16636" y="6731"/>
                </a:lnTo>
                <a:close/>
              </a:path>
            </a:pathLst>
          </a:custGeom>
          <a:solidFill>
            <a:srgbClr val="006EB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TextBox 124"/>
          <p:cNvSpPr txBox="1"/>
          <p:nvPr/>
        </p:nvSpPr>
        <p:spPr>
          <a:xfrm>
            <a:off x="157276" y="80391"/>
            <a:ext cx="6775694" cy="13586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2600" spc="-20" dirty="0">
                <a:solidFill>
                  <a:srgbClr val="2A428F"/>
                </a:solidFill>
                <a:latin typeface="Calibri"/>
                <a:ea typeface="Calibri"/>
              </a:rPr>
              <a:t>Scheda</a:t>
            </a:r>
            <a:r>
              <a:rPr lang="en-US" altLang="zh-CN" sz="2600" spc="-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spc="-20" dirty="0">
                <a:solidFill>
                  <a:srgbClr val="2A428F"/>
                </a:solidFill>
                <a:latin typeface="Calibri"/>
                <a:ea typeface="Calibri"/>
              </a:rPr>
              <a:t>analisi</a:t>
            </a:r>
            <a:r>
              <a:rPr lang="en-US" altLang="zh-CN" sz="2600" spc="-1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spc="-20" dirty="0">
                <a:solidFill>
                  <a:srgbClr val="2A428F"/>
                </a:solidFill>
                <a:latin typeface="Calibri"/>
                <a:ea typeface="Calibri"/>
              </a:rPr>
              <a:t>procedimento</a:t>
            </a:r>
            <a:r>
              <a:rPr lang="en-US" altLang="zh-CN" sz="2600" spc="-1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spc="-20" dirty="0">
                <a:solidFill>
                  <a:srgbClr val="2A428F"/>
                </a:solidFill>
                <a:latin typeface="Calibri"/>
                <a:ea typeface="Calibri"/>
              </a:rPr>
              <a:t>amministrativo</a:t>
            </a:r>
            <a:r>
              <a:rPr lang="en-US" altLang="zh-CN" sz="2600" spc="-1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spc="-34" dirty="0">
                <a:solidFill>
                  <a:srgbClr val="2A428F"/>
                </a:solidFill>
                <a:latin typeface="Calibri"/>
                <a:ea typeface="Calibri"/>
              </a:rPr>
              <a:t>-</a:t>
            </a:r>
            <a:r>
              <a:rPr lang="en-US" altLang="zh-CN" sz="26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spc="-25" dirty="0">
                <a:solidFill>
                  <a:srgbClr val="2A428F"/>
                </a:solidFill>
                <a:latin typeface="Calibri"/>
                <a:ea typeface="Calibri"/>
              </a:rPr>
              <a:t>INFO</a:t>
            </a:r>
          </a:p>
          <a:p>
            <a:pPr>
              <a:lnSpc>
                <a:spcPts val="765"/>
              </a:lnSpc>
            </a:pPr>
            <a:endParaRPr lang="en-US" dirty="0" smtClean="0"/>
          </a:p>
          <a:p>
            <a:pPr marL="85344" hangingPunct="0">
              <a:lnSpc>
                <a:spcPct val="114583"/>
              </a:lnSpc>
            </a:pPr>
            <a:r>
              <a:rPr lang="en-US" altLang="zh-CN" sz="1800" b="1" dirty="0">
                <a:solidFill>
                  <a:srgbClr val="000000"/>
                </a:solidFill>
                <a:latin typeface="Arial"/>
                <a:ea typeface="Arial"/>
              </a:rPr>
              <a:t>Descrizione</a:t>
            </a:r>
            <a:r>
              <a:rPr lang="en-US" altLang="zh-CN" sz="1800" b="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latin typeface="Arial"/>
                <a:ea typeface="Arial"/>
              </a:rPr>
              <a:t>delle</a:t>
            </a:r>
            <a:r>
              <a:rPr lang="en-US" altLang="zh-CN" sz="1800" b="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latin typeface="Arial"/>
                <a:ea typeface="Arial"/>
              </a:rPr>
              <a:t>informazioni</a:t>
            </a:r>
            <a:r>
              <a:rPr lang="en-US" altLang="zh-CN" sz="1800" b="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latin typeface="Arial"/>
                <a:ea typeface="Arial"/>
              </a:rPr>
              <a:t>relative</a:t>
            </a:r>
            <a:r>
              <a:rPr lang="en-US" altLang="zh-CN" sz="1800" b="1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latin typeface="Arial"/>
                <a:ea typeface="Arial"/>
              </a:rPr>
              <a:t>al</a:t>
            </a:r>
            <a:r>
              <a:rPr lang="en-US" altLang="zh-CN" sz="1800" b="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t/>
            </a:r>
            <a:br/>
            <a:r>
              <a:rPr lang="en-US" altLang="zh-CN" sz="1800" b="1" spc="-5" dirty="0">
                <a:solidFill>
                  <a:srgbClr val="000000"/>
                </a:solidFill>
                <a:latin typeface="Arial"/>
                <a:ea typeface="Arial"/>
              </a:rPr>
              <a:t>procedimento</a:t>
            </a:r>
            <a:r>
              <a:rPr lang="en-US" altLang="zh-CN" sz="1800" b="1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latin typeface="Arial"/>
                <a:ea typeface="Arial"/>
              </a:rPr>
              <a:t>amministrativo</a:t>
            </a:r>
          </a:p>
          <a:p>
            <a:pPr marL="0" indent="85344">
              <a:lnSpc>
                <a:spcPct val="100000"/>
              </a:lnSpc>
              <a:spcBef>
                <a:spcPts val="300"/>
              </a:spcBef>
            </a:pP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Nome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del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procedimento</a:t>
            </a:r>
            <a:r>
              <a:rPr lang="en-US" altLang="zh-CN" sz="1300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amministrativo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242620" y="1472884"/>
            <a:ext cx="5537220" cy="53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134166"/>
              </a:lnSpc>
            </a:pP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Descrizione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del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procedimento</a:t>
            </a:r>
            <a:r>
              <a:rPr lang="en-US" altLang="zh-CN" sz="1300" spc="-6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amministrativo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t/>
            </a:r>
            <a:br/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Nome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dell'Area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comunale</a:t>
            </a:r>
            <a:r>
              <a:rPr lang="en-US" altLang="zh-CN" sz="1300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competente</a:t>
            </a:r>
          </a:p>
          <a:p>
            <a:pPr marL="0">
              <a:lnSpc>
                <a:spcPct val="100000"/>
              </a:lnSpc>
              <a:spcBef>
                <a:spcPts val="315"/>
              </a:spcBef>
            </a:pP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Nome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del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Settore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comunale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competente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e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del</a:t>
            </a:r>
            <a:r>
              <a:rPr lang="en-US" altLang="zh-CN" sz="1300" spc="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Servizio</a:t>
            </a:r>
          </a:p>
          <a:p>
            <a:pPr marL="0" hangingPunct="0">
              <a:lnSpc>
                <a:spcPct val="136249"/>
              </a:lnSpc>
            </a:pP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Se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non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è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previsto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il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Settore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scrivere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il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nome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del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Servizio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di</a:t>
            </a:r>
            <a:r>
              <a:rPr lang="en-US" altLang="zh-CN" sz="1300" spc="-3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appartenenza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Nome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dell'Unità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Organizzativa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responsabile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dell'istruttoria</a:t>
            </a:r>
          </a:p>
          <a:p>
            <a:pPr>
              <a:lnSpc>
                <a:spcPts val="550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Responsabile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del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procedimento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(nome,</a:t>
            </a:r>
            <a:r>
              <a:rPr lang="en-US" altLang="zh-CN" sz="1300" spc="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cognome)</a:t>
            </a:r>
          </a:p>
          <a:p>
            <a:pPr>
              <a:lnSpc>
                <a:spcPts val="869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Email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del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responsabile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del</a:t>
            </a:r>
            <a:r>
              <a:rPr lang="en-US" altLang="zh-CN" sz="130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procedimento</a:t>
            </a:r>
          </a:p>
          <a:p>
            <a:pPr>
              <a:lnSpc>
                <a:spcPts val="455"/>
              </a:lnSpc>
            </a:pPr>
            <a:endParaRPr lang="en-US" dirty="0" smtClean="0"/>
          </a:p>
          <a:p>
            <a:pPr marL="0" hangingPunct="0">
              <a:lnSpc>
                <a:spcPct val="114999"/>
              </a:lnSpc>
            </a:pP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Indirizzo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di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posta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dell'Ufficio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al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quale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rivolgersi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per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ricevere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informazioni</a:t>
            </a:r>
            <a:r>
              <a:rPr lang="en-US" altLang="zh-CN" sz="1300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sul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procedimento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su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appuntamento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o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secondo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giorni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di</a:t>
            </a:r>
            <a:r>
              <a:rPr lang="en-US" altLang="zh-CN" sz="1300" spc="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ricevimento</a:t>
            </a:r>
          </a:p>
          <a:p>
            <a:pPr marL="0" hangingPunct="0">
              <a:lnSpc>
                <a:spcPct val="114999"/>
              </a:lnSpc>
              <a:spcBef>
                <a:spcPts val="345"/>
              </a:spcBef>
            </a:pP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Email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alla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quale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rivolgersi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per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informazioni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sul</a:t>
            </a:r>
            <a:r>
              <a:rPr lang="en-US" altLang="zh-CN" sz="1300" spc="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procedimento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t/>
            </a:r>
            <a:br/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(in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caso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di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più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email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usare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il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carattere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trattino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-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di</a:t>
            </a:r>
            <a:r>
              <a:rPr lang="en-US" altLang="zh-CN" sz="1300" spc="-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separazione)</a:t>
            </a:r>
          </a:p>
          <a:p>
            <a:pPr marL="0" hangingPunct="0">
              <a:lnSpc>
                <a:spcPct val="114999"/>
              </a:lnSpc>
              <a:spcBef>
                <a:spcPts val="304"/>
              </a:spcBef>
            </a:pP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Telefono/i</a:t>
            </a:r>
            <a:r>
              <a:rPr lang="en-US" altLang="zh-CN" sz="1300" spc="-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al/i</a:t>
            </a:r>
            <a:r>
              <a:rPr lang="en-US" altLang="zh-CN" sz="1300" spc="-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quale/i</a:t>
            </a:r>
            <a:r>
              <a:rPr lang="en-US" altLang="zh-CN" sz="130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rivolgersi</a:t>
            </a:r>
            <a:r>
              <a:rPr lang="en-US" altLang="zh-CN" sz="1300" spc="-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per</a:t>
            </a:r>
            <a:r>
              <a:rPr lang="en-US" altLang="zh-CN" sz="1300" spc="-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informazioni</a:t>
            </a:r>
            <a:r>
              <a:rPr lang="en-US" altLang="zh-CN" sz="130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sul</a:t>
            </a:r>
            <a:r>
              <a:rPr lang="en-US" altLang="zh-CN" sz="130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procedimento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t/>
            </a:r>
            <a:br/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(in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caso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di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più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telefoni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usare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il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carattere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trattino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-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di</a:t>
            </a:r>
            <a:r>
              <a:rPr lang="en-US" altLang="zh-CN" sz="1300" spc="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separazione)</a:t>
            </a:r>
          </a:p>
          <a:p>
            <a:pPr>
              <a:lnSpc>
                <a:spcPts val="425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Ufficio/Servizio/Settore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competente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all'adozione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del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procedimento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finale</a:t>
            </a:r>
            <a:r>
              <a:rPr lang="en-US" altLang="zh-CN" sz="1300" spc="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(se</a:t>
            </a:r>
          </a:p>
          <a:p>
            <a:pPr marL="0" hangingPunct="0">
              <a:lnSpc>
                <a:spcPct val="114583"/>
              </a:lnSpc>
              <a:spcBef>
                <a:spcPts val="125"/>
              </a:spcBef>
            </a:pP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previsto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ed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è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diverso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dall'Ufficio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responsabile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dell'avvio</a:t>
            </a:r>
            <a:r>
              <a:rPr lang="en-US" altLang="zh-CN" sz="1300" spc="-5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dell'istruttoria).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t/>
            </a:r>
            <a:br/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Se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non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è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previsto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scrivere: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"Lo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stesso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ufficio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che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avvia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l'istruttoria"</a:t>
            </a:r>
          </a:p>
          <a:p>
            <a:pPr>
              <a:lnSpc>
                <a:spcPts val="425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Modalità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di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accesso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al</a:t>
            </a:r>
            <a:r>
              <a:rPr lang="en-US" altLang="zh-CN" sz="1300" spc="-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procedimento.</a:t>
            </a:r>
          </a:p>
          <a:p>
            <a:pPr marL="0" hangingPunct="0">
              <a:lnSpc>
                <a:spcPct val="114166"/>
              </a:lnSpc>
              <a:spcBef>
                <a:spcPts val="125"/>
              </a:spcBef>
            </a:pP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Esempio: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richiesta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via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email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o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tramite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applicativo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informatico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alla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U.O.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spc="-5" dirty="0">
                <a:solidFill>
                  <a:srgbClr val="000000"/>
                </a:solidFill>
                <a:latin typeface="Arial"/>
                <a:ea typeface="Arial"/>
              </a:rPr>
              <a:t>compet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ente</a:t>
            </a:r>
          </a:p>
          <a:p>
            <a:pPr>
              <a:lnSpc>
                <a:spcPts val="434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Termine</a:t>
            </a:r>
            <a:r>
              <a:rPr lang="en-US" altLang="zh-CN" sz="1300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di</a:t>
            </a:r>
            <a:r>
              <a:rPr lang="en-US" altLang="zh-CN" sz="1300" spc="-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conclusione</a:t>
            </a:r>
            <a:r>
              <a:rPr lang="en-US" altLang="zh-CN" sz="1300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del</a:t>
            </a:r>
            <a:r>
              <a:rPr lang="en-US" altLang="zh-CN" sz="1300" spc="-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procedimento</a:t>
            </a:r>
            <a:r>
              <a:rPr lang="en-US" altLang="zh-CN" sz="1300" spc="-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in</a:t>
            </a:r>
            <a:r>
              <a:rPr lang="en-US" altLang="zh-CN" sz="1300" spc="-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zh-CN" sz="1300" dirty="0">
                <a:solidFill>
                  <a:srgbClr val="000000"/>
                </a:solidFill>
                <a:latin typeface="Arial"/>
                <a:ea typeface="Arial"/>
              </a:rPr>
              <a:t>giorni</a:t>
            </a:r>
          </a:p>
          <a:p>
            <a:pPr>
              <a:lnSpc>
                <a:spcPts val="559"/>
              </a:lnSpc>
            </a:pPr>
            <a:endParaRPr lang="en-US" dirty="0" smtClean="0"/>
          </a:p>
          <a:p>
            <a:pPr marL="0">
              <a:lnSpc>
                <a:spcPct val="100000"/>
              </a:lnSpc>
            </a:pPr>
            <a:r>
              <a:rPr lang="en-US" altLang="zh-CN" sz="1300" spc="-10" dirty="0">
                <a:solidFill>
                  <a:srgbClr val="000000"/>
                </a:solidFill>
                <a:latin typeface="Arial"/>
                <a:ea typeface="Arial"/>
              </a:rPr>
              <a:t>…</a:t>
            </a:r>
            <a:r>
              <a:rPr lang="en-US" altLang="zh-CN" sz="1300" spc="-5" dirty="0">
                <a:solidFill>
                  <a:srgbClr val="000000"/>
                </a:solidFill>
                <a:latin typeface="Arial"/>
                <a:ea typeface="Arial"/>
              </a:rPr>
              <a:t>…..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6107303" y="1500060"/>
            <a:ext cx="2520740" cy="10515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95416"/>
              </a:lnSpc>
            </a:pPr>
            <a:r>
              <a:rPr lang="en-US" altLang="zh-CN" sz="2400" spc="30" dirty="0">
                <a:solidFill>
                  <a:srgbClr val="006EBF"/>
                </a:solidFill>
                <a:latin typeface="Calibri"/>
                <a:ea typeface="Calibri"/>
              </a:rPr>
              <a:t>INFORMAZIONI</a:t>
            </a:r>
            <a:r>
              <a:rPr lang="en-US" altLang="zh-CN" sz="2400" spc="-275" dirty="0">
                <a:solidFill>
                  <a:srgbClr val="006EBF"/>
                </a:solidFill>
                <a:latin typeface="Calibri"/>
                <a:cs typeface="Calibri"/>
              </a:rPr>
              <a:t> </a:t>
            </a:r>
            <a:r>
              <a:rPr lang="en-US" altLang="zh-CN" sz="2400" spc="30" dirty="0">
                <a:solidFill>
                  <a:srgbClr val="006EBF"/>
                </a:solidFill>
                <a:latin typeface="Calibri"/>
                <a:ea typeface="Calibri"/>
              </a:rPr>
              <a:t>DEL</a:t>
            </a:r>
            <a:r>
              <a:rPr lang="en-US" altLang="zh-CN" sz="2400" dirty="0">
                <a:solidFill>
                  <a:srgbClr val="006EBF"/>
                </a:solidFill>
                <a:latin typeface="Calibri"/>
                <a:cs typeface="Calibri"/>
              </a:rPr>
              <a:t> </a:t>
            </a:r>
            <a:r>
              <a:rPr lang="en-US" altLang="zh-CN" sz="2400" spc="-10" dirty="0">
                <a:solidFill>
                  <a:srgbClr val="006EBF"/>
                </a:solidFill>
                <a:latin typeface="Calibri"/>
                <a:ea typeface="Calibri"/>
                <a:hlinkClick r:id="rId3"/>
              </a:rPr>
              <a:t>PROCED</a:t>
            </a:r>
            <a:r>
              <a:rPr lang="en-US" altLang="zh-CN" sz="2400" spc="-5" dirty="0">
                <a:solidFill>
                  <a:srgbClr val="006EBF"/>
                </a:solidFill>
                <a:latin typeface="Calibri"/>
                <a:ea typeface="Calibri"/>
                <a:hlinkClick r:id=""/>
              </a:rPr>
              <a:t>IMENTO</a:t>
            </a:r>
            <a:r>
              <a:rPr lang="en-US" altLang="zh-CN" sz="2400" dirty="0">
                <a:solidFill>
                  <a:srgbClr val="006EBF"/>
                </a:solidFill>
                <a:latin typeface="Calibri"/>
                <a:cs typeface="Calibri"/>
              </a:rPr>
              <a:t> </a:t>
            </a:r>
            <a:r>
              <a:rPr lang="en-US" altLang="zh-CN" sz="2400" spc="-45" dirty="0">
                <a:solidFill>
                  <a:srgbClr val="006EBF"/>
                </a:solidFill>
                <a:latin typeface="Calibri"/>
                <a:ea typeface="Calibri"/>
                <a:hlinkClick r:id=""/>
              </a:rPr>
              <a:t>(METADA</a:t>
            </a:r>
            <a:r>
              <a:rPr lang="en-US" altLang="zh-CN" sz="2400" spc="-40" dirty="0">
                <a:solidFill>
                  <a:srgbClr val="006EBF"/>
                </a:solidFill>
                <a:latin typeface="Calibri"/>
                <a:ea typeface="Calibri"/>
                <a:hlinkClick r:id=""/>
              </a:rPr>
              <a:t>TI)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Picture 1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101840" cy="739140"/>
          </a:xfrm>
          <a:prstGeom prst="rect">
            <a:avLst/>
          </a:prstGeom>
        </p:spPr>
      </p:pic>
      <p:sp>
        <p:nvSpPr>
          <p:cNvPr id="3" name="Freeform 128"/>
          <p:cNvSpPr/>
          <p:nvPr/>
        </p:nvSpPr>
        <p:spPr>
          <a:xfrm>
            <a:off x="6686550" y="1733550"/>
            <a:ext cx="1949450" cy="19050"/>
          </a:xfrm>
          <a:custGeom>
            <a:avLst/>
            <a:gdLst>
              <a:gd name="connsiteX0" fmla="*/ 9652 w 1949450"/>
              <a:gd name="connsiteY0" fmla="*/ 11303 h 19050"/>
              <a:gd name="connsiteX1" fmla="*/ 496569 w 1949450"/>
              <a:gd name="connsiteY1" fmla="*/ 11303 h 19050"/>
              <a:gd name="connsiteX2" fmla="*/ 983488 w 1949450"/>
              <a:gd name="connsiteY2" fmla="*/ 11303 h 19050"/>
              <a:gd name="connsiteX3" fmla="*/ 1470406 w 1949450"/>
              <a:gd name="connsiteY3" fmla="*/ 11303 h 19050"/>
              <a:gd name="connsiteX4" fmla="*/ 1957323 w 1949450"/>
              <a:gd name="connsiteY4" fmla="*/ 11303 h 19050"/>
              <a:gd name="connsiteX5" fmla="*/ 1957323 w 1949450"/>
              <a:gd name="connsiteY5" fmla="*/ 29591 h 19050"/>
              <a:gd name="connsiteX6" fmla="*/ 1470406 w 1949450"/>
              <a:gd name="connsiteY6" fmla="*/ 29591 h 19050"/>
              <a:gd name="connsiteX7" fmla="*/ 983488 w 1949450"/>
              <a:gd name="connsiteY7" fmla="*/ 29591 h 19050"/>
              <a:gd name="connsiteX8" fmla="*/ 496569 w 1949450"/>
              <a:gd name="connsiteY8" fmla="*/ 29591 h 19050"/>
              <a:gd name="connsiteX9" fmla="*/ 9652 w 1949450"/>
              <a:gd name="connsiteY9" fmla="*/ 29591 h 19050"/>
              <a:gd name="connsiteX10" fmla="*/ 9652 w 1949450"/>
              <a:gd name="connsiteY10" fmla="*/ 11303 h 1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49450" h="19050">
                <a:moveTo>
                  <a:pt x="9652" y="11303"/>
                </a:moveTo>
                <a:lnTo>
                  <a:pt x="496569" y="11303"/>
                </a:lnTo>
                <a:lnTo>
                  <a:pt x="983488" y="11303"/>
                </a:lnTo>
                <a:lnTo>
                  <a:pt x="1470406" y="11303"/>
                </a:lnTo>
                <a:lnTo>
                  <a:pt x="1957323" y="11303"/>
                </a:lnTo>
                <a:lnTo>
                  <a:pt x="1957323" y="29591"/>
                </a:lnTo>
                <a:lnTo>
                  <a:pt x="1470406" y="29591"/>
                </a:lnTo>
                <a:lnTo>
                  <a:pt x="983488" y="29591"/>
                </a:lnTo>
                <a:lnTo>
                  <a:pt x="496569" y="29591"/>
                </a:lnTo>
                <a:lnTo>
                  <a:pt x="9652" y="29591"/>
                </a:lnTo>
                <a:lnTo>
                  <a:pt x="9652" y="11303"/>
                </a:lnTo>
                <a:close/>
              </a:path>
            </a:pathLst>
          </a:custGeom>
          <a:solidFill>
            <a:srgbClr val="006EB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Freeform 129"/>
          <p:cNvSpPr/>
          <p:nvPr/>
        </p:nvSpPr>
        <p:spPr>
          <a:xfrm>
            <a:off x="6683756" y="2403855"/>
            <a:ext cx="1876044" cy="21844"/>
          </a:xfrm>
          <a:custGeom>
            <a:avLst/>
            <a:gdLst>
              <a:gd name="connsiteX0" fmla="*/ 12445 w 1876044"/>
              <a:gd name="connsiteY0" fmla="*/ 11557 h 21844"/>
              <a:gd name="connsiteX1" fmla="*/ 479932 w 1876044"/>
              <a:gd name="connsiteY1" fmla="*/ 11557 h 21844"/>
              <a:gd name="connsiteX2" fmla="*/ 947419 w 1876044"/>
              <a:gd name="connsiteY2" fmla="*/ 11557 h 21844"/>
              <a:gd name="connsiteX3" fmla="*/ 1414906 w 1876044"/>
              <a:gd name="connsiteY3" fmla="*/ 11557 h 21844"/>
              <a:gd name="connsiteX4" fmla="*/ 1882393 w 1876044"/>
              <a:gd name="connsiteY4" fmla="*/ 11557 h 21844"/>
              <a:gd name="connsiteX5" fmla="*/ 1882393 w 1876044"/>
              <a:gd name="connsiteY5" fmla="*/ 29845 h 21844"/>
              <a:gd name="connsiteX6" fmla="*/ 1414906 w 1876044"/>
              <a:gd name="connsiteY6" fmla="*/ 29845 h 21844"/>
              <a:gd name="connsiteX7" fmla="*/ 947419 w 1876044"/>
              <a:gd name="connsiteY7" fmla="*/ 29845 h 21844"/>
              <a:gd name="connsiteX8" fmla="*/ 479932 w 1876044"/>
              <a:gd name="connsiteY8" fmla="*/ 29845 h 21844"/>
              <a:gd name="connsiteX9" fmla="*/ 12445 w 1876044"/>
              <a:gd name="connsiteY9" fmla="*/ 29845 h 21844"/>
              <a:gd name="connsiteX10" fmla="*/ 12445 w 1876044"/>
              <a:gd name="connsiteY10" fmla="*/ 11557 h 21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76044" h="21844">
                <a:moveTo>
                  <a:pt x="12445" y="11557"/>
                </a:moveTo>
                <a:lnTo>
                  <a:pt x="479932" y="11557"/>
                </a:lnTo>
                <a:lnTo>
                  <a:pt x="947419" y="11557"/>
                </a:lnTo>
                <a:lnTo>
                  <a:pt x="1414906" y="11557"/>
                </a:lnTo>
                <a:lnTo>
                  <a:pt x="1882393" y="11557"/>
                </a:lnTo>
                <a:lnTo>
                  <a:pt x="1882393" y="29845"/>
                </a:lnTo>
                <a:lnTo>
                  <a:pt x="1414906" y="29845"/>
                </a:lnTo>
                <a:lnTo>
                  <a:pt x="947419" y="29845"/>
                </a:lnTo>
                <a:lnTo>
                  <a:pt x="479932" y="29845"/>
                </a:lnTo>
                <a:lnTo>
                  <a:pt x="12445" y="29845"/>
                </a:lnTo>
                <a:lnTo>
                  <a:pt x="12445" y="11557"/>
                </a:lnTo>
                <a:close/>
              </a:path>
            </a:pathLst>
          </a:custGeom>
          <a:solidFill>
            <a:srgbClr val="006EB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30"/>
          <p:cNvSpPr txBox="1"/>
          <p:nvPr/>
        </p:nvSpPr>
        <p:spPr>
          <a:xfrm>
            <a:off x="91439" y="80391"/>
            <a:ext cx="8628883" cy="2380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2600" spc="-20" dirty="0">
                <a:solidFill>
                  <a:srgbClr val="2A428F"/>
                </a:solidFill>
                <a:latin typeface="Calibri"/>
                <a:ea typeface="Calibri"/>
              </a:rPr>
              <a:t>Scheda</a:t>
            </a:r>
            <a:r>
              <a:rPr lang="en-US" altLang="zh-CN" sz="2600" spc="-1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spc="-20" dirty="0">
                <a:solidFill>
                  <a:srgbClr val="2A428F"/>
                </a:solidFill>
                <a:latin typeface="Calibri"/>
                <a:ea typeface="Calibri"/>
              </a:rPr>
              <a:t>analisi</a:t>
            </a:r>
            <a:r>
              <a:rPr lang="en-US" altLang="zh-CN" sz="2600" spc="-1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spc="-20" dirty="0">
                <a:solidFill>
                  <a:srgbClr val="2A428F"/>
                </a:solidFill>
                <a:latin typeface="Calibri"/>
                <a:ea typeface="Calibri"/>
              </a:rPr>
              <a:t>procedimento</a:t>
            </a:r>
            <a:r>
              <a:rPr lang="en-US" altLang="zh-CN" sz="26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spc="-20" dirty="0">
                <a:solidFill>
                  <a:srgbClr val="2A428F"/>
                </a:solidFill>
                <a:latin typeface="Calibri"/>
                <a:ea typeface="Calibri"/>
              </a:rPr>
              <a:t>amministrativo</a:t>
            </a:r>
            <a:r>
              <a:rPr lang="en-US" altLang="zh-CN" sz="2600" spc="-1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spc="-20" dirty="0">
                <a:solidFill>
                  <a:srgbClr val="2A428F"/>
                </a:solidFill>
                <a:latin typeface="Calibri"/>
                <a:ea typeface="Calibri"/>
              </a:rPr>
              <a:t>-</a:t>
            </a:r>
            <a:r>
              <a:rPr lang="en-US" altLang="zh-CN" sz="2600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600" spc="-20" dirty="0">
                <a:solidFill>
                  <a:srgbClr val="2A428F"/>
                </a:solidFill>
                <a:latin typeface="Calibri"/>
                <a:ea typeface="Calibri"/>
              </a:rPr>
              <a:t>STEP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030"/>
              </a:lnSpc>
            </a:pPr>
            <a:endParaRPr lang="en-US" dirty="0" smtClean="0"/>
          </a:p>
          <a:p>
            <a:pPr marL="6605904" hangingPunct="0">
              <a:lnSpc>
                <a:spcPct val="95416"/>
              </a:lnSpc>
            </a:pPr>
            <a:r>
              <a:rPr lang="en-US" altLang="zh-CN" sz="2200" dirty="0">
                <a:solidFill>
                  <a:srgbClr val="006EBF"/>
                </a:solidFill>
                <a:latin typeface="Calibri"/>
                <a:ea typeface="Calibri"/>
              </a:rPr>
              <a:t>ESEMPIO</a:t>
            </a:r>
            <a:r>
              <a:rPr lang="en-US" altLang="zh-CN" sz="2200" dirty="0">
                <a:solidFill>
                  <a:srgbClr val="006EB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006EBF"/>
                </a:solidFill>
                <a:latin typeface="Calibri"/>
                <a:ea typeface="Calibri"/>
              </a:rPr>
              <a:t>DI</a:t>
            </a:r>
            <a:r>
              <a:rPr lang="en-US" altLang="zh-CN" sz="2200" spc="-110" dirty="0">
                <a:solidFill>
                  <a:srgbClr val="006EBF"/>
                </a:solidFill>
                <a:latin typeface="Calibri"/>
                <a:cs typeface="Calibri"/>
              </a:rPr>
              <a:t> </a:t>
            </a:r>
            <a:r>
              <a:rPr lang="en-US" altLang="zh-CN" sz="2200" dirty="0">
                <a:solidFill>
                  <a:srgbClr val="006EBF"/>
                </a:solidFill>
                <a:latin typeface="Calibri"/>
                <a:ea typeface="Calibri"/>
              </a:rPr>
              <a:t>STEP</a:t>
            </a:r>
            <a:r>
              <a:rPr lang="en-US" altLang="zh-CN" sz="2200" dirty="0">
                <a:solidFill>
                  <a:srgbClr val="006EBF"/>
                </a:solidFill>
                <a:latin typeface="Calibri"/>
                <a:cs typeface="Calibri"/>
              </a:rPr>
              <a:t> </a:t>
            </a:r>
            <a:r>
              <a:rPr lang="en-US" altLang="zh-CN" sz="2200" u="sng" dirty="0">
                <a:solidFill>
                  <a:srgbClr val="006EBF"/>
                </a:solidFill>
                <a:uFill>
                  <a:solidFill>
                    <a:srgbClr val="006EBF"/>
                  </a:solidFill>
                </a:uFill>
                <a:latin typeface="Calibri"/>
                <a:ea typeface="Calibri"/>
                <a:hlinkClick r:id="rId3"/>
              </a:rPr>
              <a:t>DEL</a:t>
            </a:r>
            <a:r>
              <a:rPr lang="en-US" altLang="zh-CN" sz="2200" dirty="0">
                <a:solidFill>
                  <a:srgbClr val="006EBF"/>
                </a:solidFill>
                <a:latin typeface="Calibri"/>
                <a:cs typeface="Calibri"/>
              </a:rPr>
              <a:t> </a:t>
            </a:r>
            <a:r>
              <a:rPr lang="en-US" altLang="zh-CN" sz="2200" spc="-15" dirty="0">
                <a:solidFill>
                  <a:srgbClr val="006EBF"/>
                </a:solidFill>
                <a:latin typeface="Calibri"/>
                <a:ea typeface="Calibri"/>
                <a:hlinkClick r:id=""/>
              </a:rPr>
              <a:t>PR</a:t>
            </a:r>
            <a:r>
              <a:rPr lang="en-US" altLang="zh-CN" sz="2200" spc="-10" dirty="0">
                <a:solidFill>
                  <a:srgbClr val="006EBF"/>
                </a:solidFill>
                <a:latin typeface="Calibri"/>
                <a:ea typeface="Calibri"/>
                <a:hlinkClick r:id=""/>
              </a:rPr>
              <a:t>OCEDIMENTO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306184" y="937387"/>
          <a:ext cx="6312927" cy="55048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1192"/>
                <a:gridCol w="4491735"/>
              </a:tblGrid>
              <a:tr h="977772">
                <a:tc>
                  <a:txBody>
                    <a:bodyPr/>
                    <a:lstStyle/>
                    <a:p>
                      <a:pPr>
                        <a:lnSpc>
                          <a:spcPts val="750"/>
                        </a:lnSpc>
                      </a:pPr>
                      <a:endParaRPr lang="en-US" dirty="0" smtClean="0"/>
                    </a:p>
                    <a:p>
                      <a:pPr marL="23837" hangingPunct="0">
                        <a:lnSpc>
                          <a:spcPct val="114999"/>
                        </a:lnSpc>
                      </a:pPr>
                      <a:r>
                        <a:rPr lang="en-US" altLang="zh-CN" sz="1500" b="1" spc="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Ordine</a:t>
                      </a:r>
                      <a:r>
                        <a:rPr lang="en-US" altLang="zh-CN" sz="1500" b="1" spc="-169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b="1" spc="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progressivo</a:t>
                      </a:r>
                      <a:r>
                        <a:rPr lang="en-US" altLang="zh-CN" sz="15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delle</a:t>
                      </a:r>
                      <a:r>
                        <a:rPr lang="en-US" altLang="zh-CN" sz="15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fasi</a:t>
                      </a:r>
                      <a:r>
                        <a:rPr lang="en-US" altLang="zh-CN" sz="1500" b="1" spc="-85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del</a:t>
                      </a:r>
                      <a:r>
                        <a:rPr lang="en-US" altLang="zh-CN" sz="15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b="1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proce</a:t>
                      </a:r>
                      <a:r>
                        <a:rPr lang="en-US" altLang="zh-CN" sz="1500" b="1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dimento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EFE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50"/>
                        </a:lnSpc>
                      </a:pPr>
                      <a:endParaRPr lang="en-US" dirty="0" smtClean="0"/>
                    </a:p>
                    <a:p>
                      <a:pPr marL="19304" hangingPunct="0">
                        <a:lnSpc>
                          <a:spcPct val="114999"/>
                        </a:lnSpc>
                      </a:pPr>
                      <a:r>
                        <a:rPr lang="en-US" altLang="zh-CN" sz="15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Breve</a:t>
                      </a:r>
                      <a:r>
                        <a:rPr lang="en-US" altLang="zh-CN" sz="1500" b="1" spc="-34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descrizione</a:t>
                      </a:r>
                      <a:r>
                        <a:rPr lang="en-US" altLang="zh-CN" sz="1500" b="1" spc="-4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puntuale</a:t>
                      </a:r>
                      <a:r>
                        <a:rPr lang="en-US" altLang="zh-CN" sz="1500" b="1" spc="-34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delle</a:t>
                      </a:r>
                      <a:r>
                        <a:rPr lang="en-US" altLang="zh-CN" sz="1500" b="1" spc="-4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attività</a:t>
                      </a:r>
                      <a:r>
                        <a:rPr lang="en-US" altLang="zh-CN" sz="1500" b="1" spc="-4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svolte,</a:t>
                      </a:r>
                      <a:r>
                        <a:rPr lang="en-US" altLang="zh-CN" sz="15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per</a:t>
                      </a:r>
                      <a:r>
                        <a:rPr lang="en-US" altLang="zh-CN" sz="15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fase,</a:t>
                      </a:r>
                      <a:r>
                        <a:rPr lang="en-US" altLang="zh-CN" sz="15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dal</a:t>
                      </a:r>
                      <a:r>
                        <a:rPr lang="en-US" altLang="zh-CN" sz="15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personale</a:t>
                      </a:r>
                      <a:r>
                        <a:rPr lang="en-US" altLang="zh-CN" sz="15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per</a:t>
                      </a:r>
                      <a:r>
                        <a:rPr lang="en-US" altLang="zh-CN" sz="15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gestire</a:t>
                      </a:r>
                      <a:r>
                        <a:rPr lang="en-US" altLang="zh-CN" sz="1500" b="1" spc="-94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il</a:t>
                      </a:r>
                      <a:r>
                        <a:rPr lang="en-US" altLang="zh-CN" sz="1500" b="1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b="1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procedimento</a:t>
                      </a:r>
                      <a:r>
                        <a:rPr lang="en-US" altLang="zh-CN" sz="1500" b="1" spc="-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amministrativo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EFE00"/>
                    </a:solidFill>
                  </a:tcPr>
                </a:tc>
              </a:tr>
              <a:tr h="511683">
                <a:tc>
                  <a:txBody>
                    <a:bodyPr/>
                    <a:lstStyle/>
                    <a:p>
                      <a:pPr>
                        <a:lnSpc>
                          <a:spcPts val="1094"/>
                        </a:lnSpc>
                      </a:pPr>
                      <a:endParaRPr lang="en-US" dirty="0" smtClean="0"/>
                    </a:p>
                    <a:p>
                      <a:pPr marL="0" indent="23837">
                        <a:lnSpc>
                          <a:spcPct val="100000"/>
                        </a:lnSpc>
                      </a:pPr>
                      <a:r>
                        <a:rPr lang="en-US" altLang="zh-CN" sz="1500" spc="-1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fase</a:t>
                      </a:r>
                      <a:r>
                        <a:rPr lang="en-US" altLang="zh-CN" sz="1500" spc="-15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spc="-1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39"/>
                        </a:lnSpc>
                      </a:pPr>
                      <a:endParaRPr lang="en-US" dirty="0" smtClean="0"/>
                    </a:p>
                    <a:p>
                      <a:pPr marL="0" indent="19304">
                        <a:lnSpc>
                          <a:spcPct val="100000"/>
                        </a:lnSpc>
                      </a:pP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Monitoraggio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di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bandi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e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finanziamenti</a:t>
                      </a:r>
                      <a:r>
                        <a:rPr lang="en-US" altLang="zh-CN" sz="1500" spc="-55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idonei.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3291">
                <a:tc>
                  <a:txBody>
                    <a:bodyPr/>
                    <a:lstStyle/>
                    <a:p>
                      <a:pPr>
                        <a:lnSpc>
                          <a:spcPts val="744"/>
                        </a:lnSpc>
                      </a:pPr>
                      <a:endParaRPr lang="en-US" dirty="0" smtClean="0"/>
                    </a:p>
                    <a:p>
                      <a:pPr marL="0" indent="23837">
                        <a:lnSpc>
                          <a:spcPct val="100000"/>
                        </a:lnSpc>
                      </a:pPr>
                      <a:r>
                        <a:rPr lang="en-US" altLang="zh-CN" sz="1500" spc="-1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fase</a:t>
                      </a:r>
                      <a:r>
                        <a:rPr lang="en-US" altLang="zh-CN" sz="1500" spc="-15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spc="-1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44"/>
                        </a:lnSpc>
                      </a:pPr>
                      <a:endParaRPr lang="en-US" dirty="0" smtClean="0"/>
                    </a:p>
                    <a:p>
                      <a:pPr marL="0" indent="19304">
                        <a:lnSpc>
                          <a:spcPct val="100000"/>
                        </a:lnSpc>
                      </a:pP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verifica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della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fattibilità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degli</a:t>
                      </a:r>
                      <a:r>
                        <a:rPr lang="en-US" altLang="zh-CN" sz="1500" spc="-69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interventi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1682">
                <a:tc>
                  <a:txBody>
                    <a:bodyPr/>
                    <a:lstStyle/>
                    <a:p>
                      <a:pPr>
                        <a:lnSpc>
                          <a:spcPts val="1094"/>
                        </a:lnSpc>
                      </a:pPr>
                      <a:endParaRPr lang="en-US" dirty="0" smtClean="0"/>
                    </a:p>
                    <a:p>
                      <a:pPr marL="0" indent="23837">
                        <a:lnSpc>
                          <a:spcPct val="100000"/>
                        </a:lnSpc>
                      </a:pPr>
                      <a:r>
                        <a:rPr lang="en-US" altLang="zh-CN" sz="1500" spc="-1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fase</a:t>
                      </a:r>
                      <a:r>
                        <a:rPr lang="en-US" altLang="zh-CN" sz="1500" spc="-15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spc="-1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439"/>
                        </a:lnSpc>
                      </a:pPr>
                      <a:endParaRPr lang="en-US" dirty="0" smtClean="0"/>
                    </a:p>
                    <a:p>
                      <a:pPr marL="0" indent="19304">
                        <a:lnSpc>
                          <a:spcPct val="100000"/>
                        </a:lnSpc>
                      </a:pP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Predisposizione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di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progetti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di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fattibilità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</a:t>
                      </a:r>
                      <a:r>
                        <a:rPr lang="en-US" altLang="zh-CN" sz="1500" spc="-75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esecutivi.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3417">
                <a:tc>
                  <a:txBody>
                    <a:bodyPr/>
                    <a:lstStyle/>
                    <a:p>
                      <a:pPr>
                        <a:lnSpc>
                          <a:spcPts val="744"/>
                        </a:lnSpc>
                      </a:pPr>
                      <a:endParaRPr lang="en-US" dirty="0" smtClean="0"/>
                    </a:p>
                    <a:p>
                      <a:pPr marL="0" indent="23837">
                        <a:lnSpc>
                          <a:spcPct val="100000"/>
                        </a:lnSpc>
                      </a:pPr>
                      <a:r>
                        <a:rPr lang="en-US" altLang="zh-CN" sz="1500" spc="-1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fase</a:t>
                      </a:r>
                      <a:r>
                        <a:rPr lang="en-US" altLang="zh-CN" sz="1500" spc="-2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44"/>
                        </a:lnSpc>
                      </a:pPr>
                      <a:endParaRPr lang="en-US" dirty="0" smtClean="0"/>
                    </a:p>
                    <a:p>
                      <a:pPr marL="0" indent="19304">
                        <a:lnSpc>
                          <a:spcPct val="100000"/>
                        </a:lnSpc>
                      </a:pP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Rilievi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e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Ispezioni</a:t>
                      </a:r>
                      <a:r>
                        <a:rPr lang="en-US" altLang="zh-CN" sz="1500" spc="-44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tecniche.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3417">
                <a:tc>
                  <a:txBody>
                    <a:bodyPr/>
                    <a:lstStyle/>
                    <a:p>
                      <a:pPr>
                        <a:lnSpc>
                          <a:spcPts val="750"/>
                        </a:lnSpc>
                      </a:pPr>
                      <a:endParaRPr lang="en-US" dirty="0" smtClean="0"/>
                    </a:p>
                    <a:p>
                      <a:pPr marL="0" indent="23837">
                        <a:lnSpc>
                          <a:spcPct val="100000"/>
                        </a:lnSpc>
                      </a:pPr>
                      <a:r>
                        <a:rPr lang="en-US" altLang="zh-CN" sz="1500" spc="-1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fase</a:t>
                      </a:r>
                      <a:r>
                        <a:rPr lang="en-US" altLang="zh-CN" sz="1500" spc="-15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spc="-1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50"/>
                        </a:lnSpc>
                      </a:pPr>
                      <a:endParaRPr lang="en-US" dirty="0" smtClean="0"/>
                    </a:p>
                    <a:p>
                      <a:pPr marL="0" indent="19304">
                        <a:lnSpc>
                          <a:spcPct val="100000"/>
                        </a:lnSpc>
                      </a:pP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Redazione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Progetti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ed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atti</a:t>
                      </a:r>
                      <a:r>
                        <a:rPr lang="en-US" altLang="zh-CN" sz="1500" spc="-6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contabili.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86180">
                <a:tc>
                  <a:txBody>
                    <a:bodyPr/>
                    <a:lstStyle/>
                    <a:p>
                      <a:pPr>
                        <a:lnSpc>
                          <a:spcPts val="1785"/>
                        </a:lnSpc>
                      </a:pPr>
                      <a:endParaRPr lang="en-US" dirty="0" smtClean="0"/>
                    </a:p>
                    <a:p>
                      <a:pPr marL="0" indent="23837">
                        <a:lnSpc>
                          <a:spcPct val="100000"/>
                        </a:lnSpc>
                      </a:pPr>
                      <a:r>
                        <a:rPr lang="en-US" altLang="zh-CN" sz="1500" spc="-1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fase</a:t>
                      </a:r>
                      <a:r>
                        <a:rPr lang="en-US" altLang="zh-CN" sz="1500" spc="-15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spc="-1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09"/>
                        </a:lnSpc>
                      </a:pPr>
                      <a:endParaRPr lang="en-US" dirty="0" smtClean="0"/>
                    </a:p>
                    <a:p>
                      <a:pPr marL="19304" hangingPunct="0">
                        <a:lnSpc>
                          <a:spcPct val="114999"/>
                        </a:lnSpc>
                      </a:pP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Redazione</a:t>
                      </a:r>
                      <a:r>
                        <a:rPr lang="en-US" altLang="zh-CN" sz="1500" spc="-2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eventuali</a:t>
                      </a:r>
                      <a:r>
                        <a:rPr lang="en-US" altLang="zh-CN" sz="1500" spc="-25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Atti</a:t>
                      </a:r>
                      <a:r>
                        <a:rPr lang="en-US" altLang="zh-CN" sz="1500" spc="-25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di</a:t>
                      </a:r>
                      <a:r>
                        <a:rPr lang="en-US" altLang="zh-CN" sz="1500" spc="-25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gara</a:t>
                      </a:r>
                      <a:r>
                        <a:rPr lang="en-US" altLang="zh-CN" sz="1500" spc="-25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con</a:t>
                      </a:r>
                      <a:r>
                        <a:rPr lang="en-US" altLang="zh-CN" sz="1500" spc="-25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</a:t>
                      </a:r>
                      <a:r>
                        <a:rPr lang="en-US" altLang="zh-CN" sz="1500" spc="-25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relativi</a:t>
                      </a:r>
                      <a:r>
                        <a:rPr lang="en-US" altLang="zh-CN" sz="1500" spc="-3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uffici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spc="-1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pr</a:t>
                      </a:r>
                      <a:r>
                        <a:rPr lang="en-US" altLang="zh-CN" sz="1500" spc="-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eposti.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3417">
                <a:tc>
                  <a:txBody>
                    <a:bodyPr/>
                    <a:lstStyle/>
                    <a:p>
                      <a:pPr>
                        <a:lnSpc>
                          <a:spcPts val="750"/>
                        </a:lnSpc>
                      </a:pPr>
                      <a:endParaRPr lang="en-US" dirty="0" smtClean="0"/>
                    </a:p>
                    <a:p>
                      <a:pPr marL="0" indent="23837">
                        <a:lnSpc>
                          <a:spcPct val="100000"/>
                        </a:lnSpc>
                      </a:pPr>
                      <a:r>
                        <a:rPr lang="en-US" altLang="zh-CN" sz="1500" spc="-1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fase</a:t>
                      </a:r>
                      <a:r>
                        <a:rPr lang="en-US" altLang="zh-CN" sz="1500" spc="-15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spc="-1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7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50"/>
                        </a:lnSpc>
                      </a:pPr>
                      <a:endParaRPr lang="en-US" dirty="0" smtClean="0"/>
                    </a:p>
                    <a:p>
                      <a:pPr marL="0" indent="19304">
                        <a:lnSpc>
                          <a:spcPct val="100000"/>
                        </a:lnSpc>
                      </a:pP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Predisposizione</a:t>
                      </a:r>
                      <a:r>
                        <a:rPr lang="en-US" altLang="zh-CN" sz="1500" spc="-44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Atti</a:t>
                      </a:r>
                      <a:r>
                        <a:rPr lang="en-US" altLang="zh-CN" sz="1500" spc="-44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di</a:t>
                      </a:r>
                      <a:r>
                        <a:rPr lang="en-US" altLang="zh-CN" sz="1500" spc="-55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impegno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86282">
                <a:tc>
                  <a:txBody>
                    <a:bodyPr/>
                    <a:lstStyle/>
                    <a:p>
                      <a:pPr>
                        <a:lnSpc>
                          <a:spcPts val="1785"/>
                        </a:lnSpc>
                      </a:pPr>
                      <a:endParaRPr lang="en-US" dirty="0" smtClean="0"/>
                    </a:p>
                    <a:p>
                      <a:pPr marL="0" indent="23837">
                        <a:lnSpc>
                          <a:spcPct val="100000"/>
                        </a:lnSpc>
                      </a:pPr>
                      <a:r>
                        <a:rPr lang="en-US" altLang="zh-CN" sz="1500" spc="-1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fase</a:t>
                      </a:r>
                      <a:r>
                        <a:rPr lang="en-US" altLang="zh-CN" sz="1500" spc="-15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spc="-1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8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615"/>
                        </a:lnSpc>
                      </a:pPr>
                      <a:endParaRPr lang="en-US" dirty="0" smtClean="0"/>
                    </a:p>
                    <a:p>
                      <a:pPr marL="19304" hangingPunct="0">
                        <a:lnSpc>
                          <a:spcPct val="114999"/>
                        </a:lnSpc>
                      </a:pP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Emissione</a:t>
                      </a:r>
                      <a:r>
                        <a:rPr lang="en-US" altLang="zh-CN" sz="1500" spc="-3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di</a:t>
                      </a:r>
                      <a:r>
                        <a:rPr lang="en-US" altLang="zh-CN" sz="1500" spc="-3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Stati</a:t>
                      </a:r>
                      <a:r>
                        <a:rPr lang="en-US" altLang="zh-CN" sz="1500" spc="-34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Avanzamento</a:t>
                      </a:r>
                      <a:r>
                        <a:rPr lang="en-US" altLang="zh-CN" sz="1500" spc="-3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Lavori</a:t>
                      </a:r>
                      <a:r>
                        <a:rPr lang="en-US" altLang="zh-CN" sz="1500" spc="-34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e</a:t>
                      </a:r>
                      <a:r>
                        <a:rPr lang="en-US" altLang="zh-CN" sz="1500" spc="-3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di</a:t>
                      </a:r>
                      <a:r>
                        <a:rPr lang="en-US" altLang="zh-CN" sz="1500" spc="-4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Stati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finali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e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relative</a:t>
                      </a:r>
                      <a:r>
                        <a:rPr lang="en-US" altLang="zh-CN" sz="1500" spc="-5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liquidazioni.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37679">
                <a:tc>
                  <a:txBody>
                    <a:bodyPr/>
                    <a:lstStyle/>
                    <a:p>
                      <a:pPr>
                        <a:lnSpc>
                          <a:spcPts val="755"/>
                        </a:lnSpc>
                      </a:pPr>
                      <a:endParaRPr lang="en-US" dirty="0" smtClean="0"/>
                    </a:p>
                    <a:p>
                      <a:pPr marL="0" indent="23837">
                        <a:lnSpc>
                          <a:spcPct val="100000"/>
                        </a:lnSpc>
                      </a:pPr>
                      <a:r>
                        <a:rPr lang="en-US" altLang="zh-CN" sz="1500" spc="-1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fase</a:t>
                      </a:r>
                      <a:r>
                        <a:rPr lang="en-US" altLang="zh-CN" sz="1500" spc="-15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spc="-15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9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755"/>
                        </a:lnSpc>
                      </a:pPr>
                      <a:endParaRPr lang="en-US" dirty="0" smtClean="0"/>
                    </a:p>
                    <a:p>
                      <a:pPr marL="0" indent="19304">
                        <a:lnSpc>
                          <a:spcPct val="100000"/>
                        </a:lnSpc>
                      </a:pP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Predisposizione</a:t>
                      </a:r>
                      <a:r>
                        <a:rPr lang="en-US" altLang="zh-CN" sz="1500" spc="-3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di</a:t>
                      </a:r>
                      <a:r>
                        <a:rPr lang="en-US" altLang="zh-CN" sz="1500" spc="-34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Atti</a:t>
                      </a:r>
                      <a:r>
                        <a:rPr lang="en-US" altLang="zh-CN" sz="1500" spc="-34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di</a:t>
                      </a:r>
                      <a:r>
                        <a:rPr lang="en-US" altLang="zh-CN" sz="1500" spc="-40" dirty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lang="en-US" altLang="zh-CN" sz="1500" dirty="0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Collaudo.</a:t>
                      </a: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4695" y="1071568"/>
            <a:ext cx="8710863" cy="516872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3675" indent="-181610" algn="just">
              <a:lnSpc>
                <a:spcPct val="100000"/>
              </a:lnSpc>
              <a:spcBef>
                <a:spcPts val="105"/>
              </a:spcBef>
              <a:spcAft>
                <a:spcPts val="600"/>
              </a:spcAft>
              <a:buFont typeface="Arial"/>
              <a:buChar char="•"/>
              <a:tabLst>
                <a:tab pos="194310" algn="l"/>
              </a:tabLst>
            </a:pPr>
            <a:r>
              <a:rPr lang="it-IT" sz="3200" spc="-25" dirty="0" smtClean="0">
                <a:solidFill>
                  <a:srgbClr val="44536A"/>
                </a:solidFill>
                <a:latin typeface="Calibri"/>
                <a:cs typeface="Calibri"/>
              </a:rPr>
              <a:t>Per </a:t>
            </a:r>
            <a:r>
              <a:rPr sz="3200" dirty="0" err="1" smtClean="0">
                <a:solidFill>
                  <a:srgbClr val="44536A"/>
                </a:solidFill>
                <a:latin typeface="Calibri"/>
                <a:cs typeface="Calibri"/>
              </a:rPr>
              <a:t>realizzare</a:t>
            </a:r>
            <a:r>
              <a:rPr sz="3200" spc="-35" dirty="0" smtClean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lang="it-IT" sz="3200" spc="-35" dirty="0" smtClean="0">
                <a:solidFill>
                  <a:srgbClr val="44536A"/>
                </a:solidFill>
                <a:latin typeface="Calibri"/>
                <a:cs typeface="Calibri"/>
              </a:rPr>
              <a:t>qualunque </a:t>
            </a:r>
            <a:r>
              <a:rPr sz="3200" dirty="0" err="1" smtClean="0">
                <a:solidFill>
                  <a:srgbClr val="44536A"/>
                </a:solidFill>
                <a:latin typeface="Calibri"/>
                <a:cs typeface="Calibri"/>
              </a:rPr>
              <a:t>percorso</a:t>
            </a:r>
            <a:r>
              <a:rPr sz="3200" spc="-35" dirty="0" smtClean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4536A"/>
                </a:solidFill>
                <a:latin typeface="Calibri"/>
                <a:cs typeface="Calibri"/>
              </a:rPr>
              <a:t>di</a:t>
            </a:r>
            <a:r>
              <a:rPr sz="3200" spc="-1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dirty="0" err="1">
                <a:solidFill>
                  <a:srgbClr val="44536A"/>
                </a:solidFill>
                <a:latin typeface="Calibri"/>
                <a:cs typeface="Calibri"/>
              </a:rPr>
              <a:t>digitalizzazione</a:t>
            </a:r>
            <a:r>
              <a:rPr sz="3200" spc="1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lang="it-IT" sz="3200" dirty="0" smtClean="0">
                <a:solidFill>
                  <a:srgbClr val="44536A"/>
                </a:solidFill>
                <a:latin typeface="Calibri"/>
                <a:cs typeface="Calibri"/>
              </a:rPr>
              <a:t>serve una valutazione dei processi in uso ed una semplificazione degli stessi</a:t>
            </a:r>
            <a:endParaRPr sz="3200" dirty="0">
              <a:latin typeface="Calibri"/>
              <a:cs typeface="Calibri"/>
            </a:endParaRPr>
          </a:p>
          <a:p>
            <a:pPr marL="193675" marR="5080" indent="-181610" algn="just">
              <a:lnSpc>
                <a:spcPct val="100000"/>
              </a:lnSpc>
              <a:spcAft>
                <a:spcPts val="600"/>
              </a:spcAft>
              <a:buFont typeface="Arial"/>
              <a:buChar char="•"/>
              <a:tabLst>
                <a:tab pos="194310" algn="l"/>
              </a:tabLst>
            </a:pP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Integrare</a:t>
            </a:r>
            <a:r>
              <a:rPr sz="3200" b="1" u="sng" spc="-4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i</a:t>
            </a:r>
            <a:r>
              <a:rPr sz="3200" b="1" u="sng" spc="-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processi</a:t>
            </a:r>
            <a:r>
              <a:rPr sz="3200" b="1" u="sng" spc="-3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operativi</a:t>
            </a:r>
            <a:r>
              <a:rPr sz="3200" b="1" u="sng" spc="-2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con</a:t>
            </a:r>
            <a:r>
              <a:rPr sz="3200" b="1" u="sng" spc="-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le</a:t>
            </a:r>
            <a:r>
              <a:rPr sz="3200" b="1" u="sng" spc="-1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tecnologie</a:t>
            </a:r>
            <a:r>
              <a:rPr sz="3200" b="1" u="sng" spc="-3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e</a:t>
            </a:r>
            <a:r>
              <a:rPr sz="3200" b="1" u="sng" spc="-1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gli</a:t>
            </a:r>
            <a:r>
              <a:rPr sz="3200" b="1" u="sng" spc="-2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1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applicativi</a:t>
            </a:r>
            <a:r>
              <a:rPr sz="3200" b="1" spc="-1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4536A"/>
                </a:solidFill>
                <a:latin typeface="Calibri"/>
                <a:cs typeface="Calibri"/>
              </a:rPr>
              <a:t>necessari</a:t>
            </a:r>
            <a:r>
              <a:rPr sz="3200" spc="-4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4536A"/>
                </a:solidFill>
                <a:latin typeface="Calibri"/>
                <a:cs typeface="Calibri"/>
              </a:rPr>
              <a:t>alla</a:t>
            </a:r>
            <a:r>
              <a:rPr sz="3200" spc="-2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4536A"/>
                </a:solidFill>
                <a:latin typeface="Calibri"/>
                <a:cs typeface="Calibri"/>
              </a:rPr>
              <a:t>digitalizzazione</a:t>
            </a:r>
            <a:r>
              <a:rPr sz="3200" spc="2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4536A"/>
                </a:solidFill>
                <a:latin typeface="Calibri"/>
                <a:cs typeface="Calibri"/>
              </a:rPr>
              <a:t>dell’Ente</a:t>
            </a:r>
            <a:r>
              <a:rPr sz="3200" spc="-1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mediante</a:t>
            </a:r>
            <a:r>
              <a:rPr sz="3200" b="1" u="sng" spc="-4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l’analisi</a:t>
            </a:r>
            <a:r>
              <a:rPr sz="3200" b="1" u="sng" spc="-6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e</a:t>
            </a:r>
            <a:r>
              <a:rPr sz="3200" b="1" u="sng" spc="-2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la</a:t>
            </a:r>
            <a:r>
              <a:rPr sz="3200" b="1" u="sng" spc="-3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2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loro</a:t>
            </a:r>
            <a:r>
              <a:rPr sz="3200" b="1" spc="-2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b="1" u="sng" spc="-1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reingegnerizzazione</a:t>
            </a:r>
            <a:endParaRPr sz="3200" dirty="0">
              <a:latin typeface="Calibri"/>
              <a:cs typeface="Calibri"/>
            </a:endParaRPr>
          </a:p>
          <a:p>
            <a:pPr marL="193675" marR="266700" indent="-181610" algn="just">
              <a:lnSpc>
                <a:spcPct val="100000"/>
              </a:lnSpc>
              <a:spcAft>
                <a:spcPts val="600"/>
              </a:spcAft>
              <a:buFont typeface="Arial"/>
              <a:buChar char="•"/>
              <a:tabLst>
                <a:tab pos="194310" algn="l"/>
              </a:tabLst>
            </a:pPr>
            <a:r>
              <a:rPr sz="3200" dirty="0">
                <a:solidFill>
                  <a:srgbClr val="44536A"/>
                </a:solidFill>
                <a:latin typeface="Calibri"/>
                <a:cs typeface="Calibri"/>
              </a:rPr>
              <a:t>Garantire</a:t>
            </a:r>
            <a:r>
              <a:rPr sz="3200" spc="-1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4536A"/>
                </a:solidFill>
                <a:latin typeface="Calibri"/>
                <a:cs typeface="Calibri"/>
              </a:rPr>
              <a:t>che</a:t>
            </a:r>
            <a:r>
              <a:rPr sz="3200" spc="-1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4536A"/>
                </a:solidFill>
                <a:latin typeface="Calibri"/>
                <a:cs typeface="Calibri"/>
              </a:rPr>
              <a:t>i</a:t>
            </a:r>
            <a:r>
              <a:rPr sz="3200" spc="-2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4536A"/>
                </a:solidFill>
                <a:latin typeface="Calibri"/>
                <a:cs typeface="Calibri"/>
              </a:rPr>
              <a:t>processi</a:t>
            </a:r>
            <a:r>
              <a:rPr sz="3200" spc="-4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4536A"/>
                </a:solidFill>
                <a:latin typeface="Calibri"/>
                <a:cs typeface="Calibri"/>
              </a:rPr>
              <a:t>siano effettivamente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conformi</a:t>
            </a:r>
            <a:r>
              <a:rPr sz="3200" b="1" u="sng" spc="-2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a</a:t>
            </a:r>
            <a:r>
              <a:rPr sz="3200" b="1" u="sng" spc="-1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1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quanto</a:t>
            </a:r>
            <a:r>
              <a:rPr sz="3200" b="1" spc="-1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previsto</a:t>
            </a:r>
            <a:r>
              <a:rPr sz="3200" b="1" u="sng" spc="-2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dal</a:t>
            </a:r>
            <a:r>
              <a:rPr sz="3200" b="1" u="sng" spc="-2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CAD</a:t>
            </a:r>
            <a:endParaRPr sz="3200" dirty="0">
              <a:latin typeface="Calibri"/>
              <a:cs typeface="Calibri"/>
            </a:endParaRPr>
          </a:p>
          <a:p>
            <a:pPr marL="193675" indent="-181610" algn="just">
              <a:lnSpc>
                <a:spcPct val="100000"/>
              </a:lnSpc>
              <a:spcBef>
                <a:spcPts val="5"/>
              </a:spcBef>
              <a:spcAft>
                <a:spcPts val="600"/>
              </a:spcAft>
              <a:buFont typeface="Arial"/>
              <a:buChar char="•"/>
              <a:tabLst>
                <a:tab pos="194310" algn="l"/>
              </a:tabLst>
            </a:pPr>
            <a:r>
              <a:rPr sz="3200" dirty="0">
                <a:solidFill>
                  <a:srgbClr val="44536A"/>
                </a:solidFill>
                <a:latin typeface="Calibri"/>
                <a:cs typeface="Calibri"/>
              </a:rPr>
              <a:t>Portare</a:t>
            </a:r>
            <a:r>
              <a:rPr sz="3200" spc="-4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4536A"/>
                </a:solidFill>
                <a:latin typeface="Calibri"/>
                <a:cs typeface="Calibri"/>
              </a:rPr>
              <a:t>l’Ente</a:t>
            </a:r>
            <a:r>
              <a:rPr sz="3200" spc="-1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4536A"/>
                </a:solidFill>
                <a:latin typeface="Calibri"/>
                <a:cs typeface="Calibri"/>
              </a:rPr>
              <a:t>ad</a:t>
            </a:r>
            <a:r>
              <a:rPr sz="3200" spc="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acquisire</a:t>
            </a:r>
            <a:r>
              <a:rPr sz="3200" b="1" u="sng" spc="-4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lo</a:t>
            </a:r>
            <a:r>
              <a:rPr sz="3200" b="1" u="sng" spc="-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status</a:t>
            </a:r>
            <a:r>
              <a:rPr sz="3200" b="1" spc="-2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4536A"/>
                </a:solidFill>
                <a:latin typeface="Calibri"/>
                <a:cs typeface="Calibri"/>
              </a:rPr>
              <a:t>“</a:t>
            </a:r>
            <a:r>
              <a:rPr sz="3200" i="1" dirty="0">
                <a:solidFill>
                  <a:srgbClr val="44536A"/>
                </a:solidFill>
                <a:latin typeface="Calibri"/>
                <a:cs typeface="Calibri"/>
              </a:rPr>
              <a:t>Fully</a:t>
            </a:r>
            <a:r>
              <a:rPr sz="3200" i="1" spc="-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i="1" dirty="0">
                <a:solidFill>
                  <a:srgbClr val="44536A"/>
                </a:solidFill>
                <a:latin typeface="Calibri"/>
                <a:cs typeface="Calibri"/>
              </a:rPr>
              <a:t>digital</a:t>
            </a:r>
            <a:r>
              <a:rPr sz="3200" i="1" spc="2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i="1" dirty="0">
                <a:solidFill>
                  <a:srgbClr val="44536A"/>
                </a:solidFill>
                <a:latin typeface="Calibri"/>
                <a:cs typeface="Calibri"/>
              </a:rPr>
              <a:t>&amp;</a:t>
            </a:r>
            <a:r>
              <a:rPr sz="3200" i="1" spc="-1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i="1" dirty="0">
                <a:solidFill>
                  <a:srgbClr val="44536A"/>
                </a:solidFill>
                <a:latin typeface="Calibri"/>
                <a:cs typeface="Calibri"/>
              </a:rPr>
              <a:t>Paper</a:t>
            </a:r>
            <a:r>
              <a:rPr sz="3200" i="1" spc="-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3200" i="1" spc="-10" dirty="0">
                <a:solidFill>
                  <a:srgbClr val="44536A"/>
                </a:solidFill>
                <a:latin typeface="Calibri"/>
                <a:cs typeface="Calibri"/>
              </a:rPr>
              <a:t>free</a:t>
            </a:r>
            <a:r>
              <a:rPr sz="3200" spc="-10" dirty="0">
                <a:solidFill>
                  <a:srgbClr val="44536A"/>
                </a:solidFill>
                <a:latin typeface="Calibri"/>
                <a:cs typeface="Calibri"/>
              </a:rPr>
              <a:t>”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4695" y="328031"/>
            <a:ext cx="8710863" cy="651204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mpd="sng">
            <a:solidFill>
              <a:schemeClr val="tx1"/>
            </a:solidFill>
          </a:ln>
        </p:spPr>
        <p:txBody>
          <a:bodyPr vert="horz" wrap="square" lIns="0" tIns="157226" rIns="0" bIns="0" rtlCol="0">
            <a:spAutoFit/>
          </a:bodyPr>
          <a:lstStyle/>
          <a:p>
            <a:pPr marL="6350">
              <a:lnSpc>
                <a:spcPct val="100000"/>
              </a:lnSpc>
              <a:spcBef>
                <a:spcPts val="100"/>
              </a:spcBef>
            </a:pPr>
            <a:r>
              <a:rPr lang="it-IT" sz="3200" b="1" spc="-10" dirty="0" smtClean="0">
                <a:solidFill>
                  <a:schemeClr val="bg1"/>
                </a:solidFill>
              </a:rPr>
              <a:t>Ricapitolando: Se non si semplifica non si migliora</a:t>
            </a:r>
            <a:endParaRPr sz="3200" b="1" spc="-1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551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0287" y="1256644"/>
            <a:ext cx="8641208" cy="54758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" marR="805180" indent="-181610" algn="just">
              <a:lnSpc>
                <a:spcPct val="100000"/>
              </a:lnSpc>
              <a:spcBef>
                <a:spcPts val="100"/>
              </a:spcBef>
              <a:buFont typeface="Calibri"/>
              <a:buChar char="•"/>
              <a:tabLst>
                <a:tab pos="194310" algn="l"/>
              </a:tabLst>
            </a:pPr>
            <a:r>
              <a:rPr sz="24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DATI</a:t>
            </a:r>
            <a:r>
              <a:rPr sz="2400" b="1" u="sng" spc="-3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GENERALI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:</a:t>
            </a:r>
            <a:r>
              <a:rPr sz="2400" spc="-5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numero</a:t>
            </a:r>
            <a:r>
              <a:rPr sz="2400" spc="-3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di</a:t>
            </a:r>
            <a:r>
              <a:rPr sz="2400" spc="-1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 err="1" smtClean="0">
                <a:solidFill>
                  <a:srgbClr val="44536A"/>
                </a:solidFill>
                <a:latin typeface="Calibri"/>
                <a:cs typeface="Calibri"/>
              </a:rPr>
              <a:t>abitanti</a:t>
            </a:r>
            <a:r>
              <a:rPr lang="it-IT" sz="2400" dirty="0" smtClean="0">
                <a:solidFill>
                  <a:srgbClr val="44536A"/>
                </a:solidFill>
                <a:latin typeface="Calibri"/>
                <a:cs typeface="Calibri"/>
              </a:rPr>
              <a:t> o di cittadini serviti</a:t>
            </a:r>
            <a:r>
              <a:rPr sz="2400" dirty="0" smtClean="0">
                <a:solidFill>
                  <a:srgbClr val="44536A"/>
                </a:solidFill>
                <a:latin typeface="Calibri"/>
                <a:cs typeface="Calibri"/>
              </a:rPr>
              <a:t>,</a:t>
            </a:r>
            <a:r>
              <a:rPr sz="2400" spc="-30" dirty="0" smtClean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dotazione</a:t>
            </a:r>
            <a:r>
              <a:rPr sz="2400" spc="-1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organica</a:t>
            </a:r>
            <a:r>
              <a:rPr sz="2400" spc="-2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dell’Ente</a:t>
            </a:r>
            <a:r>
              <a:rPr sz="2400" spc="-2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e</a:t>
            </a:r>
            <a:r>
              <a:rPr sz="2400" spc="-1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suddivisione</a:t>
            </a:r>
            <a:r>
              <a:rPr sz="2400" spc="-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4536A"/>
                </a:solidFill>
                <a:latin typeface="Calibri"/>
                <a:cs typeface="Calibri"/>
              </a:rPr>
              <a:t>in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categorie,</a:t>
            </a:r>
            <a:r>
              <a:rPr sz="2400" spc="-4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struttura</a:t>
            </a:r>
            <a:r>
              <a:rPr sz="2400" spc="-2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dell’organico</a:t>
            </a:r>
            <a:r>
              <a:rPr sz="2400" spc="-3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per</a:t>
            </a:r>
            <a:r>
              <a:rPr sz="2400" spc="-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età,</a:t>
            </a:r>
            <a:r>
              <a:rPr sz="2400" spc="-2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incidenza</a:t>
            </a:r>
            <a:r>
              <a:rPr sz="2400" spc="-2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spesa</a:t>
            </a:r>
            <a:r>
              <a:rPr sz="2400" spc="-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in</a:t>
            </a:r>
            <a:r>
              <a:rPr sz="2400" spc="-3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ICT</a:t>
            </a:r>
            <a:r>
              <a:rPr sz="2400" spc="-1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(SW,</a:t>
            </a:r>
            <a:r>
              <a:rPr sz="2400" spc="-2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HW</a:t>
            </a:r>
            <a:r>
              <a:rPr sz="2400" spc="-1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ecc.)</a:t>
            </a:r>
            <a:r>
              <a:rPr sz="2400" spc="1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4536A"/>
                </a:solidFill>
                <a:latin typeface="Calibri"/>
                <a:cs typeface="Calibri"/>
              </a:rPr>
              <a:t>ecc.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44536A"/>
              </a:buClr>
              <a:buFont typeface="Calibri"/>
              <a:buChar char="•"/>
            </a:pPr>
            <a:endParaRPr sz="900" dirty="0">
              <a:latin typeface="Calibri"/>
              <a:cs typeface="Calibri"/>
            </a:endParaRPr>
          </a:p>
          <a:p>
            <a:pPr marL="193675" marR="5080" indent="-181610">
              <a:lnSpc>
                <a:spcPct val="100000"/>
              </a:lnSpc>
              <a:buFont typeface="Calibri"/>
              <a:buChar char="•"/>
              <a:tabLst>
                <a:tab pos="194310" algn="l"/>
              </a:tabLst>
            </a:pPr>
            <a:r>
              <a:rPr sz="24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DATI</a:t>
            </a:r>
            <a:r>
              <a:rPr sz="2400" b="1" u="sng" spc="-4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GIURIDICO</a:t>
            </a:r>
            <a:r>
              <a:rPr sz="2400" b="1" u="sng" spc="-3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NORMATIVI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:</a:t>
            </a:r>
            <a:r>
              <a:rPr sz="2400" spc="-3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nomine</a:t>
            </a:r>
            <a:r>
              <a:rPr sz="2400" spc="-1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dei</a:t>
            </a:r>
            <a:r>
              <a:rPr sz="2400" spc="-2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soggetti</a:t>
            </a:r>
            <a:r>
              <a:rPr sz="2400" spc="-3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coinvolti</a:t>
            </a:r>
            <a:r>
              <a:rPr sz="2400" spc="-3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nella</a:t>
            </a:r>
            <a:r>
              <a:rPr sz="2400" spc="-1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trasformazione</a:t>
            </a:r>
            <a:r>
              <a:rPr sz="2400" spc="-3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4536A"/>
                </a:solidFill>
                <a:latin typeface="Calibri"/>
                <a:cs typeface="Calibri"/>
              </a:rPr>
              <a:t>digitale,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utilizzo</a:t>
            </a:r>
            <a:r>
              <a:rPr sz="2400" spc="-3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dei</a:t>
            </a:r>
            <a:r>
              <a:rPr sz="2400" spc="-1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principali</a:t>
            </a:r>
            <a:r>
              <a:rPr sz="2400" spc="-4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strumenti</a:t>
            </a:r>
            <a:r>
              <a:rPr sz="2400" spc="-2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digitali</a:t>
            </a:r>
            <a:r>
              <a:rPr sz="2400" spc="-3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e</a:t>
            </a:r>
            <a:r>
              <a:rPr sz="2400" spc="-2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delle</a:t>
            </a:r>
            <a:r>
              <a:rPr sz="2400" spc="-1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piattaforme</a:t>
            </a:r>
            <a:r>
              <a:rPr sz="2400" spc="-2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abilitanti</a:t>
            </a:r>
            <a:r>
              <a:rPr sz="2400" spc="-4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per</a:t>
            </a:r>
            <a:r>
              <a:rPr sz="2400" spc="-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pagamenti</a:t>
            </a:r>
            <a:r>
              <a:rPr sz="2400" spc="-2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4536A"/>
                </a:solidFill>
                <a:latin typeface="Calibri"/>
                <a:cs typeface="Calibri"/>
              </a:rPr>
              <a:t>(PEC,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firma</a:t>
            </a:r>
            <a:r>
              <a:rPr sz="2400" spc="-3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digitale,</a:t>
            </a:r>
            <a:r>
              <a:rPr sz="2400" spc="-2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PagoPA</a:t>
            </a:r>
            <a:r>
              <a:rPr sz="2400" spc="-3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ecc.),</a:t>
            </a:r>
            <a:r>
              <a:rPr sz="2400" spc="-3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identità</a:t>
            </a:r>
            <a:r>
              <a:rPr sz="2400" spc="-2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digitale,</a:t>
            </a:r>
            <a:r>
              <a:rPr sz="2400" spc="-2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censimento</a:t>
            </a:r>
            <a:r>
              <a:rPr sz="2400" spc="-3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patrimonio</a:t>
            </a:r>
            <a:r>
              <a:rPr sz="2400" spc="-3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ICT</a:t>
            </a:r>
            <a:r>
              <a:rPr sz="2400" spc="-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4536A"/>
                </a:solidFill>
                <a:latin typeface="Calibri"/>
                <a:cs typeface="Calibri"/>
              </a:rPr>
              <a:t>dell’Ente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(finalizzato</a:t>
            </a:r>
            <a:r>
              <a:rPr sz="2400" spc="-4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alla</a:t>
            </a:r>
            <a:r>
              <a:rPr sz="2400" spc="-2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razionalizzazione</a:t>
            </a:r>
            <a:r>
              <a:rPr sz="2400" spc="-1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degli</a:t>
            </a:r>
            <a:r>
              <a:rPr sz="2400" spc="-1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acquisti),</a:t>
            </a:r>
            <a:r>
              <a:rPr sz="2400" spc="-3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modalità</a:t>
            </a:r>
            <a:r>
              <a:rPr sz="2400" spc="-2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di</a:t>
            </a:r>
            <a:r>
              <a:rPr sz="2400" spc="-3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formazione</a:t>
            </a:r>
            <a:r>
              <a:rPr sz="2400" spc="-1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e</a:t>
            </a:r>
            <a:r>
              <a:rPr sz="2400" spc="-10" dirty="0">
                <a:solidFill>
                  <a:srgbClr val="44536A"/>
                </a:solidFill>
                <a:latin typeface="Calibri"/>
                <a:cs typeface="Calibri"/>
              </a:rPr>
              <a:t> conservazione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dei</a:t>
            </a:r>
            <a:r>
              <a:rPr sz="2400" spc="-2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documenti</a:t>
            </a:r>
            <a:r>
              <a:rPr sz="2400" spc="-3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informatici,</a:t>
            </a:r>
            <a:r>
              <a:rPr sz="2400" spc="-3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4536A"/>
                </a:solidFill>
                <a:latin typeface="Calibri"/>
                <a:cs typeface="Calibri"/>
              </a:rPr>
              <a:t>ecc.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44536A"/>
              </a:buClr>
              <a:buFont typeface="Calibri"/>
              <a:buChar char="•"/>
            </a:pPr>
            <a:endParaRPr sz="1000" dirty="0">
              <a:latin typeface="Calibri"/>
              <a:cs typeface="Calibri"/>
            </a:endParaRPr>
          </a:p>
          <a:p>
            <a:pPr marL="193675" marR="699770" indent="-181610">
              <a:lnSpc>
                <a:spcPct val="100000"/>
              </a:lnSpc>
              <a:buFont typeface="Calibri"/>
              <a:buChar char="•"/>
              <a:tabLst>
                <a:tab pos="194310" algn="l"/>
              </a:tabLst>
            </a:pPr>
            <a:r>
              <a:rPr sz="24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DATI</a:t>
            </a:r>
            <a:r>
              <a:rPr sz="2400" b="1" u="sng" spc="-20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ORGANIZZATIVI</a:t>
            </a:r>
            <a:r>
              <a:rPr sz="2400" b="1" u="sng" spc="-3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E</a:t>
            </a:r>
            <a:r>
              <a:rPr sz="2400" b="1" u="sng" spc="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DI</a:t>
            </a:r>
            <a:r>
              <a:rPr sz="2400" b="1" u="sng" spc="-15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solidFill>
                  <a:srgbClr val="44536A"/>
                </a:solidFill>
                <a:uFill>
                  <a:solidFill>
                    <a:srgbClr val="44536A"/>
                  </a:solidFill>
                </a:uFill>
                <a:latin typeface="Calibri"/>
                <a:cs typeface="Calibri"/>
              </a:rPr>
              <a:t>PROCESSO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:</a:t>
            </a:r>
            <a:r>
              <a:rPr sz="2400" spc="-2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modalità</a:t>
            </a:r>
            <a:r>
              <a:rPr sz="2400" spc="-2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di</a:t>
            </a:r>
            <a:r>
              <a:rPr sz="2400" spc="-1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comunicazione</a:t>
            </a:r>
            <a:r>
              <a:rPr sz="2400" spc="-3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con</a:t>
            </a:r>
            <a:r>
              <a:rPr sz="2400" spc="-1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cittadini</a:t>
            </a:r>
            <a:r>
              <a:rPr sz="2400" spc="-3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4536A"/>
                </a:solidFill>
                <a:latin typeface="Calibri"/>
                <a:cs typeface="Calibri"/>
              </a:rPr>
              <a:t>ed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imprese</a:t>
            </a:r>
            <a:r>
              <a:rPr sz="2400" spc="-3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(portali),</a:t>
            </a:r>
            <a:r>
              <a:rPr sz="2400" spc="-4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modalità</a:t>
            </a:r>
            <a:r>
              <a:rPr sz="2400" spc="-2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di</a:t>
            </a:r>
            <a:r>
              <a:rPr sz="2400" spc="-1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creazione</a:t>
            </a:r>
            <a:r>
              <a:rPr sz="2400" spc="-3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dei</a:t>
            </a:r>
            <a:r>
              <a:rPr sz="2400" spc="-1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documenti</a:t>
            </a:r>
            <a:r>
              <a:rPr sz="2400" spc="-4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(verticali),</a:t>
            </a:r>
            <a:r>
              <a:rPr sz="2400" spc="-3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priorità</a:t>
            </a:r>
            <a:r>
              <a:rPr sz="2400" spc="-2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rispetto</a:t>
            </a:r>
            <a:r>
              <a:rPr sz="2400" spc="-25" dirty="0">
                <a:solidFill>
                  <a:srgbClr val="44536A"/>
                </a:solidFill>
                <a:latin typeface="Calibri"/>
                <a:cs typeface="Calibri"/>
              </a:rPr>
              <a:t> ai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procedimenti</a:t>
            </a:r>
            <a:r>
              <a:rPr sz="2400" spc="-2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ancora</a:t>
            </a:r>
            <a:r>
              <a:rPr sz="2400" spc="-30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da</a:t>
            </a:r>
            <a:r>
              <a:rPr sz="2400" spc="-2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rendere</a:t>
            </a:r>
            <a:r>
              <a:rPr sz="2400" spc="-15" dirty="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4536A"/>
                </a:solidFill>
                <a:latin typeface="Calibri"/>
                <a:cs typeface="Calibri"/>
              </a:rPr>
              <a:t>digitali,</a:t>
            </a:r>
            <a:r>
              <a:rPr sz="2400" spc="-20" dirty="0">
                <a:solidFill>
                  <a:srgbClr val="44536A"/>
                </a:solidFill>
                <a:latin typeface="Calibri"/>
                <a:cs typeface="Calibri"/>
              </a:rPr>
              <a:t> ecc.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6729" y="211634"/>
            <a:ext cx="8229600" cy="83587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6350" cmpd="sng">
            <a:solidFill>
              <a:schemeClr val="tx1"/>
            </a:solidFill>
          </a:ln>
        </p:spPr>
        <p:txBody>
          <a:bodyPr vert="horz" wrap="square" lIns="0" tIns="157226" rIns="0" bIns="0" rtlCol="0">
            <a:spAutoFit/>
          </a:bodyPr>
          <a:lstStyle/>
          <a:p>
            <a:pPr marL="6350">
              <a:lnSpc>
                <a:spcPct val="100000"/>
              </a:lnSpc>
              <a:spcBef>
                <a:spcPts val="100"/>
              </a:spcBef>
            </a:pPr>
            <a:r>
              <a:rPr lang="it-IT" b="1" dirty="0" smtClean="0">
                <a:solidFill>
                  <a:schemeClr val="bg1"/>
                </a:solidFill>
              </a:rPr>
              <a:t>Serve un a</a:t>
            </a:r>
            <a:r>
              <a:rPr b="1" spc="-10" dirty="0" err="1" smtClean="0">
                <a:solidFill>
                  <a:schemeClr val="bg1"/>
                </a:solidFill>
              </a:rPr>
              <a:t>ssessment</a:t>
            </a:r>
            <a:endParaRPr b="1" spc="-1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2298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arrotondato 2"/>
          <p:cNvSpPr/>
          <p:nvPr/>
        </p:nvSpPr>
        <p:spPr>
          <a:xfrm>
            <a:off x="106017" y="5539409"/>
            <a:ext cx="8772940" cy="1033669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extBox 138"/>
          <p:cNvSpPr txBox="1"/>
          <p:nvPr/>
        </p:nvSpPr>
        <p:spPr>
          <a:xfrm>
            <a:off x="225287" y="536282"/>
            <a:ext cx="8653670" cy="60438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4000" spc="-30" dirty="0" err="1">
                <a:solidFill>
                  <a:srgbClr val="2A428F"/>
                </a:solidFill>
                <a:latin typeface="Calibri"/>
                <a:ea typeface="Calibri"/>
              </a:rPr>
              <a:t>linkografia</a:t>
            </a:r>
            <a:r>
              <a:rPr lang="en-US" altLang="zh-CN" sz="4000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4000" spc="-30" dirty="0" err="1" smtClean="0">
                <a:solidFill>
                  <a:srgbClr val="2A428F"/>
                </a:solidFill>
                <a:latin typeface="Calibri"/>
                <a:ea typeface="Calibri"/>
              </a:rPr>
              <a:t>indispensabile</a:t>
            </a:r>
            <a:endParaRPr lang="en-US" altLang="zh-CN" sz="1700" spc="-15" dirty="0">
              <a:solidFill>
                <a:srgbClr val="2A428F"/>
              </a:solidFill>
              <a:latin typeface="Calibri"/>
              <a:ea typeface="Calibri"/>
            </a:endParaRPr>
          </a:p>
          <a:p>
            <a:pPr marL="0" indent="126492">
              <a:lnSpc>
                <a:spcPct val="100000"/>
              </a:lnSpc>
              <a:spcBef>
                <a:spcPts val="110"/>
              </a:spcBef>
            </a:pPr>
            <a:r>
              <a:rPr lang="en-US" altLang="zh-CN" sz="1600" spc="34" dirty="0">
                <a:solidFill>
                  <a:srgbClr val="006EBF"/>
                </a:solidFill>
                <a:latin typeface="Segoe UI Symbol"/>
                <a:ea typeface="Segoe UI Symbol"/>
              </a:rPr>
              <a:t>❏</a:t>
            </a:r>
            <a:r>
              <a:rPr lang="en-US" altLang="zh-CN" sz="1600" spc="15" dirty="0">
                <a:solidFill>
                  <a:srgbClr val="006EBF"/>
                </a:solidFill>
                <a:latin typeface="Segoe UI Symbol"/>
                <a:cs typeface="Segoe UI Symbol"/>
              </a:rPr>
              <a:t>  </a:t>
            </a:r>
            <a:r>
              <a:rPr lang="en-US" altLang="zh-CN" sz="1600" b="1" spc="3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CAD</a:t>
            </a:r>
            <a:r>
              <a:rPr lang="en-US" altLang="zh-CN" sz="1600" b="1" spc="1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25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-</a:t>
            </a:r>
            <a:r>
              <a:rPr lang="en-US" altLang="zh-CN" sz="1600" b="1" spc="1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2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Codice</a:t>
            </a:r>
            <a:r>
              <a:rPr lang="en-US" altLang="zh-CN" sz="1600" b="1" spc="1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2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dell’Amministrazione</a:t>
            </a:r>
            <a:r>
              <a:rPr lang="en-US" altLang="zh-CN" sz="1600" b="1" spc="1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2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Digitale</a:t>
            </a:r>
          </a:p>
          <a:p>
            <a:pPr marL="0" indent="126492">
              <a:lnSpc>
                <a:spcPct val="90416"/>
              </a:lnSpc>
            </a:pPr>
            <a:r>
              <a:rPr lang="en-US" altLang="zh-CN" sz="1600" spc="50" dirty="0">
                <a:solidFill>
                  <a:schemeClr val="tx2">
                    <a:lumMod val="75000"/>
                  </a:schemeClr>
                </a:solidFill>
                <a:latin typeface="Segoe UI Symbol"/>
                <a:ea typeface="Segoe UI Symbol"/>
              </a:rPr>
              <a:t>❏</a:t>
            </a:r>
            <a:r>
              <a:rPr lang="en-US" altLang="zh-CN" sz="1600" spc="15" dirty="0">
                <a:solidFill>
                  <a:schemeClr val="tx2">
                    <a:lumMod val="75000"/>
                  </a:schemeClr>
                </a:solidFill>
                <a:latin typeface="Segoe UI Symbol"/>
                <a:cs typeface="Segoe UI Symbol"/>
              </a:rPr>
              <a:t>  </a:t>
            </a:r>
            <a:r>
              <a:rPr lang="en-US" altLang="zh-CN" sz="1600" b="1" spc="25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Piano</a:t>
            </a:r>
            <a:r>
              <a:rPr lang="en-US" altLang="zh-CN" sz="1600" b="1" spc="2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25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Triennale</a:t>
            </a:r>
            <a:r>
              <a:rPr lang="en-US" altLang="zh-CN" sz="1600" b="1" spc="1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34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per</a:t>
            </a:r>
            <a:r>
              <a:rPr lang="en-US" altLang="zh-CN" sz="1600" b="1" spc="1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25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l’informatica</a:t>
            </a:r>
            <a:r>
              <a:rPr lang="en-US" altLang="zh-CN" sz="1600" b="1" spc="1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2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nella</a:t>
            </a:r>
            <a:r>
              <a:rPr lang="en-US" altLang="zh-CN" sz="1600" b="1" spc="1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25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Pubblica</a:t>
            </a:r>
            <a:r>
              <a:rPr lang="en-US" altLang="zh-CN" sz="1600" b="1" spc="2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3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Amministrazione</a:t>
            </a:r>
            <a:r>
              <a:rPr lang="en-US" altLang="zh-CN" sz="1600" b="1" spc="1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3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2020</a:t>
            </a:r>
            <a:r>
              <a:rPr lang="en-US" altLang="zh-CN" sz="1600" b="1" spc="1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2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-</a:t>
            </a:r>
            <a:r>
              <a:rPr lang="en-US" altLang="zh-CN" sz="1600" b="1" spc="1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25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2022</a:t>
            </a:r>
          </a:p>
          <a:p>
            <a:pPr marL="0" indent="126492">
              <a:lnSpc>
                <a:spcPct val="90416"/>
              </a:lnSpc>
            </a:pPr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  <a:latin typeface="Segoe UI Symbol"/>
                <a:ea typeface="Segoe UI Symbol"/>
              </a:rPr>
              <a:t>❏</a:t>
            </a:r>
            <a:r>
              <a:rPr lang="en-US" altLang="zh-CN" sz="1600" spc="110" dirty="0">
                <a:solidFill>
                  <a:schemeClr val="tx2">
                    <a:lumMod val="75000"/>
                  </a:schemeClr>
                </a:solidFill>
                <a:latin typeface="Segoe UI Symbol"/>
                <a:cs typeface="Segoe UI Symbol"/>
              </a:rPr>
              <a:t> 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Linee</a:t>
            </a:r>
            <a:r>
              <a:rPr lang="en-US" altLang="zh-CN" sz="1600" b="1" spc="10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guida</a:t>
            </a:r>
            <a:r>
              <a:rPr lang="en-US" altLang="zh-CN" sz="1600" b="1" spc="10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su</a:t>
            </a:r>
            <a:r>
              <a:rPr lang="en-US" altLang="zh-CN" sz="1600" b="1" spc="10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acquisizione</a:t>
            </a:r>
            <a:r>
              <a:rPr lang="en-US" altLang="zh-CN" sz="1600" b="1" spc="104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600" b="1" spc="10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riuso</a:t>
            </a:r>
            <a:r>
              <a:rPr lang="en-US" altLang="zh-CN" sz="1600" b="1" spc="10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di</a:t>
            </a:r>
            <a:r>
              <a:rPr lang="en-US" altLang="zh-CN" sz="1600" b="1" spc="10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software</a:t>
            </a:r>
            <a:r>
              <a:rPr lang="en-US" altLang="zh-CN" sz="1600" b="1" spc="10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per</a:t>
            </a:r>
            <a:r>
              <a:rPr lang="en-US" altLang="zh-CN" sz="1600" b="1" spc="104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le</a:t>
            </a:r>
            <a:r>
              <a:rPr lang="en-US" altLang="zh-CN" sz="1600" b="1" spc="10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PA</a:t>
            </a:r>
          </a:p>
          <a:p>
            <a:pPr marL="450850" indent="-325438">
              <a:lnSpc>
                <a:spcPct val="90833"/>
              </a:lnSpc>
            </a:pPr>
            <a:r>
              <a:rPr lang="en-US" altLang="zh-CN" sz="1600" spc="40" dirty="0">
                <a:solidFill>
                  <a:schemeClr val="tx2">
                    <a:lumMod val="75000"/>
                  </a:schemeClr>
                </a:solidFill>
                <a:latin typeface="Segoe UI Symbol"/>
                <a:ea typeface="Segoe UI Symbol"/>
              </a:rPr>
              <a:t>❏</a:t>
            </a:r>
            <a:r>
              <a:rPr lang="en-US" altLang="zh-CN" sz="1600" spc="10" dirty="0">
                <a:solidFill>
                  <a:schemeClr val="tx2">
                    <a:lumMod val="75000"/>
                  </a:schemeClr>
                </a:solidFill>
                <a:latin typeface="Segoe UI Symbol"/>
                <a:cs typeface="Segoe UI Symbol"/>
              </a:rPr>
              <a:t>  </a:t>
            </a:r>
            <a:r>
              <a:rPr lang="en-US" altLang="zh-CN" sz="1600" b="1" spc="2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Catalogo</a:t>
            </a:r>
            <a:r>
              <a:rPr lang="en-US" altLang="zh-CN" sz="1600" b="1" spc="2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3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del</a:t>
            </a:r>
            <a:r>
              <a:rPr lang="en-US" altLang="zh-CN" sz="1600" b="1" spc="1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2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software</a:t>
            </a:r>
            <a:r>
              <a:rPr lang="en-US" altLang="zh-CN" sz="1600" b="1" spc="1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3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open</a:t>
            </a:r>
            <a:r>
              <a:rPr lang="en-US" altLang="zh-CN" sz="1600" b="1" spc="1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25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source</a:t>
            </a:r>
            <a:r>
              <a:rPr lang="en-US" altLang="zh-CN" sz="1600" b="1" spc="1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3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a</a:t>
            </a:r>
            <a:r>
              <a:rPr lang="en-US" altLang="zh-CN" sz="1600" b="1" spc="1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2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disposizione</a:t>
            </a:r>
            <a:r>
              <a:rPr lang="en-US" altLang="zh-CN" sz="1600" b="1" spc="1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2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della</a:t>
            </a:r>
            <a:r>
              <a:rPr lang="en-US" altLang="zh-CN" sz="1600" b="1" spc="1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44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PA</a:t>
            </a:r>
            <a:r>
              <a:rPr lang="en-US" altLang="zh-CN" sz="1600" b="1" spc="1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25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(AGID</a:t>
            </a:r>
            <a:r>
              <a:rPr lang="en-US" altLang="zh-CN" sz="1600" b="1" spc="1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5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+</a:t>
            </a:r>
            <a:r>
              <a:rPr lang="en-US" altLang="zh-CN" sz="1600" b="1" spc="1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30" dirty="0" smtClean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Team </a:t>
            </a:r>
            <a:r>
              <a:rPr lang="en-US" altLang="zh-CN" sz="1600" b="1" spc="25" dirty="0" err="1" smtClean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  <a:hlinkClick r:id="rId2"/>
              </a:rPr>
              <a:t>Trasformazione</a:t>
            </a:r>
            <a:r>
              <a:rPr lang="en-US" altLang="zh-CN" sz="1600" b="1" spc="25" dirty="0" smtClean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 </a:t>
            </a:r>
            <a:r>
              <a:rPr lang="en-US" altLang="zh-CN" sz="1600" b="1" spc="25" dirty="0" err="1" smtClean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  <a:hlinkClick r:id=""/>
              </a:rPr>
              <a:t>Digitale</a:t>
            </a:r>
            <a:r>
              <a:rPr lang="en-US" altLang="zh-CN" sz="1600" b="1" spc="25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  <a:hlinkClick r:id=""/>
              </a:rPr>
              <a:t>)</a:t>
            </a:r>
          </a:p>
          <a:p>
            <a:pPr marL="126492" hangingPunct="0">
              <a:lnSpc>
                <a:spcPct val="90416"/>
              </a:lnSpc>
            </a:pPr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  <a:latin typeface="Segoe UI Symbol"/>
                <a:ea typeface="Segoe UI Symbol"/>
              </a:rPr>
              <a:t>❏</a:t>
            </a:r>
            <a:r>
              <a:rPr lang="en-US" altLang="zh-CN" sz="1600" spc="75" dirty="0">
                <a:solidFill>
                  <a:schemeClr val="tx2">
                    <a:lumMod val="75000"/>
                  </a:schemeClr>
                </a:solidFill>
                <a:latin typeface="Segoe UI Symbol"/>
                <a:cs typeface="Segoe UI Symbol"/>
              </a:rPr>
              <a:t> 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Linee</a:t>
            </a:r>
            <a:r>
              <a:rPr lang="en-US" altLang="zh-CN" sz="1600" b="1" spc="7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guida</a:t>
            </a:r>
            <a:r>
              <a:rPr lang="en-US" altLang="zh-CN" sz="1600" b="1" spc="7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AGID</a:t>
            </a:r>
            <a:r>
              <a:rPr lang="en-US" altLang="zh-CN" sz="1600" b="1" spc="69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per</a:t>
            </a:r>
            <a:r>
              <a:rPr lang="en-US" altLang="zh-CN" sz="1600" b="1" spc="69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lo</a:t>
            </a:r>
            <a:r>
              <a:rPr lang="en-US" altLang="zh-CN" sz="1600" b="1" spc="7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sviluppo</a:t>
            </a:r>
            <a:r>
              <a:rPr lang="en-US" altLang="zh-CN" sz="1600" b="1" spc="69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del</a:t>
            </a:r>
            <a:r>
              <a:rPr lang="en-US" altLang="zh-CN" sz="1600" b="1" spc="7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software</a:t>
            </a:r>
            <a:r>
              <a:rPr lang="en-US" altLang="zh-CN" sz="1600" b="1" spc="69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sicuro</a:t>
            </a:r>
            <a:r>
              <a:rPr lang="en-US" altLang="zh-CN" sz="1600" b="1" spc="69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nella</a:t>
            </a:r>
            <a:r>
              <a:rPr lang="en-US" altLang="zh-CN" sz="1600" b="1" spc="7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PA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2">
                    <a:lumMod val="75000"/>
                  </a:schemeClr>
                </a:solidFill>
              </a:rPr>
              <a:t/>
            </a:r>
            <a:br>
              <a:rPr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  <a:latin typeface="Segoe UI Symbol"/>
                <a:ea typeface="Segoe UI Symbol"/>
              </a:rPr>
              <a:t>❏</a:t>
            </a:r>
            <a:r>
              <a:rPr lang="en-US" altLang="zh-CN" sz="1600" spc="104" dirty="0">
                <a:solidFill>
                  <a:schemeClr val="tx2">
                    <a:lumMod val="75000"/>
                  </a:schemeClr>
                </a:solidFill>
                <a:latin typeface="Segoe UI Symbol"/>
                <a:cs typeface="Segoe UI Symbol"/>
              </a:rPr>
              <a:t> 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Linee</a:t>
            </a:r>
            <a:r>
              <a:rPr lang="en-US" altLang="zh-CN" sz="1600" b="1" spc="94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guida</a:t>
            </a:r>
            <a:r>
              <a:rPr lang="en-US" altLang="zh-CN" sz="1600" b="1" spc="10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del</a:t>
            </a:r>
            <a:r>
              <a:rPr lang="en-US" altLang="zh-CN" sz="1600" b="1" spc="94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modello</a:t>
            </a:r>
            <a:r>
              <a:rPr lang="en-US" altLang="zh-CN" sz="1600" b="1" spc="94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di</a:t>
            </a:r>
            <a:r>
              <a:rPr lang="en-US" altLang="zh-CN" sz="1600" b="1" spc="10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interoperabilità</a:t>
            </a:r>
            <a:r>
              <a:rPr lang="en-US" altLang="zh-CN" sz="1600" b="1" spc="94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per</a:t>
            </a:r>
            <a:r>
              <a:rPr lang="en-US" altLang="zh-CN" sz="1600" b="1" spc="94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la</a:t>
            </a:r>
            <a:r>
              <a:rPr lang="en-US" altLang="zh-CN" sz="1600" b="1" spc="10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PA</a:t>
            </a:r>
          </a:p>
          <a:p>
            <a:pPr marL="0" indent="126492">
              <a:lnSpc>
                <a:spcPct val="90833"/>
              </a:lnSpc>
            </a:pPr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  <a:latin typeface="Segoe UI Symbol"/>
                <a:ea typeface="Segoe UI Symbol"/>
              </a:rPr>
              <a:t>❏</a:t>
            </a:r>
            <a:r>
              <a:rPr lang="en-US" altLang="zh-CN" sz="1600" spc="69" dirty="0">
                <a:solidFill>
                  <a:schemeClr val="tx2">
                    <a:lumMod val="75000"/>
                  </a:schemeClr>
                </a:solidFill>
                <a:latin typeface="Segoe UI Symbol"/>
                <a:cs typeface="Segoe UI Symbol"/>
              </a:rPr>
              <a:t> 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Linee</a:t>
            </a:r>
            <a:r>
              <a:rPr lang="en-US" altLang="zh-CN" sz="1600" b="1" spc="64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guida</a:t>
            </a:r>
            <a:r>
              <a:rPr lang="en-US" altLang="zh-CN" sz="1600" b="1" spc="64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al</a:t>
            </a:r>
            <a:r>
              <a:rPr lang="en-US" altLang="zh-CN" sz="1600" b="1" spc="69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linguaggio</a:t>
            </a:r>
            <a:r>
              <a:rPr lang="en-US" altLang="zh-CN" sz="1600" b="1" spc="64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della</a:t>
            </a:r>
            <a:r>
              <a:rPr lang="en-US" altLang="zh-CN" sz="1600" b="1" spc="64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PA</a:t>
            </a:r>
          </a:p>
          <a:p>
            <a:pPr marL="126492" hangingPunct="0">
              <a:lnSpc>
                <a:spcPct val="90416"/>
              </a:lnSpc>
            </a:pPr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  <a:latin typeface="Segoe UI Symbol"/>
                <a:ea typeface="Segoe UI Symbol"/>
              </a:rPr>
              <a:t>❏</a:t>
            </a:r>
            <a:r>
              <a:rPr lang="en-US" altLang="zh-CN" sz="1600" spc="50" dirty="0">
                <a:solidFill>
                  <a:schemeClr val="tx2">
                    <a:lumMod val="75000"/>
                  </a:schemeClr>
                </a:solidFill>
                <a:latin typeface="Segoe UI Symbol"/>
                <a:cs typeface="Segoe UI Symbol"/>
              </a:rPr>
              <a:t> 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Linee</a:t>
            </a:r>
            <a:r>
              <a:rPr lang="en-US" altLang="zh-CN" sz="1600" b="1" spc="5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guida</a:t>
            </a:r>
            <a:r>
              <a:rPr lang="en-US" altLang="zh-CN" sz="1600" b="1" spc="5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di</a:t>
            </a:r>
            <a:r>
              <a:rPr lang="en-US" altLang="zh-CN" sz="1600" b="1" spc="5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design</a:t>
            </a:r>
            <a:r>
              <a:rPr lang="en-US" altLang="zh-CN" sz="1600" b="1" spc="5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per</a:t>
            </a:r>
            <a:r>
              <a:rPr lang="en-US" altLang="zh-CN" sz="1600" b="1" spc="5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i</a:t>
            </a:r>
            <a:r>
              <a:rPr lang="en-US" altLang="zh-CN" sz="1600" b="1" spc="5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servizi</a:t>
            </a:r>
            <a:r>
              <a:rPr lang="en-US" altLang="zh-CN" sz="1600" b="1" spc="5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digitali</a:t>
            </a:r>
            <a:r>
              <a:rPr lang="en-US" altLang="zh-CN" sz="1600" b="1" spc="5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della</a:t>
            </a:r>
            <a:r>
              <a:rPr lang="en-US" altLang="zh-CN" sz="1600" b="1" spc="5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PA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2">
                    <a:lumMod val="75000"/>
                  </a:schemeClr>
                </a:solidFill>
              </a:rPr>
              <a:t/>
            </a:r>
            <a:br>
              <a:rPr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  <a:latin typeface="Segoe UI Symbol"/>
                <a:ea typeface="Segoe UI Symbol"/>
              </a:rPr>
              <a:t>❏</a:t>
            </a:r>
            <a:r>
              <a:rPr lang="en-US" altLang="zh-CN" sz="1600" spc="110" dirty="0">
                <a:solidFill>
                  <a:schemeClr val="tx2">
                    <a:lumMod val="75000"/>
                  </a:schemeClr>
                </a:solidFill>
                <a:latin typeface="Segoe UI Symbol"/>
                <a:cs typeface="Segoe UI Symbol"/>
              </a:rPr>
              <a:t> 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Linee</a:t>
            </a:r>
            <a:r>
              <a:rPr lang="en-US" altLang="zh-CN" sz="1600" b="1" spc="11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guida</a:t>
            </a:r>
            <a:r>
              <a:rPr lang="en-US" altLang="zh-CN" sz="1600" b="1" spc="104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per</a:t>
            </a:r>
            <a:r>
              <a:rPr lang="en-US" altLang="zh-CN" sz="1600" b="1" spc="10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la</a:t>
            </a:r>
            <a:r>
              <a:rPr lang="en-US" altLang="zh-CN" sz="1600" b="1" spc="104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promozione</a:t>
            </a:r>
            <a:r>
              <a:rPr lang="en-US" altLang="zh-CN" sz="1600" b="1" spc="104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dei</a:t>
            </a:r>
            <a:r>
              <a:rPr lang="en-US" altLang="zh-CN" sz="1600" b="1" spc="104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servizi</a:t>
            </a:r>
            <a:r>
              <a:rPr lang="en-US" altLang="zh-CN" sz="1600" b="1" spc="104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digitali</a:t>
            </a:r>
          </a:p>
          <a:p>
            <a:pPr marL="126492" hangingPunct="0">
              <a:lnSpc>
                <a:spcPct val="90833"/>
              </a:lnSpc>
            </a:pPr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  <a:latin typeface="Segoe UI Symbol"/>
                <a:ea typeface="Segoe UI Symbol"/>
              </a:rPr>
              <a:t>❏</a:t>
            </a:r>
            <a:r>
              <a:rPr lang="en-US" altLang="zh-CN" sz="1600" spc="125" dirty="0">
                <a:solidFill>
                  <a:schemeClr val="tx2">
                    <a:lumMod val="75000"/>
                  </a:schemeClr>
                </a:solidFill>
                <a:latin typeface="Segoe UI Symbol"/>
                <a:cs typeface="Segoe UI Symbol"/>
              </a:rPr>
              <a:t> 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La</a:t>
            </a:r>
            <a:r>
              <a:rPr lang="en-US" altLang="zh-CN" sz="1600" b="1" spc="12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carta</a:t>
            </a:r>
            <a:r>
              <a:rPr lang="en-US" altLang="zh-CN" sz="1600" b="1" spc="114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dei</a:t>
            </a:r>
            <a:r>
              <a:rPr lang="en-US" altLang="zh-CN" sz="1600" b="1" spc="114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principi</a:t>
            </a:r>
            <a:r>
              <a:rPr lang="en-US" altLang="zh-CN" sz="1600" b="1" spc="114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per</a:t>
            </a:r>
            <a:r>
              <a:rPr lang="en-US" altLang="zh-CN" sz="1600" b="1" spc="12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la</a:t>
            </a:r>
            <a:r>
              <a:rPr lang="en-US" altLang="zh-CN" sz="1600" b="1" spc="114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condotta</a:t>
            </a:r>
            <a:r>
              <a:rPr lang="en-US" altLang="zh-CN" sz="1600" b="1" spc="114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tecnologica</a:t>
            </a:r>
            <a:r>
              <a:rPr lang="en-US" altLang="zh-CN" sz="1600" b="1" spc="114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nel</a:t>
            </a:r>
            <a:r>
              <a:rPr lang="en-US" altLang="zh-CN" sz="1600" b="1" spc="12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procurement</a:t>
            </a:r>
            <a:r>
              <a:rPr lang="en-US" altLang="zh-CN" sz="1600" b="1" spc="114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della</a:t>
            </a:r>
            <a:r>
              <a:rPr lang="en-US" altLang="zh-CN" sz="1600" b="1" spc="114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PA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2">
                    <a:lumMod val="75000"/>
                  </a:schemeClr>
                </a:solidFill>
              </a:rPr>
              <a:t/>
            </a:r>
            <a:br>
              <a:rPr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sz="1600" spc="40" dirty="0">
                <a:solidFill>
                  <a:schemeClr val="tx2">
                    <a:lumMod val="75000"/>
                  </a:schemeClr>
                </a:solidFill>
                <a:latin typeface="Segoe UI Symbol"/>
                <a:ea typeface="Segoe UI Symbol"/>
              </a:rPr>
              <a:t>❏</a:t>
            </a:r>
            <a:r>
              <a:rPr lang="en-US" altLang="zh-CN" sz="1600" spc="15" dirty="0">
                <a:solidFill>
                  <a:schemeClr val="tx2">
                    <a:lumMod val="75000"/>
                  </a:schemeClr>
                </a:solidFill>
                <a:latin typeface="Segoe UI Symbol"/>
                <a:cs typeface="Segoe UI Symbol"/>
              </a:rPr>
              <a:t>  </a:t>
            </a:r>
            <a:r>
              <a:rPr lang="en-US" altLang="zh-CN" sz="1600" b="1" spc="25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Linee</a:t>
            </a:r>
            <a:r>
              <a:rPr lang="en-US" altLang="zh-CN" sz="1600" b="1" spc="2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2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guida</a:t>
            </a:r>
            <a:r>
              <a:rPr lang="en-US" altLang="zh-CN" sz="1600" b="1" spc="2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2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sull’accessibilità</a:t>
            </a:r>
            <a:r>
              <a:rPr lang="en-US" altLang="zh-CN" sz="1600" b="1" spc="1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2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degli</a:t>
            </a:r>
            <a:r>
              <a:rPr lang="en-US" altLang="zh-CN" sz="1600" b="1" spc="1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25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strumenti</a:t>
            </a:r>
            <a:r>
              <a:rPr lang="en-US" altLang="zh-CN" sz="1600" b="1" spc="2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2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informatici</a:t>
            </a:r>
          </a:p>
          <a:p>
            <a:pPr marL="126492" hangingPunct="0">
              <a:lnSpc>
                <a:spcPct val="90416"/>
              </a:lnSpc>
            </a:pPr>
            <a:r>
              <a:rPr lang="en-US" altLang="zh-CN" sz="1600" spc="40" dirty="0">
                <a:solidFill>
                  <a:schemeClr val="tx2">
                    <a:lumMod val="75000"/>
                  </a:schemeClr>
                </a:solidFill>
                <a:latin typeface="Segoe UI Symbol"/>
                <a:ea typeface="Segoe UI Symbol"/>
              </a:rPr>
              <a:t>❏</a:t>
            </a:r>
            <a:r>
              <a:rPr lang="en-US" altLang="zh-CN" sz="1600" spc="10" dirty="0">
                <a:solidFill>
                  <a:schemeClr val="tx2">
                    <a:lumMod val="75000"/>
                  </a:schemeClr>
                </a:solidFill>
                <a:latin typeface="Segoe UI Symbol"/>
                <a:cs typeface="Segoe UI Symbol"/>
              </a:rPr>
              <a:t>  </a:t>
            </a:r>
            <a:r>
              <a:rPr lang="en-US" altLang="zh-CN" sz="1600" b="1" spc="2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Linee</a:t>
            </a:r>
            <a:r>
              <a:rPr lang="en-US" altLang="zh-CN" sz="1600" b="1" spc="2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25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guida</a:t>
            </a:r>
            <a:r>
              <a:rPr lang="en-US" altLang="zh-CN" sz="1600" b="1" spc="1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3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per</a:t>
            </a:r>
            <a:r>
              <a:rPr lang="en-US" altLang="zh-CN" sz="1600" b="1" spc="1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2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l’erogazione</a:t>
            </a:r>
            <a:r>
              <a:rPr lang="en-US" altLang="zh-CN" sz="1600" b="1" spc="1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3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del</a:t>
            </a:r>
            <a:r>
              <a:rPr lang="en-US" altLang="zh-CN" sz="1600" b="1" spc="1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2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servizio</a:t>
            </a:r>
            <a:r>
              <a:rPr lang="en-US" altLang="zh-CN" sz="1600" b="1" spc="1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2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pubblico</a:t>
            </a:r>
            <a:r>
              <a:rPr lang="en-US" altLang="zh-CN" sz="1600" b="1" spc="1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4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wi</a:t>
            </a:r>
            <a:r>
              <a:rPr lang="en-US" altLang="zh-CN" sz="1600" b="1" spc="15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-fi</a:t>
            </a:r>
            <a:r>
              <a:rPr lang="en-US" altLang="zh-CN" sz="1600" b="1" spc="1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2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free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chemeClr val="tx2">
                    <a:lumMod val="75000"/>
                  </a:schemeClr>
                </a:solidFill>
              </a:rPr>
              <a:t/>
            </a:r>
            <a:br>
              <a:rPr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  <a:latin typeface="Segoe UI Symbol"/>
                <a:ea typeface="Segoe UI Symbol"/>
              </a:rPr>
              <a:t>❏</a:t>
            </a:r>
            <a:r>
              <a:rPr lang="en-US" altLang="zh-CN" sz="1600" spc="50" dirty="0">
                <a:solidFill>
                  <a:schemeClr val="tx2">
                    <a:lumMod val="75000"/>
                  </a:schemeClr>
                </a:solidFill>
                <a:latin typeface="Segoe UI Symbol"/>
                <a:cs typeface="Segoe UI Symbol"/>
              </a:rPr>
              <a:t> 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Linee</a:t>
            </a:r>
            <a:r>
              <a:rPr lang="en-US" altLang="zh-CN" sz="1600" b="1" spc="5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guida</a:t>
            </a:r>
            <a:r>
              <a:rPr lang="en-US" altLang="zh-CN" sz="1600" b="1" spc="5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AGID</a:t>
            </a:r>
            <a:r>
              <a:rPr lang="en-US" altLang="zh-CN" sz="1600" b="1" spc="44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sulla</a:t>
            </a:r>
            <a:r>
              <a:rPr lang="en-US" altLang="zh-CN" sz="1600" b="1" spc="5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sicurezza</a:t>
            </a:r>
            <a:r>
              <a:rPr lang="en-US" altLang="zh-CN" sz="1600" b="1" spc="5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nel</a:t>
            </a:r>
            <a:r>
              <a:rPr lang="en-US" altLang="zh-CN" sz="1600" b="1" spc="44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procurement</a:t>
            </a:r>
            <a:r>
              <a:rPr lang="en-US" altLang="zh-CN" sz="1600" b="1" spc="5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ICT</a:t>
            </a:r>
          </a:p>
          <a:p>
            <a:pPr marL="0" indent="126492">
              <a:lnSpc>
                <a:spcPct val="90833"/>
              </a:lnSpc>
            </a:pPr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  <a:latin typeface="Segoe UI Symbol"/>
                <a:ea typeface="Segoe UI Symbol"/>
              </a:rPr>
              <a:t>❏</a:t>
            </a:r>
            <a:r>
              <a:rPr lang="en-US" altLang="zh-CN" sz="1600" spc="89" dirty="0">
                <a:solidFill>
                  <a:schemeClr val="tx2">
                    <a:lumMod val="75000"/>
                  </a:schemeClr>
                </a:solidFill>
                <a:latin typeface="Segoe UI Symbol"/>
                <a:cs typeface="Segoe UI Symbol"/>
              </a:rPr>
              <a:t> 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Il</a:t>
            </a:r>
            <a:r>
              <a:rPr lang="en-US" altLang="zh-CN" sz="1600" b="1" spc="89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modello</a:t>
            </a:r>
            <a:r>
              <a:rPr lang="en-US" altLang="zh-CN" sz="1600" b="1" spc="8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cloud</a:t>
            </a:r>
            <a:r>
              <a:rPr lang="en-US" altLang="zh-CN" sz="1600" b="1" spc="8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della</a:t>
            </a:r>
            <a:r>
              <a:rPr lang="en-US" altLang="zh-CN" sz="1600" b="1" spc="8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PA:</a:t>
            </a:r>
            <a:r>
              <a:rPr lang="en-US" altLang="zh-CN" sz="1600" b="1" spc="89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come</a:t>
            </a:r>
            <a:r>
              <a:rPr lang="en-US" altLang="zh-CN" sz="1600" b="1" spc="8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acquisire</a:t>
            </a:r>
            <a:r>
              <a:rPr lang="en-US" altLang="zh-CN" sz="1600" b="1" spc="8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servizi</a:t>
            </a:r>
            <a:r>
              <a:rPr lang="en-US" altLang="zh-CN" sz="1600" b="1" spc="8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cloud</a:t>
            </a:r>
            <a:r>
              <a:rPr lang="en-US" altLang="zh-CN" sz="1600" b="1" spc="8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qualificati.</a:t>
            </a:r>
            <a:r>
              <a:rPr lang="en-US" altLang="zh-CN" sz="1600" b="1" spc="8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Il</a:t>
            </a:r>
            <a:r>
              <a:rPr lang="en-US" altLang="zh-CN" sz="1600" b="1" spc="8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manuale</a:t>
            </a:r>
            <a:r>
              <a:rPr lang="en-US" altLang="zh-CN" sz="1600" b="1" spc="8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di</a:t>
            </a:r>
          </a:p>
          <a:p>
            <a:pPr marL="0" indent="457200">
              <a:lnSpc>
                <a:spcPct val="90416"/>
              </a:lnSpc>
            </a:pPr>
            <a:r>
              <a:rPr lang="en-US" altLang="zh-CN" sz="1600" b="1" spc="2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  <a:hlinkClick r:id="rId3"/>
              </a:rPr>
              <a:t>abilitazione</a:t>
            </a:r>
            <a:r>
              <a:rPr lang="en-US" altLang="zh-CN" sz="1600" b="1" spc="1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3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  <a:hlinkClick r:id="rId2"/>
              </a:rPr>
              <a:t>al</a:t>
            </a:r>
            <a:r>
              <a:rPr lang="en-US" altLang="zh-CN" sz="1600" b="1" spc="1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25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  <a:hlinkClick r:id="rId2"/>
              </a:rPr>
              <a:t>cloud</a:t>
            </a:r>
            <a:r>
              <a:rPr lang="en-US" altLang="zh-CN" sz="1600" b="1" spc="15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  <a:hlinkClick r:id="rId2"/>
              </a:rPr>
              <a:t>.</a:t>
            </a:r>
          </a:p>
          <a:p>
            <a:pPr marL="0" indent="126492">
              <a:lnSpc>
                <a:spcPct val="90833"/>
              </a:lnSpc>
            </a:pPr>
            <a:r>
              <a:rPr lang="en-US" altLang="zh-CN" sz="1600" spc="55" dirty="0">
                <a:solidFill>
                  <a:schemeClr val="tx2">
                    <a:lumMod val="75000"/>
                  </a:schemeClr>
                </a:solidFill>
                <a:latin typeface="Segoe UI Symbol"/>
                <a:ea typeface="Segoe UI Symbol"/>
              </a:rPr>
              <a:t>❏</a:t>
            </a:r>
            <a:r>
              <a:rPr lang="en-US" altLang="zh-CN" sz="1600" spc="15" dirty="0">
                <a:solidFill>
                  <a:schemeClr val="tx2">
                    <a:lumMod val="75000"/>
                  </a:schemeClr>
                </a:solidFill>
                <a:latin typeface="Segoe UI Symbol"/>
                <a:cs typeface="Segoe UI Symbol"/>
              </a:rPr>
              <a:t>  </a:t>
            </a:r>
            <a:r>
              <a:rPr lang="en-US" altLang="zh-CN" sz="1600" b="1" spc="34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La</a:t>
            </a:r>
            <a:r>
              <a:rPr lang="en-US" altLang="zh-CN" sz="1600" b="1" spc="2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25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Strategia</a:t>
            </a:r>
            <a:r>
              <a:rPr lang="en-US" altLang="zh-CN" sz="1600" b="1" spc="1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3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nazionale</a:t>
            </a:r>
            <a:r>
              <a:rPr lang="en-US" altLang="zh-CN" sz="1600" b="1" spc="1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3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600" b="1" spc="1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15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il</a:t>
            </a:r>
            <a:r>
              <a:rPr lang="en-US" altLang="zh-CN" sz="1600" b="1" spc="1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3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Piano</a:t>
            </a:r>
            <a:r>
              <a:rPr lang="en-US" altLang="zh-CN" sz="1600" b="1" spc="1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25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operativo</a:t>
            </a:r>
            <a:r>
              <a:rPr lang="en-US" altLang="zh-CN" sz="1600" b="1" spc="2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4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per</a:t>
            </a:r>
            <a:r>
              <a:rPr lang="en-US" altLang="zh-CN" sz="1600" b="1" spc="1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25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le</a:t>
            </a:r>
            <a:r>
              <a:rPr lang="en-US" altLang="zh-CN" sz="1600" b="1" spc="1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3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competenze</a:t>
            </a:r>
            <a:r>
              <a:rPr lang="en-US" altLang="zh-CN" sz="1600" b="1" spc="1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25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digitali</a:t>
            </a:r>
          </a:p>
          <a:p>
            <a:pPr marL="0" indent="126492">
              <a:lnSpc>
                <a:spcPct val="100000"/>
              </a:lnSpc>
            </a:pPr>
            <a:r>
              <a:rPr lang="en-US" altLang="zh-CN" sz="1600" spc="60" dirty="0">
                <a:solidFill>
                  <a:schemeClr val="tx2">
                    <a:lumMod val="75000"/>
                  </a:schemeClr>
                </a:solidFill>
                <a:latin typeface="Segoe UI Symbol"/>
                <a:ea typeface="Segoe UI Symbol"/>
              </a:rPr>
              <a:t>❏</a:t>
            </a:r>
            <a:r>
              <a:rPr lang="en-US" altLang="zh-CN" sz="1600" spc="20" dirty="0">
                <a:solidFill>
                  <a:schemeClr val="tx2">
                    <a:lumMod val="75000"/>
                  </a:schemeClr>
                </a:solidFill>
                <a:latin typeface="Segoe UI Symbol"/>
                <a:cs typeface="Segoe UI Symbol"/>
              </a:rPr>
              <a:t>  </a:t>
            </a:r>
            <a:r>
              <a:rPr lang="en-US" altLang="zh-CN" sz="1600" b="1" spc="3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Linee</a:t>
            </a:r>
            <a:r>
              <a:rPr lang="en-US" altLang="zh-CN" sz="1600" b="1" spc="2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34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guida</a:t>
            </a:r>
            <a:r>
              <a:rPr lang="en-US" altLang="zh-CN" sz="1600" b="1" spc="2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3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sulla</a:t>
            </a:r>
            <a:r>
              <a:rPr lang="en-US" altLang="zh-CN" sz="1600" b="1" spc="2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3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formazione,</a:t>
            </a:r>
            <a:r>
              <a:rPr lang="en-US" altLang="zh-CN" sz="1600" b="1" spc="2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34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gestione</a:t>
            </a:r>
            <a:r>
              <a:rPr lang="en-US" altLang="zh-CN" sz="1600" b="1" spc="2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44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e</a:t>
            </a:r>
            <a:r>
              <a:rPr lang="en-US" altLang="zh-CN" sz="1600" b="1" spc="2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3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conservazione</a:t>
            </a:r>
            <a:r>
              <a:rPr lang="en-US" altLang="zh-CN" sz="1600" b="1" spc="2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4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dei</a:t>
            </a:r>
            <a:r>
              <a:rPr lang="en-US" altLang="zh-CN" sz="1600" b="1" spc="20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34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documenti</a:t>
            </a:r>
            <a:r>
              <a:rPr lang="en-US" altLang="zh-CN" sz="1600" b="1" spc="25" dirty="0">
                <a:solidFill>
                  <a:schemeClr val="tx2">
                    <a:lumMod val="7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US" altLang="zh-CN" sz="1600" b="1" spc="30" dirty="0">
                <a:solidFill>
                  <a:schemeClr val="tx2">
                    <a:lumMod val="75000"/>
                  </a:schemeClr>
                </a:solidFill>
                <a:latin typeface="Times New Roman"/>
                <a:ea typeface="Times New Roman"/>
              </a:rPr>
              <a:t>informatici</a:t>
            </a:r>
          </a:p>
          <a:p>
            <a:pPr>
              <a:lnSpc>
                <a:spcPts val="1000"/>
              </a:lnSpc>
            </a:pPr>
            <a:endParaRPr lang="en-US" dirty="0" smtClean="0"/>
          </a:p>
          <a:p>
            <a:pPr>
              <a:lnSpc>
                <a:spcPts val="1355"/>
              </a:lnSpc>
            </a:pPr>
            <a:endParaRPr lang="en-US" dirty="0" smtClean="0"/>
          </a:p>
          <a:p>
            <a:pPr marL="1588" algn="just" hangingPunct="0">
              <a:lnSpc>
                <a:spcPct val="95416"/>
              </a:lnSpc>
            </a:pPr>
            <a:r>
              <a:rPr lang="en-US" altLang="zh-CN" sz="2400" b="1" dirty="0">
                <a:solidFill>
                  <a:srgbClr val="FFC000"/>
                </a:solidFill>
                <a:latin typeface="Calibri"/>
                <a:ea typeface="Calibri"/>
              </a:rPr>
              <a:t>Chiedere</a:t>
            </a:r>
            <a:r>
              <a:rPr lang="en-US" altLang="zh-CN" sz="2400" b="1" spc="-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altLang="zh-CN" sz="2400" b="1" dirty="0">
                <a:solidFill>
                  <a:srgbClr val="FFC000"/>
                </a:solidFill>
                <a:latin typeface="Calibri"/>
                <a:ea typeface="Calibri"/>
              </a:rPr>
              <a:t>alle</a:t>
            </a:r>
            <a:r>
              <a:rPr lang="en-US" altLang="zh-CN" sz="2400" b="1" spc="-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altLang="zh-CN" sz="2400" b="1" dirty="0">
                <a:solidFill>
                  <a:srgbClr val="FFC000"/>
                </a:solidFill>
                <a:latin typeface="Calibri"/>
                <a:ea typeface="Calibri"/>
              </a:rPr>
              <a:t>software</a:t>
            </a:r>
            <a:r>
              <a:rPr lang="en-US" altLang="zh-CN" sz="2400" b="1" spc="-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altLang="zh-CN" sz="2400" b="1" dirty="0">
                <a:solidFill>
                  <a:srgbClr val="FFC000"/>
                </a:solidFill>
                <a:latin typeface="Calibri"/>
                <a:ea typeface="Calibri"/>
              </a:rPr>
              <a:t>house</a:t>
            </a:r>
            <a:r>
              <a:rPr lang="en-US" altLang="zh-CN" sz="2400" b="1" spc="-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altLang="zh-CN" sz="2400" b="1" dirty="0">
                <a:solidFill>
                  <a:srgbClr val="FFC000"/>
                </a:solidFill>
                <a:latin typeface="Calibri"/>
                <a:ea typeface="Calibri"/>
              </a:rPr>
              <a:t>l’attestazione</a:t>
            </a:r>
            <a:r>
              <a:rPr lang="en-US" altLang="zh-CN" sz="2400" b="1" spc="-44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altLang="zh-CN" sz="2400" b="1" dirty="0">
                <a:solidFill>
                  <a:srgbClr val="FFC000"/>
                </a:solidFill>
                <a:latin typeface="Calibri"/>
                <a:ea typeface="Calibri"/>
              </a:rPr>
              <a:t>formale</a:t>
            </a:r>
            <a:r>
              <a:rPr lang="en-US" altLang="zh-CN" sz="2400" b="1" spc="-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altLang="zh-CN" sz="2400" b="1" dirty="0">
                <a:solidFill>
                  <a:srgbClr val="FFC000"/>
                </a:solidFill>
                <a:latin typeface="Calibri"/>
                <a:ea typeface="Calibri"/>
              </a:rPr>
              <a:t>del</a:t>
            </a:r>
            <a:r>
              <a:rPr lang="en-US" altLang="zh-CN" sz="2400" b="1" spc="-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altLang="zh-CN" sz="2400" b="1" dirty="0">
                <a:solidFill>
                  <a:srgbClr val="FFC000"/>
                </a:solidFill>
                <a:latin typeface="Calibri"/>
                <a:ea typeface="Calibri"/>
              </a:rPr>
              <a:t>rispetto</a:t>
            </a:r>
            <a:r>
              <a:rPr lang="en-US" altLang="zh-CN" sz="2400" b="1" spc="-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altLang="zh-CN" sz="2400" b="1" dirty="0">
                <a:solidFill>
                  <a:srgbClr val="FFC000"/>
                </a:solidFill>
                <a:latin typeface="Calibri"/>
                <a:ea typeface="Calibri"/>
              </a:rPr>
              <a:t>delle</a:t>
            </a:r>
            <a:r>
              <a:rPr lang="en-US" altLang="zh-CN" sz="2400" b="1" spc="-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altLang="zh-CN" sz="2400" b="1" dirty="0">
                <a:solidFill>
                  <a:srgbClr val="FFC000"/>
                </a:solidFill>
                <a:latin typeface="Calibri"/>
                <a:ea typeface="Calibri"/>
              </a:rPr>
              <a:t>linee</a:t>
            </a:r>
            <a:r>
              <a:rPr lang="en-US" altLang="zh-CN" sz="2400" b="1" spc="-44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altLang="zh-CN" sz="2400" b="1" dirty="0">
                <a:solidFill>
                  <a:srgbClr val="FFC000"/>
                </a:solidFill>
                <a:latin typeface="Calibri"/>
                <a:ea typeface="Calibri"/>
              </a:rPr>
              <a:t>guida</a:t>
            </a:r>
            <a:r>
              <a:rPr lang="en-US" altLang="zh-CN" sz="2400" b="1" spc="-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altLang="zh-CN" sz="2400" b="1" dirty="0">
                <a:solidFill>
                  <a:srgbClr val="FFC000"/>
                </a:solidFill>
                <a:latin typeface="Calibri"/>
                <a:ea typeface="Calibri"/>
              </a:rPr>
              <a:t>AGID</a:t>
            </a:r>
            <a:r>
              <a:rPr lang="en-US" altLang="zh-CN" sz="2400" b="1" spc="-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altLang="zh-CN" sz="2400" b="1" dirty="0">
                <a:solidFill>
                  <a:srgbClr val="FFC000"/>
                </a:solidFill>
                <a:latin typeface="Calibri"/>
                <a:ea typeface="Calibri"/>
              </a:rPr>
              <a:t>nella</a:t>
            </a:r>
            <a:r>
              <a:rPr lang="en-US" altLang="zh-CN" sz="2400" b="1" spc="-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altLang="zh-CN" sz="2400" b="1" dirty="0">
                <a:solidFill>
                  <a:srgbClr val="FFC000"/>
                </a:solidFill>
                <a:latin typeface="Calibri"/>
                <a:ea typeface="Calibri"/>
              </a:rPr>
              <a:t>fornitura</a:t>
            </a:r>
            <a:r>
              <a:rPr lang="en-US" altLang="zh-CN" sz="2400" b="1" spc="-5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altLang="zh-CN" sz="2400" b="1" dirty="0">
                <a:solidFill>
                  <a:srgbClr val="FFC000"/>
                </a:solidFill>
                <a:latin typeface="Calibri"/>
                <a:ea typeface="Calibri"/>
              </a:rPr>
              <a:t>di</a:t>
            </a:r>
            <a:r>
              <a:rPr lang="en-US" altLang="zh-CN" sz="2400" b="1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altLang="zh-CN" sz="2400" b="1" dirty="0">
                <a:solidFill>
                  <a:srgbClr val="FFC000"/>
                </a:solidFill>
                <a:latin typeface="Calibri"/>
                <a:ea typeface="Calibri"/>
              </a:rPr>
              <a:t>soluzioni</a:t>
            </a:r>
            <a:r>
              <a:rPr lang="en-US" altLang="zh-CN" sz="2400" b="1" spc="-5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altLang="zh-CN" sz="2400" b="1" dirty="0">
                <a:solidFill>
                  <a:srgbClr val="FFC000"/>
                </a:solidFill>
                <a:latin typeface="Calibri"/>
                <a:ea typeface="Calibri"/>
              </a:rPr>
              <a:t>applicative.</a:t>
            </a:r>
            <a:r>
              <a:rPr lang="en-US" altLang="zh-CN" sz="2400" b="1" spc="-5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altLang="zh-CN" sz="2400" b="1" dirty="0">
                <a:solidFill>
                  <a:srgbClr val="FFC000"/>
                </a:solidFill>
                <a:latin typeface="Calibri"/>
                <a:ea typeface="Calibri"/>
              </a:rPr>
              <a:t>Inserire</a:t>
            </a:r>
            <a:r>
              <a:rPr lang="en-US" altLang="zh-CN" sz="2400" b="1" spc="-5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altLang="zh-CN" sz="2400" b="1" dirty="0">
                <a:solidFill>
                  <a:srgbClr val="FFC000"/>
                </a:solidFill>
                <a:latin typeface="Calibri"/>
                <a:ea typeface="Calibri"/>
              </a:rPr>
              <a:t>questo</a:t>
            </a:r>
            <a:r>
              <a:rPr lang="en-US" altLang="zh-CN" sz="2400" b="1" spc="-5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altLang="zh-CN" sz="2400" b="1" dirty="0">
                <a:solidFill>
                  <a:srgbClr val="FFC000"/>
                </a:solidFill>
                <a:latin typeface="Calibri"/>
                <a:ea typeface="Calibri"/>
              </a:rPr>
              <a:t>requisito</a:t>
            </a:r>
            <a:r>
              <a:rPr lang="en-US" altLang="zh-CN" sz="2400" b="1" spc="-5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altLang="zh-CN" sz="2400" b="1" dirty="0">
                <a:solidFill>
                  <a:srgbClr val="FFC000"/>
                </a:solidFill>
                <a:latin typeface="Calibri"/>
                <a:ea typeface="Calibri"/>
              </a:rPr>
              <a:t>nei</a:t>
            </a:r>
            <a:r>
              <a:rPr lang="en-US" altLang="zh-CN" sz="2400" b="1" spc="-5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altLang="zh-CN" sz="2400" b="1" dirty="0">
                <a:solidFill>
                  <a:srgbClr val="FFC000"/>
                </a:solidFill>
                <a:latin typeface="Calibri"/>
                <a:ea typeface="Calibri"/>
              </a:rPr>
              <a:t>capitolati</a:t>
            </a:r>
            <a:r>
              <a:rPr lang="en-US" altLang="zh-CN" sz="2400" b="1" spc="-6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lang="en-US" altLang="zh-CN" sz="2400" b="1" dirty="0">
                <a:solidFill>
                  <a:srgbClr val="FFC000"/>
                </a:solidFill>
                <a:latin typeface="Calibri"/>
                <a:ea typeface="Calibri"/>
              </a:rPr>
              <a:t>d’appalto!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0287" y="955467"/>
            <a:ext cx="8641208" cy="54912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it-IT" sz="2800" b="1" dirty="0"/>
              <a:t>I Responsabili della transizione digitale tra una quantità ridondante di competenze e un ruolo strategico nel PNRR</a:t>
            </a:r>
          </a:p>
          <a:p>
            <a:pPr marL="45720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it-IT" sz="2800" dirty="0"/>
              <a:t>I Responsabili della transizione digitale (RTD) svolgono un ruolo strategico rilevante come soggetti che concretamente concorrono nelle proprie amministrazioni alla progettazione e alla realizzazione di amministrazioni moderne, </a:t>
            </a:r>
            <a:r>
              <a:rPr lang="it-IT" sz="2800" b="1" u="sng" dirty="0" err="1"/>
              <a:t>nativamente</a:t>
            </a:r>
            <a:r>
              <a:rPr lang="it-IT" sz="2800" b="1" u="sng" dirty="0"/>
              <a:t> digitali</a:t>
            </a:r>
            <a:r>
              <a:rPr lang="it-IT" sz="2800" dirty="0"/>
              <a:t>, e all’attuazione del PNRR. </a:t>
            </a:r>
            <a:endParaRPr lang="it-IT" sz="2800" dirty="0" smtClean="0"/>
          </a:p>
          <a:p>
            <a:pPr marL="457200" indent="-4572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it-IT" sz="2800" dirty="0" smtClean="0"/>
              <a:t>Il </a:t>
            </a:r>
            <a:r>
              <a:rPr lang="it-IT" sz="2800" dirty="0"/>
              <a:t>profilo di Responsabile della transizione digitale delle P.A. è definito dal Codice dell’amministrazione (</a:t>
            </a:r>
            <a:r>
              <a:rPr lang="it-IT" sz="2800" dirty="0" err="1"/>
              <a:t>dlgs</a:t>
            </a:r>
            <a:r>
              <a:rPr lang="it-IT" sz="2800" dirty="0"/>
              <a:t> 82/2005 e </a:t>
            </a:r>
            <a:r>
              <a:rPr lang="it-IT" sz="2800" dirty="0" err="1"/>
              <a:t>sm</a:t>
            </a:r>
            <a:r>
              <a:rPr lang="it-IT" sz="2800" dirty="0"/>
              <a:t>, art. 17) assieme a tutte le competenze che lo riguardano. </a:t>
            </a:r>
            <a:endParaRPr lang="it-IT" sz="2800" dirty="0" smtClean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6729" y="12788"/>
            <a:ext cx="8229600" cy="83587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6350" cmpd="sng">
            <a:solidFill>
              <a:schemeClr val="tx1"/>
            </a:solidFill>
          </a:ln>
        </p:spPr>
        <p:txBody>
          <a:bodyPr vert="horz" wrap="square" lIns="0" tIns="157226" rIns="0" bIns="0" rtlCol="0">
            <a:spAutoFit/>
          </a:bodyPr>
          <a:lstStyle/>
          <a:p>
            <a:pPr marL="6350">
              <a:lnSpc>
                <a:spcPct val="100000"/>
              </a:lnSpc>
              <a:spcBef>
                <a:spcPts val="100"/>
              </a:spcBef>
            </a:pPr>
            <a:r>
              <a:rPr lang="it-IT" b="1" dirty="0" smtClean="0">
                <a:solidFill>
                  <a:schemeClr val="bg1"/>
                </a:solidFill>
              </a:rPr>
              <a:t>CONCLUSIONI</a:t>
            </a:r>
            <a:endParaRPr b="1" spc="-1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5949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0287" y="1172035"/>
            <a:ext cx="8641208" cy="49680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it-IT" sz="2600" b="1" dirty="0"/>
              <a:t>I Responsabili della transizione digitale tra una quantità ridondante di competenze e un ruolo strategico nel </a:t>
            </a:r>
            <a:r>
              <a:rPr lang="it-IT" sz="2600" b="1" dirty="0" smtClean="0"/>
              <a:t>PNRR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it-IT" sz="2600" i="1" dirty="0" smtClean="0"/>
              <a:t>I </a:t>
            </a:r>
            <a:r>
              <a:rPr lang="it-IT" sz="2600" i="1" dirty="0"/>
              <a:t>RTD nominati dalle P.A. sono circa 10.000 ma la semplice nomina dei RTD non permette di avviare la transizione digitale se tutto il contesto organizzativo resta invariato.</a:t>
            </a:r>
            <a:endParaRPr lang="it-IT" sz="2600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it-IT" sz="2600" dirty="0"/>
              <a:t>Il contesto “ambientale” nel quale operano  è caratterizzato da organizzazioni pubbliche legate </a:t>
            </a:r>
            <a:r>
              <a:rPr lang="it-IT" sz="2600" dirty="0" smtClean="0"/>
              <a:t>a </a:t>
            </a:r>
            <a:r>
              <a:rPr lang="it-IT" sz="2600" dirty="0"/>
              <a:t>regole e a prassi amministrative prevalentemente di tipo formalistico-giuridico (modello verticale di amministrazione; procedimenti e procedure lunghe, non semplificate e costose; scarsa attenzione ai cittadini e agli utenti dei servizi; poca amministrazione </a:t>
            </a:r>
            <a:r>
              <a:rPr lang="it-IT" sz="2600" dirty="0" err="1"/>
              <a:t>nativamente</a:t>
            </a:r>
            <a:r>
              <a:rPr lang="it-IT" sz="2600" dirty="0"/>
              <a:t> digitale). </a:t>
            </a:r>
            <a:endParaRPr lang="it-IT" sz="2600" b="1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6729" y="12788"/>
            <a:ext cx="8229600" cy="83587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6350" cmpd="sng">
            <a:solidFill>
              <a:schemeClr val="tx1"/>
            </a:solidFill>
          </a:ln>
        </p:spPr>
        <p:txBody>
          <a:bodyPr vert="horz" wrap="square" lIns="0" tIns="157226" rIns="0" bIns="0" rtlCol="0">
            <a:spAutoFit/>
          </a:bodyPr>
          <a:lstStyle/>
          <a:p>
            <a:pPr marL="6350">
              <a:lnSpc>
                <a:spcPct val="100000"/>
              </a:lnSpc>
              <a:spcBef>
                <a:spcPts val="100"/>
              </a:spcBef>
            </a:pPr>
            <a:r>
              <a:rPr lang="it-IT" b="1" dirty="0" smtClean="0">
                <a:solidFill>
                  <a:schemeClr val="bg1"/>
                </a:solidFill>
              </a:rPr>
              <a:t>CONCLUSIONI</a:t>
            </a:r>
            <a:endParaRPr b="1" spc="-1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91426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0287" y="1388604"/>
            <a:ext cx="8641208" cy="44755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it-IT" sz="2800" b="1" dirty="0"/>
              <a:t>I Responsabili della transizione digitale tra una quantità ridondante di competenze e un ruolo strategico nel PNRR</a:t>
            </a:r>
          </a:p>
          <a:p>
            <a:pPr algn="just"/>
            <a:r>
              <a:rPr lang="it-IT" sz="2800" dirty="0"/>
              <a:t>Le competenze definite dall’art. 17 hanno bisogno di svolgersi in un contesto di operatività di tipo sia verticale e sia orizzontale; con una logica di semplificazione amministrativa e digitalizzazione spinta; con  grande attenzione ai servizi in rete e alla partecipazione e alla trasparenza. Il contesto attuale, fatte le debite eccezioni, vanifica le funzioni del RTD e non permette di dare un contributo concreto ed efficace al PNRR</a:t>
            </a:r>
            <a:r>
              <a:rPr lang="it-IT" sz="2800" dirty="0" smtClean="0"/>
              <a:t>.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6729" y="12788"/>
            <a:ext cx="8229600" cy="83587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6350" cmpd="sng">
            <a:solidFill>
              <a:schemeClr val="tx1"/>
            </a:solidFill>
          </a:ln>
        </p:spPr>
        <p:txBody>
          <a:bodyPr vert="horz" wrap="square" lIns="0" tIns="157226" rIns="0" bIns="0" rtlCol="0">
            <a:spAutoFit/>
          </a:bodyPr>
          <a:lstStyle/>
          <a:p>
            <a:pPr marL="6350">
              <a:lnSpc>
                <a:spcPct val="100000"/>
              </a:lnSpc>
              <a:spcBef>
                <a:spcPts val="100"/>
              </a:spcBef>
            </a:pPr>
            <a:r>
              <a:rPr lang="it-IT" b="1" dirty="0" smtClean="0">
                <a:solidFill>
                  <a:schemeClr val="bg1"/>
                </a:solidFill>
              </a:rPr>
              <a:t>CONCLUSIONI</a:t>
            </a:r>
            <a:endParaRPr b="1" spc="-1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6583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0287" y="955467"/>
            <a:ext cx="8641208" cy="55220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it-IT" sz="2600" b="1" dirty="0" smtClean="0"/>
              <a:t>Quali </a:t>
            </a:r>
            <a:r>
              <a:rPr lang="it-IT" sz="2600" b="1" dirty="0"/>
              <a:t>sono quindi le condizioni “ottimali” di operatività dei RTD? Consideriamo alcune di queste condizioni:</a:t>
            </a:r>
          </a:p>
          <a:p>
            <a:pPr marL="514350" indent="-514350">
              <a:spcAft>
                <a:spcPts val="1200"/>
              </a:spcAft>
              <a:buFont typeface="+mj-lt"/>
              <a:buAutoNum type="alphaLcParenR"/>
            </a:pPr>
            <a:r>
              <a:rPr lang="it-IT" sz="2600" dirty="0" smtClean="0"/>
              <a:t>i </a:t>
            </a:r>
            <a:r>
              <a:rPr lang="it-IT" sz="2600" dirty="0"/>
              <a:t>RTD per operare devono poter fare riferimento a strategie specifiche definite dai decisori pubblici (nella maggior parte dei casi tali strategie o sono appena accennate o non sono definite); distanza tra decisori pubblici e processi innovativi;</a:t>
            </a:r>
          </a:p>
          <a:p>
            <a:pPr marL="514350" indent="-514350">
              <a:buFont typeface="+mj-lt"/>
              <a:buAutoNum type="alphaLcParenR"/>
            </a:pPr>
            <a:r>
              <a:rPr lang="it-IT" sz="2600" dirty="0" smtClean="0"/>
              <a:t>i </a:t>
            </a:r>
            <a:r>
              <a:rPr lang="it-IT" sz="2600" dirty="0"/>
              <a:t>RTD devono poter contare sulla reale collaborazione dei colleghi dirigenti o apicali per una efficace azione di indirizzo, coordinamento, progettazione degli </a:t>
            </a:r>
            <a:r>
              <a:rPr lang="it-IT" sz="2600" i="1" dirty="0"/>
              <a:t>ecosistemi amministrativi digitali</a:t>
            </a:r>
            <a:r>
              <a:rPr lang="it-IT" sz="2600" dirty="0"/>
              <a:t> (i modelli organizzativi attuali non permettono una azione di collaborazione o co-progettazione perché modelli a rilevanza formalistico giuridica, strutturati in modo rigido e con scarsa azione progettuale</a:t>
            </a:r>
            <a:r>
              <a:rPr lang="it-IT" sz="2600" dirty="0" smtClean="0"/>
              <a:t>);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6729" y="12788"/>
            <a:ext cx="8229600" cy="83587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6350" cmpd="sng">
            <a:solidFill>
              <a:schemeClr val="tx1"/>
            </a:solidFill>
          </a:ln>
        </p:spPr>
        <p:txBody>
          <a:bodyPr vert="horz" wrap="square" lIns="0" tIns="157226" rIns="0" bIns="0" rtlCol="0">
            <a:spAutoFit/>
          </a:bodyPr>
          <a:lstStyle/>
          <a:p>
            <a:pPr marL="6350">
              <a:lnSpc>
                <a:spcPct val="100000"/>
              </a:lnSpc>
              <a:spcBef>
                <a:spcPts val="100"/>
              </a:spcBef>
            </a:pPr>
            <a:r>
              <a:rPr lang="it-IT" b="1" dirty="0" smtClean="0">
                <a:solidFill>
                  <a:schemeClr val="bg1"/>
                </a:solidFill>
              </a:rPr>
              <a:t>CONCLUSIONI</a:t>
            </a:r>
            <a:endParaRPr b="1" spc="-1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9033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0287" y="1292351"/>
            <a:ext cx="8641208" cy="4721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it-IT" sz="2600" b="1" dirty="0" smtClean="0"/>
              <a:t>Quali </a:t>
            </a:r>
            <a:r>
              <a:rPr lang="it-IT" sz="2600" b="1" dirty="0"/>
              <a:t>sono quindi le condizioni “ottimali” di operatività dei RTD? Consideriamo alcune di queste condizioni:</a:t>
            </a:r>
          </a:p>
          <a:p>
            <a:pPr marL="514350" indent="-514350">
              <a:spcAft>
                <a:spcPts val="1200"/>
              </a:spcAft>
              <a:buFont typeface="+mj-lt"/>
              <a:buAutoNum type="alphaLcParenR" startAt="3"/>
            </a:pPr>
            <a:r>
              <a:rPr lang="it-IT" sz="2600" dirty="0" smtClean="0"/>
              <a:t>i </a:t>
            </a:r>
            <a:r>
              <a:rPr lang="it-IT" sz="2600" dirty="0"/>
              <a:t>RTD e le P.A. devono quindi fare riferimento ai principi indicati dal piano triennale dell’informatica 2021-2023 (AGID) per realizzare amministrazioni digitali e non limitarsi alla sola acquisizione di tecnologie;</a:t>
            </a:r>
          </a:p>
          <a:p>
            <a:pPr marL="514350" indent="-514350">
              <a:buFont typeface="+mj-lt"/>
              <a:buAutoNum type="alphaLcParenR" startAt="3"/>
            </a:pPr>
            <a:r>
              <a:rPr lang="it-IT" sz="2600" dirty="0" smtClean="0"/>
              <a:t>i </a:t>
            </a:r>
            <a:r>
              <a:rPr lang="it-IT" sz="2600" dirty="0"/>
              <a:t>decisori pubblici devono provvedere alla formazione di RTD in chiave moderna e completa secondo il profilo definito dallo stesso CAD e devono provvedere alla formazione di tutto il personale pubblico per supportare il transito verso amministrazioni digitali. </a:t>
            </a:r>
            <a:endParaRPr lang="it-IT" sz="2600" dirty="0" smtClean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6729" y="12788"/>
            <a:ext cx="8229600" cy="83587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6350" cmpd="sng">
            <a:solidFill>
              <a:schemeClr val="tx1"/>
            </a:solidFill>
          </a:ln>
        </p:spPr>
        <p:txBody>
          <a:bodyPr vert="horz" wrap="square" lIns="0" tIns="157226" rIns="0" bIns="0" rtlCol="0">
            <a:spAutoFit/>
          </a:bodyPr>
          <a:lstStyle/>
          <a:p>
            <a:pPr marL="6350">
              <a:lnSpc>
                <a:spcPct val="100000"/>
              </a:lnSpc>
              <a:spcBef>
                <a:spcPts val="100"/>
              </a:spcBef>
            </a:pPr>
            <a:r>
              <a:rPr lang="it-IT" b="1" dirty="0" smtClean="0">
                <a:solidFill>
                  <a:schemeClr val="bg1"/>
                </a:solidFill>
              </a:rPr>
              <a:t>CONCLUSIONI</a:t>
            </a:r>
            <a:endParaRPr b="1" spc="-1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74022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0287" y="1123909"/>
            <a:ext cx="8641208" cy="53681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Aft>
                <a:spcPts val="1200"/>
              </a:spcAft>
            </a:pPr>
            <a:r>
              <a:rPr lang="it-IT" sz="2400" b="1" dirty="0"/>
              <a:t>I Responsabili della transizione digitale tra una quantità ridondante di competenze e un ruolo strategico nel PNRR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it-IT" sz="2600" dirty="0" smtClean="0"/>
              <a:t>Senza </a:t>
            </a:r>
            <a:r>
              <a:rPr lang="it-IT" sz="2600" dirty="0"/>
              <a:t>formazione sull’innovazione è quasi impossibile il transito verso nuove burocrazie.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it-IT" sz="2600" dirty="0"/>
              <a:t>In un nuovo contesto ambientale ed amministrativo il RTD può svolgere una funzione di vero “esperto” della transizione digitale. </a:t>
            </a:r>
            <a:endParaRPr lang="it-IT" sz="2600" dirty="0" smtClean="0"/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it-IT" sz="2600" dirty="0" smtClean="0"/>
              <a:t>Senza </a:t>
            </a:r>
            <a:r>
              <a:rPr lang="it-IT" sz="2600" dirty="0"/>
              <a:t>questo contesto specifico il RTD risulterà un responsabile senza operatività concreta e senza un corretta collocazione nelle organizzazioni pubbliche. </a:t>
            </a:r>
            <a:endParaRPr lang="it-IT" sz="2600" dirty="0" smtClean="0"/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it-IT" sz="2600" i="1" dirty="0" smtClean="0"/>
              <a:t>Sarà </a:t>
            </a:r>
            <a:r>
              <a:rPr lang="it-IT" sz="2600" i="1" dirty="0"/>
              <a:t>avviluppato in una ragnatela di compiti senza costrutto e di “conflitti” con i colleghi.</a:t>
            </a:r>
            <a:endParaRPr lang="it-IT" sz="260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6729" y="12788"/>
            <a:ext cx="8229600" cy="83587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6350" cmpd="sng">
            <a:solidFill>
              <a:schemeClr val="tx1"/>
            </a:solidFill>
          </a:ln>
        </p:spPr>
        <p:txBody>
          <a:bodyPr vert="horz" wrap="square" lIns="0" tIns="157226" rIns="0" bIns="0" rtlCol="0">
            <a:spAutoFit/>
          </a:bodyPr>
          <a:lstStyle/>
          <a:p>
            <a:pPr marL="6350">
              <a:lnSpc>
                <a:spcPct val="100000"/>
              </a:lnSpc>
              <a:spcBef>
                <a:spcPts val="100"/>
              </a:spcBef>
            </a:pPr>
            <a:r>
              <a:rPr lang="it-IT" b="1" dirty="0" smtClean="0">
                <a:solidFill>
                  <a:schemeClr val="bg1"/>
                </a:solidFill>
              </a:rPr>
              <a:t>CONCLUSIONI</a:t>
            </a:r>
            <a:endParaRPr b="1" spc="-1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8329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Freeform 139"/>
          <p:cNvSpPr/>
          <p:nvPr/>
        </p:nvSpPr>
        <p:spPr>
          <a:xfrm>
            <a:off x="0" y="0"/>
            <a:ext cx="9144000" cy="6857999"/>
          </a:xfrm>
          <a:custGeom>
            <a:avLst/>
            <a:gdLst>
              <a:gd name="connsiteX0" fmla="*/ 0 w 9144000"/>
              <a:gd name="connsiteY0" fmla="*/ 6857999 h 6857999"/>
              <a:gd name="connsiteX1" fmla="*/ 9144000 w 9144000"/>
              <a:gd name="connsiteY1" fmla="*/ 6857999 h 6857999"/>
              <a:gd name="connsiteX2" fmla="*/ 9144000 w 9144000"/>
              <a:gd name="connsiteY2" fmla="*/ 0 h 6857999"/>
              <a:gd name="connsiteX3" fmla="*/ 0 w 9144000"/>
              <a:gd name="connsiteY3" fmla="*/ 0 h 6857999"/>
              <a:gd name="connsiteX4" fmla="*/ 0 w 9144000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6857999">
                <a:moveTo>
                  <a:pt x="0" y="6857999"/>
                </a:moveTo>
                <a:lnTo>
                  <a:pt x="9144000" y="6857999"/>
                </a:lnTo>
                <a:lnTo>
                  <a:pt x="9144000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CFA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41"/>
          <p:cNvSpPr txBox="1"/>
          <p:nvPr/>
        </p:nvSpPr>
        <p:spPr>
          <a:xfrm>
            <a:off x="281730" y="3848586"/>
            <a:ext cx="8580537" cy="3016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just" hangingPunct="0">
              <a:lnSpc>
                <a:spcPct val="100000"/>
              </a:lnSpc>
            </a:pPr>
            <a:r>
              <a:rPr lang="en-US" altLang="zh-CN" sz="2800" b="1" dirty="0">
                <a:solidFill>
                  <a:srgbClr val="2A428F"/>
                </a:solidFill>
                <a:latin typeface="Calibri"/>
                <a:ea typeface="Calibri"/>
              </a:rPr>
              <a:t>Digitalizzare</a:t>
            </a:r>
            <a:r>
              <a:rPr lang="en-US" altLang="zh-CN" sz="2800" b="1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ea typeface="Calibri"/>
              </a:rPr>
              <a:t>i</a:t>
            </a:r>
            <a:r>
              <a:rPr lang="en-US" altLang="zh-CN" sz="2800" b="1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ea typeface="Calibri"/>
              </a:rPr>
              <a:t>processi,</a:t>
            </a:r>
            <a:r>
              <a:rPr lang="en-US" altLang="zh-CN" sz="2800" b="1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 err="1">
                <a:solidFill>
                  <a:srgbClr val="2A428F"/>
                </a:solidFill>
                <a:latin typeface="Calibri"/>
                <a:ea typeface="Calibri"/>
              </a:rPr>
              <a:t>transitare</a:t>
            </a:r>
            <a:r>
              <a:rPr lang="en-US" altLang="zh-CN" sz="2800" b="1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spc="-20" dirty="0" smtClean="0">
                <a:solidFill>
                  <a:srgbClr val="2A428F"/>
                </a:solidFill>
                <a:latin typeface="Calibri"/>
                <a:cs typeface="Calibri"/>
              </a:rPr>
              <a:t>un</a:t>
            </a:r>
            <a:r>
              <a:rPr lang="en-US" altLang="zh-CN" sz="2800" b="1" spc="-15" dirty="0" smtClean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ea typeface="Calibri"/>
              </a:rPr>
              <a:t>ente</a:t>
            </a:r>
            <a:r>
              <a:rPr lang="en-US" altLang="zh-CN" sz="2800" b="1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ea typeface="Calibri"/>
              </a:rPr>
              <a:t>pubblico</a:t>
            </a:r>
            <a:r>
              <a:rPr lang="en-US" altLang="zh-CN" sz="2800" b="1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ea typeface="Calibri"/>
              </a:rPr>
              <a:t>al</a:t>
            </a:r>
            <a:r>
              <a:rPr lang="en-US" altLang="zh-CN" sz="2800" b="1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ea typeface="Calibri"/>
              </a:rPr>
              <a:t>digitale,</a:t>
            </a:r>
            <a:r>
              <a:rPr lang="en-US" altLang="zh-CN" sz="2800" b="1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ea typeface="Calibri"/>
              </a:rPr>
              <a:t>è</a:t>
            </a:r>
            <a:r>
              <a:rPr lang="en-US" altLang="zh-CN" sz="2800" b="1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ea typeface="Calibri"/>
              </a:rPr>
              <a:t>prima</a:t>
            </a:r>
            <a:r>
              <a:rPr lang="en-US" altLang="zh-CN" sz="2800" b="1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ea typeface="Calibri"/>
              </a:rPr>
              <a:t>che</a:t>
            </a:r>
            <a:r>
              <a:rPr lang="en-US" altLang="zh-CN" sz="2800" b="1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ea typeface="Calibri"/>
              </a:rPr>
              <a:t>un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ea typeface="Calibri"/>
              </a:rPr>
              <a:t>obbligo</a:t>
            </a:r>
            <a:r>
              <a:rPr lang="en-US" altLang="zh-CN" sz="2800" b="1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ea typeface="Calibri"/>
              </a:rPr>
              <a:t>normativo,</a:t>
            </a:r>
            <a:r>
              <a:rPr lang="en-US" altLang="zh-CN" sz="2800" b="1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ea typeface="Calibri"/>
              </a:rPr>
              <a:t>un</a:t>
            </a:r>
            <a:r>
              <a:rPr lang="en-US" altLang="zh-CN" sz="2800" b="1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ea typeface="Calibri"/>
              </a:rPr>
              <a:t>cambio</a:t>
            </a:r>
            <a:r>
              <a:rPr lang="en-US" altLang="zh-CN" sz="2800" b="1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ea typeface="Calibri"/>
              </a:rPr>
              <a:t>culturale,</a:t>
            </a:r>
            <a:r>
              <a:rPr lang="en-US" altLang="zh-CN" sz="2800" b="1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ea typeface="Calibri"/>
              </a:rPr>
              <a:t>che</a:t>
            </a:r>
            <a:r>
              <a:rPr lang="en-US" altLang="zh-CN" sz="2800" b="1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ea typeface="Calibri"/>
              </a:rPr>
              <a:t>partendo</a:t>
            </a:r>
            <a:r>
              <a:rPr lang="en-US" altLang="zh-CN" sz="2800" b="1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ea typeface="Calibri"/>
              </a:rPr>
              <a:t>dalla</a:t>
            </a:r>
            <a:r>
              <a:rPr lang="en-US" altLang="zh-CN" sz="2800" b="1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ea typeface="Calibri"/>
              </a:rPr>
              <a:t>voglia</a:t>
            </a:r>
            <a:r>
              <a:rPr lang="en-US" altLang="zh-CN" sz="2800" b="1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ea typeface="Calibri"/>
              </a:rPr>
              <a:t>di</a:t>
            </a:r>
            <a:r>
              <a:rPr lang="en-US" altLang="zh-CN" sz="2800" b="1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ea typeface="Calibri"/>
              </a:rPr>
              <a:t>cambiare</a:t>
            </a:r>
            <a:r>
              <a:rPr lang="en-US" altLang="zh-CN" sz="2800" b="1" spc="-1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ea typeface="Calibri"/>
              </a:rPr>
              <a:t>il</a:t>
            </a:r>
            <a:r>
              <a:rPr lang="en-US" altLang="zh-CN" sz="2800" b="1" spc="-20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ea typeface="Calibri"/>
              </a:rPr>
              <a:t>modo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ea typeface="Calibri"/>
              </a:rPr>
              <a:t>in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ea typeface="Calibri"/>
              </a:rPr>
              <a:t>cui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ea typeface="Calibri"/>
              </a:rPr>
              <a:t>abbiamo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ea typeface="Calibri"/>
              </a:rPr>
              <a:t>lavorato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ea typeface="Calibri"/>
              </a:rPr>
              <a:t>per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ea typeface="Calibri"/>
              </a:rPr>
              <a:t>decenni,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 err="1" smtClean="0">
                <a:solidFill>
                  <a:srgbClr val="2A428F"/>
                </a:solidFill>
                <a:latin typeface="Calibri"/>
                <a:ea typeface="Calibri"/>
              </a:rPr>
              <a:t>deve</a:t>
            </a:r>
            <a:r>
              <a:rPr lang="en-US" altLang="zh-CN" sz="2800" b="1" dirty="0" smtClean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ea typeface="Calibri"/>
              </a:rPr>
              <a:t>guidare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ea typeface="Calibri"/>
              </a:rPr>
              <a:t>nelle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ea typeface="Calibri"/>
              </a:rPr>
              <a:t>azioni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ea typeface="Calibri"/>
              </a:rPr>
              <a:t>specifiche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>
                <a:solidFill>
                  <a:srgbClr val="2A428F"/>
                </a:solidFill>
                <a:latin typeface="Calibri"/>
                <a:ea typeface="Calibri"/>
              </a:rPr>
              <a:t>da</a:t>
            </a:r>
            <a:r>
              <a:rPr lang="en-US" altLang="zh-CN" sz="2800" b="1" spc="-85" dirty="0">
                <a:solidFill>
                  <a:srgbClr val="2A428F"/>
                </a:solidFill>
                <a:latin typeface="Calibri"/>
                <a:cs typeface="Calibri"/>
              </a:rPr>
              <a:t> </a:t>
            </a:r>
            <a:r>
              <a:rPr lang="en-US" altLang="zh-CN" sz="2800" b="1" dirty="0" err="1" smtClean="0">
                <a:solidFill>
                  <a:srgbClr val="2A428F"/>
                </a:solidFill>
                <a:latin typeface="Calibri"/>
                <a:ea typeface="Calibri"/>
              </a:rPr>
              <a:t>avviare</a:t>
            </a:r>
            <a:r>
              <a:rPr lang="en-US" altLang="zh-CN" sz="2800" b="1" dirty="0" smtClean="0">
                <a:solidFill>
                  <a:srgbClr val="2A428F"/>
                </a:solidFill>
                <a:latin typeface="Calibri"/>
                <a:ea typeface="Calibri"/>
              </a:rPr>
              <a:t> per </a:t>
            </a:r>
            <a:r>
              <a:rPr lang="en-US" altLang="zh-CN" sz="2800" b="1" dirty="0" err="1" smtClean="0">
                <a:solidFill>
                  <a:srgbClr val="2A428F"/>
                </a:solidFill>
                <a:latin typeface="Calibri"/>
                <a:ea typeface="Calibri"/>
              </a:rPr>
              <a:t>garantire</a:t>
            </a:r>
            <a:r>
              <a:rPr lang="en-US" altLang="zh-CN" sz="2800" b="1" dirty="0" smtClean="0">
                <a:solidFill>
                  <a:srgbClr val="2A428F"/>
                </a:solidFill>
                <a:latin typeface="Calibri"/>
                <a:ea typeface="Calibri"/>
              </a:rPr>
              <a:t> </a:t>
            </a:r>
            <a:r>
              <a:rPr lang="en-US" altLang="zh-CN" sz="2800" b="1" dirty="0" err="1" smtClean="0">
                <a:solidFill>
                  <a:srgbClr val="2A428F"/>
                </a:solidFill>
                <a:latin typeface="Calibri"/>
                <a:ea typeface="Calibri"/>
              </a:rPr>
              <a:t>alle</a:t>
            </a:r>
            <a:r>
              <a:rPr lang="en-US" altLang="zh-CN" sz="2800" b="1" dirty="0" smtClean="0">
                <a:solidFill>
                  <a:srgbClr val="2A428F"/>
                </a:solidFill>
                <a:latin typeface="Calibri"/>
                <a:ea typeface="Calibri"/>
              </a:rPr>
              <a:t> future </a:t>
            </a:r>
            <a:r>
              <a:rPr lang="en-US" altLang="zh-CN" sz="2800" b="1" dirty="0" err="1" smtClean="0">
                <a:solidFill>
                  <a:srgbClr val="2A428F"/>
                </a:solidFill>
                <a:latin typeface="Calibri"/>
                <a:ea typeface="Calibri"/>
              </a:rPr>
              <a:t>generazioni</a:t>
            </a:r>
            <a:r>
              <a:rPr lang="en-US" altLang="zh-CN" sz="2800" b="1" dirty="0" smtClean="0">
                <a:solidFill>
                  <a:srgbClr val="2A428F"/>
                </a:solidFill>
                <a:latin typeface="Calibri"/>
                <a:ea typeface="Calibri"/>
              </a:rPr>
              <a:t> </a:t>
            </a:r>
            <a:r>
              <a:rPr lang="en-US" altLang="zh-CN" sz="2800" b="1" dirty="0" err="1" smtClean="0">
                <a:solidFill>
                  <a:srgbClr val="2A428F"/>
                </a:solidFill>
                <a:latin typeface="Calibri"/>
                <a:ea typeface="Calibri"/>
              </a:rPr>
              <a:t>una</a:t>
            </a:r>
            <a:r>
              <a:rPr lang="en-US" altLang="zh-CN" sz="2800" b="1" dirty="0" smtClean="0">
                <a:solidFill>
                  <a:srgbClr val="2A428F"/>
                </a:solidFill>
                <a:latin typeface="Calibri"/>
                <a:ea typeface="Calibri"/>
              </a:rPr>
              <a:t> </a:t>
            </a:r>
            <a:r>
              <a:rPr lang="en-US" altLang="zh-CN" sz="2800" b="1" dirty="0" err="1" smtClean="0">
                <a:solidFill>
                  <a:srgbClr val="2A428F"/>
                </a:solidFill>
                <a:latin typeface="Calibri"/>
                <a:ea typeface="Calibri"/>
              </a:rPr>
              <a:t>qualità</a:t>
            </a:r>
            <a:r>
              <a:rPr lang="en-US" altLang="zh-CN" sz="2800" b="1" dirty="0" smtClean="0">
                <a:solidFill>
                  <a:srgbClr val="2A428F"/>
                </a:solidFill>
                <a:latin typeface="Calibri"/>
                <a:ea typeface="Calibri"/>
              </a:rPr>
              <a:t> </a:t>
            </a:r>
            <a:r>
              <a:rPr lang="en-US" altLang="zh-CN" sz="2800" b="1" dirty="0" err="1" smtClean="0">
                <a:solidFill>
                  <a:srgbClr val="2A428F"/>
                </a:solidFill>
                <a:latin typeface="Calibri"/>
                <a:ea typeface="Calibri"/>
              </a:rPr>
              <a:t>della</a:t>
            </a:r>
            <a:r>
              <a:rPr lang="en-US" altLang="zh-CN" sz="2800" b="1" dirty="0" smtClean="0">
                <a:solidFill>
                  <a:srgbClr val="2A428F"/>
                </a:solidFill>
                <a:latin typeface="Calibri"/>
                <a:ea typeface="Calibri"/>
              </a:rPr>
              <a:t> vita simile a </a:t>
            </a:r>
            <a:r>
              <a:rPr lang="en-US" altLang="zh-CN" sz="2800" b="1" dirty="0" err="1" smtClean="0">
                <a:solidFill>
                  <a:srgbClr val="2A428F"/>
                </a:solidFill>
                <a:latin typeface="Calibri"/>
                <a:ea typeface="Calibri"/>
              </a:rPr>
              <a:t>quella</a:t>
            </a:r>
            <a:r>
              <a:rPr lang="en-US" altLang="zh-CN" sz="2800" b="1" dirty="0" smtClean="0">
                <a:solidFill>
                  <a:srgbClr val="2A428F"/>
                </a:solidFill>
                <a:latin typeface="Calibri"/>
                <a:ea typeface="Calibri"/>
              </a:rPr>
              <a:t> </a:t>
            </a:r>
            <a:r>
              <a:rPr lang="en-US" altLang="zh-CN" sz="2800" b="1" dirty="0" err="1" smtClean="0">
                <a:solidFill>
                  <a:srgbClr val="2A428F"/>
                </a:solidFill>
                <a:latin typeface="Calibri"/>
                <a:ea typeface="Calibri"/>
              </a:rPr>
              <a:t>vissuta</a:t>
            </a:r>
            <a:r>
              <a:rPr lang="en-US" altLang="zh-CN" sz="2800" b="1" dirty="0" smtClean="0">
                <a:solidFill>
                  <a:srgbClr val="2A428F"/>
                </a:solidFill>
                <a:latin typeface="Calibri"/>
                <a:ea typeface="Calibri"/>
              </a:rPr>
              <a:t> </a:t>
            </a:r>
            <a:r>
              <a:rPr lang="en-US" altLang="zh-CN" sz="2800" b="1" dirty="0" err="1" smtClean="0">
                <a:solidFill>
                  <a:srgbClr val="2A428F"/>
                </a:solidFill>
                <a:latin typeface="Calibri"/>
                <a:ea typeface="Calibri"/>
              </a:rPr>
              <a:t>dalle</a:t>
            </a:r>
            <a:r>
              <a:rPr lang="en-US" altLang="zh-CN" sz="2800" b="1" dirty="0" smtClean="0">
                <a:solidFill>
                  <a:srgbClr val="2A428F"/>
                </a:solidFill>
                <a:latin typeface="Calibri"/>
                <a:ea typeface="Calibri"/>
              </a:rPr>
              <a:t> </a:t>
            </a:r>
            <a:r>
              <a:rPr lang="en-US" altLang="zh-CN" sz="2800" b="1" dirty="0" err="1" smtClean="0">
                <a:solidFill>
                  <a:srgbClr val="2A428F"/>
                </a:solidFill>
                <a:latin typeface="Calibri"/>
                <a:ea typeface="Calibri"/>
              </a:rPr>
              <a:t>tre</a:t>
            </a:r>
            <a:r>
              <a:rPr lang="en-US" altLang="zh-CN" sz="2800" b="1" dirty="0" smtClean="0">
                <a:solidFill>
                  <a:srgbClr val="2A428F"/>
                </a:solidFill>
                <a:latin typeface="Calibri"/>
                <a:ea typeface="Calibri"/>
              </a:rPr>
              <a:t> </a:t>
            </a:r>
            <a:r>
              <a:rPr lang="en-US" altLang="zh-CN" sz="2800" b="1" dirty="0" err="1" smtClean="0">
                <a:solidFill>
                  <a:srgbClr val="2A428F"/>
                </a:solidFill>
                <a:latin typeface="Calibri"/>
                <a:ea typeface="Calibri"/>
              </a:rPr>
              <a:t>generazioni</a:t>
            </a:r>
            <a:r>
              <a:rPr lang="en-US" altLang="zh-CN" sz="2800" b="1" dirty="0" smtClean="0">
                <a:solidFill>
                  <a:srgbClr val="2A428F"/>
                </a:solidFill>
                <a:latin typeface="Calibri"/>
                <a:ea typeface="Calibri"/>
              </a:rPr>
              <a:t> </a:t>
            </a:r>
            <a:r>
              <a:rPr lang="en-US" altLang="zh-CN" sz="2800" b="1" dirty="0" err="1" smtClean="0">
                <a:solidFill>
                  <a:srgbClr val="2A428F"/>
                </a:solidFill>
                <a:latin typeface="Calibri"/>
                <a:ea typeface="Calibri"/>
              </a:rPr>
              <a:t>precedenti</a:t>
            </a:r>
            <a:r>
              <a:rPr lang="en-US" altLang="zh-CN" sz="2800" b="1" dirty="0" smtClean="0">
                <a:solidFill>
                  <a:srgbClr val="2A428F"/>
                </a:solidFill>
                <a:latin typeface="Calibri"/>
                <a:ea typeface="Calibri"/>
              </a:rPr>
              <a:t>.</a:t>
            </a:r>
            <a:endParaRPr lang="en-US" altLang="zh-CN" sz="2800" b="1" spc="-5" dirty="0">
              <a:solidFill>
                <a:srgbClr val="2A428F"/>
              </a:solidFill>
              <a:latin typeface="Calibri"/>
              <a:ea typeface="Calibri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31" y="387769"/>
            <a:ext cx="8580536" cy="3460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1492</TotalTime>
  <Words>3753</Words>
  <Application>Microsoft Office PowerPoint</Application>
  <PresentationFormat>Presentazione su schermo (4:3)</PresentationFormat>
  <Paragraphs>457</Paragraphs>
  <Slides>52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52</vt:i4>
      </vt:variant>
    </vt:vector>
  </HeadingPairs>
  <TitlesOfParts>
    <vt:vector size="53" baseType="lpstr">
      <vt:lpstr>Office Theme</vt:lpstr>
      <vt:lpstr> IL CODICE DELL’AMMINISTRAZIONE DIGITALE   IL CONTESTO ORGANIZZATICO, LO SCOPO E LE FUNZIONI DELRESPONSABILE DELLA TRANSIZIONE AL DIGITALE</vt:lpstr>
      <vt:lpstr>QUANTO COSTA LA PUBBLICA AMMINISTRAZIONE?</vt:lpstr>
      <vt:lpstr>QUANTO COSTA LA PUBBLICA AMMINISTRAZIONE?</vt:lpstr>
      <vt:lpstr>QUANTO COSTA LA PUBBLICA AMMINISTRAZIONE?</vt:lpstr>
      <vt:lpstr>Le norme per la Transizione Digitale</vt:lpstr>
      <vt:lpstr>Le norme per la Transizione Digitale</vt:lpstr>
      <vt:lpstr>Le norme per la Transizione Digitale</vt:lpstr>
      <vt:lpstr>Le norme per la Transizione Digitale</vt:lpstr>
      <vt:lpstr>Le norme per la Transizione Digitale</vt:lpstr>
      <vt:lpstr>Le norme per la Transizione Digitale</vt:lpstr>
      <vt:lpstr>Le norme per la Transizione Digitale</vt:lpstr>
      <vt:lpstr> ORA VEDIAMO Il CAD Codice dell’Amministrazione Digitale</vt:lpstr>
      <vt:lpstr>Il CAD Codice dell’Amministrazione Digitale</vt:lpstr>
      <vt:lpstr>Il CAD</vt:lpstr>
      <vt:lpstr>Il CAD La carta non è più uno strumento di comunicazione  «con e tra» le pubbliche amministrazioni</vt:lpstr>
      <vt:lpstr>Il CAD Codice dell’Amministrazione Digitale</vt:lpstr>
      <vt:lpstr>Presentazione standard di PowerPoint</vt:lpstr>
      <vt:lpstr>Presentazione standard di PowerPoint</vt:lpstr>
      <vt:lpstr>Presentazione standard di PowerPoint</vt:lpstr>
      <vt:lpstr>Chi realizza questi percorsi nelle PA? Il Responsabile per la Transizione al Digitale</vt:lpstr>
      <vt:lpstr>La Circolare n.3 del 01/10/2018</vt:lpstr>
      <vt:lpstr>Cosa deve fare il Responsabile per la Transizione al Digitale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Ricapitolando: Se non si semplifica non si migliora</vt:lpstr>
      <vt:lpstr>Serve un assessment</vt:lpstr>
      <vt:lpstr>Presentazione standard di PowerPoint</vt:lpstr>
      <vt:lpstr>CONCLUSIONI</vt:lpstr>
      <vt:lpstr>CONCLUSIONI</vt:lpstr>
      <vt:lpstr>CONCLUSIONI</vt:lpstr>
      <vt:lpstr>CONCLUSIONI</vt:lpstr>
      <vt:lpstr>CONCLUSIONI</vt:lpstr>
      <vt:lpstr>CONCLUSIONI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Enzo Chilelli</dc:creator>
  <cp:lastModifiedBy>Enzo Chilelli</cp:lastModifiedBy>
  <cp:revision>19</cp:revision>
  <dcterms:created xsi:type="dcterms:W3CDTF">2011-01-21T15:00:27Z</dcterms:created>
  <dcterms:modified xsi:type="dcterms:W3CDTF">2022-11-29T12:36:06Z</dcterms:modified>
</cp:coreProperties>
</file>