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4"/>
  </p:sldMasterIdLst>
  <p:notesMasterIdLst>
    <p:notesMasterId r:id="rId15"/>
  </p:notesMasterIdLst>
  <p:handoutMasterIdLst>
    <p:handoutMasterId r:id="rId16"/>
  </p:handoutMasterIdLst>
  <p:sldIdLst>
    <p:sldId id="302" r:id="rId5"/>
    <p:sldId id="296" r:id="rId6"/>
    <p:sldId id="301" r:id="rId7"/>
    <p:sldId id="303" r:id="rId8"/>
    <p:sldId id="310" r:id="rId9"/>
    <p:sldId id="312" r:id="rId10"/>
    <p:sldId id="318" r:id="rId11"/>
    <p:sldId id="315" r:id="rId12"/>
    <p:sldId id="317" r:id="rId13"/>
    <p:sldId id="316" r:id="rId14"/>
  </p:sldIdLst>
  <p:sldSz cx="12192000" cy="6858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029" autoAdjust="0"/>
    <p:restoredTop sz="83274" autoAdjust="0"/>
  </p:normalViewPr>
  <p:slideViewPr>
    <p:cSldViewPr snapToGrid="0">
      <p:cViewPr varScale="1">
        <p:scale>
          <a:sx n="68" d="100"/>
          <a:sy n="68" d="100"/>
        </p:scale>
        <p:origin x="989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oleObject" Target="../embeddings/oleObject1.bin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Foglio1!$A$3</c:f>
              <c:strCache>
                <c:ptCount val="1"/>
                <c:pt idx="0">
                  <c:v>milestone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1" i="0" u="none" strike="noStrike" kern="1200" baseline="0">
                    <a:solidFill>
                      <a:schemeClr val="accent4">
                        <a:lumMod val="1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it-IT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Foglio1!$A$4:$A$9</c:f>
              <c:numCache>
                <c:formatCode>General</c:formatCode>
                <c:ptCount val="6"/>
                <c:pt idx="0">
                  <c:v>88</c:v>
                </c:pt>
                <c:pt idx="1">
                  <c:v>56</c:v>
                </c:pt>
                <c:pt idx="2">
                  <c:v>17</c:v>
                </c:pt>
                <c:pt idx="3">
                  <c:v>20</c:v>
                </c:pt>
                <c:pt idx="4">
                  <c:v>22</c:v>
                </c:pt>
                <c:pt idx="5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6E-4B69-9CA7-498AB558B7DB}"/>
            </c:ext>
          </c:extLst>
        </c:ser>
        <c:ser>
          <c:idx val="1"/>
          <c:order val="1"/>
          <c:tx>
            <c:strRef>
              <c:f>Foglio1!$B$3</c:f>
              <c:strCache>
                <c:ptCount val="1"/>
                <c:pt idx="0">
                  <c:v>target 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1" i="0" u="none" strike="noStrike" kern="1200" baseline="0">
                    <a:solidFill>
                      <a:schemeClr val="accent4">
                        <a:lumMod val="1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it-IT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Foglio1!$B$4:$B$9</c:f>
              <c:numCache>
                <c:formatCode>General</c:formatCode>
                <c:ptCount val="6"/>
                <c:pt idx="0">
                  <c:v>132</c:v>
                </c:pt>
                <c:pt idx="1">
                  <c:v>85</c:v>
                </c:pt>
                <c:pt idx="2">
                  <c:v>15</c:v>
                </c:pt>
                <c:pt idx="3">
                  <c:v>32</c:v>
                </c:pt>
                <c:pt idx="4">
                  <c:v>32</c:v>
                </c:pt>
                <c:pt idx="5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76E-4B69-9CA7-498AB558B7DB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161435008"/>
        <c:axId val="161444992"/>
      </c:barChart>
      <c:catAx>
        <c:axId val="16143500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61444992"/>
        <c:crosses val="autoZero"/>
        <c:auto val="1"/>
        <c:lblAlgn val="ctr"/>
        <c:lblOffset val="100"/>
        <c:noMultiLvlLbl val="0"/>
      </c:catAx>
      <c:valAx>
        <c:axId val="161444992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61435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8725417433965881"/>
          <c:y val="6.4446280245835083E-2"/>
          <c:w val="0.19535250738691501"/>
          <c:h val="6.8976989552150883E-2"/>
        </c:manualLayout>
      </c:layout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it-IT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it-IT"/>
    </a:p>
  </c:txPr>
  <c:externalData r:id="rId1">
    <c:autoUpdate val="0"/>
  </c:externalData>
  <c:userShapes r:id="rId2"/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0.01872</cdr:x>
      <cdr:y>0.79483</cdr:y>
    </cdr:from>
    <cdr:to>
      <cdr:x>0.17949</cdr:x>
      <cdr:y>1</cdr:y>
    </cdr:to>
    <cdr:sp macro="" textlink="">
      <cdr:nvSpPr>
        <cdr:cNvPr id="2" name="TextBox 56">
          <a:extLst xmlns:a="http://schemas.openxmlformats.org/drawingml/2006/main">
            <a:ext uri="{FF2B5EF4-FFF2-40B4-BE49-F238E27FC236}">
              <a16:creationId xmlns:a16="http://schemas.microsoft.com/office/drawing/2014/main" id="{37E2F62A-3AB9-447F-A236-8A412A8DEB01}"/>
            </a:ext>
          </a:extLst>
        </cdr:cNvPr>
        <cdr:cNvSpPr txBox="1">
          <a:spLocks xmlns:a="http://schemas.openxmlformats.org/drawingml/2006/main"/>
        </cdr:cNvSpPr>
      </cdr:nvSpPr>
      <cdr:spPr>
        <a:xfrm xmlns:a="http://schemas.openxmlformats.org/drawingml/2006/main">
          <a:off x="184143" y="1967355"/>
          <a:ext cx="1581037" cy="507831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="horz" wrap="square" lIns="0" tIns="0" rIns="0" bIns="0" rtlCol="0" anchor="ctr" anchorCtr="0">
          <a:spAutoFit/>
        </a:bodyPr>
        <a:lstStyle xmlns:a="http://schemas.openxmlformats.org/drawingml/2006/main">
          <a:defPPr>
            <a:defRPr lang="it-IT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300"/>
            </a:spcBef>
            <a:spcAft>
              <a:spcPts val="300"/>
            </a:spcAft>
            <a:buClrTx/>
            <a:buSzTx/>
            <a:buFont typeface="Segoe UI" panose="020B0502040204020203" pitchFamily="34" charset="0"/>
            <a:buChar char="​"/>
            <a:tabLst/>
            <a:defRPr/>
          </a:pPr>
          <a:r>
            <a:rPr kumimoji="0" lang="it-IT" sz="1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  <a:sym typeface="Tahoma" panose="020B0604030504040204" pitchFamily="34" charset="0"/>
            </a:rPr>
            <a:t>Digitalizzazione, innovazione, competitività e cultura</a:t>
          </a:r>
        </a:p>
      </cdr:txBody>
    </cdr:sp>
  </cdr:relSizeAnchor>
  <cdr:relSizeAnchor xmlns:cdr="http://schemas.openxmlformats.org/drawingml/2006/chartDrawing">
    <cdr:from>
      <cdr:x>0.18564</cdr:x>
      <cdr:y>0.80673</cdr:y>
    </cdr:from>
    <cdr:to>
      <cdr:x>0.34114</cdr:x>
      <cdr:y>0.94351</cdr:y>
    </cdr:to>
    <cdr:sp macro="" textlink="">
      <cdr:nvSpPr>
        <cdr:cNvPr id="3" name="TextBox 57">
          <a:extLst xmlns:a="http://schemas.openxmlformats.org/drawingml/2006/main">
            <a:ext uri="{FF2B5EF4-FFF2-40B4-BE49-F238E27FC236}">
              <a16:creationId xmlns:a16="http://schemas.microsoft.com/office/drawing/2014/main" id="{67B9B4E3-FCBB-4E5B-B63F-27E7D2AAF973}"/>
            </a:ext>
          </a:extLst>
        </cdr:cNvPr>
        <cdr:cNvSpPr txBox="1">
          <a:spLocks xmlns:a="http://schemas.openxmlformats.org/drawingml/2006/main"/>
        </cdr:cNvSpPr>
      </cdr:nvSpPr>
      <cdr:spPr>
        <a:xfrm xmlns:a="http://schemas.openxmlformats.org/drawingml/2006/main">
          <a:off x="1825746" y="1996814"/>
          <a:ext cx="1529255" cy="33855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="horz" wrap="square" lIns="0" tIns="0" rIns="0" bIns="0" rtlCol="0" anchor="ctr" anchorCtr="0">
          <a:spAutoFit/>
        </a:bodyPr>
        <a:lstStyle xmlns:a="http://schemas.openxmlformats.org/drawingml/2006/main">
          <a:defPPr>
            <a:defRPr lang="it-IT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300"/>
            </a:spcBef>
            <a:spcAft>
              <a:spcPts val="300"/>
            </a:spcAft>
            <a:buClrTx/>
            <a:buSzTx/>
            <a:buFont typeface="Segoe UI" panose="020B0502040204020203" pitchFamily="34" charset="0"/>
            <a:buNone/>
            <a:tabLst/>
            <a:defRPr/>
          </a:pPr>
          <a:r>
            <a:rPr kumimoji="0" lang="it-IT" sz="1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  <a:sym typeface="Tahoma" panose="020B0604030504040204" pitchFamily="34" charset="0"/>
            </a:rPr>
            <a:t>Rivoluzione verde e transizione ecologica</a:t>
          </a:r>
        </a:p>
      </cdr:txBody>
    </cdr:sp>
  </cdr:relSizeAnchor>
  <cdr:relSizeAnchor xmlns:cdr="http://schemas.openxmlformats.org/drawingml/2006/chartDrawing">
    <cdr:from>
      <cdr:x>0.34916</cdr:x>
      <cdr:y>0.83338</cdr:y>
    </cdr:from>
    <cdr:to>
      <cdr:x>0.49664</cdr:x>
      <cdr:y>0.97016</cdr:y>
    </cdr:to>
    <cdr:sp macro="" textlink="">
      <cdr:nvSpPr>
        <cdr:cNvPr id="4" name="TextBox 57">
          <a:extLst xmlns:a="http://schemas.openxmlformats.org/drawingml/2006/main">
            <a:ext uri="{FF2B5EF4-FFF2-40B4-BE49-F238E27FC236}">
              <a16:creationId xmlns:a16="http://schemas.microsoft.com/office/drawing/2014/main" id="{F1EB9033-C77C-49E3-8753-4A53A454EF70}"/>
            </a:ext>
          </a:extLst>
        </cdr:cNvPr>
        <cdr:cNvSpPr txBox="1">
          <a:spLocks xmlns:a="http://schemas.openxmlformats.org/drawingml/2006/main"/>
        </cdr:cNvSpPr>
      </cdr:nvSpPr>
      <cdr:spPr>
        <a:xfrm xmlns:a="http://schemas.openxmlformats.org/drawingml/2006/main">
          <a:off x="3433830" y="2062781"/>
          <a:ext cx="1450428" cy="33855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="horz" wrap="square" lIns="0" tIns="0" rIns="0" bIns="0" rtlCol="0" anchor="ctr" anchorCtr="0">
          <a:spAutoFit/>
        </a:bodyPr>
        <a:lstStyle xmlns:a="http://schemas.openxmlformats.org/drawingml/2006/main">
          <a:defPPr>
            <a:defRPr lang="it-IT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300"/>
            </a:spcBef>
            <a:spcAft>
              <a:spcPts val="300"/>
            </a:spcAft>
            <a:buClrTx/>
            <a:buSzTx/>
            <a:buFont typeface="Segoe UI" panose="020B0502040204020203" pitchFamily="34" charset="0"/>
            <a:buNone/>
            <a:tabLst/>
            <a:defRPr/>
          </a:pPr>
          <a:r>
            <a:rPr kumimoji="0" lang="it-IT" sz="1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  <a:sym typeface="Tahoma" panose="020B0604030504040204" pitchFamily="34" charset="0"/>
            </a:rPr>
            <a:t>Infrastrutture per una mobilità sostenibile</a:t>
          </a:r>
        </a:p>
      </cdr:txBody>
    </cdr:sp>
  </cdr:relSizeAnchor>
  <cdr:relSizeAnchor xmlns:cdr="http://schemas.openxmlformats.org/drawingml/2006/chartDrawing">
    <cdr:from>
      <cdr:x>0.52398</cdr:x>
      <cdr:y>0.81227</cdr:y>
    </cdr:from>
    <cdr:to>
      <cdr:x>0.64383</cdr:x>
      <cdr:y>0.94904</cdr:y>
    </cdr:to>
    <cdr:sp macro="" textlink="">
      <cdr:nvSpPr>
        <cdr:cNvPr id="5" name="TextBox 57">
          <a:extLst xmlns:a="http://schemas.openxmlformats.org/drawingml/2006/main">
            <a:ext uri="{FF2B5EF4-FFF2-40B4-BE49-F238E27FC236}">
              <a16:creationId xmlns:a16="http://schemas.microsoft.com/office/drawing/2014/main" id="{57704727-D0B2-47FE-B12B-6F1788E57F19}"/>
            </a:ext>
          </a:extLst>
        </cdr:cNvPr>
        <cdr:cNvSpPr txBox="1">
          <a:spLocks xmlns:a="http://schemas.openxmlformats.org/drawingml/2006/main"/>
        </cdr:cNvSpPr>
      </cdr:nvSpPr>
      <cdr:spPr>
        <a:xfrm xmlns:a="http://schemas.openxmlformats.org/drawingml/2006/main">
          <a:off x="5153143" y="2010507"/>
          <a:ext cx="1178702" cy="33855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="horz" wrap="square" lIns="0" tIns="0" rIns="0" bIns="0" rtlCol="0" anchor="ctr" anchorCtr="0">
          <a:spAutoFit/>
        </a:bodyPr>
        <a:lstStyle xmlns:a="http://schemas.openxmlformats.org/drawingml/2006/main">
          <a:defPPr>
            <a:defRPr lang="it-IT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300"/>
            </a:spcBef>
            <a:spcAft>
              <a:spcPts val="300"/>
            </a:spcAft>
            <a:buClrTx/>
            <a:buSzTx/>
            <a:buFont typeface="Segoe UI" panose="020B0502040204020203" pitchFamily="34" charset="0"/>
            <a:buNone/>
            <a:tabLst/>
            <a:defRPr/>
          </a:pPr>
          <a:r>
            <a:rPr kumimoji="0" lang="it-IT" sz="1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  <a:sym typeface="Tahoma" panose="020B0604030504040204" pitchFamily="34" charset="0"/>
            </a:rPr>
            <a:t>Istruzione e ricerca</a:t>
          </a:r>
        </a:p>
      </cdr:txBody>
    </cdr:sp>
  </cdr:relSizeAnchor>
  <cdr:relSizeAnchor xmlns:cdr="http://schemas.openxmlformats.org/drawingml/2006/chartDrawing">
    <cdr:from>
      <cdr:x>0.68672</cdr:x>
      <cdr:y>0.81864</cdr:y>
    </cdr:from>
    <cdr:to>
      <cdr:x>0.80657</cdr:x>
      <cdr:y>0.95541</cdr:y>
    </cdr:to>
    <cdr:sp macro="" textlink="">
      <cdr:nvSpPr>
        <cdr:cNvPr id="6" name="TextBox 57">
          <a:extLst xmlns:a="http://schemas.openxmlformats.org/drawingml/2006/main">
            <a:ext uri="{FF2B5EF4-FFF2-40B4-BE49-F238E27FC236}">
              <a16:creationId xmlns:a16="http://schemas.microsoft.com/office/drawing/2014/main" id="{0A8D16C2-B7DC-4E0A-B404-768B7D571916}"/>
            </a:ext>
          </a:extLst>
        </cdr:cNvPr>
        <cdr:cNvSpPr txBox="1">
          <a:spLocks xmlns:a="http://schemas.openxmlformats.org/drawingml/2006/main"/>
        </cdr:cNvSpPr>
      </cdr:nvSpPr>
      <cdr:spPr>
        <a:xfrm xmlns:a="http://schemas.openxmlformats.org/drawingml/2006/main">
          <a:off x="6753637" y="2026274"/>
          <a:ext cx="1178702" cy="33855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="horz" wrap="square" lIns="0" tIns="0" rIns="0" bIns="0" rtlCol="0" anchor="ctr" anchorCtr="0">
          <a:spAutoFit/>
        </a:bodyPr>
        <a:lstStyle xmlns:a="http://schemas.openxmlformats.org/drawingml/2006/main">
          <a:defPPr>
            <a:defRPr lang="it-IT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300"/>
            </a:spcBef>
            <a:spcAft>
              <a:spcPts val="300"/>
            </a:spcAft>
            <a:buClrTx/>
            <a:buSzTx/>
            <a:buFont typeface="Segoe UI" panose="020B0502040204020203" pitchFamily="34" charset="0"/>
            <a:buNone/>
            <a:tabLst/>
            <a:defRPr/>
          </a:pPr>
          <a:r>
            <a:rPr kumimoji="0" lang="it-IT" sz="1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  <a:sym typeface="Tahoma" panose="020B0604030504040204" pitchFamily="34" charset="0"/>
            </a:rPr>
            <a:t>Inclusione e coesione</a:t>
          </a:r>
        </a:p>
      </cdr:txBody>
    </cdr:sp>
  </cdr:relSizeAnchor>
  <cdr:relSizeAnchor xmlns:cdr="http://schemas.openxmlformats.org/drawingml/2006/chartDrawing">
    <cdr:from>
      <cdr:x>0.84969</cdr:x>
      <cdr:y>0.83607</cdr:y>
    </cdr:from>
    <cdr:to>
      <cdr:x>0.96954</cdr:x>
      <cdr:y>0.90446</cdr:y>
    </cdr:to>
    <cdr:sp macro="" textlink="">
      <cdr:nvSpPr>
        <cdr:cNvPr id="7" name="TextBox 57">
          <a:extLst xmlns:a="http://schemas.openxmlformats.org/drawingml/2006/main">
            <a:ext uri="{FF2B5EF4-FFF2-40B4-BE49-F238E27FC236}">
              <a16:creationId xmlns:a16="http://schemas.microsoft.com/office/drawing/2014/main" id="{F75FFCBE-11A0-46FA-A963-CDEE61D7298D}"/>
            </a:ext>
          </a:extLst>
        </cdr:cNvPr>
        <cdr:cNvSpPr txBox="1">
          <a:spLocks xmlns:a="http://schemas.openxmlformats.org/drawingml/2006/main"/>
        </cdr:cNvSpPr>
      </cdr:nvSpPr>
      <cdr:spPr>
        <a:xfrm xmlns:a="http://schemas.openxmlformats.org/drawingml/2006/main">
          <a:off x="8356382" y="2069426"/>
          <a:ext cx="1178702" cy="169277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="horz" wrap="square" lIns="0" tIns="0" rIns="0" bIns="0" rtlCol="0" anchor="ctr" anchorCtr="0">
          <a:spAutoFit/>
        </a:bodyPr>
        <a:lstStyle xmlns:a="http://schemas.openxmlformats.org/drawingml/2006/main">
          <a:defPPr>
            <a:defRPr lang="it-IT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300"/>
            </a:spcBef>
            <a:spcAft>
              <a:spcPts val="300"/>
            </a:spcAft>
            <a:buClrTx/>
            <a:buSzTx/>
            <a:buFont typeface="Segoe UI" panose="020B0502040204020203" pitchFamily="34" charset="0"/>
            <a:buNone/>
            <a:tabLst/>
            <a:defRPr/>
          </a:pPr>
          <a:r>
            <a:rPr kumimoji="0" lang="it-IT" sz="1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  <a:sym typeface="Tahoma" panose="020B0604030504040204" pitchFamily="34" charset="0"/>
            </a:rPr>
            <a:t>Salute</a:t>
          </a: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052BAE-439A-4FC8-8655-99AAAEB01D21}" type="datetimeFigureOut">
              <a:rPr lang="it-IT" smtClean="0"/>
              <a:t>04/12/2024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3C176B-96D9-4935-94ED-396780CCE3E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743739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B651B7-D1FD-484D-9665-DAAE23E1A784}" type="datetimeFigureOut">
              <a:rPr lang="it-IT" smtClean="0"/>
              <a:t>04/12/2024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096FAA-A9DD-444E-AAB0-7E9234A0C1F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79642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096FAA-A9DD-444E-AAB0-7E9234A0C1F6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681426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096FAA-A9DD-444E-AAB0-7E9234A0C1F6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586681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096FAA-A9DD-444E-AAB0-7E9234A0C1F6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623693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096FAA-A9DD-444E-AAB0-7E9234A0C1F6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836457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F70D8EC6-05AF-42E8-967A-AAD7AD80F81C}" type="datetime1">
              <a:rPr lang="it-IT" smtClean="0"/>
              <a:t>04/12/2024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3A03E66D-A13A-4C27-A19D-D7B0DBB2617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33729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8CE15-04C7-4618-95DB-ED79C8E3A217}" type="datetime1">
              <a:rPr lang="it-IT" smtClean="0"/>
              <a:t>04/12/2024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73136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66418-C66F-482C-A2AE-8C47E252DB0C}" type="datetime1">
              <a:rPr lang="it-IT" smtClean="0"/>
              <a:t>04/12/2024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74764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94234-F74D-49AA-A11A-76052BA5687A}" type="datetime1">
              <a:rPr lang="it-IT" smtClean="0"/>
              <a:t>04/12/2024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30428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7E194-C971-4739-81F1-E8777D881483}" type="datetime1">
              <a:rPr lang="it-IT" smtClean="0"/>
              <a:t>04/12/2024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05286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226A4-72B2-441B-A754-36D12F008D9C}" type="datetime1">
              <a:rPr lang="it-IT" smtClean="0"/>
              <a:t>04/12/2024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26511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64A30-5C7A-4441-B5D7-70720E734D76}" type="datetime1">
              <a:rPr lang="it-IT" smtClean="0"/>
              <a:t>04/12/2024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37149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FD286-1E23-4496-AB18-A7DF5C8CE213}" type="datetime1">
              <a:rPr lang="it-IT" smtClean="0"/>
              <a:t>04/12/2024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14482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0EBD2-745A-4FFD-9F97-D0274C7E853B}" type="datetime1">
              <a:rPr lang="it-IT" smtClean="0"/>
              <a:t>04/12/2024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8278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panoramica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57D-6A4F-431D-96FE-2A6C51CDA8F8}" type="datetime1">
              <a:rPr lang="it-IT" smtClean="0"/>
              <a:t>04/12/2024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01332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03762-40E7-4456-B57E-599A6885D454}" type="datetime1">
              <a:rPr lang="it-IT" smtClean="0"/>
              <a:t>04/12/2024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0452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88880-91AB-48E8-BE9C-4F0F7BBF2859}" type="datetime1">
              <a:rPr lang="it-IT" smtClean="0"/>
              <a:t>04/12/2024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/>
              <a:t>‹N›</a:t>
            </a:fld>
            <a:endParaRPr lang="it-IT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458873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4CDF5-9C9C-44D9-8D59-F569663E130C}" type="datetime1">
              <a:rPr lang="it-IT" smtClean="0"/>
              <a:t>04/12/2024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190648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3B067-3B22-42E3-B521-8212467F7A55}" type="datetime1">
              <a:rPr lang="it-IT" smtClean="0"/>
              <a:t>04/12/2024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368994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0EA9A-AE73-4C86-9BB9-19EF17F31910}" type="datetime1">
              <a:rPr lang="it-IT" smtClean="0"/>
              <a:t>04/12/2024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067775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35E3A-8505-46E3-8727-03942588E388}" type="datetime1">
              <a:rPr lang="it-IT" smtClean="0"/>
              <a:t>04/12/2024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96382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79863-396D-43E8-A741-75AB7B866696}" type="datetime1">
              <a:rPr lang="it-IT" smtClean="0"/>
              <a:t>04/12/2024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86012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D3B760-DED4-4157-BBB8-83F0E672D44A}" type="datetime1">
              <a:rPr lang="it-IT" smtClean="0"/>
              <a:t>04/12/2024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03E66D-A13A-4C27-A19D-D7B0DBB2617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801725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264696" y="617037"/>
            <a:ext cx="11927304" cy="2387600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/>
              <a:t>Fondazione ITS </a:t>
            </a:r>
            <a:br>
              <a:rPr lang="en-US" sz="6000" b="1" dirty="0"/>
            </a:br>
            <a:br>
              <a:rPr lang="en-US" sz="1300" b="1" dirty="0"/>
            </a:br>
            <a:r>
              <a:rPr lang="en-US" sz="3200" b="1" dirty="0"/>
              <a:t>Information &amp; Communications Technology Academy</a:t>
            </a:r>
            <a:endParaRPr lang="it-IT" sz="3200" b="1" dirty="0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614855" y="3602038"/>
            <a:ext cx="11256579" cy="1655762"/>
          </a:xfrm>
        </p:spPr>
        <p:txBody>
          <a:bodyPr>
            <a:noAutofit/>
          </a:bodyPr>
          <a:lstStyle/>
          <a:p>
            <a:pPr algn="ctr"/>
            <a:r>
              <a:rPr lang="it-IT" sz="3200" b="1" u="sng" dirty="0">
                <a:solidFill>
                  <a:schemeClr val="tx1">
                    <a:lumMod val="95000"/>
                  </a:schemeClr>
                </a:solidFill>
              </a:rPr>
              <a:t>LA 4^ RIVOLUZIONE INDUSTRIALE </a:t>
            </a:r>
          </a:p>
          <a:p>
            <a:pPr algn="ctr"/>
            <a:r>
              <a:rPr lang="it-IT" sz="3200" b="1" u="sng" dirty="0">
                <a:solidFill>
                  <a:schemeClr val="tx1">
                    <a:lumMod val="95000"/>
                  </a:schemeClr>
                </a:solidFill>
              </a:rPr>
              <a:t>E LE Opportunità  Di  INGRESSO NEL  MONDO  DEL  LAVORO</a:t>
            </a:r>
          </a:p>
        </p:txBody>
      </p:sp>
    </p:spTree>
    <p:extLst>
      <p:ext uri="{BB962C8B-B14F-4D97-AF65-F5344CB8AC3E}">
        <p14:creationId xmlns:p14="http://schemas.microsoft.com/office/powerpoint/2010/main" val="1023261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B6216DB-1521-8807-6580-20A7D98AF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142043"/>
          </a:xfrm>
        </p:spPr>
        <p:txBody>
          <a:bodyPr>
            <a:noAutofit/>
          </a:bodyPr>
          <a:lstStyle/>
          <a:p>
            <a:pPr algn="ctr"/>
            <a:r>
              <a:rPr lang="it-IT" sz="6000" b="1" dirty="0"/>
              <a:t>L’informatica distrugge il lavoro?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47F66ED-94F1-3816-F5BC-26AF46E67D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559" y="2301765"/>
            <a:ext cx="11398469" cy="3657877"/>
          </a:xfrm>
        </p:spPr>
        <p:txBody>
          <a:bodyPr>
            <a:noAutofit/>
          </a:bodyPr>
          <a:lstStyle/>
          <a:p>
            <a:r>
              <a:rPr lang="it-IT" sz="4800" dirty="0"/>
              <a:t>È un’idea sbagliata è invece vero il contrario</a:t>
            </a:r>
          </a:p>
          <a:p>
            <a:r>
              <a:rPr lang="it-IT" sz="4800" u="sng" dirty="0"/>
              <a:t>Uno studio di </a:t>
            </a:r>
            <a:r>
              <a:rPr lang="it-IT" sz="4800" u="sng" dirty="0" err="1"/>
              <a:t>McKinsey</a:t>
            </a:r>
            <a:r>
              <a:rPr lang="it-IT" sz="4800" dirty="0"/>
              <a:t> ci dice che per ogni posto di lavoro «distrutto» se ne creano 2,6.</a:t>
            </a:r>
          </a:p>
          <a:p>
            <a:pPr marL="0" indent="0">
              <a:buNone/>
            </a:pPr>
            <a:endParaRPr lang="it-IT" sz="2600" dirty="0"/>
          </a:p>
        </p:txBody>
      </p:sp>
    </p:spTree>
    <p:extLst>
      <p:ext uri="{BB962C8B-B14F-4D97-AF65-F5344CB8AC3E}">
        <p14:creationId xmlns:p14="http://schemas.microsoft.com/office/powerpoint/2010/main" val="4073978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3946294-1662-FCFC-497C-56354D564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613" y="313718"/>
            <a:ext cx="9905998" cy="1005566"/>
          </a:xfrm>
        </p:spPr>
        <p:txBody>
          <a:bodyPr>
            <a:normAutofit/>
          </a:bodyPr>
          <a:lstStyle/>
          <a:p>
            <a:pPr algn="ctr"/>
            <a:r>
              <a:rPr lang="it-IT" sz="6000" b="1" dirty="0"/>
              <a:t>NUOVI LAVORI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DFE2D3E-A46E-AD78-C49D-7E0DAF002C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466193"/>
            <a:ext cx="9905999" cy="4958670"/>
          </a:xfrm>
        </p:spPr>
        <p:txBody>
          <a:bodyPr>
            <a:noAutofit/>
          </a:bodyPr>
          <a:lstStyle/>
          <a:p>
            <a:pPr algn="just"/>
            <a:r>
              <a:rPr lang="it-IT" sz="4800" dirty="0"/>
              <a:t>La domanda di questi lavoratori supererà, e di molto, l’offerta. </a:t>
            </a:r>
          </a:p>
          <a:p>
            <a:pPr algn="just"/>
            <a:r>
              <a:rPr lang="it-IT" sz="4800" dirty="0"/>
              <a:t>nel 2030 ci sarà una richiesta sempre più massiccia di lavoratori in settori tecnologici: ne mancheranno però 85 Milioni.</a:t>
            </a:r>
          </a:p>
        </p:txBody>
      </p:sp>
    </p:spTree>
    <p:extLst>
      <p:ext uri="{BB962C8B-B14F-4D97-AF65-F5344CB8AC3E}">
        <p14:creationId xmlns:p14="http://schemas.microsoft.com/office/powerpoint/2010/main" val="1620677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3946294-1662-FCFC-497C-56354D564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7157" y="271509"/>
            <a:ext cx="9905998" cy="1509993"/>
          </a:xfrm>
        </p:spPr>
        <p:txBody>
          <a:bodyPr>
            <a:noAutofit/>
          </a:bodyPr>
          <a:lstStyle/>
          <a:p>
            <a:pPr algn="ctr"/>
            <a:r>
              <a:rPr lang="it-IT" sz="6000" b="1" dirty="0"/>
              <a:t>La tecnologia volano dell’economia mondiale</a:t>
            </a:r>
          </a:p>
        </p:txBody>
      </p:sp>
      <p:sp>
        <p:nvSpPr>
          <p:cNvPr id="3" name="Rettangolo 2"/>
          <p:cNvSpPr/>
          <p:nvPr/>
        </p:nvSpPr>
        <p:spPr>
          <a:xfrm>
            <a:off x="697832" y="1948955"/>
            <a:ext cx="10780294" cy="3908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it-IT" sz="4800" dirty="0"/>
              <a:t>Tra le prime 5 compagnie al mondo per capitalizzazione 4 sono di tecnologia in cui il software riveste un ruolo essenziale </a:t>
            </a:r>
          </a:p>
          <a:p>
            <a:pPr algn="ctr">
              <a:spcAft>
                <a:spcPts val="1200"/>
              </a:spcAft>
            </a:pPr>
            <a:r>
              <a:rPr lang="it-IT" sz="4800" b="1" dirty="0"/>
              <a:t>(Apple, Microsoft, Google, Amazon)</a:t>
            </a:r>
            <a:r>
              <a:rPr lang="it-IT" sz="4800" dirty="0"/>
              <a:t>, </a:t>
            </a:r>
          </a:p>
          <a:p>
            <a:pPr algn="ctr"/>
            <a:r>
              <a:rPr lang="it-IT" sz="3600" dirty="0"/>
              <a:t>la quinta è la società petrolifera degli Emirati Arabi. </a:t>
            </a:r>
          </a:p>
        </p:txBody>
      </p:sp>
    </p:spTree>
    <p:extLst>
      <p:ext uri="{BB962C8B-B14F-4D97-AF65-F5344CB8AC3E}">
        <p14:creationId xmlns:p14="http://schemas.microsoft.com/office/powerpoint/2010/main" val="3043947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3946294-1662-FCFC-497C-56354D564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7157" y="271510"/>
            <a:ext cx="9905998" cy="1005566"/>
          </a:xfrm>
        </p:spPr>
        <p:txBody>
          <a:bodyPr>
            <a:normAutofit/>
          </a:bodyPr>
          <a:lstStyle/>
          <a:p>
            <a:pPr algn="ctr"/>
            <a:r>
              <a:rPr lang="it-IT" sz="6000" b="1" dirty="0" err="1"/>
              <a:t>L’italia</a:t>
            </a:r>
            <a:r>
              <a:rPr lang="it-IT" sz="6000" b="1" dirty="0"/>
              <a:t> nel mercato </a:t>
            </a:r>
            <a:r>
              <a:rPr lang="it-IT" sz="6000" b="1" dirty="0" err="1"/>
              <a:t>ict</a:t>
            </a:r>
            <a:endParaRPr lang="it-IT" sz="6000" b="1" dirty="0"/>
          </a:p>
        </p:txBody>
      </p:sp>
      <p:sp>
        <p:nvSpPr>
          <p:cNvPr id="4" name="Rettangolo 3"/>
          <p:cNvSpPr/>
          <p:nvPr/>
        </p:nvSpPr>
        <p:spPr>
          <a:xfrm>
            <a:off x="649704" y="1240668"/>
            <a:ext cx="11044989" cy="5447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sz="4800" dirty="0"/>
              <a:t>Negli anni ‘80 e ‘90 del secolo scorso L’Italia era ai primissimi posti nel mondo per lo sviluppo di soluzioni digitali.</a:t>
            </a:r>
          </a:p>
          <a:p>
            <a:pPr algn="just"/>
            <a:endParaRPr lang="it-IT" sz="1200" dirty="0"/>
          </a:p>
          <a:p>
            <a:pPr algn="just"/>
            <a:r>
              <a:rPr lang="it-IT" sz="4800" dirty="0"/>
              <a:t>Oggi l’Italia si colloca al </a:t>
            </a:r>
            <a:r>
              <a:rPr lang="it-IT" sz="4800" b="1" dirty="0"/>
              <a:t>27esimo posto in materia di “Competenze digitali”</a:t>
            </a:r>
            <a:r>
              <a:rPr lang="it-IT" sz="4800" dirty="0"/>
              <a:t> al penultimo posto tra gli stati membri dell’Unione Europea (UE) </a:t>
            </a:r>
            <a:r>
              <a:rPr lang="it-IT" sz="4800" dirty="0" err="1"/>
              <a:t>pre-Brexit</a:t>
            </a:r>
            <a:r>
              <a:rPr lang="it-IT" sz="4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73626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3946294-1662-FCFC-497C-56354D564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7157" y="271510"/>
            <a:ext cx="9905998" cy="883522"/>
          </a:xfrm>
        </p:spPr>
        <p:txBody>
          <a:bodyPr>
            <a:noAutofit/>
          </a:bodyPr>
          <a:lstStyle/>
          <a:p>
            <a:pPr algn="ctr"/>
            <a:r>
              <a:rPr lang="it-IT" sz="6000" b="1" dirty="0"/>
              <a:t>Trasformazione digitale</a:t>
            </a:r>
            <a:endParaRPr lang="it-IT" sz="6000" dirty="0"/>
          </a:p>
        </p:txBody>
      </p:sp>
      <p:sp>
        <p:nvSpPr>
          <p:cNvPr id="3" name="Rettangolo 2"/>
          <p:cNvSpPr/>
          <p:nvPr/>
        </p:nvSpPr>
        <p:spPr>
          <a:xfrm>
            <a:off x="601579" y="1058779"/>
            <a:ext cx="10996863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it-IT" sz="4400" dirty="0"/>
              <a:t>L’importanza dei dati e evidente. </a:t>
            </a:r>
          </a:p>
          <a:p>
            <a:pPr marL="571500" indent="-5715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it-IT" sz="4400" dirty="0"/>
              <a:t>Oggi uno Stato non può fare affidamento a piattaforme tecnologiche straniere. </a:t>
            </a:r>
          </a:p>
          <a:p>
            <a:pPr marL="571500" indent="-5715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it-IT" sz="4400" dirty="0"/>
              <a:t>È prioritario costruire una </a:t>
            </a:r>
            <a:r>
              <a:rPr lang="it-IT" sz="4400" b="1" dirty="0"/>
              <a:t>piattaforma </a:t>
            </a:r>
            <a:r>
              <a:rPr lang="it-IT" sz="4400" b="1" dirty="0" err="1"/>
              <a:t>cloud</a:t>
            </a:r>
            <a:r>
              <a:rPr lang="it-IT" sz="4400" b="1" dirty="0"/>
              <a:t> nazionale</a:t>
            </a:r>
            <a:r>
              <a:rPr lang="it-IT" sz="4400" dirty="0"/>
              <a:t>. </a:t>
            </a:r>
          </a:p>
          <a:p>
            <a:pPr marL="571500" indent="-5715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it-IT" sz="4000" b="1" dirty="0"/>
              <a:t>PER REALIZZARLA SERVONO MOLTI TECNICI PREPARATI</a:t>
            </a:r>
          </a:p>
        </p:txBody>
      </p:sp>
    </p:spTree>
    <p:extLst>
      <p:ext uri="{BB962C8B-B14F-4D97-AF65-F5344CB8AC3E}">
        <p14:creationId xmlns:p14="http://schemas.microsoft.com/office/powerpoint/2010/main" val="31408550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it-IT" sz="4400" b="1" dirty="0"/>
              <a:t>Storia Dell’informatica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999523" y="1997239"/>
            <a:ext cx="9905999" cy="354171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it-IT" sz="3200" dirty="0"/>
              <a:t>Alcuni video:</a:t>
            </a:r>
          </a:p>
          <a:p>
            <a:pPr marL="441325" indent="-441325">
              <a:buFont typeface="Wingdings" panose="05000000000000000000" pitchFamily="2" charset="2"/>
              <a:buChar char="Ø"/>
            </a:pPr>
            <a:r>
              <a:rPr lang="it-IT" sz="3200" dirty="0"/>
              <a:t>L’evoluzione del computer dal 1890 ad oggi</a:t>
            </a:r>
          </a:p>
          <a:p>
            <a:pPr marL="441325" indent="-441325">
              <a:buFont typeface="Wingdings" panose="05000000000000000000" pitchFamily="2" charset="2"/>
              <a:buChar char="Ø"/>
            </a:pPr>
            <a:r>
              <a:rPr lang="it-IT" sz="3200" dirty="0"/>
              <a:t>Cos’è l’informatica: </a:t>
            </a:r>
            <a:r>
              <a:rPr lang="it-IT" sz="3200" b="1" u="sng" dirty="0">
                <a:solidFill>
                  <a:srgbClr val="FFFF00"/>
                </a:solidFill>
              </a:rPr>
              <a:t>Scienza interdisciplinare </a:t>
            </a:r>
            <a:r>
              <a:rPr lang="it-IT" sz="3200" dirty="0"/>
              <a:t>che studia i </a:t>
            </a:r>
            <a:r>
              <a:rPr lang="it-IT" sz="3200" b="1" u="sng" dirty="0">
                <a:solidFill>
                  <a:srgbClr val="FFFF00"/>
                </a:solidFill>
              </a:rPr>
              <a:t>processi</a:t>
            </a:r>
            <a:r>
              <a:rPr lang="it-IT" sz="3200" dirty="0"/>
              <a:t> per </a:t>
            </a:r>
            <a:r>
              <a:rPr lang="it-IT" sz="3200" b="1" dirty="0"/>
              <a:t>risolvere i problemi </a:t>
            </a:r>
            <a:r>
              <a:rPr lang="it-IT" sz="3200" dirty="0"/>
              <a:t>in modo automatico attraverso </a:t>
            </a:r>
            <a:r>
              <a:rPr lang="it-IT" sz="3200" dirty="0">
                <a:solidFill>
                  <a:srgbClr val="FFFF00"/>
                </a:solidFill>
              </a:rPr>
              <a:t>«</a:t>
            </a:r>
            <a:r>
              <a:rPr lang="it-IT" sz="3200" b="1" u="sng" dirty="0">
                <a:solidFill>
                  <a:srgbClr val="FFFF00"/>
                </a:solidFill>
              </a:rPr>
              <a:t>algoritmi</a:t>
            </a:r>
            <a:r>
              <a:rPr lang="it-IT" sz="3200" dirty="0">
                <a:solidFill>
                  <a:srgbClr val="FFFF00"/>
                </a:solidFill>
              </a:rPr>
              <a:t>»</a:t>
            </a:r>
          </a:p>
          <a:p>
            <a:pPr marL="441325" indent="-441325">
              <a:buFont typeface="Wingdings" panose="05000000000000000000" pitchFamily="2" charset="2"/>
              <a:buChar char="Ø"/>
            </a:pPr>
            <a:r>
              <a:rPr lang="it-IT" sz="3200" dirty="0"/>
              <a:t>Paese a burocrazia zero: Estonia, un Paese da imitare per la semplificazione attraverso la digitalizzazione.</a:t>
            </a:r>
          </a:p>
        </p:txBody>
      </p:sp>
    </p:spTree>
    <p:extLst>
      <p:ext uri="{BB962C8B-B14F-4D97-AF65-F5344CB8AC3E}">
        <p14:creationId xmlns:p14="http://schemas.microsoft.com/office/powerpoint/2010/main" val="1746992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/>
          <p:cNvSpPr txBox="1">
            <a:spLocks/>
          </p:cNvSpPr>
          <p:nvPr/>
        </p:nvSpPr>
        <p:spPr>
          <a:xfrm>
            <a:off x="323528" y="400762"/>
            <a:ext cx="1150061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4000" b="1" dirty="0"/>
              <a:t>Perché è importante che un programmatore conosca le regole della privacy)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543763"/>
            <a:ext cx="11374486" cy="50304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352944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b="1" dirty="0"/>
              <a:t>PNRR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078350" y="1808052"/>
            <a:ext cx="9905999" cy="354171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it-IT" sz="3200" dirty="0"/>
              <a:t>Abbiamo detto che il PNRR destina oltre 50 miliardi di euro alla digitalizzazione ma che l’obiettivo principale è </a:t>
            </a:r>
            <a:r>
              <a:rPr lang="it-IT" sz="3200" b="1" u="sng" dirty="0"/>
              <a:t>«semplificare le procedure della Pubblica Amministrazione a favore di cittadini ed imprese»</a:t>
            </a:r>
          </a:p>
          <a:p>
            <a:pPr marL="0" indent="0" algn="just">
              <a:buNone/>
            </a:pPr>
            <a:endParaRPr lang="it-IT" sz="3200" dirty="0"/>
          </a:p>
        </p:txBody>
      </p:sp>
      <p:graphicFrame>
        <p:nvGraphicFramePr>
          <p:cNvPr id="4" name="Grafico 3">
            <a:extLst>
              <a:ext uri="{FF2B5EF4-FFF2-40B4-BE49-F238E27FC236}">
                <a16:creationId xmlns:a16="http://schemas.microsoft.com/office/drawing/2014/main" id="{F536E08D-628D-46E1-9883-94B9A190F1B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17436237"/>
              </p:ext>
            </p:extLst>
          </p:nvPr>
        </p:nvGraphicFramePr>
        <p:xfrm>
          <a:off x="1075110" y="4209394"/>
          <a:ext cx="9834629" cy="24751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701317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788277" y="677917"/>
            <a:ext cx="10594426" cy="95381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altLang="it-IT" sz="4000" b="1" dirty="0"/>
              <a:t>Protezione della Proprietà Intellettuale</a:t>
            </a:r>
          </a:p>
        </p:txBody>
      </p:sp>
      <p:sp>
        <p:nvSpPr>
          <p:cNvPr id="3" name="Rectangle 1027"/>
          <p:cNvSpPr txBox="1">
            <a:spLocks noChangeArrowheads="1"/>
          </p:cNvSpPr>
          <p:nvPr/>
        </p:nvSpPr>
        <p:spPr>
          <a:xfrm>
            <a:off x="1182688" y="1355834"/>
            <a:ext cx="7772400" cy="32634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it-IT" altLang="it-IT" sz="3200"/>
              <a:t>Perché inventare costa fatica</a:t>
            </a:r>
          </a:p>
          <a:p>
            <a:pPr>
              <a:lnSpc>
                <a:spcPct val="90000"/>
              </a:lnSpc>
            </a:pPr>
            <a:r>
              <a:rPr lang="it-IT" altLang="it-IT" sz="3200"/>
              <a:t>L’originalità va premiata</a:t>
            </a:r>
          </a:p>
          <a:p>
            <a:pPr>
              <a:lnSpc>
                <a:spcPct val="90000"/>
              </a:lnSpc>
            </a:pPr>
            <a:r>
              <a:rPr lang="it-IT" altLang="it-IT" sz="3200"/>
              <a:t>Gli sforzi personali richiedono un ritorno economico e morale</a:t>
            </a:r>
          </a:p>
          <a:p>
            <a:pPr>
              <a:lnSpc>
                <a:spcPct val="90000"/>
              </a:lnSpc>
            </a:pPr>
            <a:r>
              <a:rPr lang="it-IT" altLang="it-IT" sz="3200"/>
              <a:t>La proprietà intellettuale su una innovazione va riconosciuta per un certo tempo, per poi diventare patrimonio dell’umanità</a:t>
            </a:r>
            <a:endParaRPr lang="it-IT" altLang="it-IT" sz="3200" dirty="0"/>
          </a:p>
        </p:txBody>
      </p:sp>
      <p:pic>
        <p:nvPicPr>
          <p:cNvPr id="4" name="Picture 5" descr="C:\Programmi\Microsoft Office\Clipart\standard\stddir2\EN00683_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5088" y="1816783"/>
            <a:ext cx="2532063" cy="2341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6" descr="C:\Programmi\Microsoft Office\Clipart\standard\stddir1\BD05034_.WM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3387" y="4729656"/>
            <a:ext cx="1795463" cy="156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C:\Programmi\File comuni\Microsoft Shared\Clipart\cagcat50\EN00354_.wmf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717" y="4929352"/>
            <a:ext cx="2214563" cy="173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4" descr="C:\Programmi\Microsoft Office\Clipart\standard\stddir1\BD06935_.WMF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2752" y="4834458"/>
            <a:ext cx="1728788" cy="181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478275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4AA353C34084B48AD5373DABC4FE04B" ma:contentTypeVersion="6" ma:contentTypeDescription="Creare un nuovo documento." ma:contentTypeScope="" ma:versionID="7b95d111b612a96f1219550b5e1db449">
  <xsd:schema xmlns:xsd="http://www.w3.org/2001/XMLSchema" xmlns:xs="http://www.w3.org/2001/XMLSchema" xmlns:p="http://schemas.microsoft.com/office/2006/metadata/properties" xmlns:ns2="a92ef012-2059-489e-bed9-6971e10b3fed" targetNamespace="http://schemas.microsoft.com/office/2006/metadata/properties" ma:root="true" ma:fieldsID="1b0ffde798c86c6a5476af6b0920dbb2" ns2:_="">
    <xsd:import namespace="a92ef012-2059-489e-bed9-6971e10b3fe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2ef012-2059-489e-bed9-6971e10b3fe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4256443-2934-47D5-BC1C-6F8CCDE8E74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677C9D3-16DB-4FF6-A2EC-405FC028E78F}">
  <ds:schemaRefs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2006/metadata/properties"/>
    <ds:schemaRef ds:uri="http://purl.org/dc/elements/1.1/"/>
    <ds:schemaRef ds:uri="a92ef012-2059-489e-bed9-6971e10b3fed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ECF4AACC-8FBD-48EA-9157-CB62B83677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92ef012-2059-489e-bed9-6971e10b3fe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10774</TotalTime>
  <Words>388</Words>
  <Application>Microsoft Office PowerPoint</Application>
  <PresentationFormat>Widescreen</PresentationFormat>
  <Paragraphs>45</Paragraphs>
  <Slides>10</Slides>
  <Notes>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6" baseType="lpstr">
      <vt:lpstr>Arial</vt:lpstr>
      <vt:lpstr>Calibri</vt:lpstr>
      <vt:lpstr>Segoe UI</vt:lpstr>
      <vt:lpstr>Tw Cen MT</vt:lpstr>
      <vt:lpstr>Wingdings</vt:lpstr>
      <vt:lpstr>Circuito</vt:lpstr>
      <vt:lpstr>Fondazione ITS   Information &amp; Communications Technology Academy</vt:lpstr>
      <vt:lpstr>L’informatica distrugge il lavoro?</vt:lpstr>
      <vt:lpstr>NUOVI LAVORI</vt:lpstr>
      <vt:lpstr>La tecnologia volano dell’economia mondiale</vt:lpstr>
      <vt:lpstr>L’italia nel mercato ict</vt:lpstr>
      <vt:lpstr>Trasformazione digitale</vt:lpstr>
      <vt:lpstr>Storia Dell’informatica</vt:lpstr>
      <vt:lpstr>Presentazione standard di PowerPoint</vt:lpstr>
      <vt:lpstr>PNRR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Costituzione ITS  «Istituto Tecnico Superiore ITS Information and Communications Technology Academy»</dc:title>
  <dc:creator>Fabrizio Rizzitelli</dc:creator>
  <cp:lastModifiedBy>Enzo Chilelli</cp:lastModifiedBy>
  <cp:revision>77</cp:revision>
  <cp:lastPrinted>2022-10-19T16:38:02Z</cp:lastPrinted>
  <dcterms:created xsi:type="dcterms:W3CDTF">2022-03-20T16:16:01Z</dcterms:created>
  <dcterms:modified xsi:type="dcterms:W3CDTF">2024-12-04T02:18:11Z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0x010100F4AA353C34084B48AD5373DABC4FE04B</vt:lpwstr>
  </property>
</Properties>
</file>