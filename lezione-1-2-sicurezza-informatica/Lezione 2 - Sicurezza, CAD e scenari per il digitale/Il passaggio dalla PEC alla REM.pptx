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2"/>
    <p:sldId id="286" r:id="rId3"/>
    <p:sldId id="287" r:id="rId4"/>
    <p:sldId id="288" r:id="rId5"/>
    <p:sldId id="289" r:id="rId6"/>
    <p:sldId id="290" r:id="rId7"/>
    <p:sldId id="291" r:id="rId8"/>
    <p:sldId id="29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40" d="100"/>
          <a:sy n="40" d="100"/>
        </p:scale>
        <p:origin x="-2172" y="-6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56DD26-32A4-2A43-990A-6F7E5E73786E}"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56DD26-32A4-2A43-990A-6F7E5E73786E}" type="datetimeFigureOut">
              <a:rPr lang="en-US" smtClean="0"/>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56DD26-32A4-2A43-990A-6F7E5E73786E}" type="datetimeFigureOut">
              <a:rPr lang="en-US" smtClean="0"/>
              <a:t>5/23/2024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56DD26-32A4-2A43-990A-6F7E5E73786E}" type="datetimeFigureOut">
              <a:rPr lang="en-US" smtClean="0"/>
              <a:t>5/23/2024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56DD26-32A4-2A43-990A-6F7E5E73786E}" type="datetimeFigureOut">
              <a:rPr lang="en-US" smtClean="0"/>
              <a:t>5/23/2024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56DD26-32A4-2A43-990A-6F7E5E73786E}" type="datetimeFigureOut">
              <a:rPr lang="en-US" smtClean="0"/>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56DD26-32A4-2A43-990A-6F7E5E73786E}" type="datetimeFigureOut">
              <a:rPr lang="en-US" smtClean="0"/>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56DD26-32A4-2A43-990A-6F7E5E73786E}"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6AF604-6CBA-6F4A-A6F6-26E48A4D0EE4}" type="slidenum">
              <a:rPr lang="en-US" smtClean="0"/>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smtClean="0"/>
              <a:t>Click to edit Master text styles</a:t>
            </a:r>
          </a:p>
          <a:p>
            <a:pPr lvl="1"/>
            <a:r>
              <a:rPr lang="en-US" altLang="zh-CN" smtClean="0"/>
              <a:t>Second level</a:t>
            </a:r>
          </a:p>
          <a:p>
            <a:pPr lvl="2"/>
            <a:r>
              <a:rPr lang="en-US" altLang="zh-CN" smtClean="0"/>
              <a:t>Third level</a:t>
            </a:r>
          </a:p>
          <a:p>
            <a:pPr lvl="3"/>
            <a:r>
              <a:rPr lang="en-US" altLang="zh-CN" smtClean="0"/>
              <a:t>Fourth level</a:t>
            </a:r>
          </a:p>
          <a:p>
            <a:pPr lvl="4"/>
            <a:r>
              <a:rPr lang="en-US" altLang="zh-CN"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56DD26-32A4-2A43-990A-6F7E5E73786E}" type="datetimeFigureOut">
              <a:rPr lang="en-US" smtClean="0"/>
              <a:t>5/23/2024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6AF604-6CBA-6F4A-A6F6-26E48A4D0EE4}" type="slidenum">
              <a:rPr lang="en-US" smtClean="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object 4"/>
          <p:cNvPicPr/>
          <p:nvPr/>
        </p:nvPicPr>
        <p:blipFill>
          <a:blip r:embed="rId2" cstate="print"/>
          <a:stretch>
            <a:fillRect/>
          </a:stretch>
        </p:blipFill>
        <p:spPr>
          <a:xfrm>
            <a:off x="234066" y="609600"/>
            <a:ext cx="8641080" cy="1973580"/>
          </a:xfrm>
          <a:prstGeom prst="rect">
            <a:avLst/>
          </a:prstGeom>
        </p:spPr>
      </p:pic>
      <p:grpSp>
        <p:nvGrpSpPr>
          <p:cNvPr id="2" name="object 2"/>
          <p:cNvGrpSpPr/>
          <p:nvPr/>
        </p:nvGrpSpPr>
        <p:grpSpPr>
          <a:xfrm>
            <a:off x="-4571" y="4953000"/>
            <a:ext cx="9153525" cy="1905000"/>
            <a:chOff x="-6095" y="4953000"/>
            <a:chExt cx="12204700" cy="1905000"/>
          </a:xfrm>
        </p:grpSpPr>
        <p:sp>
          <p:nvSpPr>
            <p:cNvPr id="3" name="object 3"/>
            <p:cNvSpPr/>
            <p:nvPr/>
          </p:nvSpPr>
          <p:spPr>
            <a:xfrm>
              <a:off x="2249424" y="4953000"/>
              <a:ext cx="9942830" cy="487680"/>
            </a:xfrm>
            <a:custGeom>
              <a:avLst/>
              <a:gdLst/>
              <a:ahLst/>
              <a:cxnLst/>
              <a:rect l="l" t="t" r="r" b="b"/>
              <a:pathLst>
                <a:path w="9942830" h="487679">
                  <a:moveTo>
                    <a:pt x="9942576" y="0"/>
                  </a:moveTo>
                  <a:lnTo>
                    <a:pt x="0" y="289687"/>
                  </a:lnTo>
                  <a:lnTo>
                    <a:pt x="9942576" y="487680"/>
                  </a:lnTo>
                  <a:lnTo>
                    <a:pt x="9942576" y="0"/>
                  </a:lnTo>
                  <a:close/>
                </a:path>
              </a:pathLst>
            </a:custGeom>
            <a:solidFill>
              <a:srgbClr val="A6B8DB">
                <a:alpha val="39999"/>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0" y="5000244"/>
              <a:ext cx="12191999" cy="1857753"/>
            </a:xfrm>
            <a:prstGeom prst="rect">
              <a:avLst/>
            </a:prstGeom>
          </p:spPr>
        </p:pic>
        <p:sp>
          <p:nvSpPr>
            <p:cNvPr id="5" name="object 5"/>
            <p:cNvSpPr/>
            <p:nvPr/>
          </p:nvSpPr>
          <p:spPr>
            <a:xfrm>
              <a:off x="0" y="4997492"/>
              <a:ext cx="12192000" cy="789940"/>
            </a:xfrm>
            <a:custGeom>
              <a:avLst/>
              <a:gdLst/>
              <a:ahLst/>
              <a:cxnLst/>
              <a:rect l="l" t="t" r="r" b="b"/>
              <a:pathLst>
                <a:path w="12192000" h="789939">
                  <a:moveTo>
                    <a:pt x="0" y="0"/>
                  </a:moveTo>
                  <a:lnTo>
                    <a:pt x="12191999" y="789686"/>
                  </a:lnTo>
                </a:path>
              </a:pathLst>
            </a:custGeom>
            <a:ln w="12192">
              <a:solidFill>
                <a:srgbClr val="2D5280"/>
              </a:solidFill>
            </a:ln>
          </p:spPr>
          <p:txBody>
            <a:bodyPr wrap="square" lIns="0" tIns="0" rIns="0" bIns="0" rtlCol="0"/>
            <a:lstStyle/>
            <a:p>
              <a:endParaRPr/>
            </a:p>
          </p:txBody>
        </p:sp>
      </p:grpSp>
      <p:sp>
        <p:nvSpPr>
          <p:cNvPr id="7" name="object 7"/>
          <p:cNvSpPr txBox="1">
            <a:spLocks noGrp="1"/>
          </p:cNvSpPr>
          <p:nvPr>
            <p:ph type="title"/>
          </p:nvPr>
        </p:nvSpPr>
        <p:spPr>
          <a:xfrm>
            <a:off x="285749" y="454573"/>
            <a:ext cx="8572500" cy="4937890"/>
          </a:xfrm>
          <a:prstGeom prst="rect">
            <a:avLst/>
          </a:prstGeom>
        </p:spPr>
        <p:txBody>
          <a:bodyPr vert="horz" wrap="square" lIns="0" tIns="13335" rIns="0" bIns="0" rtlCol="0">
            <a:spAutoFit/>
          </a:bodyPr>
          <a:lstStyle/>
          <a:p>
            <a:pPr marL="12065" marR="5080" algn="ctr">
              <a:lnSpc>
                <a:spcPct val="100000"/>
              </a:lnSpc>
              <a:spcBef>
                <a:spcPts val="105"/>
              </a:spcBef>
            </a:pPr>
            <a:r>
              <a:rPr lang="it-IT" sz="4000" b="1" dirty="0" smtClean="0">
                <a:solidFill>
                  <a:schemeClr val="bg1"/>
                </a:solidFill>
              </a:rPr>
              <a:t/>
            </a:r>
            <a:br>
              <a:rPr lang="it-IT" sz="4000" b="1" dirty="0" smtClean="0">
                <a:solidFill>
                  <a:schemeClr val="bg1"/>
                </a:solidFill>
              </a:rPr>
            </a:br>
            <a:r>
              <a:rPr sz="4000" b="1" dirty="0" smtClean="0">
                <a:solidFill>
                  <a:schemeClr val="bg1"/>
                </a:solidFill>
              </a:rPr>
              <a:t>IL</a:t>
            </a:r>
            <a:r>
              <a:rPr sz="4000" b="1" spc="-25" dirty="0" smtClean="0">
                <a:solidFill>
                  <a:schemeClr val="bg1"/>
                </a:solidFill>
              </a:rPr>
              <a:t> </a:t>
            </a:r>
            <a:r>
              <a:rPr lang="it-IT" sz="4000" b="1" spc="-25" dirty="0" smtClean="0">
                <a:solidFill>
                  <a:schemeClr val="bg1"/>
                </a:solidFill>
              </a:rPr>
              <a:t>PASSAGGIO </a:t>
            </a:r>
            <a:br>
              <a:rPr lang="it-IT" sz="4000" b="1" spc="-25" dirty="0" smtClean="0">
                <a:solidFill>
                  <a:schemeClr val="bg1"/>
                </a:solidFill>
              </a:rPr>
            </a:br>
            <a:r>
              <a:rPr lang="it-IT" sz="4000" b="1" spc="-25" dirty="0" smtClean="0">
                <a:solidFill>
                  <a:schemeClr val="bg1"/>
                </a:solidFill>
              </a:rPr>
              <a:t>DALLA PEC ALLA REM</a:t>
            </a:r>
            <a:r>
              <a:rPr lang="it-IT" sz="4000" b="1" spc="-25" dirty="0" smtClean="0">
                <a:solidFill>
                  <a:schemeClr val="bg1"/>
                </a:solidFill>
              </a:rPr>
              <a:t/>
            </a:r>
            <a:br>
              <a:rPr lang="it-IT" sz="4000" b="1" spc="-25" dirty="0" smtClean="0">
                <a:solidFill>
                  <a:schemeClr val="bg1"/>
                </a:solidFill>
              </a:rPr>
            </a:br>
            <a:r>
              <a:rPr lang="it-IT" sz="4000" b="1" spc="-25" dirty="0" smtClean="0">
                <a:solidFill>
                  <a:schemeClr val="bg1"/>
                </a:solidFill>
              </a:rPr>
              <a:t/>
            </a:r>
            <a:br>
              <a:rPr lang="it-IT" sz="4000" b="1" spc="-25" dirty="0" smtClean="0">
                <a:solidFill>
                  <a:schemeClr val="bg1"/>
                </a:solidFill>
              </a:rPr>
            </a:br>
            <a:r>
              <a:rPr lang="it-IT" sz="4000" b="1" spc="-25" dirty="0">
                <a:solidFill>
                  <a:schemeClr val="bg1"/>
                </a:solidFill>
              </a:rPr>
              <a:t/>
            </a:r>
            <a:br>
              <a:rPr lang="it-IT" sz="4000" b="1" spc="-25" dirty="0">
                <a:solidFill>
                  <a:schemeClr val="bg1"/>
                </a:solidFill>
              </a:rPr>
            </a:br>
            <a:r>
              <a:rPr lang="it-IT" sz="4000" b="1" spc="-25" dirty="0" smtClean="0"/>
              <a:t>IL REGOLAMENTO EUROPEO EIDAS2 MODIFICA L’USO DELLA POSTA ELETTRONICA CERTIFICATA</a:t>
            </a:r>
            <a:endParaRPr sz="4000" b="1" dirty="0"/>
          </a:p>
        </p:txBody>
      </p:sp>
    </p:spTree>
    <p:extLst>
      <p:ext uri="{BB962C8B-B14F-4D97-AF65-F5344CB8AC3E}">
        <p14:creationId xmlns:p14="http://schemas.microsoft.com/office/powerpoint/2010/main" val="1400465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b="1" dirty="0" smtClean="0">
                <a:solidFill>
                  <a:srgbClr val="C00000"/>
                </a:solidFill>
              </a:rPr>
              <a:t>LA VECCHIA NORMATIVA</a:t>
            </a:r>
            <a:endParaRPr lang="it-IT" b="1" dirty="0">
              <a:solidFill>
                <a:srgbClr val="C00000"/>
              </a:solidFill>
            </a:endParaRPr>
          </a:p>
        </p:txBody>
      </p:sp>
      <p:sp>
        <p:nvSpPr>
          <p:cNvPr id="3" name="Rettangolo 2"/>
          <p:cNvSpPr/>
          <p:nvPr/>
        </p:nvSpPr>
        <p:spPr>
          <a:xfrm>
            <a:off x="457200" y="1902131"/>
            <a:ext cx="8229600" cy="3416320"/>
          </a:xfrm>
          <a:prstGeom prst="rect">
            <a:avLst/>
          </a:prstGeom>
        </p:spPr>
        <p:txBody>
          <a:bodyPr wrap="square">
            <a:spAutoFit/>
          </a:bodyPr>
          <a:lstStyle/>
          <a:p>
            <a:pPr algn="just"/>
            <a:r>
              <a:rPr lang="it-IT" altLang="it-IT" sz="3600" dirty="0">
                <a:solidFill>
                  <a:srgbClr val="131313"/>
                </a:solidFill>
                <a:cs typeface="Arial" pitchFamily="34" charset="0"/>
              </a:rPr>
              <a:t>Era stata l’Unione europea, con il Regolamento n° 910/2014 sull’identità digitale, più noto come </a:t>
            </a:r>
            <a:r>
              <a:rPr lang="it-IT" altLang="it-IT" sz="3600" dirty="0" err="1">
                <a:solidFill>
                  <a:srgbClr val="131313"/>
                </a:solidFill>
                <a:cs typeface="Arial" pitchFamily="34" charset="0"/>
              </a:rPr>
              <a:t>eIDAS</a:t>
            </a:r>
            <a:r>
              <a:rPr lang="it-IT" altLang="it-IT" sz="3600" dirty="0">
                <a:solidFill>
                  <a:srgbClr val="131313"/>
                </a:solidFill>
                <a:cs typeface="Arial" pitchFamily="34" charset="0"/>
              </a:rPr>
              <a:t> (</a:t>
            </a:r>
            <a:r>
              <a:rPr lang="it-IT" altLang="it-IT" sz="3600" dirty="0" err="1">
                <a:solidFill>
                  <a:srgbClr val="131313"/>
                </a:solidFill>
                <a:cs typeface="Arial" pitchFamily="34" charset="0"/>
              </a:rPr>
              <a:t>electronic</a:t>
            </a:r>
            <a:r>
              <a:rPr lang="it-IT" altLang="it-IT" sz="3600" dirty="0">
                <a:solidFill>
                  <a:srgbClr val="131313"/>
                </a:solidFill>
                <a:cs typeface="Arial" pitchFamily="34" charset="0"/>
              </a:rPr>
              <a:t> </a:t>
            </a:r>
            <a:r>
              <a:rPr lang="it-IT" altLang="it-IT" sz="3600" dirty="0" err="1">
                <a:solidFill>
                  <a:srgbClr val="131313"/>
                </a:solidFill>
                <a:cs typeface="Arial" pitchFamily="34" charset="0"/>
              </a:rPr>
              <a:t>IDentification</a:t>
            </a:r>
            <a:r>
              <a:rPr lang="it-IT" altLang="it-IT" sz="3600" dirty="0">
                <a:solidFill>
                  <a:srgbClr val="131313"/>
                </a:solidFill>
                <a:cs typeface="Arial" pitchFamily="34" charset="0"/>
              </a:rPr>
              <a:t> </a:t>
            </a:r>
            <a:r>
              <a:rPr lang="it-IT" altLang="it-IT" sz="3600" dirty="0" err="1">
                <a:solidFill>
                  <a:srgbClr val="131313"/>
                </a:solidFill>
                <a:cs typeface="Arial" pitchFamily="34" charset="0"/>
              </a:rPr>
              <a:t>Authentication</a:t>
            </a:r>
            <a:r>
              <a:rPr lang="it-IT" altLang="it-IT" sz="3600" dirty="0">
                <a:solidFill>
                  <a:srgbClr val="131313"/>
                </a:solidFill>
                <a:cs typeface="Arial" pitchFamily="34" charset="0"/>
              </a:rPr>
              <a:t> and </a:t>
            </a:r>
            <a:r>
              <a:rPr lang="it-IT" altLang="it-IT" sz="3600" dirty="0" err="1">
                <a:solidFill>
                  <a:srgbClr val="131313"/>
                </a:solidFill>
                <a:cs typeface="Arial" pitchFamily="34" charset="0"/>
              </a:rPr>
              <a:t>Signature</a:t>
            </a:r>
            <a:r>
              <a:rPr lang="it-IT" altLang="it-IT" sz="3600" dirty="0">
                <a:solidFill>
                  <a:srgbClr val="131313"/>
                </a:solidFill>
                <a:cs typeface="Arial" pitchFamily="34" charset="0"/>
              </a:rPr>
              <a:t>), a introdurre la possibilità di erogare servizi di recapiti certificati. </a:t>
            </a:r>
            <a:endParaRPr lang="it-IT" sz="3600" dirty="0"/>
          </a:p>
        </p:txBody>
      </p:sp>
    </p:spTree>
    <p:extLst>
      <p:ext uri="{BB962C8B-B14F-4D97-AF65-F5344CB8AC3E}">
        <p14:creationId xmlns:p14="http://schemas.microsoft.com/office/powerpoint/2010/main" val="3474943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b="1" dirty="0" smtClean="0">
                <a:solidFill>
                  <a:srgbClr val="C00000"/>
                </a:solidFill>
              </a:rPr>
              <a:t>REM = Servizio fiduciario qualificato</a:t>
            </a:r>
            <a:endParaRPr lang="it-IT" b="1" dirty="0">
              <a:solidFill>
                <a:srgbClr val="C00000"/>
              </a:solidFill>
            </a:endParaRPr>
          </a:p>
        </p:txBody>
      </p:sp>
      <p:sp>
        <p:nvSpPr>
          <p:cNvPr id="3" name="Rettangolo 2"/>
          <p:cNvSpPr/>
          <p:nvPr/>
        </p:nvSpPr>
        <p:spPr>
          <a:xfrm>
            <a:off x="2815389" y="1179147"/>
            <a:ext cx="5871411" cy="3970318"/>
          </a:xfrm>
          <a:prstGeom prst="rect">
            <a:avLst/>
          </a:prstGeom>
        </p:spPr>
        <p:txBody>
          <a:bodyPr wrap="square">
            <a:spAutoFit/>
          </a:bodyPr>
          <a:lstStyle/>
          <a:p>
            <a:pPr algn="just" fontAlgn="base">
              <a:spcBef>
                <a:spcPct val="0"/>
              </a:spcBef>
              <a:spcAft>
                <a:spcPct val="0"/>
              </a:spcAft>
            </a:pPr>
            <a:r>
              <a:rPr lang="it-IT" altLang="it-IT" sz="2800" dirty="0">
                <a:solidFill>
                  <a:srgbClr val="131313"/>
                </a:solidFill>
                <a:cs typeface="Arial" pitchFamily="34" charset="0"/>
              </a:rPr>
              <a:t>Da allora,  è stato avviato un complesso lavoro di ideazione e sviluppo degli standard europei che caratterizzeranno la </a:t>
            </a:r>
            <a:r>
              <a:rPr lang="it-IT" altLang="it-IT" sz="2800" dirty="0" smtClean="0">
                <a:solidFill>
                  <a:srgbClr val="131313"/>
                </a:solidFill>
                <a:cs typeface="Arial" pitchFamily="34" charset="0"/>
              </a:rPr>
              <a:t>REM che sarà molto</a:t>
            </a:r>
            <a:r>
              <a:rPr lang="it-IT" altLang="it-IT" sz="2800" dirty="0">
                <a:solidFill>
                  <a:srgbClr val="131313"/>
                </a:solidFill>
                <a:cs typeface="Arial" pitchFamily="34" charset="0"/>
              </a:rPr>
              <a:t>, molto simile alla PEC </a:t>
            </a:r>
            <a:r>
              <a:rPr lang="it-IT" altLang="it-IT" sz="2800" dirty="0" smtClean="0">
                <a:solidFill>
                  <a:srgbClr val="131313"/>
                </a:solidFill>
                <a:cs typeface="Arial" pitchFamily="34" charset="0"/>
              </a:rPr>
              <a:t>ma </a:t>
            </a:r>
            <a:r>
              <a:rPr lang="it-IT" altLang="it-IT" sz="2800" dirty="0">
                <a:solidFill>
                  <a:srgbClr val="131313"/>
                </a:solidFill>
                <a:cs typeface="Arial" pitchFamily="34" charset="0"/>
              </a:rPr>
              <a:t>si differenzia per numero e livello dei vincoli da rispettare in quanto la REM è </a:t>
            </a:r>
            <a:r>
              <a:rPr lang="it-IT" altLang="it-IT" sz="2800" b="1" u="sng" dirty="0">
                <a:solidFill>
                  <a:srgbClr val="131313"/>
                </a:solidFill>
                <a:cs typeface="Arial" pitchFamily="34" charset="0"/>
              </a:rPr>
              <a:t>un servizio fiduciario qualificato</a:t>
            </a:r>
            <a:r>
              <a:rPr lang="it-IT" altLang="it-IT" sz="2800" dirty="0">
                <a:solidFill>
                  <a:srgbClr val="131313"/>
                </a:solidFill>
                <a:cs typeface="Arial" pitchFamily="34" charset="0"/>
              </a:rPr>
              <a:t> al contrario della “sorella più anziana</a:t>
            </a:r>
            <a:r>
              <a:rPr lang="it-IT" altLang="it-IT" sz="2800" dirty="0" smtClean="0">
                <a:solidFill>
                  <a:srgbClr val="131313"/>
                </a:solidFill>
                <a:cs typeface="Arial" pitchFamily="34" charset="0"/>
              </a:rPr>
              <a:t>”.</a:t>
            </a:r>
            <a:endParaRPr lang="it-IT" altLang="it-IT" sz="2800" dirty="0">
              <a:cs typeface="Arial" pitchFamily="34" charset="0"/>
            </a:endParaRPr>
          </a:p>
        </p:txBody>
      </p:sp>
      <p:pic>
        <p:nvPicPr>
          <p:cNvPr id="4" name="Picture 3" descr="https://www.intesigroup.com/it/wp-content/uploads/sites/3/2024/01/IMG_OTP_V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59" y="1863851"/>
            <a:ext cx="2680451" cy="2600909"/>
          </a:xfrm>
          <a:prstGeom prst="rect">
            <a:avLst/>
          </a:prstGeom>
          <a:noFill/>
          <a:extLst>
            <a:ext uri="{909E8E84-426E-40DD-AFC4-6F175D3DCCD1}">
              <a14:hiddenFill xmlns:a14="http://schemas.microsoft.com/office/drawing/2010/main">
                <a:solidFill>
                  <a:srgbClr val="FFFFFF"/>
                </a:solidFill>
              </a14:hiddenFill>
            </a:ext>
          </a:extLst>
        </p:spPr>
      </p:pic>
      <p:sp>
        <p:nvSpPr>
          <p:cNvPr id="5" name="Rettangolo 4"/>
          <p:cNvSpPr/>
          <p:nvPr/>
        </p:nvSpPr>
        <p:spPr>
          <a:xfrm>
            <a:off x="134938" y="5149465"/>
            <a:ext cx="8551862" cy="1384995"/>
          </a:xfrm>
          <a:prstGeom prst="rect">
            <a:avLst/>
          </a:prstGeom>
        </p:spPr>
        <p:txBody>
          <a:bodyPr wrap="square">
            <a:spAutoFit/>
          </a:bodyPr>
          <a:lstStyle/>
          <a:p>
            <a:pPr lvl="0" algn="just" fontAlgn="base">
              <a:spcBef>
                <a:spcPct val="0"/>
              </a:spcBef>
              <a:spcAft>
                <a:spcPct val="0"/>
              </a:spcAft>
            </a:pPr>
            <a:r>
              <a:rPr lang="it-IT" altLang="it-IT" sz="2800" dirty="0">
                <a:solidFill>
                  <a:srgbClr val="131313"/>
                </a:solidFill>
                <a:cs typeface="Arial" pitchFamily="34" charset="0"/>
              </a:rPr>
              <a:t>L’esperienza maturata negli anni dalla PEC è, infatti, servita molto alla elaborazione della REM, soprattutto per la messa a punto delle sue modalità di funzionamento. </a:t>
            </a:r>
          </a:p>
        </p:txBody>
      </p:sp>
    </p:spTree>
    <p:extLst>
      <p:ext uri="{BB962C8B-B14F-4D97-AF65-F5344CB8AC3E}">
        <p14:creationId xmlns:p14="http://schemas.microsoft.com/office/powerpoint/2010/main" val="37939862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solidFill>
                  <a:srgbClr val="C00000"/>
                </a:solidFill>
              </a:rPr>
              <a:t>L’influenza della PEC</a:t>
            </a:r>
            <a:endParaRPr lang="it-IT" dirty="0">
              <a:solidFill>
                <a:srgbClr val="C00000"/>
              </a:solidFill>
            </a:endParaRPr>
          </a:p>
        </p:txBody>
      </p:sp>
      <p:sp>
        <p:nvSpPr>
          <p:cNvPr id="3" name="Rettangolo 2"/>
          <p:cNvSpPr/>
          <p:nvPr/>
        </p:nvSpPr>
        <p:spPr>
          <a:xfrm>
            <a:off x="288758" y="1258298"/>
            <a:ext cx="8662737" cy="5262979"/>
          </a:xfrm>
          <a:prstGeom prst="rect">
            <a:avLst/>
          </a:prstGeom>
        </p:spPr>
        <p:txBody>
          <a:bodyPr wrap="square">
            <a:spAutoFit/>
          </a:bodyPr>
          <a:lstStyle/>
          <a:p>
            <a:pPr lvl="0" eaLnBrk="0" fontAlgn="base" hangingPunct="0">
              <a:spcBef>
                <a:spcPct val="0"/>
              </a:spcBef>
              <a:spcAft>
                <a:spcPct val="0"/>
              </a:spcAft>
            </a:pPr>
            <a:r>
              <a:rPr lang="it-IT" altLang="it-IT" sz="2800" b="1" dirty="0" smtClean="0">
                <a:solidFill>
                  <a:srgbClr val="131313"/>
                </a:solidFill>
                <a:cs typeface="Arial" pitchFamily="34" charset="0"/>
              </a:rPr>
              <a:t>La </a:t>
            </a:r>
            <a:r>
              <a:rPr lang="it-IT" altLang="it-IT" sz="2800" b="1" dirty="0">
                <a:solidFill>
                  <a:srgbClr val="131313"/>
                </a:solidFill>
                <a:cs typeface="Arial" pitchFamily="34" charset="0"/>
              </a:rPr>
              <a:t>PEC è un’esperienza di successo notoriamente </a:t>
            </a:r>
            <a:r>
              <a:rPr lang="it-IT" altLang="it-IT" sz="2800" b="1" dirty="0" smtClean="0">
                <a:solidFill>
                  <a:srgbClr val="131313"/>
                </a:solidFill>
                <a:cs typeface="Arial" pitchFamily="34" charset="0"/>
              </a:rPr>
              <a:t>italiana che ha stupito l’Europa e sulla base della quale ha lavorato  </a:t>
            </a:r>
            <a:r>
              <a:rPr lang="it-IT" altLang="it-IT" sz="2800" dirty="0" smtClean="0">
                <a:solidFill>
                  <a:srgbClr val="131313"/>
                </a:solidFill>
                <a:cs typeface="Arial" pitchFamily="34" charset="0"/>
              </a:rPr>
              <a:t>ETSI </a:t>
            </a:r>
            <a:r>
              <a:rPr lang="it-IT" altLang="it-IT" sz="2800" dirty="0">
                <a:solidFill>
                  <a:srgbClr val="131313"/>
                </a:solidFill>
                <a:cs typeface="Arial" pitchFamily="34" charset="0"/>
              </a:rPr>
              <a:t>(</a:t>
            </a:r>
            <a:r>
              <a:rPr lang="it-IT" altLang="it-IT" sz="2800" dirty="0" err="1">
                <a:solidFill>
                  <a:srgbClr val="131313"/>
                </a:solidFill>
                <a:cs typeface="Arial" pitchFamily="34" charset="0"/>
              </a:rPr>
              <a:t>European</a:t>
            </a:r>
            <a:r>
              <a:rPr lang="it-IT" altLang="it-IT" sz="2800" dirty="0">
                <a:solidFill>
                  <a:srgbClr val="131313"/>
                </a:solidFill>
                <a:cs typeface="Arial" pitchFamily="34" charset="0"/>
              </a:rPr>
              <a:t> </a:t>
            </a:r>
            <a:r>
              <a:rPr lang="it-IT" altLang="it-IT" sz="2800" dirty="0" err="1">
                <a:solidFill>
                  <a:srgbClr val="131313"/>
                </a:solidFill>
                <a:cs typeface="Arial" pitchFamily="34" charset="0"/>
              </a:rPr>
              <a:t>Telecommunications</a:t>
            </a:r>
            <a:r>
              <a:rPr lang="it-IT" altLang="it-IT" sz="2800" dirty="0">
                <a:solidFill>
                  <a:srgbClr val="131313"/>
                </a:solidFill>
                <a:cs typeface="Arial" pitchFamily="34" charset="0"/>
              </a:rPr>
              <a:t> </a:t>
            </a:r>
            <a:r>
              <a:rPr lang="it-IT" altLang="it-IT" sz="2800" dirty="0" err="1">
                <a:solidFill>
                  <a:srgbClr val="131313"/>
                </a:solidFill>
                <a:cs typeface="Arial" pitchFamily="34" charset="0"/>
              </a:rPr>
              <a:t>Standards</a:t>
            </a:r>
            <a:r>
              <a:rPr lang="it-IT" altLang="it-IT" sz="2800" dirty="0">
                <a:solidFill>
                  <a:srgbClr val="131313"/>
                </a:solidFill>
                <a:cs typeface="Arial" pitchFamily="34" charset="0"/>
              </a:rPr>
              <a:t> </a:t>
            </a:r>
            <a:r>
              <a:rPr lang="it-IT" altLang="it-IT" sz="2800" dirty="0" err="1">
                <a:solidFill>
                  <a:srgbClr val="131313"/>
                </a:solidFill>
                <a:cs typeface="Arial" pitchFamily="34" charset="0"/>
              </a:rPr>
              <a:t>Institute</a:t>
            </a:r>
            <a:r>
              <a:rPr lang="it-IT" altLang="it-IT" sz="2800" dirty="0">
                <a:solidFill>
                  <a:srgbClr val="131313"/>
                </a:solidFill>
                <a:cs typeface="Arial" pitchFamily="34" charset="0"/>
              </a:rPr>
              <a:t>), un ente internazionale di </a:t>
            </a:r>
            <a:r>
              <a:rPr lang="it-IT" altLang="it-IT" sz="2800" dirty="0" smtClean="0">
                <a:solidFill>
                  <a:srgbClr val="131313"/>
                </a:solidFill>
                <a:cs typeface="Arial" pitchFamily="34" charset="0"/>
              </a:rPr>
              <a:t>certificazione che ha curato la </a:t>
            </a:r>
            <a:r>
              <a:rPr lang="it-IT" altLang="it-IT" sz="2800" dirty="0">
                <a:solidFill>
                  <a:srgbClr val="131313"/>
                </a:solidFill>
                <a:cs typeface="Arial" pitchFamily="34" charset="0"/>
              </a:rPr>
              <a:t>definizione del protocollo della </a:t>
            </a:r>
            <a:r>
              <a:rPr lang="it-IT" altLang="it-IT" sz="2800" dirty="0" smtClean="0">
                <a:solidFill>
                  <a:srgbClr val="131313"/>
                </a:solidFill>
                <a:cs typeface="Arial" pitchFamily="34" charset="0"/>
              </a:rPr>
              <a:t>REM-</a:t>
            </a:r>
            <a:r>
              <a:rPr lang="it-IT" altLang="it-IT" sz="2800" dirty="0" err="1" smtClean="0">
                <a:solidFill>
                  <a:srgbClr val="131313"/>
                </a:solidFill>
                <a:cs typeface="Arial" pitchFamily="34" charset="0"/>
              </a:rPr>
              <a:t>Registered</a:t>
            </a:r>
            <a:r>
              <a:rPr lang="it-IT" altLang="it-IT" sz="2800" dirty="0" smtClean="0">
                <a:solidFill>
                  <a:srgbClr val="131313"/>
                </a:solidFill>
                <a:cs typeface="Arial" pitchFamily="34" charset="0"/>
              </a:rPr>
              <a:t> </a:t>
            </a:r>
            <a:r>
              <a:rPr lang="it-IT" altLang="it-IT" sz="2800" dirty="0">
                <a:solidFill>
                  <a:srgbClr val="131313"/>
                </a:solidFill>
                <a:cs typeface="Arial" pitchFamily="34" charset="0"/>
              </a:rPr>
              <a:t>Electronic </a:t>
            </a:r>
            <a:r>
              <a:rPr lang="it-IT" altLang="it-IT" sz="2800" dirty="0" smtClean="0">
                <a:solidFill>
                  <a:srgbClr val="131313"/>
                </a:solidFill>
                <a:cs typeface="Arial" pitchFamily="34" charset="0"/>
              </a:rPr>
              <a:t>Mail.</a:t>
            </a:r>
          </a:p>
          <a:p>
            <a:pPr lvl="0" eaLnBrk="0" fontAlgn="base" hangingPunct="0">
              <a:spcBef>
                <a:spcPct val="0"/>
              </a:spcBef>
              <a:spcAft>
                <a:spcPct val="0"/>
              </a:spcAft>
            </a:pPr>
            <a:r>
              <a:rPr lang="it-IT" altLang="it-IT" sz="2800" dirty="0" smtClean="0">
                <a:solidFill>
                  <a:srgbClr val="131313"/>
                </a:solidFill>
                <a:cs typeface="Arial" pitchFamily="34" charset="0"/>
              </a:rPr>
              <a:t>Grande </a:t>
            </a:r>
            <a:r>
              <a:rPr lang="it-IT" altLang="it-IT" sz="2800" dirty="0">
                <a:solidFill>
                  <a:srgbClr val="131313"/>
                </a:solidFill>
                <a:cs typeface="Arial" pitchFamily="34" charset="0"/>
              </a:rPr>
              <a:t>rilievo </a:t>
            </a:r>
            <a:r>
              <a:rPr lang="it-IT" altLang="it-IT" sz="2800" dirty="0" smtClean="0">
                <a:solidFill>
                  <a:srgbClr val="131313"/>
                </a:solidFill>
                <a:cs typeface="Arial" pitchFamily="34" charset="0"/>
              </a:rPr>
              <a:t>a </a:t>
            </a:r>
            <a:r>
              <a:rPr lang="it-IT" altLang="it-IT" sz="2800" dirty="0">
                <a:solidFill>
                  <a:srgbClr val="131313"/>
                </a:solidFill>
                <a:cs typeface="Arial" pitchFamily="34" charset="0"/>
              </a:rPr>
              <a:t>livello internazionale </a:t>
            </a:r>
            <a:r>
              <a:rPr lang="it-IT" altLang="it-IT" sz="2800" dirty="0" smtClean="0">
                <a:solidFill>
                  <a:srgbClr val="131313"/>
                </a:solidFill>
                <a:cs typeface="Arial" pitchFamily="34" charset="0"/>
              </a:rPr>
              <a:t>è stato dato alle </a:t>
            </a:r>
            <a:r>
              <a:rPr lang="it-IT" altLang="it-IT" sz="2800" dirty="0">
                <a:solidFill>
                  <a:srgbClr val="131313"/>
                </a:solidFill>
                <a:cs typeface="Arial" pitchFamily="34" charset="0"/>
              </a:rPr>
              <a:t>osservazioni italiane in tema di interoperabilità: un concetto inizialmente non presente nella visione UE ma indispensabile per consentire ad utenti europei di provider REM diversi di scambiare messaggi tra di loro con pieno valore legale. Come già in Italia avveniva con la PEC.</a:t>
            </a:r>
            <a:endParaRPr lang="it-IT" altLang="it-IT" sz="2800" dirty="0">
              <a:cs typeface="Arial" pitchFamily="34" charset="0"/>
            </a:endParaRPr>
          </a:p>
        </p:txBody>
      </p:sp>
    </p:spTree>
    <p:extLst>
      <p:ext uri="{BB962C8B-B14F-4D97-AF65-F5344CB8AC3E}">
        <p14:creationId xmlns:p14="http://schemas.microsoft.com/office/powerpoint/2010/main" val="3721212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491206"/>
            <a:ext cx="8229600" cy="1143000"/>
          </a:xfrm>
        </p:spPr>
        <p:txBody>
          <a:bodyPr>
            <a:normAutofit fontScale="90000"/>
          </a:bodyPr>
          <a:lstStyle/>
          <a:p>
            <a:pPr lvl="0"/>
            <a:r>
              <a:rPr lang="it-IT" altLang="it-IT" b="1" dirty="0" smtClean="0">
                <a:solidFill>
                  <a:srgbClr val="C00000"/>
                </a:solidFill>
                <a:latin typeface="Open Sans"/>
                <a:cs typeface="Arial" pitchFamily="34" charset="0"/>
              </a:rPr>
              <a:t>Da PEC a REM: </a:t>
            </a:r>
            <a:br>
              <a:rPr lang="it-IT" altLang="it-IT" b="1" dirty="0" smtClean="0">
                <a:solidFill>
                  <a:srgbClr val="C00000"/>
                </a:solidFill>
                <a:latin typeface="Open Sans"/>
                <a:cs typeface="Arial" pitchFamily="34" charset="0"/>
              </a:rPr>
            </a:br>
            <a:r>
              <a:rPr lang="it-IT" altLang="it-IT" b="1" dirty="0" smtClean="0">
                <a:solidFill>
                  <a:srgbClr val="C00000"/>
                </a:solidFill>
                <a:latin typeface="Open Sans"/>
                <a:cs typeface="Arial" pitchFamily="34" charset="0"/>
              </a:rPr>
              <a:t>cosa </a:t>
            </a:r>
            <a:r>
              <a:rPr lang="it-IT" altLang="it-IT" b="1" dirty="0">
                <a:solidFill>
                  <a:srgbClr val="C00000"/>
                </a:solidFill>
                <a:latin typeface="Open Sans"/>
                <a:cs typeface="Arial" pitchFamily="34" charset="0"/>
              </a:rPr>
              <a:t>cambierà per gli utenti?</a:t>
            </a:r>
            <a:r>
              <a:rPr lang="it-IT" altLang="it-IT" dirty="0">
                <a:solidFill>
                  <a:srgbClr val="C00000"/>
                </a:solidFill>
                <a:latin typeface="Open Sans"/>
                <a:cs typeface="Arial" pitchFamily="34" charset="0"/>
              </a:rPr>
              <a:t/>
            </a:r>
            <a:br>
              <a:rPr lang="it-IT" altLang="it-IT" dirty="0">
                <a:solidFill>
                  <a:srgbClr val="C00000"/>
                </a:solidFill>
                <a:latin typeface="Open Sans"/>
                <a:cs typeface="Arial" pitchFamily="34" charset="0"/>
              </a:rPr>
            </a:br>
            <a:endParaRPr lang="it-IT" dirty="0">
              <a:solidFill>
                <a:srgbClr val="C00000"/>
              </a:solidFill>
            </a:endParaRPr>
          </a:p>
        </p:txBody>
      </p:sp>
      <p:sp>
        <p:nvSpPr>
          <p:cNvPr id="3" name="Rettangolo 2"/>
          <p:cNvSpPr/>
          <p:nvPr/>
        </p:nvSpPr>
        <p:spPr>
          <a:xfrm>
            <a:off x="457200" y="1434690"/>
            <a:ext cx="8398042" cy="3416320"/>
          </a:xfrm>
          <a:prstGeom prst="rect">
            <a:avLst/>
          </a:prstGeom>
        </p:spPr>
        <p:txBody>
          <a:bodyPr wrap="square">
            <a:spAutoFit/>
          </a:bodyPr>
          <a:lstStyle/>
          <a:p>
            <a:pPr lvl="0" eaLnBrk="0" fontAlgn="base" hangingPunct="0">
              <a:spcBef>
                <a:spcPct val="0"/>
              </a:spcBef>
              <a:spcAft>
                <a:spcPct val="0"/>
              </a:spcAft>
            </a:pPr>
            <a:r>
              <a:rPr lang="it-IT" altLang="it-IT" dirty="0" smtClean="0">
                <a:solidFill>
                  <a:srgbClr val="131313"/>
                </a:solidFill>
                <a:latin typeface="Open Sans"/>
                <a:cs typeface="Arial" pitchFamily="34" charset="0"/>
              </a:rPr>
              <a:t>Sono </a:t>
            </a:r>
            <a:r>
              <a:rPr lang="it-IT" altLang="it-IT" dirty="0">
                <a:solidFill>
                  <a:srgbClr val="131313"/>
                </a:solidFill>
                <a:latin typeface="Open Sans"/>
                <a:cs typeface="Arial" pitchFamily="34" charset="0"/>
              </a:rPr>
              <a:t>due le novità fondamentali. Innanzitutto, l’assegnazione di una casella REM richiederà l’identificazione certa del titolare. In fin dei conti, nulla di diverso rispetto a quanto già accade per il rilascio di una firma elettronica qualificata o dello SPID ma mai previsto per la PEC. </a:t>
            </a:r>
            <a:endParaRPr lang="it-IT" altLang="it-IT" dirty="0" smtClean="0">
              <a:solidFill>
                <a:srgbClr val="131313"/>
              </a:solidFill>
              <a:latin typeface="Open Sans"/>
              <a:cs typeface="Arial" pitchFamily="34" charset="0"/>
            </a:endParaRPr>
          </a:p>
          <a:p>
            <a:pPr lvl="0" eaLnBrk="0" fontAlgn="base" hangingPunct="0">
              <a:spcBef>
                <a:spcPct val="0"/>
              </a:spcBef>
              <a:spcAft>
                <a:spcPct val="0"/>
              </a:spcAft>
            </a:pPr>
            <a:r>
              <a:rPr lang="it-IT" altLang="it-IT" dirty="0" smtClean="0">
                <a:solidFill>
                  <a:srgbClr val="131313"/>
                </a:solidFill>
                <a:latin typeface="Open Sans"/>
                <a:cs typeface="Arial" pitchFamily="34" charset="0"/>
              </a:rPr>
              <a:t>Occorrerà</a:t>
            </a:r>
            <a:r>
              <a:rPr lang="it-IT" altLang="it-IT" dirty="0">
                <a:solidFill>
                  <a:srgbClr val="131313"/>
                </a:solidFill>
                <a:latin typeface="Open Sans"/>
                <a:cs typeface="Arial" pitchFamily="34" charset="0"/>
              </a:rPr>
              <a:t>, dunque, il riconoscimento in presenza o da remoto da parte di un operatore autorizzato oppure l’attestazione dell’identità tramite firma o identità digitali. Ed è un cambiamento di grande rilievo:  si saprà infatti con certezza chi è il mittente di un messaggio (e, se indirizzato a un’altra casella REM, anche chi è il destinatario), mentre con l’attuale PEC si è sicuri soltanto della provenienza di un determinato messaggio da uno specifico indirizzo di posta elettronica certificata (senza alcuna garanzia dell’identità del suo titolare ma soltanto dell’avvenuta consegna</a:t>
            </a:r>
            <a:r>
              <a:rPr lang="it-IT" altLang="it-IT" dirty="0" smtClean="0">
                <a:solidFill>
                  <a:srgbClr val="131313"/>
                </a:solidFill>
                <a:latin typeface="Open Sans"/>
                <a:cs typeface="Arial" pitchFamily="34" charset="0"/>
              </a:rPr>
              <a:t>).</a:t>
            </a:r>
            <a:endParaRPr lang="it-IT" altLang="it-IT" sz="1050" dirty="0">
              <a:latin typeface="Arial" pitchFamily="34" charset="0"/>
              <a:cs typeface="Arial" pitchFamily="34" charset="0"/>
            </a:endParaRPr>
          </a:p>
        </p:txBody>
      </p:sp>
    </p:spTree>
    <p:extLst>
      <p:ext uri="{BB962C8B-B14F-4D97-AF65-F5344CB8AC3E}">
        <p14:creationId xmlns:p14="http://schemas.microsoft.com/office/powerpoint/2010/main" val="2639776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tangolo 2"/>
          <p:cNvSpPr/>
          <p:nvPr/>
        </p:nvSpPr>
        <p:spPr>
          <a:xfrm>
            <a:off x="457200" y="1582341"/>
            <a:ext cx="8229600" cy="4401205"/>
          </a:xfrm>
          <a:prstGeom prst="rect">
            <a:avLst/>
          </a:prstGeom>
        </p:spPr>
        <p:txBody>
          <a:bodyPr wrap="square">
            <a:spAutoFit/>
          </a:bodyPr>
          <a:lstStyle/>
          <a:p>
            <a:pPr lvl="0" algn="just" eaLnBrk="0" fontAlgn="base" hangingPunct="0">
              <a:spcBef>
                <a:spcPct val="0"/>
              </a:spcBef>
              <a:spcAft>
                <a:spcPct val="0"/>
              </a:spcAft>
            </a:pPr>
            <a:r>
              <a:rPr lang="it-IT" altLang="it-IT" sz="2800" b="1" dirty="0">
                <a:solidFill>
                  <a:srgbClr val="131313"/>
                </a:solidFill>
                <a:cs typeface="Arial" pitchFamily="34" charset="0"/>
              </a:rPr>
              <a:t>E la seconda novità cui </a:t>
            </a:r>
            <a:r>
              <a:rPr lang="it-IT" altLang="it-IT" sz="2800" b="1" dirty="0" smtClean="0">
                <a:solidFill>
                  <a:srgbClr val="131313"/>
                </a:solidFill>
                <a:cs typeface="Arial" pitchFamily="34" charset="0"/>
              </a:rPr>
              <a:t>facevo </a:t>
            </a:r>
            <a:r>
              <a:rPr lang="it-IT" altLang="it-IT" sz="2800" b="1" dirty="0">
                <a:solidFill>
                  <a:srgbClr val="131313"/>
                </a:solidFill>
                <a:cs typeface="Arial" pitchFamily="34" charset="0"/>
              </a:rPr>
              <a:t>cenno?</a:t>
            </a:r>
            <a:endParaRPr lang="it-IT" altLang="it-IT" sz="2800" dirty="0">
              <a:cs typeface="Arial" pitchFamily="34" charset="0"/>
            </a:endParaRPr>
          </a:p>
          <a:p>
            <a:pPr lvl="0" algn="just" eaLnBrk="0" fontAlgn="base" hangingPunct="0">
              <a:spcBef>
                <a:spcPct val="0"/>
              </a:spcBef>
              <a:spcAft>
                <a:spcPct val="0"/>
              </a:spcAft>
            </a:pPr>
            <a:r>
              <a:rPr lang="it-IT" altLang="it-IT" sz="2800" dirty="0">
                <a:solidFill>
                  <a:srgbClr val="131313"/>
                </a:solidFill>
                <a:cs typeface="Arial" pitchFamily="34" charset="0"/>
              </a:rPr>
              <a:t>Riguarda il rafforzamento dei livelli di sicurezza. Attualmente, per l’accesso alla PEC, basta l’inserimento di username e password. Per la REM, invece, occorrerà anche un OTP, cioè la “classica” password monouso sempre più richiesta – ad esempio – per l’accesso al conto corrente online o per l’uso delle carte di pagamento. È importante, però, sottolineare che non ci sarà alcuna altra variazione in termini di esperienza d’uso rispetto a quanto ci ha abituato la PEC. </a:t>
            </a:r>
            <a:endParaRPr lang="it-IT" altLang="it-IT" sz="2800" dirty="0">
              <a:cs typeface="Arial" pitchFamily="34" charset="0"/>
            </a:endParaRPr>
          </a:p>
        </p:txBody>
      </p:sp>
      <p:sp>
        <p:nvSpPr>
          <p:cNvPr id="4" name="Titolo 1"/>
          <p:cNvSpPr>
            <a:spLocks noGrp="1"/>
          </p:cNvSpPr>
          <p:nvPr>
            <p:ph type="title"/>
          </p:nvPr>
        </p:nvSpPr>
        <p:spPr>
          <a:xfrm>
            <a:off x="457200" y="491206"/>
            <a:ext cx="8229600" cy="1143000"/>
          </a:xfrm>
        </p:spPr>
        <p:txBody>
          <a:bodyPr>
            <a:normAutofit fontScale="90000"/>
          </a:bodyPr>
          <a:lstStyle/>
          <a:p>
            <a:pPr lvl="0"/>
            <a:r>
              <a:rPr lang="it-IT" altLang="it-IT" b="1" dirty="0" smtClean="0">
                <a:solidFill>
                  <a:srgbClr val="C00000"/>
                </a:solidFill>
                <a:latin typeface="Open Sans"/>
                <a:cs typeface="Arial" pitchFamily="34" charset="0"/>
              </a:rPr>
              <a:t>Da PEC a REM: </a:t>
            </a:r>
            <a:br>
              <a:rPr lang="it-IT" altLang="it-IT" b="1" dirty="0" smtClean="0">
                <a:solidFill>
                  <a:srgbClr val="C00000"/>
                </a:solidFill>
                <a:latin typeface="Open Sans"/>
                <a:cs typeface="Arial" pitchFamily="34" charset="0"/>
              </a:rPr>
            </a:br>
            <a:r>
              <a:rPr lang="it-IT" altLang="it-IT" b="1" dirty="0" smtClean="0">
                <a:solidFill>
                  <a:srgbClr val="C00000"/>
                </a:solidFill>
                <a:latin typeface="Open Sans"/>
                <a:cs typeface="Arial" pitchFamily="34" charset="0"/>
              </a:rPr>
              <a:t>cosa </a:t>
            </a:r>
            <a:r>
              <a:rPr lang="it-IT" altLang="it-IT" b="1" dirty="0">
                <a:solidFill>
                  <a:srgbClr val="C00000"/>
                </a:solidFill>
                <a:latin typeface="Open Sans"/>
                <a:cs typeface="Arial" pitchFamily="34" charset="0"/>
              </a:rPr>
              <a:t>cambierà per gli utenti?</a:t>
            </a:r>
            <a:r>
              <a:rPr lang="it-IT" altLang="it-IT" dirty="0">
                <a:solidFill>
                  <a:srgbClr val="C00000"/>
                </a:solidFill>
                <a:latin typeface="Open Sans"/>
                <a:cs typeface="Arial" pitchFamily="34" charset="0"/>
              </a:rPr>
              <a:t/>
            </a:r>
            <a:br>
              <a:rPr lang="it-IT" altLang="it-IT" dirty="0">
                <a:solidFill>
                  <a:srgbClr val="C00000"/>
                </a:solidFill>
                <a:latin typeface="Open Sans"/>
                <a:cs typeface="Arial" pitchFamily="34" charset="0"/>
              </a:rPr>
            </a:br>
            <a:endParaRPr lang="it-IT" dirty="0">
              <a:solidFill>
                <a:srgbClr val="C00000"/>
              </a:solidFill>
            </a:endParaRPr>
          </a:p>
        </p:txBody>
      </p:sp>
    </p:spTree>
    <p:extLst>
      <p:ext uri="{BB962C8B-B14F-4D97-AF65-F5344CB8AC3E}">
        <p14:creationId xmlns:p14="http://schemas.microsoft.com/office/powerpoint/2010/main" val="2481664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846138"/>
            <a:ext cx="8229600" cy="1143000"/>
          </a:xfrm>
        </p:spPr>
        <p:txBody>
          <a:bodyPr>
            <a:normAutofit fontScale="90000"/>
          </a:bodyPr>
          <a:lstStyle/>
          <a:p>
            <a:pPr lvl="0"/>
            <a:r>
              <a:rPr lang="it-IT" altLang="it-IT" b="1" dirty="0">
                <a:solidFill>
                  <a:srgbClr val="C00000"/>
                </a:solidFill>
                <a:latin typeface="Open Sans"/>
                <a:cs typeface="Arial" pitchFamily="34" charset="0"/>
              </a:rPr>
              <a:t>Quando avverrà il passaggio definitivo da PEC a REM? E cosa comporterà per gli utenti?</a:t>
            </a:r>
            <a:r>
              <a:rPr lang="it-IT" altLang="it-IT" dirty="0">
                <a:solidFill>
                  <a:srgbClr val="C00000"/>
                </a:solidFill>
                <a:latin typeface="Open Sans"/>
                <a:cs typeface="Arial" pitchFamily="34" charset="0"/>
              </a:rPr>
              <a:t/>
            </a:r>
            <a:br>
              <a:rPr lang="it-IT" altLang="it-IT" dirty="0">
                <a:solidFill>
                  <a:srgbClr val="C00000"/>
                </a:solidFill>
                <a:latin typeface="Open Sans"/>
                <a:cs typeface="Arial" pitchFamily="34" charset="0"/>
              </a:rPr>
            </a:br>
            <a:endParaRPr lang="it-IT" dirty="0">
              <a:solidFill>
                <a:srgbClr val="C00000"/>
              </a:solidFill>
            </a:endParaRPr>
          </a:p>
        </p:txBody>
      </p:sp>
      <p:sp>
        <p:nvSpPr>
          <p:cNvPr id="3" name="Rettangolo 2"/>
          <p:cNvSpPr/>
          <p:nvPr/>
        </p:nvSpPr>
        <p:spPr>
          <a:xfrm>
            <a:off x="264695" y="2180272"/>
            <a:ext cx="8638673" cy="4401205"/>
          </a:xfrm>
          <a:prstGeom prst="rect">
            <a:avLst/>
          </a:prstGeom>
        </p:spPr>
        <p:txBody>
          <a:bodyPr wrap="square">
            <a:spAutoFit/>
          </a:bodyPr>
          <a:lstStyle/>
          <a:p>
            <a:pPr lvl="0" algn="just" eaLnBrk="0" fontAlgn="base" hangingPunct="0">
              <a:spcBef>
                <a:spcPct val="0"/>
              </a:spcBef>
              <a:spcAft>
                <a:spcPct val="0"/>
              </a:spcAft>
            </a:pPr>
            <a:r>
              <a:rPr lang="it-IT" altLang="it-IT" sz="2800" dirty="0" smtClean="0">
                <a:solidFill>
                  <a:srgbClr val="131313"/>
                </a:solidFill>
                <a:latin typeface="+mj-lt"/>
                <a:cs typeface="Arial" pitchFamily="34" charset="0"/>
              </a:rPr>
              <a:t>A breve, al massimo entro il 2025.</a:t>
            </a:r>
          </a:p>
          <a:p>
            <a:pPr lvl="0" algn="just" eaLnBrk="0" fontAlgn="base" hangingPunct="0">
              <a:spcBef>
                <a:spcPct val="0"/>
              </a:spcBef>
              <a:spcAft>
                <a:spcPct val="0"/>
              </a:spcAft>
            </a:pPr>
            <a:r>
              <a:rPr lang="it-IT" altLang="it-IT" sz="2800" dirty="0" smtClean="0">
                <a:solidFill>
                  <a:srgbClr val="131313"/>
                </a:solidFill>
                <a:latin typeface="+mj-lt"/>
                <a:cs typeface="Arial" pitchFamily="34" charset="0"/>
              </a:rPr>
              <a:t>In </a:t>
            </a:r>
            <a:r>
              <a:rPr lang="it-IT" altLang="it-IT" sz="2800" dirty="0">
                <a:solidFill>
                  <a:srgbClr val="131313"/>
                </a:solidFill>
                <a:latin typeface="+mj-lt"/>
                <a:cs typeface="Arial" pitchFamily="34" charset="0"/>
              </a:rPr>
              <a:t>ogni caso, i titolari di PEC – che, in passato, siano stati già oggetto di riconoscimento – beneficeranno </a:t>
            </a:r>
            <a:r>
              <a:rPr lang="it-IT" altLang="it-IT" sz="2800" dirty="0" smtClean="0">
                <a:solidFill>
                  <a:srgbClr val="131313"/>
                </a:solidFill>
                <a:latin typeface="+mj-lt"/>
                <a:cs typeface="Arial" pitchFamily="34" charset="0"/>
              </a:rPr>
              <a:t>in automatico della </a:t>
            </a:r>
            <a:r>
              <a:rPr lang="it-IT" altLang="it-IT" sz="2800" dirty="0">
                <a:solidFill>
                  <a:srgbClr val="131313"/>
                </a:solidFill>
                <a:latin typeface="+mj-lt"/>
                <a:cs typeface="Arial" pitchFamily="34" charset="0"/>
              </a:rPr>
              <a:t>trasformazione della casella in </a:t>
            </a:r>
            <a:r>
              <a:rPr lang="it-IT" altLang="it-IT" sz="2800" dirty="0" smtClean="0">
                <a:solidFill>
                  <a:srgbClr val="131313"/>
                </a:solidFill>
                <a:latin typeface="+mj-lt"/>
                <a:cs typeface="Arial" pitchFamily="34" charset="0"/>
              </a:rPr>
              <a:t>REM.</a:t>
            </a:r>
          </a:p>
          <a:p>
            <a:pPr lvl="0" algn="just" eaLnBrk="0" fontAlgn="base" hangingPunct="0">
              <a:spcBef>
                <a:spcPct val="0"/>
              </a:spcBef>
              <a:spcAft>
                <a:spcPct val="0"/>
              </a:spcAft>
            </a:pPr>
            <a:r>
              <a:rPr lang="it-IT" altLang="it-IT" sz="2800" dirty="0" smtClean="0">
                <a:solidFill>
                  <a:srgbClr val="131313"/>
                </a:solidFill>
                <a:latin typeface="+mj-lt"/>
                <a:cs typeface="Arial" pitchFamily="34" charset="0"/>
              </a:rPr>
              <a:t>Gli </a:t>
            </a:r>
            <a:r>
              <a:rPr lang="it-IT" altLang="it-IT" sz="2800" dirty="0">
                <a:solidFill>
                  <a:srgbClr val="131313"/>
                </a:solidFill>
                <a:latin typeface="+mj-lt"/>
                <a:cs typeface="Arial" pitchFamily="34" charset="0"/>
              </a:rPr>
              <a:t>altri dovranno procedere secondo le indicazioni dei rispettivi provider che, in alcuni casi, le stanno già fornendo ai propri clienti. </a:t>
            </a:r>
            <a:endParaRPr lang="it-IT" altLang="it-IT" sz="2800" dirty="0" smtClean="0">
              <a:solidFill>
                <a:srgbClr val="131313"/>
              </a:solidFill>
              <a:latin typeface="+mj-lt"/>
              <a:cs typeface="Arial" pitchFamily="34" charset="0"/>
            </a:endParaRPr>
          </a:p>
          <a:p>
            <a:pPr lvl="0" algn="just" eaLnBrk="0" fontAlgn="base" hangingPunct="0">
              <a:spcBef>
                <a:spcPct val="0"/>
              </a:spcBef>
              <a:spcAft>
                <a:spcPct val="0"/>
              </a:spcAft>
            </a:pPr>
            <a:r>
              <a:rPr lang="it-IT" altLang="it-IT" sz="2800" dirty="0" smtClean="0">
                <a:solidFill>
                  <a:srgbClr val="131313"/>
                </a:solidFill>
                <a:latin typeface="+mj-lt"/>
                <a:cs typeface="Arial" pitchFamily="34" charset="0"/>
              </a:rPr>
              <a:t>Chi</a:t>
            </a:r>
            <a:r>
              <a:rPr lang="it-IT" altLang="it-IT" sz="2800" dirty="0">
                <a:solidFill>
                  <a:srgbClr val="131313"/>
                </a:solidFill>
                <a:latin typeface="+mj-lt"/>
                <a:cs typeface="Arial" pitchFamily="34" charset="0"/>
              </a:rPr>
              <a:t>, infine, dovesse dimenticare o rifiutare l’identificazione, vedrà inevitabilmente la vecchia PEC …spegnersi. </a:t>
            </a:r>
            <a:endParaRPr lang="it-IT" altLang="it-IT" sz="2800" dirty="0" smtClean="0">
              <a:solidFill>
                <a:srgbClr val="131313"/>
              </a:solidFill>
              <a:latin typeface="+mj-lt"/>
              <a:cs typeface="Arial" pitchFamily="34" charset="0"/>
            </a:endParaRPr>
          </a:p>
        </p:txBody>
      </p:sp>
    </p:spTree>
    <p:extLst>
      <p:ext uri="{BB962C8B-B14F-4D97-AF65-F5344CB8AC3E}">
        <p14:creationId xmlns:p14="http://schemas.microsoft.com/office/powerpoint/2010/main" val="1564779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846138"/>
            <a:ext cx="8229600" cy="1143000"/>
          </a:xfrm>
        </p:spPr>
        <p:txBody>
          <a:bodyPr>
            <a:normAutofit fontScale="90000"/>
          </a:bodyPr>
          <a:lstStyle/>
          <a:p>
            <a:pPr lvl="0"/>
            <a:r>
              <a:rPr lang="it-IT" altLang="it-IT" b="1" dirty="0">
                <a:solidFill>
                  <a:srgbClr val="C00000"/>
                </a:solidFill>
                <a:latin typeface="Open Sans"/>
                <a:cs typeface="Arial" pitchFamily="34" charset="0"/>
              </a:rPr>
              <a:t>Detta così, sembra che l’adeguamento </a:t>
            </a:r>
            <a:r>
              <a:rPr lang="it-IT" altLang="it-IT" b="1" dirty="0" smtClean="0">
                <a:solidFill>
                  <a:srgbClr val="C00000"/>
                </a:solidFill>
                <a:latin typeface="Open Sans"/>
                <a:cs typeface="Arial" pitchFamily="34" charset="0"/>
              </a:rPr>
              <a:t>avverrà </a:t>
            </a:r>
            <a:r>
              <a:rPr lang="it-IT" altLang="it-IT" b="1" dirty="0">
                <a:solidFill>
                  <a:srgbClr val="C00000"/>
                </a:solidFill>
                <a:latin typeface="Open Sans"/>
                <a:cs typeface="Arial" pitchFamily="34" charset="0"/>
              </a:rPr>
              <a:t>in modo davvero semplice…</a:t>
            </a:r>
            <a:r>
              <a:rPr lang="it-IT" altLang="it-IT" sz="2400" dirty="0">
                <a:solidFill>
                  <a:srgbClr val="C00000"/>
                </a:solidFill>
                <a:latin typeface="Arial" pitchFamily="34" charset="0"/>
                <a:cs typeface="Arial" pitchFamily="34" charset="0"/>
              </a:rPr>
              <a:t/>
            </a:r>
            <a:br>
              <a:rPr lang="it-IT" altLang="it-IT" sz="2400" dirty="0">
                <a:solidFill>
                  <a:srgbClr val="C00000"/>
                </a:solidFill>
                <a:latin typeface="Arial" pitchFamily="34" charset="0"/>
                <a:cs typeface="Arial" pitchFamily="34" charset="0"/>
              </a:rPr>
            </a:br>
            <a:endParaRPr lang="it-IT" dirty="0">
              <a:solidFill>
                <a:srgbClr val="C00000"/>
              </a:solidFill>
            </a:endParaRPr>
          </a:p>
        </p:txBody>
      </p:sp>
      <p:sp>
        <p:nvSpPr>
          <p:cNvPr id="3" name="Rettangolo 2"/>
          <p:cNvSpPr/>
          <p:nvPr/>
        </p:nvSpPr>
        <p:spPr>
          <a:xfrm>
            <a:off x="3176337" y="1989138"/>
            <a:ext cx="5510463" cy="4832092"/>
          </a:xfrm>
          <a:prstGeom prst="rect">
            <a:avLst/>
          </a:prstGeom>
        </p:spPr>
        <p:txBody>
          <a:bodyPr wrap="square">
            <a:spAutoFit/>
          </a:bodyPr>
          <a:lstStyle/>
          <a:p>
            <a:pPr lvl="0" eaLnBrk="0" fontAlgn="base" hangingPunct="0">
              <a:spcBef>
                <a:spcPct val="0"/>
              </a:spcBef>
              <a:spcAft>
                <a:spcPct val="0"/>
              </a:spcAft>
            </a:pPr>
            <a:r>
              <a:rPr lang="it-IT" altLang="it-IT" sz="2800" dirty="0" smtClean="0">
                <a:solidFill>
                  <a:srgbClr val="131313"/>
                </a:solidFill>
                <a:latin typeface="+mj-lt"/>
                <a:cs typeface="Arial" pitchFamily="34" charset="0"/>
              </a:rPr>
              <a:t>L’evoluzione </a:t>
            </a:r>
            <a:r>
              <a:rPr lang="it-IT" altLang="it-IT" sz="2800" dirty="0">
                <a:solidFill>
                  <a:srgbClr val="131313"/>
                </a:solidFill>
                <a:latin typeface="+mj-lt"/>
                <a:cs typeface="Arial" pitchFamily="34" charset="0"/>
              </a:rPr>
              <a:t>del </a:t>
            </a:r>
            <a:r>
              <a:rPr lang="it-IT" altLang="it-IT" sz="2800" dirty="0" smtClean="0">
                <a:solidFill>
                  <a:srgbClr val="131313"/>
                </a:solidFill>
                <a:latin typeface="+mj-lt"/>
                <a:cs typeface="Arial" pitchFamily="34" charset="0"/>
              </a:rPr>
              <a:t>servizio </a:t>
            </a:r>
            <a:r>
              <a:rPr lang="it-IT" altLang="it-IT" sz="2800" dirty="0">
                <a:solidFill>
                  <a:srgbClr val="131313"/>
                </a:solidFill>
                <a:latin typeface="+mj-lt"/>
                <a:cs typeface="Arial" pitchFamily="34" charset="0"/>
              </a:rPr>
              <a:t>verso standard assolutamente inediti, quali quelli definiti da ETSI per la REM, presentava diverse e innegabili complessità. </a:t>
            </a:r>
            <a:endParaRPr lang="it-IT" altLang="it-IT" sz="2800" dirty="0" smtClean="0">
              <a:solidFill>
                <a:srgbClr val="131313"/>
              </a:solidFill>
              <a:latin typeface="+mj-lt"/>
              <a:cs typeface="Arial" pitchFamily="34" charset="0"/>
            </a:endParaRPr>
          </a:p>
          <a:p>
            <a:pPr lvl="0" eaLnBrk="0" fontAlgn="base" hangingPunct="0">
              <a:spcBef>
                <a:spcPct val="0"/>
              </a:spcBef>
              <a:spcAft>
                <a:spcPct val="0"/>
              </a:spcAft>
            </a:pPr>
            <a:r>
              <a:rPr lang="it-IT" altLang="it-IT" sz="2800" dirty="0" smtClean="0">
                <a:solidFill>
                  <a:srgbClr val="131313"/>
                </a:solidFill>
                <a:latin typeface="+mj-lt"/>
                <a:cs typeface="Arial" pitchFamily="34" charset="0"/>
              </a:rPr>
              <a:t>Il </a:t>
            </a:r>
            <a:r>
              <a:rPr lang="it-IT" altLang="it-IT" sz="2800" dirty="0">
                <a:solidFill>
                  <a:srgbClr val="131313"/>
                </a:solidFill>
                <a:latin typeface="+mj-lt"/>
                <a:cs typeface="Arial" pitchFamily="34" charset="0"/>
              </a:rPr>
              <a:t>fatto di essere oggi assolutamente pronti </a:t>
            </a:r>
            <a:r>
              <a:rPr lang="it-IT" altLang="it-IT" sz="2800" dirty="0" smtClean="0">
                <a:solidFill>
                  <a:srgbClr val="131313"/>
                </a:solidFill>
                <a:latin typeface="+mj-lt"/>
                <a:cs typeface="Arial" pitchFamily="34" charset="0"/>
              </a:rPr>
              <a:t>riempie l’Italia di </a:t>
            </a:r>
            <a:r>
              <a:rPr lang="it-IT" altLang="it-IT" sz="2800" dirty="0">
                <a:solidFill>
                  <a:srgbClr val="131313"/>
                </a:solidFill>
                <a:latin typeface="+mj-lt"/>
                <a:cs typeface="Arial" pitchFamily="34" charset="0"/>
              </a:rPr>
              <a:t>soddisfazione, proprio perché siamo stati in grado di risolvere brillantemente tali complessità a totale beneficio dei </a:t>
            </a:r>
            <a:r>
              <a:rPr lang="it-IT" altLang="it-IT" sz="2800" dirty="0" smtClean="0">
                <a:solidFill>
                  <a:srgbClr val="131313"/>
                </a:solidFill>
                <a:latin typeface="+mj-lt"/>
                <a:cs typeface="Arial" pitchFamily="34" charset="0"/>
              </a:rPr>
              <a:t>cittadini.</a:t>
            </a:r>
            <a:endParaRPr lang="it-IT" altLang="it-IT" sz="2800" dirty="0">
              <a:solidFill>
                <a:srgbClr val="131313"/>
              </a:solidFill>
              <a:latin typeface="+mj-lt"/>
              <a:cs typeface="Arial" pitchFamily="34" charset="0"/>
            </a:endParaRPr>
          </a:p>
        </p:txBody>
      </p:sp>
      <p:pic>
        <p:nvPicPr>
          <p:cNvPr id="4" name="Picture 2" descr="https://www.intesigroup.com/it/wp-content/uploads/sites/3/2024/01/IMG_Videoidentificazione_V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531" y="2622885"/>
            <a:ext cx="2941901" cy="2935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9389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1524</TotalTime>
  <Words>503</Words>
  <Application>Microsoft Office PowerPoint</Application>
  <PresentationFormat>Presentazione su schermo (4:3)</PresentationFormat>
  <Paragraphs>23</Paragraphs>
  <Slides>8</Slides>
  <Notes>0</Notes>
  <HiddenSlides>0</HiddenSlides>
  <MMClips>0</MMClips>
  <ScaleCrop>false</ScaleCrop>
  <HeadingPairs>
    <vt:vector size="4" baseType="variant">
      <vt:variant>
        <vt:lpstr>Tema</vt:lpstr>
      </vt:variant>
      <vt:variant>
        <vt:i4>1</vt:i4>
      </vt:variant>
      <vt:variant>
        <vt:lpstr>Titoli diapositive</vt:lpstr>
      </vt:variant>
      <vt:variant>
        <vt:i4>8</vt:i4>
      </vt:variant>
    </vt:vector>
  </HeadingPairs>
  <TitlesOfParts>
    <vt:vector size="9" baseType="lpstr">
      <vt:lpstr>Office Theme</vt:lpstr>
      <vt:lpstr> IL PASSAGGIO  DALLA PEC ALLA REM   IL REGOLAMENTO EUROPEO EIDAS2 MODIFICA L’USO DELLA POSTA ELETTRONICA CERTIFICATA</vt:lpstr>
      <vt:lpstr>LA VECCHIA NORMATIVA</vt:lpstr>
      <vt:lpstr>REM = Servizio fiduciario qualificato</vt:lpstr>
      <vt:lpstr>L’influenza della PEC</vt:lpstr>
      <vt:lpstr>Da PEC a REM:  cosa cambierà per gli utenti? </vt:lpstr>
      <vt:lpstr>Da PEC a REM:  cosa cambierà per gli utenti? </vt:lpstr>
      <vt:lpstr>Quando avverrà il passaggio definitivo da PEC a REM? E cosa comporterà per gli utenti? </vt:lpstr>
      <vt:lpstr>Detta così, sembra che l’adeguamento avverrà in modo davvero semplice…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Enzo Chilelli</dc:creator>
  <cp:lastModifiedBy>Enzo Chilelli</cp:lastModifiedBy>
  <cp:revision>24</cp:revision>
  <dcterms:created xsi:type="dcterms:W3CDTF">2011-01-21T15:00:27Z</dcterms:created>
  <dcterms:modified xsi:type="dcterms:W3CDTF">2024-05-23T10:21:45Z</dcterms:modified>
</cp:coreProperties>
</file>