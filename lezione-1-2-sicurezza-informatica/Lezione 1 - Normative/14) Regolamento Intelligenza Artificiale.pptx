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7" r:id="rId2"/>
    <p:sldId id="258" r:id="rId3"/>
    <p:sldId id="275" r:id="rId4"/>
    <p:sldId id="276" r:id="rId5"/>
    <p:sldId id="269" r:id="rId6"/>
    <p:sldId id="277" r:id="rId7"/>
    <p:sldId id="270" r:id="rId8"/>
    <p:sldId id="271" r:id="rId9"/>
    <p:sldId id="272" r:id="rId10"/>
    <p:sldId id="278" r:id="rId11"/>
    <p:sldId id="279" r:id="rId12"/>
    <p:sldId id="273" r:id="rId13"/>
    <p:sldId id="280" r:id="rId14"/>
    <p:sldId id="274" r:id="rId15"/>
    <p:sldId id="281" r:id="rId16"/>
    <p:sldId id="282" r:id="rId17"/>
    <p:sldId id="259" r:id="rId18"/>
    <p:sldId id="260" r:id="rId19"/>
    <p:sldId id="268" r:id="rId20"/>
    <p:sldId id="261" r:id="rId21"/>
    <p:sldId id="262" r:id="rId22"/>
    <p:sldId id="263" r:id="rId23"/>
    <p:sldId id="264" r:id="rId24"/>
    <p:sldId id="265" r:id="rId25"/>
    <p:sldId id="266" r:id="rId26"/>
    <p:sldId id="267" r:id="rId27"/>
  </p:sldIdLst>
  <p:sldSz cx="1080135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116" y="-96"/>
      </p:cViewPr>
      <p:guideLst>
        <p:guide orient="horz" pos="2160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C5ECE-2469-445B-903B-7F65C906B3ED}" type="datetimeFigureOut">
              <a:rPr lang="it-IT" smtClean="0"/>
              <a:t>09/04/2024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685800"/>
            <a:ext cx="54006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AE976-0816-43CC-9C5C-6CF0C9EA558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023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Nonostante i rischi e le sfide, l'intelligenza artificiale offre un'ampia gamma di opportunità per migliorare la nostra vita e il nostro lavoro. È fondamentale gestire attentamente l'implementazione dell'IA, garantendo un bilanciamento tra i benefici e i potenziali impatti negativi.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08013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2"/>
            <a:ext cx="204213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2396" y="1122363"/>
            <a:ext cx="7788786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2396" y="3602038"/>
            <a:ext cx="7788786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70232" y="5410203"/>
            <a:ext cx="2430304" cy="365125"/>
          </a:xfrm>
        </p:spPr>
        <p:txBody>
          <a:bodyPr/>
          <a:lstStyle/>
          <a:p>
            <a:fld id="{F70D8EC6-05AF-42E8-967A-AAD7AD80F81C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62395" y="5410203"/>
            <a:ext cx="4540329" cy="365125"/>
          </a:xfrm>
        </p:spPr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8046" y="5410201"/>
            <a:ext cx="683137" cy="365125"/>
          </a:xfrm>
        </p:spPr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0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CE15-04C7-4618-95DB-ED79C8E3A217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739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18" y="1419228"/>
            <a:ext cx="8776097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18" y="4424362"/>
            <a:ext cx="8776097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66418-C66F-482C-A2AE-8C47E252DB0C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54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1219" y="2249486"/>
            <a:ext cx="4321948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8185" y="2249486"/>
            <a:ext cx="4319132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4234-F74D-49AA-A11A-76052BA5687A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7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18" y="619128"/>
            <a:ext cx="8776097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753" y="2249486"/>
            <a:ext cx="4119417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1219" y="3073399"/>
            <a:ext cx="4321949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70716" y="2249485"/>
            <a:ext cx="4116600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8183" y="3073399"/>
            <a:ext cx="4319132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7E194-C971-4739-81F1-E8777D881483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26A4-72B2-441B-A754-36D12F008D9C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4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4A30-5C7A-4441-B5D7-70720E734D76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61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09" y="609601"/>
            <a:ext cx="341620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072" y="592666"/>
            <a:ext cx="5219243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5909" y="2249486"/>
            <a:ext cx="341620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FD286-1E23-4496-AB18-A7DF5C8CE213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01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22" y="609600"/>
            <a:ext cx="5257603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38858" y="609603"/>
            <a:ext cx="3248459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219" y="2249486"/>
            <a:ext cx="5257606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EBD2-745A-4FFD-9F97-D0274C7E853B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40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18" y="4304666"/>
            <a:ext cx="8781727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1218" y="606426"/>
            <a:ext cx="8781727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179" y="5124020"/>
            <a:ext cx="8780401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57D-6A4F-431D-96FE-2A6C51CDA8F8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168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60" y="609600"/>
            <a:ext cx="8776057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219" y="4419601"/>
            <a:ext cx="8774731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3762-40E7-4456-B57E-599A6885D454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643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253" y="609601"/>
            <a:ext cx="8241657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24384" y="3365557"/>
            <a:ext cx="7753990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219" y="4309919"/>
            <a:ext cx="8776099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88880-91AB-48E8-BE9C-4F0F7BBF2859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0455" y="732394"/>
            <a:ext cx="54006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defTabSz="457200"/>
            <a:r>
              <a:rPr lang="en-US" sz="8000" dirty="0">
                <a:solidFill>
                  <a:prstClr val="white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35452" y="2764972"/>
            <a:ext cx="54006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defTabSz="457200"/>
            <a:r>
              <a:rPr lang="en-US" sz="8000" dirty="0">
                <a:solidFill>
                  <a:prstClr val="white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50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19" y="2134043"/>
            <a:ext cx="8776098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178" y="4657655"/>
            <a:ext cx="8774773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4CDF5-9C9C-44D9-8D59-F569663E130C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765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11221" y="609600"/>
            <a:ext cx="8776096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11219" y="2674463"/>
            <a:ext cx="2832252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99266" y="3360263"/>
            <a:ext cx="284273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99802" y="2677635"/>
            <a:ext cx="282116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90452" y="3363435"/>
            <a:ext cx="283130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56773" y="2674463"/>
            <a:ext cx="2830542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956773" y="3360263"/>
            <a:ext cx="283054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B067-3B22-42E3-B521-8212467F7A55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421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11220" y="609600"/>
            <a:ext cx="8776096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11221" y="4404596"/>
            <a:ext cx="2830783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1221" y="2666998"/>
            <a:ext cx="2830783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11221" y="4980860"/>
            <a:ext cx="2830783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7021" y="4404596"/>
            <a:ext cx="2835354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77021" y="2666998"/>
            <a:ext cx="2834061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75727" y="4980857"/>
            <a:ext cx="2835354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56885" y="4404595"/>
            <a:ext cx="2826797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956774" y="2666998"/>
            <a:ext cx="2830543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956773" y="4980856"/>
            <a:ext cx="2830542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EA9A-AE73-4C86-9BB9-19EF17F31910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147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5E3A-8505-46E3-8727-03942588E388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869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11003" y="609601"/>
            <a:ext cx="1776314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1218" y="609601"/>
            <a:ext cx="6864767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9863-396D-43E8-A741-75AB7B866696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803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605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08013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2658" y="2"/>
            <a:ext cx="10678991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1221" y="618518"/>
            <a:ext cx="8776096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21" y="2249487"/>
            <a:ext cx="8776096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6366" y="5883278"/>
            <a:ext cx="24303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CD3B760-DED4-4157-BBB8-83F0E672D44A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 defTabSz="457200"/>
              <a:t>09/04/2024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1220" y="5883277"/>
            <a:ext cx="5527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4179" y="5883276"/>
            <a:ext cx="683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 defTabSz="457200"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7159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34504" y="617037"/>
            <a:ext cx="10566846" cy="23876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Fondazione ITS 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1300" b="1" dirty="0" smtClean="0"/>
              <a:t/>
            </a:r>
            <a:br>
              <a:rPr lang="en-US" sz="1300" b="1" dirty="0" smtClean="0"/>
            </a:br>
            <a:r>
              <a:rPr lang="en-US" sz="3200" b="1" dirty="0" smtClean="0"/>
              <a:t>Information &amp; </a:t>
            </a:r>
            <a:r>
              <a:rPr lang="en-US" sz="3200" b="1" dirty="0"/>
              <a:t>Communications Technology </a:t>
            </a:r>
            <a:r>
              <a:rPr lang="en-US" sz="3200" b="1" dirty="0" smtClean="0"/>
              <a:t>Academy</a:t>
            </a:r>
            <a:endParaRPr lang="it-IT" sz="3200" b="1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44725" y="3602038"/>
            <a:ext cx="9972625" cy="1655762"/>
          </a:xfrm>
        </p:spPr>
        <p:txBody>
          <a:bodyPr>
            <a:noAutofit/>
          </a:bodyPr>
          <a:lstStyle/>
          <a:p>
            <a:pPr algn="ctr"/>
            <a:r>
              <a:rPr lang="it-IT" sz="3200" b="1" u="sng" dirty="0" smtClean="0">
                <a:solidFill>
                  <a:schemeClr val="tx1">
                    <a:lumMod val="95000"/>
                  </a:schemeClr>
                </a:solidFill>
              </a:rPr>
              <a:t>Intelligenza Artificiale</a:t>
            </a:r>
          </a:p>
          <a:p>
            <a:pPr algn="ctr"/>
            <a:r>
              <a:rPr lang="it-IT" sz="3200" b="1" u="sng" dirty="0" smtClean="0">
                <a:solidFill>
                  <a:schemeClr val="tx1">
                    <a:lumMod val="95000"/>
                  </a:schemeClr>
                </a:solidFill>
              </a:rPr>
              <a:t>Regolamentazione</a:t>
            </a:r>
            <a:endParaRPr lang="it-IT" sz="3200" b="1" u="sng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08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intesa.it/wp-content/uploads/2023/09/articolo_AIAct_V2.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"/>
                    </a14:imgEffect>
                    <a14:imgEffect>
                      <a14:saturation sat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36"/>
            <a:ext cx="10801350" cy="6824464"/>
          </a:xfrm>
          <a:prstGeom prst="rect">
            <a:avLst/>
          </a:prstGeom>
          <a:effectLst>
            <a:glow rad="127000">
              <a:schemeClr val="accent1">
                <a:alpha val="32000"/>
              </a:schemeClr>
            </a:glow>
            <a:outerShdw blurRad="50800" dist="50800" dir="5400000" algn="ctr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/>
          <p:cNvSpPr/>
          <p:nvPr/>
        </p:nvSpPr>
        <p:spPr>
          <a:xfrm>
            <a:off x="312517" y="629612"/>
            <a:ext cx="61206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4000" dirty="0">
                <a:solidFill>
                  <a:srgbClr val="002060"/>
                </a:solidFill>
              </a:rPr>
              <a:t>Negli ultimi anni, l’</a:t>
            </a:r>
            <a:r>
              <a:rPr lang="it-IT" sz="4000" b="1" dirty="0" err="1">
                <a:solidFill>
                  <a:srgbClr val="002060"/>
                </a:solidFill>
              </a:rPr>
              <a:t>Artificial</a:t>
            </a:r>
            <a:r>
              <a:rPr lang="it-IT" sz="4000" b="1" dirty="0">
                <a:solidFill>
                  <a:srgbClr val="002060"/>
                </a:solidFill>
              </a:rPr>
              <a:t> Intelligence</a:t>
            </a:r>
            <a:r>
              <a:rPr lang="it-IT" sz="4000" dirty="0">
                <a:solidFill>
                  <a:srgbClr val="002060"/>
                </a:solidFill>
              </a:rPr>
              <a:t> (AI) ha acquisito un ruolo centrale nella trasformazione digitale del nostro mondo, influenzando una vasta gamma di settori, dall’industria all’assistenza sanitaria, dalla mobilità alla finanza.</a:t>
            </a:r>
          </a:p>
        </p:txBody>
      </p:sp>
    </p:spTree>
    <p:extLst>
      <p:ext uri="{BB962C8B-B14F-4D97-AF65-F5344CB8AC3E}">
        <p14:creationId xmlns:p14="http://schemas.microsoft.com/office/powerpoint/2010/main" val="36950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171" y="595023"/>
            <a:ext cx="9289032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15" algn="ctr">
              <a:lnSpc>
                <a:spcPct val="100000"/>
              </a:lnSpc>
            </a:pPr>
            <a:r>
              <a:rPr sz="2250" b="1" kern="0" dirty="0" smtClean="0">
                <a:latin typeface="Arial Black" panose="020B0A04020102020204" pitchFamily="34" charset="0"/>
                <a:cs typeface="Times New Roman"/>
              </a:rPr>
              <a:t>INTELLIGENZA </a:t>
            </a:r>
            <a:r>
              <a:rPr sz="2250" b="1" kern="0" dirty="0">
                <a:latin typeface="Arial Black" panose="020B0A04020102020204" pitchFamily="34" charset="0"/>
                <a:cs typeface="Times New Roman"/>
              </a:rPr>
              <a:t>ARTIFICIALE: L'EVOLUZIONE DEL </a:t>
            </a:r>
            <a:r>
              <a:rPr sz="2250" b="1" kern="0" dirty="0" smtClean="0">
                <a:latin typeface="Arial Black" panose="020B0A04020102020204" pitchFamily="34" charset="0"/>
                <a:cs typeface="Times New Roman"/>
              </a:rPr>
              <a:t>FUTURO E </a:t>
            </a:r>
            <a:r>
              <a:rPr sz="2250" b="1" kern="0" dirty="0">
                <a:latin typeface="Arial Black" panose="020B0A04020102020204" pitchFamily="34" charset="0"/>
                <a:cs typeface="Times New Roman"/>
              </a:rPr>
              <a:t>LE SUE </a:t>
            </a:r>
            <a:r>
              <a:rPr sz="2250" b="1" kern="0" dirty="0" smtClean="0">
                <a:latin typeface="Arial Black" panose="020B0A04020102020204" pitchFamily="34" charset="0"/>
                <a:cs typeface="Times New Roman"/>
              </a:rPr>
              <a:t>APPLI</a:t>
            </a:r>
            <a:r>
              <a:rPr lang="it-IT" sz="2250" b="1" kern="0" dirty="0">
                <a:latin typeface="Arial Black" panose="020B0A04020102020204" pitchFamily="34" charset="0"/>
                <a:cs typeface="Times New Roman"/>
              </a:rPr>
              <a:t>C</a:t>
            </a:r>
            <a:r>
              <a:rPr sz="2250" b="1" kern="0" dirty="0" smtClean="0">
                <a:latin typeface="Arial Black" panose="020B0A04020102020204" pitchFamily="34" charset="0"/>
                <a:cs typeface="Times New Roman"/>
              </a:rPr>
              <a:t>AZIONI</a:t>
            </a:r>
            <a:r>
              <a:rPr lang="it-IT" sz="2250" b="1" kern="0" dirty="0" smtClean="0">
                <a:latin typeface="Arial Black" panose="020B0A04020102020204" pitchFamily="34" charset="0"/>
                <a:cs typeface="Times New Roman"/>
              </a:rPr>
              <a:t> </a:t>
            </a:r>
            <a:r>
              <a:rPr sz="2250" b="1" kern="0" dirty="0" smtClean="0">
                <a:latin typeface="Arial Black" panose="020B0A04020102020204" pitchFamily="34" charset="0"/>
                <a:cs typeface="Times New Roman"/>
              </a:rPr>
              <a:t>NELL'ERA</a:t>
            </a:r>
            <a:r>
              <a:rPr lang="it-IT" sz="2250" b="1" kern="0" dirty="0" smtClean="0">
                <a:latin typeface="Arial Black" panose="020B0A04020102020204" pitchFamily="34" charset="0"/>
                <a:cs typeface="Times New Roman"/>
              </a:rPr>
              <a:t> </a:t>
            </a:r>
            <a:r>
              <a:rPr sz="2250" b="1" kern="0" dirty="0" smtClean="0">
                <a:latin typeface="Arial Black" panose="020B0A04020102020204" pitchFamily="34" charset="0"/>
                <a:cs typeface="Times New Roman"/>
              </a:rPr>
              <a:t>DIGITALE</a:t>
            </a:r>
            <a:endParaRPr sz="2250" kern="0" dirty="0">
              <a:latin typeface="Arial Black" panose="020B0A04020102020204" pitchFamily="34" charset="0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413" y="2060848"/>
            <a:ext cx="8856985" cy="3893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6350" algn="just">
              <a:spcAft>
                <a:spcPts val="600"/>
              </a:spcAft>
            </a:pPr>
            <a:r>
              <a:rPr sz="3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L'intelligenza</a:t>
            </a:r>
            <a:r>
              <a:rPr lang="it-IT" sz="3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3200" spc="-10" dirty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sz="32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6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uno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degli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argomenti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discussi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controversi</a:t>
            </a:r>
            <a:r>
              <a:rPr lang="it-IT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3200" spc="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ventunesimo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secolo</a:t>
            </a: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it-IT" sz="3200" spc="15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marR="5080" indent="-6350" algn="just">
              <a:spcAft>
                <a:spcPts val="600"/>
              </a:spcAft>
            </a:pPr>
            <a:endParaRPr lang="it-IT" sz="1400" spc="15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marR="5080" indent="-6350" algn="just">
              <a:spcAft>
                <a:spcPts val="600"/>
              </a:spcAft>
            </a:pPr>
            <a:r>
              <a:rPr sz="3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Questa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disciplina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dell'informatica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occupa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dello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sviluppo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3200" spc="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algoritmi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sistemi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32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grado</a:t>
            </a:r>
            <a:r>
              <a:rPr lang="it-I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simulare</a:t>
            </a:r>
            <a:r>
              <a:rPr sz="32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l'intelligenza</a:t>
            </a:r>
            <a:r>
              <a:rPr sz="32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30" dirty="0" err="1">
                <a:latin typeface="Arial" panose="020B0604020202020204" pitchFamily="34" charset="0"/>
                <a:cs typeface="Arial" panose="020B0604020202020204" pitchFamily="34" charset="0"/>
              </a:rPr>
              <a:t>umana</a:t>
            </a:r>
            <a:r>
              <a:rPr sz="3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25" algn="just">
              <a:spcAft>
                <a:spcPts val="600"/>
              </a:spcAft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094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171" y="318024"/>
            <a:ext cx="928903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algn="ctr">
              <a:spcAft>
                <a:spcPts val="600"/>
              </a:spcAft>
            </a:pPr>
            <a:r>
              <a:rPr lang="it-IT" sz="3600" b="1" spc="55" dirty="0">
                <a:latin typeface="Arial" panose="020B0604020202020204" pitchFamily="34" charset="0"/>
                <a:cs typeface="Arial" panose="020B0604020202020204" pitchFamily="34" charset="0"/>
              </a:rPr>
              <a:t>Cos'è</a:t>
            </a:r>
            <a:r>
              <a:rPr lang="it-IT" sz="3600" b="1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600" b="1" spc="45" dirty="0">
                <a:latin typeface="Arial" panose="020B0604020202020204" pitchFamily="34" charset="0"/>
                <a:cs typeface="Arial" panose="020B0604020202020204" pitchFamily="34" charset="0"/>
              </a:rPr>
              <a:t>l'Intelligenza</a:t>
            </a:r>
            <a:r>
              <a:rPr lang="it-IT" sz="3600" b="1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600" b="1" spc="20" dirty="0">
                <a:latin typeface="Arial" panose="020B0604020202020204" pitchFamily="34" charset="0"/>
                <a:cs typeface="Arial" panose="020B0604020202020204" pitchFamily="34" charset="0"/>
              </a:rPr>
              <a:t>Artificiale?</a:t>
            </a:r>
            <a:endParaRPr lang="it-IT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087" y="1052736"/>
            <a:ext cx="9280554" cy="4878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125" marR="5715" indent="-3175" algn="just">
              <a:spcAft>
                <a:spcPts val="600"/>
              </a:spcAft>
            </a:pPr>
            <a:r>
              <a:rPr sz="26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L'IA</a:t>
            </a:r>
            <a:r>
              <a:rPr lang="it-IT" sz="26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basa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algoritmi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complessi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modelli</a:t>
            </a:r>
            <a:r>
              <a:rPr lang="it-IT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matematici</a:t>
            </a:r>
            <a:r>
              <a:rPr lang="it-IT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consentono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macchine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sz="2600" spc="40" dirty="0" err="1">
                <a:latin typeface="Arial" panose="020B0604020202020204" pitchFamily="34" charset="0"/>
                <a:cs typeface="Arial" panose="020B0604020202020204" pitchFamily="34" charset="0"/>
              </a:rPr>
              <a:t>apprendere</a:t>
            </a:r>
            <a:r>
              <a:rPr sz="26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ragionare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600" spc="1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prendere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decisioni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autonome</a:t>
            </a:r>
            <a:r>
              <a:rPr sz="26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Questi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sono</a:t>
            </a:r>
            <a:r>
              <a:rPr sz="2600" spc="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6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grado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6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elaborare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grandi</a:t>
            </a:r>
            <a:r>
              <a:rPr sz="26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quantità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b="1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sz="2600" b="1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individuare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pattern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trarre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conclusioni</a:t>
            </a:r>
            <a:r>
              <a:rPr sz="26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permettendo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loro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svolgere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compiti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6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richiedono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b="1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l'intelligenza</a:t>
            </a:r>
            <a:r>
              <a:rPr lang="it-IT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b="1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umana</a:t>
            </a:r>
            <a:r>
              <a:rPr sz="2600" b="1" spc="5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questi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compiti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80" dirty="0" smtClean="0"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sono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riconoscimento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vocale</a:t>
            </a:r>
            <a:r>
              <a:rPr sz="26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visione</a:t>
            </a:r>
            <a:r>
              <a:rPr sz="26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" dirty="0" err="1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sz="26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600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traduzione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automatica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6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" dirty="0">
                <a:latin typeface="Arial" panose="020B0604020202020204" pitchFamily="34" charset="0"/>
                <a:cs typeface="Arial" panose="020B0604020202020204" pitchFamily="34" charset="0"/>
              </a:rPr>
              <a:t>l'analisi</a:t>
            </a:r>
            <a:r>
              <a:rPr sz="26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0" dirty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sz="26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0" dirty="0">
                <a:latin typeface="Arial" panose="020B0604020202020204" pitchFamily="34" charset="0"/>
                <a:cs typeface="Arial" panose="020B0604020202020204" pitchFamily="34" charset="0"/>
              </a:rPr>
              <a:t>dati.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4950" marR="5715" algn="just">
              <a:spcAft>
                <a:spcPts val="600"/>
              </a:spcAft>
            </a:pPr>
            <a:r>
              <a:rPr sz="26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L'IA</a:t>
            </a:r>
            <a:r>
              <a:rPr lang="it-IT" sz="26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trova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ampio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impiego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vari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settori</a:t>
            </a:r>
            <a:r>
              <a:rPr sz="26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cui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medicina</a:t>
            </a:r>
            <a:r>
              <a:rPr sz="26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finanza</a:t>
            </a:r>
            <a:r>
              <a:rPr sz="26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produzione</a:t>
            </a:r>
            <a:r>
              <a:rPr sz="26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trasporti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assistenza</a:t>
            </a:r>
            <a:r>
              <a:rPr sz="26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5" dirty="0" err="1">
                <a:latin typeface="Arial" panose="020B0604020202020204" pitchFamily="34" charset="0"/>
                <a:cs typeface="Arial" panose="020B0604020202020204" pitchFamily="34" charset="0"/>
              </a:rPr>
              <a:t>virtuale</a:t>
            </a:r>
            <a:r>
              <a:rPr sz="26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Inoltre</a:t>
            </a:r>
            <a:r>
              <a:rPr sz="26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continua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evolversi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rapidamente</a:t>
            </a:r>
            <a:r>
              <a:rPr sz="26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offrendo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potenziali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benefici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presentando</a:t>
            </a:r>
            <a:r>
              <a:rPr lang="it-IT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sfide</a:t>
            </a:r>
            <a:r>
              <a:rPr sz="26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25" dirty="0">
                <a:latin typeface="Arial" panose="020B0604020202020204" pitchFamily="34" charset="0"/>
                <a:cs typeface="Arial" panose="020B0604020202020204" pitchFamily="34" charset="0"/>
              </a:rPr>
              <a:t>etiche</a:t>
            </a:r>
            <a:r>
              <a:rPr sz="26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6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sociali</a:t>
            </a:r>
            <a:r>
              <a:rPr sz="26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5" dirty="0" err="1">
                <a:latin typeface="Arial" panose="020B0604020202020204" pitchFamily="34" charset="0"/>
                <a:cs typeface="Arial" panose="020B0604020202020204" pitchFamily="34" charset="0"/>
              </a:rPr>
              <a:t>significative</a:t>
            </a:r>
            <a:r>
              <a:rPr sz="26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420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171" y="595023"/>
            <a:ext cx="9289032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125" algn="just">
              <a:lnSpc>
                <a:spcPct val="100000"/>
              </a:lnSpc>
            </a:pPr>
            <a:r>
              <a:rPr lang="it-IT" sz="2800" b="1" spc="50" dirty="0">
                <a:latin typeface="Arial Black" panose="020B0A04020102020204" pitchFamily="34" charset="0"/>
                <a:cs typeface="Times New Roman"/>
              </a:rPr>
              <a:t>Dalla</a:t>
            </a:r>
            <a:r>
              <a:rPr lang="it-IT" sz="2800" b="1" spc="105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65" dirty="0">
                <a:latin typeface="Arial Black" panose="020B0A04020102020204" pitchFamily="34" charset="0"/>
                <a:cs typeface="Times New Roman"/>
              </a:rPr>
              <a:t>sua</a:t>
            </a:r>
            <a:r>
              <a:rPr lang="it-IT" sz="2800" b="1" spc="35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50" dirty="0">
                <a:latin typeface="Arial Black" panose="020B0A04020102020204" pitchFamily="34" charset="0"/>
                <a:cs typeface="Times New Roman"/>
              </a:rPr>
              <a:t>nascita</a:t>
            </a:r>
            <a:r>
              <a:rPr lang="it-IT" sz="2800" b="1" spc="90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25" dirty="0">
                <a:latin typeface="Arial Black" panose="020B0A04020102020204" pitchFamily="34" charset="0"/>
                <a:cs typeface="Times New Roman"/>
              </a:rPr>
              <a:t>alle</a:t>
            </a:r>
            <a:r>
              <a:rPr lang="it-IT" sz="2800" b="1" spc="80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45" dirty="0" smtClean="0">
                <a:latin typeface="Arial Black" panose="020B0A04020102020204" pitchFamily="34" charset="0"/>
                <a:cs typeface="Times New Roman"/>
              </a:rPr>
              <a:t>applicazioni</a:t>
            </a:r>
            <a:r>
              <a:rPr lang="it-IT" sz="2800" b="1" dirty="0" smtClean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45" dirty="0" smtClean="0">
                <a:latin typeface="Arial Black" panose="020B0A04020102020204" pitchFamily="34" charset="0"/>
                <a:cs typeface="Times New Roman"/>
              </a:rPr>
              <a:t>odierne</a:t>
            </a:r>
            <a:endParaRPr lang="it-IT" sz="2800" dirty="0">
              <a:latin typeface="Arial Black" panose="020B0A04020102020204" pitchFamily="34" charset="0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0417" y="1025910"/>
            <a:ext cx="9442786" cy="461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200"/>
              </a:spcAft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25" marR="13335" indent="-3175" algn="just">
              <a:spcAft>
                <a:spcPts val="1200"/>
              </a:spcAft>
            </a:pPr>
            <a:r>
              <a:rPr sz="28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800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 err="1">
                <a:latin typeface="Arial" panose="020B0604020202020204" pitchFamily="34" charset="0"/>
                <a:cs typeface="Arial" panose="020B0604020202020204" pitchFamily="34" charset="0"/>
              </a:rPr>
              <a:t>storia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dell'IA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caratterizzata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alti</a:t>
            </a:r>
            <a:r>
              <a:rPr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bassi</a:t>
            </a:r>
            <a:r>
              <a:rPr sz="2800" b="1" spc="4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corso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degli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anni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ha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portato</a:t>
            </a:r>
            <a:r>
              <a:rPr lang="it-IT" sz="28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t-IT" sz="28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d </a:t>
            </a:r>
            <a:r>
              <a:rPr sz="28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importanti</a:t>
            </a:r>
            <a:r>
              <a:rPr sz="28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progressi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applicazioni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pratiche</a:t>
            </a:r>
            <a:r>
              <a:rPr sz="28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L'IA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continuando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evolversi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rapidamente</a:t>
            </a:r>
            <a:r>
              <a:rPr sz="28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aprendo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nuove</a:t>
            </a:r>
            <a:r>
              <a:rPr sz="28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prospettive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800" spc="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 err="1">
                <a:latin typeface="Arial" panose="020B0604020202020204" pitchFamily="34" charset="0"/>
                <a:cs typeface="Arial" panose="020B0604020202020204" pitchFamily="34" charset="0"/>
              </a:rPr>
              <a:t>sfide</a:t>
            </a:r>
            <a:r>
              <a:rPr sz="28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settori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sz="2800" spc="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8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 err="1">
                <a:latin typeface="Arial" panose="020B0604020202020204" pitchFamily="34" charset="0"/>
                <a:cs typeface="Arial" panose="020B0604020202020204" pitchFamily="34" charset="0"/>
              </a:rPr>
              <a:t>medicina</a:t>
            </a:r>
            <a:r>
              <a:rPr sz="28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l'automazione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industriale</a:t>
            </a:r>
            <a:r>
              <a:rPr sz="28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8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8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molto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altro</a:t>
            </a:r>
            <a:r>
              <a:rPr sz="28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ancora.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it-IT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25" marR="13335" indent="-3175" algn="just">
              <a:spcAft>
                <a:spcPts val="1200"/>
              </a:spcAft>
            </a:pPr>
            <a:r>
              <a:rPr sz="28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Esaminiamo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brevemente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tappe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fondamentali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hanno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caratterizzato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percorso</a:t>
            </a:r>
            <a:r>
              <a:rPr sz="28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dell'Intelligenza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855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171" y="595023"/>
            <a:ext cx="9289032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125" algn="just">
              <a:lnSpc>
                <a:spcPct val="100000"/>
              </a:lnSpc>
            </a:pPr>
            <a:r>
              <a:rPr lang="it-IT" sz="2800" b="1" spc="50" dirty="0">
                <a:latin typeface="Arial Black" panose="020B0A04020102020204" pitchFamily="34" charset="0"/>
                <a:cs typeface="Times New Roman"/>
              </a:rPr>
              <a:t>Dalla</a:t>
            </a:r>
            <a:r>
              <a:rPr lang="it-IT" sz="2800" b="1" spc="105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65" dirty="0">
                <a:latin typeface="Arial Black" panose="020B0A04020102020204" pitchFamily="34" charset="0"/>
                <a:cs typeface="Times New Roman"/>
              </a:rPr>
              <a:t>sua</a:t>
            </a:r>
            <a:r>
              <a:rPr lang="it-IT" sz="2800" b="1" spc="35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50" dirty="0">
                <a:latin typeface="Arial Black" panose="020B0A04020102020204" pitchFamily="34" charset="0"/>
                <a:cs typeface="Times New Roman"/>
              </a:rPr>
              <a:t>nascita</a:t>
            </a:r>
            <a:r>
              <a:rPr lang="it-IT" sz="2800" b="1" spc="90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25" dirty="0">
                <a:latin typeface="Arial Black" panose="020B0A04020102020204" pitchFamily="34" charset="0"/>
                <a:cs typeface="Times New Roman"/>
              </a:rPr>
              <a:t>alle</a:t>
            </a:r>
            <a:r>
              <a:rPr lang="it-IT" sz="2800" b="1" spc="80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45" dirty="0" smtClean="0">
                <a:latin typeface="Arial Black" panose="020B0A04020102020204" pitchFamily="34" charset="0"/>
                <a:cs typeface="Times New Roman"/>
              </a:rPr>
              <a:t>applicazioni</a:t>
            </a:r>
            <a:r>
              <a:rPr lang="it-IT" sz="2800" b="1" dirty="0" smtClean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2800" b="1" spc="45" dirty="0" smtClean="0">
                <a:latin typeface="Arial Black" panose="020B0A04020102020204" pitchFamily="34" charset="0"/>
                <a:cs typeface="Times New Roman"/>
              </a:rPr>
              <a:t>odierne</a:t>
            </a:r>
            <a:endParaRPr lang="it-IT" sz="2800" dirty="0">
              <a:latin typeface="Arial Black" panose="020B0A04020102020204" pitchFamily="34" charset="0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31" y="1196752"/>
            <a:ext cx="9793088" cy="5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6985" indent="-228600" algn="just">
              <a:spcAft>
                <a:spcPts val="600"/>
              </a:spcAft>
              <a:buClr>
                <a:srgbClr val="2D2A2B"/>
              </a:buClr>
              <a:buFont typeface="Times New Roman"/>
              <a:buChar char="•"/>
              <a:tabLst>
                <a:tab pos="244475" algn="l"/>
              </a:tabLst>
            </a:pPr>
            <a:r>
              <a:rPr b="1" dirty="0" smtClean="0">
                <a:latin typeface="Arial" panose="020B0604020202020204" pitchFamily="34" charset="0"/>
                <a:cs typeface="Arial" panose="020B0604020202020204" pitchFamily="34" charset="0"/>
              </a:rPr>
              <a:t>1950-1960: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nascita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termine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0" dirty="0" smtClean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intelligenza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spc="10" dirty="0" smtClean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0" dirty="0" smtClean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5" dirty="0" smtClean="0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pc="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75" dirty="0" smtClean="0">
                <a:latin typeface="Arial" panose="020B0604020202020204" pitchFamily="34" charset="0"/>
                <a:cs typeface="Arial" panose="020B0604020202020204" pitchFamily="34" charset="0"/>
              </a:rPr>
              <a:t>John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30" dirty="0" smtClean="0">
                <a:latin typeface="Arial" panose="020B0604020202020204" pitchFamily="34" charset="0"/>
                <a:cs typeface="Arial" panose="020B0604020202020204" pitchFamily="34" charset="0"/>
              </a:rPr>
              <a:t>McCarthy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altri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pionieri</a:t>
            </a:r>
            <a:r>
              <a:rPr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5" dirty="0" err="1">
                <a:latin typeface="Arial" panose="020B0604020202020204" pitchFamily="34" charset="0"/>
                <a:cs typeface="Arial" panose="020B0604020202020204" pitchFamily="34" charset="0"/>
              </a:rPr>
              <a:t>dell'IA</a:t>
            </a:r>
            <a:r>
              <a:rPr spc="2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G</a:t>
            </a:r>
            <a:r>
              <a:rPr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studiosi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concentrano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sullo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programmi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capaci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spc="15" dirty="0">
                <a:latin typeface="Arial" panose="020B0604020202020204" pitchFamily="34" charset="0"/>
                <a:cs typeface="Arial" panose="020B0604020202020204" pitchFamily="34" charset="0"/>
              </a:rPr>
              <a:t>simulare</a:t>
            </a:r>
            <a:r>
              <a:rPr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5" dirty="0" err="1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ragionamento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umano</a:t>
            </a:r>
            <a:r>
              <a:rPr spc="4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25" marR="13970" indent="-225425" algn="just">
              <a:spcAft>
                <a:spcPts val="600"/>
              </a:spcAft>
              <a:buClr>
                <a:srgbClr val="2D2A2B"/>
              </a:buClr>
              <a:buFont typeface="Times New Roman"/>
              <a:buChar char="•"/>
              <a:tabLst>
                <a:tab pos="24447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1960-1970:</a:t>
            </a:r>
            <a:r>
              <a:rPr b="1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concetto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pc="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apprendimento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automatico</a:t>
            </a:r>
            <a:r>
              <a:rPr spc="45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prende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0" dirty="0" smtClean="0">
                <a:latin typeface="Arial" panose="020B0604020202020204" pitchFamily="34" charset="0"/>
                <a:cs typeface="Arial" panose="020B0604020202020204" pitchFamily="34" charset="0"/>
              </a:rPr>
              <a:t>forma</a:t>
            </a:r>
            <a:r>
              <a:rPr lang="it-IT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pc="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pc="30" dirty="0" smtClean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obiettivo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è </a:t>
            </a:r>
            <a:r>
              <a:rPr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creare</a:t>
            </a:r>
            <a:r>
              <a:rPr spc="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30" dirty="0" err="1">
                <a:latin typeface="Arial" panose="020B0604020202020204" pitchFamily="34" charset="0"/>
                <a:cs typeface="Arial" panose="020B0604020202020204" pitchFamily="34" charset="0"/>
              </a:rPr>
              <a:t>macchine</a:t>
            </a:r>
            <a:r>
              <a:rPr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grado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apprendere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spc="2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Nascono </a:t>
            </a:r>
            <a:r>
              <a:rPr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5" dirty="0" smtClean="0">
                <a:latin typeface="Arial" panose="020B0604020202020204" pitchFamily="34" charset="0"/>
                <a:cs typeface="Arial" panose="020B0604020202020204" pitchFamily="34" charset="0"/>
              </a:rPr>
              <a:t>prime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reti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neurali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d </a:t>
            </a:r>
            <a:r>
              <a:rPr spc="-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primi</a:t>
            </a:r>
            <a:r>
              <a:rPr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0" dirty="0">
                <a:latin typeface="Arial" panose="020B0604020202020204" pitchFamily="34" charset="0"/>
                <a:cs typeface="Arial" panose="020B0604020202020204" pitchFamily="34" charset="0"/>
              </a:rPr>
              <a:t>algoritmi</a:t>
            </a:r>
            <a:r>
              <a:rPr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apprendimento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automatico</a:t>
            </a:r>
            <a:r>
              <a:rPr spc="3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spc="35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25" marR="9525" indent="-225425" algn="just">
              <a:spcAft>
                <a:spcPts val="600"/>
              </a:spcAft>
              <a:buClr>
                <a:srgbClr val="332F31"/>
              </a:buClr>
              <a:buFont typeface="Times New Roman"/>
              <a:buChar char="•"/>
              <a:tabLst>
                <a:tab pos="244475" algn="l"/>
              </a:tabLst>
            </a:pPr>
            <a:r>
              <a:rPr lang="it-IT" b="1" spc="-25" dirty="0">
                <a:latin typeface="Arial" panose="020B0604020202020204" pitchFamily="34" charset="0"/>
                <a:cs typeface="Arial" panose="020B0604020202020204" pitchFamily="34" charset="0"/>
              </a:rPr>
              <a:t>1980-1990:</a:t>
            </a:r>
            <a:r>
              <a:rPr lang="it-IT" b="1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5" dirty="0">
                <a:latin typeface="Arial" panose="020B0604020202020204" pitchFamily="34" charset="0"/>
                <a:cs typeface="Arial" panose="020B0604020202020204" pitchFamily="34" charset="0"/>
              </a:rPr>
              <a:t>L'IA</a:t>
            </a:r>
            <a:r>
              <a:rPr lang="it-IT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attraversa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fase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rallentamento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conosciuta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5" dirty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5" dirty="0">
                <a:latin typeface="Arial" panose="020B0604020202020204" pitchFamily="34" charset="0"/>
                <a:cs typeface="Arial" panose="020B0604020202020204" pitchFamily="34" charset="0"/>
              </a:rPr>
              <a:t>"inverno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dell'IA".</a:t>
            </a:r>
            <a:r>
              <a:rPr lang="it-IT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aspettative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iniziali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erano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0" dirty="0">
                <a:latin typeface="Arial" panose="020B0604020202020204" pitchFamily="34" charset="0"/>
                <a:cs typeface="Arial" panose="020B0604020202020204" pitchFamily="34" charset="0"/>
              </a:rPr>
              <a:t>troppo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elevate</a:t>
            </a:r>
            <a:r>
              <a:rPr lang="it-IT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Tuttavia,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questo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 periodo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-15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it-IT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sviluppano</a:t>
            </a:r>
            <a:r>
              <a:rPr lang="it-IT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nuovi</a:t>
            </a:r>
            <a:r>
              <a:rPr lang="it-IT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algoritmi</a:t>
            </a:r>
            <a:r>
              <a:rPr lang="it-IT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pc="45" dirty="0">
                <a:latin typeface="Arial" panose="020B0604020202020204" pitchFamily="34" charset="0"/>
                <a:cs typeface="Arial" panose="020B0604020202020204" pitchFamily="34" charset="0"/>
              </a:rPr>
              <a:t> apprendimento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0" dirty="0">
                <a:latin typeface="Arial" panose="020B0604020202020204" pitchFamily="34" charset="0"/>
                <a:cs typeface="Arial" panose="020B0604020202020204" pitchFamily="34" charset="0"/>
              </a:rPr>
              <a:t>automatico,</a:t>
            </a:r>
            <a:r>
              <a:rPr lang="it-IT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5" dirty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-15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reti</a:t>
            </a:r>
            <a:r>
              <a:rPr lang="it-IT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neurali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0" dirty="0">
                <a:latin typeface="Arial" panose="020B0604020202020204" pitchFamily="34" charset="0"/>
                <a:cs typeface="Arial" panose="020B0604020202020204" pitchFamily="34" charset="0"/>
              </a:rPr>
              <a:t>profonde.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25" marR="6350" indent="-225425" algn="just">
              <a:spcAft>
                <a:spcPts val="600"/>
              </a:spcAft>
              <a:buClr>
                <a:srgbClr val="332F31"/>
              </a:buClr>
              <a:buFont typeface="Times New Roman"/>
              <a:buChar char="•"/>
              <a:tabLst>
                <a:tab pos="244475" algn="l"/>
              </a:tabLst>
            </a:pPr>
            <a:r>
              <a:rPr lang="it-IT" b="1" spc="-35" dirty="0">
                <a:latin typeface="Arial" panose="020B0604020202020204" pitchFamily="34" charset="0"/>
                <a:cs typeface="Arial" panose="020B0604020202020204" pitchFamily="34" charset="0"/>
              </a:rPr>
              <a:t>1997: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-1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0" dirty="0" err="1">
                <a:latin typeface="Arial" panose="020B0604020202020204" pitchFamily="34" charset="0"/>
                <a:cs typeface="Arial" panose="020B0604020202020204" pitchFamily="34" charset="0"/>
              </a:rPr>
              <a:t>supercomputer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5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sviluppato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IBM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sconfigge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-25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0" dirty="0">
                <a:latin typeface="Arial" panose="020B0604020202020204" pitchFamily="34" charset="0"/>
                <a:cs typeface="Arial" panose="020B0604020202020204" pitchFamily="34" charset="0"/>
              </a:rPr>
              <a:t>campione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60" dirty="0">
                <a:latin typeface="Arial" panose="020B0604020202020204" pitchFamily="34" charset="0"/>
                <a:cs typeface="Arial" panose="020B0604020202020204" pitchFamily="34" charset="0"/>
              </a:rPr>
              <a:t>mondo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scacchi,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 err="1">
                <a:latin typeface="Arial" panose="020B0604020202020204" pitchFamily="34" charset="0"/>
                <a:cs typeface="Arial" panose="020B0604020202020204" pitchFamily="34" charset="0"/>
              </a:rPr>
              <a:t>Garry</a:t>
            </a:r>
            <a:r>
              <a:rPr lang="it-IT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Kasparov.</a:t>
            </a:r>
            <a:r>
              <a:rPr lang="it-IT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È un </a:t>
            </a:r>
            <a:r>
              <a:rPr lang="it-IT" spc="50" dirty="0" smtClean="0">
                <a:latin typeface="Arial" panose="020B0604020202020204" pitchFamily="34" charset="0"/>
                <a:cs typeface="Arial" panose="020B0604020202020204" pitchFamily="34" charset="0"/>
              </a:rPr>
              <a:t>punto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svolta</a:t>
            </a:r>
            <a:r>
              <a:rPr lang="it-IT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nell'IA, </a:t>
            </a:r>
            <a:r>
              <a:rPr lang="it-IT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dimostra</a:t>
            </a:r>
            <a:r>
              <a:rPr lang="it-IT" spc="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capacità</a:t>
            </a:r>
            <a:r>
              <a:rPr lang="it-IT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delle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macchine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competere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it-IT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superare</a:t>
            </a:r>
            <a:r>
              <a:rPr lang="it-IT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-15" dirty="0"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it-IT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esseri</a:t>
            </a:r>
            <a:r>
              <a:rPr lang="it-IT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umani</a:t>
            </a:r>
            <a:r>
              <a:rPr lang="it-IT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determinati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compit</a:t>
            </a:r>
            <a:r>
              <a:rPr lang="it-IT" spc="1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25" marR="12700" indent="-225425" algn="just">
              <a:spcAft>
                <a:spcPts val="600"/>
              </a:spcAft>
              <a:buClr>
                <a:srgbClr val="332F31"/>
              </a:buClr>
              <a:buFont typeface="Times New Roman"/>
              <a:buChar char="•"/>
              <a:tabLst>
                <a:tab pos="232410" algn="l"/>
              </a:tabLst>
            </a:pPr>
            <a:r>
              <a:rPr lang="it-IT" b="1" spc="15" dirty="0">
                <a:latin typeface="Arial" panose="020B0604020202020204" pitchFamily="34" charset="0"/>
                <a:cs typeface="Arial" panose="020B0604020202020204" pitchFamily="34" charset="0"/>
              </a:rPr>
              <a:t>Anni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spc="-20" dirty="0">
                <a:latin typeface="Arial" panose="020B0604020202020204" pitchFamily="34" charset="0"/>
                <a:cs typeface="Arial" panose="020B0604020202020204" pitchFamily="34" charset="0"/>
              </a:rPr>
              <a:t>2000: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it-IT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'IA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rinasce, </a:t>
            </a:r>
            <a:r>
              <a:rPr lang="it-IT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progressi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 smtClean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0" dirty="0"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 err="1">
                <a:latin typeface="Arial" panose="020B0604020202020204" pitchFamily="34" charset="0"/>
                <a:cs typeface="Arial" panose="020B0604020202020204" pitchFamily="34" charset="0"/>
              </a:rPr>
              <a:t>leaming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all'aumento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della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disponibilità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pc="40" dirty="0">
                <a:latin typeface="Arial" panose="020B0604020202020204" pitchFamily="34" charset="0"/>
                <a:cs typeface="Arial" panose="020B0604020202020204" pitchFamily="34" charset="0"/>
              </a:rPr>
              <a:t>potenza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calcolo.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5" dirty="0">
                <a:latin typeface="Arial" panose="020B0604020202020204" pitchFamily="34" charset="0"/>
                <a:cs typeface="Arial" panose="020B0604020202020204" pitchFamily="34" charset="0"/>
              </a:rPr>
              <a:t>Vengono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sviluppate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applicazioni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pratiche,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-3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sistemi</a:t>
            </a:r>
            <a:r>
              <a:rPr lang="it-IT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raccomandazione,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-35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lang="it-IT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riconoscimento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vocale</a:t>
            </a:r>
            <a:r>
              <a:rPr lang="it-IT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-15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visione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lang="it-IT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25" marR="5080" indent="-225425" algn="just">
              <a:spcAft>
                <a:spcPts val="600"/>
              </a:spcAft>
              <a:buClr>
                <a:srgbClr val="332F31"/>
              </a:buClr>
              <a:buFont typeface="Times New Roman"/>
              <a:buChar char="•"/>
              <a:tabLst>
                <a:tab pos="238760" algn="l"/>
              </a:tabLst>
            </a:pPr>
            <a:r>
              <a:rPr lang="it-IT" b="1" spc="5" dirty="0">
                <a:latin typeface="Arial" panose="020B0604020202020204" pitchFamily="34" charset="0"/>
                <a:cs typeface="Arial" panose="020B0604020202020204" pitchFamily="34" charset="0"/>
              </a:rPr>
              <a:t>2010-oggi:</a:t>
            </a:r>
            <a:r>
              <a:rPr lang="it-IT" b="1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5" dirty="0">
                <a:latin typeface="Arial" panose="020B0604020202020204" pitchFamily="34" charset="0"/>
                <a:cs typeface="Arial" panose="020B0604020202020204" pitchFamily="34" charset="0"/>
              </a:rPr>
              <a:t>L'apprendimento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5" dirty="0">
                <a:latin typeface="Arial" panose="020B0604020202020204" pitchFamily="34" charset="0"/>
                <a:cs typeface="Arial" panose="020B0604020202020204" pitchFamily="34" charset="0"/>
              </a:rPr>
              <a:t>profondo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-15" dirty="0">
                <a:latin typeface="Arial" panose="020B0604020202020204" pitchFamily="34" charset="0"/>
                <a:cs typeface="Arial" panose="020B0604020202020204" pitchFamily="34" charset="0"/>
              </a:rPr>
              <a:t>(o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it-IT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 err="1">
                <a:latin typeface="Arial" panose="020B0604020202020204" pitchFamily="34" charset="0"/>
                <a:cs typeface="Arial" panose="020B0604020202020204" pitchFamily="34" charset="0"/>
              </a:rPr>
              <a:t>leaming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diventa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5" dirty="0">
                <a:latin typeface="Arial" panose="020B0604020202020204" pitchFamily="34" charset="0"/>
                <a:cs typeface="Arial" panose="020B0604020202020204" pitchFamily="34" charset="0"/>
              </a:rPr>
              <a:t>sempre</a:t>
            </a:r>
            <a:r>
              <a:rPr lang="it-IT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popolare,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all'uso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reti</a:t>
            </a:r>
            <a:r>
              <a:rPr lang="it-IT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neurali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5" dirty="0">
                <a:latin typeface="Arial" panose="020B0604020202020204" pitchFamily="34" charset="0"/>
                <a:cs typeface="Arial" panose="020B0604020202020204" pitchFamily="34" charset="0"/>
              </a:rPr>
              <a:t>profonde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l'elaborazione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dati.</a:t>
            </a:r>
            <a:r>
              <a:rPr lang="it-IT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0" dirty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raggiungono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prestazioni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0" dirty="0">
                <a:latin typeface="Arial" panose="020B0604020202020204" pitchFamily="34" charset="0"/>
                <a:cs typeface="Arial" panose="020B0604020202020204" pitchFamily="34" charset="0"/>
              </a:rPr>
              <a:t>sempre</a:t>
            </a:r>
            <a:r>
              <a:rPr lang="it-IT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avanzate</a:t>
            </a:r>
            <a:r>
              <a:rPr lang="it-IT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nel </a:t>
            </a:r>
            <a:r>
              <a:rPr lang="it-IT" spc="35" dirty="0">
                <a:latin typeface="Arial" panose="020B0604020202020204" pitchFamily="34" charset="0"/>
                <a:cs typeface="Arial" panose="020B0604020202020204" pitchFamily="34" charset="0"/>
              </a:rPr>
              <a:t>riconoscimento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5" dirty="0">
                <a:latin typeface="Arial" panose="020B0604020202020204" pitchFamily="34" charset="0"/>
                <a:cs typeface="Arial" panose="020B0604020202020204" pitchFamily="34" charset="0"/>
              </a:rPr>
              <a:t>immagini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voce,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nella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traduzione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automatica,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10" dirty="0">
                <a:latin typeface="Arial" panose="020B0604020202020204" pitchFamily="34" charset="0"/>
                <a:cs typeface="Arial" panose="020B0604020202020204" pitchFamily="34" charset="0"/>
              </a:rPr>
              <a:t>nei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veicoli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45" dirty="0">
                <a:latin typeface="Arial" panose="020B0604020202020204" pitchFamily="34" charset="0"/>
                <a:cs typeface="Arial" panose="020B0604020202020204" pitchFamily="34" charset="0"/>
              </a:rPr>
              <a:t>autonomi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25" dirty="0">
                <a:latin typeface="Arial" panose="020B0604020202020204" pitchFamily="34" charset="0"/>
                <a:cs typeface="Arial" panose="020B0604020202020204" pitchFamily="34" charset="0"/>
              </a:rPr>
              <a:t>molti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pc="5" dirty="0">
                <a:latin typeface="Arial" panose="020B0604020202020204" pitchFamily="34" charset="0"/>
                <a:cs typeface="Arial" panose="020B0604020202020204" pitchFamily="34" charset="0"/>
              </a:rPr>
              <a:t>altri </a:t>
            </a:r>
            <a:r>
              <a:rPr lang="it-IT" spc="30" dirty="0">
                <a:latin typeface="Arial" panose="020B0604020202020204" pitchFamily="34" charset="0"/>
                <a:cs typeface="Arial" panose="020B0604020202020204" pitchFamily="34" charset="0"/>
              </a:rPr>
              <a:t>settor</a:t>
            </a:r>
            <a:r>
              <a:rPr lang="it-IT" spc="1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07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012" y="586339"/>
            <a:ext cx="9099457" cy="4193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8255" indent="-6350" algn="just">
              <a:lnSpc>
                <a:spcPct val="161900"/>
              </a:lnSpc>
              <a:spcBef>
                <a:spcPts val="575"/>
              </a:spcBef>
            </a:pPr>
            <a:r>
              <a:rPr sz="1050" spc="35" dirty="0" err="1" smtClean="0">
                <a:latin typeface="Times New Roman"/>
                <a:cs typeface="Times New Roman"/>
              </a:rPr>
              <a:t>L'evoluzione</a:t>
            </a:r>
            <a:r>
              <a:rPr lang="it-IT" sz="1050" spc="35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dell'Intelligenza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err="1" smtClean="0">
                <a:latin typeface="Times New Roman"/>
                <a:cs typeface="Times New Roman"/>
              </a:rPr>
              <a:t>Artificiale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smtClean="0">
                <a:latin typeface="Times New Roman"/>
                <a:cs typeface="Times New Roman"/>
              </a:rPr>
              <a:t>ha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portato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smtClean="0">
                <a:latin typeface="Times New Roman"/>
                <a:cs typeface="Times New Roman"/>
              </a:rPr>
              <a:t>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notevoli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progressi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applicazioni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pratiche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che</a:t>
            </a:r>
            <a:r>
              <a:rPr sz="1050" spc="15" dirty="0" smtClean="0">
                <a:latin typeface="Times New Roman"/>
                <a:cs typeface="Times New Roman"/>
              </a:rPr>
              <a:t> </a:t>
            </a:r>
            <a:r>
              <a:rPr sz="1050" spc="45" dirty="0" err="1">
                <a:latin typeface="Times New Roman"/>
                <a:cs typeface="Times New Roman"/>
              </a:rPr>
              <a:t>stanno</a:t>
            </a:r>
            <a:r>
              <a:rPr sz="1050" spc="100" dirty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trasformando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err="1" smtClean="0">
                <a:latin typeface="Times New Roman"/>
                <a:cs typeface="Times New Roman"/>
              </a:rPr>
              <a:t>diversi</a:t>
            </a:r>
            <a:r>
              <a:rPr sz="1050" spc="105" dirty="0" smtClean="0">
                <a:latin typeface="Times New Roman"/>
                <a:cs typeface="Times New Roman"/>
              </a:rPr>
              <a:t> </a:t>
            </a:r>
            <a:r>
              <a:rPr sz="1050" spc="25" dirty="0">
                <a:latin typeface="Times New Roman"/>
                <a:cs typeface="Times New Roman"/>
              </a:rPr>
              <a:t>settori,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spc="45" dirty="0" err="1">
                <a:latin typeface="Times New Roman"/>
                <a:cs typeface="Times New Roman"/>
              </a:rPr>
              <a:t>aprendo</a:t>
            </a:r>
            <a:r>
              <a:rPr sz="1050" spc="110" dirty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nuove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err="1" smtClean="0">
                <a:latin typeface="Times New Roman"/>
                <a:cs typeface="Times New Roman"/>
              </a:rPr>
              <a:t>opportunità</a:t>
            </a:r>
            <a:r>
              <a:rPr sz="1050" spc="125" dirty="0" smtClean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e</a:t>
            </a:r>
            <a:r>
              <a:rPr sz="1050" spc="80" dirty="0">
                <a:latin typeface="Times New Roman"/>
                <a:cs typeface="Times New Roman"/>
              </a:rPr>
              <a:t> </a:t>
            </a:r>
            <a:r>
              <a:rPr sz="1050" spc="15" dirty="0">
                <a:latin typeface="Times New Roman"/>
                <a:cs typeface="Times New Roman"/>
              </a:rPr>
              <a:t>sfide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050" spc="5" dirty="0" err="1">
                <a:latin typeface="Times New Roman"/>
                <a:cs typeface="Times New Roman"/>
              </a:rPr>
              <a:t>nel</a:t>
            </a:r>
            <a:r>
              <a:rPr sz="1050" spc="95" dirty="0">
                <a:latin typeface="Times New Roman"/>
                <a:cs typeface="Times New Roman"/>
              </a:rPr>
              <a:t> </a:t>
            </a:r>
            <a:r>
              <a:rPr sz="1050" spc="60" dirty="0" err="1" smtClean="0">
                <a:latin typeface="Times New Roman"/>
                <a:cs typeface="Times New Roman"/>
              </a:rPr>
              <a:t>mondo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0" dirty="0" err="1" smtClean="0">
                <a:latin typeface="Times New Roman"/>
                <a:cs typeface="Times New Roman"/>
              </a:rPr>
              <a:t>moderno</a:t>
            </a:r>
            <a:r>
              <a:rPr sz="1050" spc="50" dirty="0">
                <a:latin typeface="Times New Roman"/>
                <a:cs typeface="Times New Roman"/>
              </a:rPr>
              <a:t>.</a:t>
            </a:r>
            <a:endParaRPr sz="1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38125" algn="just">
              <a:lnSpc>
                <a:spcPct val="100000"/>
              </a:lnSpc>
            </a:pPr>
            <a:r>
              <a:rPr sz="1100" b="1" spc="30" dirty="0" err="1">
                <a:latin typeface="Times New Roman"/>
                <a:cs typeface="Times New Roman"/>
              </a:rPr>
              <a:t>Dalla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spc="25" dirty="0" err="1" smtClean="0">
                <a:latin typeface="Times New Roman"/>
                <a:cs typeface="Times New Roman"/>
              </a:rPr>
              <a:t>Classificazione</a:t>
            </a:r>
            <a:r>
              <a:rPr lang="it-IT" sz="1100" b="1" dirty="0" smtClean="0">
                <a:latin typeface="Times New Roman"/>
                <a:cs typeface="Times New Roman"/>
              </a:rPr>
              <a:t> </a:t>
            </a:r>
            <a:r>
              <a:rPr sz="1100" b="1" spc="5" dirty="0" err="1" smtClean="0">
                <a:latin typeface="Times New Roman"/>
                <a:cs typeface="Times New Roman"/>
              </a:rPr>
              <a:t>all</a:t>
            </a:r>
            <a:r>
              <a:rPr sz="1100" b="1" spc="-90" dirty="0" err="1" smtClean="0">
                <a:latin typeface="Times New Roman"/>
                <a:cs typeface="Times New Roman"/>
              </a:rPr>
              <a:t>'</a:t>
            </a:r>
            <a:r>
              <a:rPr sz="1100" b="1" spc="25" dirty="0" err="1" smtClean="0">
                <a:latin typeface="Times New Roman"/>
                <a:cs typeface="Times New Roman"/>
              </a:rPr>
              <a:t>Apprendimento</a:t>
            </a:r>
            <a:r>
              <a:rPr sz="1100" b="1" spc="105" dirty="0" smtClean="0">
                <a:latin typeface="Times New Roman"/>
                <a:cs typeface="Times New Roman"/>
              </a:rPr>
              <a:t> </a:t>
            </a:r>
            <a:r>
              <a:rPr sz="1100" b="1" spc="30" dirty="0">
                <a:latin typeface="Times New Roman"/>
                <a:cs typeface="Times New Roman"/>
              </a:rPr>
              <a:t>Automatico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234950" algn="just">
              <a:lnSpc>
                <a:spcPct val="100000"/>
              </a:lnSpc>
            </a:pPr>
            <a:r>
              <a:rPr sz="1050" spc="55" dirty="0">
                <a:latin typeface="Times New Roman"/>
                <a:cs typeface="Times New Roman"/>
              </a:rPr>
              <a:t>L'IA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050" spc="50" dirty="0" err="1" smtClean="0">
                <a:latin typeface="Times New Roman"/>
                <a:cs typeface="Times New Roman"/>
              </a:rPr>
              <a:t>può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essere</a:t>
            </a:r>
            <a:r>
              <a:rPr sz="1050" spc="114" dirty="0" smtClean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divisa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in</a:t>
            </a:r>
            <a:r>
              <a:rPr sz="1050" spc="95" dirty="0">
                <a:latin typeface="Times New Roman"/>
                <a:cs typeface="Times New Roman"/>
              </a:rPr>
              <a:t> </a:t>
            </a:r>
            <a:r>
              <a:rPr sz="1050" spc="30" dirty="0">
                <a:latin typeface="Times New Roman"/>
                <a:cs typeface="Times New Roman"/>
              </a:rPr>
              <a:t>due</a:t>
            </a:r>
            <a:r>
              <a:rPr sz="1050" spc="105" dirty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categorie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0" dirty="0" err="1" smtClean="0">
                <a:latin typeface="Times New Roman"/>
                <a:cs typeface="Times New Roman"/>
              </a:rPr>
              <a:t>principali</a:t>
            </a:r>
            <a:r>
              <a:rPr sz="1050" spc="10" dirty="0">
                <a:latin typeface="Times New Roman"/>
                <a:cs typeface="Times New Roman"/>
              </a:rPr>
              <a:t>:</a:t>
            </a:r>
            <a:endParaRPr sz="1050" dirty="0">
              <a:latin typeface="Times New Roman"/>
              <a:cs typeface="Times New Roman"/>
            </a:endParaRPr>
          </a:p>
          <a:p>
            <a:pPr marL="509270" marR="5080" lvl="1" indent="-225425">
              <a:lnSpc>
                <a:spcPct val="156500"/>
              </a:lnSpc>
              <a:spcBef>
                <a:spcPts val="585"/>
              </a:spcBef>
              <a:buClr>
                <a:srgbClr val="231F21"/>
              </a:buClr>
              <a:buFont typeface="Times New Roman"/>
              <a:buChar char="•"/>
              <a:tabLst>
                <a:tab pos="513080" algn="l"/>
              </a:tabLst>
            </a:pPr>
            <a:r>
              <a:rPr sz="1100" b="1" spc="5" dirty="0">
                <a:latin typeface="Times New Roman"/>
                <a:cs typeface="Times New Roman"/>
              </a:rPr>
              <a:t>IA</a:t>
            </a:r>
            <a:r>
              <a:rPr sz="1100" b="1" spc="120" dirty="0">
                <a:latin typeface="Times New Roman"/>
                <a:cs typeface="Times New Roman"/>
              </a:rPr>
              <a:t> </a:t>
            </a:r>
            <a:r>
              <a:rPr sz="1100" b="1" spc="25" dirty="0" err="1">
                <a:latin typeface="Times New Roman"/>
                <a:cs typeface="Times New Roman"/>
              </a:rPr>
              <a:t>debole</a:t>
            </a:r>
            <a:r>
              <a:rPr sz="1100" b="1" spc="25" dirty="0" smtClean="0">
                <a:latin typeface="Times New Roman"/>
                <a:cs typeface="Times New Roman"/>
              </a:rPr>
              <a:t>,</a:t>
            </a:r>
            <a:r>
              <a:rPr lang="it-IT" sz="1100" b="1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che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-15" dirty="0" err="1" smtClean="0">
                <a:latin typeface="Times New Roman"/>
                <a:cs typeface="Times New Roman"/>
              </a:rPr>
              <a:t>si</a:t>
            </a:r>
            <a:r>
              <a:rPr sz="1050" spc="80" dirty="0" smtClean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concentra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su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applicazioni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specifiche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e</a:t>
            </a:r>
            <a:r>
              <a:rPr sz="1050" spc="105" dirty="0" smtClean="0">
                <a:latin typeface="Times New Roman"/>
                <a:cs typeface="Times New Roman"/>
              </a:rPr>
              <a:t> </a:t>
            </a:r>
            <a:r>
              <a:rPr sz="1050" spc="15" dirty="0" err="1">
                <a:latin typeface="Times New Roman"/>
                <a:cs typeface="Times New Roman"/>
              </a:rPr>
              <a:t>limitate</a:t>
            </a:r>
            <a:r>
              <a:rPr sz="1050" spc="1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smtClean="0">
                <a:latin typeface="Times New Roman"/>
                <a:cs typeface="Times New Roman"/>
              </a:rPr>
              <a:t>come</a:t>
            </a:r>
            <a:r>
              <a:rPr sz="1050" spc="114" dirty="0" smtClean="0">
                <a:latin typeface="Times New Roman"/>
                <a:cs typeface="Times New Roman"/>
              </a:rPr>
              <a:t> </a:t>
            </a:r>
            <a:r>
              <a:rPr sz="1050" spc="-25" dirty="0" err="1">
                <a:latin typeface="Times New Roman"/>
                <a:cs typeface="Times New Roman"/>
              </a:rPr>
              <a:t>il</a:t>
            </a:r>
            <a:r>
              <a:rPr sz="1050" spc="105" dirty="0">
                <a:latin typeface="Times New Roman"/>
                <a:cs typeface="Times New Roman"/>
              </a:rPr>
              <a:t> </a:t>
            </a:r>
            <a:r>
              <a:rPr sz="1050" spc="35" dirty="0" err="1" smtClean="0">
                <a:latin typeface="Times New Roman"/>
                <a:cs typeface="Times New Roman"/>
              </a:rPr>
              <a:t>riconoscimento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vocale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smtClean="0">
                <a:latin typeface="Times New Roman"/>
                <a:cs typeface="Times New Roman"/>
              </a:rPr>
              <a:t>o</a:t>
            </a:r>
            <a:r>
              <a:rPr sz="1050" spc="20" dirty="0" smtClean="0">
                <a:latin typeface="Times New Roman"/>
                <a:cs typeface="Times New Roman"/>
              </a:rPr>
              <a:t> </a:t>
            </a:r>
            <a:r>
              <a:rPr sz="1050" spc="10" dirty="0">
                <a:latin typeface="Times New Roman"/>
                <a:cs typeface="Times New Roman"/>
              </a:rPr>
              <a:t>l'analisi</a:t>
            </a:r>
            <a:r>
              <a:rPr sz="1050" spc="110" dirty="0">
                <a:latin typeface="Times New Roman"/>
                <a:cs typeface="Times New Roman"/>
              </a:rPr>
              <a:t> </a:t>
            </a:r>
            <a:r>
              <a:rPr sz="1050" spc="10" dirty="0">
                <a:latin typeface="Times New Roman"/>
                <a:cs typeface="Times New Roman"/>
              </a:rPr>
              <a:t>dei</a:t>
            </a:r>
            <a:r>
              <a:rPr sz="1050" spc="85" dirty="0">
                <a:latin typeface="Times New Roman"/>
                <a:cs typeface="Times New Roman"/>
              </a:rPr>
              <a:t> </a:t>
            </a:r>
            <a:r>
              <a:rPr sz="1050" spc="10" dirty="0">
                <a:latin typeface="Times New Roman"/>
                <a:cs typeface="Times New Roman"/>
              </a:rPr>
              <a:t>dati.</a:t>
            </a:r>
            <a:endParaRPr sz="105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1"/>
              </a:spcBef>
              <a:buClr>
                <a:srgbClr val="231F21"/>
              </a:buClr>
              <a:buFont typeface="Times New Roman"/>
              <a:buChar char="•"/>
            </a:pPr>
            <a:endParaRPr sz="1100" dirty="0">
              <a:latin typeface="Times New Roman"/>
              <a:cs typeface="Times New Roman"/>
            </a:endParaRPr>
          </a:p>
          <a:p>
            <a:pPr marL="512445" lvl="1" indent="-228600" algn="just">
              <a:lnSpc>
                <a:spcPct val="100000"/>
              </a:lnSpc>
              <a:buClr>
                <a:srgbClr val="231F21"/>
              </a:buClr>
              <a:buFont typeface="Times New Roman"/>
              <a:buChar char="•"/>
              <a:tabLst>
                <a:tab pos="513080" algn="l"/>
              </a:tabLst>
            </a:pPr>
            <a:r>
              <a:rPr sz="1100" b="1" spc="5" dirty="0">
                <a:latin typeface="Times New Roman"/>
                <a:cs typeface="Times New Roman"/>
              </a:rPr>
              <a:t>IA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5" dirty="0">
                <a:latin typeface="Times New Roman"/>
                <a:cs typeface="Times New Roman"/>
              </a:rPr>
              <a:t>forte,</a:t>
            </a:r>
            <a:r>
              <a:rPr sz="1100" b="1" spc="95" dirty="0">
                <a:latin typeface="Times New Roman"/>
                <a:cs typeface="Times New Roman"/>
              </a:rPr>
              <a:t> </a:t>
            </a:r>
            <a:r>
              <a:rPr sz="1050" spc="25" dirty="0">
                <a:latin typeface="Times New Roman"/>
                <a:cs typeface="Times New Roman"/>
              </a:rPr>
              <a:t>che</a:t>
            </a:r>
            <a:r>
              <a:rPr sz="1050" spc="75" dirty="0">
                <a:latin typeface="Times New Roman"/>
                <a:cs typeface="Times New Roman"/>
              </a:rPr>
              <a:t> </a:t>
            </a:r>
            <a:r>
              <a:rPr sz="1050" spc="15" dirty="0">
                <a:latin typeface="Times New Roman"/>
                <a:cs typeface="Times New Roman"/>
              </a:rPr>
              <a:t>mira</a:t>
            </a:r>
            <a:r>
              <a:rPr sz="1050" spc="95" dirty="0">
                <a:latin typeface="Times New Roman"/>
                <a:cs typeface="Times New Roman"/>
              </a:rPr>
              <a:t> </a:t>
            </a:r>
            <a:r>
              <a:rPr sz="1050" spc="15" dirty="0">
                <a:latin typeface="Times New Roman"/>
                <a:cs typeface="Times New Roman"/>
              </a:rPr>
              <a:t>a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050" spc="20" dirty="0" err="1">
                <a:latin typeface="Times New Roman"/>
                <a:cs typeface="Times New Roman"/>
              </a:rPr>
              <a:t>creare</a:t>
            </a:r>
            <a:r>
              <a:rPr sz="1050" spc="45" dirty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un'intelligenza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generativa</a:t>
            </a:r>
            <a:r>
              <a:rPr sz="1050" spc="10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paragonabile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smtClean="0">
                <a:latin typeface="Times New Roman"/>
                <a:cs typeface="Times New Roman"/>
              </a:rPr>
              <a:t>a</a:t>
            </a:r>
            <a:r>
              <a:rPr sz="1050" spc="65" dirty="0" smtClean="0">
                <a:latin typeface="Times New Roman"/>
                <a:cs typeface="Times New Roman"/>
              </a:rPr>
              <a:t> </a:t>
            </a:r>
            <a:r>
              <a:rPr sz="1050" spc="5" dirty="0">
                <a:latin typeface="Times New Roman"/>
                <a:cs typeface="Times New Roman"/>
              </a:rPr>
              <a:t>quella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spc="35" dirty="0">
                <a:latin typeface="Times New Roman"/>
                <a:cs typeface="Times New Roman"/>
              </a:rPr>
              <a:t>umana.</a:t>
            </a:r>
            <a:endParaRPr sz="1050" dirty="0">
              <a:latin typeface="Times New Roman"/>
              <a:cs typeface="Times New Roman"/>
            </a:endParaRPr>
          </a:p>
          <a:p>
            <a:pPr marL="238125" marR="5080" indent="-3175" algn="just">
              <a:lnSpc>
                <a:spcPct val="160600"/>
              </a:lnSpc>
              <a:spcBef>
                <a:spcPts val="580"/>
              </a:spcBef>
            </a:pPr>
            <a:r>
              <a:rPr sz="1050" spc="25" dirty="0" err="1" smtClean="0">
                <a:latin typeface="Times New Roman"/>
                <a:cs typeface="Times New Roman"/>
              </a:rPr>
              <a:t>L'Intelligenza</a:t>
            </a:r>
            <a:r>
              <a:rPr lang="it-IT" sz="1050" spc="25" dirty="0" smtClean="0">
                <a:latin typeface="Times New Roman"/>
                <a:cs typeface="Times New Roman"/>
              </a:rPr>
              <a:t> </a:t>
            </a:r>
            <a:r>
              <a:rPr sz="1050" dirty="0" err="1" smtClean="0">
                <a:latin typeface="Times New Roman"/>
                <a:cs typeface="Times New Roman"/>
              </a:rPr>
              <a:t>Artificiale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0" dirty="0" err="1" smtClean="0">
                <a:latin typeface="Times New Roman"/>
                <a:cs typeface="Times New Roman"/>
              </a:rPr>
              <a:t>utilizza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smtClean="0">
                <a:latin typeface="Times New Roman"/>
                <a:cs typeface="Times New Roman"/>
              </a:rPr>
              <a:t>diverse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tecniche</a:t>
            </a:r>
            <a:r>
              <a:rPr sz="1050" spc="2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0" dirty="0" err="1" smtClean="0">
                <a:latin typeface="Times New Roman"/>
                <a:cs typeface="Times New Roman"/>
              </a:rPr>
              <a:t>tra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0" dirty="0" smtClean="0">
                <a:latin typeface="Times New Roman"/>
                <a:cs typeface="Times New Roman"/>
              </a:rPr>
              <a:t>cui</a:t>
            </a:r>
            <a:r>
              <a:rPr sz="1050" spc="105" dirty="0" smtClean="0">
                <a:latin typeface="Times New Roman"/>
                <a:cs typeface="Times New Roman"/>
              </a:rPr>
              <a:t> </a:t>
            </a:r>
            <a:r>
              <a:rPr sz="1050" spc="-25" dirty="0" err="1">
                <a:latin typeface="Times New Roman"/>
                <a:cs typeface="Times New Roman"/>
              </a:rPr>
              <a:t>il</a:t>
            </a:r>
            <a:r>
              <a:rPr sz="1050" spc="105" dirty="0">
                <a:latin typeface="Times New Roman"/>
                <a:cs typeface="Times New Roman"/>
              </a:rPr>
              <a:t> </a:t>
            </a:r>
            <a:r>
              <a:rPr sz="1050" spc="35" dirty="0" smtClean="0">
                <a:latin typeface="Times New Roman"/>
                <a:cs typeface="Times New Roman"/>
              </a:rPr>
              <a:t>machine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leaming</a:t>
            </a:r>
            <a:r>
              <a:rPr sz="1050" spc="2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che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consente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-25" dirty="0" err="1" smtClean="0">
                <a:latin typeface="Times New Roman"/>
                <a:cs typeface="Times New Roman"/>
              </a:rPr>
              <a:t>ai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sistemi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smtClean="0">
                <a:latin typeface="Times New Roman"/>
                <a:cs typeface="Times New Roman"/>
              </a:rPr>
              <a:t>di </a:t>
            </a:r>
            <a:r>
              <a:rPr sz="1050" spc="30" dirty="0" err="1" smtClean="0">
                <a:latin typeface="Times New Roman"/>
                <a:cs typeface="Times New Roman"/>
              </a:rPr>
              <a:t>imparare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0" dirty="0" err="1" smtClean="0">
                <a:latin typeface="Times New Roman"/>
                <a:cs typeface="Times New Roman"/>
              </a:rPr>
              <a:t>dai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dati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0" dirty="0" err="1" smtClean="0">
                <a:latin typeface="Times New Roman"/>
                <a:cs typeface="Times New Roman"/>
              </a:rPr>
              <a:t>migliorare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le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prestazioni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err="1" smtClean="0">
                <a:latin typeface="Times New Roman"/>
                <a:cs typeface="Times New Roman"/>
              </a:rPr>
              <a:t>nel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5" dirty="0" smtClean="0">
                <a:latin typeface="Times New Roman"/>
                <a:cs typeface="Times New Roman"/>
              </a:rPr>
              <a:t>tempo.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Alcuni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algoritmi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smtClean="0">
                <a:latin typeface="Times New Roman"/>
                <a:cs typeface="Times New Roman"/>
              </a:rPr>
              <a:t>di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smtClean="0">
                <a:latin typeface="Times New Roman"/>
                <a:cs typeface="Times New Roman"/>
              </a:rPr>
              <a:t>machine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leaming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comuni</a:t>
            </a:r>
            <a:r>
              <a:rPr sz="1050" spc="20" dirty="0" smtClean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includono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0" dirty="0" err="1" smtClean="0">
                <a:latin typeface="Times New Roman"/>
                <a:cs typeface="Times New Roman"/>
              </a:rPr>
              <a:t>reti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neurali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err="1" smtClean="0">
                <a:latin typeface="Times New Roman"/>
                <a:cs typeface="Times New Roman"/>
              </a:rPr>
              <a:t>artificiali</a:t>
            </a:r>
            <a:r>
              <a:rPr sz="1050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alberi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decisionali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algoritmi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smtClean="0">
                <a:latin typeface="Times New Roman"/>
                <a:cs typeface="Times New Roman"/>
              </a:rPr>
              <a:t>di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err="1" smtClean="0">
                <a:latin typeface="Times New Roman"/>
                <a:cs typeface="Times New Roman"/>
              </a:rPr>
              <a:t>apprendimento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supervisionato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60" dirty="0" smtClean="0">
                <a:latin typeface="Times New Roman"/>
                <a:cs typeface="Times New Roman"/>
              </a:rPr>
              <a:t>non</a:t>
            </a:r>
            <a:r>
              <a:rPr sz="1050" spc="30" dirty="0" smtClean="0">
                <a:latin typeface="Times New Roman"/>
                <a:cs typeface="Times New Roman"/>
              </a:rPr>
              <a:t> </a:t>
            </a:r>
            <a:r>
              <a:rPr sz="1050" spc="30" dirty="0">
                <a:latin typeface="Times New Roman"/>
                <a:cs typeface="Times New Roman"/>
              </a:rPr>
              <a:t>supervisionato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spc="10" dirty="0">
                <a:latin typeface="Times New Roman"/>
                <a:cs typeface="Times New Roman"/>
              </a:rPr>
              <a:t>.</a:t>
            </a:r>
            <a:endParaRPr sz="1050" dirty="0">
              <a:latin typeface="Times New Roman"/>
              <a:cs typeface="Times New Roman"/>
            </a:endParaRPr>
          </a:p>
          <a:p>
            <a:pPr marL="238125" marR="6350" indent="-3175" algn="just">
              <a:lnSpc>
                <a:spcPct val="161000"/>
              </a:lnSpc>
              <a:spcBef>
                <a:spcPts val="585"/>
              </a:spcBef>
            </a:pPr>
            <a:r>
              <a:rPr sz="1050" spc="45" dirty="0" err="1" smtClean="0">
                <a:latin typeface="Times New Roman"/>
                <a:cs typeface="Times New Roman"/>
              </a:rPr>
              <a:t>L'apprendimento</a:t>
            </a:r>
            <a:r>
              <a:rPr lang="it-IT" sz="1050" spc="45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automatico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richiede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5" dirty="0" smtClean="0">
                <a:latin typeface="Times New Roman"/>
                <a:cs typeface="Times New Roman"/>
              </a:rPr>
              <a:t>un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ampio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5" dirty="0" smtClean="0">
                <a:latin typeface="Times New Roman"/>
                <a:cs typeface="Times New Roman"/>
              </a:rPr>
              <a:t>set</a:t>
            </a:r>
            <a:r>
              <a:rPr sz="1050" spc="110" dirty="0" smtClean="0">
                <a:latin typeface="Times New Roman"/>
                <a:cs typeface="Times New Roman"/>
              </a:rPr>
              <a:t> </a:t>
            </a:r>
            <a:r>
              <a:rPr sz="1050" spc="5" dirty="0">
                <a:latin typeface="Times New Roman"/>
                <a:cs typeface="Times New Roman"/>
              </a:rPr>
              <a:t>di</a:t>
            </a:r>
            <a:r>
              <a:rPr sz="1050" spc="120" dirty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dati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smtClean="0">
                <a:latin typeface="Times New Roman"/>
                <a:cs typeface="Times New Roman"/>
              </a:rPr>
              <a:t>di</a:t>
            </a:r>
            <a:r>
              <a:rPr sz="1050" spc="95" dirty="0" smtClean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addestramento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smtClean="0">
                <a:latin typeface="Times New Roman"/>
                <a:cs typeface="Times New Roman"/>
              </a:rPr>
              <a:t>per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riconoscere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modelli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e </a:t>
            </a:r>
            <a:r>
              <a:rPr sz="1050" spc="30" dirty="0" err="1" smtClean="0">
                <a:latin typeface="Times New Roman"/>
                <a:cs typeface="Times New Roman"/>
              </a:rPr>
              <a:t>formulare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previsioni</a:t>
            </a:r>
            <a:r>
              <a:rPr sz="1050" spc="15" dirty="0" smtClean="0">
                <a:latin typeface="Times New Roman"/>
                <a:cs typeface="Times New Roman"/>
              </a:rPr>
              <a:t>.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err="1" smtClean="0">
                <a:latin typeface="Times New Roman"/>
                <a:cs typeface="Times New Roman"/>
              </a:rPr>
              <a:t>L'addestramento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smtClean="0">
                <a:latin typeface="Times New Roman"/>
                <a:cs typeface="Times New Roman"/>
              </a:rPr>
              <a:t>di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5" dirty="0" smtClean="0">
                <a:latin typeface="Times New Roman"/>
                <a:cs typeface="Times New Roman"/>
              </a:rPr>
              <a:t>un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modello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0" dirty="0" err="1" smtClean="0">
                <a:latin typeface="Times New Roman"/>
                <a:cs typeface="Times New Roman"/>
              </a:rPr>
              <a:t>può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avvenire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attraverso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l'apprendimento</a:t>
            </a:r>
            <a:r>
              <a:rPr sz="1050" spc="20" dirty="0" smtClean="0">
                <a:latin typeface="Times New Roman"/>
                <a:cs typeface="Times New Roman"/>
              </a:rPr>
              <a:t> </a:t>
            </a:r>
            <a:r>
              <a:rPr sz="1050" spc="25" dirty="0" err="1">
                <a:latin typeface="Times New Roman"/>
                <a:cs typeface="Times New Roman"/>
              </a:rPr>
              <a:t>supervisionato</a:t>
            </a:r>
            <a:r>
              <a:rPr sz="1050" spc="2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smtClean="0">
                <a:latin typeface="Times New Roman"/>
                <a:cs typeface="Times New Roman"/>
              </a:rPr>
              <a:t>in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-5" dirty="0" smtClean="0">
                <a:latin typeface="Times New Roman"/>
                <a:cs typeface="Times New Roman"/>
              </a:rPr>
              <a:t>cui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err="1" smtClean="0">
                <a:latin typeface="Times New Roman"/>
                <a:cs typeface="Times New Roman"/>
              </a:rPr>
              <a:t>vengono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5" dirty="0" err="1" smtClean="0">
                <a:latin typeface="Times New Roman"/>
                <a:cs typeface="Times New Roman"/>
              </a:rPr>
              <a:t>fomiti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dati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smtClean="0">
                <a:latin typeface="Times New Roman"/>
                <a:cs typeface="Times New Roman"/>
              </a:rPr>
              <a:t>di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smtClean="0">
                <a:latin typeface="Times New Roman"/>
                <a:cs typeface="Times New Roman"/>
              </a:rPr>
              <a:t>input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5" dirty="0" smtClean="0">
                <a:latin typeface="Times New Roman"/>
                <a:cs typeface="Times New Roman"/>
              </a:rPr>
              <a:t>output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5" dirty="0" err="1" smtClean="0">
                <a:latin typeface="Times New Roman"/>
                <a:cs typeface="Times New Roman"/>
              </a:rPr>
              <a:t>corrispondenti</a:t>
            </a:r>
            <a:r>
              <a:rPr sz="1050" spc="3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smtClean="0">
                <a:latin typeface="Times New Roman"/>
                <a:cs typeface="Times New Roman"/>
              </a:rPr>
              <a:t>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attraverso</a:t>
            </a:r>
            <a:r>
              <a:rPr sz="1050" spc="20" dirty="0" smtClean="0">
                <a:latin typeface="Times New Roman"/>
                <a:cs typeface="Times New Roman"/>
              </a:rPr>
              <a:t> </a:t>
            </a:r>
            <a:r>
              <a:rPr sz="1050" spc="45" dirty="0" err="1" smtClean="0">
                <a:latin typeface="Times New Roman"/>
                <a:cs typeface="Times New Roman"/>
              </a:rPr>
              <a:t>l'apprendimento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60" dirty="0" smtClean="0">
                <a:latin typeface="Times New Roman"/>
                <a:cs typeface="Times New Roman"/>
              </a:rPr>
              <a:t>non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supervisionato</a:t>
            </a:r>
            <a:r>
              <a:rPr sz="1050" spc="2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smtClean="0">
                <a:latin typeface="Times New Roman"/>
                <a:cs typeface="Times New Roman"/>
              </a:rPr>
              <a:t>in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cui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-25" dirty="0" err="1" smtClean="0">
                <a:latin typeface="Times New Roman"/>
                <a:cs typeface="Times New Roman"/>
              </a:rPr>
              <a:t>il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modello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cerca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smtClean="0">
                <a:latin typeface="Times New Roman"/>
                <a:cs typeface="Times New Roman"/>
              </a:rPr>
              <a:t>di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scoprire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smtClean="0">
                <a:latin typeface="Times New Roman"/>
                <a:cs typeface="Times New Roman"/>
              </a:rPr>
              <a:t>pattern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senza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0" dirty="0" err="1" smtClean="0">
                <a:latin typeface="Times New Roman"/>
                <a:cs typeface="Times New Roman"/>
              </a:rPr>
              <a:t>dati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smtClean="0">
                <a:latin typeface="Times New Roman"/>
                <a:cs typeface="Times New Roman"/>
              </a:rPr>
              <a:t>di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5" dirty="0" smtClean="0">
                <a:latin typeface="Times New Roman"/>
                <a:cs typeface="Times New Roman"/>
              </a:rPr>
              <a:t>output</a:t>
            </a:r>
            <a:r>
              <a:rPr sz="1050" spc="30" dirty="0" smtClean="0">
                <a:latin typeface="Times New Roman"/>
                <a:cs typeface="Times New Roman"/>
              </a:rPr>
              <a:t> </a:t>
            </a:r>
            <a:r>
              <a:rPr sz="1050" spc="25" dirty="0">
                <a:latin typeface="Times New Roman"/>
                <a:cs typeface="Times New Roman"/>
              </a:rPr>
              <a:t>etichettati.</a:t>
            </a:r>
            <a:endParaRPr sz="1050" dirty="0">
              <a:latin typeface="Times New Roman"/>
              <a:cs typeface="Times New Roman"/>
            </a:endParaRPr>
          </a:p>
          <a:p>
            <a:pPr marL="238125" marR="12065" indent="-3175" algn="just">
              <a:lnSpc>
                <a:spcPct val="161000"/>
              </a:lnSpc>
              <a:spcBef>
                <a:spcPts val="560"/>
              </a:spcBef>
            </a:pPr>
            <a:r>
              <a:rPr sz="1050" spc="55" dirty="0" smtClean="0">
                <a:latin typeface="Times New Roman"/>
                <a:cs typeface="Times New Roman"/>
              </a:rPr>
              <a:t>L'IA</a:t>
            </a:r>
            <a:r>
              <a:rPr lang="it-IT" sz="1050" spc="55" dirty="0" smtClean="0">
                <a:latin typeface="Times New Roman"/>
                <a:cs typeface="Times New Roman"/>
              </a:rPr>
              <a:t> </a:t>
            </a:r>
            <a:r>
              <a:rPr sz="1050" spc="50" dirty="0" err="1" smtClean="0">
                <a:latin typeface="Times New Roman"/>
                <a:cs typeface="Times New Roman"/>
              </a:rPr>
              <a:t>può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essere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implementata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smtClean="0">
                <a:latin typeface="Times New Roman"/>
                <a:cs typeface="Times New Roman"/>
              </a:rPr>
              <a:t>in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5" dirty="0" err="1" smtClean="0">
                <a:latin typeface="Times New Roman"/>
                <a:cs typeface="Times New Roman"/>
              </a:rPr>
              <a:t>vari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settori</a:t>
            </a:r>
            <a:r>
              <a:rPr sz="1050" spc="2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smtClean="0">
                <a:latin typeface="Times New Roman"/>
                <a:cs typeface="Times New Roman"/>
              </a:rPr>
              <a:t>come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la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sanità</a:t>
            </a:r>
            <a:r>
              <a:rPr sz="1050" spc="1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5" dirty="0" err="1" smtClean="0">
                <a:latin typeface="Times New Roman"/>
                <a:cs typeface="Times New Roman"/>
              </a:rPr>
              <a:t>l'automazione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industriale</a:t>
            </a:r>
            <a:r>
              <a:rPr sz="1050" spc="1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-35" dirty="0" err="1" smtClean="0">
                <a:latin typeface="Times New Roman"/>
                <a:cs typeface="Times New Roman"/>
              </a:rPr>
              <a:t>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0" dirty="0" err="1" smtClean="0">
                <a:latin typeface="Times New Roman"/>
                <a:cs typeface="Times New Roman"/>
              </a:rPr>
              <a:t>veicoli</a:t>
            </a:r>
            <a:r>
              <a:rPr sz="1050" spc="5" dirty="0" smtClean="0">
                <a:latin typeface="Times New Roman"/>
                <a:cs typeface="Times New Roman"/>
              </a:rPr>
              <a:t> </a:t>
            </a:r>
            <a:r>
              <a:rPr sz="1050" spc="45" dirty="0" err="1" smtClean="0">
                <a:latin typeface="Times New Roman"/>
                <a:cs typeface="Times New Roman"/>
              </a:rPr>
              <a:t>autonomi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smtClean="0">
                <a:latin typeface="Times New Roman"/>
                <a:cs typeface="Times New Roman"/>
              </a:rPr>
              <a:t>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-35" dirty="0" err="1" smtClean="0">
                <a:latin typeface="Times New Roman"/>
                <a:cs typeface="Times New Roman"/>
              </a:rPr>
              <a:t>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0" dirty="0" err="1" smtClean="0">
                <a:latin typeface="Times New Roman"/>
                <a:cs typeface="Times New Roman"/>
              </a:rPr>
              <a:t>sistemi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-10" dirty="0" smtClean="0">
                <a:latin typeface="Times New Roman"/>
                <a:cs typeface="Times New Roman"/>
              </a:rPr>
              <a:t>di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raccomandazione</a:t>
            </a:r>
            <a:r>
              <a:rPr sz="1050" spc="30" dirty="0" smtClean="0">
                <a:latin typeface="Times New Roman"/>
                <a:cs typeface="Times New Roman"/>
              </a:rPr>
              <a:t>.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Tuttavia</a:t>
            </a:r>
            <a:r>
              <a:rPr sz="1050" spc="2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0" dirty="0" err="1" smtClean="0">
                <a:latin typeface="Times New Roman"/>
                <a:cs typeface="Times New Roman"/>
              </a:rPr>
              <a:t>l'IA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0" dirty="0" err="1" smtClean="0">
                <a:latin typeface="Times New Roman"/>
                <a:cs typeface="Times New Roman"/>
              </a:rPr>
              <a:t>presenta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35" dirty="0" err="1" smtClean="0">
                <a:latin typeface="Times New Roman"/>
                <a:cs typeface="Times New Roman"/>
              </a:rPr>
              <a:t>anche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15" dirty="0" err="1" smtClean="0">
                <a:latin typeface="Times New Roman"/>
                <a:cs typeface="Times New Roman"/>
              </a:rPr>
              <a:t>sfide</a:t>
            </a:r>
            <a:r>
              <a:rPr sz="1050" spc="15" dirty="0" smtClean="0">
                <a:latin typeface="Times New Roman"/>
                <a:cs typeface="Times New Roman"/>
              </a:rPr>
              <a:t>,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45" dirty="0" smtClean="0">
                <a:latin typeface="Times New Roman"/>
                <a:cs typeface="Times New Roman"/>
              </a:rPr>
              <a:t>come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-15" dirty="0" smtClean="0">
                <a:latin typeface="Times New Roman"/>
                <a:cs typeface="Times New Roman"/>
              </a:rPr>
              <a:t>la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spc="25" dirty="0" err="1" smtClean="0">
                <a:latin typeface="Times New Roman"/>
                <a:cs typeface="Times New Roman"/>
              </a:rPr>
              <a:t>trasparenza</a:t>
            </a:r>
            <a:r>
              <a:rPr sz="1050" spc="25" dirty="0">
                <a:latin typeface="Times New Roman"/>
                <a:cs typeface="Times New Roman"/>
              </a:rPr>
              <a:t>,</a:t>
            </a:r>
            <a:r>
              <a:rPr sz="1050" spc="20" dirty="0">
                <a:latin typeface="Times New Roman"/>
                <a:cs typeface="Times New Roman"/>
              </a:rPr>
              <a:t> l'etica</a:t>
            </a:r>
            <a:r>
              <a:rPr sz="1050" spc="8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e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spc="35" dirty="0" err="1" smtClean="0">
                <a:latin typeface="Times New Roman"/>
                <a:cs typeface="Times New Roman"/>
              </a:rPr>
              <a:t>l'impatto</a:t>
            </a:r>
            <a:r>
              <a:rPr lang="it-IT" sz="1050" dirty="0" smtClean="0">
                <a:latin typeface="Times New Roman"/>
                <a:cs typeface="Times New Roman"/>
              </a:rPr>
              <a:t> </a:t>
            </a:r>
            <a:r>
              <a:rPr sz="1050" dirty="0" err="1" smtClean="0">
                <a:latin typeface="Times New Roman"/>
                <a:cs typeface="Times New Roman"/>
              </a:rPr>
              <a:t>social</a:t>
            </a:r>
            <a:r>
              <a:rPr sz="1050" spc="100" dirty="0" err="1" smtClean="0">
                <a:latin typeface="Times New Roman"/>
                <a:cs typeface="Times New Roman"/>
              </a:rPr>
              <a:t>e</a:t>
            </a:r>
            <a:r>
              <a:rPr sz="1050" spc="10" dirty="0">
                <a:latin typeface="Times New Roman"/>
                <a:cs typeface="Times New Roman"/>
              </a:rPr>
              <a:t>.</a:t>
            </a:r>
            <a:endParaRPr sz="105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080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0474" y="1124744"/>
            <a:ext cx="10009112" cy="52014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710" marR="30480" indent="-285750" algn="just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tabLst>
                <a:tab pos="290195" algn="l"/>
              </a:tabLst>
            </a:pPr>
            <a:r>
              <a:rPr sz="2200" b="1" spc="6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Riconoscimento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vocale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2200" b="1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traduzione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automatica</a:t>
            </a:r>
            <a:r>
              <a:rPr sz="2200" b="1" spc="4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200" b="1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0" dirty="0" smtClean="0">
                <a:latin typeface="Arial" panose="020B0604020202020204" pitchFamily="34" charset="0"/>
                <a:cs typeface="Arial" panose="020B0604020202020204" pitchFamily="34" charset="0"/>
              </a:rPr>
              <a:t>Con </a:t>
            </a:r>
            <a:r>
              <a:rPr sz="2200" spc="-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livelli</a:t>
            </a:r>
            <a:r>
              <a:rPr sz="2200" spc="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>
                <a:latin typeface="Arial" panose="020B0604020202020204" pitchFamily="34" charset="0"/>
                <a:cs typeface="Arial" panose="020B0604020202020204" pitchFamily="34" charset="0"/>
              </a:rPr>
              <a:t>impressionanti</a:t>
            </a:r>
            <a:r>
              <a:rPr sz="2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precisione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riconoscimento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nella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comprensione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linguaggio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parlato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Servizi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l'assistente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vocale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traduzione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istantanea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diventati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possibili</a:t>
            </a:r>
            <a:r>
              <a:rPr lang="it-IT"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6710" marR="26034" indent="-285750" algn="just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tabLst>
                <a:tab pos="281305" algn="l"/>
              </a:tabLst>
            </a:pPr>
            <a:r>
              <a:rPr sz="2200" b="1" spc="6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Visione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sz="2200" b="1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aumento della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capacità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comprendere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analizzare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immagini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video.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reti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neurali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convoluzionali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2200" spc="55" dirty="0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possibile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200" spc="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riconoscimento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oggetti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riconoscimento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facciale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classificazione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immagini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l'elaborazione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sz="22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>
                <a:latin typeface="Arial" panose="020B0604020202020204" pitchFamily="34" charset="0"/>
                <a:cs typeface="Arial" panose="020B0604020202020204" pitchFamily="34" charset="0"/>
              </a:rPr>
              <a:t>immagini</a:t>
            </a:r>
            <a:r>
              <a:rPr sz="22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>
                <a:latin typeface="Arial" panose="020B0604020202020204" pitchFamily="34" charset="0"/>
                <a:cs typeface="Arial" panose="020B0604020202020204" pitchFamily="34" charset="0"/>
              </a:rPr>
              <a:t>mediche.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6710" marR="27940" indent="-285750" algn="just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tabLst>
                <a:tab pos="281305" algn="l"/>
              </a:tabLst>
            </a:pPr>
            <a:r>
              <a:rPr sz="22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Veicoli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autonomi</a:t>
            </a:r>
            <a:r>
              <a:rPr sz="2200" b="1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hanno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contribuito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veicoli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autonomi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AV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autonomous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vehicles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droni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capaci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guidare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6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sicuro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reagire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condizioni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del </a:t>
            </a:r>
            <a:r>
              <a:rPr sz="2200" spc="15" dirty="0" err="1">
                <a:latin typeface="Arial" panose="020B0604020202020204" pitchFamily="34" charset="0"/>
                <a:cs typeface="Arial" panose="020B0604020202020204" pitchFamily="34" charset="0"/>
              </a:rPr>
              <a:t>traffico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6710" marR="5080" indent="-285750" algn="just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sz="2200" b="1" spc="6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Medicina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diagnosi</a:t>
            </a:r>
            <a:r>
              <a:rPr sz="2200" b="1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hanno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trovato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applicazione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nella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diagnostica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medica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aiutando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  <a:r>
              <a:rPr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medici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nell'interpretazione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immagini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scansioni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nell'individuazione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segni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precoci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malattie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cancro</a:t>
            </a:r>
            <a:r>
              <a:rPr sz="22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1035348" y="303527"/>
            <a:ext cx="89804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415">
              <a:lnSpc>
                <a:spcPct val="100000"/>
              </a:lnSpc>
            </a:pPr>
            <a:r>
              <a:rPr lang="it-IT" sz="3200" b="1" spc="-15" dirty="0">
                <a:latin typeface="Arial Black" panose="020B0A04020102020204" pitchFamily="34" charset="0"/>
                <a:cs typeface="Times New Roman"/>
              </a:rPr>
              <a:t>I </a:t>
            </a:r>
            <a:r>
              <a:rPr lang="it-IT" sz="3200" b="1" spc="60" dirty="0">
                <a:latin typeface="Arial Black" panose="020B0A04020102020204" pitchFamily="34" charset="0"/>
                <a:cs typeface="Times New Roman"/>
              </a:rPr>
              <a:t>Successi</a:t>
            </a:r>
            <a:r>
              <a:rPr lang="it-IT" sz="3200" b="1" spc="120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3200" b="1" spc="50" dirty="0">
                <a:latin typeface="Arial Black" panose="020B0A04020102020204" pitchFamily="34" charset="0"/>
                <a:cs typeface="Times New Roman"/>
              </a:rPr>
              <a:t>delle</a:t>
            </a:r>
            <a:r>
              <a:rPr lang="it-IT" sz="3200" b="1" spc="80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3200" b="1" spc="50" dirty="0">
                <a:latin typeface="Arial Black" panose="020B0A04020102020204" pitchFamily="34" charset="0"/>
                <a:cs typeface="Times New Roman"/>
              </a:rPr>
              <a:t>Intelligenze</a:t>
            </a:r>
            <a:r>
              <a:rPr lang="it-IT" sz="3200" b="1" spc="95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3200" b="1" spc="20" dirty="0">
                <a:latin typeface="Arial Black" panose="020B0A04020102020204" pitchFamily="34" charset="0"/>
                <a:cs typeface="Times New Roman"/>
              </a:rPr>
              <a:t>Artificiali</a:t>
            </a:r>
            <a:endParaRPr lang="it-IT" sz="3200" dirty="0">
              <a:latin typeface="Arial Black" panose="020B0A04020102020204" pitchFamily="34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774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011" y="980728"/>
            <a:ext cx="9721079" cy="5047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710" marR="29845" indent="-285750" algn="just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tabLst>
                <a:tab pos="281305" algn="l"/>
              </a:tabLst>
            </a:pPr>
            <a:r>
              <a:rPr lang="it-IT" sz="2200" b="1" spc="60" dirty="0">
                <a:latin typeface="Arial" panose="020B0604020202020204" pitchFamily="34" charset="0"/>
                <a:cs typeface="Arial" panose="020B0604020202020204" pitchFamily="34" charset="0"/>
              </a:rPr>
              <a:t>Assistenza</a:t>
            </a:r>
            <a:r>
              <a:rPr lang="it-IT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b="1" spc="35" dirty="0">
                <a:latin typeface="Arial" panose="020B0604020202020204" pitchFamily="34" charset="0"/>
                <a:cs typeface="Arial" panose="020B0604020202020204" pitchFamily="34" charset="0"/>
              </a:rPr>
              <a:t>clienti</a:t>
            </a:r>
            <a:r>
              <a:rPr lang="it-IT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b="1" spc="7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b="1" spc="35" dirty="0" err="1"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it-IT" sz="2200" b="1" spc="3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assistenti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virtuali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basati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IA,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45" dirty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-3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0" dirty="0" err="1"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-3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-15" dirty="0"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agenti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 virtuali,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0" dirty="0">
                <a:latin typeface="Arial" panose="020B0604020202020204" pitchFamily="34" charset="0"/>
                <a:cs typeface="Arial" panose="020B0604020202020204" pitchFamily="34" charset="0"/>
              </a:rPr>
              <a:t>offrono</a:t>
            </a:r>
            <a:r>
              <a:rPr lang="it-IT" sz="22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assistenza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clienti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it-IT" sz="22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ore</a:t>
            </a:r>
            <a:r>
              <a:rPr lang="it-IT" sz="22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it-IT"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24,</a:t>
            </a:r>
            <a:r>
              <a:rPr lang="it-IT"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it-IT" sz="22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giorni</a:t>
            </a:r>
            <a:r>
              <a:rPr lang="it-IT" sz="22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it-IT"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7.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60" dirty="0">
                <a:latin typeface="Arial" panose="020B0604020202020204" pitchFamily="34" charset="0"/>
                <a:cs typeface="Arial" panose="020B0604020202020204" pitchFamily="34" charset="0"/>
              </a:rPr>
              <a:t>Possono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rispondere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-10" dirty="0">
                <a:latin typeface="Arial" panose="020B0604020202020204" pitchFamily="34" charset="0"/>
                <a:cs typeface="Arial" panose="020B0604020202020204" pitchFamily="34" charset="0"/>
              </a:rPr>
              <a:t>alle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45" dirty="0">
                <a:latin typeface="Arial" panose="020B0604020202020204" pitchFamily="34" charset="0"/>
                <a:cs typeface="Arial" panose="020B0604020202020204" pitchFamily="34" charset="0"/>
              </a:rPr>
              <a:t>domande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z="2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clienti,</a:t>
            </a:r>
            <a:r>
              <a:rPr lang="it-IT" sz="22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offrire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0" dirty="0">
                <a:latin typeface="Arial" panose="020B0604020202020204" pitchFamily="34" charset="0"/>
                <a:cs typeface="Arial" panose="020B0604020202020204" pitchFamily="34" charset="0"/>
              </a:rPr>
              <a:t>supporto</a:t>
            </a:r>
            <a:r>
              <a:rPr lang="it-IT"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tecnico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gestire</a:t>
            </a:r>
            <a:r>
              <a:rPr lang="it-IT"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transazioni.</a:t>
            </a:r>
            <a:endParaRPr lang="it-IT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6710" marR="24765" indent="-285750" algn="just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tabLst>
                <a:tab pos="290195" algn="l"/>
              </a:tabLst>
            </a:pPr>
            <a:r>
              <a:rPr lang="it-IT" sz="2200" b="1" spc="55" dirty="0">
                <a:latin typeface="Arial" panose="020B0604020202020204" pitchFamily="34" charset="0"/>
                <a:cs typeface="Arial" panose="020B0604020202020204" pitchFamily="34" charset="0"/>
              </a:rPr>
              <a:t>Raccomandazioni</a:t>
            </a:r>
            <a:r>
              <a:rPr lang="it-IT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b="1" spc="40" dirty="0">
                <a:latin typeface="Arial" panose="020B0604020202020204" pitchFamily="34" charset="0"/>
                <a:cs typeface="Arial" panose="020B0604020202020204" pitchFamily="34" charset="0"/>
              </a:rPr>
              <a:t>personalizzate:</a:t>
            </a:r>
            <a:r>
              <a:rPr lang="it-IT" sz="2200" b="1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5" dirty="0">
                <a:latin typeface="Arial" panose="020B0604020202020204" pitchFamily="34" charset="0"/>
                <a:cs typeface="Arial" panose="020B0604020202020204" pitchFamily="34" charset="0"/>
              </a:rPr>
              <a:t>IA sono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utilizzate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2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analizzare</a:t>
            </a:r>
            <a:r>
              <a:rPr lang="it-IT" sz="22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-3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z="22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lang="it-IT" sz="22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degli</a:t>
            </a:r>
            <a:r>
              <a:rPr lang="it-IT" sz="22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utenti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it-IT" sz="22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fornire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raccomandazioni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personalizzate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prodotti,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servizi,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" dirty="0">
                <a:latin typeface="Arial" panose="020B0604020202020204" pitchFamily="34" charset="0"/>
                <a:cs typeface="Arial" panose="020B0604020202020204" pitchFamily="34" charset="0"/>
              </a:rPr>
              <a:t>film,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musica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altro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ancora.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Piattaforme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" dirty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streaming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45" dirty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 err="1">
                <a:latin typeface="Arial" panose="020B0604020202020204" pitchFamily="34" charset="0"/>
                <a:cs typeface="Arial" panose="020B0604020202020204" pitchFamily="34" charset="0"/>
              </a:rPr>
              <a:t>Netflix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z="2200" spc="20" dirty="0" err="1">
                <a:latin typeface="Arial" panose="020B0604020202020204" pitchFamily="34" charset="0"/>
                <a:cs typeface="Arial" panose="020B0604020202020204" pitchFamily="34" charset="0"/>
              </a:rPr>
              <a:t>Spotify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utilizzano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algoritmi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5" dirty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40" dirty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suggerire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contenuti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basati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sulle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preferenze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degli</a:t>
            </a:r>
            <a:r>
              <a:rPr lang="it-IT" sz="22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utenti.</a:t>
            </a:r>
            <a:endParaRPr lang="it-IT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3845" marR="5080" indent="-225425" algn="just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Ø"/>
              <a:tabLst>
                <a:tab pos="287020" algn="l"/>
              </a:tabLst>
            </a:pPr>
            <a:r>
              <a:rPr sz="2200" b="1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Previsione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analisi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6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sz="2200" b="1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impiegate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analizzare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grandi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quantità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sz="2200" spc="1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individuare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pattern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tendenze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nascoste</a:t>
            </a:r>
            <a:r>
              <a:rPr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Ciò</a:t>
            </a:r>
            <a:r>
              <a:rPr sz="2200" spc="9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permette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alle</a:t>
            </a:r>
            <a:r>
              <a:rPr sz="22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aziende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prendere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decisioni</a:t>
            </a:r>
            <a:r>
              <a:rPr sz="2200" spc="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>
                <a:latin typeface="Arial" panose="020B0604020202020204" pitchFamily="34" charset="0"/>
                <a:cs typeface="Arial" panose="020B0604020202020204" pitchFamily="34" charset="0"/>
              </a:rPr>
              <a:t>informate,</a:t>
            </a:r>
            <a:r>
              <a:rPr sz="22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migliorare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pianificazione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l'efficienza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operativa</a:t>
            </a:r>
            <a:r>
              <a:rPr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nonché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prevedere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fenomeni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domanda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mercato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35" dirty="0" err="1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2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comportamento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200" spc="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1035348" y="303527"/>
            <a:ext cx="89804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415">
              <a:lnSpc>
                <a:spcPct val="100000"/>
              </a:lnSpc>
            </a:pPr>
            <a:r>
              <a:rPr lang="it-IT" sz="3200" b="1" spc="-15" dirty="0">
                <a:latin typeface="Arial Black" panose="020B0A04020102020204" pitchFamily="34" charset="0"/>
                <a:cs typeface="Times New Roman"/>
              </a:rPr>
              <a:t>I </a:t>
            </a:r>
            <a:r>
              <a:rPr lang="it-IT" sz="3200" b="1" spc="60" dirty="0">
                <a:latin typeface="Arial Black" panose="020B0A04020102020204" pitchFamily="34" charset="0"/>
                <a:cs typeface="Times New Roman"/>
              </a:rPr>
              <a:t>Successi</a:t>
            </a:r>
            <a:r>
              <a:rPr lang="it-IT" sz="3200" b="1" spc="120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3200" b="1" spc="50" dirty="0">
                <a:latin typeface="Arial Black" panose="020B0A04020102020204" pitchFamily="34" charset="0"/>
                <a:cs typeface="Times New Roman"/>
              </a:rPr>
              <a:t>delle</a:t>
            </a:r>
            <a:r>
              <a:rPr lang="it-IT" sz="3200" b="1" spc="80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3200" b="1" spc="50" dirty="0">
                <a:latin typeface="Arial Black" panose="020B0A04020102020204" pitchFamily="34" charset="0"/>
                <a:cs typeface="Times New Roman"/>
              </a:rPr>
              <a:t>Intelligenze</a:t>
            </a:r>
            <a:r>
              <a:rPr lang="it-IT" sz="3200" b="1" spc="95" dirty="0">
                <a:latin typeface="Arial Black" panose="020B0A04020102020204" pitchFamily="34" charset="0"/>
                <a:cs typeface="Times New Roman"/>
              </a:rPr>
              <a:t> </a:t>
            </a:r>
            <a:r>
              <a:rPr lang="it-IT" sz="3200" b="1" spc="20" dirty="0">
                <a:latin typeface="Arial Black" panose="020B0A04020102020204" pitchFamily="34" charset="0"/>
                <a:cs typeface="Times New Roman"/>
              </a:rPr>
              <a:t>Artificiali</a:t>
            </a:r>
            <a:endParaRPr lang="it-IT" sz="3200" dirty="0">
              <a:latin typeface="Arial Black" panose="020B0A04020102020204" pitchFamily="34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5750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1894" y="856357"/>
            <a:ext cx="9624858" cy="6001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algn="just">
              <a:spcAft>
                <a:spcPts val="1200"/>
              </a:spcAft>
            </a:pP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fronte</a:t>
            </a:r>
            <a:r>
              <a:rPr sz="20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sz="20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significativi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progressi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degli</a:t>
            </a:r>
            <a:r>
              <a:rPr sz="20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ultimi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decenni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sorge</a:t>
            </a:r>
            <a:r>
              <a:rPr sz="20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domanda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cruciale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Quali</a:t>
            </a:r>
            <a:r>
              <a:rPr sz="20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sono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5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rischi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 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opportunità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connessi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all'utilizzo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dell'intelligenza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?".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Scopriamo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aspetti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chiave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considerare: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" algn="just">
              <a:spcAft>
                <a:spcPts val="1200"/>
              </a:spcAft>
            </a:pPr>
            <a:r>
              <a:rPr sz="2000" b="1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Punti</a:t>
            </a:r>
            <a:r>
              <a:rPr lang="it-IT" sz="2000" b="1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b="1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15" dirty="0">
                <a:latin typeface="Arial" panose="020B0604020202020204" pitchFamily="34" charset="0"/>
                <a:cs typeface="Arial" panose="020B0604020202020204" pitchFamily="34" charset="0"/>
              </a:rPr>
              <a:t>favore: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3845" marR="15875" indent="-225425" algn="just">
              <a:spcAft>
                <a:spcPts val="1200"/>
              </a:spcAft>
              <a:buClr>
                <a:srgbClr val="2F2A2D"/>
              </a:buClr>
              <a:buFont typeface="Times New Roman"/>
              <a:buChar char="•"/>
              <a:tabLst>
                <a:tab pos="278130" algn="l"/>
              </a:tabLst>
            </a:pPr>
            <a:r>
              <a:rPr sz="20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Automazione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miglioramento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dell'efficienza</a:t>
            </a:r>
            <a:r>
              <a:rPr sz="2000" b="1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L'IA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può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automatizzare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compiti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ripetitivi</a:t>
            </a:r>
            <a:r>
              <a:rPr sz="2000" spc="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riducendo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>
                <a:latin typeface="Arial" panose="020B0604020202020204" pitchFamily="34" charset="0"/>
                <a:cs typeface="Arial" panose="020B0604020202020204" pitchFamily="34" charset="0"/>
              </a:rPr>
              <a:t>carico</a:t>
            </a:r>
            <a:r>
              <a:rPr sz="20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>
                <a:latin typeface="Arial" panose="020B0604020202020204" pitchFamily="34" charset="0"/>
                <a:cs typeface="Arial" panose="020B0604020202020204" pitchFamily="34" charset="0"/>
              </a:rPr>
              <a:t>lavoro</a:t>
            </a:r>
            <a:r>
              <a:rPr sz="20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umano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aumentando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l'efficienza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operativa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3845" marR="8890" indent="-225425" algn="just">
              <a:spcAft>
                <a:spcPts val="1200"/>
              </a:spcAft>
              <a:buClr>
                <a:srgbClr val="2F2A2D"/>
              </a:buClr>
              <a:buFont typeface="Times New Roman"/>
              <a:buChar char="•"/>
              <a:tabLst>
                <a:tab pos="287020" algn="l"/>
              </a:tabLst>
            </a:pPr>
            <a:r>
              <a:rPr sz="2000" b="1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Elaborazione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1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2000" b="1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larga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scala</a:t>
            </a:r>
            <a:r>
              <a:rPr sz="2000" b="1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alla</a:t>
            </a:r>
            <a:r>
              <a:rPr sz="2000" spc="1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capacità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analizzare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grandi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quantità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tempi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ristretti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l'IA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riduce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errori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accidentali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asimmetrie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informative,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consentendo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>
                <a:latin typeface="Arial" panose="020B0604020202020204" pitchFamily="34" charset="0"/>
                <a:cs typeface="Arial" panose="020B0604020202020204" pitchFamily="34" charset="0"/>
              </a:rPr>
              <a:t>migliore</a:t>
            </a:r>
            <a:r>
              <a:rPr sz="20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gestione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sz="20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informazioni.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3845" marR="10795" indent="-225425" algn="just">
              <a:spcAft>
                <a:spcPts val="1200"/>
              </a:spcAft>
              <a:buClr>
                <a:srgbClr val="2F2A2D"/>
              </a:buClr>
              <a:buFont typeface="Times New Roman"/>
              <a:buChar char="•"/>
              <a:tabLst>
                <a:tab pos="278130" algn="l"/>
              </a:tabLst>
            </a:pPr>
            <a:r>
              <a:rPr sz="2000" b="1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Applicazioni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mediche</a:t>
            </a:r>
            <a:r>
              <a:rPr sz="2000" b="1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L'IA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permette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diagnosi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accurate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può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affiancare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medici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nell'interpretazione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immagini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diagnostiche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5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nell'analisi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sz="20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clinici,</a:t>
            </a:r>
            <a:r>
              <a:rPr sz="200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>
                <a:latin typeface="Arial" panose="020B0604020202020204" pitchFamily="34" charset="0"/>
                <a:cs typeface="Arial" panose="020B0604020202020204" pitchFamily="34" charset="0"/>
              </a:rPr>
              <a:t>fornendo</a:t>
            </a:r>
            <a:r>
              <a:rPr sz="20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suggerimenti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 err="1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trattamento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migliorando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>
                <a:latin typeface="Arial" panose="020B0604020202020204" pitchFamily="34" charset="0"/>
                <a:cs typeface="Arial" panose="020B0604020202020204" pitchFamily="34" charset="0"/>
              </a:rPr>
              <a:t>qualità</a:t>
            </a:r>
            <a:r>
              <a:rPr sz="2000"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sz="20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cure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mediche.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3845" marR="15240" indent="-225425" algn="just">
              <a:spcAft>
                <a:spcPts val="1200"/>
              </a:spcAft>
              <a:buClr>
                <a:srgbClr val="2F2A2D"/>
              </a:buClr>
              <a:buFont typeface="Times New Roman"/>
              <a:buChar char="•"/>
              <a:tabLst>
                <a:tab pos="278130" algn="l"/>
              </a:tabLst>
            </a:pPr>
            <a:r>
              <a:rPr sz="2000" b="1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Assistenti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virtuali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sz="2000" b="1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L'introduzione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dell'intelligenza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assistente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migliora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l'esperienza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dell'utente</a:t>
            </a:r>
            <a:r>
              <a:rPr sz="20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offrendo</a:t>
            </a:r>
            <a:r>
              <a:rPr sz="2000" spc="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supporto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continuo</a:t>
            </a:r>
            <a:r>
              <a:rPr lang="it-IT"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disponibile</a:t>
            </a:r>
            <a:r>
              <a:rPr sz="20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ore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20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778098" y="188640"/>
            <a:ext cx="94949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5240" algn="just">
              <a:lnSpc>
                <a:spcPct val="100000"/>
              </a:lnSpc>
            </a:pPr>
            <a:r>
              <a:rPr lang="it-IT" sz="3200" b="1" spc="50" dirty="0">
                <a:latin typeface="Arial" panose="020B0604020202020204" pitchFamily="34" charset="0"/>
                <a:cs typeface="Arial" panose="020B0604020202020204" pitchFamily="34" charset="0"/>
              </a:rPr>
              <a:t>Rischi </a:t>
            </a:r>
            <a:r>
              <a:rPr lang="it-IT" sz="3200" b="1" spc="7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3200" b="1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b="1" spc="35" dirty="0">
                <a:latin typeface="Arial" panose="020B0604020202020204" pitchFamily="34" charset="0"/>
                <a:cs typeface="Arial" panose="020B0604020202020204" pitchFamily="34" charset="0"/>
              </a:rPr>
              <a:t>Opportunità</a:t>
            </a:r>
            <a:r>
              <a:rPr lang="it-IT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nell'era</a:t>
            </a:r>
            <a:r>
              <a:rPr lang="it-IT" sz="3200" b="1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b="1" spc="45" dirty="0">
                <a:latin typeface="Arial" panose="020B0604020202020204" pitchFamily="34" charset="0"/>
                <a:cs typeface="Arial" panose="020B0604020202020204" pitchFamily="34" charset="0"/>
              </a:rPr>
              <a:t>dell'Automazione</a:t>
            </a:r>
            <a:endParaRPr lang="it-IT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950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8147" y="1052736"/>
            <a:ext cx="9624858" cy="5693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algn="just">
              <a:spcAft>
                <a:spcPts val="1200"/>
              </a:spcAft>
            </a:pP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fronte</a:t>
            </a:r>
            <a:r>
              <a:rPr sz="20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sz="20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significativi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progressi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degli</a:t>
            </a:r>
            <a:r>
              <a:rPr sz="20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ultimi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decenni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sorge</a:t>
            </a:r>
            <a:r>
              <a:rPr sz="20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domanda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cruciale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Quali</a:t>
            </a:r>
            <a:r>
              <a:rPr sz="20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sono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5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rischi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 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opportunità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connessi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all'utilizzo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dell'intelligenza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?".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Scopriamo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aspetti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chiave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considerare: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" algn="just">
              <a:spcAft>
                <a:spcPts val="1200"/>
              </a:spcAft>
            </a:pPr>
            <a:r>
              <a:rPr sz="2000" b="1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Punti</a:t>
            </a:r>
            <a:r>
              <a:rPr lang="it-IT" sz="2000" b="1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b="1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20" dirty="0">
                <a:latin typeface="Arial" panose="020B0604020202020204" pitchFamily="34" charset="0"/>
                <a:cs typeface="Arial" panose="020B0604020202020204" pitchFamily="34" charset="0"/>
              </a:rPr>
              <a:t>sfavore: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3845" marR="8890" indent="-225425" algn="just">
              <a:spcAft>
                <a:spcPts val="1200"/>
              </a:spcAft>
              <a:buClr>
                <a:srgbClr val="2F2A2D"/>
              </a:buClr>
              <a:buFont typeface="Times New Roman"/>
              <a:buChar char="•"/>
              <a:tabLst>
                <a:tab pos="287020" algn="l"/>
              </a:tabLst>
            </a:pPr>
            <a:r>
              <a:rPr sz="2000" b="1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Perdita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posti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b="1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5" dirty="0">
                <a:latin typeface="Arial" panose="020B0604020202020204" pitchFamily="34" charset="0"/>
                <a:cs typeface="Arial" panose="020B0604020202020204" pitchFamily="34" charset="0"/>
              </a:rPr>
              <a:t>lavoro:</a:t>
            </a:r>
            <a:r>
              <a:rPr sz="2000" b="1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L'automazione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alimentata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dall'IA</a:t>
            </a:r>
            <a:r>
              <a:rPr sz="2000" spc="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sostituisce</a:t>
            </a:r>
            <a:r>
              <a:rPr sz="20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progressivamente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>
                <a:latin typeface="Arial" panose="020B0604020202020204" pitchFamily="34" charset="0"/>
                <a:cs typeface="Arial" panose="020B0604020202020204" pitchFamily="34" charset="0"/>
              </a:rPr>
              <a:t>forza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lavoro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umana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creando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preoccupazioni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disoccupazione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richiedendo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riqualificazione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sz="20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competenze.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3845" marR="19685" indent="-225425" algn="just">
              <a:spcAft>
                <a:spcPts val="1200"/>
              </a:spcAft>
              <a:buClr>
                <a:srgbClr val="2F2A2D"/>
              </a:buClr>
              <a:buFont typeface="Times New Roman"/>
              <a:buChar char="•"/>
              <a:tabLst>
                <a:tab pos="287020" algn="l"/>
              </a:tabLst>
            </a:pPr>
            <a:r>
              <a:rPr sz="2000" b="1" spc="6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Questioni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etiche</a:t>
            </a:r>
            <a:r>
              <a:rPr sz="2000" b="1" spc="3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00" b="1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gestione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sz="2000" spc="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sz="20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personali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sicurezza</a:t>
            </a:r>
            <a:r>
              <a:rPr sz="20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sz="20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informazioni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>
                <a:latin typeface="Arial" panose="020B0604020202020204" pitchFamily="34" charset="0"/>
                <a:cs typeface="Arial" panose="020B0604020202020204" pitchFamily="34" charset="0"/>
              </a:rPr>
              <a:t>responsabilità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decisioni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prese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sistemi</a:t>
            </a:r>
            <a:r>
              <a:rPr sz="2000" spc="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automatizzati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sollevano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questioni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etiche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complesse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0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>
                <a:latin typeface="Arial" panose="020B0604020202020204" pitchFamily="34" charset="0"/>
                <a:cs typeface="Arial" panose="020B0604020202020204" pitchFamily="34" charset="0"/>
              </a:rPr>
              <a:t>richiedono</a:t>
            </a:r>
            <a:r>
              <a:rPr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attenzione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regolamentazione.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7020" marR="9525" indent="-228600" algn="just">
              <a:spcAft>
                <a:spcPts val="1200"/>
              </a:spcAft>
              <a:buClr>
                <a:srgbClr val="2F2A2D"/>
              </a:buClr>
              <a:buFont typeface="Times New Roman"/>
              <a:buChar char="•"/>
              <a:tabLst>
                <a:tab pos="284480" algn="l"/>
              </a:tabLst>
            </a:pPr>
            <a:r>
              <a:rPr sz="2000" b="1" spc="7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Dipendenza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tecnologica</a:t>
            </a:r>
            <a:r>
              <a:rPr sz="2000" b="1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L'utilizzo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continuo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dell'IA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può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comportare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perdita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>
                <a:latin typeface="Arial" panose="020B0604020202020204" pitchFamily="34" charset="0"/>
                <a:cs typeface="Arial" panose="020B0604020202020204" pitchFamily="34" charset="0"/>
              </a:rPr>
              <a:t>autonomia</a:t>
            </a:r>
            <a:r>
              <a:rPr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decisionale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abilità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cognitive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umane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sollevando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interrogativi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sulla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nostra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dipendenza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dalla</a:t>
            </a:r>
            <a:r>
              <a:rPr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tecnologia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sz="2000" spc="2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7020" marR="9525" indent="-228600" algn="just">
              <a:spcAft>
                <a:spcPts val="1200"/>
              </a:spcAft>
              <a:buClr>
                <a:srgbClr val="2F2A2D"/>
              </a:buClr>
              <a:buFont typeface="Times New Roman"/>
              <a:buChar char="•"/>
              <a:tabLst>
                <a:tab pos="284480" algn="l"/>
              </a:tabLst>
            </a:pPr>
            <a:r>
              <a:rPr lang="it-IT" sz="2000" b="1" spc="70" dirty="0">
                <a:latin typeface="Arial" panose="020B0604020202020204" pitchFamily="34" charset="0"/>
                <a:cs typeface="Arial" panose="020B0604020202020204" pitchFamily="34" charset="0"/>
              </a:rPr>
              <a:t>Costi e complessità richieste: </a:t>
            </a:r>
            <a:r>
              <a:rPr lang="it-IT" sz="2000" spc="70" dirty="0">
                <a:latin typeface="Arial" panose="020B0604020202020204" pitchFamily="34" charset="0"/>
                <a:cs typeface="Arial" panose="020B0604020202020204" pitchFamily="34" charset="0"/>
              </a:rPr>
              <a:t>Lo sviluppo e la gestione dell'IA comportano costi significativi e richiedono competenze specializzate, creando sfide finanziarie e operative per le organizzazioni</a:t>
            </a:r>
            <a:r>
              <a:rPr lang="it-IT" sz="20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sz="2000" spc="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778098" y="303527"/>
            <a:ext cx="94949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5240" algn="just">
              <a:lnSpc>
                <a:spcPct val="100000"/>
              </a:lnSpc>
            </a:pPr>
            <a:r>
              <a:rPr lang="it-IT" sz="3200" b="1" spc="50" dirty="0">
                <a:latin typeface="Arial" panose="020B0604020202020204" pitchFamily="34" charset="0"/>
                <a:cs typeface="Arial" panose="020B0604020202020204" pitchFamily="34" charset="0"/>
              </a:rPr>
              <a:t>Rischi </a:t>
            </a:r>
            <a:r>
              <a:rPr lang="it-IT" sz="3200" b="1" spc="7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3200" b="1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b="1" spc="35" dirty="0">
                <a:latin typeface="Arial" panose="020B0604020202020204" pitchFamily="34" charset="0"/>
                <a:cs typeface="Arial" panose="020B0604020202020204" pitchFamily="34" charset="0"/>
              </a:rPr>
              <a:t>Opportunità</a:t>
            </a:r>
            <a:r>
              <a:rPr lang="it-IT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nell'era</a:t>
            </a:r>
            <a:r>
              <a:rPr lang="it-IT" sz="3200" b="1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b="1" spc="45" dirty="0">
                <a:latin typeface="Arial" panose="020B0604020202020204" pitchFamily="34" charset="0"/>
                <a:cs typeface="Arial" panose="020B0604020202020204" pitchFamily="34" charset="0"/>
              </a:rPr>
              <a:t>dell'Automazione</a:t>
            </a:r>
            <a:endParaRPr lang="it-IT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297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536" y="1318022"/>
            <a:ext cx="9344667" cy="5693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715" indent="5715" algn="just">
              <a:spcAft>
                <a:spcPts val="1200"/>
              </a:spcAft>
              <a:buClr>
                <a:schemeClr val="tx1"/>
              </a:buClr>
            </a:pP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it-IT" sz="20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futuri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Intelligenze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(IA)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offrono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un'enorme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potenziale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migliorare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nostra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vita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società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complesso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Tuttavia</a:t>
            </a:r>
            <a:r>
              <a:rPr sz="20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cruciale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considerare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aspetti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etici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giuridici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sociali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fine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garantire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queste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tecnologie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siano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sviluppate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utilizzate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6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responsabile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vantaggioso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000" spc="1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tutti</a:t>
            </a:r>
            <a:r>
              <a:rPr sz="20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Esploriamo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alcune</a:t>
            </a:r>
            <a:r>
              <a:rPr sz="2000" spc="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sz="2000" spc="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prospettive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promettenti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7020" marR="5080" indent="-226060" algn="just">
              <a:spcAft>
                <a:spcPts val="1200"/>
              </a:spcAft>
              <a:buClr>
                <a:schemeClr val="tx1"/>
              </a:buClr>
              <a:buFont typeface="Times New Roman"/>
              <a:buChar char="•"/>
              <a:tabLst>
                <a:tab pos="290195" algn="l"/>
              </a:tabLst>
            </a:pPr>
            <a:r>
              <a:rPr sz="2000" b="1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Intelligenza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generativa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AGI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L'obiettivo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creare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6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un'IA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possa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raggiungere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livello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intelligenza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paragonabile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quello</a:t>
            </a:r>
            <a:r>
              <a:rPr sz="20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>
                <a:latin typeface="Arial" panose="020B0604020202020204" pitchFamily="34" charset="0"/>
                <a:cs typeface="Arial" panose="020B0604020202020204" pitchFamily="34" charset="0"/>
              </a:rPr>
              <a:t>umano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000" spc="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capacità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>
                <a:latin typeface="Arial" panose="020B0604020202020204" pitchFamily="34" charset="0"/>
                <a:cs typeface="Arial" panose="020B0604020202020204" pitchFamily="34" charset="0"/>
              </a:rPr>
              <a:t>apprendimento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ragionamento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risoluzione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problemi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diverse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aree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rappresenta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direzione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ricerca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fondamentale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futuro.</a:t>
            </a:r>
            <a:r>
              <a:rPr sz="20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L'AGI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potrebbe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portare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1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progressi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rivoluzionari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campi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medicina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>
                <a:latin typeface="Arial" panose="020B0604020202020204" pitchFamily="34" charset="0"/>
                <a:cs typeface="Arial" panose="020B0604020202020204" pitchFamily="34" charset="0"/>
              </a:rPr>
              <a:t>scienza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produzione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molto</a:t>
            </a:r>
            <a:r>
              <a:rPr sz="200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altro.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7020" marR="5715" indent="-226060" algn="just">
              <a:spcAft>
                <a:spcPts val="1200"/>
              </a:spcAft>
              <a:buClr>
                <a:schemeClr val="tx1"/>
              </a:buClr>
              <a:buFont typeface="Times New Roman"/>
              <a:buChar char="•"/>
              <a:tabLst>
                <a:tab pos="281305" algn="l"/>
              </a:tabLst>
            </a:pPr>
            <a:r>
              <a:rPr sz="20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Automazione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avanzata</a:t>
            </a:r>
            <a:r>
              <a:rPr sz="2000" b="1" spc="2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00" b="1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sz="2000" spc="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>
                <a:latin typeface="Arial" panose="020B0604020202020204" pitchFamily="34" charset="0"/>
                <a:cs typeface="Arial" panose="020B0604020202020204" pitchFamily="34" charset="0"/>
              </a:rPr>
              <a:t>stanno</a:t>
            </a:r>
            <a:r>
              <a:rPr sz="20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trasformando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l'automazione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spc="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vari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settori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futuri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porteranno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dell'automazione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avanzata</a:t>
            </a:r>
            <a:r>
              <a:rPr sz="20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cui</a:t>
            </a:r>
            <a:r>
              <a:rPr sz="2000" spc="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macchine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sistemi</a:t>
            </a:r>
            <a:r>
              <a:rPr sz="2000" spc="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>
                <a:latin typeface="Arial" panose="020B0604020202020204" pitchFamily="34" charset="0"/>
                <a:cs typeface="Arial" panose="020B0604020202020204" pitchFamily="34" charset="0"/>
              </a:rPr>
              <a:t>intelligenti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svolgeranno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compiti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sempre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complessi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adattabili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riducendo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dipendenza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umana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migliorando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l'efficienza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operativa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7020" marR="10795" indent="-226060" algn="just">
              <a:spcAft>
                <a:spcPts val="1200"/>
              </a:spcAft>
              <a:buClr>
                <a:schemeClr val="tx1"/>
              </a:buClr>
              <a:buFont typeface="Times New Roman"/>
              <a:buChar char="•"/>
              <a:tabLst>
                <a:tab pos="290195" algn="l"/>
              </a:tabLst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1010061" y="266450"/>
            <a:ext cx="89271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415" algn="ctr">
              <a:lnSpc>
                <a:spcPct val="100000"/>
              </a:lnSpc>
            </a:pPr>
            <a:r>
              <a:rPr lang="it-IT" sz="2800" b="1" spc="35" dirty="0">
                <a:latin typeface="Times New Roman"/>
                <a:cs typeface="Times New Roman"/>
              </a:rPr>
              <a:t>Futuro</a:t>
            </a:r>
            <a:r>
              <a:rPr lang="it-IT" sz="2800" b="1" spc="105" dirty="0">
                <a:latin typeface="Times New Roman"/>
                <a:cs typeface="Times New Roman"/>
              </a:rPr>
              <a:t> </a:t>
            </a:r>
            <a:r>
              <a:rPr lang="it-IT" sz="2800" b="1" spc="50" dirty="0">
                <a:latin typeface="Times New Roman"/>
                <a:cs typeface="Times New Roman"/>
              </a:rPr>
              <a:t>delle</a:t>
            </a:r>
            <a:r>
              <a:rPr lang="it-IT" sz="2800" b="1" spc="80" dirty="0">
                <a:latin typeface="Times New Roman"/>
                <a:cs typeface="Times New Roman"/>
              </a:rPr>
              <a:t> </a:t>
            </a:r>
            <a:r>
              <a:rPr lang="it-IT" sz="2800" b="1" spc="50" dirty="0">
                <a:latin typeface="Times New Roman"/>
                <a:cs typeface="Times New Roman"/>
              </a:rPr>
              <a:t>Intelligenze</a:t>
            </a:r>
            <a:r>
              <a:rPr lang="it-IT" sz="2800" b="1" dirty="0">
                <a:latin typeface="Times New Roman"/>
                <a:cs typeface="Times New Roman"/>
              </a:rPr>
              <a:t> </a:t>
            </a:r>
            <a:r>
              <a:rPr lang="it-IT" sz="2800" b="1" spc="15" dirty="0">
                <a:latin typeface="Times New Roman"/>
                <a:cs typeface="Times New Roman"/>
              </a:rPr>
              <a:t>Artificiali:</a:t>
            </a:r>
            <a:r>
              <a:rPr lang="it-IT" sz="2800" b="1" dirty="0">
                <a:latin typeface="Times New Roman"/>
                <a:cs typeface="Times New Roman"/>
              </a:rPr>
              <a:t> </a:t>
            </a:r>
            <a:endParaRPr lang="it-IT" sz="2800" b="1" dirty="0" smtClean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it-IT" sz="2800" b="1" spc="45" dirty="0" smtClean="0">
                <a:latin typeface="Times New Roman"/>
                <a:cs typeface="Times New Roman"/>
              </a:rPr>
              <a:t>Potenziali</a:t>
            </a:r>
            <a:r>
              <a:rPr lang="it-IT" sz="2800" b="1" dirty="0" smtClean="0">
                <a:latin typeface="Times New Roman"/>
                <a:cs typeface="Times New Roman"/>
              </a:rPr>
              <a:t> </a:t>
            </a:r>
            <a:r>
              <a:rPr lang="it-IT" sz="2800" b="1" spc="35" dirty="0">
                <a:latin typeface="Times New Roman"/>
                <a:cs typeface="Times New Roman"/>
              </a:rPr>
              <a:t>Sviluppi</a:t>
            </a:r>
            <a:r>
              <a:rPr lang="it-IT" sz="2800" b="1" spc="105" dirty="0">
                <a:latin typeface="Times New Roman"/>
                <a:cs typeface="Times New Roman"/>
              </a:rPr>
              <a:t> </a:t>
            </a:r>
            <a:r>
              <a:rPr lang="it-IT" sz="2800" b="1" spc="75" dirty="0">
                <a:latin typeface="Times New Roman"/>
                <a:cs typeface="Times New Roman"/>
              </a:rPr>
              <a:t>e</a:t>
            </a:r>
            <a:r>
              <a:rPr lang="it-IT" sz="2800" b="1" spc="50" dirty="0">
                <a:latin typeface="Times New Roman"/>
                <a:cs typeface="Times New Roman"/>
              </a:rPr>
              <a:t> </a:t>
            </a:r>
            <a:r>
              <a:rPr lang="it-IT" sz="2800" b="1" spc="55" dirty="0">
                <a:latin typeface="Times New Roman"/>
                <a:cs typeface="Times New Roman"/>
              </a:rPr>
              <a:t>Implicazioni</a:t>
            </a:r>
            <a:endParaRPr lang="it-IT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6250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693" y="1105651"/>
            <a:ext cx="9793087" cy="6155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marR="10795" indent="-226060" algn="just">
              <a:spcAft>
                <a:spcPts val="1200"/>
              </a:spcAft>
              <a:buClr>
                <a:schemeClr val="tx1"/>
              </a:buClr>
              <a:buFont typeface="Times New Roman"/>
              <a:buChar char="•"/>
              <a:tabLst>
                <a:tab pos="290195" algn="l"/>
              </a:tabLst>
            </a:pPr>
            <a:r>
              <a:rPr sz="20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Robotica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avanzata</a:t>
            </a:r>
            <a:r>
              <a:rPr sz="2000" b="1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L'integrazione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robotica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consentirà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60" dirty="0" smtClean="0">
                <a:latin typeface="Arial" panose="020B0604020202020204" pitchFamily="34" charset="0"/>
                <a:cs typeface="Arial" panose="020B0604020202020204" pitchFamily="34" charset="0"/>
              </a:rPr>
              <a:t>robot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sempre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sofisticati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autonomi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Questi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robot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saranno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svolgere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compiti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fisici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interagire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l'ambiente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intelligenti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aprendo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nuove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opportunità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settori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dell'assistenza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sanitaria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>
                <a:latin typeface="Arial" panose="020B0604020202020204" pitchFamily="34" charset="0"/>
                <a:cs typeface="Arial" panose="020B0604020202020204" pitchFamily="34" charset="0"/>
              </a:rPr>
              <a:t>dell'agricoltura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della</a:t>
            </a:r>
            <a:r>
              <a:rPr sz="2000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>
                <a:latin typeface="Arial" panose="020B0604020202020204" pitchFamily="34" charset="0"/>
                <a:cs typeface="Arial" panose="020B0604020202020204" pitchFamily="34" charset="0"/>
              </a:rPr>
              <a:t>logistica</a:t>
            </a:r>
            <a:r>
              <a:rPr sz="20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dell'esplorazione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spaziale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7020" marR="7620" indent="-226060" algn="just">
              <a:spcAft>
                <a:spcPts val="1200"/>
              </a:spcAft>
              <a:buClr>
                <a:schemeClr val="tx1"/>
              </a:buClr>
              <a:buFont typeface="Times New Roman"/>
              <a:buChar char="•"/>
              <a:tabLst>
                <a:tab pos="281305" algn="l"/>
              </a:tabLst>
            </a:pPr>
            <a:r>
              <a:rPr sz="2000" b="1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Apprendimento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continuo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adattativo</a:t>
            </a:r>
            <a:r>
              <a:rPr sz="2000" b="1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futuro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saranno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apprendere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sz="2000" spc="6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continuo,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acquisendo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nuove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conoscenze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abilità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corso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smtClean="0">
                <a:latin typeface="Arial" panose="020B0604020202020204" pitchFamily="34" charset="0"/>
                <a:cs typeface="Arial" panose="020B0604020202020204" pitchFamily="34" charset="0"/>
              </a:rPr>
              <a:t>tempo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richiedere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0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costante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addestramento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umano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Ciò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consentirà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sz="2000" spc="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adattarsi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rapidamente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nuovi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contesti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affrontare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situazioni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impreviste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7020" marR="5715" indent="-226060" algn="just">
              <a:spcAft>
                <a:spcPts val="1200"/>
              </a:spcAft>
              <a:buClr>
                <a:schemeClr val="tx1"/>
              </a:buClr>
              <a:buFont typeface="Times New Roman"/>
              <a:buChar char="•"/>
              <a:tabLst>
                <a:tab pos="281305" algn="l"/>
              </a:tabLst>
            </a:pPr>
            <a:r>
              <a:rPr sz="2000" b="1" spc="6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Assistenza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sanitaria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personalizzata</a:t>
            </a:r>
            <a:r>
              <a:rPr sz="2000" b="1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sz="2000" spc="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potranno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offrire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assistenza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sanitaria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personalizzata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predittiva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utilizzando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pazienti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algoritmi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apprendimento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automatico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diagnosticare</a:t>
            </a:r>
            <a:r>
              <a:rPr sz="20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malattie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precocemente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identificare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rischi</a:t>
            </a:r>
            <a:r>
              <a:rPr sz="20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individuali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>
                <a:latin typeface="Arial" panose="020B0604020202020204" pitchFamily="34" charset="0"/>
                <a:cs typeface="Arial" panose="020B0604020202020204" pitchFamily="34" charset="0"/>
              </a:rPr>
              <a:t>suggerire</a:t>
            </a:r>
            <a:r>
              <a:rPr sz="20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trattamenti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personalizzati</a:t>
            </a:r>
            <a:r>
              <a:rPr sz="2000" spc="2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560" marR="5080" indent="-228600" algn="just">
              <a:spcAft>
                <a:spcPts val="1200"/>
              </a:spcAft>
              <a:buClr>
                <a:schemeClr val="tx1"/>
              </a:buClr>
              <a:buFont typeface="Times New Roman"/>
              <a:buChar char="•"/>
              <a:tabLst>
                <a:tab pos="290195" algn="l"/>
              </a:tabLst>
            </a:pPr>
            <a:r>
              <a:rPr sz="2000" b="1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etica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responsabile</a:t>
            </a:r>
            <a:r>
              <a:rPr sz="2000" b="1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l'aumento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dell'utilizzo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IA,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diventa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sempre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importante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sviluppare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etici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responsabili</a:t>
            </a:r>
            <a:r>
              <a:rPr sz="20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Saranno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necessarie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regole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norme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garantire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25" dirty="0">
                <a:latin typeface="Arial" panose="020B0604020202020204" pitchFamily="34" charset="0"/>
                <a:cs typeface="Arial" panose="020B0604020202020204" pitchFamily="34" charset="0"/>
              </a:rPr>
              <a:t>trasparenza, </a:t>
            </a:r>
            <a:r>
              <a:rPr lang="it-IT" sz="2000" spc="15" dirty="0">
                <a:latin typeface="Arial" panose="020B0604020202020204" pitchFamily="34" charset="0"/>
                <a:cs typeface="Arial" panose="020B0604020202020204" pitchFamily="34" charset="0"/>
              </a:rPr>
              <a:t>l'equità,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la</a:t>
            </a:r>
            <a:r>
              <a:rPr lang="it-IT" sz="20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5" dirty="0">
                <a:latin typeface="Arial" panose="020B0604020202020204" pitchFamily="34" charset="0"/>
                <a:cs typeface="Arial" panose="020B0604020202020204" pitchFamily="34" charset="0"/>
              </a:rPr>
              <a:t>privacy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it-IT" sz="20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-15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15" dirty="0">
                <a:latin typeface="Arial" panose="020B0604020202020204" pitchFamily="34" charset="0"/>
                <a:cs typeface="Arial" panose="020B0604020202020204" pitchFamily="34" charset="0"/>
              </a:rPr>
              <a:t>sicurezza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5" dirty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25" dirty="0">
                <a:latin typeface="Arial" panose="020B0604020202020204" pitchFamily="34" charset="0"/>
                <a:cs typeface="Arial" panose="020B0604020202020204" pitchFamily="34" charset="0"/>
              </a:rPr>
              <a:t>IA,</a:t>
            </a:r>
            <a:r>
              <a:rPr lang="it-IT" sz="20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-15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20" dirty="0">
                <a:latin typeface="Arial" panose="020B0604020202020204" pitchFamily="34" charset="0"/>
                <a:cs typeface="Arial" panose="020B0604020202020204" pitchFamily="34" charset="0"/>
              </a:rPr>
              <a:t>fine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0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10" dirty="0">
                <a:latin typeface="Arial" panose="020B0604020202020204" pitchFamily="34" charset="0"/>
                <a:cs typeface="Arial" panose="020B0604020202020204" pitchFamily="34" charset="0"/>
              </a:rPr>
              <a:t>mitigare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20" dirty="0">
                <a:latin typeface="Arial" panose="020B0604020202020204" pitchFamily="34" charset="0"/>
                <a:cs typeface="Arial" panose="020B0604020202020204" pitchFamily="34" charset="0"/>
              </a:rPr>
              <a:t>potenziali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5" dirty="0">
                <a:latin typeface="Arial" panose="020B0604020202020204" pitchFamily="34" charset="0"/>
                <a:cs typeface="Arial" panose="020B0604020202020204" pitchFamily="34" charset="0"/>
              </a:rPr>
              <a:t>rischi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it-IT" sz="20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25" dirty="0">
                <a:latin typeface="Arial" panose="020B0604020202020204" pitchFamily="34" charset="0"/>
                <a:cs typeface="Arial" panose="020B0604020202020204" pitchFamily="34" charset="0"/>
              </a:rPr>
              <a:t>impatti</a:t>
            </a:r>
            <a:r>
              <a:rPr lang="it-IT"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spc="10" dirty="0">
                <a:latin typeface="Arial" panose="020B0604020202020204" pitchFamily="34" charset="0"/>
                <a:cs typeface="Arial" panose="020B0604020202020204" pitchFamily="34" charset="0"/>
              </a:rPr>
              <a:t>negativi.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560" marR="5080" indent="-228600" algn="just">
              <a:spcAft>
                <a:spcPts val="1200"/>
              </a:spcAft>
              <a:buClr>
                <a:schemeClr val="tx1"/>
              </a:buClr>
              <a:buFont typeface="Times New Roman"/>
              <a:buChar char="•"/>
              <a:tabLst>
                <a:tab pos="290195" algn="l"/>
              </a:tabLst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1003240" y="116632"/>
            <a:ext cx="89271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415" algn="ctr">
              <a:lnSpc>
                <a:spcPct val="100000"/>
              </a:lnSpc>
            </a:pPr>
            <a:r>
              <a:rPr lang="it-IT" sz="2800" b="1" spc="35" dirty="0">
                <a:latin typeface="Times New Roman"/>
                <a:cs typeface="Times New Roman"/>
              </a:rPr>
              <a:t>Futuro</a:t>
            </a:r>
            <a:r>
              <a:rPr lang="it-IT" sz="2800" b="1" spc="105" dirty="0">
                <a:latin typeface="Times New Roman"/>
                <a:cs typeface="Times New Roman"/>
              </a:rPr>
              <a:t> </a:t>
            </a:r>
            <a:r>
              <a:rPr lang="it-IT" sz="2800" b="1" spc="50" dirty="0">
                <a:latin typeface="Times New Roman"/>
                <a:cs typeface="Times New Roman"/>
              </a:rPr>
              <a:t>delle</a:t>
            </a:r>
            <a:r>
              <a:rPr lang="it-IT" sz="2800" b="1" spc="80" dirty="0">
                <a:latin typeface="Times New Roman"/>
                <a:cs typeface="Times New Roman"/>
              </a:rPr>
              <a:t> </a:t>
            </a:r>
            <a:r>
              <a:rPr lang="it-IT" sz="2800" b="1" spc="50" dirty="0">
                <a:latin typeface="Times New Roman"/>
                <a:cs typeface="Times New Roman"/>
              </a:rPr>
              <a:t>Intelligenze</a:t>
            </a:r>
            <a:r>
              <a:rPr lang="it-IT" sz="2800" b="1" dirty="0">
                <a:latin typeface="Times New Roman"/>
                <a:cs typeface="Times New Roman"/>
              </a:rPr>
              <a:t> </a:t>
            </a:r>
            <a:r>
              <a:rPr lang="it-IT" sz="2800" b="1" spc="15" dirty="0">
                <a:latin typeface="Times New Roman"/>
                <a:cs typeface="Times New Roman"/>
              </a:rPr>
              <a:t>Artificiali:</a:t>
            </a:r>
            <a:r>
              <a:rPr lang="it-IT" sz="2800" b="1" dirty="0">
                <a:latin typeface="Times New Roman"/>
                <a:cs typeface="Times New Roman"/>
              </a:rPr>
              <a:t> </a:t>
            </a:r>
            <a:endParaRPr lang="it-IT" sz="2800" b="1" dirty="0" smtClean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it-IT" sz="2800" b="1" spc="45" dirty="0" smtClean="0">
                <a:latin typeface="Times New Roman"/>
                <a:cs typeface="Times New Roman"/>
              </a:rPr>
              <a:t>Potenziali</a:t>
            </a:r>
            <a:r>
              <a:rPr lang="it-IT" sz="2800" b="1" dirty="0" smtClean="0">
                <a:latin typeface="Times New Roman"/>
                <a:cs typeface="Times New Roman"/>
              </a:rPr>
              <a:t> </a:t>
            </a:r>
            <a:r>
              <a:rPr lang="it-IT" sz="2800" b="1" spc="35" dirty="0">
                <a:latin typeface="Times New Roman"/>
                <a:cs typeface="Times New Roman"/>
              </a:rPr>
              <a:t>Sviluppi</a:t>
            </a:r>
            <a:r>
              <a:rPr lang="it-IT" sz="2800" b="1" spc="105" dirty="0">
                <a:latin typeface="Times New Roman"/>
                <a:cs typeface="Times New Roman"/>
              </a:rPr>
              <a:t> </a:t>
            </a:r>
            <a:r>
              <a:rPr lang="it-IT" sz="2800" b="1" spc="75" dirty="0">
                <a:latin typeface="Times New Roman"/>
                <a:cs typeface="Times New Roman"/>
              </a:rPr>
              <a:t>e</a:t>
            </a:r>
            <a:r>
              <a:rPr lang="it-IT" sz="2800" b="1" spc="50" dirty="0">
                <a:latin typeface="Times New Roman"/>
                <a:cs typeface="Times New Roman"/>
              </a:rPr>
              <a:t> </a:t>
            </a:r>
            <a:r>
              <a:rPr lang="it-IT" sz="2800" b="1" spc="55" dirty="0">
                <a:latin typeface="Times New Roman"/>
                <a:cs typeface="Times New Roman"/>
              </a:rPr>
              <a:t>Implicazioni</a:t>
            </a:r>
            <a:endParaRPr lang="it-IT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8236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107" y="1070739"/>
            <a:ext cx="10153128" cy="5724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7620" indent="5715" algn="just">
              <a:spcAft>
                <a:spcPts val="1200"/>
              </a:spcAft>
              <a:buClr>
                <a:schemeClr val="tx1"/>
              </a:buClr>
            </a:pPr>
            <a:r>
              <a:rPr lang="it-IT"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prospettiv</a:t>
            </a:r>
            <a:r>
              <a:rPr lang="it-IT"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affascinant</a:t>
            </a:r>
            <a:r>
              <a:rPr lang="it-IT"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200" spc="1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22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Intelligenze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l'interazione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6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uomo</a:t>
            </a:r>
            <a:r>
              <a:rPr sz="2200" spc="60" dirty="0">
                <a:latin typeface="Arial" panose="020B0604020202020204" pitchFamily="34" charset="0"/>
                <a:cs typeface="Arial" panose="020B0604020202020204" pitchFamily="34" charset="0"/>
              </a:rPr>
              <a:t>­</a:t>
            </a:r>
            <a:r>
              <a:rPr sz="22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macchina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migliorata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interagir</a:t>
            </a:r>
            <a:r>
              <a:rPr lang="it-IT"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anno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l’uomo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mod</a:t>
            </a:r>
            <a:r>
              <a:rPr lang="it-IT"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err="1">
                <a:latin typeface="Arial" panose="020B0604020202020204" pitchFamily="34" charset="0"/>
                <a:cs typeface="Arial" panose="020B0604020202020204" pitchFamily="34" charset="0"/>
              </a:rPr>
              <a:t>sempre</a:t>
            </a:r>
            <a:r>
              <a:rPr sz="22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natural</a:t>
            </a:r>
            <a:r>
              <a:rPr lang="it-IT"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intuitiv</a:t>
            </a:r>
            <a:r>
              <a:rPr lang="it-IT"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200" spc="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r>
              <a:rPr sz="22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 err="1">
                <a:latin typeface="Arial" panose="020B0604020202020204" pitchFamily="34" charset="0"/>
                <a:cs typeface="Arial" panose="020B0604020202020204" pitchFamily="34" charset="0"/>
              </a:rPr>
              <a:t>alla</a:t>
            </a:r>
            <a:r>
              <a:rPr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comprensione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200" spc="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linguaggio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naturale</a:t>
            </a:r>
            <a:r>
              <a:rPr sz="2200" spc="2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20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22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riconoscimento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emozioni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all'interazione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vocale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gestuale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avanzata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diventeranno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propri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compagni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intelligenti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200" spc="9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22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>
                <a:latin typeface="Arial" panose="020B0604020202020204" pitchFamily="34" charset="0"/>
                <a:cs typeface="Arial" panose="020B0604020202020204" pitchFamily="34" charset="0"/>
              </a:rPr>
              <a:t>persone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Inoltre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troveranno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sempre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applicazioni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innovative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campi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emergenti</a:t>
            </a:r>
            <a:r>
              <a:rPr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aprendo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nuove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>
                <a:latin typeface="Arial" panose="020B0604020202020204" pitchFamily="34" charset="0"/>
                <a:cs typeface="Arial" panose="020B0604020202020204" pitchFamily="34" charset="0"/>
              </a:rPr>
              <a:t>opportunità</a:t>
            </a:r>
            <a:r>
              <a:rPr sz="22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>
                <a:latin typeface="Arial" panose="020B0604020202020204" pitchFamily="34" charset="0"/>
                <a:cs typeface="Arial" panose="020B0604020202020204" pitchFamily="34" charset="0"/>
              </a:rPr>
              <a:t>sfide.</a:t>
            </a:r>
            <a:r>
              <a:rPr sz="22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Alcuni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>
                <a:latin typeface="Arial" panose="020B0604020202020204" pitchFamily="34" charset="0"/>
                <a:cs typeface="Arial" panose="020B0604020202020204" pitchFamily="34" charset="0"/>
              </a:rPr>
              <a:t>questi</a:t>
            </a:r>
            <a:r>
              <a:rPr sz="22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>
                <a:latin typeface="Arial" panose="020B0604020202020204" pitchFamily="34" charset="0"/>
                <a:cs typeface="Arial" panose="020B0604020202020204" pitchFamily="34" charset="0"/>
              </a:rPr>
              <a:t>ambiti</a:t>
            </a:r>
            <a:r>
              <a:rPr sz="22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>
                <a:latin typeface="Arial" panose="020B0604020202020204" pitchFamily="34" charset="0"/>
                <a:cs typeface="Arial" panose="020B0604020202020204" pitchFamily="34" charset="0"/>
              </a:rPr>
              <a:t>includono: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marR="6350" indent="-219710" algn="just">
              <a:spcAft>
                <a:spcPts val="1200"/>
              </a:spcAft>
              <a:buClr>
                <a:schemeClr val="tx1"/>
              </a:buClr>
            </a:pPr>
            <a:r>
              <a:rPr sz="2200" b="1" spc="1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2200" b="1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b="1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Intelligenza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Quantistica</a:t>
            </a:r>
            <a:r>
              <a:rPr sz="2200" b="1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saranno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utilizzate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affrontare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problemi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complessi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richiedono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elaborazioni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larga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scala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2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L'intelligenza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quantistica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promette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>
                <a:latin typeface="Arial" panose="020B0604020202020204" pitchFamily="34" charset="0"/>
                <a:cs typeface="Arial" panose="020B0604020202020204" pitchFamily="34" charset="0"/>
              </a:rPr>
              <a:t>superare</a:t>
            </a:r>
            <a:r>
              <a:rPr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35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2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limiti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attuali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prestazioni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tradizionali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aprendo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nuove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frontiere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ricerca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>
                <a:latin typeface="Arial" panose="020B0604020202020204" pitchFamily="34" charset="0"/>
                <a:cs typeface="Arial" panose="020B0604020202020204" pitchFamily="34" charset="0"/>
              </a:rPr>
              <a:t>scientifica,</a:t>
            </a:r>
            <a:r>
              <a:rPr sz="22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>
                <a:latin typeface="Arial" panose="020B0604020202020204" pitchFamily="34" charset="0"/>
                <a:cs typeface="Arial" panose="020B0604020202020204" pitchFamily="34" charset="0"/>
              </a:rPr>
              <a:t>crittografia</a:t>
            </a:r>
            <a:r>
              <a:rPr sz="22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avanzata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2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>
                <a:latin typeface="Arial" panose="020B0604020202020204" pitchFamily="34" charset="0"/>
                <a:cs typeface="Arial" panose="020B0604020202020204" pitchFamily="34" charset="0"/>
              </a:rPr>
              <a:t>nuovi</a:t>
            </a:r>
            <a:r>
              <a:rPr sz="22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>
                <a:latin typeface="Arial" panose="020B0604020202020204" pitchFamily="34" charset="0"/>
                <a:cs typeface="Arial" panose="020B0604020202020204" pitchFamily="34" charset="0"/>
              </a:rPr>
              <a:t>materiali.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3840" marR="10795" indent="-228600" algn="just">
              <a:spcAft>
                <a:spcPts val="1200"/>
              </a:spcAft>
              <a:buClr>
                <a:schemeClr val="tx1"/>
              </a:buClr>
              <a:buFont typeface="Times New Roman"/>
              <a:buAutoNum type="arabicPeriod" startAt="2"/>
              <a:tabLst>
                <a:tab pos="244475" algn="l"/>
              </a:tabLst>
            </a:pPr>
            <a:r>
              <a:rPr sz="2200" b="1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Realtà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Aumentata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b="1" spc="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spc="15" dirty="0" err="1">
                <a:latin typeface="Arial" panose="020B0604020202020204" pitchFamily="34" charset="0"/>
                <a:cs typeface="Arial" panose="020B0604020202020204" pitchFamily="34" charset="0"/>
              </a:rPr>
              <a:t>Virtuale</a:t>
            </a:r>
            <a:r>
              <a:rPr sz="2200" b="1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saranno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realtà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aumentata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virtuale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offrire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esperienze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immersive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interattive</a:t>
            </a:r>
            <a:r>
              <a:rPr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Ciò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aprirà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nuove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possibilità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settore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dell'intrattenimento</a:t>
            </a:r>
            <a:r>
              <a:rPr sz="2200" spc="3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dell'addestramento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virtuale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200" spc="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sz="22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>
                <a:latin typeface="Arial" panose="020B0604020202020204" pitchFamily="34" charset="0"/>
                <a:cs typeface="Arial" panose="020B0604020202020204" pitchFamily="34" charset="0"/>
              </a:rPr>
              <a:t>dell'architettura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1080195" y="116632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3840" algn="ctr">
              <a:lnSpc>
                <a:spcPct val="100000"/>
              </a:lnSpc>
            </a:pPr>
            <a:r>
              <a:rPr lang="it-IT" sz="2800" b="1" spc="45" dirty="0">
                <a:latin typeface="Arial" panose="020B0604020202020204" pitchFamily="34" charset="0"/>
                <a:cs typeface="Arial" panose="020B0604020202020204" pitchFamily="34" charset="0"/>
              </a:rPr>
              <a:t>Interazione </a:t>
            </a:r>
            <a:r>
              <a:rPr lang="it-IT" sz="2800" b="1" spc="65" dirty="0">
                <a:latin typeface="Arial" panose="020B0604020202020204" pitchFamily="34" charset="0"/>
                <a:cs typeface="Arial" panose="020B0604020202020204" pitchFamily="34" charset="0"/>
              </a:rPr>
              <a:t>Uomo-Macchina</a:t>
            </a: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40" dirty="0">
                <a:latin typeface="Arial" panose="020B0604020202020204" pitchFamily="34" charset="0"/>
                <a:cs typeface="Arial" panose="020B0604020202020204" pitchFamily="34" charset="0"/>
              </a:rPr>
              <a:t>Avanzata</a:t>
            </a: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7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800" b="1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75" dirty="0">
                <a:latin typeface="Arial" panose="020B0604020202020204" pitchFamily="34" charset="0"/>
                <a:cs typeface="Arial" panose="020B0604020202020204" pitchFamily="34" charset="0"/>
              </a:rPr>
              <a:t>Nuovi</a:t>
            </a: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45" dirty="0">
                <a:latin typeface="Arial" panose="020B0604020202020204" pitchFamily="34" charset="0"/>
                <a:cs typeface="Arial" panose="020B0604020202020204" pitchFamily="34" charset="0"/>
              </a:rPr>
              <a:t>Campi</a:t>
            </a:r>
            <a:r>
              <a:rPr lang="it-IT" sz="2800" b="1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3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50" dirty="0">
                <a:latin typeface="Arial" panose="020B0604020202020204" pitchFamily="34" charset="0"/>
                <a:cs typeface="Arial" panose="020B0604020202020204" pitchFamily="34" charset="0"/>
              </a:rPr>
              <a:t>Applicazione</a:t>
            </a:r>
            <a:endParaRPr lang="it-I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940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131" y="1126683"/>
            <a:ext cx="9937104" cy="5724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620" indent="-342900" algn="just">
              <a:spcAft>
                <a:spcPts val="1200"/>
              </a:spcAft>
              <a:buClr>
                <a:schemeClr val="tx1"/>
              </a:buClr>
              <a:buFont typeface="+mj-lt"/>
              <a:buAutoNum type="arabicPeriod" startAt="3"/>
              <a:tabLst>
                <a:tab pos="244475" algn="l"/>
              </a:tabLst>
            </a:pPr>
            <a:r>
              <a:rPr lang="it-IT" sz="2200" b="1" spc="35" dirty="0"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  <a:r>
              <a:rPr lang="it-IT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b="1" spc="50" dirty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lang="it-IT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b="1" spc="60" dirty="0">
                <a:latin typeface="Arial" panose="020B0604020202020204" pitchFamily="34" charset="0"/>
                <a:cs typeface="Arial" panose="020B0604020202020204" pitchFamily="34" charset="0"/>
              </a:rPr>
              <a:t>Cose</a:t>
            </a:r>
            <a:r>
              <a:rPr lang="it-IT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it-IT" sz="2200" spc="15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it-IT" sz="2200" spc="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it-IT" sz="22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40" dirty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giocheranno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5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ruolo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chiave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nell'elaborazione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it-IT" sz="22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nell'interpretazione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generati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dai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dispositivi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connessi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nell'</a:t>
            </a:r>
            <a:r>
              <a:rPr lang="it-IT" sz="2200" spc="35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Saranno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grado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analizzare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z="2200" spc="40" dirty="0">
                <a:latin typeface="Arial" panose="020B0604020202020204" pitchFamily="34" charset="0"/>
                <a:cs typeface="Arial" panose="020B0604020202020204" pitchFamily="34" charset="0"/>
              </a:rPr>
              <a:t>comprendere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-3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provenienti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it-IT" sz="22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sensori,</a:t>
            </a:r>
            <a:r>
              <a:rPr lang="it-IT" sz="22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dispositivi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domestici</a:t>
            </a:r>
            <a:r>
              <a:rPr lang="it-IT" sz="22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intelligenti,</a:t>
            </a:r>
            <a:r>
              <a:rPr lang="it-IT" sz="220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veicoli</a:t>
            </a:r>
            <a:r>
              <a:rPr lang="it-IT" sz="2200"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connessi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it-IT" sz="22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5" dirty="0">
                <a:latin typeface="Arial" panose="020B0604020202020204" pitchFamily="34" charset="0"/>
                <a:cs typeface="Arial" panose="020B0604020202020204" pitchFamily="34" charset="0"/>
              </a:rPr>
              <a:t>molto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5" dirty="0">
                <a:latin typeface="Arial" panose="020B0604020202020204" pitchFamily="34" charset="0"/>
                <a:cs typeface="Arial" panose="020B0604020202020204" pitchFamily="34" charset="0"/>
              </a:rPr>
              <a:t>altro,</a:t>
            </a:r>
            <a:r>
              <a:rPr lang="it-IT" sz="22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45" dirty="0">
                <a:latin typeface="Arial" panose="020B0604020202020204" pitchFamily="34" charset="0"/>
                <a:cs typeface="Arial" panose="020B0604020202020204" pitchFamily="34" charset="0"/>
              </a:rPr>
              <a:t>consentendo</a:t>
            </a:r>
            <a:r>
              <a:rPr lang="it-IT" sz="22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4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gestione</a:t>
            </a:r>
            <a:r>
              <a:rPr lang="it-IT"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5" dirty="0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5" dirty="0">
                <a:latin typeface="Arial" panose="020B0604020202020204" pitchFamily="34" charset="0"/>
                <a:cs typeface="Arial" panose="020B0604020202020204" pitchFamily="34" charset="0"/>
              </a:rPr>
              <a:t>efficiente</a:t>
            </a:r>
            <a:r>
              <a:rPr lang="it-IT" sz="220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-3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automatizzata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 degli</a:t>
            </a:r>
            <a:r>
              <a:rPr lang="it-IT" sz="22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30" dirty="0">
                <a:latin typeface="Arial" panose="020B0604020202020204" pitchFamily="34" charset="0"/>
                <a:cs typeface="Arial" panose="020B0604020202020204" pitchFamily="34" charset="0"/>
              </a:rPr>
              <a:t>ambienti</a:t>
            </a:r>
            <a:r>
              <a:rPr lang="it-IT" sz="220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10" dirty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z="22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00" spc="20" dirty="0">
                <a:latin typeface="Arial" panose="020B0604020202020204" pitchFamily="34" charset="0"/>
                <a:cs typeface="Arial" panose="020B0604020202020204" pitchFamily="34" charset="0"/>
              </a:rPr>
              <a:t>processi.</a:t>
            </a:r>
            <a:endParaRPr lang="it-IT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7620" indent="-342900" algn="just">
              <a:spcAft>
                <a:spcPts val="1200"/>
              </a:spcAft>
              <a:buClr>
                <a:schemeClr val="tx1"/>
              </a:buClr>
              <a:buFont typeface="+mj-lt"/>
              <a:buAutoNum type="arabicPeriod" startAt="3"/>
              <a:tabLst>
                <a:tab pos="244475" algn="l"/>
              </a:tabLst>
            </a:pPr>
            <a:r>
              <a:rPr sz="2200" b="1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sz="2200" b="1" spc="2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200" b="1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sz="22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>
                <a:latin typeface="Arial" panose="020B0604020202020204" pitchFamily="34" charset="0"/>
                <a:cs typeface="Arial" panose="020B0604020202020204" pitchFamily="34" charset="0"/>
              </a:rPr>
              <a:t>saranno</a:t>
            </a:r>
            <a:r>
              <a:rPr sz="22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impiegate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200" spc="9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rilevare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>
                <a:latin typeface="Arial" panose="020B0604020202020204" pitchFamily="34" charset="0"/>
                <a:cs typeface="Arial" panose="020B0604020202020204" pitchFamily="34" charset="0"/>
              </a:rPr>
              <a:t>contrastare</a:t>
            </a:r>
            <a:r>
              <a:rPr sz="22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22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minacce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informatiche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200" spc="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65" dirty="0">
                <a:latin typeface="Arial" panose="020B0604020202020204" pitchFamily="34" charset="0"/>
                <a:cs typeface="Arial" panose="020B0604020202020204" pitchFamily="34" charset="0"/>
              </a:rPr>
              <a:t>modo</a:t>
            </a:r>
            <a:r>
              <a:rPr sz="22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>
                <a:latin typeface="Arial" panose="020B0604020202020204" pitchFamily="34" charset="0"/>
                <a:cs typeface="Arial" panose="020B0604020202020204" pitchFamily="34" charset="0"/>
              </a:rPr>
              <a:t>più</a:t>
            </a:r>
            <a:r>
              <a:rPr sz="2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rapido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efficace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Attraverso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l'analisi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modelli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attacco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l'apprendimento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automatico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l'elaborazione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tempo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reale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sicurezza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contribuiranno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proteggere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reti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sistemi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informatici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2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>
                <a:latin typeface="Arial" panose="020B0604020202020204" pitchFamily="34" charset="0"/>
                <a:cs typeface="Arial" panose="020B0604020202020204" pitchFamily="34" charset="0"/>
              </a:rPr>
              <a:t>dati</a:t>
            </a:r>
            <a:r>
              <a:rPr sz="22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>
                <a:latin typeface="Arial" panose="020B0604020202020204" pitchFamily="34" charset="0"/>
                <a:cs typeface="Arial" panose="020B0604020202020204" pitchFamily="34" charset="0"/>
              </a:rPr>
              <a:t>sensibili</a:t>
            </a:r>
            <a:r>
              <a:rPr sz="22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>
                <a:latin typeface="Arial" panose="020B0604020202020204" pitchFamily="34" charset="0"/>
                <a:cs typeface="Arial" panose="020B0604020202020204" pitchFamily="34" charset="0"/>
              </a:rPr>
              <a:t>dalle</a:t>
            </a:r>
            <a:r>
              <a:rPr sz="22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minacce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cibernetiche</a:t>
            </a:r>
            <a:r>
              <a:rPr sz="2200" spc="2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marR="5715" indent="-3175" algn="just">
              <a:spcAft>
                <a:spcPts val="1200"/>
              </a:spcAft>
              <a:buClr>
                <a:schemeClr val="tx1"/>
              </a:buClr>
            </a:pP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L'avanzamento</a:t>
            </a:r>
            <a:r>
              <a:rPr lang="it-IT"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dell'interazione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uomo-macchina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l'applicazione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smtClean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campi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emergenti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aprono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nuovi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orizzonti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l'innovazione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progresso</a:t>
            </a:r>
            <a:r>
              <a:rPr sz="22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Tuttavia</a:t>
            </a:r>
            <a:r>
              <a:rPr sz="22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fondamentale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affrontare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sfide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legate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>
                <a:latin typeface="Arial" panose="020B0604020202020204" pitchFamily="34" charset="0"/>
                <a:cs typeface="Arial" panose="020B0604020202020204" pitchFamily="34" charset="0"/>
              </a:rPr>
              <a:t>all'etica,</a:t>
            </a:r>
            <a:r>
              <a:rPr sz="22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 err="1">
                <a:latin typeface="Arial" panose="020B0604020202020204" pitchFamily="34" charset="0"/>
                <a:cs typeface="Arial" panose="020B0604020202020204" pitchFamily="34" charset="0"/>
              </a:rPr>
              <a:t>alla</a:t>
            </a:r>
            <a:r>
              <a:rPr sz="2200"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privacy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20" dirty="0" err="1">
                <a:latin typeface="Arial" panose="020B0604020202020204" pitchFamily="34" charset="0"/>
                <a:cs typeface="Arial" panose="020B0604020202020204" pitchFamily="34" charset="0"/>
              </a:rPr>
              <a:t>alla</a:t>
            </a:r>
            <a:r>
              <a:rPr sz="22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sicurezza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4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durante</a:t>
            </a:r>
            <a:r>
              <a:rPr sz="2200" spc="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2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sviluppo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2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l'utilizzo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delle</a:t>
            </a:r>
            <a:r>
              <a:rPr sz="2200" spc="1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Intelligenze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Artificiali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2200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>
                <a:latin typeface="Arial" panose="020B0604020202020204" pitchFamily="34" charset="0"/>
                <a:cs typeface="Arial" panose="020B0604020202020204" pitchFamily="34" charset="0"/>
              </a:rPr>
              <a:t>fine</a:t>
            </a:r>
            <a:r>
              <a:rPr sz="22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5" dirty="0">
                <a:latin typeface="Arial" panose="020B0604020202020204" pitchFamily="34" charset="0"/>
                <a:cs typeface="Arial" panose="020B0604020202020204" pitchFamily="34" charset="0"/>
              </a:rPr>
              <a:t>di </a:t>
            </a:r>
            <a:r>
              <a:rPr sz="2200" spc="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massimizzare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3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200" spc="5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benefici</a:t>
            </a:r>
            <a:r>
              <a:rPr lang="it-IT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200" spc="9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20" dirty="0">
                <a:latin typeface="Arial" panose="020B0604020202020204" pitchFamily="34" charset="0"/>
                <a:cs typeface="Arial" panose="020B0604020202020204" pitchFamily="34" charset="0"/>
              </a:rPr>
              <a:t>società</a:t>
            </a:r>
            <a:r>
              <a:rPr sz="22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15" dirty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sz="220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5" dirty="0">
                <a:latin typeface="Arial" panose="020B0604020202020204" pitchFamily="34" charset="0"/>
                <a:cs typeface="Arial" panose="020B0604020202020204" pitchFamily="34" charset="0"/>
              </a:rPr>
              <a:t>suo</a:t>
            </a:r>
            <a:r>
              <a:rPr sz="22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30" dirty="0">
                <a:latin typeface="Arial" panose="020B0604020202020204" pitchFamily="34" charset="0"/>
                <a:cs typeface="Arial" panose="020B0604020202020204" pitchFamily="34" charset="0"/>
              </a:rPr>
              <a:t>complesso.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1080195" y="116632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3840" algn="ctr">
              <a:lnSpc>
                <a:spcPct val="100000"/>
              </a:lnSpc>
            </a:pPr>
            <a:r>
              <a:rPr lang="it-IT" sz="2800" b="1" spc="45" dirty="0">
                <a:latin typeface="Arial" panose="020B0604020202020204" pitchFamily="34" charset="0"/>
                <a:cs typeface="Arial" panose="020B0604020202020204" pitchFamily="34" charset="0"/>
              </a:rPr>
              <a:t>Interazione </a:t>
            </a:r>
            <a:r>
              <a:rPr lang="it-IT" sz="2800" b="1" spc="65" dirty="0">
                <a:latin typeface="Arial" panose="020B0604020202020204" pitchFamily="34" charset="0"/>
                <a:cs typeface="Arial" panose="020B0604020202020204" pitchFamily="34" charset="0"/>
              </a:rPr>
              <a:t>Uomo-Macchina</a:t>
            </a: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40" dirty="0">
                <a:latin typeface="Arial" panose="020B0604020202020204" pitchFamily="34" charset="0"/>
                <a:cs typeface="Arial" panose="020B0604020202020204" pitchFamily="34" charset="0"/>
              </a:rPr>
              <a:t>Avanzata</a:t>
            </a: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7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it-IT" sz="2800" b="1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75" dirty="0">
                <a:latin typeface="Arial" panose="020B0604020202020204" pitchFamily="34" charset="0"/>
                <a:cs typeface="Arial" panose="020B0604020202020204" pitchFamily="34" charset="0"/>
              </a:rPr>
              <a:t>Nuovi</a:t>
            </a: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45" dirty="0">
                <a:latin typeface="Arial" panose="020B0604020202020204" pitchFamily="34" charset="0"/>
                <a:cs typeface="Arial" panose="020B0604020202020204" pitchFamily="34" charset="0"/>
              </a:rPr>
              <a:t>Campi</a:t>
            </a:r>
            <a:r>
              <a:rPr lang="it-IT" sz="2800" b="1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35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lang="it-IT"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spc="50" dirty="0">
                <a:latin typeface="Arial" panose="020B0604020202020204" pitchFamily="34" charset="0"/>
                <a:cs typeface="Arial" panose="020B0604020202020204" pitchFamily="34" charset="0"/>
              </a:rPr>
              <a:t>Applicazione</a:t>
            </a:r>
            <a:endParaRPr lang="it-I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075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76139" y="1772816"/>
            <a:ext cx="9972625" cy="1655762"/>
          </a:xfrm>
        </p:spPr>
        <p:txBody>
          <a:bodyPr>
            <a:noAutofit/>
          </a:bodyPr>
          <a:lstStyle/>
          <a:p>
            <a:pPr algn="ctr"/>
            <a:r>
              <a:rPr lang="it-IT" sz="5400" b="1" u="sng" dirty="0" smtClean="0">
                <a:solidFill>
                  <a:schemeClr val="tx1">
                    <a:lumMod val="95000"/>
                  </a:schemeClr>
                </a:solidFill>
              </a:rPr>
              <a:t>Intelligenza </a:t>
            </a:r>
            <a:r>
              <a:rPr lang="it-IT" sz="5400" b="1" u="sng" dirty="0" smtClean="0">
                <a:solidFill>
                  <a:schemeClr val="tx1">
                    <a:lumMod val="95000"/>
                  </a:schemeClr>
                </a:solidFill>
              </a:rPr>
              <a:t>Artificiale</a:t>
            </a:r>
          </a:p>
          <a:p>
            <a:pPr algn="ctr"/>
            <a:endParaRPr lang="it-IT" sz="2800" b="1" u="sng" dirty="0" smtClean="0">
              <a:solidFill>
                <a:schemeClr val="tx1">
                  <a:lumMod val="95000"/>
                </a:schemeClr>
              </a:solidFill>
            </a:endParaRPr>
          </a:p>
          <a:p>
            <a:pPr algn="ctr"/>
            <a:r>
              <a:rPr lang="it-IT" sz="5400" b="1" u="sng" dirty="0" smtClean="0">
                <a:solidFill>
                  <a:schemeClr val="tx1">
                    <a:lumMod val="95000"/>
                  </a:schemeClr>
                </a:solidFill>
              </a:rPr>
              <a:t>Regolamentazione</a:t>
            </a:r>
            <a:endParaRPr lang="it-IT" sz="5400" b="1" u="sng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35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720155" y="764704"/>
            <a:ext cx="941931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600" b="0" i="0" dirty="0" smtClean="0">
                <a:solidFill>
                  <a:srgbClr val="FFFF00"/>
                </a:solidFill>
                <a:effectLst/>
                <a:latin typeface="droid-serif"/>
              </a:rPr>
              <a:t>Inevitabilmente, questa rapida evoluzione ha reso sempre più necessario e urgente una </a:t>
            </a:r>
            <a:r>
              <a:rPr lang="it-IT" sz="3600" b="1" i="0" dirty="0" smtClean="0">
                <a:solidFill>
                  <a:srgbClr val="FFFF00"/>
                </a:solidFill>
                <a:effectLst/>
                <a:latin typeface="droid-serif"/>
              </a:rPr>
              <a:t>regolamentazione della tecnologia</a:t>
            </a:r>
            <a:r>
              <a:rPr lang="it-IT" sz="3600" b="0" i="0" dirty="0" smtClean="0">
                <a:solidFill>
                  <a:srgbClr val="FFFF00"/>
                </a:solidFill>
                <a:effectLst/>
                <a:latin typeface="droid-serif"/>
              </a:rPr>
              <a:t>, che per sua natura (cioè la capacità di prendere decisioni e auto-apprendere) porta con sé implicazioni etiche importanti e delicate.</a:t>
            </a:r>
          </a:p>
          <a:p>
            <a:pPr algn="just"/>
            <a:r>
              <a:rPr lang="it-IT" sz="3600" dirty="0" smtClean="0">
                <a:solidFill>
                  <a:srgbClr val="FFFF00"/>
                </a:solidFill>
                <a:latin typeface="droid-serif"/>
              </a:rPr>
              <a:t>L</a:t>
            </a:r>
            <a:r>
              <a:rPr lang="it-IT" sz="3600" b="0" i="0" dirty="0" smtClean="0">
                <a:solidFill>
                  <a:srgbClr val="FFFF00"/>
                </a:solidFill>
                <a:effectLst/>
                <a:latin typeface="droid-serif"/>
              </a:rPr>
              <a:t>’UE ha quindi lavorato al cosiddetto </a:t>
            </a:r>
            <a:r>
              <a:rPr lang="it-IT" sz="3600" b="1" i="1" dirty="0" smtClean="0">
                <a:solidFill>
                  <a:srgbClr val="FFFF00"/>
                </a:solidFill>
                <a:effectLst/>
                <a:latin typeface="droid-serif"/>
              </a:rPr>
              <a:t>AI </a:t>
            </a:r>
            <a:r>
              <a:rPr lang="it-IT" sz="3600" b="1" i="1" dirty="0" err="1" smtClean="0">
                <a:solidFill>
                  <a:srgbClr val="FFFF00"/>
                </a:solidFill>
                <a:effectLst/>
                <a:latin typeface="droid-serif"/>
              </a:rPr>
              <a:t>Act</a:t>
            </a:r>
            <a:r>
              <a:rPr lang="it-IT" sz="3600" b="1" i="0" dirty="0" smtClean="0">
                <a:solidFill>
                  <a:srgbClr val="FFFF00"/>
                </a:solidFill>
                <a:effectLst/>
                <a:latin typeface="droid-serif"/>
              </a:rPr>
              <a:t>, un primo quadro normativo sull’</a:t>
            </a:r>
            <a:r>
              <a:rPr lang="it-IT" sz="3600" b="1" i="0" dirty="0" err="1" smtClean="0">
                <a:solidFill>
                  <a:srgbClr val="FFFF00"/>
                </a:solidFill>
                <a:effectLst/>
                <a:latin typeface="droid-serif"/>
              </a:rPr>
              <a:t>Artificial</a:t>
            </a:r>
            <a:r>
              <a:rPr lang="it-IT" sz="3600" b="1" i="0" dirty="0" smtClean="0">
                <a:solidFill>
                  <a:srgbClr val="FFFF00"/>
                </a:solidFill>
                <a:effectLst/>
                <a:latin typeface="droid-serif"/>
              </a:rPr>
              <a:t> Intelligence.</a:t>
            </a:r>
            <a:endParaRPr lang="it-IT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219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792164" y="620688"/>
            <a:ext cx="9433048" cy="512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Aft>
                <a:spcPts val="600"/>
              </a:spcAft>
            </a:pPr>
            <a:r>
              <a:rPr lang="it-IT" sz="3600" b="1" i="0" u="none" strike="noStrike" dirty="0" smtClean="0">
                <a:solidFill>
                  <a:srgbClr val="FFFF00"/>
                </a:solidFill>
                <a:effectLst/>
                <a:latin typeface="Ubuntu"/>
              </a:rPr>
              <a:t>Che cos’è l’AI </a:t>
            </a:r>
            <a:r>
              <a:rPr lang="it-IT" sz="3600" b="1" i="0" u="none" strike="noStrike" dirty="0" err="1" smtClean="0">
                <a:solidFill>
                  <a:srgbClr val="FFFF00"/>
                </a:solidFill>
                <a:effectLst/>
                <a:latin typeface="Ubuntu"/>
              </a:rPr>
              <a:t>Act</a:t>
            </a:r>
            <a:r>
              <a:rPr lang="it-IT" sz="3600" b="1" i="0" u="none" strike="noStrike" dirty="0" smtClean="0">
                <a:solidFill>
                  <a:srgbClr val="FFFF00"/>
                </a:solidFill>
                <a:effectLst/>
                <a:latin typeface="Ubuntu"/>
              </a:rPr>
              <a:t> e perché è importante</a:t>
            </a:r>
          </a:p>
          <a:p>
            <a:pPr fontAlgn="base">
              <a:spcAft>
                <a:spcPts val="600"/>
              </a:spcAft>
            </a:pPr>
            <a:endParaRPr lang="it-IT" sz="2600" b="1" i="0" dirty="0" smtClean="0">
              <a:solidFill>
                <a:srgbClr val="FFFF00"/>
              </a:solidFill>
              <a:effectLst/>
              <a:latin typeface="droid-serif"/>
            </a:endParaRPr>
          </a:p>
          <a:p>
            <a:pPr fontAlgn="base">
              <a:spcAft>
                <a:spcPts val="600"/>
              </a:spcAft>
            </a:pPr>
            <a:endParaRPr lang="it-IT" sz="2600" b="1" dirty="0">
              <a:solidFill>
                <a:srgbClr val="FFFF00"/>
              </a:solidFill>
              <a:latin typeface="droid-serif"/>
            </a:endParaRPr>
          </a:p>
          <a:p>
            <a:pPr algn="just" fontAlgn="base">
              <a:spcAft>
                <a:spcPts val="600"/>
              </a:spcAft>
            </a:pPr>
            <a:r>
              <a:rPr lang="it-IT" sz="3200" b="1" i="0" dirty="0" smtClean="0">
                <a:solidFill>
                  <a:srgbClr val="FFFF00"/>
                </a:solidFill>
                <a:effectLst/>
                <a:latin typeface="droid-serif"/>
              </a:rPr>
              <a:t>L’obiettivo dell’AI </a:t>
            </a:r>
            <a:r>
              <a:rPr lang="it-IT" sz="3200" b="1" i="0" dirty="0" err="1" smtClean="0">
                <a:solidFill>
                  <a:srgbClr val="FFFF00"/>
                </a:solidFill>
                <a:effectLst/>
                <a:latin typeface="droid-serif"/>
              </a:rPr>
              <a:t>Act</a:t>
            </a:r>
            <a:r>
              <a:rPr lang="it-IT" sz="3200" b="1" i="0" dirty="0" smtClean="0">
                <a:solidFill>
                  <a:srgbClr val="FFFF00"/>
                </a:solidFill>
                <a:effectLst/>
                <a:latin typeface="droid-serif"/>
              </a:rPr>
              <a:t> è assicurare che i sistemi AI utilizzati all’interno dell’Unione Europea siano completamente in linea con i diritti e i valori dell’UE</a:t>
            </a:r>
            <a:r>
              <a:rPr lang="it-IT" sz="3200" b="0" i="0" dirty="0" smtClean="0">
                <a:solidFill>
                  <a:srgbClr val="FFFF00"/>
                </a:solidFill>
                <a:effectLst/>
                <a:latin typeface="droid-serif"/>
              </a:rPr>
              <a:t>, </a:t>
            </a:r>
            <a:r>
              <a:rPr lang="it-IT" sz="3200" b="0" i="0" dirty="0" err="1" smtClean="0">
                <a:solidFill>
                  <a:srgbClr val="FFFF00"/>
                </a:solidFill>
                <a:effectLst/>
                <a:latin typeface="droid-serif"/>
              </a:rPr>
              <a:t>garandendo</a:t>
            </a:r>
            <a:r>
              <a:rPr lang="it-IT" sz="3200" b="0" i="0" dirty="0" smtClean="0">
                <a:solidFill>
                  <a:srgbClr val="FFFF00"/>
                </a:solidFill>
                <a:effectLst/>
                <a:latin typeface="droid-serif"/>
              </a:rPr>
              <a:t> il controllo umano, la sicurezza, la privacy, la trasparenza, la non discriminazione e il benessere sociale e ambientale.</a:t>
            </a:r>
          </a:p>
        </p:txBody>
      </p:sp>
    </p:spTree>
    <p:extLst>
      <p:ext uri="{BB962C8B-B14F-4D97-AF65-F5344CB8AC3E}">
        <p14:creationId xmlns:p14="http://schemas.microsoft.com/office/powerpoint/2010/main" val="3836206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648147" y="0"/>
            <a:ext cx="9433048" cy="660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Aft>
                <a:spcPts val="600"/>
              </a:spcAft>
            </a:pPr>
            <a:r>
              <a:rPr lang="it-IT" sz="3600" b="1" i="0" u="none" strike="noStrike" dirty="0" smtClean="0">
                <a:solidFill>
                  <a:srgbClr val="FFFF00"/>
                </a:solidFill>
                <a:effectLst/>
                <a:latin typeface="Ubuntu"/>
              </a:rPr>
              <a:t>Che cos’è l’AI </a:t>
            </a:r>
            <a:r>
              <a:rPr lang="it-IT" sz="3600" b="1" i="0" u="none" strike="noStrike" dirty="0" err="1" smtClean="0">
                <a:solidFill>
                  <a:srgbClr val="FFFF00"/>
                </a:solidFill>
                <a:effectLst/>
                <a:latin typeface="Ubuntu"/>
              </a:rPr>
              <a:t>Act</a:t>
            </a:r>
            <a:r>
              <a:rPr lang="it-IT" sz="3600" b="1" i="0" u="none" strike="noStrike" dirty="0" smtClean="0">
                <a:solidFill>
                  <a:srgbClr val="FFFF00"/>
                </a:solidFill>
                <a:effectLst/>
                <a:latin typeface="Ubuntu"/>
              </a:rPr>
              <a:t> e perché è importante</a:t>
            </a:r>
          </a:p>
          <a:p>
            <a:pPr algn="just" fontAlgn="base">
              <a:spcAft>
                <a:spcPts val="600"/>
              </a:spcAft>
            </a:pPr>
            <a:endParaRPr lang="it-IT" sz="2600" b="0" i="0" dirty="0" smtClean="0">
              <a:solidFill>
                <a:srgbClr val="FFFF00"/>
              </a:solidFill>
              <a:effectLst/>
              <a:latin typeface="droid-serif"/>
            </a:endParaRPr>
          </a:p>
          <a:p>
            <a:pPr algn="just" fontAlgn="base">
              <a:spcAft>
                <a:spcPts val="1800"/>
              </a:spcAft>
            </a:pPr>
            <a:r>
              <a:rPr lang="it-IT" sz="2800" b="0" i="0" dirty="0" smtClean="0">
                <a:solidFill>
                  <a:srgbClr val="FFFF00"/>
                </a:solidFill>
                <a:effectLst/>
                <a:latin typeface="droid-serif"/>
              </a:rPr>
              <a:t>Le applicazioni AI, infatti, stanno raggiungendo capacità di analisi real-time sempre maggiori e possono “decidere” quali azioni intraprendere sulla base dei dati a disposizione. È proprio questa capacità di decidere e apprendere che rende necessarie delle valutazioni etiche.</a:t>
            </a:r>
            <a:r>
              <a:rPr lang="it-IT" sz="2800" b="1" i="0" dirty="0" smtClean="0">
                <a:solidFill>
                  <a:srgbClr val="FFFF00"/>
                </a:solidFill>
                <a:effectLst/>
                <a:latin typeface="droid-serif"/>
              </a:rPr>
              <a:t> </a:t>
            </a:r>
          </a:p>
          <a:p>
            <a:pPr algn="just" fontAlgn="base">
              <a:spcAft>
                <a:spcPts val="600"/>
              </a:spcAft>
            </a:pPr>
            <a:r>
              <a:rPr lang="it-IT" sz="2800" b="1" i="0" dirty="0" smtClean="0">
                <a:solidFill>
                  <a:srgbClr val="FFFF00"/>
                </a:solidFill>
                <a:effectLst/>
                <a:latin typeface="droid-serif"/>
              </a:rPr>
              <a:t>Se un’applicazione AI prende una decisione sbagliata o che privilegia ingiustamente o danneggia un essere umano, di chi sarà la responsabilità?</a:t>
            </a:r>
            <a:r>
              <a:rPr lang="it-IT" sz="2800" b="0" i="0" dirty="0" smtClean="0">
                <a:solidFill>
                  <a:srgbClr val="FFFF00"/>
                </a:solidFill>
                <a:effectLst/>
                <a:latin typeface="droid-serif"/>
              </a:rPr>
              <a:t> Un compito molto complesso: le norme che regolano l’uso delle tecnologie devono proteggere la privacy e l’incolumità dei cittadini, senza però limitare le possibilità di sperimentazione delle applicazioni.</a:t>
            </a:r>
            <a:endParaRPr lang="it-IT" sz="2800" b="0" i="0" dirty="0">
              <a:solidFill>
                <a:srgbClr val="FFFF00"/>
              </a:solidFill>
              <a:effectLst/>
              <a:latin typeface="droid-serif"/>
            </a:endParaRPr>
          </a:p>
        </p:txBody>
      </p:sp>
    </p:spTree>
    <p:extLst>
      <p:ext uri="{BB962C8B-B14F-4D97-AF65-F5344CB8AC3E}">
        <p14:creationId xmlns:p14="http://schemas.microsoft.com/office/powerpoint/2010/main" val="3059370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735018" y="908720"/>
            <a:ext cx="943304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it-IT" sz="3600" b="0" i="0" u="none" strike="noStrike" dirty="0" smtClean="0">
                <a:solidFill>
                  <a:srgbClr val="FFFF00"/>
                </a:solidFill>
                <a:effectLst/>
                <a:latin typeface="Ubuntu"/>
              </a:rPr>
              <a:t>Cosa prevede l’AI </a:t>
            </a:r>
            <a:r>
              <a:rPr lang="it-IT" sz="3600" b="0" i="0" u="none" strike="noStrike" dirty="0" err="1" smtClean="0">
                <a:solidFill>
                  <a:srgbClr val="FFFF00"/>
                </a:solidFill>
                <a:effectLst/>
                <a:latin typeface="Ubuntu"/>
              </a:rPr>
              <a:t>Act</a:t>
            </a:r>
            <a:endParaRPr lang="it-IT" sz="3600" b="1" i="0" u="none" strike="noStrike" dirty="0" smtClean="0">
              <a:solidFill>
                <a:srgbClr val="FFFF00"/>
              </a:solidFill>
              <a:effectLst/>
              <a:latin typeface="Ubuntu"/>
            </a:endParaRPr>
          </a:p>
          <a:p>
            <a:pPr algn="just" fontAlgn="base"/>
            <a:endParaRPr lang="it-IT" sz="3600" b="1" dirty="0">
              <a:solidFill>
                <a:srgbClr val="FFFF00"/>
              </a:solidFill>
              <a:latin typeface="Ubuntu"/>
            </a:endParaRPr>
          </a:p>
          <a:p>
            <a:pPr algn="just" fontAlgn="base"/>
            <a:endParaRPr lang="it-IT" sz="3600" b="1" i="0" dirty="0" smtClean="0">
              <a:solidFill>
                <a:srgbClr val="FFFF00"/>
              </a:solidFill>
              <a:effectLst/>
              <a:latin typeface="Ubuntu"/>
            </a:endParaRPr>
          </a:p>
          <a:p>
            <a:pPr algn="just" fontAlgn="base"/>
            <a:r>
              <a:rPr lang="it-IT" sz="3600" b="1" i="0" dirty="0" smtClean="0">
                <a:solidFill>
                  <a:srgbClr val="FFFF00"/>
                </a:solidFill>
                <a:effectLst/>
                <a:latin typeface="droid-serif"/>
              </a:rPr>
              <a:t>Il Regolamento sull’IA stabilisce 4 livelli di rischio</a:t>
            </a:r>
            <a:r>
              <a:rPr lang="it-IT" sz="3600" b="0" i="0" dirty="0" smtClean="0">
                <a:solidFill>
                  <a:srgbClr val="FFFF00"/>
                </a:solidFill>
                <a:effectLst/>
                <a:latin typeface="droid-serif"/>
              </a:rPr>
              <a:t> secondo cui categorizzare le applicazioni AI, che dovranno di conseguenza essere sottoposte a livelli diversi di monitoraggio.</a:t>
            </a:r>
          </a:p>
        </p:txBody>
      </p:sp>
    </p:spTree>
    <p:extLst>
      <p:ext uri="{BB962C8B-B14F-4D97-AF65-F5344CB8AC3E}">
        <p14:creationId xmlns:p14="http://schemas.microsoft.com/office/powerpoint/2010/main" val="3577182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1080195" y="1196752"/>
            <a:ext cx="91450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/>
            <a:r>
              <a:rPr lang="it-IT" sz="3200" i="1" dirty="0">
                <a:solidFill>
                  <a:srgbClr val="FFFF00"/>
                </a:solidFill>
                <a:latin typeface="Ubuntu"/>
              </a:rPr>
              <a:t>Rischio </a:t>
            </a:r>
            <a:r>
              <a:rPr lang="it-IT" sz="3200" i="1" dirty="0" smtClean="0">
                <a:solidFill>
                  <a:srgbClr val="FFFF00"/>
                </a:solidFill>
                <a:latin typeface="Ubuntu"/>
              </a:rPr>
              <a:t>inaccettabile</a:t>
            </a:r>
          </a:p>
          <a:p>
            <a:pPr lvl="0" algn="just" fontAlgn="base"/>
            <a:endParaRPr lang="it-IT" sz="3200" b="1" dirty="0">
              <a:solidFill>
                <a:srgbClr val="FFFF00"/>
              </a:solidFill>
              <a:latin typeface="Ubuntu"/>
            </a:endParaRPr>
          </a:p>
          <a:p>
            <a:pPr lvl="0" algn="just" fontAlgn="base"/>
            <a:r>
              <a:rPr lang="it-IT" sz="3200" dirty="0">
                <a:solidFill>
                  <a:srgbClr val="FFFF00"/>
                </a:solidFill>
                <a:latin typeface="droid-serif"/>
              </a:rPr>
              <a:t>Sono strettamente vietate le applicazioni che utilizzano tecniche subliminali o sistemi di punteggio sociale utilizzati dalle autorità pubbliche. Sono inoltre vietati i sistemi di identificazione biometrica remota in tempo reale utilizzati dalle forze dell’ordine in spazi pubblicamente accessibili</a:t>
            </a:r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.</a:t>
            </a:r>
            <a:endParaRPr lang="it-IT" sz="3200" dirty="0">
              <a:solidFill>
                <a:srgbClr val="FFFF00"/>
              </a:solidFill>
              <a:latin typeface="droid-serif"/>
            </a:endParaRPr>
          </a:p>
        </p:txBody>
      </p:sp>
    </p:spTree>
    <p:extLst>
      <p:ext uri="{BB962C8B-B14F-4D97-AF65-F5344CB8AC3E}">
        <p14:creationId xmlns:p14="http://schemas.microsoft.com/office/powerpoint/2010/main" val="1195036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936179" y="188640"/>
            <a:ext cx="9217024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/>
            <a:r>
              <a:rPr lang="it-IT" sz="2800" i="1" dirty="0" smtClean="0">
                <a:solidFill>
                  <a:srgbClr val="FFFF00"/>
                </a:solidFill>
                <a:latin typeface="Ubuntu"/>
              </a:rPr>
              <a:t>Rischio alto</a:t>
            </a:r>
          </a:p>
          <a:p>
            <a:pPr lvl="0" algn="just" fontAlgn="base"/>
            <a:endParaRPr lang="it-IT" sz="2800" b="1" i="1" dirty="0">
              <a:solidFill>
                <a:srgbClr val="FFFF00"/>
              </a:solidFill>
              <a:latin typeface="Ubuntu"/>
            </a:endParaRPr>
          </a:p>
          <a:p>
            <a:pPr lvl="0" algn="just" fontAlgn="base"/>
            <a:r>
              <a:rPr lang="it-IT" sz="2800" dirty="0" smtClean="0">
                <a:solidFill>
                  <a:srgbClr val="FFFF00"/>
                </a:solidFill>
                <a:latin typeface="droid-serif"/>
              </a:rPr>
              <a:t>Queste includono applicazioni legate ai trasporti, all’istruzione, all’impiego e al welfare, tra le altre. Prima di mettere sul mercato o in servizio nell’UE un sistema di IA ad alto rischio, le aziende devono condurre una “valutazione di conformità” preliminare e soddisfare un lungo elenco di requisiti per garantire la sicurezza del sistema. Come misura pragmatica, il regolamento prevede anche che la Commissione europea crei e mantenga un database di accesso pubblico in cui i fornitori saranno obbligati a fornire informazioni sui loro sistemi di IA ad alto rischio, garantendo trasparenza per tutte le parti interessate.</a:t>
            </a:r>
          </a:p>
          <a:p>
            <a:pPr lvl="0" algn="just" fontAlgn="base"/>
            <a:endParaRPr lang="it-IT" sz="2800" dirty="0">
              <a:solidFill>
                <a:srgbClr val="FFFF00"/>
              </a:solidFill>
              <a:latin typeface="droid-serif"/>
            </a:endParaRPr>
          </a:p>
        </p:txBody>
      </p:sp>
    </p:spTree>
    <p:extLst>
      <p:ext uri="{BB962C8B-B14F-4D97-AF65-F5344CB8AC3E}">
        <p14:creationId xmlns:p14="http://schemas.microsoft.com/office/powerpoint/2010/main" val="2469996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1036923" y="620688"/>
            <a:ext cx="88282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/>
            <a:r>
              <a:rPr lang="it-IT" sz="3200" i="1" dirty="0">
                <a:solidFill>
                  <a:srgbClr val="FFFF00"/>
                </a:solidFill>
                <a:latin typeface="Ubuntu"/>
              </a:rPr>
              <a:t>Rischio limitato</a:t>
            </a:r>
            <a:endParaRPr lang="it-IT" sz="3200" b="1" dirty="0">
              <a:solidFill>
                <a:srgbClr val="FFFF00"/>
              </a:solidFill>
              <a:latin typeface="Ubuntu"/>
            </a:endParaRPr>
          </a:p>
          <a:p>
            <a:pPr lvl="0" algn="just" fontAlgn="base"/>
            <a:endParaRPr lang="it-IT" sz="3200" dirty="0" smtClean="0">
              <a:solidFill>
                <a:srgbClr val="FFFF00"/>
              </a:solidFill>
              <a:latin typeface="droid-serif"/>
            </a:endParaRPr>
          </a:p>
          <a:p>
            <a:pPr lvl="0" algn="just" fontAlgn="base"/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Si </a:t>
            </a:r>
            <a:r>
              <a:rPr lang="it-IT" sz="3200" dirty="0">
                <a:solidFill>
                  <a:srgbClr val="FFFF00"/>
                </a:solidFill>
                <a:latin typeface="droid-serif"/>
              </a:rPr>
              <a:t>riferiscono a sistemi di IA che soddisfano specifici obblighi di trasparenza. Ad esempio, un individuo che interagisce con un </a:t>
            </a:r>
            <a:r>
              <a:rPr lang="it-IT" sz="3200" dirty="0" err="1">
                <a:solidFill>
                  <a:srgbClr val="FFFF00"/>
                </a:solidFill>
                <a:latin typeface="droid-serif"/>
              </a:rPr>
              <a:t>chatbot</a:t>
            </a:r>
            <a:r>
              <a:rPr lang="it-IT" sz="3200" dirty="0">
                <a:solidFill>
                  <a:srgbClr val="FFFF00"/>
                </a:solidFill>
                <a:latin typeface="droid-serif"/>
              </a:rPr>
              <a:t> deve essere informato che sta interagendo con una macchina in modo da poter decidere se procedere (o richiedere di parlare con un essere umano</a:t>
            </a:r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).</a:t>
            </a:r>
            <a:endParaRPr lang="it-IT" sz="3200" dirty="0">
              <a:solidFill>
                <a:srgbClr val="FFFF00"/>
              </a:solidFill>
              <a:latin typeface="droid-serif"/>
            </a:endParaRPr>
          </a:p>
        </p:txBody>
      </p:sp>
    </p:spTree>
    <p:extLst>
      <p:ext uri="{BB962C8B-B14F-4D97-AF65-F5344CB8AC3E}">
        <p14:creationId xmlns:p14="http://schemas.microsoft.com/office/powerpoint/2010/main" val="2417757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936179" y="908720"/>
            <a:ext cx="914501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/>
            <a:r>
              <a:rPr lang="it-IT" sz="3200" i="1" dirty="0">
                <a:solidFill>
                  <a:srgbClr val="FFFF00"/>
                </a:solidFill>
                <a:latin typeface="Ubuntu"/>
              </a:rPr>
              <a:t>Rischio </a:t>
            </a:r>
            <a:r>
              <a:rPr lang="it-IT" sz="3200" i="1" dirty="0" smtClean="0">
                <a:solidFill>
                  <a:srgbClr val="FFFF00"/>
                </a:solidFill>
                <a:latin typeface="Ubuntu"/>
              </a:rPr>
              <a:t>minimo</a:t>
            </a:r>
          </a:p>
          <a:p>
            <a:pPr lvl="0" algn="just" fontAlgn="base"/>
            <a:endParaRPr lang="it-IT" sz="3200" b="1" dirty="0" smtClean="0">
              <a:solidFill>
                <a:srgbClr val="FFFF00"/>
              </a:solidFill>
              <a:latin typeface="Ubuntu"/>
            </a:endParaRPr>
          </a:p>
          <a:p>
            <a:pPr lvl="0" algn="just" fontAlgn="base"/>
            <a:endParaRPr lang="it-IT" sz="3200" b="1" dirty="0">
              <a:solidFill>
                <a:srgbClr val="FFFF00"/>
              </a:solidFill>
              <a:latin typeface="Ubuntu"/>
            </a:endParaRPr>
          </a:p>
          <a:p>
            <a:pPr lvl="0" algn="just" fontAlgn="base"/>
            <a:r>
              <a:rPr lang="it-IT" sz="3200" dirty="0">
                <a:solidFill>
                  <a:srgbClr val="FFFF00"/>
                </a:solidFill>
                <a:latin typeface="droid-serif"/>
              </a:rPr>
              <a:t>Queste applicazioni sono già ampiamente diffuse e costituiscono la maggior parte dei sistemi di IA con cui interagiamo oggi. Esempi includono filtri antispam, videogiochi abilitati all’IA e sistemi di gestione delle scorte</a:t>
            </a:r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.</a:t>
            </a:r>
            <a:endParaRPr lang="it-IT" sz="3200" dirty="0">
              <a:solidFill>
                <a:srgbClr val="FFFF00"/>
              </a:solidFill>
              <a:latin typeface="droid-serif"/>
            </a:endParaRPr>
          </a:p>
        </p:txBody>
      </p:sp>
    </p:spTree>
    <p:extLst>
      <p:ext uri="{BB962C8B-B14F-4D97-AF65-F5344CB8AC3E}">
        <p14:creationId xmlns:p14="http://schemas.microsoft.com/office/powerpoint/2010/main" val="2422846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1080194" y="2204864"/>
            <a:ext cx="885698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/>
            <a:r>
              <a:rPr lang="it-IT" sz="3200" dirty="0">
                <a:solidFill>
                  <a:srgbClr val="FFFF00"/>
                </a:solidFill>
                <a:latin typeface="droid-serif"/>
              </a:rPr>
              <a:t>Inoltre l’AI </a:t>
            </a:r>
            <a:r>
              <a:rPr lang="it-IT" sz="3200" dirty="0" err="1">
                <a:solidFill>
                  <a:srgbClr val="FFFF00"/>
                </a:solidFill>
                <a:latin typeface="droid-serif"/>
              </a:rPr>
              <a:t>Act</a:t>
            </a:r>
            <a:r>
              <a:rPr lang="it-IT" sz="3200" dirty="0">
                <a:solidFill>
                  <a:srgbClr val="FFFF00"/>
                </a:solidFill>
                <a:latin typeface="droid-serif"/>
              </a:rPr>
              <a:t> stabilisce che la responsabilità primaria sarà a carico </a:t>
            </a:r>
            <a:r>
              <a:rPr lang="it-IT" sz="3200" b="1" u="sng" dirty="0">
                <a:solidFill>
                  <a:srgbClr val="FFFF00"/>
                </a:solidFill>
                <a:latin typeface="droid-serif"/>
              </a:rPr>
              <a:t>dei “fornitori” </a:t>
            </a:r>
            <a:r>
              <a:rPr lang="it-IT" sz="3200" dirty="0">
                <a:solidFill>
                  <a:srgbClr val="FFFF00"/>
                </a:solidFill>
                <a:latin typeface="droid-serif"/>
              </a:rPr>
              <a:t>di sistemi di IA; tuttavia, determinate responsabilità saranno assegnate anche a distributori, importatori, utenti e altri terzi, influenzando l’intero ecosistema.</a:t>
            </a:r>
            <a:endParaRPr lang="it-IT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905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1110702" y="1916832"/>
            <a:ext cx="885698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/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Le sanzioni possono arrivare al 4% del fatturato dell’azienda.</a:t>
            </a:r>
          </a:p>
          <a:p>
            <a:pPr lvl="0" algn="just" fontAlgn="base"/>
            <a:endParaRPr lang="it-IT" sz="3200" dirty="0">
              <a:solidFill>
                <a:srgbClr val="FFFF00"/>
              </a:solidFill>
              <a:latin typeface="droid-serif"/>
            </a:endParaRPr>
          </a:p>
          <a:p>
            <a:pPr lvl="0" algn="just" fontAlgn="base"/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Come prima conseguenza di questo regolamento OPEN AI ha dichiarato che tutti i risultati prodotti dalla sua IA avranno una filigrana speciale che li distinguerà dagli altri.</a:t>
            </a:r>
            <a:endParaRPr lang="it-IT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759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2609</Words>
  <Application>Microsoft Office PowerPoint</Application>
  <PresentationFormat>Personalizzato</PresentationFormat>
  <Paragraphs>110</Paragraphs>
  <Slides>26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27" baseType="lpstr">
      <vt:lpstr>Circuito</vt:lpstr>
      <vt:lpstr>Fondazione ITS   Information &amp; Communications Technology Academy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Fondazione ITS   Information &amp; Communications Technology Academy</dc:title>
  <dc:creator>Enzo Chilelli</dc:creator>
  <cp:lastModifiedBy>Enzo Chilelli</cp:lastModifiedBy>
  <cp:revision>13</cp:revision>
  <dcterms:created xsi:type="dcterms:W3CDTF">2024-02-15T16:10:22Z</dcterms:created>
  <dcterms:modified xsi:type="dcterms:W3CDTF">2024-04-09T12:39:16Z</dcterms:modified>
</cp:coreProperties>
</file>