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3615" y="374091"/>
            <a:ext cx="4966334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472" y="134238"/>
            <a:ext cx="8720963" cy="788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F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994" y="2044699"/>
            <a:ext cx="9439275" cy="429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manca@land.it" TargetMode="External"/><Relationship Id="rId3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904" y="2185873"/>
            <a:ext cx="8378190" cy="1392555"/>
          </a:xfrm>
          <a:prstGeom prst="rect"/>
        </p:spPr>
        <p:txBody>
          <a:bodyPr wrap="square" lIns="0" tIns="62230" rIns="0" bIns="0" rtlCol="0" vert="horz">
            <a:spAutoFit/>
          </a:bodyPr>
          <a:lstStyle/>
          <a:p>
            <a:pPr algn="ctr" marL="12065" marR="5080" indent="-2540">
              <a:lnSpc>
                <a:spcPct val="90000"/>
              </a:lnSpc>
              <a:spcBef>
                <a:spcPts val="490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eIDAS</a:t>
            </a:r>
            <a:r>
              <a:rPr dirty="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2.0</a:t>
            </a:r>
            <a:r>
              <a:rPr dirty="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dirty="0" spc="-6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Pregi,</a:t>
            </a:r>
            <a:r>
              <a:rPr dirty="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difetti</a:t>
            </a:r>
            <a:r>
              <a:rPr dirty="0" spc="-5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dirty="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criticità</a:t>
            </a:r>
            <a:r>
              <a:rPr dirty="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nel</a:t>
            </a:r>
            <a:r>
              <a:rPr dirty="0" spc="-8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000000"/>
                </a:solidFill>
                <a:latin typeface="Calibri"/>
                <a:cs typeface="Calibri"/>
              </a:rPr>
              <a:t>nuovo regolamento</a:t>
            </a:r>
            <a:r>
              <a:rPr dirty="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europeo</a:t>
            </a:r>
            <a:r>
              <a:rPr dirty="0" spc="-5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su</a:t>
            </a:r>
            <a:r>
              <a:rPr dirty="0" spc="-4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identità</a:t>
            </a:r>
            <a:r>
              <a:rPr dirty="0" spc="-6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digitale</a:t>
            </a:r>
            <a:r>
              <a:rPr dirty="0" spc="-7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e</a:t>
            </a:r>
            <a:r>
              <a:rPr dirty="0" spc="-45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000000"/>
                </a:solidFill>
                <a:latin typeface="Calibri"/>
                <a:cs typeface="Calibri"/>
              </a:rPr>
              <a:t>servizi fiduciari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363973" y="3863893"/>
            <a:ext cx="3464560" cy="139700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dirty="0" sz="2400" b="1">
                <a:latin typeface="Calibri"/>
                <a:cs typeface="Calibri"/>
              </a:rPr>
              <a:t>Giovanni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Manca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–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LAND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Srl</a:t>
            </a:r>
            <a:endParaRPr sz="24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720"/>
              </a:spcBef>
            </a:pPr>
            <a:r>
              <a:rPr dirty="0" sz="2400" spc="-10" b="1">
                <a:latin typeface="Calibri"/>
                <a:cs typeface="Calibri"/>
              </a:rPr>
              <a:t>PROCEDAMUS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–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10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anni</a:t>
            </a:r>
            <a:endParaRPr sz="24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710"/>
              </a:spcBef>
            </a:pPr>
            <a:r>
              <a:rPr dirty="0" sz="2400" b="1">
                <a:latin typeface="Calibri"/>
                <a:cs typeface="Calibri"/>
              </a:rPr>
              <a:t>21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giugno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2024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419100"/>
            <a:ext cx="5720524" cy="103632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37064" y="6143244"/>
            <a:ext cx="197967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4339" y="814273"/>
            <a:ext cx="205105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Trebuchet MS"/>
                <a:cs typeface="Trebuchet MS"/>
              </a:rPr>
              <a:t>AGENDA</a:t>
            </a:r>
            <a:r>
              <a:rPr dirty="0" sz="3000" spc="-204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-</a:t>
            </a:r>
            <a:r>
              <a:rPr dirty="0" sz="3000" spc="-15">
                <a:latin typeface="Trebuchet MS"/>
                <a:cs typeface="Trebuchet MS"/>
              </a:rPr>
              <a:t> </a:t>
            </a:r>
            <a:r>
              <a:rPr dirty="0" sz="3000" spc="-50">
                <a:latin typeface="Trebuchet MS"/>
                <a:cs typeface="Trebuchet MS"/>
              </a:rPr>
              <a:t>1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023110" y="1405889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50545" indent="-53784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550545" algn="l"/>
              </a:tabLst>
            </a:pPr>
            <a:r>
              <a:rPr dirty="0"/>
              <a:t>Stato</a:t>
            </a:r>
            <a:r>
              <a:rPr dirty="0" spc="-30"/>
              <a:t> </a:t>
            </a:r>
            <a:r>
              <a:rPr dirty="0"/>
              <a:t>dell’arte</a:t>
            </a:r>
            <a:r>
              <a:rPr dirty="0" spc="-60"/>
              <a:t> </a:t>
            </a:r>
            <a:r>
              <a:rPr dirty="0"/>
              <a:t>di</a:t>
            </a:r>
            <a:r>
              <a:rPr dirty="0" spc="-55"/>
              <a:t> </a:t>
            </a:r>
            <a:r>
              <a:rPr dirty="0"/>
              <a:t>eIDAS</a:t>
            </a:r>
            <a:r>
              <a:rPr dirty="0" spc="-65"/>
              <a:t> </a:t>
            </a:r>
            <a:r>
              <a:rPr dirty="0" spc="-20"/>
              <a:t>2</a:t>
            </a:r>
            <a:r>
              <a:rPr dirty="0" spc="-20" i="1">
                <a:latin typeface="Trebuchet MS"/>
                <a:cs typeface="Trebuchet MS"/>
              </a:rPr>
              <a:t>.</a:t>
            </a:r>
            <a:r>
              <a:rPr dirty="0" spc="-20"/>
              <a:t>0.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marL="550545" indent="-537845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/>
              <a:t>Il</a:t>
            </a:r>
            <a:r>
              <a:rPr dirty="0" spc="-105"/>
              <a:t> </a:t>
            </a:r>
            <a:r>
              <a:rPr dirty="0" spc="-10"/>
              <a:t>Portafoglio</a:t>
            </a:r>
            <a:r>
              <a:rPr dirty="0" spc="-70"/>
              <a:t> </a:t>
            </a:r>
            <a:r>
              <a:rPr dirty="0"/>
              <a:t>Europeo</a:t>
            </a:r>
            <a:r>
              <a:rPr dirty="0" spc="-100"/>
              <a:t> </a:t>
            </a:r>
            <a:r>
              <a:rPr dirty="0"/>
              <a:t>di</a:t>
            </a:r>
            <a:r>
              <a:rPr dirty="0" spc="-100"/>
              <a:t> </a:t>
            </a:r>
            <a:r>
              <a:rPr dirty="0"/>
              <a:t>Identità</a:t>
            </a:r>
            <a:r>
              <a:rPr dirty="0" spc="-75"/>
              <a:t> </a:t>
            </a:r>
            <a:r>
              <a:rPr dirty="0" spc="-10"/>
              <a:t>Digitale.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marL="550545" indent="-537845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 spc="-25"/>
              <a:t>L’attestazione</a:t>
            </a:r>
            <a:r>
              <a:rPr dirty="0" spc="-55"/>
              <a:t> </a:t>
            </a:r>
            <a:r>
              <a:rPr dirty="0"/>
              <a:t>elettronica</a:t>
            </a:r>
            <a:r>
              <a:rPr dirty="0" spc="-60"/>
              <a:t> </a:t>
            </a:r>
            <a:r>
              <a:rPr dirty="0"/>
              <a:t>degli</a:t>
            </a:r>
            <a:r>
              <a:rPr dirty="0" spc="-90"/>
              <a:t> </a:t>
            </a:r>
            <a:r>
              <a:rPr dirty="0" spc="-10"/>
              <a:t>attributi.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algn="just" marL="548005" marR="5080" indent="-535940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/>
              <a:t>Il</a:t>
            </a:r>
            <a:r>
              <a:rPr dirty="0" spc="10"/>
              <a:t> </a:t>
            </a:r>
            <a:r>
              <a:rPr dirty="0"/>
              <a:t>servizio</a:t>
            </a:r>
            <a:r>
              <a:rPr dirty="0" spc="10"/>
              <a:t> </a:t>
            </a:r>
            <a:r>
              <a:rPr dirty="0"/>
              <a:t>fiduciario</a:t>
            </a:r>
            <a:r>
              <a:rPr dirty="0" spc="15"/>
              <a:t> </a:t>
            </a:r>
            <a:r>
              <a:rPr dirty="0"/>
              <a:t>per</a:t>
            </a:r>
            <a:r>
              <a:rPr dirty="0" spc="20"/>
              <a:t> </a:t>
            </a:r>
            <a:r>
              <a:rPr dirty="0"/>
              <a:t>la</a:t>
            </a:r>
            <a:r>
              <a:rPr dirty="0" spc="5"/>
              <a:t> </a:t>
            </a:r>
            <a:r>
              <a:rPr dirty="0"/>
              <a:t>gestione</a:t>
            </a:r>
            <a:r>
              <a:rPr dirty="0" spc="25"/>
              <a:t> </a:t>
            </a:r>
            <a:r>
              <a:rPr dirty="0"/>
              <a:t>di</a:t>
            </a:r>
            <a:r>
              <a:rPr dirty="0" spc="5"/>
              <a:t> </a:t>
            </a:r>
            <a:r>
              <a:rPr dirty="0"/>
              <a:t>dispositivi</a:t>
            </a:r>
            <a:r>
              <a:rPr dirty="0" spc="25"/>
              <a:t> </a:t>
            </a:r>
            <a:r>
              <a:rPr dirty="0"/>
              <a:t>per</a:t>
            </a:r>
            <a:r>
              <a:rPr dirty="0" spc="15"/>
              <a:t> </a:t>
            </a:r>
            <a:r>
              <a:rPr dirty="0" spc="-25"/>
              <a:t>la </a:t>
            </a:r>
            <a:r>
              <a:rPr dirty="0" spc="-25"/>
              <a:t>	</a:t>
            </a:r>
            <a:r>
              <a:rPr dirty="0"/>
              <a:t>creazione</a:t>
            </a:r>
            <a:r>
              <a:rPr dirty="0" spc="30"/>
              <a:t>  </a:t>
            </a:r>
            <a:r>
              <a:rPr dirty="0"/>
              <a:t>di</a:t>
            </a:r>
            <a:r>
              <a:rPr dirty="0" spc="20"/>
              <a:t>  </a:t>
            </a:r>
            <a:r>
              <a:rPr dirty="0"/>
              <a:t>una</a:t>
            </a:r>
            <a:r>
              <a:rPr dirty="0" spc="30"/>
              <a:t>  </a:t>
            </a:r>
            <a:r>
              <a:rPr dirty="0"/>
              <a:t>firma</a:t>
            </a:r>
            <a:r>
              <a:rPr dirty="0" spc="30"/>
              <a:t>  </a:t>
            </a:r>
            <a:r>
              <a:rPr dirty="0"/>
              <a:t>elettronica</a:t>
            </a:r>
            <a:r>
              <a:rPr dirty="0" spc="35"/>
              <a:t>  </a:t>
            </a:r>
            <a:r>
              <a:rPr dirty="0"/>
              <a:t>a</a:t>
            </a:r>
            <a:r>
              <a:rPr dirty="0" spc="25"/>
              <a:t>  </a:t>
            </a:r>
            <a:r>
              <a:rPr dirty="0"/>
              <a:t>distanza</a:t>
            </a:r>
            <a:r>
              <a:rPr dirty="0" spc="25"/>
              <a:t>  </a:t>
            </a:r>
            <a:r>
              <a:rPr dirty="0"/>
              <a:t>o</a:t>
            </a:r>
            <a:r>
              <a:rPr dirty="0" spc="35"/>
              <a:t>  </a:t>
            </a:r>
            <a:r>
              <a:rPr dirty="0" spc="-25"/>
              <a:t>di </a:t>
            </a:r>
            <a:r>
              <a:rPr dirty="0" spc="-25"/>
              <a:t>	</a:t>
            </a:r>
            <a:r>
              <a:rPr dirty="0"/>
              <a:t>dispositivi</a:t>
            </a:r>
            <a:r>
              <a:rPr dirty="0" spc="405"/>
              <a:t> </a:t>
            </a:r>
            <a:r>
              <a:rPr dirty="0"/>
              <a:t>per</a:t>
            </a:r>
            <a:r>
              <a:rPr dirty="0" spc="405"/>
              <a:t> </a:t>
            </a:r>
            <a:r>
              <a:rPr dirty="0"/>
              <a:t>la</a:t>
            </a:r>
            <a:r>
              <a:rPr dirty="0" spc="415"/>
              <a:t> </a:t>
            </a:r>
            <a:r>
              <a:rPr dirty="0"/>
              <a:t>creazione</a:t>
            </a:r>
            <a:r>
              <a:rPr dirty="0" spc="395"/>
              <a:t> </a:t>
            </a:r>
            <a:r>
              <a:rPr dirty="0"/>
              <a:t>di</a:t>
            </a:r>
            <a:r>
              <a:rPr dirty="0" spc="390"/>
              <a:t> </a:t>
            </a:r>
            <a:r>
              <a:rPr dirty="0"/>
              <a:t>un</a:t>
            </a:r>
            <a:r>
              <a:rPr dirty="0" spc="405"/>
              <a:t> </a:t>
            </a:r>
            <a:r>
              <a:rPr dirty="0"/>
              <a:t>sigillo</a:t>
            </a:r>
            <a:r>
              <a:rPr dirty="0" spc="400"/>
              <a:t> </a:t>
            </a:r>
            <a:r>
              <a:rPr dirty="0"/>
              <a:t>elettronico</a:t>
            </a:r>
            <a:r>
              <a:rPr dirty="0" spc="409"/>
              <a:t> </a:t>
            </a:r>
            <a:r>
              <a:rPr dirty="0" spc="-50"/>
              <a:t>a </a:t>
            </a:r>
            <a:r>
              <a:rPr dirty="0" spc="-50"/>
              <a:t>	</a:t>
            </a:r>
            <a:r>
              <a:rPr dirty="0" spc="-10"/>
              <a:t>distanza.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4339" y="814273"/>
            <a:ext cx="205105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Trebuchet MS"/>
                <a:cs typeface="Trebuchet MS"/>
              </a:rPr>
              <a:t>AGENDA</a:t>
            </a:r>
            <a:r>
              <a:rPr dirty="0" sz="3000" spc="-204">
                <a:latin typeface="Trebuchet MS"/>
                <a:cs typeface="Trebuchet MS"/>
              </a:rPr>
              <a:t> </a:t>
            </a:r>
            <a:r>
              <a:rPr dirty="0" sz="3000">
                <a:latin typeface="Trebuchet MS"/>
                <a:cs typeface="Trebuchet MS"/>
              </a:rPr>
              <a:t>-</a:t>
            </a:r>
            <a:r>
              <a:rPr dirty="0" sz="3000" spc="-15">
                <a:latin typeface="Trebuchet MS"/>
                <a:cs typeface="Trebuchet MS"/>
              </a:rPr>
              <a:t> </a:t>
            </a:r>
            <a:r>
              <a:rPr dirty="0" sz="3000" spc="-50">
                <a:latin typeface="Trebuchet MS"/>
                <a:cs typeface="Trebuchet MS"/>
              </a:rPr>
              <a:t>2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023110" y="1405889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6675" rIns="0" bIns="0" rtlCol="0" vert="horz">
            <a:spAutoFit/>
          </a:bodyPr>
          <a:lstStyle/>
          <a:p>
            <a:pPr marL="550545" marR="10160" indent="-53848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550545" algn="l"/>
                <a:tab pos="3115945" algn="l"/>
                <a:tab pos="5312410" algn="l"/>
                <a:tab pos="6045200" algn="l"/>
                <a:tab pos="7109459" algn="l"/>
                <a:tab pos="7737475" algn="l"/>
              </a:tabLst>
            </a:pPr>
            <a:r>
              <a:rPr dirty="0" spc="-10"/>
              <a:t>Archiviazione</a:t>
            </a:r>
            <a:r>
              <a:rPr dirty="0"/>
              <a:t>	</a:t>
            </a:r>
            <a:r>
              <a:rPr dirty="0" spc="-10"/>
              <a:t>elettronica</a:t>
            </a:r>
            <a:r>
              <a:rPr dirty="0"/>
              <a:t>	</a:t>
            </a:r>
            <a:r>
              <a:rPr dirty="0" spc="-25"/>
              <a:t>di</a:t>
            </a:r>
            <a:r>
              <a:rPr dirty="0"/>
              <a:t>	</a:t>
            </a:r>
            <a:r>
              <a:rPr dirty="0" spc="-20"/>
              <a:t>dati</a:t>
            </a:r>
            <a:r>
              <a:rPr dirty="0"/>
              <a:t>	</a:t>
            </a:r>
            <a:r>
              <a:rPr dirty="0" spc="-50"/>
              <a:t>e</a:t>
            </a:r>
            <a:r>
              <a:rPr dirty="0"/>
              <a:t>	</a:t>
            </a:r>
            <a:r>
              <a:rPr dirty="0" spc="-10"/>
              <a:t>documenti elettronici</a:t>
            </a:r>
            <a:r>
              <a:rPr dirty="0" spc="-10" i="1">
                <a:latin typeface="Trebuchet MS"/>
                <a:cs typeface="Trebuchet MS"/>
              </a:rPr>
              <a:t>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marL="550545" marR="5080" indent="-538480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/>
              <a:t>La</a:t>
            </a:r>
            <a:r>
              <a:rPr dirty="0" spc="140"/>
              <a:t> </a:t>
            </a:r>
            <a:r>
              <a:rPr dirty="0"/>
              <a:t>fornitura</a:t>
            </a:r>
            <a:r>
              <a:rPr dirty="0" spc="160"/>
              <a:t> </a:t>
            </a:r>
            <a:r>
              <a:rPr dirty="0"/>
              <a:t>del</a:t>
            </a:r>
            <a:r>
              <a:rPr dirty="0" spc="160"/>
              <a:t> </a:t>
            </a:r>
            <a:r>
              <a:rPr dirty="0"/>
              <a:t>servizio</a:t>
            </a:r>
            <a:r>
              <a:rPr dirty="0" spc="145"/>
              <a:t> </a:t>
            </a:r>
            <a:r>
              <a:rPr dirty="0"/>
              <a:t>fiduciario</a:t>
            </a:r>
            <a:r>
              <a:rPr dirty="0" spc="155"/>
              <a:t> </a:t>
            </a:r>
            <a:r>
              <a:rPr dirty="0"/>
              <a:t>di</a:t>
            </a:r>
            <a:r>
              <a:rPr dirty="0" spc="150"/>
              <a:t> </a:t>
            </a:r>
            <a:r>
              <a:rPr dirty="0"/>
              <a:t>«</a:t>
            </a:r>
            <a:r>
              <a:rPr dirty="0" i="1">
                <a:latin typeface="Trebuchet MS"/>
                <a:cs typeface="Trebuchet MS"/>
              </a:rPr>
              <a:t>registrazione</a:t>
            </a:r>
            <a:r>
              <a:rPr dirty="0" spc="145" i="1">
                <a:latin typeface="Trebuchet MS"/>
                <a:cs typeface="Trebuchet MS"/>
              </a:rPr>
              <a:t> </a:t>
            </a:r>
            <a:r>
              <a:rPr dirty="0" spc="-25" i="1">
                <a:latin typeface="Trebuchet MS"/>
                <a:cs typeface="Trebuchet MS"/>
              </a:rPr>
              <a:t>di</a:t>
            </a:r>
            <a:r>
              <a:rPr dirty="0" spc="-25" i="1">
                <a:latin typeface="Trebuchet MS"/>
                <a:cs typeface="Trebuchet MS"/>
              </a:rPr>
              <a:t> </a:t>
            </a:r>
            <a:r>
              <a:rPr dirty="0" i="1">
                <a:latin typeface="Trebuchet MS"/>
                <a:cs typeface="Trebuchet MS"/>
              </a:rPr>
              <a:t>dati</a:t>
            </a:r>
            <a:r>
              <a:rPr dirty="0" spc="-55" i="1">
                <a:latin typeface="Trebuchet MS"/>
                <a:cs typeface="Trebuchet MS"/>
              </a:rPr>
              <a:t> </a:t>
            </a:r>
            <a:r>
              <a:rPr dirty="0" i="1">
                <a:latin typeface="Trebuchet MS"/>
                <a:cs typeface="Trebuchet MS"/>
              </a:rPr>
              <a:t>elettronici</a:t>
            </a:r>
            <a:r>
              <a:rPr dirty="0" spc="-60" i="1">
                <a:latin typeface="Trebuchet MS"/>
                <a:cs typeface="Trebuchet MS"/>
              </a:rPr>
              <a:t> </a:t>
            </a:r>
            <a:r>
              <a:rPr dirty="0" i="1">
                <a:latin typeface="Trebuchet MS"/>
                <a:cs typeface="Trebuchet MS"/>
              </a:rPr>
              <a:t>in</a:t>
            </a:r>
            <a:r>
              <a:rPr dirty="0" spc="-60" i="1">
                <a:latin typeface="Trebuchet MS"/>
                <a:cs typeface="Trebuchet MS"/>
              </a:rPr>
              <a:t> </a:t>
            </a:r>
            <a:r>
              <a:rPr dirty="0" i="1">
                <a:latin typeface="Trebuchet MS"/>
                <a:cs typeface="Trebuchet MS"/>
              </a:rPr>
              <a:t>un</a:t>
            </a:r>
            <a:r>
              <a:rPr dirty="0" spc="-75" i="1">
                <a:latin typeface="Trebuchet MS"/>
                <a:cs typeface="Trebuchet MS"/>
              </a:rPr>
              <a:t> </a:t>
            </a:r>
            <a:r>
              <a:rPr dirty="0" i="1">
                <a:latin typeface="Trebuchet MS"/>
                <a:cs typeface="Trebuchet MS"/>
              </a:rPr>
              <a:t>registro</a:t>
            </a:r>
            <a:r>
              <a:rPr dirty="0" spc="-60" i="1">
                <a:latin typeface="Trebuchet MS"/>
                <a:cs typeface="Trebuchet MS"/>
              </a:rPr>
              <a:t> </a:t>
            </a:r>
            <a:r>
              <a:rPr dirty="0" spc="-10" i="1">
                <a:latin typeface="Trebuchet MS"/>
                <a:cs typeface="Trebuchet MS"/>
              </a:rPr>
              <a:t>elettronico»</a:t>
            </a:r>
            <a:r>
              <a:rPr dirty="0" spc="-10"/>
              <a:t>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marL="550545" indent="-537845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/>
              <a:t>Criticità</a:t>
            </a:r>
            <a:r>
              <a:rPr dirty="0" spc="-40"/>
              <a:t> </a:t>
            </a:r>
            <a:r>
              <a:rPr dirty="0"/>
              <a:t>del</a:t>
            </a:r>
            <a:r>
              <a:rPr dirty="0" spc="-80"/>
              <a:t> </a:t>
            </a:r>
            <a:r>
              <a:rPr dirty="0"/>
              <a:t>regolamento</a:t>
            </a:r>
            <a:r>
              <a:rPr dirty="0" spc="-90"/>
              <a:t> </a:t>
            </a:r>
            <a:r>
              <a:rPr dirty="0"/>
              <a:t>eIDAS</a:t>
            </a:r>
            <a:r>
              <a:rPr dirty="0" spc="-90"/>
              <a:t> </a:t>
            </a:r>
            <a:r>
              <a:rPr dirty="0"/>
              <a:t>2.0</a:t>
            </a:r>
            <a:r>
              <a:rPr dirty="0" spc="-95"/>
              <a:t> </a:t>
            </a:r>
            <a:r>
              <a:rPr dirty="0" spc="-10"/>
              <a:t>(2024/1183).</a:t>
            </a: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</a:p>
          <a:p>
            <a:pPr marL="550545" indent="-537845">
              <a:lnSpc>
                <a:spcPct val="100000"/>
              </a:lnSpc>
              <a:buFont typeface="Arial"/>
              <a:buChar char="•"/>
              <a:tabLst>
                <a:tab pos="550545" algn="l"/>
              </a:tabLst>
            </a:pPr>
            <a:r>
              <a:rPr dirty="0" spc="-10"/>
              <a:t>Conclusioni.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591" y="2591562"/>
            <a:ext cx="7134859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4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dell’arte</a:t>
            </a:r>
            <a:r>
              <a:rPr dirty="0" sz="4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4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4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25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7391" rIns="0" bIns="0" rtlCol="0" vert="horz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IL</a:t>
            </a:r>
            <a:r>
              <a:rPr dirty="0" sz="2400" spc="-55"/>
              <a:t> </a:t>
            </a:r>
            <a:r>
              <a:rPr dirty="0" sz="2400"/>
              <a:t>LUNGO</a:t>
            </a:r>
            <a:r>
              <a:rPr dirty="0" sz="2400" spc="-20"/>
              <a:t> </a:t>
            </a:r>
            <a:r>
              <a:rPr dirty="0" sz="2400"/>
              <a:t>PERCORSO</a:t>
            </a:r>
            <a:r>
              <a:rPr dirty="0" sz="2400" spc="-65"/>
              <a:t> </a:t>
            </a:r>
            <a:r>
              <a:rPr dirty="0" sz="2400"/>
              <a:t>DI</a:t>
            </a:r>
            <a:r>
              <a:rPr dirty="0" sz="2400" spc="-40"/>
              <a:t> </a:t>
            </a:r>
            <a:r>
              <a:rPr dirty="0" sz="2400"/>
              <a:t>UN</a:t>
            </a:r>
            <a:r>
              <a:rPr dirty="0" sz="2400" spc="-35"/>
              <a:t> </a:t>
            </a:r>
            <a:r>
              <a:rPr dirty="0" sz="2400" spc="-10"/>
              <a:t>COMPROMESSO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337210" y="1550288"/>
            <a:ext cx="1152144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2425" marR="8255" indent="-34036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242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Primo</a:t>
            </a:r>
            <a:r>
              <a:rPr dirty="0" sz="22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22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3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giugno</a:t>
            </a:r>
            <a:r>
              <a:rPr dirty="0" sz="22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2021</a:t>
            </a:r>
            <a:r>
              <a:rPr dirty="0" sz="22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2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proposta</a:t>
            </a:r>
            <a:r>
              <a:rPr dirty="0" sz="22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22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2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Consiglio</a:t>
            </a:r>
            <a:r>
              <a:rPr dirty="0" sz="2200" spc="1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2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modifica</a:t>
            </a:r>
            <a:r>
              <a:rPr dirty="0" sz="22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2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(UE)</a:t>
            </a:r>
            <a:r>
              <a:rPr dirty="0" sz="22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n.</a:t>
            </a:r>
            <a:r>
              <a:rPr dirty="0" sz="2200" spc="1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910/2014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2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riguarda</a:t>
            </a:r>
            <a:r>
              <a:rPr dirty="0" sz="22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l’istituzione</a:t>
            </a:r>
            <a:r>
              <a:rPr dirty="0" sz="22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quadro</a:t>
            </a:r>
            <a:r>
              <a:rPr dirty="0" sz="2200" spc="-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un’identità</a:t>
            </a:r>
            <a:r>
              <a:rPr dirty="0" sz="22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2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europea»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242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Prima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ratifica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16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marzo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2023.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Approvazione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trilogo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8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novembre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2023.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352425" marR="5080" indent="-340360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Passaggio</a:t>
            </a:r>
            <a:r>
              <a:rPr dirty="0" sz="22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parlamentare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Industria,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Ricerca</a:t>
            </a:r>
            <a:r>
              <a:rPr dirty="0" sz="2200" spc="1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ed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Energia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(ITRE)</a:t>
            </a:r>
            <a:r>
              <a:rPr dirty="0" sz="2200" spc="1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28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novembre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2023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(poi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approvato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sessione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7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dicembre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2023).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352425" marR="6350" indent="-340360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Voto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2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22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22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29</a:t>
            </a:r>
            <a:r>
              <a:rPr dirty="0" sz="22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febbraio</a:t>
            </a:r>
            <a:r>
              <a:rPr dirty="0" sz="22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2024</a:t>
            </a:r>
            <a:r>
              <a:rPr dirty="0" sz="22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approvazione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Consiglio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15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marzo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2024.</a:t>
            </a:r>
            <a:r>
              <a:rPr dirty="0" sz="2200" spc="1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Pubblicazione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GUCE</a:t>
            </a:r>
            <a:r>
              <a:rPr dirty="0" sz="2200" spc="1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30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aprile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2024</a:t>
            </a:r>
            <a:r>
              <a:rPr dirty="0" sz="22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ed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entrata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vigore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dopo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20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giorni</a:t>
            </a:r>
            <a:r>
              <a:rPr dirty="0" sz="22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20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maggio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2024.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59685" y="916686"/>
            <a:ext cx="8066405" cy="0"/>
          </a:xfrm>
          <a:custGeom>
            <a:avLst/>
            <a:gdLst/>
            <a:ahLst/>
            <a:cxnLst/>
            <a:rect l="l" t="t" r="r" b="b"/>
            <a:pathLst>
              <a:path w="8066405" h="0">
                <a:moveTo>
                  <a:pt x="0" y="0"/>
                </a:moveTo>
                <a:lnTo>
                  <a:pt x="806627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23571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LA</a:t>
            </a:r>
            <a:r>
              <a:rPr dirty="0" sz="3550" spc="-30"/>
              <a:t> </a:t>
            </a:r>
            <a:r>
              <a:rPr dirty="0" sz="3550"/>
              <a:t>PREMESSA</a:t>
            </a:r>
            <a:r>
              <a:rPr dirty="0" sz="3550" spc="-55"/>
              <a:t> </a:t>
            </a:r>
            <a:r>
              <a:rPr dirty="0" sz="3550" spc="-10"/>
              <a:t>STORICA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516432" y="1666773"/>
            <a:ext cx="11056620" cy="104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marR="5080" indent="-42862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2024/1183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(eIDAS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2)</a:t>
            </a:r>
            <a:r>
              <a:rPr dirty="0" sz="2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trae</a:t>
            </a:r>
            <a:r>
              <a:rPr dirty="0" sz="2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origine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dal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discorso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della Presidente</a:t>
            </a:r>
            <a:r>
              <a:rPr dirty="0" sz="2800" spc="-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800" spc="-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Europea</a:t>
            </a:r>
            <a:r>
              <a:rPr dirty="0" sz="2800" spc="-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800" spc="-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16</a:t>
            </a:r>
            <a:r>
              <a:rPr dirty="0" sz="2800" spc="-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settembre</a:t>
            </a:r>
            <a:r>
              <a:rPr dirty="0" sz="28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2020.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87095" y="3209671"/>
            <a:ext cx="10951210" cy="2903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dirty="0" sz="1800" i="1">
                <a:latin typeface="Trebuchet MS"/>
                <a:cs typeface="Trebuchet MS"/>
              </a:rPr>
              <a:t>…Every</a:t>
            </a:r>
            <a:r>
              <a:rPr dirty="0" sz="1800" spc="-1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time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</a:t>
            </a:r>
            <a:r>
              <a:rPr dirty="0" sz="1800" spc="-7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App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or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website</a:t>
            </a:r>
            <a:r>
              <a:rPr dirty="0" sz="1800" spc="-6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asks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us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to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create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new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digital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identity</a:t>
            </a:r>
            <a:r>
              <a:rPr dirty="0" sz="1800" spc="-6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or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to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easily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log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on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via</a:t>
            </a:r>
            <a:r>
              <a:rPr dirty="0" sz="1800" spc="-1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spc="-25" i="1">
                <a:latin typeface="Trebuchet MS"/>
                <a:cs typeface="Trebuchet MS"/>
              </a:rPr>
              <a:t>big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dirty="0" sz="1800" i="1">
                <a:latin typeface="Trebuchet MS"/>
                <a:cs typeface="Trebuchet MS"/>
              </a:rPr>
              <a:t>platform,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we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have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no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idea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what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happens</a:t>
            </a:r>
            <a:r>
              <a:rPr dirty="0" sz="1800" spc="-5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to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our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data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in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spc="-10" i="1">
                <a:latin typeface="Trebuchet MS"/>
                <a:cs typeface="Trebuchet MS"/>
              </a:rPr>
              <a:t>reality.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5342255" algn="l"/>
              </a:tabLst>
            </a:pPr>
            <a:r>
              <a:rPr dirty="0" sz="1800" b="1" i="1">
                <a:latin typeface="Trebuchet MS"/>
                <a:cs typeface="Trebuchet MS"/>
              </a:rPr>
              <a:t>That</a:t>
            </a:r>
            <a:r>
              <a:rPr dirty="0" sz="1800" spc="-30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is</a:t>
            </a:r>
            <a:r>
              <a:rPr dirty="0" sz="1800" spc="-20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why</a:t>
            </a:r>
            <a:r>
              <a:rPr dirty="0" sz="1800" spc="-25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the</a:t>
            </a:r>
            <a:r>
              <a:rPr dirty="0" sz="1800" spc="-30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Commission</a:t>
            </a:r>
            <a:r>
              <a:rPr dirty="0" sz="1800" spc="-25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will</a:t>
            </a:r>
            <a:r>
              <a:rPr dirty="0" sz="1800" spc="-15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soon</a:t>
            </a:r>
            <a:r>
              <a:rPr dirty="0" sz="1800" spc="-20" b="1" i="1">
                <a:latin typeface="Trebuchet MS"/>
                <a:cs typeface="Trebuchet MS"/>
              </a:rPr>
              <a:t> </a:t>
            </a:r>
            <a:r>
              <a:rPr dirty="0" sz="1800" b="1" i="1">
                <a:latin typeface="Trebuchet MS"/>
                <a:cs typeface="Trebuchet MS"/>
              </a:rPr>
              <a:t>propose</a:t>
            </a:r>
            <a:r>
              <a:rPr dirty="0" sz="1800" spc="-30" b="1" i="1">
                <a:latin typeface="Trebuchet MS"/>
                <a:cs typeface="Trebuchet MS"/>
              </a:rPr>
              <a:t> </a:t>
            </a:r>
            <a:r>
              <a:rPr dirty="0" sz="1800" spc="-50" b="1" i="1">
                <a:latin typeface="Trebuchet MS"/>
                <a:cs typeface="Trebuchet MS"/>
              </a:rPr>
              <a:t>a</a:t>
            </a:r>
            <a:r>
              <a:rPr dirty="0" sz="1800" b="1" i="1">
                <a:latin typeface="Trebuchet MS"/>
                <a:cs typeface="Trebuchet MS"/>
              </a:rPr>
              <a:t>	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secure</a:t>
            </a:r>
            <a:r>
              <a:rPr dirty="0" u="sng" sz="1800" spc="-5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80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European</a:t>
            </a:r>
            <a:r>
              <a:rPr dirty="0" u="sng" sz="1800" spc="-4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800" spc="-10" b="1" i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e-identity.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  <a:spcBef>
                <a:spcPts val="5"/>
              </a:spcBef>
            </a:pPr>
            <a:r>
              <a:rPr dirty="0" sz="1800" i="1">
                <a:latin typeface="Trebuchet MS"/>
                <a:cs typeface="Trebuchet MS"/>
              </a:rPr>
              <a:t>One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that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we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trust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and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that</a:t>
            </a:r>
            <a:r>
              <a:rPr dirty="0" sz="1800" spc="-5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any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citizen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can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use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anywhere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in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Europe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to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do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anything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from</a:t>
            </a:r>
            <a:r>
              <a:rPr dirty="0" sz="1800" spc="-1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paying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your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spc="-10" i="1">
                <a:latin typeface="Trebuchet MS"/>
                <a:cs typeface="Trebuchet MS"/>
              </a:rPr>
              <a:t>taxes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2050"/>
              </a:lnSpc>
            </a:pPr>
            <a:r>
              <a:rPr dirty="0" sz="1800" i="1">
                <a:latin typeface="Trebuchet MS"/>
                <a:cs typeface="Trebuchet MS"/>
              </a:rPr>
              <a:t>to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renting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bicycle.</a:t>
            </a:r>
            <a:r>
              <a:rPr dirty="0" sz="1800" spc="-1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</a:t>
            </a:r>
            <a:r>
              <a:rPr dirty="0" sz="1800" spc="-9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technology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where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we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can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control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ourselves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what</a:t>
            </a:r>
            <a:r>
              <a:rPr dirty="0" sz="1800" spc="-4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data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and</a:t>
            </a:r>
            <a:r>
              <a:rPr dirty="0" sz="1800" spc="-1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how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data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is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spc="-10" i="1">
                <a:latin typeface="Trebuchet MS"/>
                <a:cs typeface="Trebuchet MS"/>
              </a:rPr>
              <a:t>used…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678180">
              <a:lnSpc>
                <a:spcPts val="1939"/>
              </a:lnSpc>
            </a:pPr>
            <a:r>
              <a:rPr dirty="0" sz="1800" i="1">
                <a:latin typeface="Trebuchet MS"/>
                <a:cs typeface="Trebuchet MS"/>
              </a:rPr>
              <a:t>Ursula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von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der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Leyen,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President</a:t>
            </a:r>
            <a:r>
              <a:rPr dirty="0" sz="1800" spc="-7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of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the</a:t>
            </a:r>
            <a:r>
              <a:rPr dirty="0" sz="1800" spc="-6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European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Commission,</a:t>
            </a:r>
            <a:r>
              <a:rPr dirty="0" sz="1800" spc="-4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in</a:t>
            </a:r>
            <a:r>
              <a:rPr dirty="0" sz="1800" spc="-3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her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State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of</a:t>
            </a:r>
            <a:r>
              <a:rPr dirty="0" sz="1800" spc="-3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the</a:t>
            </a:r>
            <a:r>
              <a:rPr dirty="0" sz="1800" spc="-5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Union</a:t>
            </a:r>
            <a:r>
              <a:rPr dirty="0" sz="1800" spc="-20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address,</a:t>
            </a:r>
            <a:r>
              <a:rPr dirty="0" sz="1800" spc="-65" i="1">
                <a:latin typeface="Trebuchet MS"/>
                <a:cs typeface="Trebuchet MS"/>
              </a:rPr>
              <a:t> </a:t>
            </a:r>
            <a:r>
              <a:rPr dirty="0" sz="1800" spc="-25" i="1">
                <a:latin typeface="Trebuchet MS"/>
                <a:cs typeface="Trebuchet MS"/>
              </a:rPr>
              <a:t>16</a:t>
            </a:r>
            <a:r>
              <a:rPr dirty="0" sz="1800" spc="-25" i="1">
                <a:latin typeface="Trebuchet MS"/>
                <a:cs typeface="Trebuchet MS"/>
              </a:rPr>
              <a:t> </a:t>
            </a:r>
            <a:r>
              <a:rPr dirty="0" sz="1800" i="1">
                <a:latin typeface="Trebuchet MS"/>
                <a:cs typeface="Trebuchet MS"/>
              </a:rPr>
              <a:t>September</a:t>
            </a:r>
            <a:r>
              <a:rPr dirty="0" sz="1800" spc="-90" i="1">
                <a:latin typeface="Trebuchet MS"/>
                <a:cs typeface="Trebuchet MS"/>
              </a:rPr>
              <a:t> </a:t>
            </a:r>
            <a:r>
              <a:rPr dirty="0" sz="1800" spc="-20" i="1">
                <a:latin typeface="Trebuchet MS"/>
                <a:cs typeface="Trebuchet MS"/>
              </a:rPr>
              <a:t>2020</a:t>
            </a:r>
            <a:r>
              <a:rPr dirty="0" sz="1800" spc="-20"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054" rIns="0" bIns="0" rtlCol="0" vert="horz">
            <a:spAutoFit/>
          </a:bodyPr>
          <a:lstStyle/>
          <a:p>
            <a:pPr marL="1860550">
              <a:lnSpc>
                <a:spcPct val="100000"/>
              </a:lnSpc>
              <a:spcBef>
                <a:spcPts val="105"/>
              </a:spcBef>
            </a:pPr>
            <a:r>
              <a:rPr dirty="0" sz="3550">
                <a:latin typeface="Trebuchet MS"/>
                <a:cs typeface="Trebuchet MS"/>
              </a:rPr>
              <a:t>LE</a:t>
            </a:r>
            <a:r>
              <a:rPr dirty="0" sz="3550" spc="-120">
                <a:latin typeface="Trebuchet MS"/>
                <a:cs typeface="Trebuchet MS"/>
              </a:rPr>
              <a:t> </a:t>
            </a:r>
            <a:r>
              <a:rPr dirty="0" sz="3550" spc="-10">
                <a:latin typeface="Trebuchet MS"/>
                <a:cs typeface="Trebuchet MS"/>
              </a:rPr>
              <a:t>PRINCIPALI</a:t>
            </a:r>
            <a:r>
              <a:rPr dirty="0" sz="3550" spc="-120">
                <a:latin typeface="Trebuchet MS"/>
                <a:cs typeface="Trebuchet MS"/>
              </a:rPr>
              <a:t> </a:t>
            </a:r>
            <a:r>
              <a:rPr dirty="0" sz="3550" spc="-75">
                <a:latin typeface="Trebuchet MS"/>
                <a:cs typeface="Trebuchet MS"/>
              </a:rPr>
              <a:t>NOVITA’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6432" y="1914271"/>
            <a:ext cx="11057255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marR="6350" indent="-428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Struttura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generale</a:t>
            </a:r>
            <a:r>
              <a:rPr dirty="0" sz="1800" spc="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</a:t>
            </a:r>
            <a:r>
              <a:rPr dirty="0" sz="1800" spc="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800" spc="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analoga</a:t>
            </a:r>
            <a:r>
              <a:rPr dirty="0" sz="1800" spc="-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quella</a:t>
            </a:r>
            <a:r>
              <a:rPr dirty="0" sz="1800" spc="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precedente.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Viene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applicata la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classica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tecnica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«novella».</a:t>
            </a:r>
            <a:endParaRPr sz="1800">
              <a:latin typeface="Verdana"/>
              <a:cs typeface="Verdana"/>
            </a:endParaRPr>
          </a:p>
          <a:p>
            <a:pPr marL="440690" marR="5080" indent="-42862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  <a:tab pos="1802130" algn="l"/>
                <a:tab pos="2345690" algn="l"/>
                <a:tab pos="2777490" algn="l"/>
                <a:tab pos="3301365" algn="l"/>
                <a:tab pos="4452620" algn="l"/>
                <a:tab pos="5029835" algn="l"/>
                <a:tab pos="5426075" algn="l"/>
                <a:tab pos="7091045" algn="l"/>
                <a:tab pos="7766050" algn="l"/>
                <a:tab pos="8281034" algn="l"/>
                <a:tab pos="9614535" algn="l"/>
                <a:tab pos="9965055" algn="l"/>
                <a:tab pos="10643235" algn="l"/>
              </a:tabLst>
            </a:pP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Attuazione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con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47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atti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esecutivi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(+1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se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consideriamo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l’art.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19,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comunque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in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capo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alla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NIS2).</a:t>
            </a:r>
            <a:endParaRPr sz="1800">
              <a:latin typeface="Verdana"/>
              <a:cs typeface="Verdana"/>
            </a:endParaRPr>
          </a:p>
          <a:p>
            <a:pPr marL="440690" marR="6985" indent="-42862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Nuovi</a:t>
            </a:r>
            <a:r>
              <a:rPr dirty="0" sz="18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servizi</a:t>
            </a:r>
            <a:r>
              <a:rPr dirty="0" sz="18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fiduciari</a:t>
            </a:r>
            <a:r>
              <a:rPr dirty="0" sz="18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2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base,</a:t>
            </a:r>
            <a:r>
              <a:rPr dirty="0" sz="18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innovativi</a:t>
            </a:r>
            <a:r>
              <a:rPr dirty="0" sz="18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18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l’Europa,</a:t>
            </a:r>
            <a:r>
              <a:rPr dirty="0" sz="18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come</a:t>
            </a:r>
            <a:r>
              <a:rPr dirty="0" sz="1800" spc="2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l’archiviazione</a:t>
            </a:r>
            <a:r>
              <a:rPr dirty="0" sz="18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elettronica</a:t>
            </a:r>
            <a:r>
              <a:rPr dirty="0" sz="18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di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documenti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dati,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l’attestazione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elettronica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degli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attributi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registri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elettronici.</a:t>
            </a:r>
            <a:endParaRPr sz="1800">
              <a:latin typeface="Verdana"/>
              <a:cs typeface="Verdana"/>
            </a:endParaRPr>
          </a:p>
          <a:p>
            <a:pPr marL="440690" marR="5080" indent="-428625">
              <a:lnSpc>
                <a:spcPct val="100000"/>
              </a:lnSpc>
              <a:spcBef>
                <a:spcPts val="2165"/>
              </a:spcBef>
              <a:buFont typeface="Arial"/>
              <a:buChar char="•"/>
              <a:tabLst>
                <a:tab pos="440690" algn="l"/>
                <a:tab pos="1275715" algn="l"/>
                <a:tab pos="1797050" algn="l"/>
                <a:tab pos="2960370" algn="l"/>
                <a:tab pos="3484245" algn="l"/>
                <a:tab pos="4248150" algn="l"/>
                <a:tab pos="4968875" algn="l"/>
                <a:tab pos="6151880" algn="l"/>
                <a:tab pos="6537325" algn="l"/>
                <a:tab pos="8162290" algn="l"/>
                <a:tab pos="8468995" algn="l"/>
                <a:tab pos="10085705" algn="l"/>
                <a:tab pos="10399395" algn="l"/>
              </a:tabLst>
            </a:pP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Come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già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evidente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nel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titolo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proposta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protagonista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5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EDIW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(European</a:t>
            </a:r>
            <a:r>
              <a:rPr dirty="0" sz="1800" spc="-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Digital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Identity</a:t>
            </a:r>
            <a:r>
              <a:rPr dirty="0" sz="18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Wallet).</a:t>
            </a:r>
            <a:endParaRPr sz="1800">
              <a:latin typeface="Verdana"/>
              <a:cs typeface="Verdana"/>
            </a:endParaRPr>
          </a:p>
          <a:p>
            <a:pPr marL="440690" indent="-42799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1800" spc="2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crucialità</a:t>
            </a:r>
            <a:r>
              <a:rPr dirty="0" sz="1800" spc="2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2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EDIW</a:t>
            </a:r>
            <a:r>
              <a:rPr dirty="0" sz="1800" spc="2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800" spc="2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confermata</a:t>
            </a:r>
            <a:r>
              <a:rPr dirty="0" sz="1800" spc="2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anche</a:t>
            </a:r>
            <a:r>
              <a:rPr dirty="0" sz="1800" spc="2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dal</a:t>
            </a:r>
            <a:r>
              <a:rPr dirty="0" sz="1800" spc="2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fatto</a:t>
            </a:r>
            <a:r>
              <a:rPr dirty="0" sz="1800" spc="2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che</a:t>
            </a:r>
            <a:r>
              <a:rPr dirty="0" sz="1800" spc="2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1800" spc="2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quasi</a:t>
            </a:r>
            <a:r>
              <a:rPr dirty="0" sz="1800" spc="2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totalità</a:t>
            </a:r>
            <a:r>
              <a:rPr dirty="0" sz="1800" spc="2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1800" spc="229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discussione</a:t>
            </a:r>
            <a:endParaRPr sz="1800">
              <a:latin typeface="Verdana"/>
              <a:cs typeface="Verdana"/>
            </a:endParaRPr>
          </a:p>
          <a:p>
            <a:pPr marL="440690">
              <a:lnSpc>
                <a:spcPct val="100000"/>
              </a:lnSpc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globale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istituzionale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degli</a:t>
            </a:r>
            <a:r>
              <a:rPr dirty="0" sz="18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i="1">
                <a:solidFill>
                  <a:srgbClr val="44536A"/>
                </a:solidFill>
                <a:latin typeface="Verdana"/>
                <a:cs typeface="Verdana"/>
              </a:rPr>
              <a:t>stakeholder</a:t>
            </a:r>
            <a:r>
              <a:rPr dirty="0" sz="1800" spc="-20" i="1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800" spc="-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concentrata</a:t>
            </a:r>
            <a:r>
              <a:rPr dirty="0" sz="18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sul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Portafoglio.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550158" y="1023366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 h="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02" rIns="0" bIns="0" rtlCol="0" vert="horz">
            <a:spAutoFit/>
          </a:bodyPr>
          <a:lstStyle/>
          <a:p>
            <a:pPr marL="915669">
              <a:lnSpc>
                <a:spcPct val="100000"/>
              </a:lnSpc>
              <a:spcBef>
                <a:spcPts val="105"/>
              </a:spcBef>
            </a:pPr>
            <a:r>
              <a:rPr dirty="0"/>
              <a:t>GLI</a:t>
            </a:r>
            <a:r>
              <a:rPr dirty="0" spc="-35"/>
              <a:t> </a:t>
            </a:r>
            <a:r>
              <a:rPr dirty="0"/>
              <a:t>ATTI</a:t>
            </a:r>
            <a:r>
              <a:rPr dirty="0" spc="-35"/>
              <a:t> </a:t>
            </a:r>
            <a:r>
              <a:rPr dirty="0"/>
              <a:t>DI</a:t>
            </a:r>
            <a:r>
              <a:rPr dirty="0" spc="-20"/>
              <a:t> </a:t>
            </a:r>
            <a:r>
              <a:rPr dirty="0"/>
              <a:t>ESECUZIONE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807207" y="1718055"/>
          <a:ext cx="6864350" cy="41389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3140"/>
                <a:gridCol w="2108200"/>
                <a:gridCol w="2138680"/>
                <a:gridCol w="1543050"/>
              </a:tblGrid>
              <a:tr h="582930">
                <a:tc>
                  <a:txBody>
                    <a:bodyPr/>
                    <a:lstStyle/>
                    <a:p>
                      <a:pPr algn="ctr">
                        <a:lnSpc>
                          <a:spcPts val="1664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Deadline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664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Atto</a:t>
                      </a:r>
                      <a:r>
                        <a:rPr dirty="0" sz="14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4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standard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970D8B"/>
                      </a:solidFill>
                      <a:prstDash val="solid"/>
                    </a:lnR>
                    <a:lnT w="6350">
                      <a:solidFill>
                        <a:srgbClr val="970D8B"/>
                      </a:solidFill>
                      <a:prstDash val="solid"/>
                    </a:lnT>
                    <a:lnB w="6350">
                      <a:solidFill>
                        <a:srgbClr val="970D8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664"/>
                        </a:lnSpc>
                      </a:pPr>
                      <a:r>
                        <a:rPr dirty="0" sz="1400" spc="-10" b="1">
                          <a:latin typeface="Calibri"/>
                          <a:cs typeface="Calibri"/>
                        </a:rPr>
                        <a:t>Atto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b="1">
                          <a:latin typeface="Calibri"/>
                          <a:cs typeface="Calibri"/>
                        </a:rPr>
                        <a:t>senza</a:t>
                      </a:r>
                      <a:r>
                        <a:rPr dirty="0" sz="14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10" b="1">
                          <a:latin typeface="Calibri"/>
                          <a:cs typeface="Calibri"/>
                        </a:rPr>
                        <a:t>standard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70D8B"/>
                      </a:solidFill>
                      <a:prstDash val="solid"/>
                    </a:lnL>
                    <a:lnR w="6350">
                      <a:solidFill>
                        <a:srgbClr val="472590"/>
                      </a:solidFill>
                      <a:prstDash val="solid"/>
                    </a:lnR>
                    <a:lnT w="6350">
                      <a:solidFill>
                        <a:srgbClr val="472590"/>
                      </a:solidFill>
                      <a:prstDash val="solid"/>
                    </a:lnT>
                    <a:lnB w="6350">
                      <a:solidFill>
                        <a:srgbClr val="47259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664"/>
                        </a:lnSpc>
                      </a:pPr>
                      <a:r>
                        <a:rPr dirty="0" sz="1400" spc="-20" b="1">
                          <a:latin typeface="Calibri"/>
                          <a:cs typeface="Calibri"/>
                        </a:rPr>
                        <a:t>Totale</a:t>
                      </a:r>
                      <a:r>
                        <a:rPr dirty="0" sz="14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00" spc="-20" b="1">
                          <a:latin typeface="Calibri"/>
                          <a:cs typeface="Calibri"/>
                        </a:rPr>
                        <a:t>Atti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472590"/>
                      </a:solidFill>
                      <a:prstDash val="solid"/>
                    </a:lnL>
                    <a:lnR w="6350">
                      <a:solidFill>
                        <a:srgbClr val="DF3C1B"/>
                      </a:solidFill>
                      <a:prstDash val="solid"/>
                    </a:lnR>
                    <a:lnT w="6350">
                      <a:solidFill>
                        <a:srgbClr val="DF3C1B"/>
                      </a:solidFill>
                      <a:prstDash val="solid"/>
                    </a:lnT>
                    <a:lnB w="6350">
                      <a:solidFill>
                        <a:srgbClr val="DF3C1B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21/11/24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5F7B3A"/>
                      </a:solidFill>
                      <a:prstDash val="solid"/>
                    </a:lnR>
                    <a:lnT w="6350">
                      <a:solidFill>
                        <a:srgbClr val="970D8B"/>
                      </a:solidFill>
                      <a:prstDash val="solid"/>
                    </a:lnT>
                    <a:lnB w="6350">
                      <a:solidFill>
                        <a:srgbClr val="5F7B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5F7B3A"/>
                      </a:solidFill>
                      <a:prstDash val="solid"/>
                    </a:lnL>
                    <a:lnR w="6350">
                      <a:solidFill>
                        <a:srgbClr val="5F7B3A"/>
                      </a:solidFill>
                      <a:prstDash val="solid"/>
                    </a:lnR>
                    <a:lnT w="6350">
                      <a:solidFill>
                        <a:srgbClr val="472590"/>
                      </a:solidFill>
                      <a:prstDash val="solid"/>
                    </a:lnT>
                    <a:lnB w="6350">
                      <a:solidFill>
                        <a:srgbClr val="5F7B3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43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5F7B3A"/>
                      </a:solidFill>
                      <a:prstDash val="solid"/>
                    </a:lnL>
                    <a:lnR w="6350">
                      <a:solidFill>
                        <a:srgbClr val="5F7B3A"/>
                      </a:solidFill>
                      <a:prstDash val="solid"/>
                    </a:lnR>
                    <a:lnT w="6350">
                      <a:solidFill>
                        <a:srgbClr val="DF3C1B"/>
                      </a:solidFill>
                      <a:prstDash val="solid"/>
                    </a:lnT>
                    <a:lnB w="6350">
                      <a:solidFill>
                        <a:srgbClr val="5F7B3A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18/03/25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DF4456"/>
                      </a:solidFill>
                      <a:prstDash val="solid"/>
                    </a:lnR>
                    <a:lnT w="6350">
                      <a:solidFill>
                        <a:srgbClr val="5F7B3A"/>
                      </a:solidFill>
                      <a:prstDash val="solid"/>
                    </a:lnT>
                    <a:lnB w="6350">
                      <a:solidFill>
                        <a:srgbClr val="DF44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DF4456"/>
                      </a:solidFill>
                      <a:prstDash val="solid"/>
                    </a:lnL>
                    <a:lnR w="6350">
                      <a:solidFill>
                        <a:srgbClr val="DF4456"/>
                      </a:solidFill>
                      <a:prstDash val="solid"/>
                    </a:lnR>
                    <a:lnT w="6350">
                      <a:solidFill>
                        <a:srgbClr val="5F7B3A"/>
                      </a:solidFill>
                      <a:prstDash val="solid"/>
                    </a:lnT>
                    <a:lnB w="6350">
                      <a:solidFill>
                        <a:srgbClr val="DF44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DF4456"/>
                      </a:solidFill>
                      <a:prstDash val="solid"/>
                    </a:lnL>
                    <a:lnR w="6350">
                      <a:solidFill>
                        <a:srgbClr val="DF4456"/>
                      </a:solidFill>
                      <a:prstDash val="solid"/>
                    </a:lnR>
                    <a:lnT w="6350">
                      <a:solidFill>
                        <a:srgbClr val="5F7B3A"/>
                      </a:solidFill>
                      <a:prstDash val="solid"/>
                    </a:lnT>
                    <a:lnB w="6350">
                      <a:solidFill>
                        <a:srgbClr val="DF4456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21/05/25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404556"/>
                      </a:solidFill>
                      <a:prstDash val="solid"/>
                    </a:lnR>
                    <a:lnT w="6350">
                      <a:solidFill>
                        <a:srgbClr val="DF4456"/>
                      </a:solidFill>
                      <a:prstDash val="solid"/>
                    </a:lnT>
                    <a:lnB w="6350">
                      <a:solidFill>
                        <a:srgbClr val="404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404556"/>
                      </a:solidFill>
                      <a:prstDash val="solid"/>
                    </a:lnL>
                    <a:lnR w="6350">
                      <a:solidFill>
                        <a:srgbClr val="404556"/>
                      </a:solidFill>
                      <a:prstDash val="solid"/>
                    </a:lnR>
                    <a:lnT w="6350">
                      <a:solidFill>
                        <a:srgbClr val="DF4456"/>
                      </a:solidFill>
                      <a:prstDash val="solid"/>
                    </a:lnT>
                    <a:lnB w="6350">
                      <a:solidFill>
                        <a:srgbClr val="404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435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404556"/>
                      </a:solidFill>
                      <a:prstDash val="solid"/>
                    </a:lnL>
                    <a:lnR w="6350">
                      <a:solidFill>
                        <a:srgbClr val="404556"/>
                      </a:solidFill>
                      <a:prstDash val="solid"/>
                    </a:lnR>
                    <a:lnT w="6350">
                      <a:solidFill>
                        <a:srgbClr val="DF4456"/>
                      </a:solidFill>
                      <a:prstDash val="solid"/>
                    </a:lnT>
                    <a:lnB w="6350">
                      <a:solidFill>
                        <a:srgbClr val="404556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18/09/25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4556"/>
                      </a:solidFill>
                      <a:prstDash val="solid"/>
                    </a:lnR>
                    <a:lnT w="6350">
                      <a:solidFill>
                        <a:srgbClr val="404556"/>
                      </a:solidFill>
                      <a:prstDash val="solid"/>
                    </a:lnT>
                    <a:lnB w="6350">
                      <a:solidFill>
                        <a:srgbClr val="9F4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4556"/>
                      </a:solidFill>
                      <a:prstDash val="solid"/>
                    </a:lnL>
                    <a:lnR w="6350">
                      <a:solidFill>
                        <a:srgbClr val="9F4556"/>
                      </a:solidFill>
                      <a:prstDash val="solid"/>
                    </a:lnR>
                    <a:lnT w="6350">
                      <a:solidFill>
                        <a:srgbClr val="404556"/>
                      </a:solidFill>
                      <a:prstDash val="solid"/>
                    </a:lnT>
                    <a:lnB w="6350">
                      <a:solidFill>
                        <a:srgbClr val="9F45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4556"/>
                      </a:solidFill>
                      <a:prstDash val="solid"/>
                    </a:lnL>
                    <a:lnR w="6350">
                      <a:solidFill>
                        <a:srgbClr val="9F4556"/>
                      </a:solidFill>
                      <a:prstDash val="solid"/>
                    </a:lnR>
                    <a:lnT w="6350">
                      <a:solidFill>
                        <a:srgbClr val="404556"/>
                      </a:solidFill>
                      <a:prstDash val="solid"/>
                    </a:lnT>
                    <a:lnB w="6350">
                      <a:solidFill>
                        <a:srgbClr val="9F4556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10">
                          <a:latin typeface="Calibri"/>
                          <a:cs typeface="Calibri"/>
                        </a:rPr>
                        <a:t>21/05/26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004656"/>
                      </a:solidFill>
                      <a:prstDash val="solid"/>
                    </a:lnR>
                    <a:lnT w="6350">
                      <a:solidFill>
                        <a:srgbClr val="9F4556"/>
                      </a:solidFill>
                      <a:prstDash val="solid"/>
                    </a:lnT>
                    <a:lnB w="6350">
                      <a:solidFill>
                        <a:srgbClr val="0046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4656"/>
                      </a:solidFill>
                      <a:prstDash val="solid"/>
                    </a:lnL>
                    <a:lnR w="6350">
                      <a:solidFill>
                        <a:srgbClr val="004656"/>
                      </a:solidFill>
                      <a:prstDash val="solid"/>
                    </a:lnR>
                    <a:lnT w="6350">
                      <a:solidFill>
                        <a:srgbClr val="9F4556"/>
                      </a:solidFill>
                      <a:prstDash val="solid"/>
                    </a:lnT>
                    <a:lnB w="6350">
                      <a:solidFill>
                        <a:srgbClr val="0046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35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4656"/>
                      </a:solidFill>
                      <a:prstDash val="solid"/>
                    </a:lnL>
                    <a:lnR w="6350">
                      <a:solidFill>
                        <a:srgbClr val="004656"/>
                      </a:solidFill>
                      <a:prstDash val="solid"/>
                    </a:lnR>
                    <a:lnT w="6350">
                      <a:solidFill>
                        <a:srgbClr val="9F4556"/>
                      </a:solidFill>
                      <a:prstDash val="solid"/>
                    </a:lnT>
                    <a:lnB w="6350">
                      <a:solidFill>
                        <a:srgbClr val="004656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 marL="1270">
                        <a:lnSpc>
                          <a:spcPts val="1440"/>
                        </a:lnSpc>
                      </a:pPr>
                      <a:r>
                        <a:rPr dirty="0" sz="1200" spc="-25">
                          <a:latin typeface="Calibri"/>
                          <a:cs typeface="Calibri"/>
                        </a:rPr>
                        <a:t>N/A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5F4656"/>
                      </a:solidFill>
                      <a:prstDash val="solid"/>
                    </a:lnR>
                    <a:lnT w="6350">
                      <a:solidFill>
                        <a:srgbClr val="004656"/>
                      </a:solidFill>
                      <a:prstDash val="solid"/>
                    </a:lnT>
                    <a:lnB w="6350">
                      <a:solidFill>
                        <a:srgbClr val="5F46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4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5F4656"/>
                      </a:solidFill>
                      <a:prstDash val="solid"/>
                    </a:lnL>
                    <a:lnR w="6350">
                      <a:solidFill>
                        <a:srgbClr val="5F4656"/>
                      </a:solidFill>
                      <a:prstDash val="solid"/>
                    </a:lnR>
                    <a:lnT w="6350">
                      <a:solidFill>
                        <a:srgbClr val="004656"/>
                      </a:solidFill>
                      <a:prstDash val="solid"/>
                    </a:lnT>
                    <a:lnB w="6350">
                      <a:solidFill>
                        <a:srgbClr val="5F465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440"/>
                        </a:lnSpc>
                      </a:pPr>
                      <a:r>
                        <a:rPr dirty="0" sz="1200" spc="-5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5F4656"/>
                      </a:solidFill>
                      <a:prstDash val="solid"/>
                    </a:lnL>
                    <a:lnR w="6350">
                      <a:solidFill>
                        <a:srgbClr val="5F4656"/>
                      </a:solidFill>
                      <a:prstDash val="solid"/>
                    </a:lnR>
                    <a:lnT w="6350">
                      <a:solidFill>
                        <a:srgbClr val="004656"/>
                      </a:solidFill>
                      <a:prstDash val="solid"/>
                    </a:lnT>
                    <a:lnB w="6350">
                      <a:solidFill>
                        <a:srgbClr val="5F4656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9FA403"/>
                      </a:solidFill>
                      <a:prstDash val="solid"/>
                    </a:lnR>
                    <a:lnT w="6350">
                      <a:solidFill>
                        <a:srgbClr val="9FA403"/>
                      </a:solidFill>
                      <a:prstDash val="solid"/>
                    </a:lnT>
                    <a:lnB w="6350">
                      <a:solidFill>
                        <a:srgbClr val="9FA40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29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FA403"/>
                      </a:solidFill>
                      <a:prstDash val="solid"/>
                    </a:lnL>
                    <a:lnR w="6350">
                      <a:solidFill>
                        <a:srgbClr val="1F115C"/>
                      </a:solidFill>
                      <a:prstDash val="solid"/>
                    </a:lnR>
                    <a:lnT w="6350">
                      <a:solidFill>
                        <a:srgbClr val="5F4656"/>
                      </a:solidFill>
                      <a:prstDash val="solid"/>
                    </a:lnT>
                    <a:lnB w="6350">
                      <a:solidFill>
                        <a:srgbClr val="1F115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1F115C"/>
                      </a:solidFill>
                      <a:prstDash val="solid"/>
                    </a:lnL>
                    <a:lnR w="6350">
                      <a:solidFill>
                        <a:srgbClr val="1F115C"/>
                      </a:solidFill>
                      <a:prstDash val="solid"/>
                    </a:lnR>
                    <a:lnT w="6350">
                      <a:solidFill>
                        <a:srgbClr val="5F4656"/>
                      </a:solidFill>
                      <a:prstDash val="solid"/>
                    </a:lnT>
                    <a:lnB w="6350">
                      <a:solidFill>
                        <a:srgbClr val="1F115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Calibri"/>
                          <a:cs typeface="Calibri"/>
                        </a:rPr>
                        <a:t>40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1F115C"/>
                      </a:solidFill>
                      <a:prstDash val="solid"/>
                    </a:lnL>
                    <a:lnR w="6350">
                      <a:solidFill>
                        <a:srgbClr val="1F115C"/>
                      </a:solidFill>
                      <a:prstDash val="solid"/>
                    </a:lnR>
                    <a:lnT w="6350">
                      <a:solidFill>
                        <a:srgbClr val="5F4656"/>
                      </a:solidFill>
                      <a:prstDash val="solid"/>
                    </a:lnT>
                    <a:lnB w="6350">
                      <a:solidFill>
                        <a:srgbClr val="1F115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661517" y="6258255"/>
            <a:ext cx="1413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Fonte: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ETSI/ESI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02" rIns="0" bIns="0" rtlCol="0" vert="horz">
            <a:spAutoFit/>
          </a:bodyPr>
          <a:lstStyle/>
          <a:p>
            <a:pPr marL="915669">
              <a:lnSpc>
                <a:spcPct val="100000"/>
              </a:lnSpc>
              <a:spcBef>
                <a:spcPts val="105"/>
              </a:spcBef>
            </a:pPr>
            <a:r>
              <a:rPr dirty="0"/>
              <a:t>GLI</a:t>
            </a:r>
            <a:r>
              <a:rPr dirty="0" spc="-35"/>
              <a:t> </a:t>
            </a:r>
            <a:r>
              <a:rPr dirty="0"/>
              <a:t>ATTI</a:t>
            </a:r>
            <a:r>
              <a:rPr dirty="0" spc="-35"/>
              <a:t> </a:t>
            </a:r>
            <a:r>
              <a:rPr dirty="0"/>
              <a:t>DI</a:t>
            </a:r>
            <a:r>
              <a:rPr dirty="0" spc="-20"/>
              <a:t> </a:t>
            </a:r>
            <a:r>
              <a:rPr dirty="0"/>
              <a:t>ESECUZIONE</a:t>
            </a:r>
            <a:r>
              <a:rPr dirty="0" spc="-35"/>
              <a:t> </a:t>
            </a:r>
            <a:r>
              <a:rPr dirty="0"/>
              <a:t>-</a:t>
            </a:r>
            <a:r>
              <a:rPr dirty="0" spc="-4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910332" y="1646301"/>
          <a:ext cx="6788150" cy="4130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8090"/>
                <a:gridCol w="4911090"/>
                <a:gridCol w="566420"/>
              </a:tblGrid>
              <a:tr h="684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2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503555">
                        <a:lnSpc>
                          <a:spcPts val="2160"/>
                        </a:lnSpc>
                        <a:spcBef>
                          <a:spcPts val="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standards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already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DF351B"/>
                      </a:solidFill>
                      <a:prstDash val="solid"/>
                    </a:lnR>
                    <a:lnT w="6350">
                      <a:solidFill>
                        <a:srgbClr val="DF351B"/>
                      </a:solidFill>
                      <a:prstDash val="solid"/>
                    </a:lnT>
                    <a:lnB w="6350">
                      <a:solidFill>
                        <a:srgbClr val="DF35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0"/>
                        </a:lnSpc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DF351B"/>
                      </a:solidFill>
                      <a:prstDash val="solid"/>
                    </a:lnL>
                    <a:lnR w="6350">
                      <a:solidFill>
                        <a:srgbClr val="80D03D"/>
                      </a:solidFill>
                      <a:prstDash val="solid"/>
                    </a:lnR>
                    <a:lnT w="6350">
                      <a:solidFill>
                        <a:srgbClr val="80D03D"/>
                      </a:solidFill>
                      <a:prstDash val="solid"/>
                    </a:lnT>
                    <a:lnB w="6350">
                      <a:solidFill>
                        <a:srgbClr val="80D03D"/>
                      </a:solidFill>
                      <a:prstDash val="soli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20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2130"/>
                        </a:lnSpc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standards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already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5F6FFA"/>
                      </a:solidFill>
                      <a:prstDash val="solid"/>
                    </a:lnR>
                    <a:lnT w="6350">
                      <a:solidFill>
                        <a:srgbClr val="DF351B"/>
                      </a:solidFill>
                      <a:prstDash val="solid"/>
                    </a:lnT>
                    <a:lnB w="6350">
                      <a:solidFill>
                        <a:srgbClr val="5F6FF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0"/>
                        </a:lnSpc>
                      </a:pPr>
                      <a:r>
                        <a:rPr dirty="0" sz="1800" spc="-5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5F6FFA"/>
                      </a:solidFill>
                      <a:prstDash val="solid"/>
                    </a:lnL>
                    <a:lnR w="6350">
                      <a:solidFill>
                        <a:srgbClr val="5F6FFA"/>
                      </a:solidFill>
                      <a:prstDash val="solid"/>
                    </a:lnR>
                    <a:lnT w="6350">
                      <a:solidFill>
                        <a:srgbClr val="80D03D"/>
                      </a:solidFill>
                      <a:prstDash val="solid"/>
                    </a:lnT>
                    <a:lnB w="6350">
                      <a:solidFill>
                        <a:srgbClr val="5F6FFA"/>
                      </a:solidFill>
                      <a:prstDash val="solid"/>
                    </a:lnB>
                  </a:tcPr>
                </a:tc>
              </a:tr>
              <a:tr h="6521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62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2160"/>
                        </a:lnSpc>
                        <a:spcBef>
                          <a:spcPts val="40"/>
                        </a:spcBef>
                        <a:tabLst>
                          <a:tab pos="631190" algn="l"/>
                          <a:tab pos="2110105" algn="l"/>
                          <a:tab pos="2682875" algn="l"/>
                          <a:tab pos="3548379" algn="l"/>
                          <a:tab pos="4638675" algn="l"/>
                        </a:tabLst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already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published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for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eIDAS1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79EA"/>
                      </a:solidFill>
                      <a:prstDash val="solid"/>
                    </a:lnR>
                    <a:lnT w="6350">
                      <a:solidFill>
                        <a:srgbClr val="5F6FFA"/>
                      </a:solidFill>
                      <a:prstDash val="solid"/>
                    </a:lnT>
                    <a:lnB w="6350">
                      <a:solidFill>
                        <a:srgbClr val="0079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0"/>
                        </a:lnSpc>
                      </a:pPr>
                      <a:r>
                        <a:rPr dirty="0" sz="1800" spc="-50" b="1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79EA"/>
                      </a:solidFill>
                      <a:prstDash val="solid"/>
                    </a:lnL>
                    <a:lnR w="6350">
                      <a:solidFill>
                        <a:srgbClr val="0079EA"/>
                      </a:solidFill>
                      <a:prstDash val="solid"/>
                    </a:lnR>
                    <a:lnT w="6350">
                      <a:solidFill>
                        <a:srgbClr val="5F6FFA"/>
                      </a:solidFill>
                      <a:prstDash val="solid"/>
                    </a:lnT>
                    <a:lnB w="6350">
                      <a:solidFill>
                        <a:srgbClr val="0079EA"/>
                      </a:solidFill>
                      <a:prstDash val="soli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27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503555">
                        <a:lnSpc>
                          <a:spcPts val="2160"/>
                        </a:lnSpc>
                        <a:spcBef>
                          <a:spcPts val="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standards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77EA"/>
                      </a:solidFill>
                      <a:prstDash val="solid"/>
                    </a:lnR>
                    <a:lnT w="6350">
                      <a:solidFill>
                        <a:srgbClr val="0079EA"/>
                      </a:solidFill>
                      <a:prstDash val="solid"/>
                    </a:lnT>
                    <a:lnB w="6350">
                      <a:solidFill>
                        <a:srgbClr val="8077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8077EA"/>
                      </a:solidFill>
                      <a:prstDash val="solid"/>
                    </a:lnL>
                    <a:lnR w="6350">
                      <a:solidFill>
                        <a:srgbClr val="8077EA"/>
                      </a:solidFill>
                      <a:prstDash val="solid"/>
                    </a:lnR>
                    <a:lnT w="6350">
                      <a:solidFill>
                        <a:srgbClr val="0079EA"/>
                      </a:solidFill>
                      <a:prstDash val="solid"/>
                    </a:lnT>
                    <a:lnB w="6350">
                      <a:solidFill>
                        <a:srgbClr val="8077EA"/>
                      </a:solidFill>
                      <a:prstDash val="soli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727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2135"/>
                        </a:lnSpc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requiring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reference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standards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40DE1B"/>
                      </a:solidFill>
                      <a:prstDash val="solid"/>
                    </a:lnR>
                    <a:lnT w="6350">
                      <a:solidFill>
                        <a:srgbClr val="8077EA"/>
                      </a:solidFill>
                      <a:prstDash val="solid"/>
                    </a:lnT>
                    <a:lnB w="6350">
                      <a:solidFill>
                        <a:srgbClr val="40DE1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40DE1B"/>
                      </a:solidFill>
                      <a:prstDash val="solid"/>
                    </a:lnL>
                    <a:lnR w="6350">
                      <a:solidFill>
                        <a:srgbClr val="40DE1B"/>
                      </a:solidFill>
                      <a:prstDash val="solid"/>
                    </a:lnR>
                    <a:lnT w="6350">
                      <a:solidFill>
                        <a:srgbClr val="8077EA"/>
                      </a:solidFill>
                      <a:prstDash val="solid"/>
                    </a:lnT>
                    <a:lnB w="6350">
                      <a:solidFill>
                        <a:srgbClr val="40DE1B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eIDAS2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Acts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eIDAS2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C079EA"/>
                      </a:solidFill>
                      <a:prstDash val="solid"/>
                    </a:lnR>
                    <a:lnT w="6350">
                      <a:solidFill>
                        <a:srgbClr val="40DE1B"/>
                      </a:solidFill>
                      <a:prstDash val="solid"/>
                    </a:lnT>
                    <a:lnB w="6350">
                      <a:solidFill>
                        <a:srgbClr val="C079E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 b="1">
                          <a:latin typeface="Calibri"/>
                          <a:cs typeface="Calibri"/>
                        </a:rPr>
                        <a:t>40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C079EA"/>
                      </a:solidFill>
                      <a:prstDash val="solid"/>
                    </a:lnL>
                    <a:lnR w="6350">
                      <a:solidFill>
                        <a:srgbClr val="C079EA"/>
                      </a:solidFill>
                      <a:prstDash val="solid"/>
                    </a:lnR>
                    <a:lnT w="6350">
                      <a:solidFill>
                        <a:srgbClr val="40DE1B"/>
                      </a:solidFill>
                      <a:prstDash val="solid"/>
                    </a:lnT>
                    <a:lnB w="6350">
                      <a:solidFill>
                        <a:srgbClr val="C079EA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901134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8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implementing</a:t>
                      </a:r>
                      <a:r>
                        <a:rPr dirty="0" sz="1800" spc="-8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acts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01134"/>
                      </a:solidFill>
                      <a:prstDash val="solid"/>
                    </a:lnL>
                    <a:lnR w="6350">
                      <a:solidFill>
                        <a:srgbClr val="901134"/>
                      </a:solidFill>
                      <a:prstDash val="solid"/>
                    </a:lnR>
                    <a:lnT w="6350">
                      <a:solidFill>
                        <a:srgbClr val="C079EA"/>
                      </a:solidFill>
                      <a:prstDash val="solid"/>
                    </a:lnT>
                    <a:lnB w="6350">
                      <a:solidFill>
                        <a:srgbClr val="9011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135"/>
                        </a:lnSpc>
                      </a:pPr>
                      <a:r>
                        <a:rPr dirty="0" sz="1800" spc="-25" b="1">
                          <a:latin typeface="Calibri"/>
                          <a:cs typeface="Calibri"/>
                        </a:rPr>
                        <a:t>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901134"/>
                      </a:solidFill>
                      <a:prstDash val="solid"/>
                    </a:lnL>
                    <a:lnR w="6350">
                      <a:solidFill>
                        <a:srgbClr val="8079EA"/>
                      </a:solidFill>
                      <a:prstDash val="solid"/>
                    </a:lnR>
                    <a:lnT w="6350">
                      <a:solidFill>
                        <a:srgbClr val="C079EA"/>
                      </a:solidFill>
                      <a:prstDash val="solid"/>
                    </a:lnT>
                    <a:lnB w="6350">
                      <a:solidFill>
                        <a:srgbClr val="8079E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661517" y="6258255"/>
            <a:ext cx="14135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Fonte: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ETSI/ESI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96139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UNA</a:t>
            </a:r>
            <a:r>
              <a:rPr dirty="0" sz="3550" spc="-45"/>
              <a:t> </a:t>
            </a:r>
            <a:r>
              <a:rPr dirty="0" sz="3550"/>
              <a:t>NOVITA’</a:t>
            </a:r>
            <a:r>
              <a:rPr dirty="0" sz="3550" spc="-55"/>
              <a:t> </a:t>
            </a:r>
            <a:r>
              <a:rPr dirty="0" sz="3550" spc="-10"/>
              <a:t>ATTUATIVA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516432" y="1677441"/>
            <a:ext cx="11058525" cy="3781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1300" marR="5080" indent="-228600">
              <a:lnSpc>
                <a:spcPct val="11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«data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800" spc="-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scadenza»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800" spc="-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Commissione,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esecuzione,</a:t>
            </a:r>
            <a:r>
              <a:rPr dirty="0" sz="2800" spc="4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2800" spc="4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«un</a:t>
            </a:r>
            <a:r>
              <a:rPr dirty="0" sz="2800" spc="40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elenco</a:t>
            </a:r>
            <a:r>
              <a:rPr dirty="0" sz="2800" spc="3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800" spc="40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norme</a:t>
            </a:r>
            <a:r>
              <a:rPr dirty="0" sz="2800" spc="4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8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riferimento»</a:t>
            </a:r>
            <a:r>
              <a:rPr dirty="0" sz="2800" spc="4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e,</a:t>
            </a:r>
            <a:r>
              <a:rPr dirty="0" sz="2800" spc="40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se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necessario,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specifiche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8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procedure</a:t>
            </a:r>
            <a:r>
              <a:rPr dirty="0" sz="2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applicabili</a:t>
            </a:r>
            <a:r>
              <a:rPr dirty="0" sz="2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2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misure</a:t>
            </a:r>
            <a:endParaRPr sz="2800">
              <a:latin typeface="Trebuchet MS"/>
              <a:cs typeface="Trebuchet MS"/>
            </a:endParaRPr>
          </a:p>
          <a:p>
            <a:pPr algn="just" marL="241300">
              <a:lnSpc>
                <a:spcPct val="100000"/>
              </a:lnSpc>
              <a:spcBef>
                <a:spcPts val="335"/>
              </a:spcBef>
            </a:pP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….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800" spc="-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esecuzione  sono</a:t>
            </a:r>
            <a:r>
              <a:rPr dirty="0" sz="2800" spc="-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adottati</a:t>
            </a:r>
            <a:r>
              <a:rPr dirty="0" sz="2800" spc="-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secondo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800" spc="-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procedura</a:t>
            </a:r>
            <a:endParaRPr sz="2800">
              <a:latin typeface="Trebuchet MS"/>
              <a:cs typeface="Trebuchet MS"/>
            </a:endParaRPr>
          </a:p>
          <a:p>
            <a:pPr algn="just" marL="241300">
              <a:lnSpc>
                <a:spcPct val="100000"/>
              </a:lnSpc>
              <a:spcBef>
                <a:spcPts val="340"/>
              </a:spcBef>
            </a:pP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d’esame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8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28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all’articolo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48,</a:t>
            </a:r>
            <a:r>
              <a:rPr dirty="0" sz="2800" spc="-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2.</a:t>
            </a:r>
            <a:r>
              <a:rPr dirty="0" sz="2800" spc="-25">
                <a:solidFill>
                  <a:srgbClr val="44536A"/>
                </a:solidFill>
                <a:latin typeface="Verdana"/>
                <a:cs typeface="Verdana"/>
              </a:rPr>
              <a:t>»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800">
              <a:latin typeface="Verdana"/>
              <a:cs typeface="Verdana"/>
            </a:endParaRPr>
          </a:p>
          <a:p>
            <a:pPr algn="just" marL="240029" marR="6985" indent="-227329">
              <a:lnSpc>
                <a:spcPct val="11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«Si  presume</a:t>
            </a:r>
            <a:r>
              <a:rPr dirty="0" sz="2800" spc="1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8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8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2800" spc="1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…</a:t>
            </a:r>
            <a:r>
              <a:rPr dirty="0" sz="28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siano</a:t>
            </a:r>
            <a:r>
              <a:rPr dirty="0" sz="28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stati</a:t>
            </a:r>
            <a:r>
              <a:rPr dirty="0" sz="28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rispettati</a:t>
            </a:r>
            <a:r>
              <a:rPr dirty="0" sz="2800" spc="2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ove</a:t>
            </a:r>
            <a:r>
              <a:rPr dirty="0" sz="28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…</a:t>
            </a:r>
            <a:r>
              <a:rPr dirty="0" sz="28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sia </a:t>
            </a:r>
            <a:r>
              <a:rPr dirty="0" sz="28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conforme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norme,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specifiche</a:t>
            </a:r>
            <a:r>
              <a:rPr dirty="0" sz="2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44536A"/>
                </a:solidFill>
                <a:latin typeface="Trebuchet MS"/>
                <a:cs typeface="Trebuchet MS"/>
              </a:rPr>
              <a:t>procedure.»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054" rIns="0" bIns="0" rtlCol="0" vert="horz">
            <a:spAutoFit/>
          </a:bodyPr>
          <a:lstStyle/>
          <a:p>
            <a:pPr marL="2031364">
              <a:lnSpc>
                <a:spcPct val="100000"/>
              </a:lnSpc>
              <a:spcBef>
                <a:spcPts val="105"/>
              </a:spcBef>
            </a:pPr>
            <a:r>
              <a:rPr dirty="0" sz="3550">
                <a:latin typeface="Trebuchet MS"/>
                <a:cs typeface="Trebuchet MS"/>
              </a:rPr>
              <a:t>NUOVI</a:t>
            </a:r>
            <a:r>
              <a:rPr dirty="0" sz="3550" spc="-80">
                <a:latin typeface="Trebuchet MS"/>
                <a:cs typeface="Trebuchet MS"/>
              </a:rPr>
              <a:t> </a:t>
            </a:r>
            <a:r>
              <a:rPr dirty="0" sz="3550" spc="-25">
                <a:latin typeface="Trebuchet MS"/>
                <a:cs typeface="Trebuchet MS"/>
              </a:rPr>
              <a:t>STANDARD</a:t>
            </a:r>
            <a:r>
              <a:rPr dirty="0" sz="3550" spc="-65">
                <a:latin typeface="Trebuchet MS"/>
                <a:cs typeface="Trebuchet MS"/>
              </a:rPr>
              <a:t> </a:t>
            </a:r>
            <a:r>
              <a:rPr dirty="0" sz="3550">
                <a:latin typeface="Trebuchet MS"/>
                <a:cs typeface="Trebuchet MS"/>
              </a:rPr>
              <a:t>-</a:t>
            </a:r>
            <a:r>
              <a:rPr dirty="0" sz="3550" spc="-75">
                <a:latin typeface="Trebuchet MS"/>
                <a:cs typeface="Trebuchet MS"/>
              </a:rPr>
              <a:t> </a:t>
            </a:r>
            <a:r>
              <a:rPr dirty="0" sz="3550" spc="-50">
                <a:latin typeface="Trebuchet MS"/>
                <a:cs typeface="Trebuchet MS"/>
              </a:rPr>
              <a:t>1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7106" y="1585975"/>
            <a:ext cx="11658600" cy="4750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marR="952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1510665" algn="l"/>
                <a:tab pos="2393315" algn="l"/>
                <a:tab pos="4064000" algn="l"/>
                <a:tab pos="6659245" algn="l"/>
                <a:tab pos="7409180" algn="l"/>
                <a:tab pos="9264015" algn="l"/>
                <a:tab pos="9863455" algn="l"/>
              </a:tabLst>
            </a:pPr>
            <a:r>
              <a:rPr dirty="0" sz="3100" spc="-10">
                <a:latin typeface="Trebuchet MS"/>
                <a:cs typeface="Trebuchet MS"/>
              </a:rPr>
              <a:t>Policy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25">
                <a:latin typeface="Trebuchet MS"/>
                <a:cs typeface="Trebuchet MS"/>
              </a:rPr>
              <a:t>and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10">
                <a:latin typeface="Trebuchet MS"/>
                <a:cs typeface="Trebuchet MS"/>
              </a:rPr>
              <a:t>Security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10">
                <a:latin typeface="Trebuchet MS"/>
                <a:cs typeface="Trebuchet MS"/>
              </a:rPr>
              <a:t>requirements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25">
                <a:latin typeface="Trebuchet MS"/>
                <a:cs typeface="Trebuchet MS"/>
              </a:rPr>
              <a:t>for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10">
                <a:latin typeface="Trebuchet MS"/>
                <a:cs typeface="Trebuchet MS"/>
              </a:rPr>
              <a:t>Providers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25">
                <a:latin typeface="Trebuchet MS"/>
                <a:cs typeface="Trebuchet MS"/>
              </a:rPr>
              <a:t>of</a:t>
            </a:r>
            <a:r>
              <a:rPr dirty="0" sz="3100">
                <a:latin typeface="Trebuchet MS"/>
                <a:cs typeface="Trebuchet MS"/>
              </a:rPr>
              <a:t>	</a:t>
            </a:r>
            <a:r>
              <a:rPr dirty="0" sz="3100" spc="-10">
                <a:latin typeface="Trebuchet MS"/>
                <a:cs typeface="Trebuchet MS"/>
              </a:rPr>
              <a:t>Electronic </a:t>
            </a:r>
            <a:r>
              <a:rPr dirty="0" sz="3100">
                <a:latin typeface="Trebuchet MS"/>
                <a:cs typeface="Trebuchet MS"/>
              </a:rPr>
              <a:t>Attestation</a:t>
            </a:r>
            <a:r>
              <a:rPr dirty="0" sz="3100" spc="-2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of</a:t>
            </a:r>
            <a:r>
              <a:rPr dirty="0" sz="3100" spc="-19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Attributes</a:t>
            </a:r>
            <a:r>
              <a:rPr dirty="0" sz="3100" spc="-2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Services</a:t>
            </a:r>
            <a:r>
              <a:rPr dirty="0" sz="3100" spc="-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(TS</a:t>
            </a:r>
            <a:r>
              <a:rPr dirty="0" sz="3100" spc="-3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-10">
                <a:latin typeface="Trebuchet MS"/>
                <a:cs typeface="Trebuchet MS"/>
              </a:rPr>
              <a:t> </a:t>
            </a:r>
            <a:r>
              <a:rPr dirty="0" sz="3100" spc="-20">
                <a:latin typeface="Trebuchet MS"/>
                <a:cs typeface="Trebuchet MS"/>
              </a:rPr>
              <a:t>471)</a:t>
            </a:r>
            <a:endParaRPr sz="31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3100">
                <a:latin typeface="Trebuchet MS"/>
                <a:cs typeface="Trebuchet MS"/>
              </a:rPr>
              <a:t>Profiles</a:t>
            </a:r>
            <a:r>
              <a:rPr dirty="0" sz="3100" spc="-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for</a:t>
            </a:r>
            <a:r>
              <a:rPr dirty="0" sz="3100" spc="-70">
                <a:latin typeface="Trebuchet MS"/>
                <a:cs typeface="Trebuchet MS"/>
              </a:rPr>
              <a:t> </a:t>
            </a:r>
            <a:r>
              <a:rPr dirty="0" sz="3100" spc="-10">
                <a:latin typeface="Trebuchet MS"/>
                <a:cs typeface="Trebuchet MS"/>
              </a:rPr>
              <a:t>Electronic</a:t>
            </a:r>
            <a:r>
              <a:rPr dirty="0" sz="3100" spc="-21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Attestation</a:t>
            </a:r>
            <a:r>
              <a:rPr dirty="0" sz="3100" spc="-6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of</a:t>
            </a:r>
            <a:r>
              <a:rPr dirty="0" sz="3100" spc="-22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Attributes</a:t>
            </a:r>
            <a:r>
              <a:rPr dirty="0" sz="3100" spc="-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(TS</a:t>
            </a:r>
            <a:r>
              <a:rPr dirty="0" sz="3100" spc="-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-70">
                <a:latin typeface="Trebuchet MS"/>
                <a:cs typeface="Trebuchet MS"/>
              </a:rPr>
              <a:t> </a:t>
            </a:r>
            <a:r>
              <a:rPr dirty="0" sz="3100" spc="-25">
                <a:latin typeface="Trebuchet MS"/>
                <a:cs typeface="Trebuchet MS"/>
              </a:rPr>
              <a:t>472-1)</a:t>
            </a:r>
            <a:endParaRPr sz="3100">
              <a:latin typeface="Trebuchet MS"/>
              <a:cs typeface="Trebuchet MS"/>
            </a:endParaRPr>
          </a:p>
          <a:p>
            <a:pPr marL="240665" marR="8255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3100">
                <a:latin typeface="Trebuchet MS"/>
                <a:cs typeface="Trebuchet MS"/>
              </a:rPr>
              <a:t>Profiles</a:t>
            </a:r>
            <a:r>
              <a:rPr dirty="0" sz="3100" spc="1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for</a:t>
            </a:r>
            <a:r>
              <a:rPr dirty="0" sz="3100" spc="18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Relying</a:t>
            </a:r>
            <a:r>
              <a:rPr dirty="0" sz="3100" spc="1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party</a:t>
            </a:r>
            <a:r>
              <a:rPr dirty="0" sz="3100" spc="1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interface</a:t>
            </a:r>
            <a:r>
              <a:rPr dirty="0" sz="3100" spc="18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to</a:t>
            </a:r>
            <a:r>
              <a:rPr dirty="0" sz="3100" spc="17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EUDI</a:t>
            </a:r>
            <a:r>
              <a:rPr dirty="0" sz="3100" spc="1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Wallet</a:t>
            </a:r>
            <a:r>
              <a:rPr dirty="0" sz="3100" spc="15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(TS</a:t>
            </a:r>
            <a:r>
              <a:rPr dirty="0" sz="3100" spc="17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175">
                <a:latin typeface="Trebuchet MS"/>
                <a:cs typeface="Trebuchet MS"/>
              </a:rPr>
              <a:t> </a:t>
            </a:r>
            <a:r>
              <a:rPr dirty="0" sz="3100" spc="-20">
                <a:latin typeface="Trebuchet MS"/>
                <a:cs typeface="Trebuchet MS"/>
              </a:rPr>
              <a:t>472- </a:t>
            </a:r>
            <a:r>
              <a:rPr dirty="0" sz="3100" spc="-25">
                <a:latin typeface="Trebuchet MS"/>
                <a:cs typeface="Trebuchet MS"/>
              </a:rPr>
              <a:t>2)</a:t>
            </a:r>
            <a:endParaRPr sz="31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3100">
                <a:latin typeface="Trebuchet MS"/>
                <a:cs typeface="Trebuchet MS"/>
              </a:rPr>
              <a:t>Wallet</a:t>
            </a:r>
            <a:r>
              <a:rPr dirty="0" sz="3100" spc="-7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interfaces</a:t>
            </a:r>
            <a:r>
              <a:rPr dirty="0" sz="3100" spc="-8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for</a:t>
            </a:r>
            <a:r>
              <a:rPr dirty="0" sz="3100" spc="-4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trust</a:t>
            </a:r>
            <a:r>
              <a:rPr dirty="0" sz="3100" spc="-7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services</a:t>
            </a:r>
            <a:r>
              <a:rPr dirty="0" sz="3100" spc="-7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and</a:t>
            </a:r>
            <a:r>
              <a:rPr dirty="0" sz="3100" spc="-6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signing</a:t>
            </a:r>
            <a:r>
              <a:rPr dirty="0" sz="3100" spc="-6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(TS</a:t>
            </a:r>
            <a:r>
              <a:rPr dirty="0" sz="3100" spc="-6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-65">
                <a:latin typeface="Trebuchet MS"/>
                <a:cs typeface="Trebuchet MS"/>
              </a:rPr>
              <a:t> </a:t>
            </a:r>
            <a:r>
              <a:rPr dirty="0" sz="3100" spc="-20">
                <a:latin typeface="Trebuchet MS"/>
                <a:cs typeface="Trebuchet MS"/>
              </a:rPr>
              <a:t>462)</a:t>
            </a:r>
            <a:endParaRPr sz="3100">
              <a:latin typeface="Trebuchet MS"/>
              <a:cs typeface="Trebuchet MS"/>
            </a:endParaRPr>
          </a:p>
          <a:p>
            <a:pPr marL="240665" marR="5080" indent="-228600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3100">
                <a:latin typeface="Trebuchet MS"/>
                <a:cs typeface="Trebuchet MS"/>
              </a:rPr>
              <a:t>Update</a:t>
            </a:r>
            <a:r>
              <a:rPr dirty="0" sz="3100" spc="33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to</a:t>
            </a:r>
            <a:r>
              <a:rPr dirty="0" sz="3100" spc="34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Trust</a:t>
            </a:r>
            <a:r>
              <a:rPr dirty="0" sz="3100" spc="3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Lists</a:t>
            </a:r>
            <a:r>
              <a:rPr dirty="0" sz="3100" spc="33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to</a:t>
            </a:r>
            <a:r>
              <a:rPr dirty="0" sz="3100" spc="3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support</a:t>
            </a:r>
            <a:r>
              <a:rPr dirty="0" sz="3100" spc="36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new</a:t>
            </a:r>
            <a:r>
              <a:rPr dirty="0" sz="3100" spc="3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EUDI</a:t>
            </a:r>
            <a:r>
              <a:rPr dirty="0" sz="3100" spc="3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framework</a:t>
            </a:r>
            <a:r>
              <a:rPr dirty="0" sz="3100" spc="335">
                <a:latin typeface="Trebuchet MS"/>
                <a:cs typeface="Trebuchet MS"/>
              </a:rPr>
              <a:t> </a:t>
            </a:r>
            <a:r>
              <a:rPr dirty="0" sz="3100" spc="-10">
                <a:latin typeface="Trebuchet MS"/>
                <a:cs typeface="Trebuchet MS"/>
              </a:rPr>
              <a:t>(revised </a:t>
            </a:r>
            <a:r>
              <a:rPr dirty="0" sz="3100">
                <a:latin typeface="Trebuchet MS"/>
                <a:cs typeface="Trebuchet MS"/>
              </a:rPr>
              <a:t>TS</a:t>
            </a:r>
            <a:r>
              <a:rPr dirty="0" sz="3100" spc="-5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-35">
                <a:latin typeface="Trebuchet MS"/>
                <a:cs typeface="Trebuchet MS"/>
              </a:rPr>
              <a:t> </a:t>
            </a:r>
            <a:r>
              <a:rPr dirty="0" sz="3100" spc="-20">
                <a:latin typeface="Trebuchet MS"/>
                <a:cs typeface="Trebuchet MS"/>
              </a:rPr>
              <a:t>612)</a:t>
            </a:r>
            <a:endParaRPr sz="3100">
              <a:latin typeface="Trebuchet MS"/>
              <a:cs typeface="Trebuchet MS"/>
            </a:endParaRPr>
          </a:p>
          <a:p>
            <a:pPr marL="240665" marR="5715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3318510" algn="l"/>
              </a:tabLst>
            </a:pPr>
            <a:r>
              <a:rPr dirty="0" sz="3100">
                <a:latin typeface="Trebuchet MS"/>
                <a:cs typeface="Trebuchet MS"/>
              </a:rPr>
              <a:t>Update</a:t>
            </a:r>
            <a:r>
              <a:rPr dirty="0" sz="3100" spc="13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to</a:t>
            </a:r>
            <a:r>
              <a:rPr dirty="0" sz="3100" spc="13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identify</a:t>
            </a:r>
            <a:r>
              <a:rPr dirty="0" sz="3100" spc="13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proofing</a:t>
            </a:r>
            <a:r>
              <a:rPr dirty="0" sz="3100" spc="13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of</a:t>
            </a:r>
            <a:r>
              <a:rPr dirty="0" sz="3100" spc="14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trust</a:t>
            </a:r>
            <a:r>
              <a:rPr dirty="0" sz="3100" spc="13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service</a:t>
            </a:r>
            <a:r>
              <a:rPr dirty="0" sz="3100" spc="140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subjects</a:t>
            </a:r>
            <a:r>
              <a:rPr dirty="0" sz="3100" spc="114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under</a:t>
            </a:r>
            <a:r>
              <a:rPr dirty="0" sz="3100" spc="140">
                <a:latin typeface="Trebuchet MS"/>
                <a:cs typeface="Trebuchet MS"/>
              </a:rPr>
              <a:t> </a:t>
            </a:r>
            <a:r>
              <a:rPr dirty="0" sz="3100" spc="-25">
                <a:latin typeface="Trebuchet MS"/>
                <a:cs typeface="Trebuchet MS"/>
              </a:rPr>
              <a:t>new </a:t>
            </a:r>
            <a:r>
              <a:rPr dirty="0" sz="3100">
                <a:latin typeface="Trebuchet MS"/>
                <a:cs typeface="Trebuchet MS"/>
              </a:rPr>
              <a:t>EUDI</a:t>
            </a:r>
            <a:r>
              <a:rPr dirty="0" sz="3100" spc="-65">
                <a:latin typeface="Trebuchet MS"/>
                <a:cs typeface="Trebuchet MS"/>
              </a:rPr>
              <a:t> </a:t>
            </a:r>
            <a:r>
              <a:rPr dirty="0" sz="3100" spc="-10">
                <a:latin typeface="Trebuchet MS"/>
                <a:cs typeface="Trebuchet MS"/>
              </a:rPr>
              <a:t>framework</a:t>
            </a:r>
            <a:r>
              <a:rPr dirty="0" sz="3100">
                <a:latin typeface="Trebuchet MS"/>
                <a:cs typeface="Trebuchet MS"/>
              </a:rPr>
              <a:t>	(revised</a:t>
            </a:r>
            <a:r>
              <a:rPr dirty="0" sz="3100" spc="-9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TS</a:t>
            </a:r>
            <a:r>
              <a:rPr dirty="0" sz="3100" spc="-15">
                <a:latin typeface="Trebuchet MS"/>
                <a:cs typeface="Trebuchet MS"/>
              </a:rPr>
              <a:t> </a:t>
            </a:r>
            <a:r>
              <a:rPr dirty="0" sz="3100">
                <a:latin typeface="Trebuchet MS"/>
                <a:cs typeface="Trebuchet MS"/>
              </a:rPr>
              <a:t>119</a:t>
            </a:r>
            <a:r>
              <a:rPr dirty="0" sz="3100" spc="5">
                <a:latin typeface="Trebuchet MS"/>
                <a:cs typeface="Trebuchet MS"/>
              </a:rPr>
              <a:t> </a:t>
            </a:r>
            <a:r>
              <a:rPr dirty="0" sz="3100" spc="-20">
                <a:latin typeface="Trebuchet MS"/>
                <a:cs typeface="Trebuchet MS"/>
              </a:rPr>
              <a:t>461)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550158" y="1023366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 h="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054" rIns="0" bIns="0" rtlCol="0" vert="horz">
            <a:spAutoFit/>
          </a:bodyPr>
          <a:lstStyle/>
          <a:p>
            <a:pPr marL="2031364">
              <a:lnSpc>
                <a:spcPct val="100000"/>
              </a:lnSpc>
              <a:spcBef>
                <a:spcPts val="105"/>
              </a:spcBef>
            </a:pPr>
            <a:r>
              <a:rPr dirty="0" sz="3550">
                <a:latin typeface="Trebuchet MS"/>
                <a:cs typeface="Trebuchet MS"/>
              </a:rPr>
              <a:t>NUOVI</a:t>
            </a:r>
            <a:r>
              <a:rPr dirty="0" sz="3550" spc="-80">
                <a:latin typeface="Trebuchet MS"/>
                <a:cs typeface="Trebuchet MS"/>
              </a:rPr>
              <a:t> </a:t>
            </a:r>
            <a:r>
              <a:rPr dirty="0" sz="3550" spc="-25">
                <a:latin typeface="Trebuchet MS"/>
                <a:cs typeface="Trebuchet MS"/>
              </a:rPr>
              <a:t>STANDARD</a:t>
            </a:r>
            <a:r>
              <a:rPr dirty="0" sz="3550" spc="-65">
                <a:latin typeface="Trebuchet MS"/>
                <a:cs typeface="Trebuchet MS"/>
              </a:rPr>
              <a:t> </a:t>
            </a:r>
            <a:r>
              <a:rPr dirty="0" sz="3550">
                <a:latin typeface="Trebuchet MS"/>
                <a:cs typeface="Trebuchet MS"/>
              </a:rPr>
              <a:t>-</a:t>
            </a:r>
            <a:r>
              <a:rPr dirty="0" sz="3550" spc="-75">
                <a:latin typeface="Trebuchet MS"/>
                <a:cs typeface="Trebuchet MS"/>
              </a:rPr>
              <a:t> </a:t>
            </a:r>
            <a:r>
              <a:rPr dirty="0" sz="3550" spc="-50">
                <a:latin typeface="Trebuchet MS"/>
                <a:cs typeface="Trebuchet MS"/>
              </a:rPr>
              <a:t>2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7106" y="1340611"/>
            <a:ext cx="11656060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9395" marR="508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9350" algn="l"/>
                <a:tab pos="2999740" algn="l"/>
                <a:tab pos="3916045" algn="l"/>
                <a:tab pos="5443220" algn="l"/>
                <a:tab pos="6281420" algn="l"/>
                <a:tab pos="6960870" algn="l"/>
                <a:tab pos="7976234" algn="l"/>
                <a:tab pos="9514205" algn="l"/>
                <a:tab pos="10233660" algn="l"/>
              </a:tabLst>
            </a:pPr>
            <a:r>
              <a:rPr dirty="0" sz="2800" spc="-10">
                <a:latin typeface="Trebuchet MS"/>
                <a:cs typeface="Trebuchet MS"/>
              </a:rPr>
              <a:t>Coexistence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of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web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browser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and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EU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trust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controls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for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qualified </a:t>
            </a:r>
            <a:r>
              <a:rPr dirty="0" sz="2800" spc="-10">
                <a:latin typeface="Trebuchet MS"/>
                <a:cs typeface="Trebuchet MS"/>
              </a:rPr>
              <a:t>	</a:t>
            </a:r>
            <a:r>
              <a:rPr dirty="0" sz="2800">
                <a:latin typeface="Trebuchet MS"/>
                <a:cs typeface="Trebuchet MS"/>
              </a:rPr>
              <a:t>certificates</a:t>
            </a:r>
            <a:r>
              <a:rPr dirty="0" sz="2800" spc="-4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for</a:t>
            </a:r>
            <a:r>
              <a:rPr dirty="0" sz="2800" spc="-8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website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authentication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(TS</a:t>
            </a:r>
            <a:r>
              <a:rPr dirty="0" sz="2800" spc="-8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119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411-</a:t>
            </a:r>
            <a:r>
              <a:rPr dirty="0" sz="2800" spc="-25">
                <a:latin typeface="Trebuchet MS"/>
                <a:cs typeface="Trebuchet MS"/>
              </a:rPr>
              <a:t>5)</a:t>
            </a:r>
            <a:endParaRPr sz="2800">
              <a:latin typeface="Trebuchet MS"/>
              <a:cs typeface="Trebuchet MS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Trebuchet MS"/>
                <a:cs typeface="Trebuchet MS"/>
              </a:rPr>
              <a:t>Relying</a:t>
            </a:r>
            <a:r>
              <a:rPr dirty="0" sz="2800" spc="-11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party</a:t>
            </a:r>
            <a:r>
              <a:rPr dirty="0" sz="2800" spc="-9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authorizations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for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access</a:t>
            </a:r>
            <a:r>
              <a:rPr dirty="0" sz="2800" spc="-6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to</a:t>
            </a:r>
            <a:r>
              <a:rPr dirty="0" sz="2800" spc="-8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EUDI</a:t>
            </a:r>
            <a:r>
              <a:rPr dirty="0" sz="2800" spc="-9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Wallet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(TS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119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475)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7106" y="2621025"/>
            <a:ext cx="3612515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9395" marR="5080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1678305" algn="l"/>
                <a:tab pos="2127885" algn="l"/>
                <a:tab pos="2297430" algn="l"/>
              </a:tabLst>
            </a:pPr>
            <a:r>
              <a:rPr dirty="0" sz="2800" spc="-10">
                <a:latin typeface="Trebuchet MS"/>
                <a:cs typeface="Trebuchet MS"/>
              </a:rPr>
              <a:t>Update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to</a:t>
            </a:r>
            <a:r>
              <a:rPr dirty="0" sz="2800">
                <a:latin typeface="Trebuchet MS"/>
                <a:cs typeface="Trebuchet MS"/>
              </a:rPr>
              <a:t>		</a:t>
            </a:r>
            <a:r>
              <a:rPr dirty="0" sz="2800" spc="-10">
                <a:latin typeface="Trebuchet MS"/>
                <a:cs typeface="Trebuchet MS"/>
              </a:rPr>
              <a:t>existing 	electronic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signature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73144" y="2621025"/>
            <a:ext cx="7849234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755" marR="5080" indent="-59690">
              <a:lnSpc>
                <a:spcPct val="100000"/>
              </a:lnSpc>
              <a:spcBef>
                <a:spcPts val="95"/>
              </a:spcBef>
              <a:tabLst>
                <a:tab pos="1667510" algn="l"/>
                <a:tab pos="1687195" algn="l"/>
                <a:tab pos="2437130" algn="l"/>
                <a:tab pos="2982595" algn="l"/>
                <a:tab pos="3252470" algn="l"/>
                <a:tab pos="4178935" algn="l"/>
                <a:tab pos="5107940" algn="l"/>
                <a:tab pos="5598160" algn="l"/>
                <a:tab pos="6121400" algn="l"/>
                <a:tab pos="6209665" algn="l"/>
                <a:tab pos="6685280" algn="l"/>
              </a:tabLst>
            </a:pPr>
            <a:r>
              <a:rPr dirty="0" sz="2800" spc="-10">
                <a:latin typeface="Trebuchet MS"/>
                <a:cs typeface="Trebuchet MS"/>
              </a:rPr>
              <a:t>standard</a:t>
            </a:r>
            <a:r>
              <a:rPr dirty="0" sz="2800">
                <a:latin typeface="Trebuchet MS"/>
                <a:cs typeface="Trebuchet MS"/>
              </a:rPr>
              <a:t>		</a:t>
            </a:r>
            <a:r>
              <a:rPr dirty="0" sz="2800" spc="-25">
                <a:latin typeface="Trebuchet MS"/>
                <a:cs typeface="Trebuchet MS"/>
              </a:rPr>
              <a:t>for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the</a:t>
            </a:r>
            <a:r>
              <a:rPr dirty="0" sz="2800">
                <a:latin typeface="Trebuchet MS"/>
                <a:cs typeface="Trebuchet MS"/>
              </a:rPr>
              <a:t>		</a:t>
            </a:r>
            <a:r>
              <a:rPr dirty="0" sz="2800" spc="-10">
                <a:latin typeface="Trebuchet MS"/>
                <a:cs typeface="Trebuchet MS"/>
              </a:rPr>
              <a:t>management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of</a:t>
            </a:r>
            <a:r>
              <a:rPr dirty="0" sz="2800">
                <a:latin typeface="Trebuchet MS"/>
                <a:cs typeface="Trebuchet MS"/>
              </a:rPr>
              <a:t>		</a:t>
            </a:r>
            <a:r>
              <a:rPr dirty="0" sz="2800" spc="-50">
                <a:latin typeface="Trebuchet MS"/>
                <a:cs typeface="Trebuchet MS"/>
              </a:rPr>
              <a:t>a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remote creation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device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under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new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0">
                <a:latin typeface="Trebuchet MS"/>
                <a:cs typeface="Trebuchet MS"/>
              </a:rPr>
              <a:t>EUDI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framework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7106" y="3474161"/>
            <a:ext cx="11659235" cy="2586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rebuchet MS"/>
                <a:cs typeface="Trebuchet MS"/>
              </a:rPr>
              <a:t>(revised</a:t>
            </a:r>
            <a:r>
              <a:rPr dirty="0" sz="2800" spc="-8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TS</a:t>
            </a:r>
            <a:r>
              <a:rPr dirty="0" sz="2800" spc="-4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119</a:t>
            </a:r>
            <a:r>
              <a:rPr dirty="0" sz="2800" spc="-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431-</a:t>
            </a:r>
            <a:r>
              <a:rPr dirty="0" sz="2800" spc="-25">
                <a:latin typeface="Trebuchet MS"/>
                <a:cs typeface="Trebuchet MS"/>
              </a:rPr>
              <a:t>1).</a:t>
            </a:r>
            <a:endParaRPr sz="2800">
              <a:latin typeface="Trebuchet MS"/>
              <a:cs typeface="Trebuchet MS"/>
            </a:endParaRPr>
          </a:p>
          <a:p>
            <a:pPr marL="239395" marR="8255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1581150" algn="l"/>
                <a:tab pos="2103755" algn="l"/>
                <a:tab pos="2821305" algn="l"/>
                <a:tab pos="4546600" algn="l"/>
                <a:tab pos="6456680" algn="l"/>
                <a:tab pos="7107555" algn="l"/>
                <a:tab pos="8310245" algn="l"/>
                <a:tab pos="10116185" algn="l"/>
                <a:tab pos="10885805" algn="l"/>
              </a:tabLst>
            </a:pPr>
            <a:r>
              <a:rPr dirty="0" sz="2800" spc="-10">
                <a:latin typeface="Trebuchet MS"/>
                <a:cs typeface="Trebuchet MS"/>
              </a:rPr>
              <a:t>Update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to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the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standards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framework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for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digital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signatures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25">
                <a:latin typeface="Trebuchet MS"/>
                <a:cs typeface="Trebuchet MS"/>
              </a:rPr>
              <a:t>and</a:t>
            </a:r>
            <a:r>
              <a:rPr dirty="0" sz="2800">
                <a:latin typeface="Trebuchet MS"/>
                <a:cs typeface="Trebuchet MS"/>
              </a:rPr>
              <a:t>	</a:t>
            </a:r>
            <a:r>
              <a:rPr dirty="0" sz="2800" spc="-10">
                <a:latin typeface="Trebuchet MS"/>
                <a:cs typeface="Trebuchet MS"/>
              </a:rPr>
              <a:t>trust </a:t>
            </a:r>
            <a:r>
              <a:rPr dirty="0" sz="2800" spc="-10">
                <a:latin typeface="Trebuchet MS"/>
                <a:cs typeface="Trebuchet MS"/>
              </a:rPr>
              <a:t>	</a:t>
            </a:r>
            <a:r>
              <a:rPr dirty="0" sz="2800">
                <a:latin typeface="Trebuchet MS"/>
                <a:cs typeface="Trebuchet MS"/>
              </a:rPr>
              <a:t>services</a:t>
            </a:r>
            <a:r>
              <a:rPr dirty="0" sz="2800" spc="-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to</a:t>
            </a:r>
            <a:r>
              <a:rPr dirty="0" sz="2800" spc="-7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support</a:t>
            </a:r>
            <a:r>
              <a:rPr dirty="0" sz="2800" spc="-6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new</a:t>
            </a:r>
            <a:r>
              <a:rPr dirty="0" sz="2800" spc="-7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EUDI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framework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(revised</a:t>
            </a:r>
            <a:r>
              <a:rPr dirty="0" sz="2800" spc="-114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TR</a:t>
            </a:r>
            <a:r>
              <a:rPr dirty="0" sz="2800" spc="-7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119</a:t>
            </a:r>
            <a:r>
              <a:rPr dirty="0" sz="2800" spc="-9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000).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800">
              <a:latin typeface="Trebuchet MS"/>
              <a:cs typeface="Trebuchet MS"/>
            </a:endParaRPr>
          </a:p>
          <a:p>
            <a:pPr marL="239395" marR="5080" indent="-227329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Trebuchet MS"/>
                <a:cs typeface="Trebuchet MS"/>
              </a:rPr>
              <a:t>E</a:t>
            </a:r>
            <a:r>
              <a:rPr dirty="0" sz="2800" spc="5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poi</a:t>
            </a:r>
            <a:r>
              <a:rPr dirty="0" sz="2800" spc="5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standard</a:t>
            </a:r>
            <a:r>
              <a:rPr dirty="0" sz="2800" spc="6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sui</a:t>
            </a:r>
            <a:r>
              <a:rPr dirty="0" sz="2800" spc="6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SERC,</a:t>
            </a:r>
            <a:r>
              <a:rPr dirty="0" sz="2800" spc="6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e-</a:t>
            </a:r>
            <a:r>
              <a:rPr dirty="0" sz="2800">
                <a:latin typeface="Trebuchet MS"/>
                <a:cs typeface="Trebuchet MS"/>
              </a:rPr>
              <a:t>archiving,</a:t>
            </a:r>
            <a:r>
              <a:rPr dirty="0" sz="2800" spc="6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electronic</a:t>
            </a:r>
            <a:r>
              <a:rPr dirty="0" sz="2800" spc="40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legder,</a:t>
            </a:r>
            <a:r>
              <a:rPr dirty="0" sz="2800" spc="5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aggiornamento </a:t>
            </a:r>
            <a:r>
              <a:rPr dirty="0" sz="2800" spc="-10">
                <a:latin typeface="Trebuchet MS"/>
                <a:cs typeface="Trebuchet MS"/>
              </a:rPr>
              <a:t>	</a:t>
            </a:r>
            <a:r>
              <a:rPr dirty="0" sz="2800" spc="-30">
                <a:latin typeface="Trebuchet MS"/>
                <a:cs typeface="Trebuchet MS"/>
              </a:rPr>
              <a:t>QWAC,</a:t>
            </a:r>
            <a:r>
              <a:rPr dirty="0" sz="2800" spc="-175">
                <a:latin typeface="Trebuchet MS"/>
                <a:cs typeface="Trebuchet MS"/>
              </a:rPr>
              <a:t> </a:t>
            </a:r>
            <a:r>
              <a:rPr dirty="0" sz="2800" spc="-20">
                <a:latin typeface="Trebuchet MS"/>
                <a:cs typeface="Trebuchet MS"/>
              </a:rPr>
              <a:t>ecc.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550158" y="1023366"/>
            <a:ext cx="5638800" cy="0"/>
          </a:xfrm>
          <a:custGeom>
            <a:avLst/>
            <a:gdLst/>
            <a:ahLst/>
            <a:cxnLst/>
            <a:rect l="l" t="t" r="r" b="b"/>
            <a:pathLst>
              <a:path w="5638800" h="0">
                <a:moveTo>
                  <a:pt x="0" y="0"/>
                </a:moveTo>
                <a:lnTo>
                  <a:pt x="563879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384" rIns="0" bIns="0" rtlCol="0" vert="horz">
            <a:spAutoFit/>
          </a:bodyPr>
          <a:lstStyle/>
          <a:p>
            <a:pPr marL="131064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I</a:t>
            </a:r>
            <a:r>
              <a:rPr dirty="0" sz="2800" spc="-80"/>
              <a:t> </a:t>
            </a:r>
            <a:r>
              <a:rPr dirty="0" sz="2800"/>
              <a:t>NUOVI</a:t>
            </a:r>
            <a:r>
              <a:rPr dirty="0" sz="2800" spc="-70"/>
              <a:t> </a:t>
            </a:r>
            <a:r>
              <a:rPr dirty="0" sz="2800"/>
              <a:t>SERVIZI</a:t>
            </a:r>
            <a:r>
              <a:rPr dirty="0" sz="2800" spc="-75"/>
              <a:t> </a:t>
            </a:r>
            <a:r>
              <a:rPr dirty="0" sz="2800" spc="-10"/>
              <a:t>FIDUCIARI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580136" y="1690878"/>
            <a:ext cx="11057255" cy="434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40690" marR="5080" indent="-428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800" spc="1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nuovo</a:t>
            </a:r>
            <a:r>
              <a:rPr dirty="0" sz="1800" spc="1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800" spc="1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eIDAS</a:t>
            </a:r>
            <a:r>
              <a:rPr dirty="0" sz="1800" spc="1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introduce</a:t>
            </a:r>
            <a:r>
              <a:rPr dirty="0" sz="1800" spc="1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nuovi</a:t>
            </a:r>
            <a:r>
              <a:rPr dirty="0" sz="1800" spc="1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i="1">
                <a:solidFill>
                  <a:srgbClr val="44536A"/>
                </a:solidFill>
                <a:latin typeface="Verdana"/>
                <a:cs typeface="Verdana"/>
              </a:rPr>
              <a:t>Trust</a:t>
            </a:r>
            <a:r>
              <a:rPr dirty="0" sz="1800" spc="114" i="1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i="1">
                <a:solidFill>
                  <a:srgbClr val="44536A"/>
                </a:solidFill>
                <a:latin typeface="Verdana"/>
                <a:cs typeface="Verdana"/>
              </a:rPr>
              <a:t>Services</a:t>
            </a:r>
            <a:r>
              <a:rPr dirty="0" sz="1800" spc="120" i="1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(Servizi</a:t>
            </a:r>
            <a:r>
              <a:rPr dirty="0" sz="1800" spc="1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Fiduciari).</a:t>
            </a:r>
            <a:r>
              <a:rPr dirty="0" sz="1800" spc="1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Rimangono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attivi</a:t>
            </a:r>
            <a:r>
              <a:rPr dirty="0" sz="1800" spc="1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quelli</a:t>
            </a:r>
            <a:r>
              <a:rPr dirty="0" sz="1800" spc="1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già</a:t>
            </a:r>
            <a:r>
              <a:rPr dirty="0" sz="1800" spc="1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stabiliti</a:t>
            </a:r>
            <a:r>
              <a:rPr dirty="0" sz="1800" spc="1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nel</a:t>
            </a:r>
            <a:r>
              <a:rPr dirty="0" sz="1800" spc="1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800" spc="1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previgente</a:t>
            </a:r>
            <a:r>
              <a:rPr dirty="0" sz="1800" spc="1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(nel</a:t>
            </a:r>
            <a:r>
              <a:rPr dirty="0" sz="1800" spc="1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nuovo</a:t>
            </a:r>
            <a:r>
              <a:rPr dirty="0" sz="1800" spc="1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800" spc="1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sono</a:t>
            </a:r>
            <a:r>
              <a:rPr dirty="0" sz="1800" spc="1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descritti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in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modo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«strutturato»).</a:t>
            </a:r>
            <a:endParaRPr sz="1800">
              <a:latin typeface="Verdana"/>
              <a:cs typeface="Verdana"/>
            </a:endParaRPr>
          </a:p>
          <a:p>
            <a:pPr marL="440690" indent="-42799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nuovi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servizi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fiduciari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sono:</a:t>
            </a:r>
            <a:endParaRPr sz="1800">
              <a:latin typeface="Verdana"/>
              <a:cs typeface="Verdana"/>
            </a:endParaRPr>
          </a:p>
          <a:p>
            <a:pPr lvl="1" marL="926465" indent="-456565">
              <a:lnSpc>
                <a:spcPct val="100000"/>
              </a:lnSpc>
              <a:spcBef>
                <a:spcPts val="2120"/>
              </a:spcBef>
              <a:buFont typeface="Wingdings"/>
              <a:buChar char=""/>
              <a:tabLst>
                <a:tab pos="92646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«la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generazione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sigilli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remoto»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lvl="1" marL="897890" indent="-427990">
              <a:lnSpc>
                <a:spcPct val="100000"/>
              </a:lnSpc>
              <a:buFont typeface="Wingdings"/>
              <a:buChar char=""/>
              <a:tabLst>
                <a:tab pos="89789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«il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rilascio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attributi»;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44536A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lvl="1" marL="897890" indent="-427990">
              <a:lnSpc>
                <a:spcPct val="100000"/>
              </a:lnSpc>
              <a:buFont typeface="Wingdings"/>
              <a:buChar char=""/>
              <a:tabLst>
                <a:tab pos="89789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convalida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attributi»;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lvl="1" marL="897890" indent="-427990">
              <a:lnSpc>
                <a:spcPct val="100000"/>
              </a:lnSpc>
              <a:buFont typeface="Wingdings"/>
              <a:buChar char=""/>
              <a:tabLst>
                <a:tab pos="89789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«l’archiviazione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documenti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elettronici»;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lvl="1" marL="897890" indent="-427990">
              <a:lnSpc>
                <a:spcPct val="100000"/>
              </a:lnSpc>
              <a:buFont typeface="Wingdings"/>
              <a:buChar char=""/>
              <a:tabLst>
                <a:tab pos="89789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«la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convalida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trasmessi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tramite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recapito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certificato»;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44536A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lvl="1" marL="897890" indent="-427990">
              <a:lnSpc>
                <a:spcPct val="100000"/>
              </a:lnSpc>
              <a:buFont typeface="Wingdings"/>
              <a:buChar char=""/>
              <a:tabLst>
                <a:tab pos="89789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«la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registrazione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elettronico».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0092" y="2591562"/>
            <a:ext cx="6332855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19380" marR="5080" indent="-10668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4400" spc="-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4400" spc="-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4400" spc="-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 (EDIW)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97" rIns="0" bIns="0" rtlCol="0" vert="horz">
            <a:spAutoFit/>
          </a:bodyPr>
          <a:lstStyle/>
          <a:p>
            <a:pPr marL="531495">
              <a:lnSpc>
                <a:spcPct val="100000"/>
              </a:lnSpc>
              <a:spcBef>
                <a:spcPts val="95"/>
              </a:spcBef>
            </a:pPr>
            <a:r>
              <a:rPr dirty="0" sz="3350">
                <a:latin typeface="Trebuchet MS"/>
                <a:cs typeface="Trebuchet MS"/>
              </a:rPr>
              <a:t>DEFINIZIONE</a:t>
            </a:r>
            <a:r>
              <a:rPr dirty="0" sz="3350" spc="-7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DEL</a:t>
            </a:r>
            <a:r>
              <a:rPr dirty="0" sz="3350" spc="-190">
                <a:latin typeface="Trebuchet MS"/>
                <a:cs typeface="Trebuchet MS"/>
              </a:rPr>
              <a:t> </a:t>
            </a:r>
            <a:r>
              <a:rPr dirty="0" sz="3350" spc="-35">
                <a:latin typeface="Trebuchet MS"/>
                <a:cs typeface="Trebuchet MS"/>
              </a:rPr>
              <a:t>PORTAFOGLIO</a:t>
            </a:r>
            <a:r>
              <a:rPr dirty="0" sz="3350" spc="-85">
                <a:latin typeface="Trebuchet MS"/>
                <a:cs typeface="Trebuchet MS"/>
              </a:rPr>
              <a:t> </a:t>
            </a:r>
            <a:r>
              <a:rPr dirty="0" sz="3350" spc="-25">
                <a:latin typeface="Trebuchet MS"/>
                <a:cs typeface="Trebuchet MS"/>
              </a:rPr>
              <a:t>UE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538222" y="916686"/>
            <a:ext cx="7181215" cy="0"/>
          </a:xfrm>
          <a:custGeom>
            <a:avLst/>
            <a:gdLst/>
            <a:ahLst/>
            <a:cxnLst/>
            <a:rect l="l" t="t" r="r" b="b"/>
            <a:pathLst>
              <a:path w="7181215" h="0">
                <a:moveTo>
                  <a:pt x="0" y="0"/>
                </a:moveTo>
                <a:lnTo>
                  <a:pt x="7180707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66952" y="1403096"/>
            <a:ext cx="10351135" cy="479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2024/1183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wallet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definito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4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(nr.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42):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450"/>
              </a:lnSpc>
              <a:tabLst>
                <a:tab pos="1240790" algn="l"/>
                <a:tab pos="1772285" algn="l"/>
                <a:tab pos="3361054" algn="l"/>
                <a:tab pos="5445760" algn="l"/>
                <a:tab pos="6516370" algn="l"/>
                <a:tab pos="7520305" algn="l"/>
                <a:tab pos="8593455" algn="l"/>
                <a:tab pos="9259570" algn="l"/>
                <a:tab pos="10046335" algn="l"/>
              </a:tabLst>
            </a:pPr>
            <a:r>
              <a:rPr dirty="0" sz="2400" spc="-10" b="1" i="1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400" spc="-10" i="1">
                <a:latin typeface="Trebuchet MS"/>
                <a:cs typeface="Trebuchet MS"/>
              </a:rPr>
              <a:t>means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5" i="1">
                <a:latin typeface="Trebuchet MS"/>
                <a:cs typeface="Trebuchet MS"/>
              </a:rPr>
              <a:t>an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electronic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identification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means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which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allows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5" i="1">
                <a:latin typeface="Trebuchet MS"/>
                <a:cs typeface="Trebuchet MS"/>
              </a:rPr>
              <a:t>the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0" i="1">
                <a:latin typeface="Trebuchet MS"/>
                <a:cs typeface="Trebuchet MS"/>
              </a:rPr>
              <a:t>user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5" i="1"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  <a:tabLst>
                <a:tab pos="1370330" algn="l"/>
                <a:tab pos="2411730" algn="l"/>
                <a:tab pos="3688715" algn="l"/>
                <a:tab pos="4409440" algn="l"/>
                <a:tab pos="5755640" algn="l"/>
                <a:tab pos="6892925" algn="l"/>
                <a:tab pos="8997315" algn="l"/>
                <a:tab pos="9838690" algn="l"/>
              </a:tabLst>
            </a:pPr>
            <a:r>
              <a:rPr dirty="0" sz="2400" spc="-10" i="1">
                <a:latin typeface="Trebuchet MS"/>
                <a:cs typeface="Trebuchet MS"/>
              </a:rPr>
              <a:t>securely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store,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manage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5" i="1">
                <a:latin typeface="Trebuchet MS"/>
                <a:cs typeface="Trebuchet MS"/>
              </a:rPr>
              <a:t>and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validate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person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10" i="1">
                <a:latin typeface="Trebuchet MS"/>
                <a:cs typeface="Trebuchet MS"/>
              </a:rPr>
              <a:t>identification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0" i="1">
                <a:latin typeface="Trebuchet MS"/>
                <a:cs typeface="Trebuchet MS"/>
              </a:rPr>
              <a:t>data</a:t>
            </a:r>
            <a:r>
              <a:rPr dirty="0" sz="2400" i="1">
                <a:latin typeface="Trebuchet MS"/>
                <a:cs typeface="Trebuchet MS"/>
              </a:rPr>
              <a:t>	</a:t>
            </a:r>
            <a:r>
              <a:rPr dirty="0" sz="2400" spc="-25" i="1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</a:pPr>
            <a:r>
              <a:rPr dirty="0" sz="2400" i="1">
                <a:latin typeface="Trebuchet MS"/>
                <a:cs typeface="Trebuchet MS"/>
              </a:rPr>
              <a:t>electronic</a:t>
            </a:r>
            <a:r>
              <a:rPr dirty="0" sz="2400" spc="5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attestations</a:t>
            </a:r>
            <a:r>
              <a:rPr dirty="0" sz="2400" spc="4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of</a:t>
            </a:r>
            <a:r>
              <a:rPr dirty="0" sz="2400" spc="4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attributes</a:t>
            </a:r>
            <a:r>
              <a:rPr dirty="0" sz="2400" spc="6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for</a:t>
            </a:r>
            <a:r>
              <a:rPr dirty="0" sz="2400" spc="4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the</a:t>
            </a:r>
            <a:r>
              <a:rPr dirty="0" sz="2400" spc="4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purpose</a:t>
            </a:r>
            <a:r>
              <a:rPr dirty="0" sz="2400" spc="6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of</a:t>
            </a:r>
            <a:r>
              <a:rPr dirty="0" sz="2400" spc="4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providing</a:t>
            </a:r>
            <a:r>
              <a:rPr dirty="0" sz="2400" spc="4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them</a:t>
            </a:r>
            <a:r>
              <a:rPr dirty="0" sz="2400" spc="55" i="1">
                <a:latin typeface="Trebuchet MS"/>
                <a:cs typeface="Trebuchet MS"/>
              </a:rPr>
              <a:t> </a:t>
            </a:r>
            <a:r>
              <a:rPr dirty="0" sz="2400" spc="-25" i="1">
                <a:latin typeface="Trebuchet MS"/>
                <a:cs typeface="Trebuchet MS"/>
              </a:rPr>
              <a:t>to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</a:pPr>
            <a:r>
              <a:rPr dirty="0" sz="2400" i="1">
                <a:latin typeface="Trebuchet MS"/>
                <a:cs typeface="Trebuchet MS"/>
              </a:rPr>
              <a:t>relying</a:t>
            </a:r>
            <a:r>
              <a:rPr dirty="0" sz="2400" spc="19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parties</a:t>
            </a:r>
            <a:r>
              <a:rPr dirty="0" sz="2400" spc="19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and</a:t>
            </a:r>
            <a:r>
              <a:rPr dirty="0" sz="2400" spc="19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other</a:t>
            </a:r>
            <a:r>
              <a:rPr dirty="0" sz="2400" spc="19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users</a:t>
            </a:r>
            <a:r>
              <a:rPr dirty="0" sz="2400" spc="19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of</a:t>
            </a:r>
            <a:r>
              <a:rPr dirty="0" sz="2400" spc="19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European</a:t>
            </a:r>
            <a:r>
              <a:rPr dirty="0" sz="2400" spc="18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Digital</a:t>
            </a:r>
            <a:r>
              <a:rPr dirty="0" sz="2400" spc="18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Identity</a:t>
            </a:r>
            <a:r>
              <a:rPr dirty="0" sz="2400" spc="204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Wallets,</a:t>
            </a:r>
            <a:r>
              <a:rPr dirty="0" sz="2400" spc="180" i="1">
                <a:latin typeface="Trebuchet MS"/>
                <a:cs typeface="Trebuchet MS"/>
              </a:rPr>
              <a:t> </a:t>
            </a:r>
            <a:r>
              <a:rPr dirty="0" sz="2400" spc="-25" i="1">
                <a:latin typeface="Trebuchet MS"/>
                <a:cs typeface="Trebuchet MS"/>
              </a:rPr>
              <a:t>and</a:t>
            </a:r>
            <a:endParaRPr sz="2400">
              <a:latin typeface="Trebuchet MS"/>
              <a:cs typeface="Trebuchet MS"/>
            </a:endParaRPr>
          </a:p>
          <a:p>
            <a:pPr marL="12700" marR="8890">
              <a:lnSpc>
                <a:spcPct val="70000"/>
              </a:lnSpc>
              <a:spcBef>
                <a:spcPts val="434"/>
              </a:spcBef>
            </a:pPr>
            <a:r>
              <a:rPr dirty="0" sz="2400" i="1">
                <a:latin typeface="Trebuchet MS"/>
                <a:cs typeface="Trebuchet MS"/>
              </a:rPr>
              <a:t>to</a:t>
            </a:r>
            <a:r>
              <a:rPr dirty="0" sz="2400" spc="6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sign</a:t>
            </a:r>
            <a:r>
              <a:rPr dirty="0" sz="2400" spc="8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by</a:t>
            </a:r>
            <a:r>
              <a:rPr dirty="0" sz="2400" spc="8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means</a:t>
            </a:r>
            <a:r>
              <a:rPr dirty="0" sz="2400" spc="8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of</a:t>
            </a:r>
            <a:r>
              <a:rPr dirty="0" sz="2400" spc="7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qualified</a:t>
            </a:r>
            <a:r>
              <a:rPr dirty="0" sz="2400" spc="7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electronic</a:t>
            </a:r>
            <a:r>
              <a:rPr dirty="0" sz="2400" spc="7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signatures</a:t>
            </a:r>
            <a:r>
              <a:rPr dirty="0" sz="2400" spc="8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or</a:t>
            </a:r>
            <a:r>
              <a:rPr dirty="0" sz="2400" spc="6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to</a:t>
            </a:r>
            <a:r>
              <a:rPr dirty="0" sz="2400" spc="7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seal</a:t>
            </a:r>
            <a:r>
              <a:rPr dirty="0" sz="2400" spc="80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by</a:t>
            </a:r>
            <a:r>
              <a:rPr dirty="0" sz="2400" spc="6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means</a:t>
            </a:r>
            <a:r>
              <a:rPr dirty="0" sz="2400" spc="75" i="1">
                <a:latin typeface="Trebuchet MS"/>
                <a:cs typeface="Trebuchet MS"/>
              </a:rPr>
              <a:t> </a:t>
            </a:r>
            <a:r>
              <a:rPr dirty="0" sz="2400" spc="-25" i="1">
                <a:latin typeface="Trebuchet MS"/>
                <a:cs typeface="Trebuchet MS"/>
              </a:rPr>
              <a:t>of</a:t>
            </a:r>
            <a:r>
              <a:rPr dirty="0" sz="2400" spc="-2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qualified</a:t>
            </a:r>
            <a:r>
              <a:rPr dirty="0" sz="2400" spc="-95" i="1">
                <a:latin typeface="Trebuchet MS"/>
                <a:cs typeface="Trebuchet MS"/>
              </a:rPr>
              <a:t> </a:t>
            </a:r>
            <a:r>
              <a:rPr dirty="0" sz="2400" i="1">
                <a:latin typeface="Trebuchet MS"/>
                <a:cs typeface="Trebuchet MS"/>
              </a:rPr>
              <a:t>electronic</a:t>
            </a:r>
            <a:r>
              <a:rPr dirty="0" sz="2400" spc="-90" i="1">
                <a:latin typeface="Trebuchet MS"/>
                <a:cs typeface="Trebuchet MS"/>
              </a:rPr>
              <a:t> </a:t>
            </a:r>
            <a:r>
              <a:rPr dirty="0" sz="2400" spc="-10" i="1">
                <a:latin typeface="Trebuchet MS"/>
                <a:cs typeface="Trebuchet MS"/>
              </a:rPr>
              <a:t>seals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».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450"/>
              </a:lnSpc>
              <a:tabLst>
                <a:tab pos="673735" algn="l"/>
                <a:tab pos="1763395" algn="l"/>
                <a:tab pos="2246630" algn="l"/>
                <a:tab pos="4531360" algn="l"/>
                <a:tab pos="6395720" algn="l"/>
                <a:tab pos="7089140" algn="l"/>
                <a:tab pos="8524875" algn="l"/>
                <a:tab pos="10071735" algn="l"/>
              </a:tabLst>
            </a:pP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mezzo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identificazione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elettronica,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consente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all'utente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</a:pP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conservare,</a:t>
            </a:r>
            <a:r>
              <a:rPr dirty="0" sz="24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gestire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convalidare</a:t>
            </a:r>
            <a:r>
              <a:rPr dirty="0" sz="24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24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sicuro</a:t>
            </a:r>
            <a:r>
              <a:rPr dirty="0" sz="24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4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personale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  <a:tabLst>
                <a:tab pos="337185" algn="l"/>
                <a:tab pos="1714500" algn="l"/>
                <a:tab pos="3342640" algn="l"/>
                <a:tab pos="3768090" algn="l"/>
                <a:tab pos="5130800" algn="l"/>
                <a:tab pos="5549900" algn="l"/>
                <a:tab pos="6259830" algn="l"/>
                <a:tab pos="6684009" algn="l"/>
                <a:tab pos="7839075" algn="l"/>
                <a:tab pos="8521700" algn="l"/>
                <a:tab pos="9363075" algn="l"/>
              </a:tabLst>
            </a:pPr>
            <a:r>
              <a:rPr dirty="0" sz="2400" spc="-5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0" i="1">
                <a:solidFill>
                  <a:srgbClr val="44536A"/>
                </a:solidFill>
                <a:latin typeface="Trebuchet MS"/>
                <a:cs typeface="Trebuchet MS"/>
              </a:rPr>
              <a:t>fine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fornirli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0" i="1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parti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facenti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ts val="2014"/>
              </a:lnSpc>
            </a:pP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affidamento</a:t>
            </a:r>
            <a:r>
              <a:rPr dirty="0" sz="24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sulla</a:t>
            </a:r>
            <a:r>
              <a:rPr dirty="0" sz="2400" spc="1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400" spc="1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1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agli</a:t>
            </a:r>
            <a:r>
              <a:rPr dirty="0" sz="2400" spc="1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altri</a:t>
            </a:r>
            <a:r>
              <a:rPr dirty="0" sz="24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utenti</a:t>
            </a:r>
            <a:r>
              <a:rPr dirty="0" sz="24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4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4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europei</a:t>
            </a:r>
            <a:endParaRPr sz="2400">
              <a:latin typeface="Trebuchet MS"/>
              <a:cs typeface="Trebuchet MS"/>
            </a:endParaRPr>
          </a:p>
          <a:p>
            <a:pPr marL="12700" marR="7620">
              <a:lnSpc>
                <a:spcPct val="70000"/>
              </a:lnSpc>
              <a:spcBef>
                <a:spcPts val="434"/>
              </a:spcBef>
            </a:pP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400" spc="1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digitale,</a:t>
            </a:r>
            <a:r>
              <a:rPr dirty="0" sz="2400" spc="1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1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firmare</a:t>
            </a:r>
            <a:r>
              <a:rPr dirty="0" sz="24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24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firme</a:t>
            </a:r>
            <a:r>
              <a:rPr dirty="0" sz="2400" spc="1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elettroniche</a:t>
            </a:r>
            <a:r>
              <a:rPr dirty="0" sz="2400" spc="1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qualificate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400" spc="-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apporre</a:t>
            </a:r>
            <a:r>
              <a:rPr dirty="0" sz="24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sigilli</a:t>
            </a:r>
            <a:r>
              <a:rPr dirty="0" sz="24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24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sigilli</a:t>
            </a:r>
            <a:r>
              <a:rPr dirty="0" sz="24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4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 i="1">
                <a:solidFill>
                  <a:srgbClr val="44536A"/>
                </a:solidFill>
                <a:latin typeface="Trebuchet MS"/>
                <a:cs typeface="Trebuchet MS"/>
              </a:rPr>
              <a:t>qualificati».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5522" y="134238"/>
            <a:ext cx="720661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9765" algn="l"/>
                <a:tab pos="7193280" algn="l"/>
              </a:tabLst>
            </a:pPr>
            <a:r>
              <a:rPr dirty="0" u="sng" sz="4400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	Nasce</a:t>
            </a:r>
            <a:r>
              <a:rPr dirty="0" u="sng" sz="4400" spc="-125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00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il</a:t>
            </a:r>
            <a:r>
              <a:rPr dirty="0" u="sng" sz="4400" spc="-125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00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Portafoglio</a:t>
            </a:r>
            <a:r>
              <a:rPr dirty="0" u="sng" sz="4400" spc="-125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4400" spc="-25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UE</a:t>
            </a:r>
            <a:r>
              <a:rPr dirty="0" u="sng" sz="4400">
                <a:uFill>
                  <a:solidFill>
                    <a:srgbClr val="892230"/>
                  </a:solidFill>
                </a:uFill>
                <a:latin typeface="Trebuchet MS"/>
                <a:cs typeface="Trebuchet MS"/>
              </a:rPr>
              <a:t>	</a:t>
            </a:r>
            <a:endParaRPr sz="4400">
              <a:latin typeface="Trebuchet MS"/>
              <a:cs typeface="Trebuchet MS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831079" y="1156716"/>
            <a:ext cx="2662555" cy="5701665"/>
            <a:chOff x="4831079" y="1156716"/>
            <a:chExt cx="2662555" cy="57016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8680" y="6691930"/>
              <a:ext cx="2644940" cy="16607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1079" y="1156716"/>
              <a:ext cx="2662428" cy="5541264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533126" y="6357924"/>
            <a:ext cx="1228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rebuchet MS"/>
                <a:cs typeface="Trebuchet MS"/>
              </a:rPr>
              <a:t>Fonte:</a:t>
            </a:r>
            <a:r>
              <a:rPr dirty="0" sz="1800" spc="-80" b="1">
                <a:latin typeface="Trebuchet MS"/>
                <a:cs typeface="Trebuchet MS"/>
              </a:rPr>
              <a:t> </a:t>
            </a:r>
            <a:r>
              <a:rPr dirty="0" sz="1800" spc="-20" b="1">
                <a:latin typeface="Trebuchet MS"/>
                <a:cs typeface="Trebuchet MS"/>
              </a:rPr>
              <a:t>IPZS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356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dirty="0" sz="3350" spc="-65">
                <a:latin typeface="Trebuchet MS"/>
                <a:cs typeface="Trebuchet MS"/>
              </a:rPr>
              <a:t>PECULIARITA’</a:t>
            </a:r>
            <a:r>
              <a:rPr dirty="0" sz="3350" spc="-18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DEL</a:t>
            </a:r>
            <a:r>
              <a:rPr dirty="0" sz="3350" spc="-180">
                <a:latin typeface="Trebuchet MS"/>
                <a:cs typeface="Trebuchet MS"/>
              </a:rPr>
              <a:t> </a:t>
            </a:r>
            <a:r>
              <a:rPr dirty="0" sz="3350" spc="-45">
                <a:latin typeface="Trebuchet MS"/>
                <a:cs typeface="Trebuchet MS"/>
              </a:rPr>
              <a:t>PORTAFOGLIO</a:t>
            </a:r>
            <a:r>
              <a:rPr dirty="0" sz="3350" spc="-80">
                <a:latin typeface="Trebuchet MS"/>
                <a:cs typeface="Trebuchet MS"/>
              </a:rPr>
              <a:t> </a:t>
            </a:r>
            <a:r>
              <a:rPr dirty="0" sz="3350" spc="-25">
                <a:latin typeface="Trebuchet MS"/>
                <a:cs typeface="Trebuchet MS"/>
              </a:rPr>
              <a:t>UE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873757" y="916686"/>
            <a:ext cx="7673975" cy="0"/>
          </a:xfrm>
          <a:custGeom>
            <a:avLst/>
            <a:gdLst/>
            <a:ahLst/>
            <a:cxnLst/>
            <a:rect l="l" t="t" r="r" b="b"/>
            <a:pathLst>
              <a:path w="7673975" h="0">
                <a:moveTo>
                  <a:pt x="0" y="0"/>
                </a:moveTo>
                <a:lnTo>
                  <a:pt x="767384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56005" y="1240993"/>
            <a:ext cx="9911080" cy="4619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progetto</a:t>
            </a:r>
            <a:r>
              <a:rPr dirty="0" sz="20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complesso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tanto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politicamente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seducente.</a:t>
            </a:r>
            <a:endParaRPr sz="2000">
              <a:latin typeface="Trebuchet MS"/>
              <a:cs typeface="Trebuchet MS"/>
            </a:endParaRPr>
          </a:p>
          <a:p>
            <a:pPr marL="299085" marR="191135" indent="-287020">
              <a:lnSpc>
                <a:spcPts val="2160"/>
              </a:lnSpc>
              <a:spcBef>
                <a:spcPts val="202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punti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maggiore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complessità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wallet,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modernità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dei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fisici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supporto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l’onboarding</a:t>
            </a:r>
            <a:r>
              <a:rPr dirty="0" sz="2000" spc="-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informazioni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utente.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Sul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wallet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la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qualificata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disposizione</a:t>
            </a:r>
            <a:r>
              <a:rPr dirty="0" sz="20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dell’utente</a:t>
            </a:r>
            <a:r>
              <a:rPr dirty="0" sz="20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modo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gratuito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(ma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solo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cittadini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scopi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professionali).</a:t>
            </a:r>
            <a:endParaRPr sz="2000">
              <a:latin typeface="Trebuchet MS"/>
              <a:cs typeface="Trebuchet MS"/>
            </a:endParaRPr>
          </a:p>
          <a:p>
            <a:pPr marL="299085" marR="5715" indent="-287020">
              <a:lnSpc>
                <a:spcPts val="2160"/>
              </a:lnSpc>
              <a:spcBef>
                <a:spcPts val="2005"/>
              </a:spcBef>
              <a:buFont typeface="Arial"/>
              <a:buChar char="•"/>
              <a:tabLst>
                <a:tab pos="299085" algn="l"/>
                <a:tab pos="574675" algn="l"/>
                <a:tab pos="1972310" algn="l"/>
                <a:tab pos="2317115" algn="l"/>
                <a:tab pos="3746500" algn="l"/>
                <a:tab pos="4714240" algn="l"/>
                <a:tab pos="4982845" algn="l"/>
                <a:tab pos="5687060" algn="l"/>
                <a:tab pos="7021830" algn="l"/>
                <a:tab pos="7531100" algn="l"/>
                <a:tab pos="7867650" algn="l"/>
                <a:tab pos="8656320" algn="l"/>
                <a:tab pos="9355455" algn="l"/>
                <a:tab pos="9631680" algn="l"/>
              </a:tabLst>
            </a:pP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documento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tecnico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pubblicato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prima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volta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10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febbraio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2023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ed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referenziato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000" spc="-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ARF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(Architecture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Reference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Framework).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ts val="2280"/>
              </a:lnSpc>
              <a:spcBef>
                <a:spcPts val="173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documento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è,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data,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versione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1.4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esso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reso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disponibile</a:t>
            </a:r>
            <a:r>
              <a:rPr dirty="0" sz="20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ts val="2280"/>
              </a:lnSpc>
            </a:pP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software</a:t>
            </a:r>
            <a:r>
              <a:rPr dirty="0" sz="2000" spc="-1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Android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iOS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open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source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750"/>
              </a:spcBef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Documento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disponibile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link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seguente: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ts val="2280"/>
              </a:lnSpc>
              <a:spcBef>
                <a:spcPts val="1764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44536A"/>
                </a:solidFill>
                <a:latin typeface="Trebuchet MS"/>
                <a:cs typeface="Trebuchet MS"/>
              </a:rPr>
              <a:t>https://github.com/eu-digital-identity-wallet/eudi-doc-architecture-</a:t>
            </a:r>
            <a:r>
              <a:rPr dirty="0" sz="2000" spc="-20" b="1">
                <a:solidFill>
                  <a:srgbClr val="44536A"/>
                </a:solidFill>
                <a:latin typeface="Trebuchet MS"/>
                <a:cs typeface="Trebuchet MS"/>
              </a:rPr>
              <a:t>and-</a:t>
            </a:r>
            <a:endParaRPr sz="2000">
              <a:latin typeface="Trebuchet MS"/>
              <a:cs typeface="Trebuchet MS"/>
            </a:endParaRPr>
          </a:p>
          <a:p>
            <a:pPr marL="355600">
              <a:lnSpc>
                <a:spcPts val="2280"/>
              </a:lnSpc>
            </a:pPr>
            <a:r>
              <a:rPr dirty="0" sz="2000" spc="-10" b="1">
                <a:solidFill>
                  <a:srgbClr val="44536A"/>
                </a:solidFill>
                <a:latin typeface="Trebuchet MS"/>
                <a:cs typeface="Trebuchet MS"/>
              </a:rPr>
              <a:t>reference-framework/blob/main/docs/arf.md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97" rIns="0" bIns="0" rtlCol="0" vert="horz">
            <a:spAutoFit/>
          </a:bodyPr>
          <a:lstStyle/>
          <a:p>
            <a:pPr marL="544830">
              <a:lnSpc>
                <a:spcPct val="100000"/>
              </a:lnSpc>
              <a:spcBef>
                <a:spcPts val="95"/>
              </a:spcBef>
            </a:pPr>
            <a:r>
              <a:rPr dirty="0" sz="3350">
                <a:latin typeface="Trebuchet MS"/>
                <a:cs typeface="Trebuchet MS"/>
              </a:rPr>
              <a:t>SCENARIO</a:t>
            </a:r>
            <a:r>
              <a:rPr dirty="0" sz="3350" spc="-9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PER</a:t>
            </a:r>
            <a:r>
              <a:rPr dirty="0" sz="3350" spc="-10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IL</a:t>
            </a:r>
            <a:r>
              <a:rPr dirty="0" sz="3350" spc="-200">
                <a:latin typeface="Trebuchet MS"/>
                <a:cs typeface="Trebuchet MS"/>
              </a:rPr>
              <a:t> </a:t>
            </a:r>
            <a:r>
              <a:rPr dirty="0" sz="3350" spc="-35">
                <a:latin typeface="Trebuchet MS"/>
                <a:cs typeface="Trebuchet MS"/>
              </a:rPr>
              <a:t>PORTAFOGLIO</a:t>
            </a:r>
            <a:r>
              <a:rPr dirty="0" sz="3350" spc="-95">
                <a:latin typeface="Trebuchet MS"/>
                <a:cs typeface="Trebuchet MS"/>
              </a:rPr>
              <a:t> </a:t>
            </a:r>
            <a:r>
              <a:rPr dirty="0" sz="3350" spc="-25">
                <a:latin typeface="Trebuchet MS"/>
                <a:cs typeface="Trebuchet MS"/>
              </a:rPr>
              <a:t>UE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7210" y="1773173"/>
            <a:ext cx="11517630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2425" marR="5715" indent="-3403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2425" algn="l"/>
                <a:tab pos="1556385" algn="l"/>
                <a:tab pos="2627630" algn="l"/>
                <a:tab pos="4093845" algn="l"/>
                <a:tab pos="4406900" algn="l"/>
                <a:tab pos="5316220" algn="l"/>
                <a:tab pos="6737350" algn="l"/>
                <a:tab pos="7139305" algn="l"/>
                <a:tab pos="8677275" algn="l"/>
                <a:tab pos="9072245" algn="l"/>
                <a:tab pos="10097770" algn="l"/>
                <a:tab pos="11337290" algn="l"/>
              </a:tabLst>
            </a:pP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Accesso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sicuro,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affidabile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senza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soluzione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continuità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ai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pubblici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privati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4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24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transnazionale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transettoriale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persone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fisiche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giuridiche.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L’utente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400" spc="-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avere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pieno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propri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dati.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  <a:tab pos="1606550" algn="l"/>
                <a:tab pos="2536190" algn="l"/>
                <a:tab pos="3879215" algn="l"/>
                <a:tab pos="4749800" algn="l"/>
                <a:tab pos="5902960" algn="l"/>
                <a:tab pos="7120890" algn="l"/>
                <a:tab pos="7672705" algn="l"/>
                <a:tab pos="9381490" algn="l"/>
                <a:tab pos="10335895" algn="l"/>
                <a:tab pos="10875010" algn="l"/>
              </a:tabLst>
            </a:pP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Ciascun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membro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fornire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almeno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24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mesi</a:t>
            </a:r>
            <a:endParaRPr sz="2400">
              <a:latin typeface="Trebuchet MS"/>
              <a:cs typeface="Trebuchet MS"/>
            </a:endParaRPr>
          </a:p>
          <a:p>
            <a:pPr marL="352425">
              <a:lnSpc>
                <a:spcPct val="100000"/>
              </a:lnSpc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dall’entrata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vigore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esecutivi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emessi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conformità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regolamento.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stabilite</a:t>
            </a:r>
            <a:r>
              <a:rPr dirty="0" sz="2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l’emissione</a:t>
            </a:r>
            <a:r>
              <a:rPr dirty="0" sz="2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2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Portafoglio.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448305" y="916686"/>
            <a:ext cx="7198995" cy="0"/>
          </a:xfrm>
          <a:custGeom>
            <a:avLst/>
            <a:gdLst/>
            <a:ahLst/>
            <a:cxnLst/>
            <a:rect l="l" t="t" r="r" b="b"/>
            <a:pathLst>
              <a:path w="7198995" h="0">
                <a:moveTo>
                  <a:pt x="0" y="0"/>
                </a:moveTo>
                <a:lnTo>
                  <a:pt x="719861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384" rIns="0" bIns="0" rtlCol="0" vert="horz">
            <a:spAutoFit/>
          </a:bodyPr>
          <a:lstStyle/>
          <a:p>
            <a:pPr marL="57404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GENERALITA’</a:t>
            </a:r>
            <a:r>
              <a:rPr dirty="0" sz="2800" spc="-90"/>
              <a:t> </a:t>
            </a:r>
            <a:r>
              <a:rPr dirty="0" sz="2800"/>
              <a:t>SUL</a:t>
            </a:r>
            <a:r>
              <a:rPr dirty="0" sz="2800" spc="-125"/>
              <a:t> </a:t>
            </a:r>
            <a:r>
              <a:rPr dirty="0" sz="2800"/>
              <a:t>PORTAFOGLIO</a:t>
            </a:r>
            <a:r>
              <a:rPr dirty="0" sz="2800" spc="-135"/>
              <a:t> </a:t>
            </a:r>
            <a:r>
              <a:rPr dirty="0" sz="2800"/>
              <a:t>-</a:t>
            </a:r>
            <a:r>
              <a:rPr dirty="0" sz="2800" spc="-135"/>
              <a:t> </a:t>
            </a:r>
            <a:r>
              <a:rPr dirty="0" sz="2800" spc="-50"/>
              <a:t>1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80264" y="1329969"/>
            <a:ext cx="11903075" cy="500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40690" marR="8255" indent="-428625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  <a:tab pos="443865" algn="l"/>
              </a:tabLst>
            </a:pP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	Il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Europeo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Identità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Digitale</a:t>
            </a:r>
            <a:r>
              <a:rPr dirty="0" sz="16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vero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protagonista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16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trasformazione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ed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evoluzione</a:t>
            </a:r>
            <a:r>
              <a:rPr dirty="0" sz="1600" spc="2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4536A"/>
                </a:solidFill>
                <a:latin typeface="Verdana"/>
                <a:cs typeface="Verdana"/>
              </a:rPr>
              <a:t>digitale comunitaria.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44536A"/>
              </a:buClr>
              <a:buFont typeface="Arial"/>
              <a:buChar char="•"/>
            </a:pPr>
            <a:endParaRPr sz="1600">
              <a:latin typeface="Verdana"/>
              <a:cs typeface="Verdana"/>
            </a:endParaRPr>
          </a:p>
          <a:p>
            <a:pPr algn="just" marL="440690" marR="8255" indent="-428625">
              <a:lnSpc>
                <a:spcPct val="120100"/>
              </a:lnSpc>
              <a:buFont typeface="Arial"/>
              <a:buChar char="•"/>
              <a:tabLst>
                <a:tab pos="440690" algn="l"/>
                <a:tab pos="443865" algn="l"/>
              </a:tabLst>
            </a:pP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	La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maggior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parte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del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dibattito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sia</a:t>
            </a:r>
            <a:r>
              <a:rPr dirty="0" sz="16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istituzionale,</a:t>
            </a:r>
            <a:r>
              <a:rPr dirty="0" sz="1600" spc="2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che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pubblico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portatori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interesse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si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focalizzato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Verdana"/>
                <a:cs typeface="Verdana"/>
              </a:rPr>
              <a:t>su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questo</a:t>
            </a:r>
            <a:r>
              <a:rPr dirty="0" sz="16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44536A"/>
                </a:solidFill>
                <a:latin typeface="Verdana"/>
                <a:cs typeface="Verdana"/>
              </a:rPr>
              <a:t>tema.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44536A"/>
              </a:buClr>
              <a:buFont typeface="Arial"/>
              <a:buChar char="•"/>
            </a:pPr>
            <a:endParaRPr sz="1600">
              <a:latin typeface="Verdana"/>
              <a:cs typeface="Verdana"/>
            </a:endParaRPr>
          </a:p>
          <a:p>
            <a:pPr algn="just" marL="440690" marR="5080" indent="-428625">
              <a:lnSpc>
                <a:spcPct val="120000"/>
              </a:lnSpc>
              <a:buFont typeface="Arial"/>
              <a:buChar char="•"/>
              <a:tabLst>
                <a:tab pos="440690" algn="l"/>
                <a:tab pos="443865" algn="l"/>
              </a:tabLst>
            </a:pP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	Le</a:t>
            </a:r>
            <a:r>
              <a:rPr dirty="0" sz="1600" spc="1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funzionalità</a:t>
            </a:r>
            <a:r>
              <a:rPr dirty="0" sz="1600" spc="1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del</a:t>
            </a:r>
            <a:r>
              <a:rPr dirty="0" sz="1600" spc="1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600" spc="1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sono</a:t>
            </a:r>
            <a:r>
              <a:rPr dirty="0" sz="1600" spc="1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numerose</a:t>
            </a:r>
            <a:r>
              <a:rPr dirty="0" sz="1600" spc="1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a</a:t>
            </a:r>
            <a:r>
              <a:rPr dirty="0" sz="1600" spc="1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partire</a:t>
            </a:r>
            <a:r>
              <a:rPr dirty="0" sz="1600" spc="1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delle</a:t>
            </a:r>
            <a:r>
              <a:rPr dirty="0" sz="1600" spc="1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interazione</a:t>
            </a:r>
            <a:r>
              <a:rPr dirty="0" sz="1600" spc="1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che</a:t>
            </a:r>
            <a:r>
              <a:rPr dirty="0" sz="1600" spc="1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questo</a:t>
            </a:r>
            <a:r>
              <a:rPr dirty="0" sz="1600" spc="1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deve</a:t>
            </a:r>
            <a:r>
              <a:rPr dirty="0" sz="1600" spc="1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fare</a:t>
            </a:r>
            <a:r>
              <a:rPr dirty="0" sz="1600" spc="1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1600" spc="1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operare</a:t>
            </a:r>
            <a:r>
              <a:rPr dirty="0" sz="1600" spc="1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Verdana"/>
                <a:cs typeface="Verdana"/>
              </a:rPr>
              <a:t>in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conformità</a:t>
            </a:r>
            <a:r>
              <a:rPr dirty="0" sz="16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alla</a:t>
            </a:r>
            <a:r>
              <a:rPr dirty="0" sz="1600" spc="-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normativa</a:t>
            </a:r>
            <a:r>
              <a:rPr dirty="0" sz="16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600" spc="-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alle</a:t>
            </a:r>
            <a:r>
              <a:rPr dirty="0" sz="16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specifiche</a:t>
            </a:r>
            <a:r>
              <a:rPr dirty="0" sz="1600" spc="-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tecniche</a:t>
            </a:r>
            <a:r>
              <a:rPr dirty="0" sz="16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uniche</a:t>
            </a:r>
            <a:r>
              <a:rPr dirty="0" sz="16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a</a:t>
            </a:r>
            <a:r>
              <a:rPr dirty="0" sz="1600" spc="-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livello</a:t>
            </a:r>
            <a:r>
              <a:rPr dirty="0" sz="16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4536A"/>
                </a:solidFill>
                <a:latin typeface="Verdana"/>
                <a:cs typeface="Verdana"/>
              </a:rPr>
              <a:t>comunitario.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Clr>
                <a:srgbClr val="44536A"/>
              </a:buClr>
              <a:buFont typeface="Arial"/>
              <a:buChar char="•"/>
            </a:pPr>
            <a:endParaRPr sz="1600">
              <a:latin typeface="Verdana"/>
              <a:cs typeface="Verdana"/>
            </a:endParaRPr>
          </a:p>
          <a:p>
            <a:pPr algn="just" marL="440690" marR="7620" indent="-428625">
              <a:lnSpc>
                <a:spcPct val="120000"/>
              </a:lnSpc>
              <a:buFont typeface="Arial"/>
              <a:buChar char="•"/>
              <a:tabLst>
                <a:tab pos="440690" algn="l"/>
                <a:tab pos="443865" algn="l"/>
              </a:tabLst>
            </a:pP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	Le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criticità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sicurezza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protezione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dati</a:t>
            </a:r>
            <a:r>
              <a:rPr dirty="0" sz="1600" spc="28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personali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sono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numerose</a:t>
            </a:r>
            <a:r>
              <a:rPr dirty="0" sz="1600" spc="29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molte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600" spc="2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esse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saranno</a:t>
            </a:r>
            <a:r>
              <a:rPr dirty="0" sz="16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risolte</a:t>
            </a:r>
            <a:r>
              <a:rPr dirty="0" sz="16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Verdana"/>
                <a:cs typeface="Verdana"/>
              </a:rPr>
              <a:t>con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evoluzioni</a:t>
            </a:r>
            <a:r>
              <a:rPr dirty="0" sz="1600" spc="2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quanto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già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diffuso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600" spc="2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ben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noto.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ENISA</a:t>
            </a:r>
            <a:r>
              <a:rPr dirty="0" sz="1600" spc="2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(L’Agenzia</a:t>
            </a:r>
            <a:r>
              <a:rPr dirty="0" sz="1600" spc="2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UE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sicurezza</a:t>
            </a:r>
            <a:r>
              <a:rPr dirty="0" sz="1600" spc="2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cibernetica)</a:t>
            </a:r>
            <a:r>
              <a:rPr dirty="0" sz="1600" spc="2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ha</a:t>
            </a:r>
            <a:r>
              <a:rPr dirty="0" sz="1600" spc="2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un</a:t>
            </a:r>
            <a:r>
              <a:rPr dirty="0" sz="1600" spc="25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44536A"/>
                </a:solidFill>
                <a:latin typeface="Verdana"/>
                <a:cs typeface="Verdana"/>
              </a:rPr>
              <a:t>ruolo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esplicitamente</a:t>
            </a:r>
            <a:r>
              <a:rPr dirty="0" sz="16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stabilito</a:t>
            </a:r>
            <a:r>
              <a:rPr dirty="0" sz="16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in</a:t>
            </a:r>
            <a:r>
              <a:rPr dirty="0" sz="1600" spc="-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eIDAS</a:t>
            </a:r>
            <a:r>
              <a:rPr dirty="0" sz="16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2.0</a:t>
            </a:r>
            <a:r>
              <a:rPr dirty="0" sz="16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che</a:t>
            </a:r>
            <a:r>
              <a:rPr dirty="0" sz="16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si</a:t>
            </a:r>
            <a:r>
              <a:rPr dirty="0" sz="16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coordina</a:t>
            </a:r>
            <a:r>
              <a:rPr dirty="0" sz="16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con</a:t>
            </a:r>
            <a:r>
              <a:rPr dirty="0" sz="16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6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regolamento</a:t>
            </a:r>
            <a:r>
              <a:rPr dirty="0" sz="1600" spc="-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cosiddetto</a:t>
            </a:r>
            <a:r>
              <a:rPr dirty="0" sz="16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44536A"/>
                </a:solidFill>
                <a:latin typeface="Verdana"/>
                <a:cs typeface="Verdana"/>
              </a:rPr>
              <a:t>NIS</a:t>
            </a:r>
            <a:r>
              <a:rPr dirty="0" sz="16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44536A"/>
                </a:solidFill>
                <a:latin typeface="Verdana"/>
                <a:cs typeface="Verdana"/>
              </a:rPr>
              <a:t>2: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600">
              <a:latin typeface="Verdana"/>
              <a:cs typeface="Verdana"/>
            </a:endParaRPr>
          </a:p>
          <a:p>
            <a:pPr algn="just" marL="469900" marR="8890">
              <a:lnSpc>
                <a:spcPct val="120000"/>
              </a:lnSpc>
            </a:pP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600" spc="8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(UE)</a:t>
            </a:r>
            <a:r>
              <a:rPr dirty="0" sz="1600" spc="9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2019/881</a:t>
            </a:r>
            <a:r>
              <a:rPr dirty="0" sz="1600" spc="9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600" spc="10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1600" spc="10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1600" spc="11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8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600" spc="10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Consiglio,</a:t>
            </a:r>
            <a:r>
              <a:rPr dirty="0" sz="1600" spc="10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600" spc="10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17</a:t>
            </a:r>
            <a:r>
              <a:rPr dirty="0" sz="1600" spc="10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aprile</a:t>
            </a:r>
            <a:r>
              <a:rPr dirty="0" sz="1600" spc="9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2019,</a:t>
            </a:r>
            <a:r>
              <a:rPr dirty="0" sz="1600" spc="10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relativo</a:t>
            </a:r>
            <a:r>
              <a:rPr dirty="0" sz="1600" spc="9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all’ENISA,</a:t>
            </a:r>
            <a:r>
              <a:rPr dirty="0" sz="1600" spc="10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44536A"/>
                </a:solidFill>
                <a:latin typeface="Trebuchet MS"/>
                <a:cs typeface="Trebuchet MS"/>
              </a:rPr>
              <a:t>l’Agenzia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dell’Unione</a:t>
            </a:r>
            <a:r>
              <a:rPr dirty="0" sz="1600" spc="29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europea</a:t>
            </a:r>
            <a:r>
              <a:rPr dirty="0" sz="1600" spc="31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31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30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cibersicurezza,</a:t>
            </a:r>
            <a:r>
              <a:rPr dirty="0" sz="1600" spc="30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29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1600" spc="31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1600" spc="30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30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cibersicurezza</a:t>
            </a:r>
            <a:r>
              <a:rPr dirty="0" sz="1600" spc="31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30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600" spc="30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spc="-10" b="1">
                <a:solidFill>
                  <a:srgbClr val="44536A"/>
                </a:solidFill>
                <a:latin typeface="Trebuchet MS"/>
                <a:cs typeface="Trebuchet MS"/>
              </a:rPr>
              <a:t>tecnologie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dell’informazione</a:t>
            </a:r>
            <a:r>
              <a:rPr dirty="0" sz="1600" spc="6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6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7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comunicazione,</a:t>
            </a:r>
            <a:r>
              <a:rPr dirty="0" sz="1600" spc="7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7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600" spc="6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abroga</a:t>
            </a:r>
            <a:r>
              <a:rPr dirty="0" sz="1600" spc="6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600" spc="6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600" spc="7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(UE)</a:t>
            </a:r>
            <a:r>
              <a:rPr dirty="0" sz="1600" spc="6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n.</a:t>
            </a:r>
            <a:r>
              <a:rPr dirty="0" sz="1600" spc="6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526/2013</a:t>
            </a:r>
            <a:r>
              <a:rPr dirty="0" sz="1600" spc="65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b="1">
                <a:solidFill>
                  <a:srgbClr val="44536A"/>
                </a:solidFill>
                <a:latin typeface="Trebuchet MS"/>
                <a:cs typeface="Trebuchet MS"/>
              </a:rPr>
              <a:t>(«regolamento</a:t>
            </a:r>
            <a:r>
              <a:rPr dirty="0" sz="1600" spc="70" b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600" spc="-10" b="1">
                <a:solidFill>
                  <a:srgbClr val="44536A"/>
                </a:solidFill>
                <a:latin typeface="Trebuchet MS"/>
                <a:cs typeface="Trebuchet MS"/>
              </a:rPr>
              <a:t>sulla cibersicurezza»)</a:t>
            </a:r>
            <a:r>
              <a:rPr dirty="0" sz="16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53589" y="1023366"/>
            <a:ext cx="8588375" cy="0"/>
          </a:xfrm>
          <a:custGeom>
            <a:avLst/>
            <a:gdLst/>
            <a:ahLst/>
            <a:cxnLst/>
            <a:rect l="l" t="t" r="r" b="b"/>
            <a:pathLst>
              <a:path w="8588375" h="0">
                <a:moveTo>
                  <a:pt x="0" y="0"/>
                </a:moveTo>
                <a:lnTo>
                  <a:pt x="858824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384" rIns="0" bIns="0" rtlCol="0" vert="horz">
            <a:spAutoFit/>
          </a:bodyPr>
          <a:lstStyle/>
          <a:p>
            <a:pPr marL="57404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GENERALITA’</a:t>
            </a:r>
            <a:r>
              <a:rPr dirty="0" sz="2800" spc="-90"/>
              <a:t> </a:t>
            </a:r>
            <a:r>
              <a:rPr dirty="0" sz="2800"/>
              <a:t>SUL</a:t>
            </a:r>
            <a:r>
              <a:rPr dirty="0" sz="2800" spc="-125"/>
              <a:t> </a:t>
            </a:r>
            <a:r>
              <a:rPr dirty="0" sz="2800"/>
              <a:t>PORTAFOGLIO</a:t>
            </a:r>
            <a:r>
              <a:rPr dirty="0" sz="2800" spc="-135"/>
              <a:t> </a:t>
            </a:r>
            <a:r>
              <a:rPr dirty="0" sz="2800"/>
              <a:t>-</a:t>
            </a:r>
            <a:r>
              <a:rPr dirty="0" sz="2800" spc="-135"/>
              <a:t> </a:t>
            </a:r>
            <a:r>
              <a:rPr dirty="0" sz="2800" spc="-50"/>
              <a:t>2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763016" y="1910076"/>
            <a:ext cx="11059160" cy="364744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definizione,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mostrata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precedenza,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mette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evidenza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rapporto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stretto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l’identità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personale</a:t>
            </a:r>
            <a:endParaRPr sz="18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interazioni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mondo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esterno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portafoglio.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800">
              <a:latin typeface="Trebuchet MS"/>
              <a:cs typeface="Trebuchet MS"/>
            </a:endParaRPr>
          </a:p>
          <a:p>
            <a:pPr marL="440690" marR="6350" indent="-428625">
              <a:lnSpc>
                <a:spcPct val="12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altresì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evidenti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criticità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memorizzazione</a:t>
            </a:r>
            <a:r>
              <a:rPr dirty="0" sz="18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locale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dati,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copie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ripristino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dell’ambiente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operativo.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marR="7620" indent="-428625">
              <a:lnSpc>
                <a:spcPct val="12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principio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chiave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quello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completo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entrambi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direzioni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dei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flussi</a:t>
            </a:r>
            <a:r>
              <a:rPr dirty="0" sz="18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operativi.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Due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possono</a:t>
            </a:r>
            <a:r>
              <a:rPr dirty="0" sz="18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interagire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direttamente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loro.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  <a:tab pos="908685" algn="l"/>
                <a:tab pos="2164715" algn="l"/>
                <a:tab pos="2433955" algn="l"/>
                <a:tab pos="3452495" algn="l"/>
                <a:tab pos="3782695" algn="l"/>
                <a:tab pos="4670425" algn="l"/>
                <a:tab pos="6085840" algn="l"/>
                <a:tab pos="7081520" algn="l"/>
                <a:tab pos="7740015" algn="l"/>
                <a:tab pos="9003665" algn="l"/>
                <a:tab pos="9265920" algn="l"/>
                <a:tab pos="10154285" algn="l"/>
                <a:tab pos="10481945" algn="l"/>
              </a:tabLst>
            </a:pP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specificare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contesto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utilizzo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dell’identità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digitale,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EDIW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interagisce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utilizza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endParaRPr sz="18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coordinato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1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8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attributi.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483357" y="1023366"/>
            <a:ext cx="7682865" cy="0"/>
          </a:xfrm>
          <a:custGeom>
            <a:avLst/>
            <a:gdLst/>
            <a:ahLst/>
            <a:cxnLst/>
            <a:rect l="l" t="t" r="r" b="b"/>
            <a:pathLst>
              <a:path w="7682865" h="0">
                <a:moveTo>
                  <a:pt x="0" y="0"/>
                </a:moveTo>
                <a:lnTo>
                  <a:pt x="768273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438784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QUALCHE</a:t>
            </a:r>
            <a:r>
              <a:rPr dirty="0" sz="3550" spc="-70"/>
              <a:t> </a:t>
            </a:r>
            <a:r>
              <a:rPr dirty="0" sz="3550"/>
              <a:t>DETTAGLIO</a:t>
            </a:r>
            <a:r>
              <a:rPr dirty="0" sz="3550" spc="-65"/>
              <a:t> </a:t>
            </a:r>
            <a:r>
              <a:rPr dirty="0" sz="3550" spc="-10"/>
              <a:t>LEGALE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576783" y="1586611"/>
            <a:ext cx="11059160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Articolo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5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bis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nuovo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regolamento.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«Al</a:t>
            </a:r>
            <a:r>
              <a:rPr dirty="0" sz="2000" spc="4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fine</a:t>
            </a:r>
            <a:r>
              <a:rPr dirty="0" sz="2000" spc="4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4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garantire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000" spc="4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tutte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persone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fisiche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4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giuridiche</a:t>
            </a:r>
            <a:r>
              <a:rPr dirty="0" sz="2000" spc="4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nell’Unione</a:t>
            </a:r>
            <a:r>
              <a:rPr dirty="0" sz="2000" spc="48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abbiano</a:t>
            </a:r>
            <a:r>
              <a:rPr dirty="0" sz="2000" spc="4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accesso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transfrontaliero</a:t>
            </a:r>
            <a:r>
              <a:rPr dirty="0" sz="20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sicuro,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affidabile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senza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soluzione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continuità</a:t>
            </a:r>
            <a:r>
              <a:rPr dirty="0" sz="20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pubblici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privati,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mantenendo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contempo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pieno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loro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dati,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ciascuno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membro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fornisce</a:t>
            </a:r>
            <a:r>
              <a:rPr dirty="0" sz="2000" spc="22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almeno</a:t>
            </a:r>
            <a:r>
              <a:rPr dirty="0" sz="2000" spc="22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0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0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0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000" spc="2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2000" spc="2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24</a:t>
            </a:r>
            <a:r>
              <a:rPr dirty="0" sz="20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mesi</a:t>
            </a:r>
            <a:r>
              <a:rPr dirty="0" sz="2000" spc="20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dall’entrata</a:t>
            </a:r>
            <a:r>
              <a:rPr dirty="0" sz="2000" spc="2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in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vigore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esecuzione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23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all’articolo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5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quater,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6»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715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2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emessi</a:t>
            </a:r>
            <a:r>
              <a:rPr dirty="0" sz="2000" spc="27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dagli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Stati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membri,</a:t>
            </a:r>
            <a:r>
              <a:rPr dirty="0" sz="2000" spc="2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incarico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uno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membro,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indipendentemente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uno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membro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pur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essendo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riconosciuti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quest’ultimo.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codice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sorgente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caratterizzato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licenza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open</a:t>
            </a:r>
            <a:r>
              <a:rPr dirty="0" sz="20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source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1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stabilite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anche,</a:t>
            </a:r>
            <a:r>
              <a:rPr dirty="0" sz="2000" spc="1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1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estremo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dettaglio,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 spc="1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attività</a:t>
            </a:r>
            <a:r>
              <a:rPr dirty="0" sz="2000" spc="1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consentite</a:t>
            </a:r>
            <a:r>
              <a:rPr dirty="0" sz="2000" spc="1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all’utente</a:t>
            </a:r>
            <a:r>
              <a:rPr dirty="0" sz="2000" spc="1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1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il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portafoglio.</a:t>
            </a:r>
            <a:r>
              <a:rPr dirty="0" sz="20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0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attività</a:t>
            </a:r>
            <a:r>
              <a:rPr dirty="0" sz="20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devono</a:t>
            </a:r>
            <a:r>
              <a:rPr dirty="0" sz="20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0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user</a:t>
            </a:r>
            <a:r>
              <a:rPr dirty="0" sz="2000" spc="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friendly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»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altre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parole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intuitive,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trasparenti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tracciabili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qust’ultimo.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71977" y="1023366"/>
            <a:ext cx="7097395" cy="0"/>
          </a:xfrm>
          <a:custGeom>
            <a:avLst/>
            <a:gdLst/>
            <a:ahLst/>
            <a:cxnLst/>
            <a:rect l="l" t="t" r="r" b="b"/>
            <a:pathLst>
              <a:path w="7097395" h="0">
                <a:moveTo>
                  <a:pt x="0" y="0"/>
                </a:moveTo>
                <a:lnTo>
                  <a:pt x="709726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PRINCIPALI</a:t>
            </a:r>
            <a:r>
              <a:rPr dirty="0" sz="3550" spc="-75"/>
              <a:t> </a:t>
            </a:r>
            <a:r>
              <a:rPr dirty="0" sz="3550"/>
              <a:t>FUNZIONALITA’</a:t>
            </a:r>
            <a:r>
              <a:rPr dirty="0" sz="3550" spc="-55"/>
              <a:t> </a:t>
            </a:r>
            <a:r>
              <a:rPr dirty="0" sz="3550"/>
              <a:t>-</a:t>
            </a:r>
            <a:r>
              <a:rPr dirty="0" sz="3550" spc="-45"/>
              <a:t> </a:t>
            </a:r>
            <a:r>
              <a:rPr dirty="0" sz="3550" spc="-50"/>
              <a:t>1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80264" y="1332687"/>
            <a:ext cx="11793220" cy="4385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L’utente</a:t>
            </a:r>
            <a:r>
              <a:rPr dirty="0" sz="22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2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disporre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cruscotto</a:t>
            </a:r>
            <a:r>
              <a:rPr dirty="0" sz="22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2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contiene</a:t>
            </a:r>
            <a:r>
              <a:rPr dirty="0" sz="22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transazioni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effettuate</a:t>
            </a:r>
            <a:r>
              <a:rPr dirty="0" sz="22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tramite</a:t>
            </a:r>
            <a:r>
              <a:rPr dirty="0" sz="22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endParaRPr sz="22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  <a:spcBef>
                <a:spcPts val="5"/>
              </a:spcBef>
            </a:pP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Portafoglio.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disponibile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tracciamento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transazioni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tramite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cruscotto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aggrega</a:t>
            </a:r>
            <a:endParaRPr sz="22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informazioni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l’utente.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200">
              <a:latin typeface="Trebuchet MS"/>
              <a:cs typeface="Trebuchet MS"/>
            </a:endParaRPr>
          </a:p>
          <a:p>
            <a:pPr marL="440690" marR="5080" indent="-4286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offerto</a:t>
            </a:r>
            <a:r>
              <a:rPr dirty="0" sz="22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sng" sz="2200" b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Trebuchet MS"/>
                <a:cs typeface="Trebuchet MS"/>
              </a:rPr>
              <a:t>gratuitamente</a:t>
            </a:r>
            <a:r>
              <a:rPr dirty="0" u="none" sz="2200" spc="9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u="none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tutti</a:t>
            </a:r>
            <a:r>
              <a:rPr dirty="0" u="none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u="none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utenti</a:t>
            </a:r>
            <a:r>
              <a:rPr dirty="0" u="none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u="none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professionali,</a:t>
            </a:r>
            <a:r>
              <a:rPr dirty="0" u="none" sz="22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u="none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u="none" sz="22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u="none" sz="22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 spc="-10">
                <a:solidFill>
                  <a:srgbClr val="44536A"/>
                </a:solidFill>
                <a:latin typeface="Trebuchet MS"/>
                <a:cs typeface="Trebuchet MS"/>
              </a:rPr>
              <a:t>firma </a:t>
            </a:r>
            <a:r>
              <a:rPr dirty="0" u="none" sz="22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u="none" sz="22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u="none" sz="2200" spc="-10">
                <a:solidFill>
                  <a:srgbClr val="44536A"/>
                </a:solidFill>
                <a:latin typeface="Trebuchet MS"/>
                <a:cs typeface="Trebuchet MS"/>
              </a:rPr>
              <a:t>qualificata.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marL="440690" marR="5080" indent="-428625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2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disponibile</a:t>
            </a:r>
            <a:r>
              <a:rPr dirty="0" sz="22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200" spc="22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scaricamento</a:t>
            </a:r>
            <a:r>
              <a:rPr dirty="0" sz="22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2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propri</a:t>
            </a:r>
            <a:r>
              <a:rPr dirty="0" sz="22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dati,</a:t>
            </a:r>
            <a:r>
              <a:rPr dirty="0" sz="22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22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2200" spc="2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2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degli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configurazioni.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esercitato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diritto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portabilità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tra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stesso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utente.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PRINCIPALI</a:t>
            </a:r>
            <a:r>
              <a:rPr dirty="0" sz="3550" spc="-75"/>
              <a:t> </a:t>
            </a:r>
            <a:r>
              <a:rPr dirty="0" sz="3550"/>
              <a:t>FUNZIONALITA’</a:t>
            </a:r>
            <a:r>
              <a:rPr dirty="0" sz="3550" spc="-55"/>
              <a:t> </a:t>
            </a:r>
            <a:r>
              <a:rPr dirty="0" sz="3550"/>
              <a:t>-</a:t>
            </a:r>
            <a:r>
              <a:rPr dirty="0" sz="3550" spc="-45"/>
              <a:t> </a:t>
            </a:r>
            <a:r>
              <a:rPr dirty="0" sz="3550" spc="-50"/>
              <a:t>2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674928" y="2614676"/>
            <a:ext cx="11056620" cy="2373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583565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protezione</a:t>
            </a:r>
            <a:r>
              <a:rPr dirty="0" sz="20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personali: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lvl="1" marL="1040765" indent="-570865">
              <a:lnSpc>
                <a:spcPct val="100000"/>
              </a:lnSpc>
              <a:buFont typeface="Arial"/>
              <a:buChar char="•"/>
              <a:tabLst>
                <a:tab pos="1040765" algn="l"/>
              </a:tabLst>
            </a:pP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«chiedere</a:t>
            </a:r>
            <a:r>
              <a:rPr dirty="0" sz="19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facilmente</a:t>
            </a:r>
            <a:r>
              <a:rPr dirty="0" sz="19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900" spc="2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900" spc="2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900" spc="2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parte</a:t>
            </a:r>
            <a:r>
              <a:rPr dirty="0" sz="1900" spc="2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900" spc="2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fa</a:t>
            </a:r>
            <a:r>
              <a:rPr dirty="0" sz="19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affidamento</a:t>
            </a:r>
            <a:r>
              <a:rPr dirty="0" sz="1900" spc="2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sulla</a:t>
            </a:r>
            <a:r>
              <a:rPr dirty="0" sz="1900" spc="2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19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cancelli</a:t>
            </a:r>
            <a:endParaRPr sz="1900">
              <a:latin typeface="Trebuchet MS"/>
              <a:cs typeface="Trebuchet MS"/>
            </a:endParaRPr>
          </a:p>
          <a:p>
            <a:pPr marL="1040765">
              <a:lnSpc>
                <a:spcPct val="100000"/>
              </a:lnSpc>
            </a:pP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9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9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personali</a:t>
            </a:r>
            <a:r>
              <a:rPr dirty="0" sz="19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9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norma</a:t>
            </a:r>
            <a:r>
              <a:rPr dirty="0" sz="19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dell’articolo</a:t>
            </a:r>
            <a:r>
              <a:rPr dirty="0" sz="19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17</a:t>
            </a:r>
            <a:r>
              <a:rPr dirty="0" sz="19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9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9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(UE)</a:t>
            </a:r>
            <a:r>
              <a:rPr dirty="0" sz="19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2016/679»;</a:t>
            </a: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900">
              <a:latin typeface="Trebuchet MS"/>
              <a:cs typeface="Trebuchet MS"/>
            </a:endParaRPr>
          </a:p>
          <a:p>
            <a:pPr algn="just" lvl="1" marL="1037590" marR="5080" indent="-568325">
              <a:lnSpc>
                <a:spcPct val="100000"/>
              </a:lnSpc>
              <a:buFont typeface="Arial"/>
              <a:buChar char="•"/>
              <a:tabLst>
                <a:tab pos="1040765" algn="l"/>
              </a:tabLst>
            </a:pP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«segnalare</a:t>
            </a:r>
            <a:r>
              <a:rPr dirty="0" sz="1900" spc="7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facilmente</a:t>
            </a:r>
            <a:r>
              <a:rPr dirty="0" sz="1900" spc="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900" spc="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parte</a:t>
            </a:r>
            <a:r>
              <a:rPr dirty="0" sz="1900" spc="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facente</a:t>
            </a:r>
            <a:r>
              <a:rPr dirty="0" sz="1900" spc="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affidamento</a:t>
            </a:r>
            <a:r>
              <a:rPr dirty="0" sz="1900" spc="8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sulla</a:t>
            </a:r>
            <a:r>
              <a:rPr dirty="0" sz="1900" spc="7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1900" spc="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all’autorità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nazionale</a:t>
            </a:r>
            <a:r>
              <a:rPr dirty="0" sz="19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9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protezione</a:t>
            </a:r>
            <a:r>
              <a:rPr dirty="0" sz="19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900" spc="3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900" spc="3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competente</a:t>
            </a:r>
            <a:r>
              <a:rPr dirty="0" sz="19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qualora</a:t>
            </a:r>
            <a:r>
              <a:rPr dirty="0" sz="19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sia</a:t>
            </a:r>
            <a:r>
              <a:rPr dirty="0" sz="19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ricevuta</a:t>
            </a:r>
            <a:r>
              <a:rPr dirty="0" sz="19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900" spc="3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richiesta</a:t>
            </a:r>
            <a:r>
              <a:rPr dirty="0" sz="19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900" spc="3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spc="-20" i="1">
                <a:solidFill>
                  <a:srgbClr val="44536A"/>
                </a:solidFill>
                <a:latin typeface="Trebuchet MS"/>
                <a:cs typeface="Trebuchet MS"/>
              </a:rPr>
              <a:t>dati </a:t>
            </a:r>
            <a:r>
              <a:rPr dirty="0" sz="1900" spc="-2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personali</a:t>
            </a:r>
            <a:r>
              <a:rPr dirty="0" sz="19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presumibilmente</a:t>
            </a:r>
            <a:r>
              <a:rPr dirty="0" sz="19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illecita</a:t>
            </a:r>
            <a:r>
              <a:rPr dirty="0" sz="19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900" spc="-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900" spc="-10" i="1">
                <a:solidFill>
                  <a:srgbClr val="44536A"/>
                </a:solidFill>
                <a:latin typeface="Trebuchet MS"/>
                <a:cs typeface="Trebuchet MS"/>
              </a:rPr>
              <a:t>sospetta.»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PRINCIPALI</a:t>
            </a:r>
            <a:r>
              <a:rPr dirty="0" sz="3550" spc="-75"/>
              <a:t> </a:t>
            </a:r>
            <a:r>
              <a:rPr dirty="0" sz="3550"/>
              <a:t>FUNZIONALITA’</a:t>
            </a:r>
            <a:r>
              <a:rPr dirty="0" sz="3550" spc="-55"/>
              <a:t> </a:t>
            </a:r>
            <a:r>
              <a:rPr dirty="0" sz="3550"/>
              <a:t>-</a:t>
            </a:r>
            <a:r>
              <a:rPr dirty="0" sz="3550" spc="-45"/>
              <a:t> </a:t>
            </a:r>
            <a:r>
              <a:rPr dirty="0" sz="3550" spc="-50"/>
              <a:t>3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516432" y="1690878"/>
            <a:ext cx="11060430" cy="4141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40690" marR="6985" indent="-428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Vengono</a:t>
            </a:r>
            <a:r>
              <a:rPr dirty="0" sz="18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stabilite</a:t>
            </a:r>
            <a:r>
              <a:rPr dirty="0" sz="1800" spc="29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regole,</a:t>
            </a:r>
            <a:r>
              <a:rPr dirty="0" sz="1800" spc="29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puntuali</a:t>
            </a:r>
            <a:r>
              <a:rPr dirty="0" sz="1800" spc="3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3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anche</a:t>
            </a:r>
            <a:r>
              <a:rPr dirty="0" sz="1800" spc="2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un</a:t>
            </a:r>
            <a:r>
              <a:rPr dirty="0" sz="18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po’</a:t>
            </a:r>
            <a:r>
              <a:rPr dirty="0" sz="18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ripetitive,</a:t>
            </a:r>
            <a:r>
              <a:rPr dirty="0" sz="1800" spc="30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sui</a:t>
            </a:r>
            <a:r>
              <a:rPr dirty="0" sz="1800" spc="30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diritti</a:t>
            </a:r>
            <a:r>
              <a:rPr dirty="0" sz="1800" spc="3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dell’utente</a:t>
            </a:r>
            <a:r>
              <a:rPr dirty="0" sz="1800" spc="3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29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sulle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regole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sicurezza</a:t>
            </a:r>
            <a:r>
              <a:rPr dirty="0" sz="1800" spc="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protezione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1800" spc="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dati</a:t>
            </a:r>
            <a:r>
              <a:rPr dirty="0" sz="1800" spc="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personali</a:t>
            </a:r>
            <a:r>
              <a:rPr dirty="0" sz="1800" spc="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nell’ambito</a:t>
            </a:r>
            <a:r>
              <a:rPr dirty="0" sz="1800" spc="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degli</a:t>
            </a:r>
            <a:r>
              <a:rPr dirty="0" sz="1800" spc="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utilizzi</a:t>
            </a:r>
            <a:r>
              <a:rPr dirty="0" sz="1800" spc="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</a:t>
            </a:r>
            <a:r>
              <a:rPr dirty="0" sz="1800" spc="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800" spc="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Verdana"/>
                <a:cs typeface="Verdana"/>
              </a:rPr>
              <a:t>o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più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portafogli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nella</a:t>
            </a:r>
            <a:r>
              <a:rPr dirty="0" sz="18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titolarità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dello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stesso</a:t>
            </a:r>
            <a:r>
              <a:rPr dirty="0" sz="18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utente.</a:t>
            </a:r>
            <a:endParaRPr sz="1800">
              <a:latin typeface="Verdana"/>
              <a:cs typeface="Verdana"/>
            </a:endParaRPr>
          </a:p>
          <a:p>
            <a:pPr algn="just" marL="440690" marR="8255" indent="-42862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Viene</a:t>
            </a:r>
            <a:r>
              <a:rPr dirty="0" sz="1800" spc="3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stabilito</a:t>
            </a:r>
            <a:r>
              <a:rPr dirty="0" sz="1800" spc="3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800" spc="3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diritto</a:t>
            </a:r>
            <a:r>
              <a:rPr dirty="0" sz="1800" spc="3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3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delega</a:t>
            </a:r>
            <a:r>
              <a:rPr dirty="0" sz="1800" spc="3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1800" spc="3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l’uso</a:t>
            </a:r>
            <a:r>
              <a:rPr dirty="0" sz="1800" spc="3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</a:t>
            </a:r>
            <a:r>
              <a:rPr dirty="0" sz="1800" spc="3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800" spc="3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ad</a:t>
            </a:r>
            <a:r>
              <a:rPr dirty="0" sz="1800" spc="3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una</a:t>
            </a:r>
            <a:r>
              <a:rPr dirty="0" sz="1800" spc="3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altra</a:t>
            </a:r>
            <a:r>
              <a:rPr dirty="0" sz="1800" spc="3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persona</a:t>
            </a:r>
            <a:r>
              <a:rPr dirty="0" sz="1800" spc="3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fisica</a:t>
            </a:r>
            <a:r>
              <a:rPr dirty="0" sz="1800" spc="3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Verdana"/>
                <a:cs typeface="Verdana"/>
              </a:rPr>
              <a:t>e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giuridica.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Questo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diritto</a:t>
            </a:r>
            <a:r>
              <a:rPr dirty="0" sz="18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deve</a:t>
            </a:r>
            <a:r>
              <a:rPr dirty="0" sz="1800" spc="-1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essere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attuato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con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uno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specifico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meccanismo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d’uso.</a:t>
            </a:r>
            <a:endParaRPr sz="1800">
              <a:latin typeface="Verdana"/>
              <a:cs typeface="Verdana"/>
            </a:endParaRPr>
          </a:p>
          <a:p>
            <a:pPr marL="440690" indent="-42799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Altre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funzionalità</a:t>
            </a:r>
            <a:r>
              <a:rPr dirty="0" sz="1800" spc="8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gratuite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sono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stabilite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1800" spc="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1800" spc="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verifica</a:t>
            </a:r>
            <a:r>
              <a:rPr dirty="0" sz="1800" spc="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autenticità</a:t>
            </a:r>
            <a:r>
              <a:rPr dirty="0" sz="1800" spc="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validità</a:t>
            </a:r>
            <a:r>
              <a:rPr dirty="0" sz="1800" spc="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portafogli,</a:t>
            </a:r>
            <a:endParaRPr sz="1800">
              <a:latin typeface="Verdana"/>
              <a:cs typeface="Verdana"/>
            </a:endParaRPr>
          </a:p>
          <a:p>
            <a:pPr marL="440690">
              <a:lnSpc>
                <a:spcPct val="100000"/>
              </a:lnSpc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attestazioni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attributi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anche</a:t>
            </a:r>
            <a:r>
              <a:rPr dirty="0" sz="1800" spc="-6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sull’identità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delle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parti</a:t>
            </a:r>
            <a:r>
              <a:rPr dirty="0" sz="18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facenti</a:t>
            </a:r>
            <a:r>
              <a:rPr dirty="0" sz="18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affidamento.</a:t>
            </a:r>
            <a:endParaRPr sz="1800">
              <a:latin typeface="Verdana"/>
              <a:cs typeface="Verdana"/>
            </a:endParaRPr>
          </a:p>
          <a:p>
            <a:pPr algn="just" marL="440690" marR="5080" indent="-428625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Deve</a:t>
            </a:r>
            <a:r>
              <a:rPr dirty="0" sz="1800" spc="3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essere</a:t>
            </a:r>
            <a:r>
              <a:rPr dirty="0" sz="1800" spc="3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disponibile</a:t>
            </a:r>
            <a:r>
              <a:rPr dirty="0" sz="1800" spc="3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800" spc="3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supporto</a:t>
            </a:r>
            <a:r>
              <a:rPr dirty="0" sz="1800" spc="3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tecnico</a:t>
            </a:r>
            <a:r>
              <a:rPr dirty="0" sz="1800" spc="3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al</a:t>
            </a:r>
            <a:r>
              <a:rPr dirty="0" sz="1800" spc="3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800" spc="3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che</a:t>
            </a:r>
            <a:r>
              <a:rPr dirty="0" sz="1800" spc="3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deve</a:t>
            </a:r>
            <a:r>
              <a:rPr dirty="0" sz="1800" spc="3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essere</a:t>
            </a:r>
            <a:r>
              <a:rPr dirty="0" sz="1800" spc="33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disponibile</a:t>
            </a:r>
            <a:r>
              <a:rPr dirty="0" sz="1800" spc="3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in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modo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semplice.</a:t>
            </a:r>
            <a:endParaRPr sz="1800">
              <a:latin typeface="Verdana"/>
              <a:cs typeface="Verdana"/>
            </a:endParaRPr>
          </a:p>
          <a:p>
            <a:pPr algn="just" marL="440690" marR="8255" indent="-428625">
              <a:lnSpc>
                <a:spcPct val="100000"/>
              </a:lnSpc>
              <a:spcBef>
                <a:spcPts val="216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1800" spc="85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portafoglio</a:t>
            </a:r>
            <a:r>
              <a:rPr dirty="0" sz="1800" spc="85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è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progettato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in</a:t>
            </a:r>
            <a:r>
              <a:rPr dirty="0" sz="1800" spc="75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modalità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«security-</a:t>
            </a:r>
            <a:r>
              <a:rPr dirty="0" sz="1800" spc="-30">
                <a:solidFill>
                  <a:srgbClr val="44536A"/>
                </a:solidFill>
                <a:latin typeface="Verdana"/>
                <a:cs typeface="Verdana"/>
              </a:rPr>
              <a:t>by-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design»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supporta</a:t>
            </a:r>
            <a:r>
              <a:rPr dirty="0" sz="1800" spc="75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1800" spc="80">
                <a:solidFill>
                  <a:srgbClr val="44536A"/>
                </a:solidFill>
                <a:latin typeface="Verdana"/>
                <a:cs typeface="Verdana"/>
              </a:rPr>
              <a:t>  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sicurezza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necessaria</a:t>
            </a:r>
            <a:r>
              <a:rPr dirty="0" sz="1800" spc="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44536A"/>
                </a:solidFill>
                <a:latin typeface="Verdana"/>
                <a:cs typeface="Verdana"/>
              </a:rPr>
              <a:t>allo</a:t>
            </a:r>
            <a:r>
              <a:rPr dirty="0" sz="1800" spc="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«state-</a:t>
            </a:r>
            <a:r>
              <a:rPr dirty="0" sz="1800" spc="-25">
                <a:solidFill>
                  <a:srgbClr val="44536A"/>
                </a:solidFill>
                <a:latin typeface="Verdana"/>
                <a:cs typeface="Verdana"/>
              </a:rPr>
              <a:t>of-</a:t>
            </a:r>
            <a:r>
              <a:rPr dirty="0" sz="1800" spc="-20">
                <a:solidFill>
                  <a:srgbClr val="44536A"/>
                </a:solidFill>
                <a:latin typeface="Verdana"/>
                <a:cs typeface="Verdana"/>
              </a:rPr>
              <a:t>the-</a:t>
            </a:r>
            <a:r>
              <a:rPr dirty="0" sz="1800" spc="-10">
                <a:solidFill>
                  <a:srgbClr val="44536A"/>
                </a:solidFill>
                <a:latin typeface="Verdana"/>
                <a:cs typeface="Verdana"/>
              </a:rPr>
              <a:t>art».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38430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PRINCIPALI</a:t>
            </a:r>
            <a:r>
              <a:rPr dirty="0" sz="3550" spc="-75"/>
              <a:t> </a:t>
            </a:r>
            <a:r>
              <a:rPr dirty="0" sz="3550"/>
              <a:t>FUNZIONALITA’</a:t>
            </a:r>
            <a:r>
              <a:rPr dirty="0" sz="3550" spc="-55"/>
              <a:t> </a:t>
            </a:r>
            <a:r>
              <a:rPr dirty="0" sz="3550"/>
              <a:t>-</a:t>
            </a:r>
            <a:r>
              <a:rPr dirty="0" sz="3550" spc="-45"/>
              <a:t> </a:t>
            </a:r>
            <a:r>
              <a:rPr dirty="0" sz="3550" spc="-50"/>
              <a:t>4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718515" y="1439926"/>
            <a:ext cx="11058525" cy="4599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L’uso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obbligatorio.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000" i="1">
                <a:latin typeface="Trebuchet MS"/>
                <a:cs typeface="Trebuchet MS"/>
              </a:rPr>
              <a:t>L'uso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dei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portafogli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europei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identità</a:t>
            </a:r>
            <a:r>
              <a:rPr dirty="0" sz="2000" spc="-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digitale</a:t>
            </a:r>
            <a:r>
              <a:rPr dirty="0" sz="2000" spc="-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è</a:t>
            </a:r>
            <a:r>
              <a:rPr dirty="0" sz="2000" spc="-3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facoltativo.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L'accesso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ai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servizi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pubblici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spc="-50" i="1">
                <a:latin typeface="Trebuchet MS"/>
                <a:cs typeface="Trebuchet MS"/>
              </a:rPr>
              <a:t>e</a:t>
            </a:r>
            <a:r>
              <a:rPr dirty="0" sz="2000" spc="-50" i="1">
                <a:latin typeface="Trebuchet MS"/>
                <a:cs typeface="Trebuchet MS"/>
              </a:rPr>
              <a:t> </a:t>
            </a:r>
            <a:r>
              <a:rPr dirty="0" sz="2000" spc="-50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privati</a:t>
            </a:r>
            <a:r>
              <a:rPr dirty="0" sz="2000" spc="6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al</a:t>
            </a:r>
            <a:r>
              <a:rPr dirty="0" sz="2000" spc="5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mercato</a:t>
            </a:r>
            <a:r>
              <a:rPr dirty="0" sz="2000" spc="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</a:t>
            </a:r>
            <a:r>
              <a:rPr dirty="0" sz="2000" spc="6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lavoro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nonché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la</a:t>
            </a:r>
            <a:r>
              <a:rPr dirty="0" sz="2000" spc="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libertà</a:t>
            </a:r>
            <a:r>
              <a:rPr dirty="0" sz="2000" spc="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d'impresa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non</a:t>
            </a:r>
            <a:r>
              <a:rPr dirty="0" sz="2000" spc="6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sono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in</a:t>
            </a:r>
            <a:r>
              <a:rPr dirty="0" sz="2000" spc="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alcun</a:t>
            </a:r>
            <a:r>
              <a:rPr dirty="0" sz="2000" spc="5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modo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limitati </a:t>
            </a:r>
            <a:r>
              <a:rPr dirty="0" sz="2000" spc="-10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resi</a:t>
            </a:r>
            <a:r>
              <a:rPr dirty="0" sz="2000" spc="-3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svantaggiosi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le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persone</a:t>
            </a:r>
            <a:r>
              <a:rPr dirty="0" sz="2000" spc="-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fisiche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giuridiche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che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non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utilizzano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portafogli</a:t>
            </a:r>
            <a:r>
              <a:rPr dirty="0" sz="2000" spc="-3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europei </a:t>
            </a:r>
            <a:r>
              <a:rPr dirty="0" sz="2000" spc="-10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identità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digitale.</a:t>
            </a:r>
            <a:r>
              <a:rPr dirty="0" sz="2000" spc="9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Resta</a:t>
            </a:r>
            <a:r>
              <a:rPr dirty="0" sz="2000" spc="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possibile</a:t>
            </a:r>
            <a:r>
              <a:rPr dirty="0" sz="2000" spc="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accedere</a:t>
            </a:r>
            <a:r>
              <a:rPr dirty="0" sz="2000" spc="10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ai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servizi</a:t>
            </a:r>
            <a:r>
              <a:rPr dirty="0" sz="2000" spc="10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pubblici</a:t>
            </a:r>
            <a:r>
              <a:rPr dirty="0" sz="2000" spc="9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privati</a:t>
            </a:r>
            <a:r>
              <a:rPr dirty="0" sz="2000" spc="9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altri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mezzi</a:t>
            </a:r>
            <a:r>
              <a:rPr dirty="0" sz="2000" spc="90" i="1">
                <a:latin typeface="Trebuchet MS"/>
                <a:cs typeface="Trebuchet MS"/>
              </a:rPr>
              <a:t> </a:t>
            </a:r>
            <a:r>
              <a:rPr dirty="0" sz="2000" spc="-25" i="1">
                <a:latin typeface="Trebuchet MS"/>
                <a:cs typeface="Trebuchet MS"/>
              </a:rPr>
              <a:t>di </a:t>
            </a:r>
            <a:r>
              <a:rPr dirty="0" sz="2000" spc="-25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identificazione</a:t>
            </a:r>
            <a:r>
              <a:rPr dirty="0" sz="2000" spc="-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autenticazione</a:t>
            </a:r>
            <a:r>
              <a:rPr dirty="0" sz="2000" spc="-80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esistenti».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L’architettura</a:t>
            </a:r>
            <a:r>
              <a:rPr dirty="0" sz="20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20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0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stabilità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attraverso</a:t>
            </a:r>
            <a:r>
              <a:rPr dirty="0" sz="2000" spc="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Board</a:t>
            </a:r>
            <a:r>
              <a:rPr dirty="0" sz="20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consultivo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documento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000" spc="1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evolve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allo</a:t>
            </a:r>
            <a:r>
              <a:rPr dirty="0" sz="2000" spc="16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1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dell’arte</a:t>
            </a:r>
            <a:r>
              <a:rPr dirty="0" sz="2000" spc="1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demominato</a:t>
            </a:r>
            <a:r>
              <a:rPr dirty="0" sz="2000" spc="1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Architecture</a:t>
            </a:r>
            <a:r>
              <a:rPr dirty="0" sz="2000" spc="16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dirty="0" sz="2000" spc="17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Reference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Framework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(ARF).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6350" indent="-42418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titolo</a:t>
            </a:r>
            <a:r>
              <a:rPr dirty="0" sz="20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completo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The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Common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Union</a:t>
            </a:r>
            <a:r>
              <a:rPr dirty="0" sz="2000" spc="2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Toolbox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for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000" spc="2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Coordinated</a:t>
            </a:r>
            <a:r>
              <a:rPr dirty="0" sz="2000" spc="2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Approach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Towards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European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Digital</a:t>
            </a:r>
            <a:r>
              <a:rPr dirty="0" sz="20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Identity</a:t>
            </a:r>
            <a:r>
              <a:rPr dirty="0" sz="20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Framework</a:t>
            </a:r>
            <a:r>
              <a:rPr dirty="0" sz="20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–</a:t>
            </a:r>
            <a:r>
              <a:rPr dirty="0" sz="20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The</a:t>
            </a:r>
            <a:r>
              <a:rPr dirty="0" sz="20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European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Digital</a:t>
            </a:r>
            <a:r>
              <a:rPr dirty="0" sz="20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Identity</a:t>
            </a:r>
            <a:r>
              <a:rPr dirty="0" sz="2000" spc="2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Wallet</a:t>
            </a:r>
            <a:r>
              <a:rPr dirty="0" sz="2000" spc="2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Architecture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Reference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Framework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».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7" rIns="0" bIns="0" rtlCol="0" vert="horz">
            <a:spAutoFit/>
          </a:bodyPr>
          <a:lstStyle/>
          <a:p>
            <a:pPr marL="29527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ALTRI</a:t>
            </a:r>
            <a:r>
              <a:rPr dirty="0" sz="2400" spc="-20"/>
              <a:t> </a:t>
            </a:r>
            <a:r>
              <a:rPr dirty="0" sz="2400"/>
              <a:t>ASPETTI</a:t>
            </a:r>
            <a:r>
              <a:rPr dirty="0" sz="2400" spc="-30"/>
              <a:t> </a:t>
            </a:r>
            <a:r>
              <a:rPr dirty="0" sz="2400"/>
              <a:t>GENERALI</a:t>
            </a:r>
            <a:r>
              <a:rPr dirty="0" sz="2400" spc="-15"/>
              <a:t> </a:t>
            </a:r>
            <a:r>
              <a:rPr dirty="0" sz="2400"/>
              <a:t>SUL</a:t>
            </a:r>
            <a:r>
              <a:rPr dirty="0" sz="2400" spc="-30"/>
              <a:t> </a:t>
            </a:r>
            <a:r>
              <a:rPr dirty="0" sz="2400" spc="-10"/>
              <a:t>PORTAFOGLIO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484428" y="1722882"/>
            <a:ext cx="11059795" cy="3546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Certificazione</a:t>
            </a:r>
            <a:r>
              <a:rPr dirty="0" sz="2100" spc="-7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2100" spc="-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portafogli.</a:t>
            </a:r>
            <a:endParaRPr sz="2100">
              <a:latin typeface="Verdana"/>
              <a:cs typeface="Verdana"/>
            </a:endParaRPr>
          </a:p>
          <a:p>
            <a:pPr marL="440690" indent="-427990">
              <a:lnSpc>
                <a:spcPct val="100000"/>
              </a:lnSpc>
              <a:spcBef>
                <a:spcPts val="252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Pubblicazione</a:t>
            </a:r>
            <a:r>
              <a:rPr dirty="0" sz="21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21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lista</a:t>
            </a:r>
            <a:r>
              <a:rPr dirty="0" sz="21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21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portafogli</a:t>
            </a:r>
            <a:r>
              <a:rPr dirty="0" sz="21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certificati.</a:t>
            </a:r>
            <a:endParaRPr sz="2100">
              <a:latin typeface="Verdana"/>
              <a:cs typeface="Verdana"/>
            </a:endParaRPr>
          </a:p>
          <a:p>
            <a:pPr marL="440690" marR="7620" indent="-428625">
              <a:lnSpc>
                <a:spcPct val="100000"/>
              </a:lnSpc>
              <a:spcBef>
                <a:spcPts val="2520"/>
              </a:spcBef>
              <a:buFont typeface="Arial"/>
              <a:buChar char="•"/>
              <a:tabLst>
                <a:tab pos="440690" algn="l"/>
                <a:tab pos="1535430" algn="l"/>
                <a:tab pos="2172335" algn="l"/>
                <a:tab pos="2600325" algn="l"/>
                <a:tab pos="3416300" algn="l"/>
                <a:tab pos="4511675" algn="l"/>
                <a:tab pos="6308725" algn="l"/>
                <a:tab pos="7121525" algn="l"/>
                <a:tab pos="9075420" algn="l"/>
                <a:tab pos="9671050" algn="l"/>
              </a:tabLst>
            </a:pP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Regole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le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parti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facenti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affidamento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sulla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certificazione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portafogli.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Queste</a:t>
            </a:r>
            <a:r>
              <a:rPr dirty="0" sz="21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sono</a:t>
            </a:r>
            <a:r>
              <a:rPr dirty="0" sz="21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note</a:t>
            </a:r>
            <a:r>
              <a:rPr dirty="0" sz="2100" spc="-6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al</a:t>
            </a:r>
            <a:r>
              <a:rPr dirty="0" sz="2100" spc="-3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sistema</a:t>
            </a:r>
            <a:r>
              <a:rPr dirty="0" sz="2100" spc="-5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21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devono</a:t>
            </a:r>
            <a:r>
              <a:rPr dirty="0" sz="21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autenticarsi</a:t>
            </a:r>
            <a:r>
              <a:rPr dirty="0" sz="2100" spc="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21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svolgere</a:t>
            </a:r>
            <a:r>
              <a:rPr dirty="0" sz="2100" spc="-4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il</a:t>
            </a:r>
            <a:r>
              <a:rPr dirty="0" sz="2100" spc="-5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loro</a:t>
            </a:r>
            <a:r>
              <a:rPr dirty="0" sz="2100" spc="-4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ruolo.</a:t>
            </a:r>
            <a:endParaRPr sz="2100">
              <a:latin typeface="Verdana"/>
              <a:cs typeface="Verdana"/>
            </a:endParaRPr>
          </a:p>
          <a:p>
            <a:pPr marL="440690" marR="6350" indent="-428625">
              <a:lnSpc>
                <a:spcPct val="100000"/>
              </a:lnSpc>
              <a:spcBef>
                <a:spcPts val="2525"/>
              </a:spcBef>
              <a:buFont typeface="Arial"/>
              <a:buChar char="•"/>
              <a:tabLst>
                <a:tab pos="440690" algn="l"/>
                <a:tab pos="1558290" algn="l"/>
                <a:tab pos="2216150" algn="l"/>
                <a:tab pos="2667635" algn="l"/>
                <a:tab pos="4214495" algn="l"/>
                <a:tab pos="5063490" algn="l"/>
                <a:tab pos="6516370" algn="l"/>
                <a:tab pos="7133590" algn="l"/>
                <a:tab pos="8726170" algn="l"/>
              </a:tabLst>
            </a:pP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Regole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per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violazione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della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sicurezza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portafogli.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Compromissione,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violazione</a:t>
            </a:r>
            <a:r>
              <a:rPr dirty="0" sz="2100" spc="1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dei</a:t>
            </a:r>
            <a:r>
              <a:rPr dirty="0" sz="2100" spc="12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dati</a:t>
            </a:r>
            <a:r>
              <a:rPr dirty="0" sz="2100" spc="12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(</a:t>
            </a:r>
            <a:r>
              <a:rPr dirty="0" sz="2100" i="1">
                <a:solidFill>
                  <a:srgbClr val="44536A"/>
                </a:solidFill>
                <a:latin typeface="Verdana"/>
                <a:cs typeface="Verdana"/>
              </a:rPr>
              <a:t>data</a:t>
            </a:r>
            <a:r>
              <a:rPr dirty="0" sz="2100" spc="110" i="1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i="1">
                <a:solidFill>
                  <a:srgbClr val="44536A"/>
                </a:solidFill>
                <a:latin typeface="Verdana"/>
                <a:cs typeface="Verdana"/>
              </a:rPr>
              <a:t>breach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)</a:t>
            </a:r>
            <a:r>
              <a:rPr dirty="0" sz="2100" spc="1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e</a:t>
            </a:r>
            <a:r>
              <a:rPr dirty="0" sz="2100" spc="11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aspetti</a:t>
            </a:r>
            <a:r>
              <a:rPr dirty="0" sz="2100" spc="11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analoghi.</a:t>
            </a:r>
            <a:r>
              <a:rPr dirty="0" sz="2100" spc="10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La</a:t>
            </a:r>
            <a:r>
              <a:rPr dirty="0" sz="2100" spc="114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Commissione</a:t>
            </a:r>
            <a:r>
              <a:rPr dirty="0" sz="2100" spc="100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pubblica</a:t>
            </a:r>
            <a:endParaRPr sz="2100">
              <a:latin typeface="Verdana"/>
              <a:cs typeface="Verdana"/>
            </a:endParaRPr>
          </a:p>
          <a:p>
            <a:pPr marL="440690">
              <a:lnSpc>
                <a:spcPct val="100000"/>
              </a:lnSpc>
              <a:tabLst>
                <a:tab pos="1559560" algn="l"/>
                <a:tab pos="2888615" algn="l"/>
                <a:tab pos="3140075" algn="l"/>
                <a:tab pos="4595495" algn="l"/>
                <a:tab pos="5588000" algn="l"/>
                <a:tab pos="6673215" algn="l"/>
                <a:tab pos="8208009" algn="l"/>
                <a:tab pos="8627110" algn="l"/>
                <a:tab pos="10039985" algn="l"/>
                <a:tab pos="10716895" algn="l"/>
              </a:tabLst>
            </a:pP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«senza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indugio»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50">
                <a:solidFill>
                  <a:srgbClr val="44536A"/>
                </a:solidFill>
                <a:latin typeface="Verdana"/>
                <a:cs typeface="Verdana"/>
              </a:rPr>
              <a:t>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portafogli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ritirati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perché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l’incidente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di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sicurezza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non</a:t>
            </a: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Verdana"/>
                <a:cs typeface="Verdana"/>
              </a:rPr>
              <a:t>ha</a:t>
            </a:r>
            <a:endParaRPr sz="2100">
              <a:latin typeface="Verdana"/>
              <a:cs typeface="Verdana"/>
            </a:endParaRPr>
          </a:p>
          <a:p>
            <a:pPr marL="440690">
              <a:lnSpc>
                <a:spcPct val="100000"/>
              </a:lnSpc>
            </a:pPr>
            <a:r>
              <a:rPr dirty="0" sz="2100">
                <a:solidFill>
                  <a:srgbClr val="44536A"/>
                </a:solidFill>
                <a:latin typeface="Verdana"/>
                <a:cs typeface="Verdana"/>
              </a:rPr>
              <a:t>trovato</a:t>
            </a:r>
            <a:r>
              <a:rPr dirty="0" sz="2100" spc="-75">
                <a:solidFill>
                  <a:srgbClr val="44536A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Verdana"/>
                <a:cs typeface="Verdana"/>
              </a:rPr>
              <a:t>rimedio.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9771" rIns="0" bIns="0" rtlCol="0" vert="horz">
            <a:spAutoFit/>
          </a:bodyPr>
          <a:lstStyle/>
          <a:p>
            <a:pPr marL="1923414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rebuchet MS"/>
                <a:cs typeface="Trebuchet MS"/>
              </a:rPr>
              <a:t>SICUREZZA</a:t>
            </a:r>
            <a:r>
              <a:rPr dirty="0" sz="3600" spc="-229">
                <a:latin typeface="Trebuchet MS"/>
                <a:cs typeface="Trebuchet MS"/>
              </a:rPr>
              <a:t> </a:t>
            </a:r>
            <a:r>
              <a:rPr dirty="0" sz="3600">
                <a:latin typeface="Trebuchet MS"/>
                <a:cs typeface="Trebuchet MS"/>
              </a:rPr>
              <a:t>E</a:t>
            </a:r>
            <a:r>
              <a:rPr dirty="0" sz="3600" spc="-35">
                <a:latin typeface="Trebuchet MS"/>
                <a:cs typeface="Trebuchet MS"/>
              </a:rPr>
              <a:t> </a:t>
            </a:r>
            <a:r>
              <a:rPr dirty="0" sz="3600" spc="-30">
                <a:latin typeface="Trebuchet MS"/>
                <a:cs typeface="Trebuchet MS"/>
              </a:rPr>
              <a:t>PRIVACY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739134" y="1023366"/>
            <a:ext cx="5163820" cy="0"/>
          </a:xfrm>
          <a:custGeom>
            <a:avLst/>
            <a:gdLst/>
            <a:ahLst/>
            <a:cxnLst/>
            <a:rect l="l" t="t" r="r" b="b"/>
            <a:pathLst>
              <a:path w="5163820" h="0">
                <a:moveTo>
                  <a:pt x="0" y="0"/>
                </a:moveTo>
                <a:lnTo>
                  <a:pt x="5163693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23722" y="1364996"/>
            <a:ext cx="10416540" cy="4628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Il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Garante</a:t>
            </a:r>
            <a:r>
              <a:rPr dirty="0" sz="2800" spc="-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Europeo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(EDPS</a:t>
            </a:r>
            <a:r>
              <a:rPr dirty="0" sz="2800" b="1" i="1">
                <a:latin typeface="Calibri"/>
                <a:cs typeface="Calibri"/>
              </a:rPr>
              <a:t>)</a:t>
            </a:r>
            <a:r>
              <a:rPr dirty="0" sz="2800" spc="-65" b="1" i="1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ed</a:t>
            </a:r>
            <a:r>
              <a:rPr dirty="0" sz="2800" spc="-55" b="1" i="1">
                <a:latin typeface="Calibri"/>
                <a:cs typeface="Calibri"/>
              </a:rPr>
              <a:t> </a:t>
            </a:r>
            <a:r>
              <a:rPr dirty="0" sz="2800" b="1" i="1">
                <a:latin typeface="Calibri"/>
                <a:cs typeface="Calibri"/>
              </a:rPr>
              <a:t>ENISA</a:t>
            </a:r>
            <a:r>
              <a:rPr dirty="0" sz="2800" spc="-50" b="1" i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(Agenzia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UE</a:t>
            </a:r>
            <a:r>
              <a:rPr dirty="0" sz="2800" spc="-7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per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la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cibersicurezza):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800">
              <a:latin typeface="Calibri"/>
              <a:cs typeface="Calibri"/>
            </a:endParaRPr>
          </a:p>
          <a:p>
            <a:pPr algn="just" marL="240029" indent="-227329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10">
                <a:latin typeface="Trebuchet MS"/>
                <a:cs typeface="Trebuchet MS"/>
              </a:rPr>
              <a:t>Privacy</a:t>
            </a:r>
            <a:r>
              <a:rPr dirty="0" sz="2800" spc="-3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by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design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e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by</a:t>
            </a:r>
            <a:r>
              <a:rPr dirty="0" sz="2800" spc="-7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default.</a:t>
            </a:r>
            <a:endParaRPr sz="2800">
              <a:latin typeface="Trebuchet MS"/>
              <a:cs typeface="Trebuchet MS"/>
            </a:endParaRPr>
          </a:p>
          <a:p>
            <a:pPr algn="just" marL="240029" indent="-227329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 spc="-10">
                <a:latin typeface="Trebuchet MS"/>
                <a:cs typeface="Trebuchet MS"/>
              </a:rPr>
              <a:t>Minimizzazione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del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trattamento.</a:t>
            </a:r>
            <a:endParaRPr sz="2800">
              <a:latin typeface="Trebuchet MS"/>
              <a:cs typeface="Trebuchet MS"/>
            </a:endParaRPr>
          </a:p>
          <a:p>
            <a:pPr algn="just" marL="239395" marR="5080" indent="-227329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Trebuchet MS"/>
                <a:cs typeface="Trebuchet MS"/>
              </a:rPr>
              <a:t>Schema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di</a:t>
            </a:r>
            <a:r>
              <a:rPr dirty="0" sz="2800" spc="-2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certificazione specifico</a:t>
            </a:r>
            <a:r>
              <a:rPr dirty="0" sz="2800" spc="-2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per</a:t>
            </a:r>
            <a:r>
              <a:rPr dirty="0" sz="2800" spc="-1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conformità art.</a:t>
            </a:r>
            <a:r>
              <a:rPr dirty="0" sz="2800" spc="-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32</a:t>
            </a:r>
            <a:r>
              <a:rPr dirty="0" sz="2800" spc="-20">
                <a:latin typeface="Trebuchet MS"/>
                <a:cs typeface="Trebuchet MS"/>
              </a:rPr>
              <a:t> GDPR </a:t>
            </a:r>
            <a:r>
              <a:rPr dirty="0" sz="2800" spc="-20">
                <a:latin typeface="Trebuchet MS"/>
                <a:cs typeface="Trebuchet MS"/>
              </a:rPr>
              <a:t>	</a:t>
            </a:r>
            <a:r>
              <a:rPr dirty="0" sz="2800">
                <a:latin typeface="Trebuchet MS"/>
                <a:cs typeface="Trebuchet MS"/>
              </a:rPr>
              <a:t>(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ISO</a:t>
            </a:r>
            <a:r>
              <a:rPr dirty="0" u="sng" sz="2800" spc="-3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27001</a:t>
            </a:r>
            <a:r>
              <a:rPr dirty="0" u="sng" sz="2800" spc="-45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80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non</a:t>
            </a:r>
            <a:r>
              <a:rPr dirty="0" u="sng" sz="2800" spc="-4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2800" spc="-1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sufficiente</a:t>
            </a:r>
            <a:r>
              <a:rPr dirty="0" u="none" sz="2800" spc="-10">
                <a:latin typeface="Trebuchet MS"/>
                <a:cs typeface="Trebuchet MS"/>
              </a:rPr>
              <a:t>)</a:t>
            </a:r>
            <a:endParaRPr sz="2800">
              <a:latin typeface="Trebuchet MS"/>
              <a:cs typeface="Trebuchet MS"/>
            </a:endParaRPr>
          </a:p>
          <a:p>
            <a:pPr algn="just" marL="239395" marR="5080" indent="-227329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2800">
                <a:latin typeface="Trebuchet MS"/>
                <a:cs typeface="Trebuchet MS"/>
              </a:rPr>
              <a:t>Operare</a:t>
            </a:r>
            <a:r>
              <a:rPr dirty="0" sz="2800" spc="25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per</a:t>
            </a:r>
            <a:r>
              <a:rPr dirty="0" sz="2800" spc="15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guadagnare</a:t>
            </a:r>
            <a:r>
              <a:rPr dirty="0" sz="2800" spc="2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fiducia</a:t>
            </a:r>
            <a:r>
              <a:rPr dirty="0" sz="2800" spc="1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dei</a:t>
            </a:r>
            <a:r>
              <a:rPr dirty="0" sz="2800" spc="15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cittadini</a:t>
            </a:r>
            <a:r>
              <a:rPr dirty="0" sz="2800" spc="2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grazie</a:t>
            </a:r>
            <a:r>
              <a:rPr dirty="0" sz="2800" spc="25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ad</a:t>
            </a:r>
            <a:r>
              <a:rPr dirty="0" sz="2800" spc="15">
                <a:latin typeface="Trebuchet MS"/>
                <a:cs typeface="Trebuchet MS"/>
              </a:rPr>
              <a:t>  </a:t>
            </a:r>
            <a:r>
              <a:rPr dirty="0" sz="2800" spc="-25">
                <a:latin typeface="Trebuchet MS"/>
                <a:cs typeface="Trebuchet MS"/>
              </a:rPr>
              <a:t>un </a:t>
            </a:r>
            <a:r>
              <a:rPr dirty="0" sz="2800" spc="-25">
                <a:latin typeface="Trebuchet MS"/>
                <a:cs typeface="Trebuchet MS"/>
              </a:rPr>
              <a:t>	</a:t>
            </a:r>
            <a:r>
              <a:rPr dirty="0" sz="2800">
                <a:latin typeface="Trebuchet MS"/>
                <a:cs typeface="Trebuchet MS"/>
              </a:rPr>
              <a:t>elevato</a:t>
            </a:r>
            <a:r>
              <a:rPr dirty="0" sz="2800" spc="114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livello</a:t>
            </a:r>
            <a:r>
              <a:rPr dirty="0" sz="2800" spc="114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di</a:t>
            </a:r>
            <a:r>
              <a:rPr dirty="0" sz="2800" spc="12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sicurezza</a:t>
            </a:r>
            <a:r>
              <a:rPr dirty="0" sz="2800" spc="11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e</a:t>
            </a:r>
            <a:r>
              <a:rPr dirty="0" sz="2800" spc="125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un</a:t>
            </a:r>
            <a:r>
              <a:rPr dirty="0" sz="2800" spc="12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effettivo</a:t>
            </a:r>
            <a:r>
              <a:rPr dirty="0" sz="2800" spc="130">
                <a:latin typeface="Trebuchet MS"/>
                <a:cs typeface="Trebuchet MS"/>
              </a:rPr>
              <a:t>  </a:t>
            </a:r>
            <a:r>
              <a:rPr dirty="0" sz="2800">
                <a:latin typeface="Trebuchet MS"/>
                <a:cs typeface="Trebuchet MS"/>
              </a:rPr>
              <a:t>controllo</a:t>
            </a:r>
            <a:r>
              <a:rPr dirty="0" sz="2800" spc="114">
                <a:latin typeface="Trebuchet MS"/>
                <a:cs typeface="Trebuchet MS"/>
              </a:rPr>
              <a:t>  </a:t>
            </a:r>
            <a:r>
              <a:rPr dirty="0" sz="2800" spc="-10">
                <a:latin typeface="Trebuchet MS"/>
                <a:cs typeface="Trebuchet MS"/>
              </a:rPr>
              <a:t>della </a:t>
            </a:r>
            <a:r>
              <a:rPr dirty="0" sz="2800" spc="-10">
                <a:latin typeface="Trebuchet MS"/>
                <a:cs typeface="Trebuchet MS"/>
              </a:rPr>
              <a:t>	</a:t>
            </a:r>
            <a:r>
              <a:rPr dirty="0" sz="2800">
                <a:latin typeface="Trebuchet MS"/>
                <a:cs typeface="Trebuchet MS"/>
              </a:rPr>
              <a:t>circolazione</a:t>
            </a:r>
            <a:r>
              <a:rPr dirty="0" sz="2800" spc="-8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dei</a:t>
            </a:r>
            <a:r>
              <a:rPr dirty="0" sz="2800" spc="-10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dati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personali.</a:t>
            </a:r>
            <a:endParaRPr sz="2800">
              <a:latin typeface="Trebuchet MS"/>
              <a:cs typeface="Trebuchet MS"/>
            </a:endParaRPr>
          </a:p>
          <a:p>
            <a:pPr algn="just" marL="240029" indent="-227329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029" algn="l"/>
              </a:tabLst>
            </a:pPr>
            <a:r>
              <a:rPr dirty="0" sz="2800">
                <a:latin typeface="Trebuchet MS"/>
                <a:cs typeface="Trebuchet MS"/>
              </a:rPr>
              <a:t>Sicurezza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del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wallet</a:t>
            </a:r>
            <a:r>
              <a:rPr dirty="0" sz="2800" spc="-7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certificata</a:t>
            </a:r>
            <a:r>
              <a:rPr dirty="0" sz="2800" spc="-4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da</a:t>
            </a:r>
            <a:r>
              <a:rPr dirty="0" sz="2800" spc="-9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appositi</a:t>
            </a:r>
            <a:r>
              <a:rPr dirty="0" sz="2800" spc="-5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organismi.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8778" rIns="0" bIns="0" rtlCol="0" vert="horz">
            <a:spAutoFit/>
          </a:bodyPr>
          <a:lstStyle/>
          <a:p>
            <a:pPr marL="1423035">
              <a:lnSpc>
                <a:spcPct val="100000"/>
              </a:lnSpc>
              <a:spcBef>
                <a:spcPts val="100"/>
              </a:spcBef>
            </a:pPr>
            <a:r>
              <a:rPr dirty="0" sz="3550"/>
              <a:t>Il portafoglio</a:t>
            </a:r>
            <a:r>
              <a:rPr dirty="0" sz="3550" spc="-15"/>
              <a:t> </a:t>
            </a:r>
            <a:r>
              <a:rPr dirty="0" sz="3550" spc="-10"/>
              <a:t>nell’ARF</a:t>
            </a:r>
            <a:endParaRPr sz="355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741" y="1324963"/>
            <a:ext cx="6550309" cy="5202278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034910" y="1850262"/>
            <a:ext cx="4923155" cy="4415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SzPct val="96875"/>
              <a:buAutoNum type="arabicPeriod"/>
              <a:tabLst>
                <a:tab pos="214629" algn="l"/>
              </a:tabLst>
            </a:pPr>
            <a:r>
              <a:rPr dirty="0" sz="1600" b="1" i="1">
                <a:latin typeface="Calibri"/>
                <a:cs typeface="Calibri"/>
              </a:rPr>
              <a:t>Utenti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finali</a:t>
            </a:r>
            <a:r>
              <a:rPr dirty="0" sz="1600" spc="-3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del</a:t>
            </a:r>
            <a:r>
              <a:rPr dirty="0" sz="1600" spc="315" b="1" i="1">
                <a:latin typeface="Calibri"/>
                <a:cs typeface="Calibri"/>
              </a:rPr>
              <a:t> </a:t>
            </a:r>
            <a:r>
              <a:rPr dirty="0" sz="1600" spc="-20" b="1" i="1">
                <a:latin typeface="Calibri"/>
                <a:cs typeface="Calibri"/>
              </a:rPr>
              <a:t>EDIW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SzPct val="96875"/>
              <a:buAutoNum type="arabicPeriod"/>
              <a:tabLst>
                <a:tab pos="214629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1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del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spc="-20" b="1" i="1">
                <a:latin typeface="Calibri"/>
                <a:cs typeface="Calibri"/>
              </a:rPr>
              <a:t>EDIW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SzPct val="96875"/>
              <a:buAutoNum type="arabicPeriod"/>
              <a:tabLst>
                <a:tab pos="214629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1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Dati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Identificativi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della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Persona</a:t>
            </a:r>
            <a:r>
              <a:rPr dirty="0" sz="1600" spc="-10" b="1" i="1">
                <a:latin typeface="Calibri"/>
                <a:cs typeface="Calibri"/>
              </a:rPr>
              <a:t> (PID)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SzPct val="96875"/>
              <a:buAutoNum type="arabicPeriod"/>
              <a:tabLst>
                <a:tab pos="214629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elenchi</a:t>
            </a:r>
            <a:r>
              <a:rPr dirty="0" sz="1600" spc="-1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pubblici</a:t>
            </a:r>
            <a:r>
              <a:rPr dirty="0" sz="1600" spc="-1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fiducia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SzPct val="96875"/>
              <a:buAutoNum type="arabicPeriod"/>
              <a:tabLst>
                <a:tab pos="214629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3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attestazioni</a:t>
            </a:r>
            <a:r>
              <a:rPr dirty="0" sz="1600" spc="1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elettroniche</a:t>
            </a:r>
            <a:r>
              <a:rPr dirty="0" sz="1600" b="1" i="1">
                <a:latin typeface="Calibri"/>
                <a:cs typeface="Calibri"/>
              </a:rPr>
              <a:t> di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attributi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 i="1">
                <a:latin typeface="Calibri"/>
                <a:cs typeface="Calibri"/>
              </a:rPr>
              <a:t>qualificate</a:t>
            </a:r>
            <a:r>
              <a:rPr dirty="0" sz="1600" spc="1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(QEEA)</a:t>
            </a:r>
            <a:endParaRPr sz="1600">
              <a:latin typeface="Calibri"/>
              <a:cs typeface="Calibri"/>
            </a:endParaRPr>
          </a:p>
          <a:p>
            <a:pPr marL="12700" marR="205740" indent="249554">
              <a:lnSpc>
                <a:spcPct val="100000"/>
              </a:lnSpc>
              <a:buSzPct val="96875"/>
              <a:buAutoNum type="arabicPeriod" startAt="6"/>
              <a:tabLst>
                <a:tab pos="262255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attestazioni</a:t>
            </a:r>
            <a:r>
              <a:rPr dirty="0" sz="1600" spc="1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elettroniche</a:t>
            </a:r>
            <a:r>
              <a:rPr dirty="0" sz="1600" spc="-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attributi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spc="-25" b="1" i="1">
                <a:latin typeface="Calibri"/>
                <a:cs typeface="Calibri"/>
              </a:rPr>
              <a:t>non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qualificate</a:t>
            </a:r>
            <a:r>
              <a:rPr dirty="0" sz="1600" spc="-70" b="1" i="1">
                <a:latin typeface="Calibri"/>
                <a:cs typeface="Calibri"/>
              </a:rPr>
              <a:t> </a:t>
            </a:r>
            <a:r>
              <a:rPr dirty="0" sz="1600" spc="-20" b="1" i="1">
                <a:latin typeface="Calibri"/>
                <a:cs typeface="Calibri"/>
              </a:rPr>
              <a:t>(EEA)</a:t>
            </a:r>
            <a:endParaRPr sz="1600">
              <a:latin typeface="Calibri"/>
              <a:cs typeface="Calibri"/>
            </a:endParaRPr>
          </a:p>
          <a:p>
            <a:pPr marL="12700" marR="5080" indent="201930">
              <a:lnSpc>
                <a:spcPct val="100000"/>
              </a:lnSpc>
              <a:buSzPct val="96875"/>
              <a:buAutoNum type="arabicPeriod" startAt="6"/>
              <a:tabLst>
                <a:tab pos="214629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certificati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qualificati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e</a:t>
            </a:r>
            <a:r>
              <a:rPr dirty="0" sz="1600" spc="-3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non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qualificati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per</a:t>
            </a:r>
            <a:r>
              <a:rPr dirty="0" sz="1600" spc="-35" b="1" i="1">
                <a:latin typeface="Calibri"/>
                <a:cs typeface="Calibri"/>
              </a:rPr>
              <a:t> </a:t>
            </a:r>
            <a:r>
              <a:rPr dirty="0" sz="1600" spc="-25" b="1" i="1">
                <a:latin typeface="Calibri"/>
                <a:cs typeface="Calibri"/>
              </a:rPr>
              <a:t>le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firme</a:t>
            </a:r>
            <a:r>
              <a:rPr dirty="0" sz="1600" spc="-1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e</a:t>
            </a:r>
            <a:r>
              <a:rPr dirty="0" sz="1600" spc="-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sigilli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elettronici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buSzPct val="96875"/>
              <a:buAutoNum type="arabicPeriod" startAt="6"/>
              <a:tabLst>
                <a:tab pos="214629" algn="l"/>
              </a:tabLst>
            </a:pPr>
            <a:r>
              <a:rPr dirty="0" sz="1600" b="1" i="1">
                <a:latin typeface="Calibri"/>
                <a:cs typeface="Calibri"/>
              </a:rPr>
              <a:t>Fonti</a:t>
            </a:r>
            <a:r>
              <a:rPr dirty="0" sz="1600" spc="-5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autentiche</a:t>
            </a:r>
            <a:endParaRPr sz="1600">
              <a:latin typeface="Calibri"/>
              <a:cs typeface="Calibri"/>
            </a:endParaRPr>
          </a:p>
          <a:p>
            <a:pPr marL="214629" indent="-201930">
              <a:lnSpc>
                <a:spcPct val="100000"/>
              </a:lnSpc>
              <a:spcBef>
                <a:spcPts val="5"/>
              </a:spcBef>
              <a:buSzPct val="96875"/>
              <a:buAutoNum type="arabicPeriod" startAt="6"/>
              <a:tabLst>
                <a:tab pos="214629" algn="l"/>
              </a:tabLst>
            </a:pPr>
            <a:r>
              <a:rPr dirty="0" sz="1600" b="1" i="1">
                <a:latin typeface="Calibri"/>
                <a:cs typeface="Calibri"/>
              </a:rPr>
              <a:t>Parti</a:t>
            </a:r>
            <a:r>
              <a:rPr dirty="0" sz="1600" spc="-8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facenti</a:t>
            </a:r>
            <a:r>
              <a:rPr dirty="0" sz="1600" spc="-5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affidamento</a:t>
            </a:r>
            <a:endParaRPr sz="1600">
              <a:latin typeface="Calibri"/>
              <a:cs typeface="Calibri"/>
            </a:endParaRPr>
          </a:p>
          <a:p>
            <a:pPr marL="318135" indent="-305435">
              <a:lnSpc>
                <a:spcPct val="100000"/>
              </a:lnSpc>
              <a:buSzPct val="96875"/>
              <a:buAutoNum type="arabicPeriod" startAt="6"/>
              <a:tabLst>
                <a:tab pos="318135" algn="l"/>
              </a:tabLst>
            </a:pPr>
            <a:r>
              <a:rPr dirty="0" sz="1600" b="1" i="1">
                <a:latin typeface="Calibri"/>
                <a:cs typeface="Calibri"/>
              </a:rPr>
              <a:t>Organismi</a:t>
            </a:r>
            <a:r>
              <a:rPr dirty="0" sz="1600" spc="-4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per</a:t>
            </a:r>
            <a:r>
              <a:rPr dirty="0" sz="1600" spc="-3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la</a:t>
            </a:r>
            <a:r>
              <a:rPr dirty="0" sz="1600" spc="-5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valutazione</a:t>
            </a:r>
            <a:r>
              <a:rPr dirty="0" sz="1600" spc="-1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della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conformità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(CAB)</a:t>
            </a:r>
            <a:endParaRPr sz="1600">
              <a:latin typeface="Calibri"/>
              <a:cs typeface="Calibri"/>
            </a:endParaRPr>
          </a:p>
          <a:p>
            <a:pPr marL="318135" indent="-305435">
              <a:lnSpc>
                <a:spcPct val="100000"/>
              </a:lnSpc>
              <a:buSzPct val="96875"/>
              <a:buAutoNum type="arabicPeriod" startAt="6"/>
              <a:tabLst>
                <a:tab pos="318135" algn="l"/>
              </a:tabLst>
            </a:pPr>
            <a:r>
              <a:rPr dirty="0" sz="1600" b="1" i="1">
                <a:latin typeface="Calibri"/>
                <a:cs typeface="Calibri"/>
              </a:rPr>
              <a:t>Organismi</a:t>
            </a:r>
            <a:r>
              <a:rPr dirty="0" sz="1600" spc="-2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vigilanza</a:t>
            </a:r>
            <a:endParaRPr sz="1600">
              <a:latin typeface="Calibri"/>
              <a:cs typeface="Calibri"/>
            </a:endParaRPr>
          </a:p>
          <a:p>
            <a:pPr marL="12700" marR="342265" indent="-6985">
              <a:lnSpc>
                <a:spcPct val="100000"/>
              </a:lnSpc>
              <a:buSzPct val="96875"/>
              <a:buAutoNum type="arabicPeriod" startAt="6"/>
              <a:tabLst>
                <a:tab pos="270510" algn="l"/>
              </a:tabLst>
            </a:pPr>
            <a:r>
              <a:rPr dirty="0" sz="1600" b="1" i="1">
                <a:latin typeface="Calibri"/>
                <a:cs typeface="Calibri"/>
              </a:rPr>
              <a:t>	</a:t>
            </a:r>
            <a:r>
              <a:rPr dirty="0" sz="1600" b="1" i="1">
                <a:latin typeface="Calibri"/>
                <a:cs typeface="Calibri"/>
              </a:rPr>
              <a:t>Fabbricanti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dispositivi</a:t>
            </a:r>
            <a:r>
              <a:rPr dirty="0" sz="1600" spc="-6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e</a:t>
            </a:r>
            <a:r>
              <a:rPr dirty="0" sz="1600" spc="-5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fornitori</a:t>
            </a:r>
            <a:r>
              <a:rPr dirty="0" sz="1600" spc="-5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dei</a:t>
            </a:r>
            <a:r>
              <a:rPr dirty="0" sz="1600" spc="-45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sottosistemi</a:t>
            </a:r>
            <a:r>
              <a:rPr dirty="0" sz="1600" spc="-10" b="1" i="1">
                <a:latin typeface="Calibri"/>
                <a:cs typeface="Calibri"/>
              </a:rPr>
              <a:t> relativi</a:t>
            </a:r>
            <a:endParaRPr sz="1600">
              <a:latin typeface="Calibri"/>
              <a:cs typeface="Calibri"/>
            </a:endParaRPr>
          </a:p>
          <a:p>
            <a:pPr marL="316865" indent="-304165">
              <a:lnSpc>
                <a:spcPct val="100000"/>
              </a:lnSpc>
              <a:buSzPct val="96875"/>
              <a:buAutoNum type="arabicPeriod" startAt="6"/>
              <a:tabLst>
                <a:tab pos="316865" algn="l"/>
              </a:tabLst>
            </a:pPr>
            <a:r>
              <a:rPr dirty="0" sz="1600" spc="-10" b="1" i="1">
                <a:latin typeface="Calibri"/>
                <a:cs typeface="Calibri"/>
              </a:rPr>
              <a:t>Prestatori</a:t>
            </a:r>
            <a:r>
              <a:rPr dirty="0" sz="1600" spc="-2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degli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schemi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(Q)EAA</a:t>
            </a:r>
            <a:endParaRPr sz="1600">
              <a:latin typeface="Calibri"/>
              <a:cs typeface="Calibri"/>
            </a:endParaRPr>
          </a:p>
          <a:p>
            <a:pPr marL="318135" indent="-305435">
              <a:lnSpc>
                <a:spcPct val="100000"/>
              </a:lnSpc>
              <a:buSzPct val="96875"/>
              <a:buAutoNum type="arabicPeriod" startAt="6"/>
              <a:tabLst>
                <a:tab pos="318135" algn="l"/>
              </a:tabLst>
            </a:pPr>
            <a:r>
              <a:rPr dirty="0" sz="1600" b="1" i="1">
                <a:latin typeface="Calibri"/>
                <a:cs typeface="Calibri"/>
              </a:rPr>
              <a:t>Organismi</a:t>
            </a:r>
            <a:r>
              <a:rPr dirty="0" sz="1600" spc="-30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nazionali</a:t>
            </a:r>
            <a:r>
              <a:rPr dirty="0" sz="1600" spc="-15" b="1" i="1">
                <a:latin typeface="Calibri"/>
                <a:cs typeface="Calibri"/>
              </a:rPr>
              <a:t> </a:t>
            </a:r>
            <a:r>
              <a:rPr dirty="0" sz="1600" b="1" i="1">
                <a:latin typeface="Calibri"/>
                <a:cs typeface="Calibri"/>
              </a:rPr>
              <a:t>di</a:t>
            </a:r>
            <a:r>
              <a:rPr dirty="0" sz="1600" spc="-50" b="1" i="1">
                <a:latin typeface="Calibri"/>
                <a:cs typeface="Calibri"/>
              </a:rPr>
              <a:t> </a:t>
            </a:r>
            <a:r>
              <a:rPr dirty="0" sz="1600" spc="-10" b="1" i="1">
                <a:latin typeface="Calibri"/>
                <a:cs typeface="Calibri"/>
              </a:rPr>
              <a:t>accreditamento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2501" y="2591562"/>
            <a:ext cx="7117715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480059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4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4400" spc="-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italiano</a:t>
            </a:r>
            <a:r>
              <a:rPr dirty="0" sz="4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44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44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(IT-</a:t>
            </a:r>
            <a:r>
              <a:rPr dirty="0" sz="4400" spc="-25">
                <a:solidFill>
                  <a:srgbClr val="44536A"/>
                </a:solidFill>
                <a:latin typeface="Trebuchet MS"/>
                <a:cs typeface="Trebuchet MS"/>
              </a:rPr>
              <a:t>Wallet)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2191385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L’IT</a:t>
            </a:r>
            <a:r>
              <a:rPr dirty="0" sz="3550" spc="-15"/>
              <a:t> </a:t>
            </a:r>
            <a:r>
              <a:rPr dirty="0" sz="3550"/>
              <a:t>WALLET</a:t>
            </a:r>
            <a:r>
              <a:rPr dirty="0" sz="3550" spc="-30"/>
              <a:t> </a:t>
            </a:r>
            <a:r>
              <a:rPr dirty="0" sz="3550"/>
              <a:t>-</a:t>
            </a:r>
            <a:r>
              <a:rPr dirty="0" sz="3550" spc="-5"/>
              <a:t> </a:t>
            </a:r>
            <a:r>
              <a:rPr dirty="0" sz="3550" spc="-50"/>
              <a:t>1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495096" y="1674622"/>
            <a:ext cx="11066780" cy="3836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5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Italia</a:t>
            </a:r>
            <a:r>
              <a:rPr dirty="0" sz="25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25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5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deciso</a:t>
            </a:r>
            <a:r>
              <a:rPr dirty="0" sz="25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5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anticipare</a:t>
            </a:r>
            <a:r>
              <a:rPr dirty="0" sz="25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l’EDIW</a:t>
            </a:r>
            <a:r>
              <a:rPr dirty="0" sz="25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5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44536A"/>
                </a:solidFill>
                <a:latin typeface="Trebuchet MS"/>
                <a:cs typeface="Trebuchet MS"/>
              </a:rPr>
              <a:t>l’IT-Wallet.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44536A"/>
              </a:buClr>
              <a:buFont typeface="Arial"/>
              <a:buChar char="•"/>
            </a:pPr>
            <a:endParaRPr sz="25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Legge</a:t>
            </a:r>
            <a:r>
              <a:rPr dirty="0" sz="25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29</a:t>
            </a:r>
            <a:r>
              <a:rPr dirty="0" sz="25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aprile</a:t>
            </a:r>
            <a:r>
              <a:rPr dirty="0" sz="25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2024,</a:t>
            </a:r>
            <a:r>
              <a:rPr dirty="0" sz="25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n.</a:t>
            </a:r>
            <a:r>
              <a:rPr dirty="0" sz="25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59</a:t>
            </a:r>
            <a:r>
              <a:rPr dirty="0" sz="25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dal</a:t>
            </a:r>
            <a:r>
              <a:rPr dirty="0" sz="25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0">
                <a:solidFill>
                  <a:srgbClr val="44536A"/>
                </a:solidFill>
                <a:latin typeface="Trebuchet MS"/>
                <a:cs typeface="Trebuchet MS"/>
              </a:rPr>
              <a:t>decreto-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legge</a:t>
            </a:r>
            <a:r>
              <a:rPr dirty="0" sz="25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2</a:t>
            </a:r>
            <a:r>
              <a:rPr dirty="0" sz="25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marzo</a:t>
            </a:r>
            <a:r>
              <a:rPr dirty="0" sz="25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2024,</a:t>
            </a:r>
            <a:r>
              <a:rPr dirty="0" sz="25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n.</a:t>
            </a:r>
            <a:r>
              <a:rPr dirty="0" sz="25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44536A"/>
                </a:solidFill>
                <a:latin typeface="Trebuchet MS"/>
                <a:cs typeface="Trebuchet MS"/>
              </a:rPr>
              <a:t>19.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500">
              <a:latin typeface="Trebuchet MS"/>
              <a:cs typeface="Trebuchet MS"/>
            </a:endParaRPr>
          </a:p>
          <a:p>
            <a:pPr algn="just" marL="440690" marR="12700" indent="-428625">
              <a:lnSpc>
                <a:spcPct val="100000"/>
              </a:lnSpc>
              <a:buFont typeface="Arial"/>
              <a:buChar char="•"/>
              <a:tabLst>
                <a:tab pos="440690" algn="l"/>
                <a:tab pos="441959" algn="l"/>
              </a:tabLst>
            </a:pP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500" spc="-70">
                <a:solidFill>
                  <a:srgbClr val="44536A"/>
                </a:solidFill>
                <a:latin typeface="Trebuchet MS"/>
                <a:cs typeface="Trebuchet MS"/>
              </a:rPr>
              <a:t>L’IT-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Wallet</a:t>
            </a:r>
            <a:r>
              <a:rPr dirty="0" sz="25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5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inserito</a:t>
            </a:r>
            <a:r>
              <a:rPr dirty="0" sz="25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5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CAD</a:t>
            </a:r>
            <a:r>
              <a:rPr dirty="0" sz="25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5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5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nuovo</a:t>
            </a:r>
            <a:r>
              <a:rPr dirty="0" sz="25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articolo</a:t>
            </a:r>
            <a:r>
              <a:rPr dirty="0" sz="25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0">
                <a:solidFill>
                  <a:srgbClr val="44536A"/>
                </a:solidFill>
                <a:latin typeface="Trebuchet MS"/>
                <a:cs typeface="Trebuchet MS"/>
              </a:rPr>
              <a:t>64-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quater</a:t>
            </a:r>
            <a:r>
              <a:rPr dirty="0" sz="25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(Sistema</a:t>
            </a:r>
            <a:r>
              <a:rPr dirty="0" sz="25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500" spc="-1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500" spc="-1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44536A"/>
                </a:solidFill>
                <a:latin typeface="Trebuchet MS"/>
                <a:cs typeface="Trebuchet MS"/>
              </a:rPr>
              <a:t>Italiano).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44536A"/>
              </a:buClr>
              <a:buFont typeface="Arial"/>
              <a:buChar char="•"/>
            </a:pPr>
            <a:endParaRPr sz="2500">
              <a:latin typeface="Trebuchet MS"/>
              <a:cs typeface="Trebuchet MS"/>
            </a:endParaRPr>
          </a:p>
          <a:p>
            <a:pPr algn="just" marL="440690" marR="5080" indent="-428625">
              <a:lnSpc>
                <a:spcPct val="100000"/>
              </a:lnSpc>
              <a:buFont typeface="Arial"/>
              <a:buChar char="•"/>
              <a:tabLst>
                <a:tab pos="440690" algn="l"/>
                <a:tab pos="441959" algn="l"/>
              </a:tabLst>
            </a:pP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	Può</a:t>
            </a:r>
            <a:r>
              <a:rPr dirty="0" sz="25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5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pubblico</a:t>
            </a:r>
            <a:r>
              <a:rPr dirty="0" sz="25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5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privato</a:t>
            </a:r>
            <a:r>
              <a:rPr dirty="0" sz="25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ed</a:t>
            </a:r>
            <a:r>
              <a:rPr dirty="0" sz="25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5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reso</a:t>
            </a:r>
            <a:r>
              <a:rPr dirty="0" sz="25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disponibile</a:t>
            </a:r>
            <a:r>
              <a:rPr dirty="0" sz="25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tramite</a:t>
            </a:r>
            <a:r>
              <a:rPr dirty="0" sz="25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l’APP</a:t>
            </a:r>
            <a:r>
              <a:rPr dirty="0" sz="25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IO.</a:t>
            </a:r>
            <a:r>
              <a:rPr dirty="0" sz="25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5">
                <a:solidFill>
                  <a:srgbClr val="44536A"/>
                </a:solidFill>
                <a:latin typeface="Trebuchet MS"/>
                <a:cs typeface="Trebuchet MS"/>
              </a:rPr>
              <a:t>E’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considerato</a:t>
            </a:r>
            <a:r>
              <a:rPr dirty="0" sz="25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5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25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5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valorizza</a:t>
            </a:r>
            <a:r>
              <a:rPr dirty="0" sz="25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l’interoperabilità</a:t>
            </a:r>
            <a:r>
              <a:rPr dirty="0" sz="25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5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banche</a:t>
            </a:r>
            <a:r>
              <a:rPr dirty="0" sz="25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20">
                <a:solidFill>
                  <a:srgbClr val="44536A"/>
                </a:solidFill>
                <a:latin typeface="Trebuchet MS"/>
                <a:cs typeface="Trebuchet MS"/>
              </a:rPr>
              <a:t>dati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pubbliche</a:t>
            </a:r>
            <a:r>
              <a:rPr dirty="0" sz="2500" spc="-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2500" spc="-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500" spc="-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44536A"/>
                </a:solidFill>
                <a:latin typeface="Trebuchet MS"/>
                <a:cs typeface="Trebuchet MS"/>
              </a:rPr>
              <a:t>Piattaforma</a:t>
            </a:r>
            <a:r>
              <a:rPr dirty="0" sz="25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500" spc="-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Nazionale</a:t>
            </a:r>
            <a:r>
              <a:rPr dirty="0" sz="2500" spc="-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500" spc="-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44536A"/>
                </a:solidFill>
                <a:latin typeface="Trebuchet MS"/>
                <a:cs typeface="Trebuchet MS"/>
              </a:rPr>
              <a:t>(PDND).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2191385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L’IT</a:t>
            </a:r>
            <a:r>
              <a:rPr dirty="0" sz="3550" spc="-15"/>
              <a:t> </a:t>
            </a:r>
            <a:r>
              <a:rPr dirty="0" sz="3550"/>
              <a:t>WALLET</a:t>
            </a:r>
            <a:r>
              <a:rPr dirty="0" sz="3550" spc="-30"/>
              <a:t> </a:t>
            </a:r>
            <a:r>
              <a:rPr dirty="0" sz="3550"/>
              <a:t>-</a:t>
            </a:r>
            <a:r>
              <a:rPr dirty="0" sz="3550" spc="-5"/>
              <a:t> </a:t>
            </a:r>
            <a:r>
              <a:rPr dirty="0" sz="3550" spc="-50"/>
              <a:t>2</a:t>
            </a:r>
            <a:endParaRPr sz="355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" y="1210055"/>
            <a:ext cx="9582912" cy="398983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024621" y="5408803"/>
            <a:ext cx="367474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dirty="0" sz="1200" b="1">
                <a:latin typeface="Trebuchet MS"/>
                <a:cs typeface="Trebuchet MS"/>
              </a:rPr>
              <a:t>Emissione</a:t>
            </a:r>
            <a:r>
              <a:rPr dirty="0" sz="1200" spc="-4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delle</a:t>
            </a:r>
            <a:r>
              <a:rPr dirty="0" sz="1200" spc="-4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credenziali</a:t>
            </a:r>
            <a:r>
              <a:rPr dirty="0" sz="1200" spc="-2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di</a:t>
            </a:r>
            <a:r>
              <a:rPr dirty="0" sz="1200" spc="-3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identità</a:t>
            </a:r>
            <a:r>
              <a:rPr dirty="0" sz="1200" spc="-35" b="1">
                <a:latin typeface="Trebuchet MS"/>
                <a:cs typeface="Trebuchet MS"/>
              </a:rPr>
              <a:t> </a:t>
            </a:r>
            <a:r>
              <a:rPr dirty="0" sz="1200" spc="-10" b="1">
                <a:latin typeface="Trebuchet MS"/>
                <a:cs typeface="Trebuchet MS"/>
              </a:rPr>
              <a:t>digitale</a:t>
            </a:r>
            <a:endParaRPr sz="1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200" b="1">
                <a:latin typeface="Trebuchet MS"/>
                <a:cs typeface="Trebuchet MS"/>
              </a:rPr>
              <a:t>Emissione</a:t>
            </a:r>
            <a:r>
              <a:rPr dirty="0" sz="1200" spc="-3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di</a:t>
            </a:r>
            <a:r>
              <a:rPr dirty="0" sz="1200" spc="-35" b="1">
                <a:latin typeface="Trebuchet MS"/>
                <a:cs typeface="Trebuchet MS"/>
              </a:rPr>
              <a:t> </a:t>
            </a:r>
            <a:r>
              <a:rPr dirty="0" sz="1200" spc="-10" b="1">
                <a:latin typeface="Trebuchet MS"/>
                <a:cs typeface="Trebuchet MS"/>
              </a:rPr>
              <a:t>attributi</a:t>
            </a:r>
            <a:endParaRPr sz="1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200" spc="-10" b="1">
                <a:latin typeface="Trebuchet MS"/>
                <a:cs typeface="Trebuchet MS"/>
              </a:rPr>
              <a:t>Infrastruttura</a:t>
            </a:r>
            <a:r>
              <a:rPr dirty="0" sz="1200" spc="-4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di</a:t>
            </a:r>
            <a:r>
              <a:rPr dirty="0" sz="1200" spc="-25" b="1">
                <a:latin typeface="Trebuchet MS"/>
                <a:cs typeface="Trebuchet MS"/>
              </a:rPr>
              <a:t> </a:t>
            </a:r>
            <a:r>
              <a:rPr dirty="0" sz="1200" spc="-20" b="1">
                <a:latin typeface="Trebuchet MS"/>
                <a:cs typeface="Trebuchet MS"/>
              </a:rPr>
              <a:t>Trust</a:t>
            </a:r>
            <a:endParaRPr sz="1200">
              <a:latin typeface="Trebuchet MS"/>
              <a:cs typeface="Trebuchet MS"/>
            </a:endParaRPr>
          </a:p>
          <a:p>
            <a:pPr marL="355600" marR="324485" indent="-343535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200" b="1">
                <a:latin typeface="Trebuchet MS"/>
                <a:cs typeface="Trebuchet MS"/>
              </a:rPr>
              <a:t>Registro</a:t>
            </a:r>
            <a:r>
              <a:rPr dirty="0" sz="1200" spc="-4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per</a:t>
            </a:r>
            <a:r>
              <a:rPr dirty="0" sz="1200" spc="-2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la</a:t>
            </a:r>
            <a:r>
              <a:rPr dirty="0" sz="1200" spc="-3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verifica</a:t>
            </a:r>
            <a:r>
              <a:rPr dirty="0" sz="1200" spc="-2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della</a:t>
            </a:r>
            <a:r>
              <a:rPr dirty="0" sz="1200" spc="-25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validità</a:t>
            </a:r>
            <a:r>
              <a:rPr dirty="0" sz="1200" spc="-25" b="1">
                <a:latin typeface="Trebuchet MS"/>
                <a:cs typeface="Trebuchet MS"/>
              </a:rPr>
              <a:t> </a:t>
            </a:r>
            <a:r>
              <a:rPr dirty="0" sz="1200" spc="-20" b="1">
                <a:latin typeface="Trebuchet MS"/>
                <a:cs typeface="Trebuchet MS"/>
              </a:rPr>
              <a:t>delle </a:t>
            </a:r>
            <a:r>
              <a:rPr dirty="0" sz="1200" spc="-10" b="1">
                <a:latin typeface="Trebuchet MS"/>
                <a:cs typeface="Trebuchet MS"/>
              </a:rPr>
              <a:t>credenziali</a:t>
            </a:r>
            <a:endParaRPr sz="1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dirty="0" sz="1200" b="1">
                <a:latin typeface="Trebuchet MS"/>
                <a:cs typeface="Trebuchet MS"/>
              </a:rPr>
              <a:t>App</a:t>
            </a:r>
            <a:r>
              <a:rPr dirty="0" sz="1200" spc="-2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di</a:t>
            </a:r>
            <a:r>
              <a:rPr dirty="0" sz="1200" spc="-2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verifica</a:t>
            </a:r>
            <a:r>
              <a:rPr dirty="0" sz="1200" spc="-2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della</a:t>
            </a:r>
            <a:r>
              <a:rPr dirty="0" sz="1200" spc="-15" b="1">
                <a:latin typeface="Trebuchet MS"/>
                <a:cs typeface="Trebuchet MS"/>
              </a:rPr>
              <a:t> </a:t>
            </a:r>
            <a:r>
              <a:rPr dirty="0" sz="1200" spc="-10" b="1">
                <a:latin typeface="Trebuchet MS"/>
                <a:cs typeface="Trebuchet MS"/>
              </a:rPr>
              <a:t>patente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0362" y="6300012"/>
            <a:ext cx="9639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rebuchet MS"/>
                <a:cs typeface="Trebuchet MS"/>
              </a:rPr>
              <a:t>Fonte:</a:t>
            </a:r>
            <a:r>
              <a:rPr dirty="0" sz="1400" spc="-65" b="1">
                <a:latin typeface="Trebuchet MS"/>
                <a:cs typeface="Trebuchet MS"/>
              </a:rPr>
              <a:t> </a:t>
            </a:r>
            <a:r>
              <a:rPr dirty="0" sz="1400" spc="-20" b="1">
                <a:latin typeface="Trebuchet MS"/>
                <a:cs typeface="Trebuchet MS"/>
              </a:rPr>
              <a:t>IPZS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252" y="2591562"/>
            <a:ext cx="6819900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L’attestazione</a:t>
            </a:r>
            <a:r>
              <a:rPr dirty="0" sz="4400" spc="-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endParaRPr sz="44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4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496695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Attestazione</a:t>
            </a:r>
            <a:r>
              <a:rPr dirty="0" sz="3550" spc="-75"/>
              <a:t> </a:t>
            </a:r>
            <a:r>
              <a:rPr dirty="0" sz="3550" spc="-10"/>
              <a:t>attributi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495096" y="1622806"/>
            <a:ext cx="11059795" cy="4294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36245" marR="8255" indent="-42418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L’attributo</a:t>
            </a:r>
            <a:r>
              <a:rPr dirty="0" sz="2000" spc="3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3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caratteristica,</a:t>
            </a:r>
            <a:r>
              <a:rPr dirty="0" sz="20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qualità,</a:t>
            </a:r>
            <a:r>
              <a:rPr dirty="0" sz="2000" spc="3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diritto</a:t>
            </a:r>
            <a:r>
              <a:rPr dirty="0" sz="2000" spc="3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0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autorizzazione</a:t>
            </a:r>
            <a:r>
              <a:rPr dirty="0" sz="2000" spc="3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3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persona</a:t>
            </a:r>
            <a:r>
              <a:rPr dirty="0" sz="20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fisica</a:t>
            </a:r>
            <a:r>
              <a:rPr dirty="0" sz="20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o 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giuridica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oggetto.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  <a:tab pos="1856739" algn="l"/>
                <a:tab pos="3289300" algn="l"/>
                <a:tab pos="3676650" algn="l"/>
                <a:tab pos="4808855" algn="l"/>
                <a:tab pos="5120005" algn="l"/>
                <a:tab pos="5570855" algn="l"/>
                <a:tab pos="6788784" algn="l"/>
                <a:tab pos="7174865" algn="l"/>
                <a:tab pos="8020684" algn="l"/>
                <a:tab pos="9450070" algn="l"/>
                <a:tab pos="10026015" algn="l"/>
              </a:tabLst>
            </a:pP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L’attestato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attestato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forma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consente</a:t>
            </a:r>
            <a:endParaRPr sz="20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l’autenticazione</a:t>
            </a:r>
            <a:r>
              <a:rPr dirty="0" sz="2000" spc="-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attributi.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  <a:tab pos="1838325" algn="l"/>
                <a:tab pos="3252470" algn="l"/>
                <a:tab pos="3824604" algn="l"/>
                <a:tab pos="4699000" algn="l"/>
                <a:tab pos="6171565" algn="l"/>
                <a:tab pos="6537325" algn="l"/>
                <a:tab pos="7480934" algn="l"/>
                <a:tab pos="8503920" algn="l"/>
                <a:tab pos="9838690" algn="l"/>
                <a:tab pos="10270490" algn="l"/>
                <a:tab pos="10906125" algn="l"/>
              </a:tabLst>
            </a:pP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L’attestato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può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qualificato,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fiduciario,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ad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esso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endParaRPr sz="20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dedicato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l’allegato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schema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regolamento.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fonte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autentica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-1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archivio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-1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sistema,</a:t>
            </a:r>
            <a:r>
              <a:rPr dirty="0" sz="2000" spc="-1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tenuto</a:t>
            </a:r>
            <a:r>
              <a:rPr dirty="0" sz="2000" spc="-1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sotto</a:t>
            </a:r>
            <a:r>
              <a:rPr dirty="0" sz="2000" spc="-1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la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responsabilità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spc="-25" i="1">
                <a:latin typeface="Trebuchet MS"/>
                <a:cs typeface="Trebuchet MS"/>
              </a:rPr>
              <a:t>un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spc="-25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organismo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del</a:t>
            </a:r>
            <a:r>
              <a:rPr dirty="0" sz="2000" spc="-1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settore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pubblico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-20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soggetto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privato,</a:t>
            </a:r>
            <a:r>
              <a:rPr dirty="0" sz="2000" spc="-1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che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contiene</a:t>
            </a:r>
            <a:r>
              <a:rPr dirty="0" sz="2000" spc="-1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-5" i="1">
                <a:latin typeface="Trebuchet MS"/>
                <a:cs typeface="Trebuchet MS"/>
              </a:rPr>
              <a:t>  </a:t>
            </a:r>
            <a:r>
              <a:rPr dirty="0" sz="2000" i="1">
                <a:latin typeface="Trebuchet MS"/>
                <a:cs typeface="Trebuchet MS"/>
              </a:rPr>
              <a:t>fornisce</a:t>
            </a:r>
            <a:r>
              <a:rPr dirty="0" sz="2000" spc="-10" i="1">
                <a:latin typeface="Trebuchet MS"/>
                <a:cs typeface="Trebuchet MS"/>
              </a:rPr>
              <a:t>  </a:t>
            </a:r>
            <a:r>
              <a:rPr dirty="0" sz="2000" spc="-25" i="1">
                <a:latin typeface="Trebuchet MS"/>
                <a:cs typeface="Trebuchet MS"/>
              </a:rPr>
              <a:t>gli </a:t>
            </a:r>
            <a:r>
              <a:rPr dirty="0" sz="2000" spc="-25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attributi</a:t>
            </a:r>
            <a:r>
              <a:rPr dirty="0" sz="2000" spc="2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relativi</a:t>
            </a:r>
            <a:r>
              <a:rPr dirty="0" sz="2000" spc="21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una</a:t>
            </a:r>
            <a:r>
              <a:rPr dirty="0" sz="2000" spc="2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persona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fisica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giuridica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2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oggetto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23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che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è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considerato</a:t>
            </a:r>
            <a:r>
              <a:rPr dirty="0" sz="2000" spc="235" i="1">
                <a:latin typeface="Trebuchet MS"/>
                <a:cs typeface="Trebuchet MS"/>
              </a:rPr>
              <a:t> </a:t>
            </a:r>
            <a:r>
              <a:rPr dirty="0" sz="2000" spc="-25" i="1">
                <a:latin typeface="Trebuchet MS"/>
                <a:cs typeface="Trebuchet MS"/>
              </a:rPr>
              <a:t>una </a:t>
            </a:r>
            <a:r>
              <a:rPr dirty="0" sz="2000" spc="-25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fonte</a:t>
            </a:r>
            <a:r>
              <a:rPr dirty="0" sz="2000" spc="29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primaria</a:t>
            </a:r>
            <a:r>
              <a:rPr dirty="0" sz="2000" spc="2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2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tali</a:t>
            </a:r>
            <a:r>
              <a:rPr dirty="0" sz="2000" spc="2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informazioni</a:t>
            </a:r>
            <a:r>
              <a:rPr dirty="0" sz="2000" spc="2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2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la</a:t>
            </a:r>
            <a:r>
              <a:rPr dirty="0" sz="2000" spc="29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cui</a:t>
            </a:r>
            <a:r>
              <a:rPr dirty="0" sz="2000" spc="2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autenticità</a:t>
            </a:r>
            <a:r>
              <a:rPr dirty="0" sz="2000" spc="2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è</a:t>
            </a:r>
            <a:r>
              <a:rPr dirty="0" sz="2000" spc="2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riconosciuta</a:t>
            </a:r>
            <a:r>
              <a:rPr dirty="0" sz="2000" spc="30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conformemente</a:t>
            </a:r>
            <a:r>
              <a:rPr dirty="0" sz="2000" spc="275" i="1">
                <a:latin typeface="Trebuchet MS"/>
                <a:cs typeface="Trebuchet MS"/>
              </a:rPr>
              <a:t> </a:t>
            </a:r>
            <a:r>
              <a:rPr dirty="0" sz="2000" spc="-25" i="1">
                <a:latin typeface="Trebuchet MS"/>
                <a:cs typeface="Trebuchet MS"/>
              </a:rPr>
              <a:t>al </a:t>
            </a:r>
            <a:r>
              <a:rPr dirty="0" sz="2000" spc="-25" i="1">
                <a:latin typeface="Trebuchet MS"/>
                <a:cs typeface="Trebuchet MS"/>
              </a:rPr>
              <a:t>	</a:t>
            </a:r>
            <a:r>
              <a:rPr dirty="0" sz="2000" i="1">
                <a:latin typeface="Trebuchet MS"/>
                <a:cs typeface="Trebuchet MS"/>
              </a:rPr>
              <a:t>diritto</a:t>
            </a:r>
            <a:r>
              <a:rPr dirty="0" sz="2000" spc="-4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dell'Unione</a:t>
            </a:r>
            <a:r>
              <a:rPr dirty="0" sz="2000" spc="-6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-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nazionale,</a:t>
            </a:r>
            <a:r>
              <a:rPr dirty="0" sz="2000" spc="-5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inclusa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la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prassi</a:t>
            </a:r>
            <a:r>
              <a:rPr dirty="0" sz="2000" spc="-30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amministrativa;</a:t>
            </a:r>
            <a:r>
              <a:rPr dirty="0" sz="2000" spc="-10">
                <a:latin typeface="Trebuchet MS"/>
                <a:cs typeface="Trebuchet MS"/>
              </a:rPr>
              <a:t>»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917575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Regole</a:t>
            </a:r>
            <a:r>
              <a:rPr dirty="0" sz="3550" spc="-10"/>
              <a:t> </a:t>
            </a:r>
            <a:r>
              <a:rPr dirty="0" sz="3550"/>
              <a:t>per</a:t>
            </a:r>
            <a:r>
              <a:rPr dirty="0" sz="3550" spc="-5"/>
              <a:t> </a:t>
            </a:r>
            <a:r>
              <a:rPr dirty="0" sz="3550"/>
              <a:t>gli</a:t>
            </a:r>
            <a:r>
              <a:rPr dirty="0" sz="3550" spc="-20"/>
              <a:t> </a:t>
            </a:r>
            <a:r>
              <a:rPr dirty="0" sz="3550"/>
              <a:t>attributi</a:t>
            </a:r>
            <a:r>
              <a:rPr dirty="0" sz="3550" spc="-45"/>
              <a:t> </a:t>
            </a:r>
            <a:r>
              <a:rPr dirty="0" sz="3550"/>
              <a:t>-</a:t>
            </a:r>
            <a:r>
              <a:rPr dirty="0" sz="3550" spc="-25"/>
              <a:t> </a:t>
            </a:r>
            <a:r>
              <a:rPr dirty="0" sz="3550" spc="-50"/>
              <a:t>1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495096" y="2071243"/>
            <a:ext cx="11059160" cy="3379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Art.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ter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«Effetti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giuridici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attributi».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Art.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quater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«Attestati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pubblici».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  <a:tab pos="1030605" algn="l"/>
                <a:tab pos="1445260" algn="l"/>
                <a:tab pos="2676525" algn="l"/>
                <a:tab pos="3934460" algn="l"/>
                <a:tab pos="4460240" algn="l"/>
                <a:tab pos="4880610" algn="l"/>
                <a:tab pos="6010275" algn="l"/>
                <a:tab pos="7352665" algn="l"/>
                <a:tab pos="8659495" algn="l"/>
                <a:tab pos="9020175" algn="l"/>
                <a:tab pos="10352405" algn="l"/>
              </a:tabLst>
            </a:pP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Art.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quinquies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«Requisiti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attributi».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Rinvio</a:t>
            </a:r>
            <a:endParaRPr sz="20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all’Allegato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Altri</a:t>
            </a:r>
            <a:r>
              <a:rPr dirty="0" sz="20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articoli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fino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nonies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fonti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autentiche,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settore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pubblico</a:t>
            </a:r>
            <a:r>
              <a:rPr dirty="0" sz="20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deleghe varie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rilasci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verifiche.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sexies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rinvia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all’Allegato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VI,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septies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all’Allegato</a:t>
            </a:r>
            <a:r>
              <a:rPr dirty="0" sz="20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VII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«Requisiti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rilasciati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organismo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settore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pubblico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responsabile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fonte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autentica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suo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conto».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917575">
              <a:lnSpc>
                <a:spcPct val="100000"/>
              </a:lnSpc>
              <a:spcBef>
                <a:spcPts val="105"/>
              </a:spcBef>
            </a:pPr>
            <a:r>
              <a:rPr dirty="0" sz="3550"/>
              <a:t>Regole</a:t>
            </a:r>
            <a:r>
              <a:rPr dirty="0" sz="3550" spc="-10"/>
              <a:t> </a:t>
            </a:r>
            <a:r>
              <a:rPr dirty="0" sz="3550"/>
              <a:t>per</a:t>
            </a:r>
            <a:r>
              <a:rPr dirty="0" sz="3550" spc="-5"/>
              <a:t> </a:t>
            </a:r>
            <a:r>
              <a:rPr dirty="0" sz="3550"/>
              <a:t>gli</a:t>
            </a:r>
            <a:r>
              <a:rPr dirty="0" sz="3550" spc="-20"/>
              <a:t> </a:t>
            </a:r>
            <a:r>
              <a:rPr dirty="0" sz="3550"/>
              <a:t>attributi</a:t>
            </a:r>
            <a:r>
              <a:rPr dirty="0" sz="3550" spc="-45"/>
              <a:t> </a:t>
            </a:r>
            <a:r>
              <a:rPr dirty="0" sz="3550"/>
              <a:t>-</a:t>
            </a:r>
            <a:r>
              <a:rPr dirty="0" sz="3550" spc="-25"/>
              <a:t> </a:t>
            </a:r>
            <a:r>
              <a:rPr dirty="0" sz="3550" spc="-50"/>
              <a:t>2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477113" y="1600327"/>
            <a:ext cx="1105852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40690" marR="5080" indent="-428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Nell’allegato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VI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2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viene</a:t>
            </a:r>
            <a:r>
              <a:rPr dirty="0" sz="18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stabilito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l’elenco</a:t>
            </a:r>
            <a:r>
              <a:rPr dirty="0" sz="18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minimo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Stati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membri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garantiscono</a:t>
            </a:r>
            <a:r>
              <a:rPr dirty="0" sz="18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l’adozione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misure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volte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consentire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ai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prestatori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800" spc="3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verificare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mezzi</a:t>
            </a:r>
            <a:r>
              <a:rPr dirty="0" sz="18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elettronici,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su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richiesta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dell’utente, l’autenticità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8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elencati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rispetto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pertinente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fonte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autentica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livello</a:t>
            </a:r>
            <a:r>
              <a:rPr dirty="0" sz="18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nazionale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(ecc.).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algn="just" marL="440690" marR="5080" indent="-428625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Indirizzo,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età,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genere,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civile,</a:t>
            </a:r>
            <a:r>
              <a:rPr dirty="0" sz="18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composizione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nucleo</a:t>
            </a:r>
            <a:r>
              <a:rPr dirty="0" sz="1800" spc="3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familiare,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nazionalità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cittadinanza,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titoli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licenze</a:t>
            </a:r>
            <a:r>
              <a:rPr dirty="0" sz="18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studio,</a:t>
            </a:r>
            <a:r>
              <a:rPr dirty="0" sz="18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qualifiche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licenze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professionali,</a:t>
            </a:r>
            <a:r>
              <a:rPr dirty="0" sz="18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poteri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mandati</a:t>
            </a:r>
            <a:r>
              <a:rPr dirty="0" sz="18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rappresentanza</a:t>
            </a:r>
            <a:r>
              <a:rPr dirty="0" sz="18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persone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fisiche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giuridiche,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permessi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licenze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pubblici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persone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giuridiche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finanziari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societari.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algn="just" marL="440690" marR="6350" indent="-4286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verifiche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possono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dirette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intermediari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designati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riconosciuti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livello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nazionale,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conformemente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diritto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dell’Unione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diritto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nazionale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qualora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attributi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facciano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affidamento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su</a:t>
            </a:r>
            <a:r>
              <a:rPr dirty="0" sz="1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fonti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autentiche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all’interno</a:t>
            </a:r>
            <a:r>
              <a:rPr dirty="0" sz="1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settore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pubblico.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primarie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stabilite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sezione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9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completamente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dedicata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agli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attestati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endParaRPr sz="18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attributi.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4198" rIns="0" bIns="0" rtlCol="0" vert="horz">
            <a:spAutoFit/>
          </a:bodyPr>
          <a:lstStyle/>
          <a:p>
            <a:pPr marL="1179830">
              <a:lnSpc>
                <a:spcPct val="100000"/>
              </a:lnSpc>
              <a:spcBef>
                <a:spcPts val="105"/>
              </a:spcBef>
            </a:pPr>
            <a:r>
              <a:rPr dirty="0" sz="3550" spc="-10"/>
              <a:t>Nell’IT-</a:t>
            </a:r>
            <a:r>
              <a:rPr dirty="0" sz="3550"/>
              <a:t>Wallet</a:t>
            </a:r>
            <a:r>
              <a:rPr dirty="0" sz="3550" spc="20"/>
              <a:t> </a:t>
            </a:r>
            <a:r>
              <a:rPr dirty="0" sz="3550" spc="-10"/>
              <a:t>avremo…</a:t>
            </a:r>
            <a:endParaRPr sz="3550"/>
          </a:p>
        </p:txBody>
      </p:sp>
      <p:sp>
        <p:nvSpPr>
          <p:cNvPr id="3" name="object 3" descr=""/>
          <p:cNvSpPr txBox="1"/>
          <p:nvPr/>
        </p:nvSpPr>
        <p:spPr>
          <a:xfrm>
            <a:off x="477113" y="1752980"/>
            <a:ext cx="1105852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3600" spc="-50">
                <a:solidFill>
                  <a:srgbClr val="44536A"/>
                </a:solidFill>
                <a:latin typeface="Trebuchet MS"/>
                <a:cs typeface="Trebuchet MS"/>
              </a:rPr>
              <a:t>Tessera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sanitaria</a:t>
            </a:r>
            <a:r>
              <a:rPr dirty="0" sz="36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(che</a:t>
            </a:r>
            <a:r>
              <a:rPr dirty="0" sz="36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36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36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36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CNS).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44536A"/>
              </a:buClr>
              <a:buFont typeface="Arial"/>
              <a:buChar char="•"/>
            </a:pPr>
            <a:endParaRPr sz="36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Patente</a:t>
            </a:r>
            <a:r>
              <a:rPr dirty="0" sz="3600" spc="-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 spc="-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guida.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44536A"/>
              </a:buClr>
              <a:buFont typeface="Arial"/>
              <a:buChar char="•"/>
            </a:pPr>
            <a:endParaRPr sz="36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Carta</a:t>
            </a:r>
            <a:r>
              <a:rPr dirty="0" sz="36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europea</a:t>
            </a:r>
            <a:r>
              <a:rPr dirty="0" sz="3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disabilità.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44536A"/>
              </a:buClr>
              <a:buFont typeface="Arial"/>
              <a:buChar char="•"/>
            </a:pPr>
            <a:endParaRPr sz="3600">
              <a:latin typeface="Trebuchet MS"/>
              <a:cs typeface="Trebuchet MS"/>
            </a:endParaRPr>
          </a:p>
          <a:p>
            <a:pPr marL="440690" marR="5080" indent="-4286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  <a:tab pos="4411345" algn="l"/>
                <a:tab pos="6400165" algn="l"/>
                <a:tab pos="9134475" algn="l"/>
                <a:tab pos="10660380" algn="l"/>
              </a:tabLst>
            </a:pP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Successivamente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tessera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elettorale,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titoli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studio,</a:t>
            </a:r>
            <a:r>
              <a:rPr dirty="0" sz="36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titoli</a:t>
            </a:r>
            <a:r>
              <a:rPr dirty="0" sz="36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professionali,</a:t>
            </a:r>
            <a:r>
              <a:rPr dirty="0" sz="36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20">
                <a:solidFill>
                  <a:srgbClr val="44536A"/>
                </a:solidFill>
                <a:latin typeface="Trebuchet MS"/>
                <a:cs typeface="Trebuchet MS"/>
              </a:rPr>
              <a:t>ecc.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8631" y="2703703"/>
            <a:ext cx="10425430" cy="2220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  <a:tabLst>
                <a:tab pos="1393190" algn="l"/>
                <a:tab pos="4274185" algn="l"/>
                <a:tab pos="5779770" algn="l"/>
                <a:tab pos="8778240" algn="l"/>
                <a:tab pos="9317355" algn="l"/>
              </a:tabLst>
            </a:pP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36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36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36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36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gestione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dispositivi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36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creazione</a:t>
            </a:r>
            <a:r>
              <a:rPr dirty="0" sz="3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3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36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3600" spc="-50">
                <a:solidFill>
                  <a:srgbClr val="44536A"/>
                </a:solidFill>
                <a:latin typeface="Trebuchet MS"/>
                <a:cs typeface="Trebuchet MS"/>
              </a:rPr>
              <a:t> a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distanza</a:t>
            </a:r>
            <a:r>
              <a:rPr dirty="0" sz="36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36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36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 creazione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sigillo</a:t>
            </a:r>
            <a:r>
              <a:rPr dirty="0" sz="3600" spc="-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36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5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distanza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87503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UN</a:t>
            </a:r>
            <a:r>
              <a:rPr dirty="0" sz="2700" spc="-25"/>
              <a:t> </a:t>
            </a:r>
            <a:r>
              <a:rPr dirty="0" sz="2700"/>
              <a:t>NUOVO</a:t>
            </a:r>
            <a:r>
              <a:rPr dirty="0" sz="2700" spc="-25"/>
              <a:t> </a:t>
            </a:r>
            <a:r>
              <a:rPr dirty="0" sz="2700"/>
              <a:t>SERVIZIO</a:t>
            </a:r>
            <a:r>
              <a:rPr dirty="0" sz="2700" spc="-40"/>
              <a:t> </a:t>
            </a:r>
            <a:r>
              <a:rPr dirty="0" sz="2700" spc="-10"/>
              <a:t>FIDUCIARIO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1729867"/>
            <a:ext cx="11061065" cy="3729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36245" marR="5080" indent="-42418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0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(sigillo)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remota era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già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possibile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regolamento eIDAS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vigente.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Tale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una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particolare</a:t>
            </a:r>
            <a:r>
              <a:rPr dirty="0" sz="20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modalità</a:t>
            </a:r>
            <a:r>
              <a:rPr dirty="0" sz="2000" spc="3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apposizione</a:t>
            </a:r>
            <a:r>
              <a:rPr dirty="0" sz="20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0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0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(sigillo)</a:t>
            </a:r>
            <a:r>
              <a:rPr dirty="0" sz="20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ma</a:t>
            </a:r>
            <a:r>
              <a:rPr dirty="0" sz="20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0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stesse</a:t>
            </a:r>
            <a:r>
              <a:rPr dirty="0" sz="20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delle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firme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elettroniche</a:t>
            </a:r>
            <a:r>
              <a:rPr dirty="0" sz="20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(semplice,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avanzata,</a:t>
            </a:r>
            <a:r>
              <a:rPr dirty="0" sz="20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qualificata).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3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2000" spc="3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introduce</a:t>
            </a:r>
            <a:r>
              <a:rPr dirty="0" sz="2000" spc="3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uno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specifico</a:t>
            </a:r>
            <a:r>
              <a:rPr dirty="0" sz="2000" spc="3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2000" spc="3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“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100" spc="40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21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100" spc="2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100" spc="1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1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2100" spc="2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20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1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1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1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100" spc="1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distanza</a:t>
            </a:r>
            <a:r>
              <a:rPr dirty="0" sz="2100" spc="2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1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20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1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1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la 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21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1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sigillo</a:t>
            </a:r>
            <a:r>
              <a:rPr dirty="0" sz="21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1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1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 i="1">
                <a:solidFill>
                  <a:srgbClr val="44536A"/>
                </a:solidFill>
                <a:latin typeface="Trebuchet MS"/>
                <a:cs typeface="Trebuchet MS"/>
              </a:rPr>
              <a:t>distanza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”.</a:t>
            </a:r>
            <a:endParaRPr sz="21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spcBef>
                <a:spcPts val="24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Essendo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può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qualificato.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6350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4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meglio</a:t>
            </a:r>
            <a:r>
              <a:rPr dirty="0" sz="2000" spc="4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comprendere</a:t>
            </a:r>
            <a:r>
              <a:rPr dirty="0" sz="2000" spc="43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spirito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Legislatore</a:t>
            </a:r>
            <a:r>
              <a:rPr dirty="0" sz="20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comunitario</a:t>
            </a:r>
            <a:r>
              <a:rPr dirty="0" sz="20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</a:t>
            </a:r>
            <a:r>
              <a:rPr dirty="0" sz="20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nuovo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servizio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utile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lettura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Considerando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(64).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4774" rIns="0" bIns="0" rtlCol="0" vert="horz">
            <a:spAutoFit/>
          </a:bodyPr>
          <a:lstStyle/>
          <a:p>
            <a:pPr marL="823594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CONSIDERANDO</a:t>
            </a:r>
            <a:r>
              <a:rPr dirty="0" sz="4400" spc="-75"/>
              <a:t> </a:t>
            </a:r>
            <a:r>
              <a:rPr dirty="0" sz="4400" spc="-20"/>
              <a:t>(64)</a:t>
            </a:r>
            <a:endParaRPr sz="4400"/>
          </a:p>
        </p:txBody>
      </p:sp>
      <p:sp>
        <p:nvSpPr>
          <p:cNvPr id="3" name="object 3" descr=""/>
          <p:cNvSpPr/>
          <p:nvPr/>
        </p:nvSpPr>
        <p:spPr>
          <a:xfrm>
            <a:off x="3513582" y="1023366"/>
            <a:ext cx="5588635" cy="0"/>
          </a:xfrm>
          <a:custGeom>
            <a:avLst/>
            <a:gdLst/>
            <a:ahLst/>
            <a:cxnLst/>
            <a:rect l="l" t="t" r="r" b="b"/>
            <a:pathLst>
              <a:path w="5588634" h="0">
                <a:moveTo>
                  <a:pt x="0" y="0"/>
                </a:moveTo>
                <a:lnTo>
                  <a:pt x="5588381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50391" y="1562861"/>
            <a:ext cx="9493885" cy="47275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200"/>
              </a:lnSpc>
              <a:spcBef>
                <a:spcPts val="90"/>
              </a:spcBef>
            </a:pPr>
            <a:r>
              <a:rPr dirty="0" sz="2200" i="1">
                <a:latin typeface="Calibri"/>
                <a:cs typeface="Calibri"/>
              </a:rPr>
              <a:t>(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64)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45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garantire</a:t>
            </a:r>
            <a:r>
              <a:rPr dirty="0" sz="2200" spc="4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4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coerenza</a:t>
            </a:r>
            <a:r>
              <a:rPr dirty="0" sz="2200" spc="4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200" spc="4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pratiche</a:t>
            </a:r>
            <a:r>
              <a:rPr dirty="0" sz="2200" spc="4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4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200" spc="4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4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tutta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l'Unione,</a:t>
            </a:r>
            <a:r>
              <a:rPr dirty="0" sz="2200" spc="3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3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22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dovrebbe</a:t>
            </a:r>
            <a:r>
              <a:rPr dirty="0" sz="2200" spc="3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emanare</a:t>
            </a:r>
            <a:r>
              <a:rPr dirty="0" sz="2200" spc="3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orientamenti</a:t>
            </a:r>
            <a:r>
              <a:rPr dirty="0" sz="2200" spc="3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3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materia</a:t>
            </a:r>
            <a:r>
              <a:rPr dirty="0" sz="2200" spc="3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2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ricertificazione</a:t>
            </a:r>
            <a:r>
              <a:rPr dirty="0" sz="22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creazione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2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2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22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22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sigillo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elettronico,</a:t>
            </a:r>
            <a:r>
              <a:rPr dirty="0" sz="22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2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riguarda</a:t>
            </a:r>
            <a:r>
              <a:rPr dirty="0" sz="22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loro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validità</a:t>
            </a:r>
            <a:r>
              <a:rPr dirty="0" sz="22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2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relative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limitazioni</a:t>
            </a:r>
            <a:r>
              <a:rPr dirty="0" sz="2200" spc="27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temporali.</a:t>
            </a:r>
            <a:r>
              <a:rPr dirty="0" sz="2200" spc="27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2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presente</a:t>
            </a:r>
            <a:r>
              <a:rPr dirty="0" sz="2200" spc="28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200" spc="2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200" spc="27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impedisce</a:t>
            </a:r>
            <a:r>
              <a:rPr dirty="0" sz="2200" spc="28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200" spc="-20" i="1">
                <a:solidFill>
                  <a:srgbClr val="44536A"/>
                </a:solidFill>
                <a:latin typeface="Trebuchet MS"/>
                <a:cs typeface="Trebuchet MS"/>
              </a:rPr>
              <a:t>agli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organismi pubblici</a:t>
            </a:r>
            <a:r>
              <a:rPr dirty="0" sz="22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2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privati che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dispongono di</a:t>
            </a:r>
            <a:r>
              <a:rPr dirty="0" sz="22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2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22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Trebuchet MS"/>
                <a:cs typeface="Trebuchet MS"/>
              </a:rPr>
              <a:t>la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200" spc="225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200" spc="215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certificati</a:t>
            </a:r>
            <a:r>
              <a:rPr dirty="0" sz="2200" spc="225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 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ricertificare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temporaneamente</a:t>
            </a:r>
            <a:r>
              <a:rPr dirty="0" sz="22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2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2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20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2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breve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periodo</a:t>
            </a:r>
            <a:r>
              <a:rPr dirty="0" sz="2200" spc="2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certificazione,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sulla</a:t>
            </a:r>
            <a:r>
              <a:rPr dirty="0" sz="22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base</a:t>
            </a:r>
            <a:r>
              <a:rPr dirty="0" sz="22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risultati</a:t>
            </a:r>
            <a:r>
              <a:rPr dirty="0" sz="22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processo</a:t>
            </a:r>
            <a:r>
              <a:rPr dirty="0" sz="2200" spc="1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200" spc="1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precedente,</a:t>
            </a:r>
            <a:r>
              <a:rPr dirty="0" sz="2200" spc="1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qualora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tale</a:t>
            </a:r>
            <a:r>
              <a:rPr dirty="0" sz="22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ricertificazione</a:t>
            </a:r>
            <a:r>
              <a:rPr dirty="0" sz="22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2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possa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effettuata</a:t>
            </a:r>
            <a:r>
              <a:rPr dirty="0" sz="22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22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termine</a:t>
            </a:r>
            <a:r>
              <a:rPr dirty="0" sz="22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stabilito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legge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motivo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diverso</a:t>
            </a:r>
            <a:r>
              <a:rPr dirty="0" sz="22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violazione</a:t>
            </a:r>
            <a:r>
              <a:rPr dirty="0" sz="22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2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2200" spc="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2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2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incidente</a:t>
            </a:r>
            <a:r>
              <a:rPr dirty="0" sz="2200" spc="25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sicurezza,</a:t>
            </a:r>
            <a:r>
              <a:rPr dirty="0" sz="2200" spc="2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fatto</a:t>
            </a:r>
            <a:r>
              <a:rPr dirty="0" sz="2200" spc="2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salvo</a:t>
            </a:r>
            <a:r>
              <a:rPr dirty="0" sz="2200" spc="2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l’obbligo</a:t>
            </a:r>
            <a:r>
              <a:rPr dirty="0" sz="2200" spc="2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condurre</a:t>
            </a:r>
            <a:r>
              <a:rPr dirty="0" sz="22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200" spc="2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valutazione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2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vulnerabilità</a:t>
            </a:r>
            <a:r>
              <a:rPr dirty="0" sz="22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fatta</a:t>
            </a:r>
            <a:r>
              <a:rPr dirty="0" sz="22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salva</a:t>
            </a:r>
            <a:r>
              <a:rPr dirty="0" sz="22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pratica</a:t>
            </a:r>
            <a:r>
              <a:rPr dirty="0" sz="22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200" spc="-10" i="1">
                <a:solidFill>
                  <a:srgbClr val="44536A"/>
                </a:solidFill>
                <a:latin typeface="Trebuchet MS"/>
                <a:cs typeface="Trebuchet MS"/>
              </a:rPr>
              <a:t> applicabile.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439" rIns="0" bIns="0" rtlCol="0" vert="horz">
            <a:spAutoFit/>
          </a:bodyPr>
          <a:lstStyle/>
          <a:p>
            <a:pPr marL="70739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DEFINIZIONI</a:t>
            </a:r>
            <a:r>
              <a:rPr dirty="0" sz="3600" spc="-105"/>
              <a:t> </a:t>
            </a:r>
            <a:r>
              <a:rPr dirty="0" sz="3600"/>
              <a:t>IN</a:t>
            </a:r>
            <a:r>
              <a:rPr dirty="0" sz="3600" spc="-75"/>
              <a:t> </a:t>
            </a:r>
            <a:r>
              <a:rPr dirty="0" sz="3600"/>
              <a:t>EIDAS</a:t>
            </a:r>
            <a:r>
              <a:rPr dirty="0" sz="3600" spc="-80"/>
              <a:t> </a:t>
            </a:r>
            <a:r>
              <a:rPr dirty="0" sz="3600" spc="-25"/>
              <a:t>2.0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13814" y="1876424"/>
            <a:ext cx="9841865" cy="3043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“(23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bis)</a:t>
            </a:r>
            <a:r>
              <a:rPr dirty="0" sz="2200" spc="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dispositivo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2200" spc="6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dirty="0" sz="2200" spc="6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dirty="0" sz="2200" spc="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firma</a:t>
            </a:r>
            <a:r>
              <a:rPr dirty="0" sz="2200" spc="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elettronica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dirty="0" sz="2200" spc="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distanza,</a:t>
            </a:r>
            <a:r>
              <a:rPr dirty="0" sz="2200" spc="6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dispositivo</a:t>
            </a:r>
            <a:r>
              <a:rPr dirty="0" sz="2200" spc="28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29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29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2200" spc="30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dirty="0" sz="2200" spc="30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30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dirty="0" sz="2200" spc="29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firma</a:t>
            </a:r>
            <a:r>
              <a:rPr dirty="0" sz="2200" spc="30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elettronica,</a:t>
            </a:r>
            <a:r>
              <a:rPr dirty="0" sz="2200" spc="27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dirty="0" sz="2200" spc="30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è</a:t>
            </a:r>
            <a:r>
              <a:rPr dirty="0" sz="2200" spc="29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gestito</a:t>
            </a:r>
            <a:r>
              <a:rPr dirty="0" sz="2200" spc="29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da</a:t>
            </a:r>
            <a:r>
              <a:rPr dirty="0" sz="2200" spc="30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un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prestatore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3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servizi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fiduciari</a:t>
            </a:r>
            <a:r>
              <a:rPr dirty="0" sz="2200" spc="3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conformemente</a:t>
            </a:r>
            <a:r>
              <a:rPr dirty="0" sz="2200" spc="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all’articolo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29</a:t>
            </a:r>
            <a:r>
              <a:rPr dirty="0" sz="2200" spc="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bis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3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conto</a:t>
            </a:r>
            <a:r>
              <a:rPr dirty="0" sz="2200" spc="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di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-1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Calibri"/>
                <a:cs typeface="Calibri"/>
              </a:rPr>
              <a:t>firmatario”;</a:t>
            </a:r>
            <a:endParaRPr sz="22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2645"/>
              </a:spcBef>
            </a:pP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“(23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ter)</a:t>
            </a:r>
            <a:r>
              <a:rPr dirty="0" sz="2200" spc="11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dispositivo</a:t>
            </a:r>
            <a:r>
              <a:rPr dirty="0" sz="2200" spc="11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13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11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sigillo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elettronico</a:t>
            </a:r>
            <a:r>
              <a:rPr dirty="0" sz="2200" spc="12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12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dirty="0" sz="2200" spc="11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distanza,</a:t>
            </a:r>
            <a:r>
              <a:rPr dirty="0" sz="2200" spc="12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dispositivo</a:t>
            </a:r>
            <a:r>
              <a:rPr dirty="0" sz="2200" spc="3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36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3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2200" spc="3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dirty="0" sz="2200" spc="37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36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3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sigillo</a:t>
            </a:r>
            <a:r>
              <a:rPr dirty="0" sz="2200" spc="3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elettronico,</a:t>
            </a:r>
            <a:r>
              <a:rPr dirty="0" sz="2200" spc="3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dirty="0" sz="2200" spc="3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è</a:t>
            </a:r>
            <a:r>
              <a:rPr dirty="0" sz="2200" spc="37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gestito</a:t>
            </a:r>
            <a:r>
              <a:rPr dirty="0" sz="2200" spc="36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da</a:t>
            </a:r>
            <a:r>
              <a:rPr dirty="0" sz="2200" spc="3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un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prestatore</a:t>
            </a:r>
            <a:r>
              <a:rPr dirty="0" sz="2200" spc="3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servizi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fiduciari</a:t>
            </a:r>
            <a:r>
              <a:rPr dirty="0" sz="2200" spc="3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qualificato</a:t>
            </a:r>
            <a:r>
              <a:rPr dirty="0" sz="2200" spc="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conformemente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all'articolo</a:t>
            </a:r>
            <a:r>
              <a:rPr dirty="0" sz="2200" spc="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39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bis</a:t>
            </a:r>
            <a:r>
              <a:rPr dirty="0" sz="2200" spc="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2200" spc="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conto</a:t>
            </a:r>
            <a:r>
              <a:rPr dirty="0" sz="2200" spc="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25" i="1">
                <a:solidFill>
                  <a:srgbClr val="44536A"/>
                </a:solidFill>
                <a:latin typeface="Calibri"/>
                <a:cs typeface="Calibri"/>
              </a:rPr>
              <a:t>di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-2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creatore</a:t>
            </a:r>
            <a:r>
              <a:rPr dirty="0" sz="2200" spc="-1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2200" spc="-2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2200" spc="-1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44536A"/>
                </a:solidFill>
                <a:latin typeface="Calibri"/>
                <a:cs typeface="Calibri"/>
              </a:rPr>
              <a:t>sigillo;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5153" rIns="0" bIns="0" rtlCol="0" vert="horz">
            <a:spAutoFit/>
          </a:bodyPr>
          <a:lstStyle/>
          <a:p>
            <a:pPr marL="142748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LE</a:t>
            </a:r>
            <a:r>
              <a:rPr dirty="0" sz="3300" spc="-35"/>
              <a:t> </a:t>
            </a:r>
            <a:r>
              <a:rPr dirty="0" sz="3300"/>
              <a:t>REGOLE</a:t>
            </a:r>
            <a:r>
              <a:rPr dirty="0" sz="3300" spc="-35"/>
              <a:t> </a:t>
            </a:r>
            <a:r>
              <a:rPr dirty="0" sz="3300" spc="-10"/>
              <a:t>SPECIFICHE</a:t>
            </a:r>
            <a:endParaRPr sz="330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70179" y="1418590"/>
            <a:ext cx="11577955" cy="4974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Articolo</a:t>
            </a:r>
            <a:r>
              <a:rPr dirty="0" sz="1800" spc="-3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29</a:t>
            </a:r>
            <a:r>
              <a:rPr dirty="0" sz="1800" spc="-1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bis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Requisiti</a:t>
            </a:r>
            <a:r>
              <a:rPr dirty="0" sz="1800" spc="-3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relativi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dirty="0" sz="1800" spc="-2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servizi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qualificati</a:t>
            </a:r>
            <a:r>
              <a:rPr dirty="0" sz="1800" spc="-4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1800" spc="-1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gestione</a:t>
            </a:r>
            <a:r>
              <a:rPr dirty="0" sz="1800" spc="-1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dispositivi</a:t>
            </a:r>
            <a:r>
              <a:rPr dirty="0" sz="1800" spc="-1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qualificati</a:t>
            </a:r>
            <a:r>
              <a:rPr dirty="0" sz="1800" spc="-4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1800" spc="-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-2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dirty="0" sz="1800" spc="-3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2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dirty="0" sz="1800" spc="-25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firma</a:t>
            </a:r>
            <a:r>
              <a:rPr dirty="0" sz="1800" spc="-1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Calibri"/>
                <a:cs typeface="Calibri"/>
              </a:rPr>
              <a:t>elettronica</a:t>
            </a:r>
            <a:r>
              <a:rPr dirty="0" sz="1800" spc="-40" b="1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50" b="1" i="1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 i="1">
                <a:solidFill>
                  <a:srgbClr val="44536A"/>
                </a:solidFill>
                <a:latin typeface="Calibri"/>
                <a:cs typeface="Calibri"/>
              </a:rPr>
              <a:t>distanza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00">
              <a:latin typeface="Calibri"/>
              <a:cs typeface="Calibri"/>
            </a:endParaRPr>
          </a:p>
          <a:p>
            <a:pPr marL="269875" marR="5080" indent="-257810">
              <a:lnSpc>
                <a:spcPct val="100000"/>
              </a:lnSpc>
              <a:buAutoNum type="arabicPeriod"/>
              <a:tabLst>
                <a:tab pos="269875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4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distanza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14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14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4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effettuata</a:t>
            </a:r>
            <a:r>
              <a:rPr dirty="0" sz="14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solo</a:t>
            </a:r>
            <a:r>
              <a:rPr dirty="0" sz="14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4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prestatore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1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1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che: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44536A"/>
              </a:buClr>
              <a:buFont typeface="Trebuchet MS"/>
              <a:buAutoNum type="arabicPeriod"/>
            </a:pPr>
            <a:endParaRPr sz="1400">
              <a:latin typeface="Trebuchet MS"/>
              <a:cs typeface="Trebuchet MS"/>
            </a:endParaRPr>
          </a:p>
          <a:p>
            <a:pPr lvl="1" marL="225425" indent="-212725">
              <a:lnSpc>
                <a:spcPct val="100000"/>
              </a:lnSpc>
              <a:buAutoNum type="alphaLcParenR"/>
              <a:tabLst>
                <a:tab pos="225425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genera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gestisce</a:t>
            </a:r>
            <a:r>
              <a:rPr dirty="0" sz="1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firma elettronica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conto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firmatario;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44536A"/>
              </a:buClr>
              <a:buFont typeface="Trebuchet MS"/>
              <a:buAutoNum type="alphaLcParenR"/>
            </a:pPr>
            <a:endParaRPr sz="1400">
              <a:latin typeface="Trebuchet MS"/>
              <a:cs typeface="Trebuchet MS"/>
            </a:endParaRPr>
          </a:p>
          <a:p>
            <a:pPr lvl="1" marL="12700" marR="5080" indent="229235">
              <a:lnSpc>
                <a:spcPct val="100000"/>
              </a:lnSpc>
              <a:buAutoNum type="alphaLcParenR"/>
              <a:tabLst>
                <a:tab pos="241935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fatto</a:t>
            </a:r>
            <a:r>
              <a:rPr dirty="0" sz="14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salvo</a:t>
            </a:r>
            <a:r>
              <a:rPr dirty="0" sz="14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l'allegato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II,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punto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1,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lettera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d),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duplica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solo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fini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back-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up,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4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condizione</a:t>
            </a:r>
            <a:r>
              <a:rPr dirty="0" sz="14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che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siano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soddisfatti</a:t>
            </a:r>
            <a:r>
              <a:rPr dirty="0" sz="1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seguenti:</a:t>
            </a:r>
            <a:endParaRPr sz="1400">
              <a:latin typeface="Trebuchet MS"/>
              <a:cs typeface="Trebuchet MS"/>
            </a:endParaRPr>
          </a:p>
          <a:p>
            <a:pPr lvl="2" marL="1096010" marR="2343150" indent="-168910">
              <a:lnSpc>
                <a:spcPct val="100000"/>
              </a:lnSpc>
              <a:buAutoNum type="romanLcParenR"/>
              <a:tabLst>
                <a:tab pos="1146810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insiemi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duplicati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stesso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livello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insiemi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 originali;</a:t>
            </a:r>
            <a:endParaRPr sz="1400">
              <a:latin typeface="Trebuchet MS"/>
              <a:cs typeface="Trebuchet MS"/>
            </a:endParaRPr>
          </a:p>
          <a:p>
            <a:pPr lvl="2" marL="1146175" indent="-219075">
              <a:lnSpc>
                <a:spcPct val="100000"/>
              </a:lnSpc>
              <a:buAutoNum type="romanLcParenR"/>
              <a:tabLst>
                <a:tab pos="1146175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numero</a:t>
            </a:r>
            <a:r>
              <a:rPr dirty="0" sz="1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insiemi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duplicati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deve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eccedere</a:t>
            </a:r>
            <a:r>
              <a:rPr dirty="0" sz="1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4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minimo</a:t>
            </a:r>
            <a:r>
              <a:rPr dirty="0" sz="1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necessario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garantire 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endParaRPr sz="1400">
              <a:latin typeface="Trebuchet MS"/>
              <a:cs typeface="Trebuchet MS"/>
            </a:endParaRPr>
          </a:p>
          <a:p>
            <a:pPr marL="120015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continuità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servizio;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lvl="1" marL="12700" marR="5715" indent="216535">
              <a:lnSpc>
                <a:spcPct val="100000"/>
              </a:lnSpc>
              <a:buAutoNum type="alphaLcParenR" startAt="3"/>
              <a:tabLst>
                <a:tab pos="229235" algn="l"/>
              </a:tabLst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soddisfa</a:t>
            </a:r>
            <a:r>
              <a:rPr dirty="0" sz="14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indicati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14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relazione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14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specifico</a:t>
            </a:r>
            <a:r>
              <a:rPr dirty="0" sz="14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dispositivo</a:t>
            </a:r>
            <a:r>
              <a:rPr dirty="0" sz="14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4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4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4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4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44536A"/>
                </a:solidFill>
                <a:latin typeface="Trebuchet MS"/>
                <a:cs typeface="Trebuchet MS"/>
              </a:rPr>
              <a:t>a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distanza,</a:t>
            </a:r>
            <a:r>
              <a:rPr dirty="0" sz="1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rilasciata</a:t>
            </a:r>
            <a:r>
              <a:rPr dirty="0" sz="1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norma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dell'articolo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30.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2.</a:t>
            </a:r>
            <a:r>
              <a:rPr dirty="0" sz="14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21</a:t>
            </a:r>
            <a:r>
              <a:rPr dirty="0" sz="14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maggio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2025</a:t>
            </a:r>
            <a:r>
              <a:rPr dirty="0" sz="14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Commissione,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4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esecuzione,</a:t>
            </a:r>
            <a:r>
              <a:rPr dirty="0" sz="14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14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elenco</a:t>
            </a:r>
            <a:r>
              <a:rPr dirty="0" sz="14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norme</a:t>
            </a:r>
            <a:r>
              <a:rPr dirty="0" sz="14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e,</a:t>
            </a:r>
            <a:r>
              <a:rPr dirty="0" sz="14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se</a:t>
            </a:r>
            <a:r>
              <a:rPr dirty="0" sz="14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4536A"/>
                </a:solidFill>
                <a:latin typeface="Trebuchet MS"/>
                <a:cs typeface="Trebuchet MS"/>
              </a:rPr>
              <a:t>necessario,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specifiche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procedure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ai</a:t>
            </a:r>
            <a:r>
              <a:rPr dirty="0" sz="14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fini</a:t>
            </a:r>
            <a:r>
              <a:rPr dirty="0" sz="14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4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1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4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presente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articolo.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esecuzione</a:t>
            </a:r>
            <a:r>
              <a:rPr dirty="0" sz="14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4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adottati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secondo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procedura</a:t>
            </a:r>
            <a:r>
              <a:rPr dirty="0" sz="14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d'esame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cui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all'articolo</a:t>
            </a:r>
            <a:r>
              <a:rPr dirty="0" sz="1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48,</a:t>
            </a:r>
            <a:r>
              <a:rPr dirty="0" sz="1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1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44536A"/>
                </a:solidFill>
                <a:latin typeface="Trebuchet MS"/>
                <a:cs typeface="Trebuchet MS"/>
              </a:rPr>
              <a:t>2.";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439" rIns="0" bIns="0" rtlCol="0" vert="horz">
            <a:spAutoFit/>
          </a:bodyPr>
          <a:lstStyle/>
          <a:p>
            <a:pPr marL="232029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L’ALLEGATO</a:t>
            </a:r>
            <a:r>
              <a:rPr dirty="0" sz="3600" spc="-265"/>
              <a:t> </a:t>
            </a:r>
            <a:r>
              <a:rPr dirty="0" sz="3600" spc="-25"/>
              <a:t>II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3842765" y="1023366"/>
            <a:ext cx="5067300" cy="0"/>
          </a:xfrm>
          <a:custGeom>
            <a:avLst/>
            <a:gdLst/>
            <a:ahLst/>
            <a:cxnLst/>
            <a:rect l="l" t="t" r="r" b="b"/>
            <a:pathLst>
              <a:path w="5067300" h="0">
                <a:moveTo>
                  <a:pt x="0" y="0"/>
                </a:moveTo>
                <a:lnTo>
                  <a:pt x="5067045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45388" y="1330909"/>
            <a:ext cx="10526395" cy="523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62560">
              <a:lnSpc>
                <a:spcPct val="100000"/>
              </a:lnSpc>
              <a:spcBef>
                <a:spcPts val="100"/>
              </a:spcBef>
            </a:pPr>
            <a:r>
              <a:rPr dirty="0" sz="1800" spc="-30" b="1" i="1">
                <a:solidFill>
                  <a:srgbClr val="44536A"/>
                </a:solidFill>
                <a:latin typeface="Trebuchet MS"/>
                <a:cs typeface="Trebuchet MS"/>
              </a:rPr>
              <a:t>«ALLEGATO</a:t>
            </a:r>
            <a:r>
              <a:rPr dirty="0" sz="1800" spc="-9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 b="1" i="1">
                <a:solidFill>
                  <a:srgbClr val="44536A"/>
                </a:solidFill>
                <a:latin typeface="Trebuchet MS"/>
                <a:cs typeface="Trebuchet MS"/>
              </a:rPr>
              <a:t>II</a:t>
            </a:r>
            <a:endParaRPr sz="1800">
              <a:latin typeface="Trebuchet MS"/>
              <a:cs typeface="Trebuchet MS"/>
            </a:endParaRPr>
          </a:p>
          <a:p>
            <a:pPr algn="ctr" marL="158115">
              <a:lnSpc>
                <a:spcPct val="100000"/>
              </a:lnSpc>
              <a:spcBef>
                <a:spcPts val="5"/>
              </a:spcBef>
            </a:pP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18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1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8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800" spc="-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800" spc="-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rebuchet MS"/>
              <a:cs typeface="Trebuchet MS"/>
            </a:endParaRPr>
          </a:p>
          <a:p>
            <a:pPr marL="269875" marR="5080" indent="-257810">
              <a:lnSpc>
                <a:spcPct val="100000"/>
              </a:lnSpc>
              <a:buAutoNum type="arabicPeriod"/>
              <a:tabLst>
                <a:tab pos="26987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garantiscono,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adeguati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mezzi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tecnici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procedurali,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almeno: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44536A"/>
              </a:buClr>
              <a:buFont typeface="Trebuchet MS"/>
              <a:buAutoNum type="arabicPeriod"/>
            </a:pPr>
            <a:endParaRPr sz="1600">
              <a:latin typeface="Trebuchet MS"/>
              <a:cs typeface="Trebuchet MS"/>
            </a:endParaRPr>
          </a:p>
          <a:p>
            <a:pPr lvl="1" marL="12700" marR="817880" indent="315595">
              <a:lnSpc>
                <a:spcPct val="100000"/>
              </a:lnSpc>
              <a:spcBef>
                <a:spcPts val="5"/>
              </a:spcBef>
              <a:buAutoNum type="alphaLcParenBoth"/>
              <a:tabLst>
                <a:tab pos="32829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riservatezza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utilizzati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600" spc="-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ragionevolmente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garantita;</a:t>
            </a:r>
            <a:endParaRPr sz="1600">
              <a:latin typeface="Trebuchet MS"/>
              <a:cs typeface="Trebuchet MS"/>
            </a:endParaRPr>
          </a:p>
          <a:p>
            <a:pPr lvl="1" marL="12700" marR="591820" indent="321310">
              <a:lnSpc>
                <a:spcPct val="100000"/>
              </a:lnSpc>
              <a:buAutoNum type="alphaLcParenBoth"/>
              <a:tabLst>
                <a:tab pos="33401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utilizzati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possono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comparire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pratica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sola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volta;</a:t>
            </a:r>
            <a:endParaRPr sz="1600">
              <a:latin typeface="Trebuchet MS"/>
              <a:cs typeface="Trebuchet MS"/>
            </a:endParaRPr>
          </a:p>
          <a:p>
            <a:pPr marL="12700" marR="103505" indent="229235">
              <a:lnSpc>
                <a:spcPct val="100000"/>
              </a:lnSpc>
              <a:buAutoNum type="alphaLcParenR" startAt="3"/>
              <a:tabLst>
                <a:tab pos="24193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utilizzati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stessa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possono,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ragionevole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garanzia,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derivati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protetta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affidabile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contro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falsificazione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utilizzando</a:t>
            </a:r>
            <a:r>
              <a:rPr dirty="0" sz="16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tecnologia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attualmente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disponibile;</a:t>
            </a:r>
            <a:endParaRPr sz="1600">
              <a:latin typeface="Trebuchet MS"/>
              <a:cs typeface="Trebuchet MS"/>
            </a:endParaRPr>
          </a:p>
          <a:p>
            <a:pPr marL="12700" marR="27305" indent="248920">
              <a:lnSpc>
                <a:spcPct val="100000"/>
              </a:lnSpc>
              <a:buAutoNum type="alphaLcParenR" startAt="3"/>
              <a:tabLst>
                <a:tab pos="26162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utilizzati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possono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protetti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affidabile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dal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legittimo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firmatario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dall'uso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parte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altri.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12700" marR="79375" indent="24193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5463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alterano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firmare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né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impediscono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siano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presentati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firmatario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prima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firma.»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4536A"/>
              </a:buClr>
              <a:buFont typeface="Trebuchet MS"/>
              <a:buAutoNum type="arabicPeriod" startAt="2"/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Clr>
                <a:srgbClr val="44536A"/>
              </a:buClr>
              <a:buFont typeface="Trebuchet MS"/>
              <a:buAutoNum type="arabicPeriod" startAt="2"/>
            </a:pPr>
            <a:endParaRPr sz="1600">
              <a:latin typeface="Trebuchet MS"/>
              <a:cs typeface="Trebuchet MS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punti</a:t>
            </a:r>
            <a:r>
              <a:rPr dirty="0" sz="1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3</a:t>
            </a:r>
            <a:r>
              <a:rPr dirty="0" sz="1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4</a:t>
            </a:r>
            <a:r>
              <a:rPr dirty="0" sz="1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stabiliti</a:t>
            </a:r>
            <a:r>
              <a:rPr dirty="0" sz="16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6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1</a:t>
            </a:r>
            <a:r>
              <a:rPr dirty="0" sz="16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6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soppressi</a:t>
            </a:r>
            <a:r>
              <a:rPr dirty="0" sz="16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perché</a:t>
            </a:r>
            <a:r>
              <a:rPr dirty="0" sz="1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riposizionati</a:t>
            </a:r>
            <a:r>
              <a:rPr dirty="0" sz="16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1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44536A"/>
                </a:solidFill>
                <a:latin typeface="Trebuchet MS"/>
                <a:cs typeface="Trebuchet MS"/>
              </a:rPr>
              <a:t>regolamento.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268605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E</a:t>
            </a:r>
            <a:r>
              <a:rPr dirty="0" sz="2700" spc="-10"/>
              <a:t> </a:t>
            </a:r>
            <a:r>
              <a:rPr dirty="0" sz="2700"/>
              <a:t>PER</a:t>
            </a:r>
            <a:r>
              <a:rPr dirty="0" sz="2700" spc="-10"/>
              <a:t> </a:t>
            </a:r>
            <a:r>
              <a:rPr dirty="0" sz="2700"/>
              <a:t>I</a:t>
            </a:r>
            <a:r>
              <a:rPr dirty="0" sz="2700" spc="-10"/>
              <a:t> SIGILLI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1873732"/>
            <a:ext cx="11062970" cy="339153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6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6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6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26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6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6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26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6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sigilli</a:t>
            </a:r>
            <a:r>
              <a:rPr dirty="0" sz="26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remoti</a:t>
            </a:r>
            <a:r>
              <a:rPr dirty="0" sz="26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26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 spc="-10">
                <a:solidFill>
                  <a:srgbClr val="44536A"/>
                </a:solidFill>
                <a:latin typeface="Trebuchet MS"/>
                <a:cs typeface="Trebuchet MS"/>
              </a:rPr>
              <a:t>applica</a:t>
            </a:r>
            <a:endParaRPr sz="26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  <a:spcBef>
                <a:spcPts val="625"/>
              </a:spcBef>
            </a:pP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l’articolo</a:t>
            </a:r>
            <a:r>
              <a:rPr dirty="0" sz="26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39</a:t>
            </a:r>
            <a:r>
              <a:rPr dirty="0" sz="26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 spc="-20">
                <a:solidFill>
                  <a:srgbClr val="44536A"/>
                </a:solidFill>
                <a:latin typeface="Trebuchet MS"/>
                <a:cs typeface="Trebuchet MS"/>
              </a:rPr>
              <a:t>bis.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2600">
              <a:latin typeface="Trebuchet MS"/>
              <a:cs typeface="Trebuchet MS"/>
            </a:endParaRPr>
          </a:p>
          <a:p>
            <a:pPr marL="440690" marR="8255" indent="-428625">
              <a:lnSpc>
                <a:spcPct val="12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27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applica</a:t>
            </a:r>
            <a:r>
              <a:rPr dirty="0" sz="27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l’articolo</a:t>
            </a:r>
            <a:r>
              <a:rPr dirty="0" sz="27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29°</a:t>
            </a:r>
            <a:r>
              <a:rPr dirty="0" sz="27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mutatis</a:t>
            </a:r>
            <a:r>
              <a:rPr dirty="0" sz="27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mutandis</a:t>
            </a:r>
            <a:r>
              <a:rPr dirty="0" sz="27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vista</a:t>
            </a:r>
            <a:r>
              <a:rPr dirty="0" sz="27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l’analogia</a:t>
            </a:r>
            <a:r>
              <a:rPr dirty="0" sz="27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tra</a:t>
            </a:r>
            <a:r>
              <a:rPr dirty="0" sz="27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44536A"/>
                </a:solidFill>
                <a:latin typeface="Trebuchet MS"/>
                <a:cs typeface="Trebuchet MS"/>
              </a:rPr>
              <a:t>firme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7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sigilli</a:t>
            </a:r>
            <a:r>
              <a:rPr dirty="0" sz="27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7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termini</a:t>
            </a:r>
            <a:r>
              <a:rPr dirty="0" sz="27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7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formato</a:t>
            </a:r>
            <a:r>
              <a:rPr dirty="0" sz="27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7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7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700" spc="-10">
                <a:solidFill>
                  <a:srgbClr val="44536A"/>
                </a:solidFill>
                <a:latin typeface="Trebuchet MS"/>
                <a:cs typeface="Trebuchet MS"/>
              </a:rPr>
              <a:t>crittografiche.</a:t>
            </a:r>
            <a:endParaRPr sz="2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5"/>
              </a:spcBef>
              <a:buFont typeface="Arial"/>
              <a:buChar char="•"/>
            </a:pPr>
            <a:endParaRPr sz="27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Queste</a:t>
            </a:r>
            <a:r>
              <a:rPr dirty="0" sz="26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6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devono</a:t>
            </a:r>
            <a:r>
              <a:rPr dirty="0" sz="26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6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estese</a:t>
            </a:r>
            <a:r>
              <a:rPr dirty="0" sz="26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6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>
                <a:solidFill>
                  <a:srgbClr val="44536A"/>
                </a:solidFill>
                <a:latin typeface="Trebuchet MS"/>
                <a:cs typeface="Trebuchet MS"/>
              </a:rPr>
              <a:t>all’allegato</a:t>
            </a:r>
            <a:r>
              <a:rPr dirty="0" sz="26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600" spc="-25">
                <a:solidFill>
                  <a:srgbClr val="44536A"/>
                </a:solidFill>
                <a:latin typeface="Trebuchet MS"/>
                <a:cs typeface="Trebuchet MS"/>
              </a:rPr>
              <a:t>II.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175958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ALTRE</a:t>
            </a:r>
            <a:r>
              <a:rPr dirty="0" sz="2700" spc="-85"/>
              <a:t> </a:t>
            </a:r>
            <a:r>
              <a:rPr dirty="0" sz="2700"/>
              <a:t>REGOLE</a:t>
            </a:r>
            <a:r>
              <a:rPr dirty="0" sz="2700" spc="-75"/>
              <a:t> </a:t>
            </a:r>
            <a:r>
              <a:rPr dirty="0" sz="2700"/>
              <a:t>SUL</a:t>
            </a:r>
            <a:r>
              <a:rPr dirty="0" sz="2700" spc="-90"/>
              <a:t> </a:t>
            </a:r>
            <a:r>
              <a:rPr dirty="0" sz="2700" spc="-20"/>
              <a:t>TEMA</a:t>
            </a:r>
            <a:endParaRPr sz="2700"/>
          </a:p>
        </p:txBody>
      </p:sp>
      <p:sp>
        <p:nvSpPr>
          <p:cNvPr id="3" name="object 3" descr=""/>
          <p:cNvSpPr/>
          <p:nvPr/>
        </p:nvSpPr>
        <p:spPr>
          <a:xfrm>
            <a:off x="3385565" y="1023366"/>
            <a:ext cx="5908675" cy="0"/>
          </a:xfrm>
          <a:custGeom>
            <a:avLst/>
            <a:gdLst/>
            <a:ahLst/>
            <a:cxnLst/>
            <a:rect l="l" t="t" r="r" b="b"/>
            <a:pathLst>
              <a:path w="5908675" h="0">
                <a:moveTo>
                  <a:pt x="0" y="0"/>
                </a:moveTo>
                <a:lnTo>
                  <a:pt x="590854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063853" y="1968754"/>
            <a:ext cx="9881870" cy="36849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Altre</a:t>
            </a:r>
            <a:r>
              <a:rPr dirty="0" sz="20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0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sul</a:t>
            </a:r>
            <a:r>
              <a:rPr dirty="0" sz="20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tema</a:t>
            </a:r>
            <a:r>
              <a:rPr dirty="0" sz="20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stabilite</a:t>
            </a:r>
            <a:r>
              <a:rPr dirty="0" sz="20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l’inserimento</a:t>
            </a:r>
            <a:r>
              <a:rPr dirty="0" sz="20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nell’articolo</a:t>
            </a:r>
            <a:r>
              <a:rPr dirty="0" sz="20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30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endParaRPr sz="20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3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bis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nell’articolo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31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sostituzione</a:t>
            </a:r>
            <a:r>
              <a:rPr dirty="0" sz="20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20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3: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Art.</a:t>
            </a:r>
            <a:r>
              <a:rPr dirty="0" sz="2000" spc="-4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b="1" i="1">
                <a:solidFill>
                  <a:srgbClr val="44536A"/>
                </a:solidFill>
                <a:latin typeface="Trebuchet MS"/>
                <a:cs typeface="Trebuchet MS"/>
              </a:rPr>
              <a:t>30</a:t>
            </a:r>
            <a:endParaRPr sz="2000">
              <a:latin typeface="Trebuchet MS"/>
              <a:cs typeface="Trebuchet MS"/>
            </a:endParaRPr>
          </a:p>
          <a:p>
            <a:pPr algn="just" marL="12700" marR="5715">
              <a:lnSpc>
                <a:spcPct val="100000"/>
              </a:lnSpc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«3</a:t>
            </a:r>
            <a:r>
              <a:rPr dirty="0" sz="20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bis.</a:t>
            </a:r>
            <a:r>
              <a:rPr dirty="0" sz="2000" spc="2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2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validità</a:t>
            </a:r>
            <a:r>
              <a:rPr dirty="0" sz="20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2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0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2000" spc="2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1</a:t>
            </a:r>
            <a:r>
              <a:rPr dirty="0" sz="2000" spc="2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2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supera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2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5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anni,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subordinata</a:t>
            </a:r>
            <a:r>
              <a:rPr dirty="0" sz="2000" spc="3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000" spc="3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3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valutazione</a:t>
            </a:r>
            <a:r>
              <a:rPr dirty="0" sz="2000" spc="3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periodica</a:t>
            </a:r>
            <a:r>
              <a:rPr dirty="0" sz="2000" spc="3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000" spc="3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vulnerabilità</a:t>
            </a:r>
            <a:r>
              <a:rPr dirty="0" sz="2000" spc="3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3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2</a:t>
            </a:r>
            <a:r>
              <a:rPr dirty="0" sz="2000" spc="3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anni.</a:t>
            </a:r>
            <a:r>
              <a:rPr dirty="0" sz="2000" spc="3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Qualora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le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vulnerabilità</a:t>
            </a:r>
            <a:r>
              <a:rPr dirty="0" sz="20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vengano</a:t>
            </a:r>
            <a:r>
              <a:rPr dirty="0" sz="2000" spc="-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identificate</a:t>
            </a:r>
            <a:r>
              <a:rPr dirty="0" sz="20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risolte,</a:t>
            </a:r>
            <a:r>
              <a:rPr dirty="0" sz="20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0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verrà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annullata.»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Art.</a:t>
            </a:r>
            <a:r>
              <a:rPr dirty="0" sz="2000" spc="-4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b="1" i="1">
                <a:solidFill>
                  <a:srgbClr val="44536A"/>
                </a:solidFill>
                <a:latin typeface="Trebuchet MS"/>
                <a:cs typeface="Trebuchet MS"/>
              </a:rPr>
              <a:t>31</a:t>
            </a:r>
            <a:endParaRPr sz="2000">
              <a:latin typeface="Trebuchet MS"/>
              <a:cs typeface="Trebuchet MS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«3.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21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maggio 2025,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la Commissione,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mediante atti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esecuzione,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definisce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formati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le procedure</a:t>
            </a:r>
            <a:r>
              <a:rPr dirty="0" sz="20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applicabili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ai fini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paragrafo 1.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0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atti di</a:t>
            </a:r>
            <a:r>
              <a:rPr dirty="0" sz="20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esecuzione</a:t>
            </a:r>
            <a:r>
              <a:rPr dirty="0" sz="20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sono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adottati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conformemente</a:t>
            </a:r>
            <a:r>
              <a:rPr dirty="0" sz="20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procedura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d'esame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all'articolo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48,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comma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2.»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NUOVE</a:t>
            </a:r>
            <a:r>
              <a:rPr dirty="0" sz="2700" spc="-60"/>
              <a:t> </a:t>
            </a:r>
            <a:r>
              <a:rPr dirty="0" sz="2700"/>
              <a:t>REGOLE</a:t>
            </a:r>
            <a:r>
              <a:rPr dirty="0" sz="2700" spc="-35"/>
              <a:t> </a:t>
            </a:r>
            <a:r>
              <a:rPr dirty="0" sz="2700"/>
              <a:t>PER</a:t>
            </a:r>
            <a:r>
              <a:rPr dirty="0" sz="2700" spc="-60"/>
              <a:t> </a:t>
            </a:r>
            <a:r>
              <a:rPr dirty="0" sz="2700"/>
              <a:t>LA</a:t>
            </a:r>
            <a:r>
              <a:rPr dirty="0" sz="2700" spc="-50"/>
              <a:t> </a:t>
            </a:r>
            <a:r>
              <a:rPr dirty="0" sz="2700" spc="-10"/>
              <a:t>CERTIFICAZIONE</a:t>
            </a:r>
            <a:endParaRPr sz="2700"/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1729867"/>
            <a:ext cx="11061700" cy="401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36245" marR="5080" indent="-42418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0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sigillo</a:t>
            </a:r>
            <a:r>
              <a:rPr dirty="0" sz="20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certificati</a:t>
            </a:r>
            <a:r>
              <a:rPr dirty="0" sz="20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secondo</a:t>
            </a:r>
            <a:r>
              <a:rPr dirty="0" sz="20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0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standard</a:t>
            </a:r>
            <a:r>
              <a:rPr dirty="0" sz="20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ISO/IEC</a:t>
            </a:r>
            <a:r>
              <a:rPr dirty="0" sz="20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15408</a:t>
            </a:r>
            <a:r>
              <a:rPr dirty="0" sz="20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(Common 	Criteria).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  <a:tab pos="882650" algn="l"/>
                <a:tab pos="1756410" algn="l"/>
                <a:tab pos="2665730" algn="l"/>
                <a:tab pos="2972435" algn="l"/>
                <a:tab pos="4484370" algn="l"/>
                <a:tab pos="4868545" algn="l"/>
                <a:tab pos="5671820" algn="l"/>
                <a:tab pos="6261735" algn="l"/>
                <a:tab pos="7489825" algn="l"/>
                <a:tab pos="7939405" algn="l"/>
                <a:tab pos="8744585" algn="l"/>
                <a:tab pos="9498965" algn="l"/>
              </a:tabLst>
            </a:pP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nuove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5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l’emissione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nuovi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2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esecutivi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parte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endParaRPr sz="21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</a:pP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europea</a:t>
            </a:r>
            <a:r>
              <a:rPr dirty="0" sz="21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cambiano</a:t>
            </a:r>
            <a:r>
              <a:rPr dirty="0" sz="21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1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scenari</a:t>
            </a:r>
            <a:r>
              <a:rPr dirty="0" sz="21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utilizzo.</a:t>
            </a:r>
            <a:endParaRPr sz="2100">
              <a:latin typeface="Trebuchet MS"/>
              <a:cs typeface="Trebuchet MS"/>
            </a:endParaRPr>
          </a:p>
          <a:p>
            <a:pPr algn="just" marL="436245" marR="8255" indent="-424180">
              <a:lnSpc>
                <a:spcPct val="100000"/>
              </a:lnSpc>
              <a:spcBef>
                <a:spcPts val="240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3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vecchia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generazione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4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HSM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dovrà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sostituita</a:t>
            </a:r>
            <a:r>
              <a:rPr dirty="0" sz="2000" spc="40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cambierà</a:t>
            </a:r>
            <a:r>
              <a:rPr dirty="0" sz="2000" spc="4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000" spc="4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40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modalità</a:t>
            </a:r>
            <a:r>
              <a:rPr dirty="0" sz="2000" spc="4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interazione</a:t>
            </a:r>
            <a:r>
              <a:rPr dirty="0" sz="20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nuovi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dispositivi.</a:t>
            </a:r>
            <a:r>
              <a:rPr dirty="0" sz="20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influenza</a:t>
            </a:r>
            <a:r>
              <a:rPr dirty="0" sz="20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system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integrator,</a:t>
            </a:r>
            <a:r>
              <a:rPr dirty="0" sz="20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ma</a:t>
            </a:r>
            <a:r>
              <a:rPr dirty="0" sz="20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0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utenti</a:t>
            </a:r>
            <a:r>
              <a:rPr dirty="0" sz="20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finali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dovranno</a:t>
            </a:r>
            <a:r>
              <a:rPr dirty="0" sz="2000" spc="-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adeguarsi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tempo.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"/>
              <a:buChar char="•"/>
            </a:pPr>
            <a:endParaRPr sz="2000">
              <a:latin typeface="Trebuchet MS"/>
              <a:cs typeface="Trebuchet MS"/>
            </a:endParaRPr>
          </a:p>
          <a:p>
            <a:pPr algn="just" marL="436245" marR="6985" indent="-42418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4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nuovi</a:t>
            </a:r>
            <a:r>
              <a:rPr dirty="0" sz="2000" spc="4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modelli</a:t>
            </a:r>
            <a:r>
              <a:rPr dirty="0" sz="2000" spc="4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4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000" spc="4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consentono</a:t>
            </a:r>
            <a:r>
              <a:rPr dirty="0" sz="2000" spc="45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alcune</a:t>
            </a:r>
            <a:r>
              <a:rPr dirty="0" sz="2000" spc="4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«semplificazioni»</a:t>
            </a:r>
            <a:r>
              <a:rPr dirty="0" sz="2000" spc="48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operative,</a:t>
            </a:r>
            <a:r>
              <a:rPr dirty="0" sz="2000" spc="4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ad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esempio</a:t>
            </a:r>
            <a:r>
              <a:rPr dirty="0" sz="20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l’autenticazione</a:t>
            </a:r>
            <a:r>
              <a:rPr dirty="0" sz="20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ad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solo</a:t>
            </a:r>
            <a:r>
              <a:rPr dirty="0" sz="20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fattore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possibile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determina</a:t>
            </a:r>
            <a:r>
              <a:rPr dirty="0" sz="20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la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perdita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certificazione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dispositivo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accesso</a:t>
            </a:r>
            <a:r>
              <a:rPr dirty="0" sz="20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(front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end).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" y="118871"/>
            <a:ext cx="1979676" cy="4572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3723" y="2591562"/>
            <a:ext cx="66706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Archiviazione</a:t>
            </a:r>
            <a:r>
              <a:rPr dirty="0" sz="44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02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105"/>
              </a:spcBef>
            </a:pPr>
            <a:r>
              <a:rPr dirty="0"/>
              <a:t>Il</a:t>
            </a:r>
            <a:r>
              <a:rPr dirty="0" spc="-40"/>
              <a:t> </a:t>
            </a:r>
            <a:r>
              <a:rPr dirty="0"/>
              <a:t>servizio</a:t>
            </a:r>
            <a:r>
              <a:rPr dirty="0" spc="-25"/>
              <a:t> </a:t>
            </a:r>
            <a:r>
              <a:rPr dirty="0"/>
              <a:t>di</a:t>
            </a:r>
            <a:r>
              <a:rPr dirty="0" spc="-40"/>
              <a:t> </a:t>
            </a:r>
            <a:r>
              <a:rPr dirty="0"/>
              <a:t>archiviazione</a:t>
            </a:r>
            <a:r>
              <a:rPr dirty="0" spc="-25"/>
              <a:t> </a:t>
            </a:r>
            <a:r>
              <a:rPr dirty="0" spc="-10"/>
              <a:t>elettronica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65175" y="1402841"/>
            <a:ext cx="11059795" cy="469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40690" marR="5080" indent="-428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L’archiviazione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consente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ricezione,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conservazione,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consultazione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cancellazione</a:t>
            </a:r>
            <a:r>
              <a:rPr dirty="0" sz="1800" spc="3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3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3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documenti</a:t>
            </a:r>
            <a:r>
              <a:rPr dirty="0" sz="18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fine</a:t>
            </a:r>
            <a:r>
              <a:rPr dirty="0" sz="1800" spc="3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garantire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3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durabilità</a:t>
            </a:r>
            <a:r>
              <a:rPr dirty="0" sz="18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leggibilità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nonché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preservarne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l'integrità,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riservatezza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prova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dell'origine</a:t>
            </a:r>
            <a:r>
              <a:rPr dirty="0" sz="18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tutto</a:t>
            </a:r>
            <a:r>
              <a:rPr dirty="0" sz="18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periodo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conservazione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».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può,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ovviamente,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sulla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base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stabilito</a:t>
            </a:r>
            <a:r>
              <a:rPr dirty="0" sz="18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nell’articolo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octies.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algn="just" marL="440690" marR="5080" indent="-428625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18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stabilito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nell’articolato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18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schema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descrizione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ampliata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definizione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ulteriori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dettagli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funzionali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operativi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vengono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rinviati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ad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esecutivi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conterranno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standard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applicare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servizio.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specifica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misure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ETSI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TS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119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511.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12700" marR="6350">
              <a:lnSpc>
                <a:spcPct val="100000"/>
              </a:lnSpc>
            </a:pP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Electronic</a:t>
            </a:r>
            <a:r>
              <a:rPr dirty="0" sz="1800" spc="37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Signatures</a:t>
            </a:r>
            <a:r>
              <a:rPr dirty="0" sz="1800" spc="36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dirty="0" sz="1800" spc="36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Infrastructures</a:t>
            </a:r>
            <a:r>
              <a:rPr dirty="0" sz="1800" spc="35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(ESI);</a:t>
            </a:r>
            <a:r>
              <a:rPr dirty="0" sz="1800" spc="36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Policy</a:t>
            </a:r>
            <a:r>
              <a:rPr dirty="0" sz="1800" spc="34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and</a:t>
            </a:r>
            <a:r>
              <a:rPr dirty="0" sz="1800" spc="35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security</a:t>
            </a:r>
            <a:r>
              <a:rPr dirty="0" sz="1800" spc="37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requirements</a:t>
            </a:r>
            <a:r>
              <a:rPr dirty="0" sz="1800" spc="36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for</a:t>
            </a:r>
            <a:r>
              <a:rPr dirty="0" sz="1800" spc="35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trust</a:t>
            </a:r>
            <a:r>
              <a:rPr dirty="0" sz="1800" spc="33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44536A"/>
                </a:solidFill>
                <a:latin typeface="Trebuchet MS"/>
                <a:cs typeface="Trebuchet MS"/>
              </a:rPr>
              <a:t>service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providers</a:t>
            </a:r>
            <a:r>
              <a:rPr dirty="0" sz="1800" spc="4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providing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44536A"/>
                </a:solidFill>
                <a:latin typeface="Trebuchet MS"/>
                <a:cs typeface="Trebuchet MS"/>
              </a:rPr>
              <a:t>long-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term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preservation</a:t>
            </a:r>
            <a:r>
              <a:rPr dirty="0" sz="1800" spc="3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of</a:t>
            </a:r>
            <a:r>
              <a:rPr dirty="0" sz="1800" spc="3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digital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signatures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or</a:t>
            </a:r>
            <a:r>
              <a:rPr dirty="0" sz="1800" spc="3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general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data</a:t>
            </a:r>
            <a:r>
              <a:rPr dirty="0" sz="1800" spc="3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using</a:t>
            </a:r>
            <a:r>
              <a:rPr dirty="0" sz="1800" spc="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44536A"/>
                </a:solidFill>
                <a:latin typeface="Trebuchet MS"/>
                <a:cs typeface="Trebuchet MS"/>
              </a:rPr>
              <a:t>digital</a:t>
            </a:r>
            <a:r>
              <a:rPr dirty="0" sz="1800" spc="3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44536A"/>
                </a:solidFill>
                <a:latin typeface="Trebuchet MS"/>
                <a:cs typeface="Trebuchet MS"/>
              </a:rPr>
              <a:t>signature techniques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948177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8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</a:t>
            </a:r>
            <a:r>
              <a:rPr dirty="0" spc="-10"/>
              <a:t> </a:t>
            </a:r>
            <a:r>
              <a:rPr dirty="0"/>
              <a:t>PREAMBOLI</a:t>
            </a:r>
            <a:r>
              <a:rPr dirty="0" spc="-10"/>
              <a:t> </a:t>
            </a:r>
            <a:r>
              <a:rPr dirty="0"/>
              <a:t>66</a:t>
            </a:r>
            <a:r>
              <a:rPr dirty="0" spc="-10"/>
              <a:t> </a:t>
            </a:r>
            <a:r>
              <a:rPr dirty="0"/>
              <a:t>e</a:t>
            </a:r>
            <a:r>
              <a:rPr dirty="0" spc="-10"/>
              <a:t> </a:t>
            </a:r>
            <a:r>
              <a:rPr dirty="0" spc="-25"/>
              <a:t>67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824733" y="1104138"/>
            <a:ext cx="6405880" cy="0"/>
          </a:xfrm>
          <a:custGeom>
            <a:avLst/>
            <a:gdLst/>
            <a:ahLst/>
            <a:cxnLst/>
            <a:rect l="l" t="t" r="r" b="b"/>
            <a:pathLst>
              <a:path w="6405880" h="0">
                <a:moveTo>
                  <a:pt x="0" y="0"/>
                </a:moveTo>
                <a:lnTo>
                  <a:pt x="640549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485769" y="2682062"/>
            <a:ext cx="542353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2005" marR="5080" indent="-78994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44536A"/>
                </a:solidFill>
                <a:latin typeface="Calibri"/>
                <a:cs typeface="Calibri"/>
              </a:rPr>
              <a:t>Lettura</a:t>
            </a:r>
            <a:r>
              <a:rPr dirty="0" sz="3000" spc="-105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44536A"/>
                </a:solidFill>
                <a:latin typeface="Calibri"/>
                <a:cs typeface="Calibri"/>
              </a:rPr>
              <a:t>delle</a:t>
            </a:r>
            <a:r>
              <a:rPr dirty="0" sz="3000" spc="-60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44536A"/>
                </a:solidFill>
                <a:latin typeface="Calibri"/>
                <a:cs typeface="Calibri"/>
              </a:rPr>
              <a:t>Premesse</a:t>
            </a:r>
            <a:r>
              <a:rPr dirty="0" sz="3000" spc="-70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44536A"/>
                </a:solidFill>
                <a:latin typeface="Calibri"/>
                <a:cs typeface="Calibri"/>
              </a:rPr>
              <a:t>66</a:t>
            </a:r>
            <a:r>
              <a:rPr dirty="0" sz="3000" spc="-65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dirty="0" sz="3000" spc="-70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b="1">
                <a:solidFill>
                  <a:srgbClr val="44536A"/>
                </a:solidFill>
                <a:latin typeface="Calibri"/>
                <a:cs typeface="Calibri"/>
              </a:rPr>
              <a:t>67</a:t>
            </a:r>
            <a:r>
              <a:rPr dirty="0" sz="3000" spc="-65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44536A"/>
                </a:solidFill>
                <a:latin typeface="Calibri"/>
                <a:cs typeface="Calibri"/>
              </a:rPr>
              <a:t>del </a:t>
            </a:r>
            <a:r>
              <a:rPr dirty="0" sz="3000" spc="-10" b="1">
                <a:solidFill>
                  <a:srgbClr val="44536A"/>
                </a:solidFill>
                <a:latin typeface="Calibri"/>
                <a:cs typeface="Calibri"/>
              </a:rPr>
              <a:t>regolamento</a:t>
            </a:r>
            <a:r>
              <a:rPr dirty="0" sz="3000" spc="-130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3000" spc="-10" b="1">
                <a:solidFill>
                  <a:srgbClr val="44536A"/>
                </a:solidFill>
                <a:latin typeface="Calibri"/>
                <a:cs typeface="Calibri"/>
              </a:rPr>
              <a:t>2024/1183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1088" y="1462532"/>
            <a:ext cx="11303635" cy="4644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rebuchet MS"/>
                <a:cs typeface="Trebuchet MS"/>
              </a:rPr>
              <a:t>Il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modello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OAIS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-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14721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è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generalmente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adottato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riferimento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–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Alcuni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esempi: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Trebuchet MS"/>
                <a:cs typeface="Trebuchet MS"/>
              </a:rPr>
              <a:t>Il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Belgio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ha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implementato un</a:t>
            </a:r>
            <a:r>
              <a:rPr dirty="0" sz="1800" spc="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servizio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 conservazione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come</a:t>
            </a:r>
            <a:r>
              <a:rPr dirty="0" sz="1800" spc="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servizio</a:t>
            </a:r>
            <a:r>
              <a:rPr dirty="0" sz="1800" spc="-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fiduciario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nazionale e</a:t>
            </a:r>
            <a:r>
              <a:rPr dirty="0" sz="1800" spc="-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proprio</a:t>
            </a:r>
            <a:r>
              <a:rPr dirty="0" sz="1800" spc="-10">
                <a:latin typeface="Trebuchet MS"/>
                <a:cs typeface="Trebuchet MS"/>
              </a:rPr>
              <a:t> schema</a:t>
            </a:r>
            <a:endParaRPr sz="1800">
              <a:latin typeface="Trebuchet MS"/>
              <a:cs typeface="Trebuchet MS"/>
            </a:endParaRPr>
          </a:p>
          <a:p>
            <a:pPr algn="just" marL="24130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di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certificazione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(considerando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25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eIDAS1)</a:t>
            </a:r>
            <a:endParaRPr sz="1800">
              <a:latin typeface="Trebuchet MS"/>
              <a:cs typeface="Trebuchet MS"/>
            </a:endParaRPr>
          </a:p>
          <a:p>
            <a:pPr algn="just"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Francia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nazionale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(AFNOR)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è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NF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Z42-</a:t>
            </a:r>
            <a:r>
              <a:rPr dirty="0" sz="1800">
                <a:latin typeface="Trebuchet MS"/>
                <a:cs typeface="Trebuchet MS"/>
              </a:rPr>
              <a:t>013,</a:t>
            </a:r>
            <a:r>
              <a:rPr dirty="0" sz="1800" spc="-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relativa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certificazione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NF461.</a:t>
            </a:r>
            <a:endParaRPr sz="1800">
              <a:latin typeface="Trebuchet MS"/>
              <a:cs typeface="Trebuchet MS"/>
            </a:endParaRPr>
          </a:p>
          <a:p>
            <a:pPr algn="just" marL="241300" marR="5080" indent="-229235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Germania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la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linea</a:t>
            </a:r>
            <a:r>
              <a:rPr dirty="0" sz="1800" spc="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guida</a:t>
            </a:r>
            <a:r>
              <a:rPr dirty="0" sz="1800" spc="6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tecnica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BSI</a:t>
            </a:r>
            <a:r>
              <a:rPr dirty="0" sz="1800" spc="6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TR-</a:t>
            </a:r>
            <a:r>
              <a:rPr dirty="0" sz="1800">
                <a:latin typeface="Trebuchet MS"/>
                <a:cs typeface="Trebuchet MS"/>
              </a:rPr>
              <a:t>03125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insieme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ETSI</a:t>
            </a:r>
            <a:r>
              <a:rPr dirty="0" sz="1800" spc="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TS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119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511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512</a:t>
            </a:r>
            <a:r>
              <a:rPr dirty="0" sz="1800" spc="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definiscono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requisiti</a:t>
            </a:r>
            <a:r>
              <a:rPr dirty="0" sz="1800" spc="6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per </a:t>
            </a:r>
            <a:r>
              <a:rPr dirty="0" sz="1800">
                <a:latin typeface="Trebuchet MS"/>
                <a:cs typeface="Trebuchet MS"/>
              </a:rPr>
              <a:t>la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conservazione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</a:t>
            </a:r>
            <a:r>
              <a:rPr dirty="0" sz="1800" spc="229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lungo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termine,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</a:t>
            </a:r>
            <a:r>
              <a:rPr dirty="0" sz="1800" spc="229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possibilità</a:t>
            </a:r>
            <a:r>
              <a:rPr dirty="0" sz="1800" spc="2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certificazione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controllata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dal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DAKKS.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Esistono</a:t>
            </a:r>
            <a:r>
              <a:rPr dirty="0" sz="1800" spc="22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varie </a:t>
            </a:r>
            <a:r>
              <a:rPr dirty="0" sz="1800">
                <a:latin typeface="Trebuchet MS"/>
                <a:cs typeface="Trebuchet MS"/>
              </a:rPr>
              <a:t>leggi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federali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statali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rilevanti.</a:t>
            </a:r>
            <a:endParaRPr sz="1800">
              <a:latin typeface="Trebuchet MS"/>
              <a:cs typeface="Trebuchet MS"/>
            </a:endParaRPr>
          </a:p>
          <a:p>
            <a:pPr algn="just" marL="241300" marR="7620" indent="-229235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Italia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c’è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UNI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SinCRO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11386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10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1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internazionali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internazionali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(ISO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14721,</a:t>
            </a:r>
            <a:r>
              <a:rPr dirty="0" sz="1800" spc="11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16363)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</a:t>
            </a:r>
            <a:r>
              <a:rPr dirty="0" sz="1800" spc="11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riferimento. </a:t>
            </a:r>
            <a:r>
              <a:rPr dirty="0" sz="1800">
                <a:latin typeface="Trebuchet MS"/>
                <a:cs typeface="Trebuchet MS"/>
              </a:rPr>
              <a:t>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Linee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Guida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AgID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varie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norme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(CAD,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Codice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Beni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culturali)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definiscono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il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quadro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legale.</a:t>
            </a:r>
            <a:endParaRPr sz="1800">
              <a:latin typeface="Trebuchet MS"/>
              <a:cs typeface="Trebuchet MS"/>
            </a:endParaRPr>
          </a:p>
          <a:p>
            <a:pPr algn="just"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459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Lussemburgo</a:t>
            </a:r>
            <a:r>
              <a:rPr dirty="0" sz="1800" spc="4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legge</a:t>
            </a:r>
            <a:r>
              <a:rPr dirty="0" sz="1800" spc="4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25/07/2015</a:t>
            </a:r>
            <a:r>
              <a:rPr dirty="0" sz="1800" spc="4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on</a:t>
            </a:r>
            <a:r>
              <a:rPr dirty="0" sz="1800" spc="4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e-</a:t>
            </a:r>
            <a:r>
              <a:rPr dirty="0" sz="1800">
                <a:latin typeface="Trebuchet MS"/>
                <a:cs typeface="Trebuchet MS"/>
              </a:rPr>
              <a:t>archiving</a:t>
            </a:r>
            <a:r>
              <a:rPr dirty="0" sz="1800" spc="4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+</a:t>
            </a:r>
            <a:r>
              <a:rPr dirty="0" sz="1800" spc="4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standard</a:t>
            </a:r>
            <a:r>
              <a:rPr dirty="0" sz="1800" spc="47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nazionale</a:t>
            </a:r>
            <a:r>
              <a:rPr dirty="0" sz="1800" spc="4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ILNAS</a:t>
            </a:r>
            <a:r>
              <a:rPr dirty="0" sz="1800" spc="4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106:2022</a:t>
            </a:r>
            <a:r>
              <a:rPr dirty="0" sz="1800" spc="4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che</a:t>
            </a:r>
            <a:r>
              <a:rPr dirty="0" sz="1800" spc="46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definisce</a:t>
            </a:r>
            <a:endParaRPr sz="1800">
              <a:latin typeface="Trebuchet MS"/>
              <a:cs typeface="Trebuchet MS"/>
            </a:endParaRPr>
          </a:p>
          <a:p>
            <a:pPr algn="r" marR="3875404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requisiti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relativa</a:t>
            </a:r>
            <a:r>
              <a:rPr dirty="0" sz="1800" spc="-1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certificazione.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Si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basa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su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ISO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14641,</a:t>
            </a:r>
            <a:r>
              <a:rPr dirty="0" sz="1800" spc="-2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27001,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27002.</a:t>
            </a:r>
            <a:endParaRPr sz="1800">
              <a:latin typeface="Trebuchet MS"/>
              <a:cs typeface="Trebuchet MS"/>
            </a:endParaRPr>
          </a:p>
          <a:p>
            <a:pPr algn="r" marL="228600" marR="3924935" indent="-22860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228600" algn="l"/>
              </a:tabLst>
            </a:pPr>
            <a:r>
              <a:rPr dirty="0" sz="1800">
                <a:latin typeface="Trebuchet MS"/>
                <a:cs typeface="Trebuchet MS"/>
              </a:rPr>
              <a:t>In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molti</a:t>
            </a:r>
            <a:r>
              <a:rPr dirty="0" sz="1800" spc="-3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paesi</a:t>
            </a:r>
            <a:r>
              <a:rPr dirty="0" sz="1800" spc="-5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esistono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leggi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regole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specifiche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per</a:t>
            </a:r>
            <a:r>
              <a:rPr dirty="0" sz="1800" spc="-4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gli</a:t>
            </a:r>
            <a:r>
              <a:rPr dirty="0" sz="1800" spc="-4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archivi</a:t>
            </a:r>
            <a:r>
              <a:rPr dirty="0" sz="1800" spc="-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storici.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7620">
              <a:lnSpc>
                <a:spcPct val="100000"/>
              </a:lnSpc>
            </a:pPr>
            <a:r>
              <a:rPr dirty="0" sz="1800">
                <a:latin typeface="Trebuchet MS"/>
                <a:cs typeface="Trebuchet MS"/>
              </a:rPr>
              <a:t>Il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nuovo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servizio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di</a:t>
            </a:r>
            <a:r>
              <a:rPr dirty="0" sz="1800" spc="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archiviazione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elettronica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mira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ad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uniformare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gli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approcci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nazionali</a:t>
            </a:r>
            <a:r>
              <a:rPr dirty="0" sz="1800" spc="9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e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creare</a:t>
            </a:r>
            <a:r>
              <a:rPr dirty="0" sz="1800" spc="9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un</a:t>
            </a:r>
            <a:r>
              <a:rPr dirty="0" sz="1800" spc="10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mercato </a:t>
            </a:r>
            <a:r>
              <a:rPr dirty="0" sz="1800">
                <a:latin typeface="Trebuchet MS"/>
                <a:cs typeface="Trebuchet MS"/>
              </a:rPr>
              <a:t>unico</a:t>
            </a:r>
            <a:r>
              <a:rPr dirty="0" sz="1800" spc="-8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dei</a:t>
            </a:r>
            <a:r>
              <a:rPr dirty="0" sz="1800" spc="-7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servizi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fiduciari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(mutuo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riconoscimento</a:t>
            </a:r>
            <a:r>
              <a:rPr dirty="0" sz="1800" spc="-6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servizi</a:t>
            </a:r>
            <a:r>
              <a:rPr dirty="0" sz="1800" spc="-5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fiduciari</a:t>
            </a:r>
            <a:r>
              <a:rPr dirty="0" sz="1800" spc="-75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qualificati)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Calibri"/>
                <a:cs typeface="Calibri"/>
              </a:rPr>
              <a:t>49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6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Un’Europa</a:t>
            </a:r>
            <a:r>
              <a:rPr dirty="0" spc="-30"/>
              <a:t> </a:t>
            </a:r>
            <a:r>
              <a:rPr dirty="0"/>
              <a:t>con</a:t>
            </a:r>
            <a:r>
              <a:rPr dirty="0" spc="-20"/>
              <a:t> </a:t>
            </a:r>
            <a:r>
              <a:rPr dirty="0"/>
              <a:t>regole</a:t>
            </a:r>
            <a:r>
              <a:rPr dirty="0" spc="-10"/>
              <a:t> </a:t>
            </a:r>
            <a:r>
              <a:rPr dirty="0"/>
              <a:t>non</a:t>
            </a:r>
            <a:r>
              <a:rPr dirty="0" spc="-20"/>
              <a:t> </a:t>
            </a:r>
            <a:r>
              <a:rPr dirty="0" spc="-10"/>
              <a:t>omogenee</a:t>
            </a:r>
          </a:p>
        </p:txBody>
      </p:sp>
      <p:sp>
        <p:nvSpPr>
          <p:cNvPr id="5" name="object 5" descr=""/>
          <p:cNvSpPr/>
          <p:nvPr/>
        </p:nvSpPr>
        <p:spPr>
          <a:xfrm>
            <a:off x="2678429" y="1023366"/>
            <a:ext cx="7305040" cy="0"/>
          </a:xfrm>
          <a:custGeom>
            <a:avLst/>
            <a:gdLst/>
            <a:ahLst/>
            <a:cxnLst/>
            <a:rect l="l" t="t" r="r" b="b"/>
            <a:pathLst>
              <a:path w="7305040" h="0">
                <a:moveTo>
                  <a:pt x="0" y="0"/>
                </a:moveTo>
                <a:lnTo>
                  <a:pt x="7304659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97" rIns="0" bIns="0" rtlCol="0" vert="horz">
            <a:spAutoFit/>
          </a:bodyPr>
          <a:lstStyle/>
          <a:p>
            <a:pPr marL="430530">
              <a:lnSpc>
                <a:spcPct val="100000"/>
              </a:lnSpc>
              <a:spcBef>
                <a:spcPts val="95"/>
              </a:spcBef>
            </a:pPr>
            <a:r>
              <a:rPr dirty="0" sz="3350">
                <a:latin typeface="Trebuchet MS"/>
                <a:cs typeface="Trebuchet MS"/>
              </a:rPr>
              <a:t>Le</a:t>
            </a:r>
            <a:r>
              <a:rPr dirty="0" sz="3350" spc="-9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regole</a:t>
            </a:r>
            <a:r>
              <a:rPr dirty="0" sz="3350" spc="-4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UE</a:t>
            </a:r>
            <a:r>
              <a:rPr dirty="0" sz="3350" spc="-6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per</a:t>
            </a:r>
            <a:r>
              <a:rPr dirty="0" sz="3350" spc="-7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l’archiviazione</a:t>
            </a:r>
            <a:r>
              <a:rPr dirty="0" sz="3350" spc="-2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-</a:t>
            </a:r>
            <a:r>
              <a:rPr dirty="0" sz="3350" spc="-60">
                <a:latin typeface="Trebuchet MS"/>
                <a:cs typeface="Trebuchet MS"/>
              </a:rPr>
              <a:t> </a:t>
            </a:r>
            <a:r>
              <a:rPr dirty="0" sz="3350" spc="-50">
                <a:latin typeface="Trebuchet MS"/>
                <a:cs typeface="Trebuchet MS"/>
              </a:rPr>
              <a:t>1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7210" y="1336370"/>
            <a:ext cx="11521440" cy="4124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4536A"/>
                </a:solidFill>
                <a:latin typeface="Calibri"/>
                <a:cs typeface="Calibri"/>
              </a:rPr>
              <a:t>Articolo</a:t>
            </a:r>
            <a:r>
              <a:rPr dirty="0" sz="2400" spc="-45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4536A"/>
                </a:solidFill>
                <a:latin typeface="Calibri"/>
                <a:cs typeface="Calibri"/>
              </a:rPr>
              <a:t>45</a:t>
            </a:r>
            <a:r>
              <a:rPr dirty="0" sz="2400" spc="-30" b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4536A"/>
                </a:solidFill>
                <a:latin typeface="Calibri"/>
                <a:cs typeface="Calibri"/>
              </a:rPr>
              <a:t>decies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Effetti</a:t>
            </a:r>
            <a:r>
              <a:rPr dirty="0" sz="2000" spc="-3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giuridici</a:t>
            </a:r>
            <a:r>
              <a:rPr dirty="0" sz="2000" spc="-7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-4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000" spc="-7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4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archiviazione</a:t>
            </a:r>
            <a:r>
              <a:rPr dirty="0" sz="2000" spc="-7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b="1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12700" marR="5080" indent="333375">
              <a:lnSpc>
                <a:spcPct val="100000"/>
              </a:lnSpc>
              <a:buClr>
                <a:srgbClr val="44536A"/>
              </a:buClr>
              <a:buAutoNum type="arabicPeriod"/>
              <a:tabLst>
                <a:tab pos="346075" algn="l"/>
              </a:tabLst>
            </a:pPr>
            <a:r>
              <a:rPr dirty="0" sz="2000" i="1">
                <a:latin typeface="Trebuchet MS"/>
                <a:cs typeface="Trebuchet MS"/>
              </a:rPr>
              <a:t>Ai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dati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elettronici</a:t>
            </a:r>
            <a:r>
              <a:rPr dirty="0" sz="2000" spc="2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ai</a:t>
            </a:r>
            <a:r>
              <a:rPr dirty="0" sz="2000" spc="2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documenti</a:t>
            </a:r>
            <a:r>
              <a:rPr dirty="0" sz="2000" spc="2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elettronici</a:t>
            </a:r>
            <a:r>
              <a:rPr dirty="0" sz="2000" spc="2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conservati</a:t>
            </a:r>
            <a:r>
              <a:rPr dirty="0" sz="2000" spc="2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mediante</a:t>
            </a:r>
            <a:r>
              <a:rPr dirty="0" sz="2000" spc="22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2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servizio</a:t>
            </a:r>
            <a:r>
              <a:rPr dirty="0" sz="2000" spc="23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22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archiviazione</a:t>
            </a:r>
            <a:r>
              <a:rPr dirty="0" sz="2000" spc="-1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elettronica</a:t>
            </a:r>
            <a:r>
              <a:rPr dirty="0" sz="2000" spc="1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non</a:t>
            </a:r>
            <a:r>
              <a:rPr dirty="0" sz="2000" spc="1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vengono</a:t>
            </a:r>
            <a:r>
              <a:rPr dirty="0" sz="2000" spc="1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negati</a:t>
            </a:r>
            <a:r>
              <a:rPr dirty="0" sz="2000" spc="1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gli</a:t>
            </a:r>
            <a:r>
              <a:rPr dirty="0" sz="2000" spc="1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effetti</a:t>
            </a:r>
            <a:r>
              <a:rPr dirty="0" sz="2000" spc="1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giuridici</a:t>
            </a:r>
            <a:r>
              <a:rPr dirty="0" sz="2000" spc="16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né</a:t>
            </a:r>
            <a:r>
              <a:rPr dirty="0" sz="2000" spc="1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l'ammissibilità</a:t>
            </a:r>
            <a:r>
              <a:rPr dirty="0" sz="2000" spc="1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come</a:t>
            </a:r>
            <a:r>
              <a:rPr dirty="0" sz="2000" spc="1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prova</a:t>
            </a:r>
            <a:r>
              <a:rPr dirty="0" sz="2000" spc="1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in</a:t>
            </a:r>
            <a:r>
              <a:rPr dirty="0" sz="2000" spc="17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procedimenti </a:t>
            </a:r>
            <a:r>
              <a:rPr dirty="0" sz="2000" i="1">
                <a:latin typeface="Trebuchet MS"/>
                <a:cs typeface="Trebuchet MS"/>
              </a:rPr>
              <a:t>giudiziari</a:t>
            </a:r>
            <a:r>
              <a:rPr dirty="0" sz="2000" spc="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</a:t>
            </a:r>
            <a:r>
              <a:rPr dirty="0" sz="2000" spc="1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il</a:t>
            </a:r>
            <a:r>
              <a:rPr dirty="0" sz="2000" spc="1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solo</a:t>
            </a:r>
            <a:r>
              <a:rPr dirty="0" sz="2000" spc="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motivo</a:t>
            </a:r>
            <a:r>
              <a:rPr dirty="0" sz="2000" spc="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della</a:t>
            </a:r>
            <a:r>
              <a:rPr dirty="0" sz="2000" spc="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loro</a:t>
            </a:r>
            <a:r>
              <a:rPr dirty="0" sz="2000" spc="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forma</a:t>
            </a:r>
            <a:r>
              <a:rPr dirty="0" sz="2000" spc="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elettronica</a:t>
            </a:r>
            <a:r>
              <a:rPr dirty="0" sz="2000" spc="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o</a:t>
            </a:r>
            <a:r>
              <a:rPr dirty="0" sz="2000" spc="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perché</a:t>
            </a:r>
            <a:r>
              <a:rPr dirty="0" sz="2000" spc="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non</a:t>
            </a:r>
            <a:r>
              <a:rPr dirty="0" sz="2000" spc="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sono</a:t>
            </a:r>
            <a:r>
              <a:rPr dirty="0" sz="2000" spc="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conservati mediante</a:t>
            </a:r>
            <a:r>
              <a:rPr dirty="0" sz="2000" spc="10" i="1">
                <a:latin typeface="Trebuchet MS"/>
                <a:cs typeface="Trebuchet MS"/>
              </a:rPr>
              <a:t> </a:t>
            </a:r>
            <a:r>
              <a:rPr dirty="0" sz="2000" spc="-25" i="1">
                <a:latin typeface="Trebuchet MS"/>
                <a:cs typeface="Trebuchet MS"/>
              </a:rPr>
              <a:t>un </a:t>
            </a:r>
            <a:r>
              <a:rPr dirty="0" sz="2000" i="1">
                <a:latin typeface="Trebuchet MS"/>
                <a:cs typeface="Trebuchet MS"/>
              </a:rPr>
              <a:t>servizio</a:t>
            </a:r>
            <a:r>
              <a:rPr dirty="0" sz="2000" spc="-4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-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archiviazione</a:t>
            </a:r>
            <a:r>
              <a:rPr dirty="0" sz="2000" spc="-5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elettronica</a:t>
            </a:r>
            <a:r>
              <a:rPr dirty="0" sz="2000" spc="-5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qualificato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Trebuchet MS"/>
              <a:buAutoNum type="arabicPeriod"/>
            </a:pPr>
            <a:endParaRPr sz="2000">
              <a:latin typeface="Trebuchet MS"/>
              <a:cs typeface="Trebuchet MS"/>
            </a:endParaRPr>
          </a:p>
          <a:p>
            <a:pPr algn="just" marL="12700" marR="5080" indent="356235">
              <a:lnSpc>
                <a:spcPct val="100000"/>
              </a:lnSpc>
              <a:buClr>
                <a:srgbClr val="44536A"/>
              </a:buClr>
              <a:buAutoNum type="arabicPeriod"/>
              <a:tabLst>
                <a:tab pos="368935" algn="l"/>
              </a:tabLst>
            </a:pPr>
            <a:r>
              <a:rPr dirty="0" sz="2000" i="1">
                <a:latin typeface="Trebuchet MS"/>
                <a:cs typeface="Trebuchet MS"/>
              </a:rPr>
              <a:t>I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dati</a:t>
            </a:r>
            <a:r>
              <a:rPr dirty="0" sz="2000" spc="40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elettronici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40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</a:t>
            </a:r>
            <a:r>
              <a:rPr dirty="0" sz="2000" spc="39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documenti</a:t>
            </a:r>
            <a:r>
              <a:rPr dirty="0" sz="2000" spc="40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elettronici</a:t>
            </a:r>
            <a:r>
              <a:rPr dirty="0" sz="2000" spc="3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conservati</a:t>
            </a:r>
            <a:r>
              <a:rPr dirty="0" sz="2000" spc="39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mediante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un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servizio</a:t>
            </a:r>
            <a:r>
              <a:rPr dirty="0" sz="2000" spc="409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archiviazione</a:t>
            </a:r>
            <a:r>
              <a:rPr dirty="0" sz="2000" spc="-1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elettronica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qualificato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godono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della</a:t>
            </a:r>
            <a:r>
              <a:rPr dirty="0" sz="2000" spc="7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presunzione</a:t>
            </a:r>
            <a:r>
              <a:rPr dirty="0" sz="2000" spc="5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della</a:t>
            </a:r>
            <a:r>
              <a:rPr dirty="0" sz="2000" spc="8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loro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integrità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e</a:t>
            </a:r>
            <a:r>
              <a:rPr dirty="0" sz="2000" spc="6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della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correttezza</a:t>
            </a:r>
            <a:r>
              <a:rPr dirty="0" sz="2000" spc="7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della</a:t>
            </a:r>
            <a:r>
              <a:rPr dirty="0" sz="2000" spc="85" i="1">
                <a:latin typeface="Trebuchet MS"/>
                <a:cs typeface="Trebuchet MS"/>
              </a:rPr>
              <a:t> </a:t>
            </a:r>
            <a:r>
              <a:rPr dirty="0" sz="2000" spc="-20" i="1">
                <a:latin typeface="Trebuchet MS"/>
                <a:cs typeface="Trebuchet MS"/>
              </a:rPr>
              <a:t>loro </a:t>
            </a:r>
            <a:r>
              <a:rPr dirty="0" sz="2000" i="1">
                <a:latin typeface="Trebuchet MS"/>
                <a:cs typeface="Trebuchet MS"/>
              </a:rPr>
              <a:t>origine</a:t>
            </a:r>
            <a:r>
              <a:rPr dirty="0" sz="2000" spc="4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</a:t>
            </a:r>
            <a:r>
              <a:rPr dirty="0" sz="2000" spc="4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la</a:t>
            </a:r>
            <a:r>
              <a:rPr dirty="0" sz="2000" spc="4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durata</a:t>
            </a:r>
            <a:r>
              <a:rPr dirty="0" sz="2000" spc="4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periodo</a:t>
            </a:r>
            <a:r>
              <a:rPr dirty="0" sz="2000" spc="42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4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conservazione</a:t>
            </a:r>
            <a:r>
              <a:rPr dirty="0" sz="2000" spc="4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da</a:t>
            </a:r>
            <a:r>
              <a:rPr dirty="0" sz="2000" spc="42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parte</a:t>
            </a:r>
            <a:r>
              <a:rPr dirty="0" sz="2000" spc="4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del</a:t>
            </a:r>
            <a:r>
              <a:rPr dirty="0" sz="2000" spc="4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prestatore</a:t>
            </a:r>
            <a:r>
              <a:rPr dirty="0" sz="2000" spc="430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di</a:t>
            </a:r>
            <a:r>
              <a:rPr dirty="0" sz="2000" spc="415" i="1">
                <a:latin typeface="Trebuchet MS"/>
                <a:cs typeface="Trebuchet MS"/>
              </a:rPr>
              <a:t> </a:t>
            </a:r>
            <a:r>
              <a:rPr dirty="0" sz="2000" i="1">
                <a:latin typeface="Trebuchet MS"/>
                <a:cs typeface="Trebuchet MS"/>
              </a:rPr>
              <a:t>servizi</a:t>
            </a:r>
            <a:r>
              <a:rPr dirty="0" sz="2000" spc="405" i="1">
                <a:latin typeface="Trebuchet MS"/>
                <a:cs typeface="Trebuchet MS"/>
              </a:rPr>
              <a:t> </a:t>
            </a:r>
            <a:r>
              <a:rPr dirty="0" sz="2000" spc="-10" i="1">
                <a:latin typeface="Trebuchet MS"/>
                <a:cs typeface="Trebuchet MS"/>
              </a:rPr>
              <a:t>fiduciari qualificato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297429" y="899922"/>
            <a:ext cx="7507605" cy="17145"/>
          </a:xfrm>
          <a:custGeom>
            <a:avLst/>
            <a:gdLst/>
            <a:ahLst/>
            <a:cxnLst/>
            <a:rect l="l" t="t" r="r" b="b"/>
            <a:pathLst>
              <a:path w="7507605" h="17144">
                <a:moveTo>
                  <a:pt x="0" y="17144"/>
                </a:moveTo>
                <a:lnTo>
                  <a:pt x="7507224" y="0"/>
                </a:lnTo>
              </a:path>
            </a:pathLst>
          </a:custGeom>
          <a:ln w="19049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97" rIns="0" bIns="0" rtlCol="0" vert="horz">
            <a:spAutoFit/>
          </a:bodyPr>
          <a:lstStyle/>
          <a:p>
            <a:pPr marL="430530">
              <a:lnSpc>
                <a:spcPct val="100000"/>
              </a:lnSpc>
              <a:spcBef>
                <a:spcPts val="95"/>
              </a:spcBef>
            </a:pPr>
            <a:r>
              <a:rPr dirty="0" sz="3350">
                <a:latin typeface="Trebuchet MS"/>
                <a:cs typeface="Trebuchet MS"/>
              </a:rPr>
              <a:t>Le</a:t>
            </a:r>
            <a:r>
              <a:rPr dirty="0" sz="3350" spc="-9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regole</a:t>
            </a:r>
            <a:r>
              <a:rPr dirty="0" sz="3350" spc="-4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UE</a:t>
            </a:r>
            <a:r>
              <a:rPr dirty="0" sz="3350" spc="-6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per</a:t>
            </a:r>
            <a:r>
              <a:rPr dirty="0" sz="3350" spc="-7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l’archiviazione</a:t>
            </a:r>
            <a:r>
              <a:rPr dirty="0" sz="3350" spc="-25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-</a:t>
            </a:r>
            <a:r>
              <a:rPr dirty="0" sz="3350" spc="-60">
                <a:latin typeface="Trebuchet MS"/>
                <a:cs typeface="Trebuchet MS"/>
              </a:rPr>
              <a:t> </a:t>
            </a:r>
            <a:r>
              <a:rPr dirty="0" sz="3350" spc="-50">
                <a:latin typeface="Trebuchet MS"/>
                <a:cs typeface="Trebuchet MS"/>
              </a:rPr>
              <a:t>2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97429" y="899922"/>
            <a:ext cx="7507605" cy="17145"/>
          </a:xfrm>
          <a:custGeom>
            <a:avLst/>
            <a:gdLst/>
            <a:ahLst/>
            <a:cxnLst/>
            <a:rect l="l" t="t" r="r" b="b"/>
            <a:pathLst>
              <a:path w="7507605" h="17144">
                <a:moveTo>
                  <a:pt x="0" y="17144"/>
                </a:moveTo>
                <a:lnTo>
                  <a:pt x="7507224" y="0"/>
                </a:lnTo>
              </a:path>
            </a:pathLst>
          </a:custGeom>
          <a:ln w="19049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18896" y="1267713"/>
            <a:ext cx="5078095" cy="6661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Articolo</a:t>
            </a:r>
            <a:r>
              <a:rPr dirty="0" sz="1400" spc="-4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1400" spc="-2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44536A"/>
                </a:solidFill>
                <a:latin typeface="Trebuchet MS"/>
                <a:cs typeface="Trebuchet MS"/>
              </a:rPr>
              <a:t>undecies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400" spc="-5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400" spc="-1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400" spc="-1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400" spc="-4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400" spc="-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archiviazione</a:t>
            </a:r>
            <a:r>
              <a:rPr dirty="0" sz="1400" spc="-45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1400" spc="-40" b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44536A"/>
                </a:solidFill>
                <a:latin typeface="Trebuchet MS"/>
                <a:cs typeface="Trebuchet MS"/>
              </a:rPr>
              <a:t>qualificata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8896" y="2336419"/>
            <a:ext cx="1600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i="1">
                <a:latin typeface="Trebuchet MS"/>
                <a:cs typeface="Trebuchet MS"/>
              </a:rPr>
              <a:t>1.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76096" y="2336419"/>
            <a:ext cx="54743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latin typeface="Trebuchet MS"/>
                <a:cs typeface="Trebuchet MS"/>
              </a:rPr>
              <a:t>I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archiviazione</a:t>
            </a:r>
            <a:r>
              <a:rPr dirty="0" sz="1200" spc="-6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qualificati</a:t>
            </a:r>
            <a:r>
              <a:rPr dirty="0" sz="1200" spc="-7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soddisfano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requisiti</a:t>
            </a:r>
            <a:r>
              <a:rPr dirty="0" sz="1200" spc="-6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seguenti: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1200" spc="-25" i="1">
                <a:latin typeface="Trebuchet MS"/>
                <a:cs typeface="Trebuchet MS"/>
              </a:rPr>
              <a:t>a)</a:t>
            </a:r>
            <a:r>
              <a:rPr dirty="0" sz="1200" i="1">
                <a:latin typeface="Trebuchet MS"/>
                <a:cs typeface="Trebuchet MS"/>
              </a:rPr>
              <a:t>	sono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forniti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prestatori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fiduciari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qualificati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8896" y="3067939"/>
            <a:ext cx="11391265" cy="3318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2165" marR="274320" indent="-342900">
              <a:lnSpc>
                <a:spcPct val="100000"/>
              </a:lnSpc>
              <a:spcBef>
                <a:spcPts val="100"/>
              </a:spcBef>
              <a:buAutoNum type="alphaLcParenR" startAt="2"/>
              <a:tabLst>
                <a:tab pos="812165" algn="l"/>
              </a:tabLst>
            </a:pPr>
            <a:r>
              <a:rPr dirty="0" sz="1200" i="1">
                <a:latin typeface="Trebuchet MS"/>
                <a:cs typeface="Trebuchet MS"/>
              </a:rPr>
              <a:t>utilizzano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procedure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tecnologie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in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grado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garantire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durabilità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leggibilità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dei</a:t>
            </a:r>
            <a:r>
              <a:rPr dirty="0" sz="1200" spc="-6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documenti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oltre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periodo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spc="-25" i="1">
                <a:latin typeface="Trebuchet MS"/>
                <a:cs typeface="Trebuchet MS"/>
              </a:rPr>
              <a:t>di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validità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tecnologica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almeno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per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tutto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periodo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conservazione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legale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o contrattuale,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preservandone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nel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contempo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l'integrità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 </a:t>
            </a:r>
            <a:r>
              <a:rPr dirty="0" sz="1200" spc="-10" i="1">
                <a:latin typeface="Trebuchet MS"/>
                <a:cs typeface="Trebuchet MS"/>
              </a:rPr>
              <a:t>l'esattezza dell'origine;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rebuchet MS"/>
              <a:buAutoNum type="alphaLcParenR" startAt="2"/>
            </a:pPr>
            <a:endParaRPr sz="1200">
              <a:latin typeface="Trebuchet MS"/>
              <a:cs typeface="Trebuchet MS"/>
            </a:endParaRPr>
          </a:p>
          <a:p>
            <a:pPr marL="812165" marR="170815" indent="-342900">
              <a:lnSpc>
                <a:spcPct val="100000"/>
              </a:lnSpc>
              <a:buAutoNum type="alphaLcParenR" startAt="2"/>
              <a:tabLst>
                <a:tab pos="812165" algn="l"/>
              </a:tabLst>
            </a:pPr>
            <a:r>
              <a:rPr dirty="0" sz="1200" i="1">
                <a:latin typeface="Trebuchet MS"/>
                <a:cs typeface="Trebuchet MS"/>
              </a:rPr>
              <a:t>assicurano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che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tali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dati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tali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documenti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siano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conservati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in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modo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tale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essere protetti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dal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rischio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perdita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alterazione,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spc="-25" i="1">
                <a:latin typeface="Trebuchet MS"/>
                <a:cs typeface="Trebuchet MS"/>
              </a:rPr>
              <a:t>ad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eccezione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delle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modifiche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riguardanti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loro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supporto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loro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formato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elettronico;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rebuchet MS"/>
              <a:buAutoNum type="alphaLcParenR" startAt="2"/>
            </a:pPr>
            <a:endParaRPr sz="1200">
              <a:latin typeface="Trebuchet MS"/>
              <a:cs typeface="Trebuchet MS"/>
            </a:endParaRPr>
          </a:p>
          <a:p>
            <a:pPr algn="just" marL="812165" marR="210820" indent="-342900">
              <a:lnSpc>
                <a:spcPct val="100000"/>
              </a:lnSpc>
              <a:buAutoNum type="alphaLcParenR" startAt="2"/>
              <a:tabLst>
                <a:tab pos="812165" algn="l"/>
              </a:tabLst>
            </a:pPr>
            <a:r>
              <a:rPr dirty="0" sz="1200" i="1">
                <a:latin typeface="Trebuchet MS"/>
                <a:cs typeface="Trebuchet MS"/>
              </a:rPr>
              <a:t>consentono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alle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parti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autorizzate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facenti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affidamento</a:t>
            </a:r>
            <a:r>
              <a:rPr dirty="0" sz="1200" spc="-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sulla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certificazione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ricevere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una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relazione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in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un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modo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automatizzato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in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cui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si</a:t>
            </a:r>
            <a:r>
              <a:rPr dirty="0" sz="1200" spc="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conferma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che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spc="-50" i="1">
                <a:latin typeface="Trebuchet MS"/>
                <a:cs typeface="Trebuchet MS"/>
              </a:rPr>
              <a:t>i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 i</a:t>
            </a:r>
            <a:r>
              <a:rPr dirty="0" sz="1200" spc="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documenti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consultati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un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archivio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elettronico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godono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della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presunzione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integrità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dei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dati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dall'inizio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spc="-25" i="1">
                <a:latin typeface="Trebuchet MS"/>
                <a:cs typeface="Trebuchet MS"/>
              </a:rPr>
              <a:t>del </a:t>
            </a:r>
            <a:r>
              <a:rPr dirty="0" sz="1200" i="1">
                <a:latin typeface="Trebuchet MS"/>
                <a:cs typeface="Trebuchet MS"/>
              </a:rPr>
              <a:t>periodo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conservazione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fino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momento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della</a:t>
            </a:r>
            <a:r>
              <a:rPr dirty="0" sz="1200" spc="-10" i="1">
                <a:latin typeface="Trebuchet MS"/>
                <a:cs typeface="Trebuchet MS"/>
              </a:rPr>
              <a:t> consultazione.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marL="469265" marR="262890">
              <a:lnSpc>
                <a:spcPct val="100000"/>
              </a:lnSpc>
              <a:spcBef>
                <a:spcPts val="5"/>
              </a:spcBef>
            </a:pP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relazione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cui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alla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lettera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d)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primo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comma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è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fornita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in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modo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affidabile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ed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efficiente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reca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firma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qualificata</a:t>
            </a:r>
            <a:r>
              <a:rPr dirty="0" sz="1200" spc="-6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o</a:t>
            </a:r>
            <a:r>
              <a:rPr dirty="0" sz="1200" spc="-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sigillo</a:t>
            </a:r>
            <a:r>
              <a:rPr dirty="0" sz="1200" spc="-1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elettronico</a:t>
            </a:r>
            <a:r>
              <a:rPr dirty="0" sz="1200" spc="-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qualificato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prestatore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del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servizio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archiviazione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qualificato.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Trebuchet MS"/>
              <a:cs typeface="Trebuchet MS"/>
            </a:endParaRPr>
          </a:p>
          <a:p>
            <a:pPr algn="just" marL="241300" marR="5080" indent="-228600">
              <a:lnSpc>
                <a:spcPct val="100000"/>
              </a:lnSpc>
            </a:pPr>
            <a:r>
              <a:rPr dirty="0" sz="1200" i="1">
                <a:latin typeface="Trebuchet MS"/>
                <a:cs typeface="Trebuchet MS"/>
              </a:rPr>
              <a:t>2.</a:t>
            </a:r>
            <a:r>
              <a:rPr dirty="0" sz="1200" spc="3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Entro</a:t>
            </a:r>
            <a:r>
              <a:rPr dirty="0" sz="1200" spc="1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il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21</a:t>
            </a:r>
            <a:r>
              <a:rPr dirty="0" sz="1200" spc="1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maggio</a:t>
            </a:r>
            <a:r>
              <a:rPr dirty="0" sz="1200" spc="1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2025</a:t>
            </a:r>
            <a:r>
              <a:rPr dirty="0" sz="1200" spc="1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Commissione,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mediante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atti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esecuzione,</a:t>
            </a:r>
            <a:r>
              <a:rPr dirty="0" sz="1200" spc="1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stabilisce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un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elenco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norme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riferimento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e,</a:t>
            </a:r>
            <a:r>
              <a:rPr dirty="0" sz="1200" spc="1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</a:t>
            </a:r>
            <a:r>
              <a:rPr dirty="0" sz="1200" spc="1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necessario,</a:t>
            </a:r>
            <a:r>
              <a:rPr dirty="0" sz="1200" spc="1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stabilisce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specifiche</a:t>
            </a:r>
            <a:r>
              <a:rPr dirty="0" sz="1200" spc="145" i="1">
                <a:latin typeface="Trebuchet MS"/>
                <a:cs typeface="Trebuchet MS"/>
              </a:rPr>
              <a:t> </a:t>
            </a:r>
            <a:r>
              <a:rPr dirty="0" sz="1200" spc="-50" i="1">
                <a:latin typeface="Trebuchet MS"/>
                <a:cs typeface="Trebuchet MS"/>
              </a:rPr>
              <a:t>e</a:t>
            </a:r>
            <a:r>
              <a:rPr dirty="0" sz="1200" spc="-5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procedure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applicabili</a:t>
            </a:r>
            <a:r>
              <a:rPr dirty="0" sz="1200" spc="2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ai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</a:t>
            </a:r>
            <a:r>
              <a:rPr dirty="0" sz="1200" spc="2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archiviazione</a:t>
            </a:r>
            <a:r>
              <a:rPr dirty="0" sz="1200" spc="2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21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qualificati.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Si</a:t>
            </a:r>
            <a:r>
              <a:rPr dirty="0" sz="1200" spc="2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presume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che</a:t>
            </a:r>
            <a:r>
              <a:rPr dirty="0" sz="1200" spc="2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i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requisiti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dei</a:t>
            </a:r>
            <a:r>
              <a:rPr dirty="0" sz="1200" spc="2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</a:t>
            </a:r>
            <a:r>
              <a:rPr dirty="0" sz="1200" spc="2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21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archiviazione</a:t>
            </a:r>
            <a:r>
              <a:rPr dirty="0" sz="1200" spc="2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229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qualificati</a:t>
            </a:r>
            <a:r>
              <a:rPr dirty="0" sz="1200" spc="21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siano </a:t>
            </a:r>
            <a:r>
              <a:rPr dirty="0" sz="1200" i="1">
                <a:latin typeface="Trebuchet MS"/>
                <a:cs typeface="Trebuchet MS"/>
              </a:rPr>
              <a:t>rispettati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ove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un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servizio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archiviazione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elettronica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qualificato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sia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conforme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tali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norme,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specifiche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procedure.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spc="-35" i="1">
                <a:latin typeface="Trebuchet MS"/>
                <a:cs typeface="Trebuchet MS"/>
              </a:rPr>
              <a:t>Tali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atti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esecuzione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sono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adottati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spc="-10" i="1">
                <a:latin typeface="Trebuchet MS"/>
                <a:cs typeface="Trebuchet MS"/>
              </a:rPr>
              <a:t>secondo </a:t>
            </a:r>
            <a:r>
              <a:rPr dirty="0" sz="1200" i="1">
                <a:latin typeface="Trebuchet MS"/>
                <a:cs typeface="Trebuchet MS"/>
              </a:rPr>
              <a:t>la</a:t>
            </a:r>
            <a:r>
              <a:rPr dirty="0" sz="1200" spc="-2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procedura</a:t>
            </a:r>
            <a:r>
              <a:rPr dirty="0" sz="1200" spc="-5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d'esame</a:t>
            </a:r>
            <a:r>
              <a:rPr dirty="0" sz="1200" spc="-3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di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cui</a:t>
            </a:r>
            <a:r>
              <a:rPr dirty="0" sz="1200" spc="-35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all'articolo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48,</a:t>
            </a:r>
            <a:r>
              <a:rPr dirty="0" sz="1200" spc="-20" i="1">
                <a:latin typeface="Trebuchet MS"/>
                <a:cs typeface="Trebuchet MS"/>
              </a:rPr>
              <a:t> </a:t>
            </a:r>
            <a:r>
              <a:rPr dirty="0" sz="1200" i="1">
                <a:latin typeface="Trebuchet MS"/>
                <a:cs typeface="Trebuchet MS"/>
              </a:rPr>
              <a:t>paragrafo</a:t>
            </a:r>
            <a:r>
              <a:rPr dirty="0" sz="1200" spc="-40" i="1">
                <a:latin typeface="Trebuchet MS"/>
                <a:cs typeface="Trebuchet MS"/>
              </a:rPr>
              <a:t> </a:t>
            </a:r>
            <a:r>
              <a:rPr dirty="0" sz="1200" spc="-25" i="1">
                <a:latin typeface="Trebuchet MS"/>
                <a:cs typeface="Trebuchet MS"/>
              </a:rPr>
              <a:t>2.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3308" y="2703703"/>
            <a:ext cx="10275570" cy="1671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633730" algn="l"/>
                <a:tab pos="2692400" algn="l"/>
              </a:tabLst>
            </a:pP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fornitura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	del</a:t>
            </a:r>
            <a:r>
              <a:rPr dirty="0" sz="36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36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3600" spc="-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endParaRPr sz="3600">
              <a:latin typeface="Trebuchet MS"/>
              <a:cs typeface="Trebuchet MS"/>
            </a:endParaRPr>
          </a:p>
          <a:p>
            <a:pPr algn="ctr" marL="12065" marR="5080">
              <a:lnSpc>
                <a:spcPct val="100000"/>
              </a:lnSpc>
            </a:pPr>
            <a:r>
              <a:rPr dirty="0" sz="3600">
                <a:solidFill>
                  <a:srgbClr val="44536A"/>
                </a:solidFill>
                <a:latin typeface="Trebuchet MS"/>
                <a:cs typeface="Trebuchet MS"/>
              </a:rPr>
              <a:t>«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registrazione</a:t>
            </a:r>
            <a:r>
              <a:rPr dirty="0" sz="3600" spc="-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3600" spc="-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3600" spc="-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3600" spc="-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3600" spc="-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3600" spc="-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3600" spc="-1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3600" spc="-10" i="1">
                <a:solidFill>
                  <a:srgbClr val="44536A"/>
                </a:solidFill>
                <a:latin typeface="Trebuchet MS"/>
                <a:cs typeface="Trebuchet MS"/>
              </a:rPr>
              <a:t> elettronico</a:t>
            </a:r>
            <a:r>
              <a:rPr dirty="0" sz="3600" spc="-10">
                <a:solidFill>
                  <a:srgbClr val="44536A"/>
                </a:solidFill>
                <a:latin typeface="Trebuchet MS"/>
                <a:cs typeface="Trebuchet MS"/>
              </a:rPr>
              <a:t>»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439" rIns="0" bIns="0" rtlCol="0" vert="horz">
            <a:spAutoFit/>
          </a:bodyPr>
          <a:lstStyle/>
          <a:p>
            <a:pPr marL="909955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I</a:t>
            </a:r>
            <a:r>
              <a:rPr dirty="0" sz="3600" spc="-15"/>
              <a:t> </a:t>
            </a:r>
            <a:r>
              <a:rPr dirty="0" sz="3600"/>
              <a:t>REGISTRI</a:t>
            </a:r>
            <a:r>
              <a:rPr dirty="0" sz="3600" spc="-35"/>
              <a:t> </a:t>
            </a:r>
            <a:r>
              <a:rPr dirty="0" sz="3600" spc="-10"/>
              <a:t>ELETTRONICI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2025523"/>
            <a:ext cx="11061065" cy="37134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0690" indent="-42799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introdotto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2.0.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440690" marR="7620" indent="-428625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suo</a:t>
            </a:r>
            <a:r>
              <a:rPr dirty="0" sz="22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ciclo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vita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22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2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varie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bozze</a:t>
            </a:r>
            <a:r>
              <a:rPr dirty="0" sz="22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22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variabile.</a:t>
            </a:r>
            <a:r>
              <a:rPr dirty="0" sz="22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un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paio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varie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versioni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completamente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eliminato.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440690" marR="6985" indent="-42862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Poi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2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reintrodotto</a:t>
            </a:r>
            <a:r>
              <a:rPr dirty="0" sz="22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definitivamente</a:t>
            </a:r>
            <a:r>
              <a:rPr dirty="0" sz="22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approvato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22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versione</a:t>
            </a:r>
            <a:r>
              <a:rPr dirty="0" sz="22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finale</a:t>
            </a:r>
            <a:r>
              <a:rPr dirty="0" sz="22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testo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approvata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dalla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ITRE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22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europeo.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440690" marR="5080" indent="-428625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testo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dovrebbe</a:t>
            </a:r>
            <a:r>
              <a:rPr dirty="0" sz="22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entrare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vigore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fine</a:t>
            </a:r>
            <a:r>
              <a:rPr dirty="0" sz="22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marzo/metà</a:t>
            </a:r>
            <a:r>
              <a:rPr dirty="0" sz="22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aprile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dopo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20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giorni</a:t>
            </a:r>
            <a:r>
              <a:rPr dirty="0" sz="22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dalla</a:t>
            </a:r>
            <a:r>
              <a:rPr dirty="0" sz="22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pubblicazione</a:t>
            </a:r>
            <a:r>
              <a:rPr dirty="0" sz="2200" spc="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2200" spc="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GUCE.</a:t>
            </a:r>
            <a:r>
              <a:rPr dirty="0" sz="2200" spc="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Prima</a:t>
            </a:r>
            <a:r>
              <a:rPr dirty="0" sz="22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2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pubblicazione</a:t>
            </a:r>
            <a:r>
              <a:rPr dirty="0" sz="2200" spc="1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ci</a:t>
            </a:r>
            <a:r>
              <a:rPr dirty="0" sz="22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2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2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passaggi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formali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Parlamento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Consiglio.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384" rIns="0" bIns="0" rtlCol="0" vert="horz">
            <a:spAutoFit/>
          </a:bodyPr>
          <a:lstStyle/>
          <a:p>
            <a:pPr marL="40767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IL</a:t>
            </a:r>
            <a:r>
              <a:rPr dirty="0" sz="2800" spc="-100"/>
              <a:t> </a:t>
            </a:r>
            <a:r>
              <a:rPr dirty="0" sz="2800"/>
              <a:t>FUTURO</a:t>
            </a:r>
            <a:r>
              <a:rPr dirty="0" sz="2800" spc="-75"/>
              <a:t> </a:t>
            </a:r>
            <a:r>
              <a:rPr dirty="0" sz="2800"/>
              <a:t>DEI</a:t>
            </a:r>
            <a:r>
              <a:rPr dirty="0" sz="2800" spc="-75"/>
              <a:t> </a:t>
            </a:r>
            <a:r>
              <a:rPr dirty="0" sz="2800"/>
              <a:t>SERVIZI</a:t>
            </a:r>
            <a:r>
              <a:rPr dirty="0" sz="2800" spc="-90"/>
              <a:t> </a:t>
            </a:r>
            <a:r>
              <a:rPr dirty="0" sz="2800" spc="-10"/>
              <a:t>BLOCKCHAIN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1341243"/>
            <a:ext cx="11062970" cy="49644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40690" marR="7620" indent="-428625">
              <a:lnSpc>
                <a:spcPct val="120100"/>
              </a:lnSpc>
              <a:spcBef>
                <a:spcPts val="95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 presenza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2.0 del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electronic ledger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ha suscitato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entusiasmo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fautori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blockchain,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smart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contract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e,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generale,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distribuiti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o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decentralizzati.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algn="just" marL="440690" marR="5080" indent="-428625">
              <a:lnSpc>
                <a:spcPct val="12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testo di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2.0,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sempre</a:t>
            </a:r>
            <a:r>
              <a:rPr dirty="0" sz="18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tecnologicamente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neutro,</a:t>
            </a:r>
            <a:r>
              <a:rPr dirty="0" sz="18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stabiliscono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principi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generali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solo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dopo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pubblicazione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standard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caso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avremo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quadro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tecnologico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800" spc="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(anche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se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obbligatorio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visto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principio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discriminazione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norme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comunitarie).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440690" indent="-427990">
              <a:lnSpc>
                <a:spcPct val="10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Sicuramente</a:t>
            </a:r>
            <a:r>
              <a:rPr dirty="0" sz="1800" spc="2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principi</a:t>
            </a:r>
            <a:r>
              <a:rPr dirty="0" sz="1800" spc="22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stabiliti</a:t>
            </a:r>
            <a:r>
              <a:rPr dirty="0" sz="18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22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18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8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evidentemente</a:t>
            </a:r>
            <a:r>
              <a:rPr dirty="0" sz="1800" spc="2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identici</a:t>
            </a:r>
            <a:r>
              <a:rPr dirty="0" sz="18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18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principali</a:t>
            </a:r>
            <a:r>
              <a:rPr dirty="0" sz="18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funzionalità</a:t>
            </a:r>
            <a:endParaRPr sz="1800">
              <a:latin typeface="Trebuchet MS"/>
              <a:cs typeface="Trebuchet MS"/>
            </a:endParaRPr>
          </a:p>
          <a:p>
            <a:pPr marL="440690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tipiche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blockchain.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440690" marR="6350" indent="-428625">
              <a:lnSpc>
                <a:spcPct val="120000"/>
              </a:lnSpc>
              <a:buFont typeface="Arial"/>
              <a:buChar char="•"/>
              <a:tabLst>
                <a:tab pos="440690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qualifica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distribuito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decentralizzato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presenta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criticità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operative</a:t>
            </a:r>
            <a:r>
              <a:rPr dirty="0" sz="18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18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definizione</a:t>
            </a:r>
            <a:r>
              <a:rPr dirty="0" sz="1800" spc="1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1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perimetro</a:t>
            </a:r>
            <a:r>
              <a:rPr dirty="0" sz="1800" spc="1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1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nl</a:t>
            </a:r>
            <a:r>
              <a:rPr dirty="0" sz="1800" spc="1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quale</a:t>
            </a:r>
            <a:r>
              <a:rPr dirty="0" sz="18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dovranno</a:t>
            </a:r>
            <a:r>
              <a:rPr dirty="0" sz="18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8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valutate</a:t>
            </a:r>
            <a:r>
              <a:rPr dirty="0" sz="18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1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1800" spc="1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qualità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utilizzate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conferimento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qualificato.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è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punti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18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standard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dovranno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chiarire.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439" rIns="0" bIns="0" rtlCol="0" vert="horz">
            <a:spAutoFit/>
          </a:bodyPr>
          <a:lstStyle/>
          <a:p>
            <a:pPr marL="393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LE</a:t>
            </a:r>
            <a:r>
              <a:rPr dirty="0" sz="3600" spc="-60"/>
              <a:t> </a:t>
            </a:r>
            <a:r>
              <a:rPr dirty="0" sz="3600"/>
              <a:t>REGOLE</a:t>
            </a:r>
            <a:r>
              <a:rPr dirty="0" sz="3600" spc="-60"/>
              <a:t> </a:t>
            </a:r>
            <a:r>
              <a:rPr dirty="0" sz="3600"/>
              <a:t>UE</a:t>
            </a:r>
            <a:r>
              <a:rPr dirty="0" sz="3600" spc="-40"/>
              <a:t> </a:t>
            </a:r>
            <a:r>
              <a:rPr dirty="0" sz="3600"/>
              <a:t>-</a:t>
            </a:r>
            <a:r>
              <a:rPr dirty="0" sz="3600" spc="-75"/>
              <a:t> </a:t>
            </a:r>
            <a:r>
              <a:rPr dirty="0" sz="3600" spc="-10"/>
              <a:t>DEFINIZIONI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2332482" y="1023366"/>
            <a:ext cx="7957820" cy="0"/>
          </a:xfrm>
          <a:custGeom>
            <a:avLst/>
            <a:gdLst/>
            <a:ahLst/>
            <a:cxnLst/>
            <a:rect l="l" t="t" r="r" b="b"/>
            <a:pathLst>
              <a:path w="7957820" h="0">
                <a:moveTo>
                  <a:pt x="0" y="0"/>
                </a:moveTo>
                <a:lnTo>
                  <a:pt x="7957312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13205" y="1885569"/>
            <a:ext cx="953071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6350">
              <a:lnSpc>
                <a:spcPct val="100000"/>
              </a:lnSpc>
              <a:spcBef>
                <a:spcPts val="105"/>
              </a:spcBef>
              <a:tabLst>
                <a:tab pos="466725" algn="l"/>
                <a:tab pos="1851660" algn="l"/>
                <a:tab pos="2252980" algn="l"/>
                <a:tab pos="3315335" algn="l"/>
                <a:tab pos="4761865" algn="l"/>
                <a:tab pos="5086350" algn="l"/>
                <a:tab pos="6146800" algn="l"/>
                <a:tab pos="7593330" algn="l"/>
                <a:tab pos="9003665" algn="l"/>
              </a:tabLst>
            </a:pP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definizioni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sono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stabilite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nei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numeri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52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53</a:t>
            </a:r>
            <a:r>
              <a:rPr dirty="0" sz="20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dell’articolo</a:t>
            </a:r>
            <a:r>
              <a:rPr dirty="0" sz="20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3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dedicato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definizioni.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12700" marR="5080" indent="477520">
              <a:lnSpc>
                <a:spcPct val="100000"/>
              </a:lnSpc>
              <a:buAutoNum type="arabicParenR" startAt="52"/>
              <a:tabLst>
                <a:tab pos="490220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“registro</a:t>
            </a:r>
            <a:r>
              <a:rPr dirty="0" sz="2000" spc="2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elettronico”,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000" spc="2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sequenza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garantisce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l’integrità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l’accuratezza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dell’ordine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cronologico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di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registrazioni.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44536A"/>
              </a:buClr>
              <a:buFont typeface="Trebuchet MS"/>
              <a:buAutoNum type="arabicParenR" startAt="52"/>
            </a:pPr>
            <a:endParaRPr sz="2000">
              <a:latin typeface="Trebuchet MS"/>
              <a:cs typeface="Trebuchet MS"/>
            </a:endParaRPr>
          </a:p>
          <a:p>
            <a:pPr algn="just" marL="12700" marR="5080" indent="530860">
              <a:lnSpc>
                <a:spcPct val="100000"/>
              </a:lnSpc>
              <a:buAutoNum type="arabicParenR" startAt="52"/>
              <a:tabLst>
                <a:tab pos="543560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“registro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qualificato”,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2000" spc="6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fornito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5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prestatore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soddisfa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10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cui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all’articolo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terdecies”.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LE</a:t>
            </a:r>
            <a:r>
              <a:rPr dirty="0" sz="2700" spc="-45"/>
              <a:t> </a:t>
            </a:r>
            <a:r>
              <a:rPr dirty="0" sz="2700"/>
              <a:t>REGOLE</a:t>
            </a:r>
            <a:r>
              <a:rPr dirty="0" sz="2700" spc="-30"/>
              <a:t> </a:t>
            </a:r>
            <a:r>
              <a:rPr dirty="0" sz="2700"/>
              <a:t>UE</a:t>
            </a:r>
            <a:r>
              <a:rPr dirty="0" sz="2700" spc="-35"/>
              <a:t> </a:t>
            </a:r>
            <a:r>
              <a:rPr dirty="0" sz="2700"/>
              <a:t>–</a:t>
            </a:r>
            <a:r>
              <a:rPr dirty="0" sz="2700" spc="-50"/>
              <a:t> </a:t>
            </a:r>
            <a:r>
              <a:rPr dirty="0" sz="2700"/>
              <a:t>CONSIDERANDO</a:t>
            </a:r>
            <a:r>
              <a:rPr dirty="0" sz="2700" spc="-55"/>
              <a:t> </a:t>
            </a:r>
            <a:r>
              <a:rPr dirty="0" sz="2700"/>
              <a:t>(68</a:t>
            </a:r>
            <a:r>
              <a:rPr dirty="0" sz="2700" spc="-60"/>
              <a:t> </a:t>
            </a:r>
            <a:r>
              <a:rPr dirty="0" sz="2700" spc="-25"/>
              <a:t>-1)</a:t>
            </a:r>
            <a:endParaRPr sz="2700"/>
          </a:p>
        </p:txBody>
      </p:sp>
      <p:sp>
        <p:nvSpPr>
          <p:cNvPr id="3" name="object 3" descr=""/>
          <p:cNvSpPr/>
          <p:nvPr/>
        </p:nvSpPr>
        <p:spPr>
          <a:xfrm>
            <a:off x="2070354" y="1023366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 h="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08812" y="1479041"/>
            <a:ext cx="11112500" cy="4504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“(68)</a:t>
            </a:r>
            <a:r>
              <a:rPr dirty="0" sz="18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sequenza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dovrebbero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garantirne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l'integrità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l'accuratezza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dell'ordine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cronologico.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dovrebbero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stabilire</a:t>
            </a:r>
            <a:r>
              <a:rPr dirty="0" sz="1800" spc="20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2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sequenza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cronologica</a:t>
            </a:r>
            <a:r>
              <a:rPr dirty="0" sz="1800" spc="43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1800" spc="43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4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dati.</a:t>
            </a:r>
            <a:r>
              <a:rPr dirty="0" sz="1800" spc="43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Congiuntamente</a:t>
            </a:r>
            <a:r>
              <a:rPr dirty="0" sz="18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ad</a:t>
            </a:r>
            <a:r>
              <a:rPr dirty="0" sz="1800" spc="4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altre</a:t>
            </a:r>
            <a:r>
              <a:rPr dirty="0" sz="1800" spc="4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tecnologie,</a:t>
            </a:r>
            <a:r>
              <a:rPr dirty="0" sz="1800" spc="43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dovrebbero</a:t>
            </a:r>
            <a:r>
              <a:rPr dirty="0" sz="1800" spc="4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contribuire</a:t>
            </a:r>
            <a:r>
              <a:rPr dirty="0" sz="1800" spc="4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fornire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soluzioni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pubblici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efficienti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trasformativi,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voto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elettronico,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cooperazione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transfrontaliera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autorità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doganali,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cooperazione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transfrontaliera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istituzioni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accademiche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la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registrazione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proprietà</a:t>
            </a:r>
            <a:r>
              <a:rPr dirty="0" sz="18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immobiliari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nei</a:t>
            </a:r>
            <a:r>
              <a:rPr dirty="0" sz="18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catastali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decentrati.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qualificati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dovrebbero</a:t>
            </a:r>
            <a:r>
              <a:rPr dirty="0" sz="1800" spc="3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stabilire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presunzione</a:t>
            </a:r>
            <a:r>
              <a:rPr dirty="0" sz="1800" spc="3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legale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l'ordine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cronologico</a:t>
            </a:r>
            <a:r>
              <a:rPr dirty="0" sz="18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sequenziale</a:t>
            </a:r>
            <a:r>
              <a:rPr dirty="0" sz="1800" spc="3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univoco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accurato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l'integrità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registrazione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registro.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ragione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loro</a:t>
            </a:r>
            <a:r>
              <a:rPr dirty="0" sz="1800" spc="2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specificità,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ad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esempio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l'ordine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cronologico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sequenziale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dati,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dovrebbero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distinti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altri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validazioni temporali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elettroniche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recapito</a:t>
            </a:r>
            <a:r>
              <a:rPr dirty="0" sz="18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certificato.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Per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garantire</a:t>
            </a:r>
            <a:r>
              <a:rPr dirty="0" sz="18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certezza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giuridica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3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promuovere</a:t>
            </a:r>
            <a:r>
              <a:rPr dirty="0" sz="1800" spc="3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l'innovazione,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opportuno</a:t>
            </a:r>
            <a:r>
              <a:rPr dirty="0" sz="1800" spc="3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istituire</a:t>
            </a:r>
            <a:r>
              <a:rPr dirty="0" sz="1800" spc="3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3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quadro</a:t>
            </a:r>
            <a:r>
              <a:rPr dirty="0" sz="18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giuridico</a:t>
            </a:r>
            <a:r>
              <a:rPr dirty="0" sz="1800" spc="2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livello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dell'Unione</a:t>
            </a:r>
            <a:r>
              <a:rPr dirty="0" sz="18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disponga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riconoscimento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transfrontaliero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18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registrazione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nei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elettronici.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Ciò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dovrebbe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impedire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misura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sufficiente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stesso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bene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sia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copiato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venduto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volta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diverse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parti.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processo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creazione</a:t>
            </a:r>
            <a:r>
              <a:rPr dirty="0" sz="1800" spc="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aggiornamento</a:t>
            </a:r>
            <a:r>
              <a:rPr dirty="0" sz="1800" spc="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registro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dipende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dal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tipo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utilizzato,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ossia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centralizzato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distribuito.</a:t>
            </a:r>
            <a:endParaRPr sz="1800">
              <a:latin typeface="Trebuchet MS"/>
              <a:cs typeface="Trebuchet MS"/>
            </a:endParaRPr>
          </a:p>
          <a:p>
            <a:pPr algn="r" marR="6985">
              <a:lnSpc>
                <a:spcPts val="2865"/>
              </a:lnSpc>
            </a:pPr>
            <a:r>
              <a:rPr dirty="0" sz="2400" spc="-10" b="1">
                <a:solidFill>
                  <a:srgbClr val="44536A"/>
                </a:solidFill>
                <a:latin typeface="Trebuchet MS"/>
                <a:cs typeface="Trebuchet MS"/>
              </a:rPr>
              <a:t>&gt;&gt;&gt;&gt;&gt;&gt;&gt;&gt;&gt;&gt;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544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LE</a:t>
            </a:r>
            <a:r>
              <a:rPr dirty="0" sz="2700" spc="-40"/>
              <a:t> </a:t>
            </a:r>
            <a:r>
              <a:rPr dirty="0" sz="2700"/>
              <a:t>REGOLE</a:t>
            </a:r>
            <a:r>
              <a:rPr dirty="0" sz="2700" spc="-25"/>
              <a:t> </a:t>
            </a:r>
            <a:r>
              <a:rPr dirty="0" sz="2700"/>
              <a:t>UE</a:t>
            </a:r>
            <a:r>
              <a:rPr dirty="0" sz="2700" spc="-35"/>
              <a:t> </a:t>
            </a:r>
            <a:r>
              <a:rPr dirty="0" sz="2700"/>
              <a:t>–</a:t>
            </a:r>
            <a:r>
              <a:rPr dirty="0" sz="2700" spc="-45"/>
              <a:t> </a:t>
            </a:r>
            <a:r>
              <a:rPr dirty="0" sz="2700"/>
              <a:t>CONSIDERANDO</a:t>
            </a:r>
            <a:r>
              <a:rPr dirty="0" sz="2700" spc="-50"/>
              <a:t> </a:t>
            </a:r>
            <a:r>
              <a:rPr dirty="0" sz="2700"/>
              <a:t>(68</a:t>
            </a:r>
            <a:r>
              <a:rPr dirty="0" sz="2700" spc="-55"/>
              <a:t> </a:t>
            </a:r>
            <a:r>
              <a:rPr dirty="0" sz="2700"/>
              <a:t>-</a:t>
            </a:r>
            <a:r>
              <a:rPr dirty="0" sz="2700" spc="-45"/>
              <a:t> </a:t>
            </a:r>
            <a:r>
              <a:rPr dirty="0" sz="2700" spc="-25"/>
              <a:t>2)</a:t>
            </a:r>
            <a:endParaRPr sz="2700"/>
          </a:p>
        </p:txBody>
      </p:sp>
      <p:sp>
        <p:nvSpPr>
          <p:cNvPr id="3" name="object 3" descr=""/>
          <p:cNvSpPr/>
          <p:nvPr/>
        </p:nvSpPr>
        <p:spPr>
          <a:xfrm>
            <a:off x="1921001" y="1023366"/>
            <a:ext cx="8789670" cy="0"/>
          </a:xfrm>
          <a:custGeom>
            <a:avLst/>
            <a:gdLst/>
            <a:ahLst/>
            <a:cxnLst/>
            <a:rect l="l" t="t" r="r" b="b"/>
            <a:pathLst>
              <a:path w="8789670" h="0">
                <a:moveTo>
                  <a:pt x="0" y="0"/>
                </a:moveTo>
                <a:lnTo>
                  <a:pt x="8789670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56741" y="1657858"/>
            <a:ext cx="9795510" cy="2315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44536A"/>
                </a:solidFill>
                <a:latin typeface="Trebuchet MS"/>
                <a:cs typeface="Trebuchet MS"/>
              </a:rPr>
              <a:t>&lt;&lt;&lt;&lt;&lt;&lt;&lt;&lt;&lt;&lt;</a:t>
            </a:r>
            <a:endParaRPr sz="2400">
              <a:latin typeface="Trebuchet MS"/>
              <a:cs typeface="Trebuchet MS"/>
            </a:endParaRPr>
          </a:p>
          <a:p>
            <a:pPr algn="just" marL="12700" marR="5080">
              <a:lnSpc>
                <a:spcPct val="100000"/>
              </a:lnSpc>
              <a:spcBef>
                <a:spcPts val="2185"/>
              </a:spcBef>
            </a:pP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presente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8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dovrebbe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garantire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neutralità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tecnologica,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vale</a:t>
            </a:r>
            <a:r>
              <a:rPr dirty="0" sz="18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dire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8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favorire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né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discriminare</a:t>
            </a:r>
            <a:r>
              <a:rPr dirty="0" sz="1800" spc="3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alcuna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tecnologia</a:t>
            </a:r>
            <a:r>
              <a:rPr dirty="0" sz="18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utilizzata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3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attuare</a:t>
            </a:r>
            <a:r>
              <a:rPr dirty="0" sz="18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3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nuovo</a:t>
            </a:r>
            <a:r>
              <a:rPr dirty="0" sz="1800" spc="3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18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3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i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3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elettronici.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Inoltre,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nell'elaborazione</a:t>
            </a:r>
            <a:r>
              <a:rPr dirty="0" sz="1800" spc="45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800" spc="3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esecuzione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specificano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 spc="-50" i="1">
                <a:solidFill>
                  <a:srgbClr val="44536A"/>
                </a:solidFill>
                <a:latin typeface="Trebuchet MS"/>
                <a:cs typeface="Trebuchet MS"/>
              </a:rPr>
              <a:t>i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800" spc="2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2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2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3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3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qualificati,</a:t>
            </a:r>
            <a:r>
              <a:rPr dirty="0" sz="1800" spc="3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2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Commissione</a:t>
            </a:r>
            <a:r>
              <a:rPr dirty="0" sz="1800" spc="3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dovrebbe</a:t>
            </a:r>
            <a:r>
              <a:rPr dirty="0" sz="1800" spc="2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tenere</a:t>
            </a:r>
            <a:r>
              <a:rPr dirty="0" sz="1800" spc="3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conto</a:t>
            </a:r>
            <a:r>
              <a:rPr dirty="0" sz="1800" spc="2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degli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indicatori</a:t>
            </a:r>
            <a:r>
              <a:rPr dirty="0" sz="18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sostenibilità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relativi</a:t>
            </a:r>
            <a:r>
              <a:rPr dirty="0" sz="18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eventuali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effetti</a:t>
            </a:r>
            <a:r>
              <a:rPr dirty="0" sz="1800" spc="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negativi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sul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clima</a:t>
            </a:r>
            <a:r>
              <a:rPr dirty="0" sz="18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altri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effetti</a:t>
            </a:r>
            <a:r>
              <a:rPr dirty="0" sz="18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negativi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connessi</a:t>
            </a:r>
            <a:r>
              <a:rPr dirty="0" sz="1800" spc="-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all'ambiente,</a:t>
            </a:r>
            <a:r>
              <a:rPr dirty="0" sz="1800" spc="-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utilizzando</a:t>
            </a:r>
            <a:r>
              <a:rPr dirty="0" sz="1800" spc="-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metodologie</a:t>
            </a:r>
            <a:r>
              <a:rPr dirty="0" sz="1800" spc="-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adeguate.”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6741" y="4761052"/>
            <a:ext cx="979360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Questo</a:t>
            </a:r>
            <a:r>
              <a:rPr dirty="0" sz="1800" spc="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testo,</a:t>
            </a:r>
            <a:r>
              <a:rPr dirty="0" sz="1800" spc="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pur</a:t>
            </a:r>
            <a:r>
              <a:rPr dirty="0" sz="1800" spc="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non</a:t>
            </a:r>
            <a:r>
              <a:rPr dirty="0" sz="1800" spc="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facente</a:t>
            </a:r>
            <a:r>
              <a:rPr dirty="0" sz="1800" spc="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parte</a:t>
            </a:r>
            <a:r>
              <a:rPr dirty="0" sz="1800" spc="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della</a:t>
            </a:r>
            <a:r>
              <a:rPr dirty="0" sz="1800" spc="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norma,</a:t>
            </a:r>
            <a:r>
              <a:rPr dirty="0" sz="1800" spc="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come</a:t>
            </a:r>
            <a:r>
              <a:rPr dirty="0" sz="1800" spc="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tutte</a:t>
            </a:r>
            <a:r>
              <a:rPr dirty="0" sz="1800" spc="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</a:t>
            </a:r>
            <a:r>
              <a:rPr dirty="0" sz="1800" spc="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preamboli</a:t>
            </a:r>
            <a:r>
              <a:rPr dirty="0" sz="1800" spc="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dirty="0" sz="1800" spc="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testi</a:t>
            </a:r>
            <a:r>
              <a:rPr dirty="0" sz="1800" spc="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normativi,</a:t>
            </a:r>
            <a:r>
              <a:rPr dirty="0" sz="1800" spc="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contiene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30"/>
              </a:spcBef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serie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spunti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molto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interessanti.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676" rIns="0" bIns="0" rtlCol="0" vert="horz">
            <a:spAutoFit/>
          </a:bodyPr>
          <a:lstStyle/>
          <a:p>
            <a:pPr marL="504825">
              <a:lnSpc>
                <a:spcPct val="100000"/>
              </a:lnSpc>
              <a:spcBef>
                <a:spcPts val="95"/>
              </a:spcBef>
            </a:pPr>
            <a:r>
              <a:rPr dirty="0" sz="2200"/>
              <a:t>CONSIDERAZIONI</a:t>
            </a:r>
            <a:r>
              <a:rPr dirty="0" sz="2200" spc="-95"/>
              <a:t> </a:t>
            </a:r>
            <a:r>
              <a:rPr dirty="0" sz="2200"/>
              <a:t>SUI</a:t>
            </a:r>
            <a:r>
              <a:rPr dirty="0" sz="2200" spc="-130"/>
              <a:t> </a:t>
            </a:r>
            <a:r>
              <a:rPr dirty="0" sz="2200"/>
              <a:t>REGISTRI</a:t>
            </a:r>
            <a:r>
              <a:rPr dirty="0" sz="2200" spc="-110"/>
              <a:t> </a:t>
            </a:r>
            <a:r>
              <a:rPr dirty="0" sz="2200" spc="-10"/>
              <a:t>ELETTRONICI</a:t>
            </a:r>
            <a:endParaRPr sz="2200"/>
          </a:p>
        </p:txBody>
      </p:sp>
      <p:sp>
        <p:nvSpPr>
          <p:cNvPr id="3" name="object 3" descr=""/>
          <p:cNvSpPr/>
          <p:nvPr/>
        </p:nvSpPr>
        <p:spPr>
          <a:xfrm>
            <a:off x="2332482" y="1023366"/>
            <a:ext cx="7939405" cy="0"/>
          </a:xfrm>
          <a:custGeom>
            <a:avLst/>
            <a:gdLst/>
            <a:ahLst/>
            <a:cxnLst/>
            <a:rect l="l" t="t" r="r" b="b"/>
            <a:pathLst>
              <a:path w="7939405" h="0">
                <a:moveTo>
                  <a:pt x="0" y="0"/>
                </a:moveTo>
                <a:lnTo>
                  <a:pt x="793902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1148" y="1604517"/>
            <a:ext cx="10420350" cy="386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635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prima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considerazione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è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sul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possibile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utilizzo</a:t>
            </a:r>
            <a:r>
              <a:rPr dirty="0" sz="1800" spc="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registri</a:t>
            </a:r>
            <a:r>
              <a:rPr dirty="0" sz="1800" spc="1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elettronici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il</a:t>
            </a:r>
            <a:r>
              <a:rPr dirty="0" sz="1800" spc="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voto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elettronico</a:t>
            </a:r>
            <a:r>
              <a:rPr dirty="0" sz="1800" spc="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ma</a:t>
            </a:r>
            <a:r>
              <a:rPr dirty="0" sz="1800" spc="1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anche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su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possibili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applicazioni</a:t>
            </a:r>
            <a:r>
              <a:rPr dirty="0" sz="1800" spc="-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tracciamento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merci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 scambio</a:t>
            </a:r>
            <a:r>
              <a:rPr dirty="0" sz="1800" spc="-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titoli</a:t>
            </a:r>
            <a:r>
              <a:rPr dirty="0" sz="1800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accademici.</a:t>
            </a:r>
            <a:r>
              <a:rPr dirty="0" sz="1800" spc="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-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particolare</a:t>
            </a:r>
            <a:r>
              <a:rPr dirty="0" sz="1800" spc="-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tipologia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applicativa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dirty="0" sz="1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registri</a:t>
            </a:r>
            <a:r>
              <a:rPr dirty="0" sz="1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elettronici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consente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registrare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eventi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rigoroso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ordine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cronologico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viene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richiamata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con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la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raccomandazione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2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distinguerla</a:t>
            </a:r>
            <a:r>
              <a:rPr dirty="0" sz="1800" spc="2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rispetto</a:t>
            </a:r>
            <a:r>
              <a:rPr dirty="0" sz="1800" spc="2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alla</a:t>
            </a:r>
            <a:r>
              <a:rPr dirty="0" sz="1800" spc="2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validazione</a:t>
            </a:r>
            <a:r>
              <a:rPr dirty="0" sz="1800" spc="2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temporale</a:t>
            </a:r>
            <a:r>
              <a:rPr dirty="0" sz="1800" spc="2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elettronica</a:t>
            </a:r>
            <a:r>
              <a:rPr dirty="0" sz="1800" spc="2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dirty="0" sz="1800" spc="2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ai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servizi</a:t>
            </a:r>
            <a:r>
              <a:rPr dirty="0" sz="1800" spc="28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elettronici</a:t>
            </a:r>
            <a:r>
              <a:rPr dirty="0" sz="1800" spc="2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di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recapito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certificato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come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nostra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PEC</a:t>
            </a:r>
            <a:r>
              <a:rPr dirty="0" sz="1800" spc="-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sua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evoluzione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 REM.</a:t>
            </a:r>
            <a:endParaRPr sz="1800">
              <a:latin typeface="Calibri"/>
              <a:cs typeface="Calibri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216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Un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quadro</a:t>
            </a:r>
            <a:r>
              <a:rPr dirty="0" sz="1800" spc="2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normativo</a:t>
            </a:r>
            <a:r>
              <a:rPr dirty="0" sz="1800" spc="2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comunitario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serve</a:t>
            </a:r>
            <a:r>
              <a:rPr dirty="0" sz="1800" spc="28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anche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ad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evitare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sui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dati</a:t>
            </a:r>
            <a:r>
              <a:rPr dirty="0" sz="1800" spc="26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registrati</a:t>
            </a:r>
            <a:r>
              <a:rPr dirty="0" sz="1800" spc="2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vi</a:t>
            </a:r>
            <a:r>
              <a:rPr dirty="0" sz="1800" spc="26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siano</a:t>
            </a:r>
            <a:r>
              <a:rPr dirty="0" sz="1800" spc="2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utilizzi</a:t>
            </a:r>
            <a:r>
              <a:rPr dirty="0" sz="1800" spc="2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separati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all’interno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del</a:t>
            </a:r>
            <a:r>
              <a:rPr dirty="0" sz="1800" spc="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singolo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Stato</a:t>
            </a:r>
            <a:r>
              <a:rPr dirty="0" sz="1800" spc="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membro.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Viene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ribadito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il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concetto</a:t>
            </a:r>
            <a:r>
              <a:rPr dirty="0" sz="1800" spc="1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1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neutralità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tecnologica</a:t>
            </a:r>
            <a:r>
              <a:rPr dirty="0" sz="1800" spc="1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delle</a:t>
            </a:r>
            <a:r>
              <a:rPr dirty="0" sz="1800" spc="1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soluzioni,</a:t>
            </a:r>
            <a:r>
              <a:rPr dirty="0" sz="1800" spc="11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di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possibili</a:t>
            </a:r>
            <a:r>
              <a:rPr dirty="0" sz="1800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registri</a:t>
            </a:r>
            <a:r>
              <a:rPr dirty="0" sz="1800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centralizzati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o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decentralizzati.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Molto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importante</a:t>
            </a:r>
            <a:r>
              <a:rPr dirty="0" sz="1800" spc="-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è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anche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Calibri"/>
                <a:cs typeface="Calibri"/>
              </a:rPr>
              <a:t>l’approccio</a:t>
            </a:r>
            <a:r>
              <a:rPr dirty="0" sz="1800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ambientale</a:t>
            </a:r>
            <a:r>
              <a:rPr dirty="0" sz="1800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da</a:t>
            </a:r>
            <a:r>
              <a:rPr dirty="0" sz="1800" spc="-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realizzare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con</a:t>
            </a:r>
            <a:r>
              <a:rPr dirty="0" sz="1800" spc="45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indicatori</a:t>
            </a:r>
            <a:r>
              <a:rPr dirty="0" sz="1800" spc="434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44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sostenibilità</a:t>
            </a:r>
            <a:r>
              <a:rPr dirty="0" sz="1800" spc="459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“relativi</a:t>
            </a:r>
            <a:r>
              <a:rPr dirty="0" sz="1800" spc="4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agli</a:t>
            </a:r>
            <a:r>
              <a:rPr dirty="0" sz="1800" spc="4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impatti</a:t>
            </a:r>
            <a:r>
              <a:rPr dirty="0" sz="1800" spc="4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negativi</a:t>
            </a:r>
            <a:r>
              <a:rPr dirty="0" sz="1800" spc="4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sul</a:t>
            </a:r>
            <a:r>
              <a:rPr dirty="0" sz="1800" spc="4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clima</a:t>
            </a:r>
            <a:r>
              <a:rPr dirty="0" sz="1800" spc="45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dirty="0" sz="1800" spc="4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ad</a:t>
            </a:r>
            <a:r>
              <a:rPr dirty="0" sz="1800" spc="45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altri</a:t>
            </a:r>
            <a:r>
              <a:rPr dirty="0" sz="1800" spc="440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impatti</a:t>
            </a:r>
            <a:r>
              <a:rPr dirty="0" sz="1800" spc="434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i="1">
                <a:solidFill>
                  <a:srgbClr val="44536A"/>
                </a:solidFill>
                <a:latin typeface="Calibri"/>
                <a:cs typeface="Calibri"/>
              </a:rPr>
              <a:t>negativi</a:t>
            </a:r>
            <a:r>
              <a:rPr dirty="0" sz="1800" spc="445" i="1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Calibri"/>
                <a:cs typeface="Calibri"/>
              </a:rPr>
              <a:t>legati</a:t>
            </a:r>
            <a:r>
              <a:rPr dirty="0" sz="1800" spc="-10" i="1">
                <a:solidFill>
                  <a:srgbClr val="44536A"/>
                </a:solidFill>
                <a:latin typeface="Calibri"/>
                <a:cs typeface="Calibri"/>
              </a:rPr>
              <a:t> all’ambiente”.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6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Su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questi</a:t>
            </a:r>
            <a:r>
              <a:rPr dirty="0" sz="1800" spc="29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temi</a:t>
            </a:r>
            <a:r>
              <a:rPr dirty="0" sz="1800" spc="32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si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invita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Commissione</a:t>
            </a:r>
            <a:r>
              <a:rPr dirty="0" sz="1800" spc="3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alla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stesura</a:t>
            </a:r>
            <a:r>
              <a:rPr dirty="0" sz="1800" spc="3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30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atti</a:t>
            </a:r>
            <a:r>
              <a:rPr dirty="0" sz="1800" spc="2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dirty="0" sz="1800" spc="32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esecuzione</a:t>
            </a:r>
            <a:r>
              <a:rPr dirty="0" sz="1800" spc="3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adeguati</a:t>
            </a:r>
            <a:r>
              <a:rPr dirty="0" sz="1800" spc="29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ad</a:t>
            </a:r>
            <a:r>
              <a:rPr dirty="0" sz="1800" spc="30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44536A"/>
                </a:solidFill>
                <a:latin typeface="Calibri"/>
                <a:cs typeface="Calibri"/>
              </a:rPr>
              <a:t>affrontare</a:t>
            </a:r>
            <a:r>
              <a:rPr dirty="0" sz="1800" spc="3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queste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solidFill>
                  <a:srgbClr val="44536A"/>
                </a:solidFill>
                <a:latin typeface="Calibri"/>
                <a:cs typeface="Calibri"/>
              </a:rPr>
              <a:t>tematiche.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7" rIns="0" bIns="0" rtlCol="0" vert="horz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IL</a:t>
            </a:r>
            <a:r>
              <a:rPr dirty="0" sz="2400" spc="-55"/>
              <a:t> </a:t>
            </a:r>
            <a:r>
              <a:rPr dirty="0" sz="2400"/>
              <a:t>TESTO</a:t>
            </a:r>
            <a:r>
              <a:rPr dirty="0" sz="2400" spc="-40"/>
              <a:t> </a:t>
            </a:r>
            <a:r>
              <a:rPr dirty="0" sz="2400"/>
              <a:t>DEL</a:t>
            </a:r>
            <a:r>
              <a:rPr dirty="0" sz="2400" spc="-40"/>
              <a:t> </a:t>
            </a:r>
            <a:r>
              <a:rPr dirty="0" sz="2400"/>
              <a:t>REGOLAMENTO</a:t>
            </a:r>
            <a:r>
              <a:rPr dirty="0" sz="2400" spc="-25"/>
              <a:t> </a:t>
            </a:r>
            <a:r>
              <a:rPr dirty="0" sz="2400"/>
              <a:t>-</a:t>
            </a:r>
            <a:r>
              <a:rPr dirty="0" sz="2400" spc="-45"/>
              <a:t> </a:t>
            </a:r>
            <a:r>
              <a:rPr dirty="0" sz="2400" spc="-50"/>
              <a:t>1</a:t>
            </a:r>
            <a:endParaRPr sz="240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89533" y="1754886"/>
            <a:ext cx="10301605" cy="4292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SEZIONE</a:t>
            </a:r>
            <a:r>
              <a:rPr dirty="0" sz="20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11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2000" spc="-9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b="1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Articolo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duodecies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Effetti</a:t>
            </a:r>
            <a:r>
              <a:rPr dirty="0" sz="2000" spc="-4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giuridici</a:t>
            </a:r>
            <a:r>
              <a:rPr dirty="0" sz="2000" spc="-9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-5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b="1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2000" spc="-9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b="1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000">
              <a:latin typeface="Trebuchet MS"/>
              <a:cs typeface="Trebuchet MS"/>
            </a:endParaRPr>
          </a:p>
          <a:p>
            <a:pPr algn="just" marL="382905" marR="5080" indent="-3708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84175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 un</a:t>
            </a:r>
            <a:r>
              <a:rPr dirty="0" sz="20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20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 spc="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20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negati</a:t>
            </a:r>
            <a:r>
              <a:rPr dirty="0" sz="20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0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effetti</a:t>
            </a:r>
            <a:r>
              <a:rPr dirty="0" sz="20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giuridici</a:t>
            </a:r>
            <a:r>
              <a:rPr dirty="0" sz="20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né</a:t>
            </a:r>
            <a:r>
              <a:rPr dirty="0" sz="2000" spc="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l’ammissibilità</a:t>
            </a:r>
            <a:r>
              <a:rPr dirty="0" sz="20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prova</a:t>
            </a:r>
            <a:r>
              <a:rPr dirty="0" sz="2000" spc="4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40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procedimenti</a:t>
            </a:r>
            <a:r>
              <a:rPr dirty="0" sz="2000" spc="4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giudiziari</a:t>
            </a:r>
            <a:r>
              <a:rPr dirty="0" sz="2000" spc="40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solo</a:t>
            </a:r>
            <a:r>
              <a:rPr dirty="0" sz="2000" spc="4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motivo</a:t>
            </a:r>
            <a:r>
              <a:rPr dirty="0" sz="2000" spc="40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sua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forma</a:t>
            </a:r>
            <a:r>
              <a:rPr dirty="0" sz="2000" spc="409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elettronica</a:t>
            </a:r>
            <a:r>
              <a:rPr dirty="0" sz="2000" spc="4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o 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perché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0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soddisfa</a:t>
            </a:r>
            <a:r>
              <a:rPr dirty="0" sz="20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20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0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20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20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qualificati.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44536A"/>
              </a:buClr>
              <a:buFont typeface="Trebuchet MS"/>
              <a:buAutoNum type="arabicPeriod"/>
            </a:pPr>
            <a:endParaRPr sz="2000">
              <a:latin typeface="Trebuchet MS"/>
              <a:cs typeface="Trebuchet MS"/>
            </a:endParaRPr>
          </a:p>
          <a:p>
            <a:pPr algn="just" marL="382905" marR="5080" indent="-370840">
              <a:lnSpc>
                <a:spcPct val="100000"/>
              </a:lnSpc>
              <a:buAutoNum type="arabicPeriod"/>
              <a:tabLst>
                <a:tab pos="384175" algn="l"/>
              </a:tabLst>
            </a:pP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10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contenute</a:t>
            </a:r>
            <a:r>
              <a:rPr dirty="0" sz="2000" spc="1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000" spc="9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2000" spc="1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2000" spc="1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qualificato</a:t>
            </a:r>
            <a:r>
              <a:rPr dirty="0" sz="2000" spc="1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godono</a:t>
            </a:r>
            <a:r>
              <a:rPr dirty="0" sz="2000" spc="114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presunzione</a:t>
            </a:r>
            <a:r>
              <a:rPr dirty="0" sz="20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000" spc="1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loro</a:t>
            </a:r>
            <a:r>
              <a:rPr dirty="0" sz="20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ordine</a:t>
            </a:r>
            <a:r>
              <a:rPr dirty="0" sz="2000" spc="1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cronologico</a:t>
            </a:r>
            <a:r>
              <a:rPr dirty="0" sz="20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sequenziale</a:t>
            </a:r>
            <a:r>
              <a:rPr dirty="0" sz="20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univoco</a:t>
            </a:r>
            <a:r>
              <a:rPr dirty="0" sz="2000" spc="1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accurato</a:t>
            </a:r>
            <a:r>
              <a:rPr dirty="0" sz="20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i="1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000" spc="1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loro </a:t>
            </a:r>
            <a:r>
              <a:rPr dirty="0" sz="2000" spc="-20" i="1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 spc="-10" i="1">
                <a:solidFill>
                  <a:srgbClr val="44536A"/>
                </a:solidFill>
                <a:latin typeface="Trebuchet MS"/>
                <a:cs typeface="Trebuchet MS"/>
              </a:rPr>
              <a:t>integrità</a:t>
            </a:r>
            <a:r>
              <a:rPr dirty="0" sz="1800" spc="-10" i="1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2547" rIns="0" bIns="0" rtlCol="0" vert="horz">
            <a:spAutoFit/>
          </a:bodyPr>
          <a:lstStyle/>
          <a:p>
            <a:pPr marL="1409065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IL</a:t>
            </a:r>
            <a:r>
              <a:rPr dirty="0" sz="2400" spc="-55"/>
              <a:t> </a:t>
            </a:r>
            <a:r>
              <a:rPr dirty="0" sz="2400"/>
              <a:t>TESTO</a:t>
            </a:r>
            <a:r>
              <a:rPr dirty="0" sz="2400" spc="-40"/>
              <a:t> </a:t>
            </a:r>
            <a:r>
              <a:rPr dirty="0" sz="2400"/>
              <a:t>DEL</a:t>
            </a:r>
            <a:r>
              <a:rPr dirty="0" sz="2400" spc="-40"/>
              <a:t> </a:t>
            </a:r>
            <a:r>
              <a:rPr dirty="0" sz="2400"/>
              <a:t>REGOLAMENTO</a:t>
            </a:r>
            <a:r>
              <a:rPr dirty="0" sz="2400" spc="-25"/>
              <a:t> </a:t>
            </a:r>
            <a:r>
              <a:rPr dirty="0" sz="2400"/>
              <a:t>-</a:t>
            </a:r>
            <a:r>
              <a:rPr dirty="0" sz="2400" spc="-45"/>
              <a:t> </a:t>
            </a:r>
            <a:r>
              <a:rPr dirty="0" sz="2400" spc="-50"/>
              <a:t>2</a:t>
            </a:r>
            <a:endParaRPr sz="240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16484" y="1320800"/>
            <a:ext cx="11480165" cy="5268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Articolo</a:t>
            </a:r>
            <a:r>
              <a:rPr dirty="0" sz="1800" spc="-2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45</a:t>
            </a:r>
            <a:r>
              <a:rPr dirty="0" sz="1800" spc="-1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b="1" i="1">
                <a:solidFill>
                  <a:srgbClr val="44536A"/>
                </a:solidFill>
                <a:latin typeface="Trebuchet MS"/>
                <a:cs typeface="Trebuchet MS"/>
              </a:rPr>
              <a:t>terdecies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800" spc="-4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-3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-10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-3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b="1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-35" b="1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b="1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rebuchet MS"/>
              <a:cs typeface="Trebuchet MS"/>
            </a:endParaRPr>
          </a:p>
          <a:p>
            <a:pPr marL="270510" indent="-257810">
              <a:lnSpc>
                <a:spcPct val="100000"/>
              </a:lnSpc>
              <a:buAutoNum type="arabicPeriod"/>
              <a:tabLst>
                <a:tab pos="27051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qualificati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soddisfano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seguenti: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Trebuchet MS"/>
              <a:buAutoNum type="arabicPeriod"/>
            </a:pPr>
            <a:endParaRPr sz="1600">
              <a:latin typeface="Trebuchet MS"/>
              <a:cs typeface="Trebuchet MS"/>
            </a:endParaRPr>
          </a:p>
          <a:p>
            <a:pPr lvl="1" marL="270510" indent="-257810">
              <a:lnSpc>
                <a:spcPct val="100000"/>
              </a:lnSpc>
              <a:buAutoNum type="alphaLcParenR"/>
              <a:tabLst>
                <a:tab pos="27051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sono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creati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gestiti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uno</a:t>
            </a:r>
            <a:r>
              <a:rPr dirty="0" sz="1600" spc="-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prestatori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qualificati;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Trebuchet MS"/>
              <a:buAutoNum type="alphaLcParenR"/>
            </a:pPr>
            <a:endParaRPr sz="1600">
              <a:latin typeface="Trebuchet MS"/>
              <a:cs typeface="Trebuchet MS"/>
            </a:endParaRPr>
          </a:p>
          <a:p>
            <a:pPr lvl="1" marL="262255" indent="-249554">
              <a:lnSpc>
                <a:spcPct val="100000"/>
              </a:lnSpc>
              <a:buAutoNum type="alphaLcParenR"/>
              <a:tabLst>
                <a:tab pos="26225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stabiliscono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l'origine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registro;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44536A"/>
              </a:buClr>
              <a:buFont typeface="Trebuchet MS"/>
              <a:buAutoNum type="alphaLcParenR"/>
            </a:pPr>
            <a:endParaRPr sz="1600">
              <a:latin typeface="Trebuchet MS"/>
              <a:cs typeface="Trebuchet MS"/>
            </a:endParaRPr>
          </a:p>
          <a:p>
            <a:pPr lvl="1" marL="242570" indent="-229870">
              <a:lnSpc>
                <a:spcPct val="100000"/>
              </a:lnSpc>
              <a:buAutoNum type="alphaLcParenR"/>
              <a:tabLst>
                <a:tab pos="24257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garantiscono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l'ordine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cronologico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sequenziale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univoco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delle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registrazioni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6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registro;</a:t>
            </a:r>
            <a:endParaRPr sz="16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Clr>
                <a:srgbClr val="44536A"/>
              </a:buClr>
              <a:buFont typeface="Trebuchet MS"/>
              <a:buAutoNum type="alphaLcParenR"/>
            </a:pPr>
            <a:endParaRPr sz="1600">
              <a:latin typeface="Trebuchet MS"/>
              <a:cs typeface="Trebuchet MS"/>
            </a:endParaRPr>
          </a:p>
          <a:p>
            <a:pPr lvl="1" marL="283845" indent="-271145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283845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registrano</a:t>
            </a:r>
            <a:r>
              <a:rPr dirty="0" sz="1600" spc="1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tale</a:t>
            </a:r>
            <a:r>
              <a:rPr dirty="0" sz="1600" spc="1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600" spc="1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sia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possibile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individuare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immediatamente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qualsiasi</a:t>
            </a:r>
            <a:r>
              <a:rPr dirty="0" sz="1600" spc="1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successiva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modifica</a:t>
            </a:r>
            <a:r>
              <a:rPr dirty="0" sz="1600" spc="1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degli</a:t>
            </a:r>
            <a:r>
              <a:rPr dirty="0" sz="1600" spc="1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stessi,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garantendone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l'integrità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600" spc="-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tempo.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Trebuchet MS"/>
              <a:cs typeface="Trebuchet MS"/>
            </a:endParaRPr>
          </a:p>
          <a:p>
            <a:pPr marL="270510" marR="7620" indent="-258445">
              <a:lnSpc>
                <a:spcPct val="100000"/>
              </a:lnSpc>
              <a:buAutoNum type="arabicPeriod" startAt="2"/>
              <a:tabLst>
                <a:tab pos="27051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presume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che i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16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 paragrafo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1</a:t>
            </a:r>
            <a:r>
              <a:rPr dirty="0" sz="16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siano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stati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rispettati</a:t>
            </a:r>
            <a:r>
              <a:rPr dirty="0" sz="16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ove un</a:t>
            </a:r>
            <a:r>
              <a:rPr dirty="0" sz="16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registro</a:t>
            </a:r>
            <a:r>
              <a:rPr dirty="0" sz="1600" spc="1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elettronico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sia</a:t>
            </a:r>
            <a:r>
              <a:rPr dirty="0" sz="1600" spc="-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conforme</a:t>
            </a:r>
            <a:r>
              <a:rPr dirty="0" sz="1600" spc="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1600" spc="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norme,</a:t>
            </a:r>
            <a:r>
              <a:rPr dirty="0" sz="1600" spc="-1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specifiche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alle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procedure di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3.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44536A"/>
              </a:buClr>
              <a:buFont typeface="Trebuchet MS"/>
              <a:buAutoNum type="arabicPeriod" startAt="2"/>
            </a:pPr>
            <a:endParaRPr sz="1600">
              <a:latin typeface="Trebuchet MS"/>
              <a:cs typeface="Trebuchet MS"/>
            </a:endParaRPr>
          </a:p>
          <a:p>
            <a:pPr algn="just" marL="12700" marR="5080" indent="251460">
              <a:lnSpc>
                <a:spcPct val="100000"/>
              </a:lnSpc>
              <a:buAutoNum type="arabicPeriod" startAt="2"/>
              <a:tabLst>
                <a:tab pos="264160" algn="l"/>
              </a:tabLst>
            </a:pP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Entro</a:t>
            </a:r>
            <a:r>
              <a:rPr dirty="0" sz="1600" spc="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21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maggio</a:t>
            </a:r>
            <a:r>
              <a:rPr dirty="0" sz="16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2025</a:t>
            </a:r>
            <a:r>
              <a:rPr dirty="0" sz="16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Commissione,</a:t>
            </a:r>
            <a:r>
              <a:rPr dirty="0" sz="1600" spc="5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mediante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6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esecuzione,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16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600" spc="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elenco</a:t>
            </a:r>
            <a:r>
              <a:rPr dirty="0" sz="1600" spc="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norme</a:t>
            </a:r>
            <a:r>
              <a:rPr dirty="0" sz="1600" spc="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6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e,</a:t>
            </a:r>
            <a:r>
              <a:rPr dirty="0" sz="1600" spc="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se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necessario,</a:t>
            </a:r>
            <a:r>
              <a:rPr dirty="0" sz="16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16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specifiche</a:t>
            </a:r>
            <a:r>
              <a:rPr dirty="0" sz="1600" spc="9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6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procedure</a:t>
            </a:r>
            <a:r>
              <a:rPr dirty="0" sz="16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applicabili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ai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requisiti</a:t>
            </a:r>
            <a:r>
              <a:rPr dirty="0" sz="16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16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6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1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600" spc="8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presente</a:t>
            </a:r>
            <a:r>
              <a:rPr dirty="0" sz="1600" spc="7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articolo.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Tali</a:t>
            </a:r>
            <a:r>
              <a:rPr dirty="0" sz="1600" spc="7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atti</a:t>
            </a:r>
            <a:r>
              <a:rPr dirty="0" sz="1600" spc="6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esecuzione sono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adottati</a:t>
            </a:r>
            <a:r>
              <a:rPr dirty="0" sz="1600" spc="-3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secondo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procedura</a:t>
            </a:r>
            <a:r>
              <a:rPr dirty="0" sz="1600" spc="-2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d'esame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cui</a:t>
            </a:r>
            <a:r>
              <a:rPr dirty="0" sz="1600" spc="-4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all'articolo</a:t>
            </a:r>
            <a:r>
              <a:rPr dirty="0" sz="1600" spc="-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48,</a:t>
            </a:r>
            <a:r>
              <a:rPr dirty="0" sz="16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i="1">
                <a:solidFill>
                  <a:srgbClr val="44536A"/>
                </a:solidFill>
                <a:latin typeface="Trebuchet MS"/>
                <a:cs typeface="Trebuchet MS"/>
              </a:rPr>
              <a:t>paragrafo</a:t>
            </a:r>
            <a:r>
              <a:rPr dirty="0" sz="1600" spc="-5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600" spc="-20" i="1">
                <a:solidFill>
                  <a:srgbClr val="44536A"/>
                </a:solidFill>
                <a:latin typeface="Trebuchet MS"/>
                <a:cs typeface="Trebuchet MS"/>
              </a:rPr>
              <a:t>2.";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439" rIns="0" bIns="0" rtlCol="0" vert="horz">
            <a:spAutoFit/>
          </a:bodyPr>
          <a:lstStyle/>
          <a:p>
            <a:pPr marL="136271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COSA</a:t>
            </a:r>
            <a:r>
              <a:rPr dirty="0" sz="3600" spc="-105"/>
              <a:t> </a:t>
            </a:r>
            <a:r>
              <a:rPr dirty="0" sz="3600"/>
              <a:t>PUO’</a:t>
            </a:r>
            <a:r>
              <a:rPr dirty="0" sz="3600" spc="-110"/>
              <a:t> </a:t>
            </a:r>
            <a:r>
              <a:rPr dirty="0" sz="3600" spc="-10"/>
              <a:t>ACCADERE</a:t>
            </a:r>
            <a:endParaRPr sz="3600"/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56284" y="1994153"/>
            <a:ext cx="50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96313" y="1994153"/>
            <a:ext cx="90760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  <a:tabLst>
                <a:tab pos="1359535" algn="l"/>
                <a:tab pos="2456815" algn="l"/>
                <a:tab pos="3026410" algn="l"/>
                <a:tab pos="3554095" algn="l"/>
                <a:tab pos="5161915" algn="l"/>
                <a:tab pos="5643880" algn="l"/>
                <a:tab pos="7099300" algn="l"/>
                <a:tab pos="7837170" algn="l"/>
                <a:tab pos="8320405" algn="l"/>
              </a:tabLst>
            </a:pP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conclusione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possiamo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dire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l’introduzione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endParaRPr sz="18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2796" y="2268473"/>
            <a:ext cx="8496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290955" algn="l"/>
                <a:tab pos="2044064" algn="l"/>
                <a:tab pos="3025775" algn="l"/>
                <a:tab pos="4203700" algn="l"/>
                <a:tab pos="4530090" algn="l"/>
                <a:tab pos="5877560" algn="l"/>
                <a:tab pos="6560184" algn="l"/>
                <a:tab pos="6948805" algn="l"/>
                <a:tab pos="8165465" algn="l"/>
              </a:tabLst>
            </a:pP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servizio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fiduciario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importante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vista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diffusione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dei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centralizzati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distribuiti/decentralizzati</a:t>
            </a:r>
            <a:r>
              <a:rPr dirty="0" sz="18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come la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blockchain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smart</a:t>
            </a:r>
            <a:r>
              <a:rPr dirty="0" sz="1800" spc="-3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 i="1">
                <a:solidFill>
                  <a:srgbClr val="44536A"/>
                </a:solidFill>
                <a:latin typeface="Trebuchet MS"/>
                <a:cs typeface="Trebuchet MS"/>
              </a:rPr>
              <a:t>contract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6284" y="3091688"/>
            <a:ext cx="971677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sfida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innovativa</a:t>
            </a:r>
            <a:r>
              <a:rPr dirty="0" sz="1800" spc="1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quella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definire</a:t>
            </a:r>
            <a:r>
              <a:rPr dirty="0" sz="18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qualifica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soggetti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sfuggono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alla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tipologia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impresa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tradizionale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tipo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miners</a:t>
            </a:r>
            <a:r>
              <a:rPr dirty="0" sz="1800" spc="40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cinesi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18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statunitensi.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Naturalmente</a:t>
            </a:r>
            <a:r>
              <a:rPr dirty="0" sz="1800" spc="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salto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qualità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ci</a:t>
            </a:r>
            <a:r>
              <a:rPr dirty="0" sz="18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applicazioni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governative,</a:t>
            </a:r>
            <a:r>
              <a:rPr dirty="0" sz="1800" spc="1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i="1">
                <a:solidFill>
                  <a:srgbClr val="44536A"/>
                </a:solidFill>
                <a:latin typeface="Trebuchet MS"/>
                <a:cs typeface="Trebuchet MS"/>
              </a:rPr>
              <a:t>fintech</a:t>
            </a:r>
            <a:r>
              <a:rPr dirty="0" sz="1800" spc="185" i="1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(anche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ambito</a:t>
            </a:r>
            <a:r>
              <a:rPr dirty="0" sz="18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euro</a:t>
            </a:r>
            <a:r>
              <a:rPr dirty="0" sz="1800" spc="1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digitale)</a:t>
            </a:r>
            <a:r>
              <a:rPr dirty="0" sz="1800" spc="1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18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utilizzi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imprevedibili,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18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spesso</a:t>
            </a:r>
            <a:r>
              <a:rPr dirty="0" sz="18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accade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nel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caso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dell’innovazione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digitale.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44536A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algn="just"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Insieme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elettronici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rappresentano</a:t>
            </a:r>
            <a:r>
              <a:rPr dirty="0" sz="18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una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importante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novità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Europa</a:t>
            </a:r>
            <a:r>
              <a:rPr dirty="0" sz="18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sempre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più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desiderosa di regolamentare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tecnologia</a:t>
            </a:r>
            <a:r>
              <a:rPr dirty="0" sz="18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per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rafforzare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sovranità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materia.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02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DISTRIBUITO/DECENTRALIZZATO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638805" y="1023366"/>
            <a:ext cx="7306945" cy="0"/>
          </a:xfrm>
          <a:custGeom>
            <a:avLst/>
            <a:gdLst/>
            <a:ahLst/>
            <a:cxnLst/>
            <a:rect l="l" t="t" r="r" b="b"/>
            <a:pathLst>
              <a:path w="7306945" h="0">
                <a:moveTo>
                  <a:pt x="0" y="0"/>
                </a:moveTo>
                <a:lnTo>
                  <a:pt x="730656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8076" y="1197863"/>
            <a:ext cx="6544844" cy="315468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25627" y="4502353"/>
            <a:ext cx="1152461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Centralizzazione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decentralizzazione</a:t>
            </a:r>
            <a:r>
              <a:rPr dirty="0" sz="18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fanno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alla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modalità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18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sistema.</a:t>
            </a:r>
            <a:r>
              <a:rPr dirty="0" sz="1800" spc="8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sistema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centralizzato,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viene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eseguito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un’unica</a:t>
            </a:r>
            <a:r>
              <a:rPr dirty="0" sz="1800" spc="3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entità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(persona,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azienda,</a:t>
            </a:r>
            <a:r>
              <a:rPr dirty="0" sz="1800" spc="3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istituzione).</a:t>
            </a:r>
            <a:r>
              <a:rPr dirty="0" sz="1800" spc="3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3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sistema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decentralizzato</a:t>
            </a:r>
            <a:r>
              <a:rPr dirty="0" sz="1800" spc="2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esiste</a:t>
            </a:r>
            <a:r>
              <a:rPr dirty="0" sz="18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un’entità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singola,</a:t>
            </a:r>
            <a:r>
              <a:rPr dirty="0" sz="18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bensì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controllo</a:t>
            </a:r>
            <a:r>
              <a:rPr dirty="0" sz="18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viene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suddiviso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fra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molte</a:t>
            </a:r>
            <a:r>
              <a:rPr dirty="0" sz="18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entità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indipendenti,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altre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parole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gestito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direttamente</a:t>
            </a:r>
            <a:r>
              <a:rPr dirty="0" sz="18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dalle</a:t>
            </a:r>
            <a:r>
              <a:rPr dirty="0" sz="18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singole</a:t>
            </a:r>
            <a:r>
              <a:rPr dirty="0" sz="18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componenti.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800">
              <a:latin typeface="Trebuchet MS"/>
              <a:cs typeface="Trebuchet MS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distribuito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riferimento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differenti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luoghi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fisici.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All’interno</a:t>
            </a:r>
            <a:r>
              <a:rPr dirty="0" sz="1800" spc="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distribuito,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tutte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44536A"/>
                </a:solidFill>
                <a:latin typeface="Trebuchet MS"/>
                <a:cs typeface="Trebuchet MS"/>
              </a:rPr>
              <a:t>le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componenti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dello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stesso</a:t>
            </a:r>
            <a:r>
              <a:rPr dirty="0" sz="18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trovano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posizionate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all’interno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medesimo</a:t>
            </a:r>
            <a:r>
              <a:rPr dirty="0" sz="18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luogo</a:t>
            </a:r>
            <a:r>
              <a:rPr dirty="0" sz="18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fisico.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18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distribuito,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parte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colloca</a:t>
            </a:r>
            <a:r>
              <a:rPr dirty="0" sz="18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diverse</a:t>
            </a:r>
            <a:r>
              <a:rPr dirty="0" sz="18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44536A"/>
                </a:solidFill>
                <a:latin typeface="Trebuchet MS"/>
                <a:cs typeface="Trebuchet MS"/>
              </a:rPr>
              <a:t>località</a:t>
            </a:r>
            <a:r>
              <a:rPr dirty="0" sz="18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44536A"/>
                </a:solidFill>
                <a:latin typeface="Trebuchet MS"/>
                <a:cs typeface="Trebuchet MS"/>
              </a:rPr>
              <a:t>separate.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1220" y="2591562"/>
            <a:ext cx="6570980" cy="13677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Criticità</a:t>
            </a:r>
            <a:r>
              <a:rPr dirty="0" sz="4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4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regolamento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4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4400">
                <a:solidFill>
                  <a:srgbClr val="44536A"/>
                </a:solidFill>
                <a:latin typeface="Trebuchet MS"/>
                <a:cs typeface="Trebuchet MS"/>
              </a:rPr>
              <a:t>2.0</a:t>
            </a:r>
            <a:r>
              <a:rPr dirty="0" sz="4400" spc="-10">
                <a:solidFill>
                  <a:srgbClr val="44536A"/>
                </a:solidFill>
                <a:latin typeface="Trebuchet MS"/>
                <a:cs typeface="Trebuchet MS"/>
              </a:rPr>
              <a:t> (2024/1183)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697" rIns="0" bIns="0" rtlCol="0" vert="horz">
            <a:spAutoFit/>
          </a:bodyPr>
          <a:lstStyle/>
          <a:p>
            <a:pPr marL="2445385">
              <a:lnSpc>
                <a:spcPct val="100000"/>
              </a:lnSpc>
              <a:spcBef>
                <a:spcPts val="95"/>
              </a:spcBef>
            </a:pPr>
            <a:r>
              <a:rPr dirty="0" sz="3350" spc="-10">
                <a:latin typeface="Trebuchet MS"/>
                <a:cs typeface="Trebuchet MS"/>
              </a:rPr>
              <a:t>TUTTO</a:t>
            </a:r>
            <a:r>
              <a:rPr dirty="0" sz="3350" spc="-130">
                <a:latin typeface="Trebuchet MS"/>
                <a:cs typeface="Trebuchet MS"/>
              </a:rPr>
              <a:t> </a:t>
            </a:r>
            <a:r>
              <a:rPr dirty="0" sz="3350">
                <a:latin typeface="Trebuchet MS"/>
                <a:cs typeface="Trebuchet MS"/>
              </a:rPr>
              <a:t>BELLO</a:t>
            </a:r>
            <a:r>
              <a:rPr dirty="0" sz="3350" spc="-120">
                <a:latin typeface="Trebuchet MS"/>
                <a:cs typeface="Trebuchet MS"/>
              </a:rPr>
              <a:t> </a:t>
            </a:r>
            <a:r>
              <a:rPr dirty="0" sz="3350" spc="-50">
                <a:latin typeface="Trebuchet MS"/>
                <a:cs typeface="Trebuchet MS"/>
              </a:rPr>
              <a:t>?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37210" y="1301318"/>
            <a:ext cx="11515725" cy="441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sfida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4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4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4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alto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livello.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Quanti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pubblici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privati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ci</a:t>
            </a:r>
            <a:r>
              <a:rPr dirty="0" sz="2400" spc="-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saranno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 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4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protezione</a:t>
            </a:r>
            <a:r>
              <a:rPr dirty="0" sz="24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4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400" spc="2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personali</a:t>
            </a:r>
            <a:r>
              <a:rPr dirty="0" sz="2400" spc="2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4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percepito</a:t>
            </a:r>
            <a:r>
              <a:rPr dirty="0" sz="2400" spc="22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400" spc="2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modo</a:t>
            </a:r>
            <a:r>
              <a:rPr dirty="0" sz="2400" spc="2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sereno</a:t>
            </a:r>
            <a:r>
              <a:rPr dirty="0" sz="24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o</a:t>
            </a:r>
            <a:r>
              <a:rPr dirty="0" sz="24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25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endParaRPr sz="2400">
              <a:latin typeface="Trebuchet MS"/>
              <a:cs typeface="Trebuchet MS"/>
            </a:endParaRPr>
          </a:p>
          <a:p>
            <a:pPr marL="352425">
              <a:lnSpc>
                <a:spcPct val="100000"/>
              </a:lnSpc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considerato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«super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controllore»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Portafogli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pubblici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4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si</a:t>
            </a:r>
            <a:r>
              <a:rPr dirty="0" sz="24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sosterranno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economicamente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44536A"/>
                </a:solidFill>
                <a:latin typeface="Trebuchet MS"/>
                <a:cs typeface="Trebuchet MS"/>
              </a:rPr>
              <a:t>?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Quanto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complesso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passaggio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tra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SPID</a:t>
            </a:r>
            <a:r>
              <a:rPr dirty="0" sz="24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4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italiano/europeo.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44536A"/>
              </a:buClr>
              <a:buFont typeface="Arial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2425" indent="-339725">
              <a:lnSpc>
                <a:spcPct val="100000"/>
              </a:lnSpc>
              <a:buFont typeface="Arial"/>
              <a:buChar char="•"/>
              <a:tabLst>
                <a:tab pos="352425" algn="l"/>
              </a:tabLst>
            </a:pP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CIE</a:t>
            </a:r>
            <a:r>
              <a:rPr dirty="0" sz="24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pronta</a:t>
            </a:r>
            <a:r>
              <a:rPr dirty="0" sz="2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a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reggere</a:t>
            </a:r>
            <a:r>
              <a:rPr dirty="0" sz="24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peso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«dopo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SPID»</a:t>
            </a:r>
            <a:r>
              <a:rPr dirty="0" sz="24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?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(Se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ci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4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4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44536A"/>
                </a:solidFill>
                <a:latin typeface="Trebuchet MS"/>
                <a:cs typeface="Trebuchet MS"/>
              </a:rPr>
              <a:t>«dopo</a:t>
            </a:r>
            <a:r>
              <a:rPr dirty="0" sz="24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44536A"/>
                </a:solidFill>
                <a:latin typeface="Trebuchet MS"/>
                <a:cs typeface="Trebuchet MS"/>
              </a:rPr>
              <a:t>SPID»).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266694" y="916686"/>
            <a:ext cx="5550535" cy="0"/>
          </a:xfrm>
          <a:custGeom>
            <a:avLst/>
            <a:gdLst/>
            <a:ahLst/>
            <a:cxnLst/>
            <a:rect l="l" t="t" r="r" b="b"/>
            <a:pathLst>
              <a:path w="5550534" h="0">
                <a:moveTo>
                  <a:pt x="0" y="0"/>
                </a:moveTo>
                <a:lnTo>
                  <a:pt x="5550154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4602" rIns="0" bIns="0" rtlCol="0" vert="horz">
            <a:spAutoFit/>
          </a:bodyPr>
          <a:lstStyle/>
          <a:p>
            <a:pPr marL="2183130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CONCLUSIONI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5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14908" y="1598116"/>
            <a:ext cx="11062335" cy="413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indent="-427990">
              <a:lnSpc>
                <a:spcPts val="2270"/>
              </a:lnSpc>
              <a:spcBef>
                <a:spcPts val="10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1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nuovi</a:t>
            </a:r>
            <a:r>
              <a:rPr dirty="0" sz="21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1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fiduciari</a:t>
            </a:r>
            <a:r>
              <a:rPr dirty="0" sz="21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descritti</a:t>
            </a:r>
            <a:r>
              <a:rPr dirty="0" sz="21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hanno</a:t>
            </a:r>
            <a:r>
              <a:rPr dirty="0" sz="21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1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impatti</a:t>
            </a:r>
            <a:r>
              <a:rPr dirty="0" sz="21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1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indiretti</a:t>
            </a:r>
            <a:r>
              <a:rPr dirty="0" sz="21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sul</a:t>
            </a:r>
            <a:r>
              <a:rPr dirty="0" sz="21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mercato</a:t>
            </a:r>
            <a:r>
              <a:rPr dirty="0" sz="2100" spc="10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pubblico</a:t>
            </a:r>
            <a:endParaRPr sz="2100">
              <a:latin typeface="Trebuchet MS"/>
              <a:cs typeface="Trebuchet MS"/>
            </a:endParaRPr>
          </a:p>
          <a:p>
            <a:pPr marL="440690">
              <a:lnSpc>
                <a:spcPts val="2270"/>
              </a:lnSpc>
            </a:pP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1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privato.</a:t>
            </a:r>
            <a:endParaRPr sz="2100">
              <a:latin typeface="Trebuchet MS"/>
              <a:cs typeface="Trebuchet MS"/>
            </a:endParaRPr>
          </a:p>
          <a:p>
            <a:pPr algn="just" marL="440690" marR="6985" indent="-428625">
              <a:lnSpc>
                <a:spcPct val="80000"/>
              </a:lnSpc>
              <a:spcBef>
                <a:spcPts val="2014"/>
              </a:spcBef>
              <a:buFont typeface="Arial"/>
              <a:buChar char="•"/>
              <a:tabLst>
                <a:tab pos="440690" algn="l"/>
                <a:tab pos="441959" algn="l"/>
              </a:tabLst>
            </a:pP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I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registri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elettronici,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oltre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scenari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già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detti,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coinvolgono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l’archiviazione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elettronica.</a:t>
            </a:r>
            <a:r>
              <a:rPr dirty="0" sz="21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fiduciari per</a:t>
            </a:r>
            <a:r>
              <a:rPr dirty="0" sz="21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gestione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dispositivi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1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funzionalità,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obbligatorie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1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Digitale,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sottoscrizione</a:t>
            </a:r>
            <a:r>
              <a:rPr dirty="0" sz="21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apposizione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sigillo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1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modalità</a:t>
            </a:r>
            <a:r>
              <a:rPr dirty="0" sz="2100" spc="-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remota.</a:t>
            </a:r>
            <a:endParaRPr sz="2100">
              <a:latin typeface="Trebuchet MS"/>
              <a:cs typeface="Trebuchet MS"/>
            </a:endParaRPr>
          </a:p>
          <a:p>
            <a:pPr algn="just" marL="440690" marR="8255" indent="-428625">
              <a:lnSpc>
                <a:spcPct val="80000"/>
              </a:lnSpc>
              <a:spcBef>
                <a:spcPts val="2020"/>
              </a:spcBef>
              <a:buFont typeface="Arial"/>
              <a:buChar char="•"/>
              <a:tabLst>
                <a:tab pos="440690" algn="l"/>
                <a:tab pos="441959" algn="l"/>
              </a:tabLst>
            </a:pP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	La</a:t>
            </a:r>
            <a:r>
              <a:rPr dirty="0" sz="2100" spc="22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sottoscrizione</a:t>
            </a:r>
            <a:r>
              <a:rPr dirty="0" sz="2100" spc="23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tramite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dovrà</a:t>
            </a:r>
            <a:r>
              <a:rPr dirty="0" sz="2100" spc="22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gratuita</a:t>
            </a:r>
            <a:r>
              <a:rPr dirty="0" sz="2100" spc="23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100" spc="23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gli</a:t>
            </a:r>
            <a:r>
              <a:rPr dirty="0" sz="2100" spc="225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usi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 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non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professionali</a:t>
            </a:r>
            <a:r>
              <a:rPr dirty="0" sz="21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(se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prescritto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una</a:t>
            </a:r>
            <a:r>
              <a:rPr dirty="0" sz="2100" spc="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norma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specifica),</a:t>
            </a:r>
            <a:r>
              <a:rPr dirty="0" sz="21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quindi la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diffusione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strumenti</a:t>
            </a:r>
            <a:r>
              <a:rPr dirty="0" sz="21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25">
                <a:solidFill>
                  <a:srgbClr val="44536A"/>
                </a:solidFill>
                <a:latin typeface="Trebuchet MS"/>
                <a:cs typeface="Trebuchet MS"/>
              </a:rPr>
              <a:t>di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firma</a:t>
            </a:r>
            <a:r>
              <a:rPr dirty="0" sz="21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remota</a:t>
            </a:r>
            <a:r>
              <a:rPr dirty="0" sz="21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aumenterà</a:t>
            </a:r>
            <a:r>
              <a:rPr dirty="0" sz="21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1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100" spc="2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possibilità</a:t>
            </a:r>
            <a:r>
              <a:rPr dirty="0" sz="21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100" spc="2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100" spc="2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cittadini</a:t>
            </a:r>
            <a:r>
              <a:rPr dirty="0" sz="2100" spc="2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1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sottoscrivere</a:t>
            </a:r>
            <a:r>
              <a:rPr dirty="0" sz="2100" spc="229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100" spc="2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44536A"/>
                </a:solidFill>
                <a:latin typeface="Trebuchet MS"/>
                <a:cs typeface="Trebuchet MS"/>
              </a:rPr>
              <a:t>documenti informatici.</a:t>
            </a:r>
            <a:endParaRPr sz="2100">
              <a:latin typeface="Trebuchet MS"/>
              <a:cs typeface="Trebuchet MS"/>
            </a:endParaRPr>
          </a:p>
          <a:p>
            <a:pPr algn="just" marL="436245" marR="5080" indent="-424180">
              <a:lnSpc>
                <a:spcPct val="80000"/>
              </a:lnSpc>
              <a:spcBef>
                <a:spcPts val="1920"/>
              </a:spcBef>
              <a:buFont typeface="Arial"/>
              <a:buChar char="•"/>
              <a:tabLst>
                <a:tab pos="440690" algn="l"/>
              </a:tabLst>
            </a:pP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000" spc="1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0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000" spc="114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suo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successo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saranno</a:t>
            </a:r>
            <a:r>
              <a:rPr dirty="0" sz="20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l’elemento</a:t>
            </a:r>
            <a:r>
              <a:rPr dirty="0" sz="2000" spc="1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decisivo</a:t>
            </a:r>
            <a:r>
              <a:rPr dirty="0" sz="2000" spc="1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per </a:t>
            </a:r>
            <a:r>
              <a:rPr dirty="0" sz="2000" spc="-25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0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diffusione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europea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0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digitali</a:t>
            </a:r>
            <a:r>
              <a:rPr dirty="0" sz="20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comuni,</a:t>
            </a:r>
            <a:r>
              <a:rPr dirty="0" sz="2000" spc="27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elevata</a:t>
            </a:r>
            <a:r>
              <a:rPr dirty="0" sz="2000" spc="2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protezione</a:t>
            </a:r>
            <a:r>
              <a:rPr dirty="0" sz="2000" spc="2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000" spc="2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personali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	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derivante</a:t>
            </a:r>
            <a:r>
              <a:rPr dirty="0" sz="20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da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0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0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sicurezza</a:t>
            </a:r>
            <a:r>
              <a:rPr dirty="0" sz="20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cibernetica</a:t>
            </a:r>
            <a:r>
              <a:rPr dirty="0" sz="20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allo</a:t>
            </a:r>
            <a:r>
              <a:rPr dirty="0" sz="20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44536A"/>
                </a:solidFill>
                <a:latin typeface="Trebuchet MS"/>
                <a:cs typeface="Trebuchet MS"/>
              </a:rPr>
              <a:t>stato</a:t>
            </a:r>
            <a:r>
              <a:rPr dirty="0" sz="20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44536A"/>
                </a:solidFill>
                <a:latin typeface="Trebuchet MS"/>
                <a:cs typeface="Trebuchet MS"/>
              </a:rPr>
              <a:t>dell’arte.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" y="118871"/>
            <a:ext cx="1979676" cy="4572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3873246" y="1023366"/>
            <a:ext cx="4895215" cy="0"/>
          </a:xfrm>
          <a:custGeom>
            <a:avLst/>
            <a:gdLst/>
            <a:ahLst/>
            <a:cxnLst/>
            <a:rect l="l" t="t" r="r" b="b"/>
            <a:pathLst>
              <a:path w="4895215" h="0">
                <a:moveTo>
                  <a:pt x="0" y="0"/>
                </a:moveTo>
                <a:lnTo>
                  <a:pt x="4894707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6606" rIns="0" bIns="0" rtlCol="0" vert="horz">
            <a:spAutoFit/>
          </a:bodyPr>
          <a:lstStyle/>
          <a:p>
            <a:pPr marL="1614170">
              <a:lnSpc>
                <a:spcPct val="100000"/>
              </a:lnSpc>
              <a:spcBef>
                <a:spcPts val="105"/>
              </a:spcBef>
            </a:pPr>
            <a:r>
              <a:rPr dirty="0"/>
              <a:t>CONCLUSIONI</a:t>
            </a:r>
            <a:r>
              <a:rPr dirty="0" spc="-65"/>
              <a:t> </a:t>
            </a:r>
            <a:r>
              <a:rPr dirty="0"/>
              <a:t>-</a:t>
            </a:r>
            <a:r>
              <a:rPr dirty="0" spc="-50"/>
              <a:t> 2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3681221" y="1037082"/>
            <a:ext cx="4189729" cy="50800"/>
          </a:xfrm>
          <a:custGeom>
            <a:avLst/>
            <a:gdLst/>
            <a:ahLst/>
            <a:cxnLst/>
            <a:rect l="l" t="t" r="r" b="b"/>
            <a:pathLst>
              <a:path w="4189729" h="50800">
                <a:moveTo>
                  <a:pt x="0" y="50418"/>
                </a:moveTo>
                <a:lnTo>
                  <a:pt x="4189222" y="0"/>
                </a:lnTo>
              </a:path>
            </a:pathLst>
          </a:custGeom>
          <a:ln w="19050">
            <a:solidFill>
              <a:srgbClr val="8922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40512" y="1457324"/>
            <a:ext cx="11281410" cy="4384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55575" marR="6985" indent="-14351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5557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3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200" spc="3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Europeo</a:t>
            </a:r>
            <a:r>
              <a:rPr dirty="0" sz="2200" spc="3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3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Identità</a:t>
            </a:r>
            <a:r>
              <a:rPr dirty="0" sz="2200" spc="4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Digitale</a:t>
            </a:r>
            <a:r>
              <a:rPr dirty="0" sz="2200" spc="4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3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3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progetto</a:t>
            </a:r>
            <a:r>
              <a:rPr dirty="0" sz="2200" spc="3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cruciale</a:t>
            </a:r>
            <a:r>
              <a:rPr dirty="0" sz="2200" spc="3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3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200" spc="3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sviluppo</a:t>
            </a:r>
            <a:r>
              <a:rPr dirty="0" sz="2200" spc="3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dei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sistemi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servizi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digitali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nella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società</a:t>
            </a:r>
            <a:r>
              <a:rPr dirty="0" sz="22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dell’informazione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della</a:t>
            </a:r>
            <a:r>
              <a:rPr dirty="0" sz="2200" spc="-6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comunicazione.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155575" marR="5080" indent="-14351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5557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2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schema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200" spc="3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eIDAS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II</a:t>
            </a:r>
            <a:r>
              <a:rPr dirty="0" sz="22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che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modifica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regolamento</a:t>
            </a:r>
            <a:r>
              <a:rPr dirty="0" sz="2200" spc="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vigente</a:t>
            </a:r>
            <a:r>
              <a:rPr dirty="0" sz="2200" spc="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stabilisce</a:t>
            </a:r>
            <a:r>
              <a:rPr dirty="0" sz="2200" spc="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nuove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numerose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regole</a:t>
            </a:r>
            <a:r>
              <a:rPr dirty="0" sz="22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sul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tema.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Lo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scenario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operativo</a:t>
            </a:r>
            <a:r>
              <a:rPr dirty="0" sz="22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è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altamente</a:t>
            </a:r>
            <a:r>
              <a:rPr dirty="0" sz="2200" spc="-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critico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protezione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dei</a:t>
            </a:r>
            <a:r>
              <a:rPr dirty="0" sz="22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dati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personali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anche</a:t>
            </a:r>
            <a:r>
              <a:rPr dirty="0" sz="2200" spc="3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molto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complesso</a:t>
            </a:r>
            <a:r>
              <a:rPr dirty="0" sz="2200" spc="2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</a:t>
            </a:r>
            <a:r>
              <a:rPr dirty="0" sz="22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numerosissimi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flussi</a:t>
            </a:r>
            <a:r>
              <a:rPr dirty="0" sz="2200" spc="2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28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informazioni coinvolti.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155575" indent="-142875">
              <a:lnSpc>
                <a:spcPct val="100000"/>
              </a:lnSpc>
              <a:buFont typeface="Arial"/>
              <a:buChar char="•"/>
              <a:tabLst>
                <a:tab pos="15557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Le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istituzioni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europee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stanno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lavorando</a:t>
            </a:r>
            <a:r>
              <a:rPr dirty="0" sz="2200" spc="-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alacremente</a:t>
            </a:r>
            <a:r>
              <a:rPr dirty="0" sz="2200" spc="-6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4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con</a:t>
            </a:r>
            <a:r>
              <a:rPr dirty="0" sz="2200" spc="-7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tempistiche</a:t>
            </a:r>
            <a:r>
              <a:rPr dirty="0" sz="2200" spc="-5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molto</a:t>
            </a:r>
            <a:r>
              <a:rPr dirty="0" sz="2200" spc="-5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veloci.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44536A"/>
              </a:buClr>
              <a:buFont typeface="Arial"/>
              <a:buChar char="•"/>
            </a:pPr>
            <a:endParaRPr sz="2200">
              <a:latin typeface="Trebuchet MS"/>
              <a:cs typeface="Trebuchet MS"/>
            </a:endParaRPr>
          </a:p>
          <a:p>
            <a:pPr algn="just" marL="155575" marR="5715" indent="-143510">
              <a:lnSpc>
                <a:spcPct val="100000"/>
              </a:lnSpc>
              <a:buFont typeface="Arial"/>
              <a:buChar char="•"/>
              <a:tabLst>
                <a:tab pos="155575" algn="l"/>
              </a:tabLst>
            </a:pP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sistema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2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successo</a:t>
            </a:r>
            <a:r>
              <a:rPr dirty="0" sz="22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se</a:t>
            </a:r>
            <a:r>
              <a:rPr dirty="0" sz="22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il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portafoglio</a:t>
            </a:r>
            <a:r>
              <a:rPr dirty="0" sz="22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sarà</a:t>
            </a:r>
            <a:r>
              <a:rPr dirty="0" sz="2200" spc="9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percepito</a:t>
            </a:r>
            <a:r>
              <a:rPr dirty="0" sz="2200" spc="8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un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strumento</a:t>
            </a:r>
            <a:r>
              <a:rPr dirty="0" sz="2200" spc="9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vicino</a:t>
            </a:r>
            <a:r>
              <a:rPr dirty="0" sz="2200" spc="10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al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cittadino</a:t>
            </a:r>
            <a:r>
              <a:rPr dirty="0" sz="2200" spc="3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3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non</a:t>
            </a:r>
            <a:r>
              <a:rPr dirty="0" sz="22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come</a:t>
            </a:r>
            <a:r>
              <a:rPr dirty="0" sz="22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base</a:t>
            </a:r>
            <a:r>
              <a:rPr dirty="0" sz="22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del</a:t>
            </a:r>
            <a:r>
              <a:rPr dirty="0" sz="2200" spc="3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«grande</a:t>
            </a:r>
            <a:r>
              <a:rPr dirty="0" sz="22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fratello».</a:t>
            </a:r>
            <a:r>
              <a:rPr dirty="0" sz="22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In</a:t>
            </a:r>
            <a:r>
              <a:rPr dirty="0" sz="22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altre</a:t>
            </a:r>
            <a:r>
              <a:rPr dirty="0" sz="2200" spc="3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parole</a:t>
            </a:r>
            <a:r>
              <a:rPr dirty="0" sz="2200" spc="3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3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parola</a:t>
            </a:r>
            <a:r>
              <a:rPr dirty="0" sz="2200" spc="3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 b="1">
                <a:solidFill>
                  <a:srgbClr val="44536A"/>
                </a:solidFill>
                <a:latin typeface="Trebuchet MS"/>
                <a:cs typeface="Trebuchet MS"/>
              </a:rPr>
              <a:t>fiducia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dovrà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essere</a:t>
            </a:r>
            <a:r>
              <a:rPr dirty="0" sz="2200" spc="-1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la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parola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chiave</a:t>
            </a:r>
            <a:r>
              <a:rPr dirty="0" sz="2200" spc="-4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di</a:t>
            </a:r>
            <a:r>
              <a:rPr dirty="0" sz="2200" spc="-25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questo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nuovo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e</a:t>
            </a:r>
            <a:r>
              <a:rPr dirty="0" sz="2200" spc="-3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44536A"/>
                </a:solidFill>
                <a:latin typeface="Trebuchet MS"/>
                <a:cs typeface="Trebuchet MS"/>
              </a:rPr>
              <a:t>cruciale</a:t>
            </a:r>
            <a:r>
              <a:rPr dirty="0" sz="2200" spc="-20">
                <a:solidFill>
                  <a:srgbClr val="44536A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44536A"/>
                </a:solidFill>
                <a:latin typeface="Trebuchet MS"/>
                <a:cs typeface="Trebuchet MS"/>
              </a:rPr>
              <a:t>ecosistema.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497" y="2947161"/>
            <a:ext cx="40519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6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Fine</a:t>
            </a:r>
            <a:r>
              <a:rPr dirty="0" u="sng" sz="3600" spc="-5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del</a:t>
            </a:r>
            <a:r>
              <a:rPr dirty="0" u="sng" sz="3600" spc="-6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spc="-1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Seminario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926717" y="4044822"/>
            <a:ext cx="28187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360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DOMANDE</a:t>
            </a:r>
            <a:r>
              <a:rPr dirty="0" u="sng" sz="3600" spc="-60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3600" spc="-25" b="1" i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rebuchet MS"/>
                <a:cs typeface="Trebuchet MS"/>
              </a:rPr>
              <a:t>???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755" y="1965960"/>
            <a:ext cx="3985259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4293" y="1335989"/>
            <a:ext cx="6280785" cy="3181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1265" algn="l"/>
              </a:tabLst>
            </a:pPr>
            <a:r>
              <a:rPr dirty="0" sz="4500" spc="-10" b="1">
                <a:solidFill>
                  <a:srgbClr val="FF0000"/>
                </a:solidFill>
                <a:latin typeface="Trebuchet MS"/>
                <a:cs typeface="Trebuchet MS"/>
              </a:rPr>
              <a:t>Contatto</a:t>
            </a:r>
            <a:r>
              <a:rPr dirty="0" sz="4500" b="1">
                <a:solidFill>
                  <a:srgbClr val="FF0000"/>
                </a:solidFill>
                <a:latin typeface="Trebuchet MS"/>
                <a:cs typeface="Trebuchet MS"/>
              </a:rPr>
              <a:t>	del</a:t>
            </a:r>
            <a:r>
              <a:rPr dirty="0" sz="4500" spc="-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4500" spc="-10" b="1">
                <a:solidFill>
                  <a:srgbClr val="FF0000"/>
                </a:solidFill>
                <a:latin typeface="Trebuchet MS"/>
                <a:cs typeface="Trebuchet MS"/>
              </a:rPr>
              <a:t>relatore:</a:t>
            </a:r>
            <a:endParaRPr sz="4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25"/>
              </a:spcBef>
            </a:pPr>
            <a:r>
              <a:rPr dirty="0" sz="4500" b="1">
                <a:solidFill>
                  <a:srgbClr val="FF0000"/>
                </a:solidFill>
                <a:latin typeface="Trebuchet MS"/>
                <a:cs typeface="Trebuchet MS"/>
              </a:rPr>
              <a:t>Giovanni</a:t>
            </a:r>
            <a:r>
              <a:rPr dirty="0" sz="4500" spc="-225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4500" spc="-10" b="1">
                <a:solidFill>
                  <a:srgbClr val="FF0000"/>
                </a:solidFill>
                <a:latin typeface="Trebuchet MS"/>
                <a:cs typeface="Trebuchet MS"/>
              </a:rPr>
              <a:t>Manca</a:t>
            </a:r>
            <a:endParaRPr sz="4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20"/>
              </a:spcBef>
            </a:pPr>
            <a:r>
              <a:rPr dirty="0" sz="4500" spc="-20" b="1">
                <a:solidFill>
                  <a:srgbClr val="FF0000"/>
                </a:solidFill>
                <a:latin typeface="Trebuchet MS"/>
                <a:cs typeface="Trebuchet MS"/>
              </a:rPr>
              <a:t>e-</a:t>
            </a:r>
            <a:r>
              <a:rPr dirty="0" sz="4500" b="1">
                <a:solidFill>
                  <a:srgbClr val="FF0000"/>
                </a:solidFill>
                <a:latin typeface="Trebuchet MS"/>
                <a:cs typeface="Trebuchet MS"/>
              </a:rPr>
              <a:t>mail:</a:t>
            </a:r>
            <a:r>
              <a:rPr dirty="0" sz="4500" spc="-30" b="1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dirty="0" sz="4500" spc="-10" b="1">
                <a:solidFill>
                  <a:srgbClr val="FF0000"/>
                </a:solidFill>
                <a:latin typeface="Trebuchet MS"/>
                <a:cs typeface="Trebuchet MS"/>
                <a:hlinkClick r:id="rId2"/>
              </a:rPr>
              <a:t>gmanca@land.it</a:t>
            </a:r>
            <a:endParaRPr sz="45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3" y="82296"/>
            <a:ext cx="1979676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patrizia isaija</dc:creator>
  <dc:title>Presentazione standard di PowerPoint</dc:title>
  <dcterms:created xsi:type="dcterms:W3CDTF">2024-11-29T15:11:33Z</dcterms:created>
  <dcterms:modified xsi:type="dcterms:W3CDTF">2024-11-29T15:11:33Z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2024-11-29T00:00:00Z</vt:filetime>
  </property>
  <property fmtid="{D5CDD505-2E9C-101B-9397-08002B2CF9AE}" pid="5" name="Producer">
    <vt:lpwstr>Microsoft® PowerPoint® LTSC</vt:lpwstr>
  </property>
</Properties>
</file>