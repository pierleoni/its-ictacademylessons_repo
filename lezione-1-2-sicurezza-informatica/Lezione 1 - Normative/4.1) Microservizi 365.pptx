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Tahoma"/>
      <p:regular r:id="rId23"/>
      <p:bold r:id="rId24"/>
    </p:embeddedFon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BrewUp/ModularArchitecture.git" TargetMode="External"/><Relationship Id="rId3" Type="http://schemas.openxmlformats.org/officeDocument/2006/relationships/hyperlink" Target="https://github.com/jbogard/MediatR" TargetMode="External"/><Relationship Id="rId4" Type="http://schemas.openxmlformats.org/officeDocument/2006/relationships/hyperlink" Target="https://github.com/jbogard/MediatR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Ovviamente questo ha un costo pesantissimo, si deve creare un nodo su kubernetes apposta e molto verticale, non si sfrutta la scalabilità orizzontale di Kubernetes, i due servizi sono interdipendenti fra loro, va giù uno l’altro non va più. Il tutto ovviamente costa un rene o due su i classici Cloud Provider perché già kube costa un po’ se gestito figuriamoci uno dove hai dei macroservizi e non micro.</a:t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Quando ciò avviene stai usando male kubernetes ed è ovviamente l’opposto di resiliente, un servizio ha dei problemi gli altri a ruota vanno giù, non hai usato i concetti di Kubernetes hai solo spostato in un cluster il tuo monolite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Veloce normalmente l’architettura è semplice non ci sono bus e simili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E’ un’unica applicazione i log sono tutti nello stesso punto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Ha al massimo il DB in più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Contro: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Non è proprio così ma o si va in verticale oppure si replica ma siccome è tutto insieme una singola replica è molto grossa e pesante e pure costosa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Ovviamente se va giù una funzione tutto il castello crolla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Basta cambiare il numero di repliche sul deployment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Se va giù un servizio almeno viene garantito venga riavviato, inoltre i microservizi sono indipendenti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È possibile aggiungere nuove funzionalità senza impattare l’AS-IS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Contro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Più complesso da manutenere, ci sono diversi tool che prima o poi si installeranno per fare la manutenzione o per rilasciare in automatico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/>
              <a:t>Ovviamente costa di più e i tool secondari sono complessi e spesso con licenza</a:t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t-IT" u="sng">
                <a:solidFill>
                  <a:schemeClr val="hlink"/>
                </a:solidFill>
                <a:hlinkClick r:id="rId2"/>
              </a:rPr>
              <a:t>https://github.com/BrewUp/ModularArchitecture.git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Aprire program.cs e spiegare la builder.RegisterModules();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Far vedere come disattivare e attivare un module (ad esempio il purchases module con il flag enable)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Far vedere che tipo di bus è stato utilizzato (MediatR, bus in memory) </a:t>
            </a:r>
            <a:r>
              <a:rPr lang="it-IT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https://github.com/jbogard/MediatR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4"/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Far notare l'utilizzo della memoria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Far notare che il booleano true/false serve perché se tolgo un modulo per passarlo a microservizio, questo mi semplifica tantissimo il progetto</a:t>
            </a:r>
            <a:endParaRPr/>
          </a:p>
        </p:txBody>
      </p:sp>
      <p:sp>
        <p:nvSpPr>
          <p:cNvPr id="213" name="Google Shape;21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helm create brewup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mostrare cosa crea un chart di base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Chart.yaml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values.yaml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deployment.yaml (far vedere che il container repository viene preso dai values)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hpa.yaml (in automatico ti genera l'horizontal pod autoscaler), spiegare cos'è e sulla base di cosa scala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/>
              <a:t>helm install gino . --dry-run=client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esempio di creazione di due cartelle (warehouse e purchases) e deployment + esempio di replicas prima fillati poi dal values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plus di helm, oltre a farti vedere i servizi in un unico punto, anche le dipendenze: far vedere come aggiungere dipendenze tipo: Mysql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it-IT">
                <a:latin typeface="Arial"/>
                <a:ea typeface="Arial"/>
                <a:cs typeface="Arial"/>
                <a:sym typeface="Arial"/>
              </a:rPr>
              <a:t>Helm dependency 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Scalabile cioè i singoli servizi possono essere moltiplicati facilmente in maniera orizzontale e con una facilità estrema.</a:t>
            </a:r>
            <a:br>
              <a:rPr lang="it-IT"/>
            </a:br>
            <a:r>
              <a:rPr lang="it-IT"/>
              <a:t>Resiliente cioè se cade un servizio gli altri continuano a rispondere e grazie all’approccio dichiarativo di Kubernetes saremo sicuri ripartiranno da soli.</a:t>
            </a:r>
            <a:endParaRPr/>
          </a:p>
        </p:txBody>
      </p:sp>
      <p:sp>
        <p:nvSpPr>
          <p:cNvPr id="238" name="Google Shape;23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683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titolo" showMasterSp="0">
  <p:cSld name="1_Diapositiva titolo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98749" y="4350817"/>
            <a:ext cx="6770824" cy="11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sz="22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749" y="681184"/>
            <a:ext cx="1395876" cy="8331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>
            <p:ph type="ctrTitle"/>
          </p:nvPr>
        </p:nvSpPr>
        <p:spPr>
          <a:xfrm>
            <a:off x="2698751" y="2215338"/>
            <a:ext cx="7810224" cy="201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rebuchet MS"/>
              <a:buNone/>
              <a:defRPr sz="4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/>
        </p:nvSpPr>
        <p:spPr>
          <a:xfrm>
            <a:off x="2698749" y="5786382"/>
            <a:ext cx="2601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-IT" sz="16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xedotnet.org</a:t>
            </a:r>
            <a:endParaRPr b="0" sz="1600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15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1041682" y="412853"/>
            <a:ext cx="10096223" cy="161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265"/>
              <a:buFont typeface="Trebuchet MS"/>
              <a:buNone/>
            </a:pPr>
            <a:r>
              <a:rPr b="1" i="0" lang="it-IT" sz="5265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Monolite o microservizi?</a:t>
            </a:r>
            <a:endParaRPr b="1" i="0" sz="4387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Microservizi e architettura monolitica a confronto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372" y="1213132"/>
            <a:ext cx="10929255" cy="5389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Birra in Streaming</a:t>
            </a:r>
            <a:endParaRPr/>
          </a:p>
        </p:txBody>
      </p:sp>
      <p:pic>
        <p:nvPicPr>
          <p:cNvPr descr="Awkward smiling old man Meme Generator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26422"/>
            <a:ext cx="3745028" cy="2805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5558327" y="2275349"/>
            <a:ext cx="5939635" cy="2307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Harold è titolare di un’azienda che ha un software online chiamato «Birra in Streaming»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it-IT" sz="24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L’applicazione permette di gestire il proprio birrificio ma ultimamente ha dei problemi di rallentamenti e crash continui.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i="0" lang="it-IT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Vado su Kubernetes quindi ho risolto!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3048350" y="3246431"/>
            <a:ext cx="6096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magine che contiene testo, Viso umano, uomo, cartone animato&#10;&#10;Descrizione generata automaticamente"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0580" y="1106796"/>
            <a:ext cx="4370839" cy="5070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061832" y="1121868"/>
            <a:ext cx="6612621" cy="557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Harold ha migrato tutto ed arrivano i problemi!</a:t>
            </a:r>
            <a:endParaRPr/>
          </a:p>
        </p:txBody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Panico!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883" y="2630827"/>
            <a:ext cx="9460684" cy="2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4336" y="1690380"/>
            <a:ext cx="10156245" cy="4585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838200" y="1110882"/>
            <a:ext cx="10515600" cy="88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Harold per la fretta di andare su Kubernetes ha semplicemente diviso Backend e Frontend in due «Microservizi» e li ha rilasciati come POD.</a:t>
            </a:r>
            <a:endParaRPr/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Cosa ha sbagliato?</a:t>
            </a:r>
            <a:endParaRPr/>
          </a:p>
        </p:txBody>
      </p:sp>
      <p:pic>
        <p:nvPicPr>
          <p:cNvPr descr="Stonks: Why we're all saying it now.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75" y="2274779"/>
            <a:ext cx="5974222" cy="397988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7480618" y="2983274"/>
            <a:ext cx="387590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 Cloud vede due servizi diversi e lavora due accessi diversi per gli stessi utenti.</a:t>
            </a:r>
            <a:br>
              <a:rPr lang="it-I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lang="it-I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it-I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Risultato: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Costi quasi raddoppiati.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 Monolite Distribuito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2750819" y="1680070"/>
            <a:ext cx="6690360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Harold ha creato un monolite sparso/distribuito</a:t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1614747" y="3429000"/>
            <a:ext cx="9677400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 monolite distribuito avviene quando hai 1 o più servizi dipendenti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Monolite vs Microservizi</a:t>
            </a:r>
            <a:endParaRPr/>
          </a:p>
        </p:txBody>
      </p:sp>
      <p:cxnSp>
        <p:nvCxnSpPr>
          <p:cNvPr id="145" name="Google Shape;145;p21"/>
          <p:cNvCxnSpPr/>
          <p:nvPr/>
        </p:nvCxnSpPr>
        <p:spPr>
          <a:xfrm>
            <a:off x="5798127" y="1776845"/>
            <a:ext cx="0" cy="449926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1"/>
          <p:cNvSpPr txBox="1"/>
          <p:nvPr/>
        </p:nvSpPr>
        <p:spPr>
          <a:xfrm>
            <a:off x="5095009" y="1103928"/>
            <a:ext cx="1406235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Monolite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1808019" y="1603797"/>
            <a:ext cx="1302319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</a:t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9081654" y="1646599"/>
            <a:ext cx="1433946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838201" y="2479110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Veloce da fare</a:t>
            </a:r>
            <a:endParaRPr/>
          </a:p>
        </p:txBody>
      </p:sp>
      <p:sp>
        <p:nvSpPr>
          <p:cNvPr id="150" name="Google Shape;150;p21"/>
          <p:cNvSpPr txBox="1"/>
          <p:nvPr/>
        </p:nvSpPr>
        <p:spPr>
          <a:xfrm>
            <a:off x="838201" y="3261640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Semplice da gestire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838200" y="4109051"/>
            <a:ext cx="3286991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Semplice da rilasciare</a:t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7845135" y="2847287"/>
            <a:ext cx="2410692" cy="414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Poco scalabile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7845135" y="4109051"/>
            <a:ext cx="3906981" cy="455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Meno affidabile</a:t>
            </a:r>
            <a:endParaRPr/>
          </a:p>
        </p:txBody>
      </p:sp>
      <p:pic>
        <p:nvPicPr>
          <p:cNvPr descr="Immagine che contiene logo, simbolo, Elementi grafici, clipart&#10;&#10;Descrizione generata automaticamente" id="154" name="Google Shape;154;p21"/>
          <p:cNvPicPr preferRelativeResize="0"/>
          <p:nvPr/>
        </p:nvPicPr>
        <p:blipFill rotWithShape="1">
          <a:blip r:embed="rId3">
            <a:alphaModFix/>
          </a:blip>
          <a:srcRect b="2485" l="0" r="1923" t="-463"/>
          <a:stretch/>
        </p:blipFill>
        <p:spPr>
          <a:xfrm>
            <a:off x="351525" y="2419996"/>
            <a:ext cx="480839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Elementi grafici, clipart&#10;&#10;Descrizione generata automaticamente" id="155" name="Google Shape;155;p21"/>
          <p:cNvPicPr preferRelativeResize="0"/>
          <p:nvPr/>
        </p:nvPicPr>
        <p:blipFill rotWithShape="1">
          <a:blip r:embed="rId3">
            <a:alphaModFix/>
          </a:blip>
          <a:srcRect b="2485" l="0" r="1923" t="-463"/>
          <a:stretch/>
        </p:blipFill>
        <p:spPr>
          <a:xfrm>
            <a:off x="357362" y="3217748"/>
            <a:ext cx="480839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Elementi grafici, clipart&#10;&#10;Descrizione generata automaticamente" id="156" name="Google Shape;156;p21"/>
          <p:cNvPicPr preferRelativeResize="0"/>
          <p:nvPr/>
        </p:nvPicPr>
        <p:blipFill rotWithShape="1">
          <a:blip r:embed="rId3">
            <a:alphaModFix/>
          </a:blip>
          <a:srcRect b="2485" l="0" r="1923" t="-463"/>
          <a:stretch/>
        </p:blipFill>
        <p:spPr>
          <a:xfrm>
            <a:off x="387592" y="4079391"/>
            <a:ext cx="480839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clipart, Elementi grafici&#10;&#10;Descrizione generata automaticamente" id="157" name="Google Shape;1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7134" y="2807871"/>
            <a:ext cx="508001" cy="493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clipart, Elementi grafici&#10;&#10;Descrizione generata automaticamente" id="158" name="Google Shape;1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7133" y="4079391"/>
            <a:ext cx="508001" cy="493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Monolite vs Microservizi</a:t>
            </a:r>
            <a:endParaRPr/>
          </a:p>
        </p:txBody>
      </p:sp>
      <p:cxnSp>
        <p:nvCxnSpPr>
          <p:cNvPr id="165" name="Google Shape;165;p22"/>
          <p:cNvCxnSpPr/>
          <p:nvPr/>
        </p:nvCxnSpPr>
        <p:spPr>
          <a:xfrm>
            <a:off x="5798127" y="1776845"/>
            <a:ext cx="0" cy="449926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22"/>
          <p:cNvSpPr txBox="1"/>
          <p:nvPr/>
        </p:nvSpPr>
        <p:spPr>
          <a:xfrm>
            <a:off x="4943653" y="1150901"/>
            <a:ext cx="1761139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Microservizi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1808019" y="1603797"/>
            <a:ext cx="1302319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9081654" y="1646599"/>
            <a:ext cx="1433946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869515" y="2522382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Maggiore scalabilità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869515" y="3305259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Affidabilità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869514" y="4030723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Agilità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7816241" y="2522381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Complessità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7816240" y="3305257"/>
            <a:ext cx="2912918" cy="4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Costi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Immagine che contiene logo, simbolo, Elementi grafici, clipart&#10;&#10;Descrizione generata automaticamente"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526" y="3306972"/>
            <a:ext cx="490268" cy="495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Elementi grafici, clipart&#10;&#10;Descrizione generata automaticamente" id="175" name="Google Shape;175;p22"/>
          <p:cNvPicPr preferRelativeResize="0"/>
          <p:nvPr/>
        </p:nvPicPr>
        <p:blipFill rotWithShape="1">
          <a:blip r:embed="rId3">
            <a:alphaModFix/>
          </a:blip>
          <a:srcRect b="2485" l="0" r="1923" t="-463"/>
          <a:stretch/>
        </p:blipFill>
        <p:spPr>
          <a:xfrm>
            <a:off x="351526" y="2521096"/>
            <a:ext cx="480839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Elementi grafici, clipart&#10;&#10;Descrizione generata automaticamente" id="176" name="Google Shape;176;p22"/>
          <p:cNvPicPr preferRelativeResize="0"/>
          <p:nvPr/>
        </p:nvPicPr>
        <p:blipFill rotWithShape="1">
          <a:blip r:embed="rId3">
            <a:alphaModFix/>
          </a:blip>
          <a:srcRect b="2485" l="0" r="1923" t="-463"/>
          <a:stretch/>
        </p:blipFill>
        <p:spPr>
          <a:xfrm>
            <a:off x="351525" y="4030718"/>
            <a:ext cx="480839" cy="48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clipart, Elementi grafici&#10;&#10;Descrizione generata automaticamente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1375" y="2515658"/>
            <a:ext cx="508001" cy="493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logo, simbolo, clipart, Elementi grafici&#10;&#10;Descrizione generata automaticamente"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1375" y="3309408"/>
            <a:ext cx="508001" cy="493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838200" y="1062445"/>
            <a:ext cx="10515600" cy="88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Dipende dai vari casi, chiaramente il sito vetrina del birraio di paese non ha bisogno di Kubernetes e compagnia.</a:t>
            </a:r>
            <a:endParaRPr/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Ha senso usare questo approccio sempre?</a:t>
            </a:r>
            <a:endParaRPr/>
          </a:p>
        </p:txBody>
      </p:sp>
      <p:pic>
        <p:nvPicPr>
          <p:cNvPr descr="Immagine che contiene testo, Viso umano, schermata, Gioco per PC&#10;&#10;Descrizione generata automaticamente"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5114" y="1952198"/>
            <a:ext cx="7641772" cy="4294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838200" y="1194010"/>
            <a:ext cx="10515600" cy="18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None/>
            </a:pPr>
            <a:r>
              <a:rPr lang="it-IT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 microservizi sono un approccio architetturale e </a:t>
            </a:r>
            <a:r>
              <a:rPr b="1" lang="it-IT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organizzativo </a:t>
            </a:r>
            <a:r>
              <a:rPr lang="it-IT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allo sviluppo software. Sono </a:t>
            </a:r>
            <a:r>
              <a:rPr b="1" lang="it-IT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piccoli </a:t>
            </a:r>
            <a:r>
              <a:rPr lang="it-IT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servizi indipendenti, disaccoppiati e di proprietà di piccoli team autosufficienti.</a:t>
            </a:r>
            <a:br>
              <a:rPr lang="it-IT">
                <a:solidFill>
                  <a:srgbClr val="40404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>
              <a:solidFill>
                <a:srgbClr val="404040"/>
              </a:solidFill>
            </a:endParaRPr>
          </a:p>
        </p:txBody>
      </p:sp>
      <p:sp>
        <p:nvSpPr>
          <p:cNvPr id="191" name="Google Shape;191;p2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it-IT">
                <a:latin typeface="Tahoma"/>
                <a:ea typeface="Tahoma"/>
                <a:cs typeface="Tahoma"/>
                <a:sym typeface="Tahoma"/>
              </a:rPr>
              <a:t>Cos'è un microservizio?</a:t>
            </a:r>
            <a:endParaRPr/>
          </a:p>
        </p:txBody>
      </p:sp>
      <p:pic>
        <p:nvPicPr>
          <p:cNvPr descr="Immagine che contiene testo, cartone animato, schermata, Cartoni animati&#10;&#10;Descrizione generata automaticamente"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2242067"/>
            <a:ext cx="2743200" cy="4076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838200" y="1323975"/>
            <a:ext cx="10515600" cy="88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Ci sono varie metodologie che possono essere applicate e che possono portare benefici:</a:t>
            </a:r>
            <a:endParaRPr/>
          </a:p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Come fa Harold ora?</a:t>
            </a:r>
            <a:endParaRPr/>
          </a:p>
        </p:txBody>
      </p:sp>
      <p:sp>
        <p:nvSpPr>
          <p:cNvPr id="199" name="Google Shape;199;p25"/>
          <p:cNvSpPr txBox="1"/>
          <p:nvPr/>
        </p:nvSpPr>
        <p:spPr>
          <a:xfrm>
            <a:off x="838200" y="2281699"/>
            <a:ext cx="105156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1"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Monolite modulare: </a:t>
            </a: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it-IT" sz="2400">
                <a:solidFill>
                  <a:srgbClr val="374151"/>
                </a:solidFill>
                <a:highlight>
                  <a:srgbClr val="FFFFFF"/>
                </a:highlight>
              </a:rPr>
              <a:t>pattern architettonico che struttura l'applicazione in moduli o componenti indipendenti con confini ben definiti)</a:t>
            </a:r>
            <a:endParaRPr sz="2400"/>
          </a:p>
        </p:txBody>
      </p:sp>
      <p:sp>
        <p:nvSpPr>
          <p:cNvPr id="200" name="Google Shape;200;p25"/>
          <p:cNvSpPr txBox="1"/>
          <p:nvPr/>
        </p:nvSpPr>
        <p:spPr>
          <a:xfrm>
            <a:off x="838200" y="3374205"/>
            <a:ext cx="105156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1"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Serverless:</a:t>
            </a: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</a:t>
            </a:r>
            <a:r>
              <a:rPr b="1" lang="it-IT" sz="2400">
                <a:solidFill>
                  <a:srgbClr val="454545"/>
                </a:solidFill>
              </a:rPr>
              <a:t>modello di cloud</a:t>
            </a:r>
            <a:r>
              <a:rPr lang="it-IT" sz="2400">
                <a:solidFill>
                  <a:srgbClr val="454545"/>
                </a:solidFill>
              </a:rPr>
              <a:t> che consente di </a:t>
            </a:r>
            <a:r>
              <a:rPr b="1" lang="it-IT" sz="2400">
                <a:solidFill>
                  <a:srgbClr val="454545"/>
                </a:solidFill>
              </a:rPr>
              <a:t>creare e di eseguire applicazioni</a:t>
            </a:r>
            <a:r>
              <a:rPr lang="it-IT" sz="2400">
                <a:solidFill>
                  <a:srgbClr val="454545"/>
                </a:solidFill>
              </a:rPr>
              <a:t> senza entrare in contatto con il server sottostante.</a:t>
            </a:r>
            <a:endParaRPr sz="2400">
              <a:solidFill>
                <a:srgbClr val="454545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400">
                <a:solidFill>
                  <a:srgbClr val="454545"/>
                </a:solidFill>
              </a:rPr>
              <a:t>Si tratta, dunque, di un ambiente cloud in cui il server è comunque presente, ma dove le operazioni di provisioning, </a:t>
            </a:r>
            <a:r>
              <a:rPr b="1" lang="it-IT" sz="2400">
                <a:solidFill>
                  <a:srgbClr val="454545"/>
                </a:solidFill>
              </a:rPr>
              <a:t>scalabilità e gestione sono demandate al fornitore del servizio).</a:t>
            </a:r>
            <a:endParaRPr sz="24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838200" y="5490400"/>
            <a:ext cx="1035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1"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Helm:</a:t>
            </a: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</a:t>
            </a:r>
            <a:r>
              <a:rPr lang="it-IT" sz="2400">
                <a:solidFill>
                  <a:srgbClr val="151515"/>
                </a:solidFill>
              </a:rPr>
              <a:t>raccolta di file che descrive le risorse del cluster Kubernetes e le raggruppa in un'applicazione).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838200" y="1110882"/>
            <a:ext cx="10515600" cy="825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È un pattern architetturale che permette di strutturare l’applicazione in moduli indipendenti e con dei limiti ben definiti.</a:t>
            </a:r>
            <a:endParaRPr/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Monolite Modulare</a:t>
            </a:r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4207625" y="3228055"/>
            <a:ext cx="3776749" cy="401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È comunque un monolite!</a:t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838200" y="5054030"/>
            <a:ext cx="9677400" cy="54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 ci vuole pochissimo a passare poi a microservizi, è già tutto diviso!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2887287" y="1511851"/>
            <a:ext cx="6417425" cy="416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Qui trovate un esempio di architettura modulare</a:t>
            </a:r>
            <a:endParaRPr/>
          </a:p>
        </p:txBody>
      </p:sp>
      <p:sp>
        <p:nvSpPr>
          <p:cNvPr id="216" name="Google Shape;216;p2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Esempio</a:t>
            </a:r>
            <a:endParaRPr/>
          </a:p>
        </p:txBody>
      </p:sp>
      <p:pic>
        <p:nvPicPr>
          <p:cNvPr descr="Immagine che contiene modello, Elementi grafici, pixel, design&#10;&#10;Descrizione generata automaticamente"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0" y="200025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838201" y="1110882"/>
            <a:ext cx="10125702" cy="123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Questo è ancora più semplice, si scorporano semplicemente le funzioni che vengono chiamate ogni tanto o i job e si usano Lambda o Functions sui Cloud Provider.</a:t>
            </a:r>
            <a:endParaRPr/>
          </a:p>
        </p:txBody>
      </p:sp>
      <p:sp>
        <p:nvSpPr>
          <p:cNvPr id="223" name="Google Shape;223;p28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Serverless!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838200" y="3345619"/>
            <a:ext cx="10125702" cy="123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Può essere un passaggio intermedio fra monolite e microservizio, però può sicuramente aiutare a ridurre il carico delle macchine ed è pure un buon modo per iniziare a migrare ai microservizi.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3922171" y="1110882"/>
            <a:ext cx="7041731" cy="118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Helm è un package manager per Kubernetes, scritto in GoLang e che permette di parametrizzare i vari yaml.</a:t>
            </a:r>
            <a:endParaRPr/>
          </a:p>
        </p:txBody>
      </p:sp>
      <p:sp>
        <p:nvSpPr>
          <p:cNvPr id="231" name="Google Shape;231;p2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Helm</a:t>
            </a:r>
            <a:endParaRPr/>
          </a:p>
        </p:txBody>
      </p:sp>
      <p:pic>
        <p:nvPicPr>
          <p:cNvPr id="232" name="Google Shape;2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84" y="2134072"/>
            <a:ext cx="2243065" cy="258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2171" y="2728816"/>
            <a:ext cx="188595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0307" y="2728815"/>
            <a:ext cx="6146906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838200" y="1110883"/>
            <a:ext cx="10515600" cy="835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Se usiamo tutti e 3 i metodi abbiamo sicuramente creato qualcosa di scalabile, resiliente.</a:t>
            </a:r>
            <a:endParaRPr/>
          </a:p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Resiliente, Scalabile ed Efficiente?</a:t>
            </a:r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5076009" y="3244483"/>
            <a:ext cx="2039982" cy="474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 efficiente?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838200" y="1110883"/>
            <a:ext cx="10515600" cy="508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/>
              <a:t>Non è che un approccio sia più giusto o più sbagliato.</a:t>
            </a:r>
            <a:endParaRPr/>
          </a:p>
        </p:txBody>
      </p:sp>
      <p:sp>
        <p:nvSpPr>
          <p:cNvPr id="248" name="Google Shape;248;p3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Conclusione</a:t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838200" y="1759670"/>
            <a:ext cx="10515600" cy="809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it-IT"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È invece il come e quando, e potenzialmente il quanto a stabilire cosa sarebbe meglio per la nostra applicazione sia in termini di efficienza che di costi.</a:t>
            </a:r>
            <a:endParaRPr/>
          </a:p>
        </p:txBody>
      </p:sp>
      <p:pic>
        <p:nvPicPr>
          <p:cNvPr descr="Awkward smiling old man Meme Generator" id="250" name="Google Shape;2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4386" y="2809589"/>
            <a:ext cx="3745028" cy="2805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schermata, simbolo, Elementi grafici, design&#10;&#10;Descrizione generata automaticamente" id="251" name="Google Shape;2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268" y="3501573"/>
            <a:ext cx="1580815" cy="101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612648" y="2865532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/>
              <a:t>Grazie</a:t>
            </a:r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804" y="3177758"/>
            <a:ext cx="4662196" cy="311863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 txBox="1"/>
          <p:nvPr/>
        </p:nvSpPr>
        <p:spPr>
          <a:xfrm>
            <a:off x="4995612" y="594532"/>
            <a:ext cx="2200776" cy="52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3635"/>
              </a:buClr>
              <a:buSzPct val="100000"/>
              <a:buFont typeface="Tahoma"/>
              <a:buNone/>
            </a:pPr>
            <a:r>
              <a:t/>
            </a:r>
            <a:endParaRPr sz="3000">
              <a:solidFill>
                <a:srgbClr val="DB3635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VTI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