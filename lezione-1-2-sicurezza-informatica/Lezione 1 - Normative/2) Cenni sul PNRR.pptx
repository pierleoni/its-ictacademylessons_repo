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tiff" ContentType="image/tif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olors2.xml" ContentType="application/vnd.ms-office.chartcolor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7" r:id="rId5"/>
    <p:sldMasterId id="2147483674" r:id="rId6"/>
    <p:sldMasterId id="2147483679" r:id="rId7"/>
  </p:sldMasterIdLst>
  <p:notesMasterIdLst>
    <p:notesMasterId r:id="rId21"/>
  </p:notesMasterIdLst>
  <p:handoutMasterIdLst>
    <p:handoutMasterId r:id="rId22"/>
  </p:handoutMasterIdLst>
  <p:sldIdLst>
    <p:sldId id="2147375156" r:id="rId8"/>
    <p:sldId id="2146848142" r:id="rId9"/>
    <p:sldId id="2146848141" r:id="rId10"/>
    <p:sldId id="2146848130" r:id="rId11"/>
    <p:sldId id="2147375306" r:id="rId12"/>
    <p:sldId id="2146848139" r:id="rId13"/>
    <p:sldId id="2146848133" r:id="rId14"/>
    <p:sldId id="2147375429" r:id="rId15"/>
    <p:sldId id="2147375456" r:id="rId16"/>
    <p:sldId id="2147375393" r:id="rId17"/>
    <p:sldId id="2147375307" r:id="rId18"/>
    <p:sldId id="2147375457" r:id="rId19"/>
    <p:sldId id="2147375454" r:id="rId20"/>
  </p:sldIdLst>
  <p:sldSz cx="12192000" cy="6858000"/>
  <p:notesSz cx="6858000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ffù Sonia" initials="CS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DB0DA-7A24-4C96-94C0-1AB473F7D360}" v="125" dt="2021-11-18T09:29:36.308"/>
    <p1510:client id="{F62A5F24-6752-463B-8B1B-A90184749D0F}" v="38" dt="2021-11-18T15:56:39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/>
    <p:restoredTop sz="94648"/>
  </p:normalViewPr>
  <p:slideViewPr>
    <p:cSldViewPr snapToGrid="0">
      <p:cViewPr>
        <p:scale>
          <a:sx n="70" d="100"/>
          <a:sy n="70" d="100"/>
        </p:scale>
        <p:origin x="-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commentAuthors" Target="comment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78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oleObject" Target="Cartel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760543799212599"/>
          <c:y val="9.0615059869999112E-2"/>
          <c:w val="0.54916412401574799"/>
          <c:h val="0.8234557274150469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6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/>
                </a:inn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9A3-0E45-A161-10727988630D}"/>
              </c:ext>
            </c:extLst>
          </c:dPt>
          <c:dPt>
            <c:idx val="1"/>
            <c:bubble3D val="0"/>
            <c:spPr>
              <a:pattFill prst="ltUpDiag">
                <a:fgClr>
                  <a:schemeClr val="accent5"/>
                </a:fgClr>
                <a:bgClr>
                  <a:schemeClr val="accent5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5"/>
                </a:inn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9A3-0E45-A161-10727988630D}"/>
              </c:ext>
            </c:extLst>
          </c:dPt>
          <c:dPt>
            <c:idx val="2"/>
            <c:bubble3D val="0"/>
            <c:spPr>
              <a:pattFill prst="ltUpDiag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4"/>
                </a:inn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9A3-0E45-A161-10727988630D}"/>
              </c:ext>
            </c:extLst>
          </c:dPt>
          <c:dPt>
            <c:idx val="3"/>
            <c:bubble3D val="0"/>
            <c:spPr>
              <a:pattFill prst="ltUpDiag">
                <a:fgClr>
                  <a:srgbClr val="476DB6"/>
                </a:fgClr>
                <a:bgClr>
                  <a:srgbClr val="BCCAE5"/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rgbClr val="476DB6"/>
                </a:inn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9A3-0E45-A161-10727988630D}"/>
              </c:ext>
            </c:extLst>
          </c:dPt>
          <c:dLbls>
            <c:dLbl>
              <c:idx val="0"/>
              <c:delete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9A3-0E45-A161-10727988630D}"/>
                </c:ext>
              </c:extLst>
            </c:dLbl>
            <c:dLbl>
              <c:idx val="1"/>
              <c:delete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9A3-0E45-A161-10727988630D}"/>
                </c:ext>
              </c:extLst>
            </c:dLbl>
            <c:dLbl>
              <c:idx val="2"/>
              <c:layout/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9A3-0E45-A161-10727988630D}"/>
                </c:ext>
              </c:extLst>
            </c:dLbl>
            <c:dLbl>
              <c:idx val="3"/>
              <c:delete val="1"/>
              <c:extLst xmlns:c16r2="http://schemas.microsoft.com/office/drawing/2015/06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9A3-0E45-A161-1072798863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DISPOSITIVO DI RIPRESA E RESILIENZA (RRF)</c:v>
                </c:pt>
                <c:pt idx="1">
                  <c:v>FONDO NAZIONALE COMPLEMENTARE</c:v>
                </c:pt>
                <c:pt idx="3">
                  <c:v>REACT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191.5</c:v>
                </c:pt>
                <c:pt idx="1">
                  <c:v>30.6</c:v>
                </c:pt>
                <c:pt idx="3">
                  <c:v>13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D9A3-0E45-A161-1072798863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257"/>
        <c:holeSize val="6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1"/>
                </a:inn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D6E1-124E-9E6C-734891DD93B4}"/>
              </c:ext>
            </c:extLst>
          </c:dPt>
          <c:dPt>
            <c:idx val="1"/>
            <c:bubble3D val="0"/>
            <c:spPr>
              <a:pattFill prst="ltUpDiag">
                <a:fgClr>
                  <a:schemeClr val="accent2"/>
                </a:fgClr>
                <a:bgClr>
                  <a:schemeClr val="accent2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2"/>
                </a:inn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D6E1-124E-9E6C-734891DD93B4}"/>
              </c:ext>
            </c:extLst>
          </c:dPt>
          <c:dPt>
            <c:idx val="2"/>
            <c:bubble3D val="0"/>
            <c:spPr>
              <a:pattFill prst="ltUpDiag">
                <a:fgClr>
                  <a:schemeClr val="accent3"/>
                </a:fgClr>
                <a:bgClr>
                  <a:schemeClr val="accent3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3"/>
                </a:inn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D6E1-124E-9E6C-734891DD93B4}"/>
              </c:ext>
            </c:extLst>
          </c:dPt>
          <c:dPt>
            <c:idx val="3"/>
            <c:bubble3D val="0"/>
            <c:spPr>
              <a:pattFill prst="ltUpDiag">
                <a:fgClr>
                  <a:schemeClr val="accent4"/>
                </a:fgClr>
                <a:bgClr>
                  <a:schemeClr val="accent4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4"/>
                </a:inn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D6E1-124E-9E6C-734891DD93B4}"/>
              </c:ext>
            </c:extLst>
          </c:dPt>
          <c:dPt>
            <c:idx val="4"/>
            <c:bubble3D val="0"/>
            <c:spPr>
              <a:pattFill prst="ltUpDiag">
                <a:fgClr>
                  <a:schemeClr val="accent5"/>
                </a:fgClr>
                <a:bgClr>
                  <a:schemeClr val="accent5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5"/>
                </a:inn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D6E1-124E-9E6C-734891DD93B4}"/>
              </c:ext>
            </c:extLst>
          </c:dPt>
          <c:dPt>
            <c:idx val="5"/>
            <c:bubble3D val="0"/>
            <c:spPr>
              <a:pattFill prst="ltUpDiag">
                <a:fgClr>
                  <a:schemeClr val="accent6"/>
                </a:fgClr>
                <a:bgClr>
                  <a:schemeClr val="accent6"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/>
                </a:inn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D6E1-124E-9E6C-734891DD93B4}"/>
              </c:ext>
            </c:extLst>
          </c:dPt>
          <c:cat>
            <c:strRef>
              <c:f>Sheet1!$A$2:$A$7</c:f>
              <c:strCache>
                <c:ptCount val="6"/>
                <c:pt idx="0">
                  <c:v>digi</c:v>
                </c:pt>
                <c:pt idx="1">
                  <c:v>green</c:v>
                </c:pt>
                <c:pt idx="2">
                  <c:v>infra</c:v>
                </c:pt>
                <c:pt idx="3">
                  <c:v>istru</c:v>
                </c:pt>
                <c:pt idx="4">
                  <c:v>gender</c:v>
                </c:pt>
                <c:pt idx="5">
                  <c:v>health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40.29</c:v>
                </c:pt>
                <c:pt idx="1">
                  <c:v>59.46</c:v>
                </c:pt>
                <c:pt idx="2">
                  <c:v>25.4</c:v>
                </c:pt>
                <c:pt idx="3">
                  <c:v>30.88</c:v>
                </c:pt>
                <c:pt idx="4">
                  <c:v>19.850000000000001</c:v>
                </c:pt>
                <c:pt idx="5">
                  <c:v>15.63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C-D6E1-124E-9E6C-734891DD93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37"/>
        <c:holeSize val="66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Foglio1!$A$3</c:f>
              <c:strCache>
                <c:ptCount val="1"/>
                <c:pt idx="0">
                  <c:v>milestone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accent4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Foglio1!$A$4:$A$9</c:f>
              <c:numCache>
                <c:formatCode>General</c:formatCode>
                <c:ptCount val="6"/>
                <c:pt idx="0">
                  <c:v>88</c:v>
                </c:pt>
                <c:pt idx="1">
                  <c:v>56</c:v>
                </c:pt>
                <c:pt idx="2">
                  <c:v>17</c:v>
                </c:pt>
                <c:pt idx="3">
                  <c:v>20</c:v>
                </c:pt>
                <c:pt idx="4">
                  <c:v>22</c:v>
                </c:pt>
                <c:pt idx="5">
                  <c:v>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76E-4B69-9CA7-498AB558B7DB}"/>
            </c:ext>
          </c:extLst>
        </c:ser>
        <c:ser>
          <c:idx val="1"/>
          <c:order val="1"/>
          <c:tx>
            <c:strRef>
              <c:f>Foglio1!$B$3</c:f>
              <c:strCache>
                <c:ptCount val="1"/>
                <c:pt idx="0">
                  <c:v>target 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accent4">
                        <a:lumMod val="1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Foglio1!$B$4:$B$9</c:f>
              <c:numCache>
                <c:formatCode>General</c:formatCode>
                <c:ptCount val="6"/>
                <c:pt idx="0">
                  <c:v>132</c:v>
                </c:pt>
                <c:pt idx="1">
                  <c:v>85</c:v>
                </c:pt>
                <c:pt idx="2">
                  <c:v>15</c:v>
                </c:pt>
                <c:pt idx="3">
                  <c:v>32</c:v>
                </c:pt>
                <c:pt idx="4">
                  <c:v>32</c:v>
                </c:pt>
                <c:pt idx="5">
                  <c:v>18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76E-4B69-9CA7-498AB558B7D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45965440"/>
        <c:axId val="145966976"/>
      </c:barChart>
      <c:catAx>
        <c:axId val="1459654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5966976"/>
        <c:crosses val="autoZero"/>
        <c:auto val="1"/>
        <c:lblAlgn val="ctr"/>
        <c:lblOffset val="100"/>
        <c:noMultiLvlLbl val="0"/>
      </c:catAx>
      <c:valAx>
        <c:axId val="145966976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4596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725417433965881"/>
          <c:y val="6.4446280245835083E-2"/>
          <c:w val="0.19535250738691501"/>
          <c:h val="6.8976989552150883E-2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it-IT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it-IT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69661-B000-4710-8563-76D9E88FA3D9}" type="datetimeFigureOut">
              <a:rPr lang="it-IT" smtClean="0"/>
              <a:t>28/11/2022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8CDD7-8B4E-49C4-98A5-4B17172530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0428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8E35A-E9C1-47D8-A303-36CC299E5113}" type="datetimeFigureOut">
              <a:rPr lang="it-IT" smtClean="0"/>
              <a:t>28/11/2022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9CDD7-F8FF-47E0-9646-1B6BD05C63B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3348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17872B-5654-D744-97B8-E1A52D913D1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3043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17872B-5654-D744-97B8-E1A52D913D1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7593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17872B-5654-D744-97B8-E1A52D913D1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927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17872B-5654-D744-97B8-E1A52D913D1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286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17872B-5654-D744-97B8-E1A52D913D1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4286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17872B-5654-D744-97B8-E1A52D913D11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2204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E87BDAC-78C4-0546-9A9D-4080749477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03827" y="1969233"/>
            <a:ext cx="5100471" cy="1162352"/>
          </a:xfrm>
          <a:prstGeom prst="rect">
            <a:avLst/>
          </a:prstGeom>
        </p:spPr>
      </p:pic>
      <p:sp>
        <p:nvSpPr>
          <p:cNvPr id="10" name="Titolo 4">
            <a:extLst>
              <a:ext uri="{FF2B5EF4-FFF2-40B4-BE49-F238E27FC236}">
                <a16:creationId xmlns="" xmlns:a16="http://schemas.microsoft.com/office/drawing/2014/main" id="{BFDDA650-6BCD-2C4D-829F-5863959614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732" y="3236414"/>
            <a:ext cx="9123218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it-IT" sz="40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7124529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testo 20">
            <a:extLst>
              <a:ext uri="{FF2B5EF4-FFF2-40B4-BE49-F238E27FC236}">
                <a16:creationId xmlns="" xmlns:a16="http://schemas.microsoft.com/office/drawing/2014/main" id="{AD5C3BD3-FF07-7547-BC43-B7AFB6C2AA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2347" y="2582601"/>
            <a:ext cx="1614773" cy="1349091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>
            <a:lvl1pPr marL="0" indent="0">
              <a:buNone/>
              <a:defRPr lang="it-IT" sz="6600" b="1" dirty="0">
                <a:solidFill>
                  <a:srgbClr val="CDA73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it-IT"/>
              <a:t>01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939833D-2BF8-1C46-8669-B2413C4257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2027" y="1745777"/>
            <a:ext cx="3832059" cy="873293"/>
          </a:xfrm>
          <a:prstGeom prst="rect">
            <a:avLst/>
          </a:prstGeom>
        </p:spPr>
      </p:pic>
      <p:sp>
        <p:nvSpPr>
          <p:cNvPr id="9" name="Titolo 4">
            <a:extLst>
              <a:ext uri="{FF2B5EF4-FFF2-40B4-BE49-F238E27FC236}">
                <a16:creationId xmlns="" xmlns:a16="http://schemas.microsoft.com/office/drawing/2014/main" id="{D3A41DFD-036F-E147-B749-0E96C914CB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226" y="3640713"/>
            <a:ext cx="7365333" cy="1754326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it-IT" sz="40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it-IT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21777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">
            <a:extLst>
              <a:ext uri="{FF2B5EF4-FFF2-40B4-BE49-F238E27FC236}">
                <a16:creationId xmlns="" xmlns:a16="http://schemas.microsoft.com/office/drawing/2014/main" id="{843F6EDA-C372-6747-8EB0-AB6800F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847" y="512273"/>
            <a:ext cx="11532865" cy="424732"/>
          </a:xfrm>
          <a:noFill/>
        </p:spPr>
        <p:txBody>
          <a:bodyPr wrap="square" lIns="0" rtlCol="0">
            <a:spAutoFit/>
          </a:bodyPr>
          <a:lstStyle>
            <a:lvl1pPr>
              <a:defRPr lang="it-IT" sz="2400" b="1" dirty="0">
                <a:solidFill>
                  <a:srgbClr val="0A26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algn="just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="" xmlns:a16="http://schemas.microsoft.com/office/drawing/2014/main" id="{168416CD-683D-1B41-85C7-43BB3E681D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847" y="254521"/>
            <a:ext cx="8494999" cy="237757"/>
          </a:xfrm>
          <a:noFill/>
        </p:spPr>
        <p:txBody>
          <a:bodyPr wrap="square" lIns="0" rtlCol="0">
            <a:spAutoFit/>
          </a:bodyPr>
          <a:lstStyle>
            <a:lvl1pPr marL="0" indent="0">
              <a:buFont typeface="+mj-lt"/>
              <a:buNone/>
              <a:defRPr lang="it-IT" sz="10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just"/>
            <a:r>
              <a:rPr lang="it-IT"/>
              <a:t>FARE CLIC PER MODIFICARE GLI STILI DEL TESTO DELLO SCHEMA</a:t>
            </a:r>
          </a:p>
        </p:txBody>
      </p:sp>
      <p:sp>
        <p:nvSpPr>
          <p:cNvPr id="13" name="Footer Placeholder 83">
            <a:extLst>
              <a:ext uri="{FF2B5EF4-FFF2-40B4-BE49-F238E27FC236}">
                <a16:creationId xmlns="" xmlns:a16="http://schemas.microsoft.com/office/drawing/2014/main" id="{04D5A9D0-7D27-6043-94AF-A609E50211B4}"/>
              </a:ext>
            </a:extLst>
          </p:cNvPr>
          <p:cNvSpPr txBox="1"/>
          <p:nvPr userDrawn="1"/>
        </p:nvSpPr>
        <p:spPr>
          <a:xfrm>
            <a:off x="451474" y="6464980"/>
            <a:ext cx="41148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Copyright © 2021 </a:t>
            </a:r>
            <a:r>
              <a:rPr kumimoji="0" lang="it-IT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Italia domani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97713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- Verde chi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6DC4011E-D886-7447-8FA3-2B2533A05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="" xmlns:a16="http://schemas.microsoft.com/office/drawing/2014/main" id="{4E95CAB5-CC0F-864D-862F-F7F04AF52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="" xmlns:a16="http://schemas.microsoft.com/office/drawing/2014/main" id="{BA6A7959-EFE3-7248-9A14-E866956A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gg mese anno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="" xmlns:a16="http://schemas.microsoft.com/office/drawing/2014/main" id="{D1FA63B7-BD28-CD49-874A-A5D23E9A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UO-NN-AR-NN - Diffusione limitata / Uso interno aziendale / Confidenziale / Strettamente confidenziale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="" xmlns:a16="http://schemas.microsoft.com/office/drawing/2014/main" id="{6BCA84C4-7AEF-5D4F-8182-BC3A58523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2895"/>
            <a:ext cx="2743200" cy="365125"/>
          </a:xfrm>
          <a:prstGeom prst="rect">
            <a:avLst/>
          </a:prstGeom>
        </p:spPr>
        <p:txBody>
          <a:bodyPr/>
          <a:lstStyle/>
          <a:p>
            <a:fld id="{FF908A5D-492B-5F48-8FB1-5EFA648BB77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309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E2FF4AA7-51D4-6944-9A78-ECF976E1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="" xmlns:a16="http://schemas.microsoft.com/office/drawing/2014/main" id="{83A609F7-EDAC-8F4F-989C-2BD54D126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="" xmlns:a16="http://schemas.microsoft.com/office/drawing/2014/main" id="{23FE5618-156A-F94C-AB20-A7D0BBEA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8192E-6DCD-D34F-8354-8FF4168E8D7C}" type="datetimeFigureOut">
              <a:rPr lang="it-IT" smtClean="0"/>
              <a:t>28/11/2022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="" xmlns:a16="http://schemas.microsoft.com/office/drawing/2014/main" id="{DC037B10-6122-D74B-B714-DBC26A903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="" xmlns:a16="http://schemas.microsoft.com/office/drawing/2014/main" id="{7511843C-7287-FB4D-92A7-2788364B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09558-F2A2-4982-9C99-31DC71FE215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5713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8FE828-B925-4B4F-9E7C-8199B40D6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2E4DB9E-FE41-4D5B-90BD-284EF4062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8E703D7-1DB8-4086-BC78-556D0FFF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B8CDA-9ED8-43AF-8E9E-779777C4270D}" type="datetimeFigureOut">
              <a:rPr lang="it-IT" smtClean="0"/>
              <a:t>28/11/2022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3C0491C-637F-4318-9B55-6A4BBD929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6FAF3A5-5DE8-4A1F-B2E6-6480049FF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9EE1B-E32F-40BF-9C8A-C23AC646C8E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399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">
            <a:extLst>
              <a:ext uri="{FF2B5EF4-FFF2-40B4-BE49-F238E27FC236}">
                <a16:creationId xmlns="" xmlns:a16="http://schemas.microsoft.com/office/drawing/2014/main" id="{843F6EDA-C372-6747-8EB0-AB6800F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847" y="512273"/>
            <a:ext cx="11532865" cy="424732"/>
          </a:xfrm>
          <a:noFill/>
        </p:spPr>
        <p:txBody>
          <a:bodyPr wrap="square" lIns="0" rtlCol="0">
            <a:spAutoFit/>
          </a:bodyPr>
          <a:lstStyle>
            <a:lvl1pPr>
              <a:defRPr lang="it-IT" sz="2400" b="1" dirty="0">
                <a:solidFill>
                  <a:srgbClr val="0A26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algn="just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="" xmlns:a16="http://schemas.microsoft.com/office/drawing/2014/main" id="{168416CD-683D-1B41-85C7-43BB3E681D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847" y="254521"/>
            <a:ext cx="8494999" cy="237757"/>
          </a:xfrm>
          <a:noFill/>
        </p:spPr>
        <p:txBody>
          <a:bodyPr wrap="square" lIns="0" rtlCol="0">
            <a:spAutoFit/>
          </a:bodyPr>
          <a:lstStyle>
            <a:lvl1pPr marL="0" indent="0">
              <a:buFont typeface="+mj-lt"/>
              <a:buNone/>
              <a:defRPr lang="it-IT" sz="10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just"/>
            <a:r>
              <a:rPr lang="it-IT"/>
              <a:t>FARE CLIC PER MODIFICARE GLI STILI DEL TESTO DELLO SCHEMA</a:t>
            </a:r>
          </a:p>
        </p:txBody>
      </p:sp>
      <p:sp>
        <p:nvSpPr>
          <p:cNvPr id="13" name="Footer Placeholder 83">
            <a:extLst>
              <a:ext uri="{FF2B5EF4-FFF2-40B4-BE49-F238E27FC236}">
                <a16:creationId xmlns="" xmlns:a16="http://schemas.microsoft.com/office/drawing/2014/main" id="{04D5A9D0-7D27-6043-94AF-A609E50211B4}"/>
              </a:ext>
            </a:extLst>
          </p:cNvPr>
          <p:cNvSpPr txBox="1"/>
          <p:nvPr userDrawn="1"/>
        </p:nvSpPr>
        <p:spPr>
          <a:xfrm>
            <a:off x="451474" y="6464980"/>
            <a:ext cx="41148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Copyright © 2021 </a:t>
            </a:r>
            <a:r>
              <a:rPr kumimoji="0" lang="it-IT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Italia domani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22624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montagna, cielo, esterni, uomo&#10;&#10;Descrizione generata automaticamente">
            <a:extLst>
              <a:ext uri="{FF2B5EF4-FFF2-40B4-BE49-F238E27FC236}">
                <a16:creationId xmlns="" xmlns:a16="http://schemas.microsoft.com/office/drawing/2014/main" id="{60CCCDFD-DE98-4F4E-BB2D-5A559977F5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2401" y="-57275"/>
            <a:ext cx="12406845" cy="7007719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37420C44-0863-4F1D-B8E8-A6171A05F533}"/>
              </a:ext>
            </a:extLst>
          </p:cNvPr>
          <p:cNvSpPr/>
          <p:nvPr userDrawn="1"/>
        </p:nvSpPr>
        <p:spPr>
          <a:xfrm>
            <a:off x="-152401" y="-57275"/>
            <a:ext cx="12393466" cy="7007719"/>
          </a:xfrm>
          <a:prstGeom prst="rect">
            <a:avLst/>
          </a:prstGeom>
          <a:solidFill>
            <a:srgbClr val="476DB6">
              <a:alpha val="74902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it-IT" sz="1600">
              <a:solidFill>
                <a:schemeClr val="bg1"/>
              </a:solidFill>
            </a:endParaRPr>
          </a:p>
        </p:txBody>
      </p:sp>
      <p:sp>
        <p:nvSpPr>
          <p:cNvPr id="7" name="Segnaposto testo 5">
            <a:extLst>
              <a:ext uri="{FF2B5EF4-FFF2-40B4-BE49-F238E27FC236}">
                <a16:creationId xmlns="" xmlns:a16="http://schemas.microsoft.com/office/drawing/2014/main" id="{BB960975-98BC-43E7-99EE-DDC6BBC6D4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159" y="3825087"/>
            <a:ext cx="4992687" cy="946135"/>
          </a:xfrm>
          <a:solidFill>
            <a:schemeClr val="bg2"/>
          </a:solidFill>
        </p:spPr>
        <p:txBody>
          <a:bodyPr wrap="square" lIns="360000" rtlCol="0" anchor="ctr">
            <a:noAutofit/>
          </a:bodyPr>
          <a:lstStyle>
            <a:lvl1pPr>
              <a:defRPr lang="it-IT" sz="3600" smtClean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</a:defRPr>
            </a:lvl1pPr>
            <a:lvl2pPr marL="114300" indent="0">
              <a:buNone/>
              <a:defRPr lang="it-IT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it-IT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it-IT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it-IT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/>
              <a:t>Fare clic per modifica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="" xmlns:a16="http://schemas.microsoft.com/office/drawing/2014/main" id="{04D0533A-67FD-41AB-B27C-38D2599733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297" y="4868057"/>
            <a:ext cx="2009103" cy="688952"/>
          </a:xfrm>
          <a:solidFill>
            <a:schemeClr val="bg2"/>
          </a:solidFill>
        </p:spPr>
        <p:txBody>
          <a:bodyPr wrap="square" lIns="360000" rtlCol="0" anchor="ctr">
            <a:noAutofit/>
          </a:bodyPr>
          <a:lstStyle>
            <a:lvl1pPr>
              <a:defRPr lang="it-IT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</a:defRPr>
            </a:lvl1pPr>
          </a:lstStyle>
          <a:p>
            <a:pPr lvl="0"/>
            <a:r>
              <a:rPr lang="it-IT"/>
              <a:t>FARE</a:t>
            </a:r>
          </a:p>
        </p:txBody>
      </p:sp>
    </p:spTree>
    <p:extLst>
      <p:ext uri="{BB962C8B-B14F-4D97-AF65-F5344CB8AC3E}">
        <p14:creationId xmlns:p14="http://schemas.microsoft.com/office/powerpoint/2010/main" val="88887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=""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786405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=""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=""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600" b="0" i="0" baseline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101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iangolo 3">
            <a:extLst>
              <a:ext uri="{FF2B5EF4-FFF2-40B4-BE49-F238E27FC236}">
                <a16:creationId xmlns="" xmlns:a16="http://schemas.microsoft.com/office/drawing/2014/main" id="{467C3E0D-F122-B446-8F3E-8919F8343E54}"/>
              </a:ext>
            </a:extLst>
          </p:cNvPr>
          <p:cNvSpPr/>
          <p:nvPr userDrawn="1"/>
        </p:nvSpPr>
        <p:spPr>
          <a:xfrm>
            <a:off x="7368226" y="-154761"/>
            <a:ext cx="5118410" cy="7142157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CDA73C">
              <a:alpha val="957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Triangolo 3">
            <a:extLst>
              <a:ext uri="{FF2B5EF4-FFF2-40B4-BE49-F238E27FC236}">
                <a16:creationId xmlns="" xmlns:a16="http://schemas.microsoft.com/office/drawing/2014/main" id="{894C735B-36C1-C94E-B6F4-47AF876BD4EA}"/>
              </a:ext>
            </a:extLst>
          </p:cNvPr>
          <p:cNvSpPr/>
          <p:nvPr userDrawn="1"/>
        </p:nvSpPr>
        <p:spPr>
          <a:xfrm flipV="1">
            <a:off x="7516084" y="-154764"/>
            <a:ext cx="5118410" cy="7142159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476DB6">
              <a:alpha val="9111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sp>
        <p:nvSpPr>
          <p:cNvPr id="14" name="Triangolo 3">
            <a:extLst>
              <a:ext uri="{FF2B5EF4-FFF2-40B4-BE49-F238E27FC236}">
                <a16:creationId xmlns="" xmlns:a16="http://schemas.microsoft.com/office/drawing/2014/main" id="{8CCB9C25-2A20-DE4D-A418-89A902A05CB2}"/>
              </a:ext>
            </a:extLst>
          </p:cNvPr>
          <p:cNvSpPr/>
          <p:nvPr userDrawn="1"/>
        </p:nvSpPr>
        <p:spPr>
          <a:xfrm rot="5400000" flipH="1" flipV="1">
            <a:off x="552400" y="-707160"/>
            <a:ext cx="1707415" cy="2812213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0A2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=""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165282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=""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=""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600" b="0" i="0" baseline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65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riangolo 3">
            <a:extLst>
              <a:ext uri="{FF2B5EF4-FFF2-40B4-BE49-F238E27FC236}">
                <a16:creationId xmlns="" xmlns:a16="http://schemas.microsoft.com/office/drawing/2014/main" id="{4A1D4B6D-5583-6946-B8B0-562BF5E76E7B}"/>
              </a:ext>
            </a:extLst>
          </p:cNvPr>
          <p:cNvSpPr/>
          <p:nvPr userDrawn="1"/>
        </p:nvSpPr>
        <p:spPr>
          <a:xfrm rot="20210384">
            <a:off x="-2607017" y="4722820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CDA73C">
              <a:alpha val="957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Segnaposto testo 20">
            <a:extLst>
              <a:ext uri="{FF2B5EF4-FFF2-40B4-BE49-F238E27FC236}">
                <a16:creationId xmlns="" xmlns:a16="http://schemas.microsoft.com/office/drawing/2014/main" id="{8B727156-FEEE-A640-9610-2DF6342436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669" y="2179952"/>
            <a:ext cx="5511331" cy="644850"/>
          </a:xfrm>
          <a:noFill/>
        </p:spPr>
        <p:txBody>
          <a:bodyPr wrap="square" lIns="0" rtlCol="0" anchor="ctr">
            <a:noAutofit/>
          </a:bodyPr>
          <a:lstStyle>
            <a:lvl1pPr marL="0" indent="0">
              <a:buNone/>
              <a:defRPr lang="it-IT" sz="2400" b="0" dirty="0">
                <a:solidFill>
                  <a:srgbClr val="CDA73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it-IT"/>
              <a:t>Fare clic per modificare il testo</a:t>
            </a:r>
          </a:p>
        </p:txBody>
      </p:sp>
      <p:sp>
        <p:nvSpPr>
          <p:cNvPr id="5" name="Titolo 4">
            <a:extLst>
              <a:ext uri="{FF2B5EF4-FFF2-40B4-BE49-F238E27FC236}">
                <a16:creationId xmlns="" xmlns:a16="http://schemas.microsoft.com/office/drawing/2014/main" id="{6D580878-EF8E-B746-B8C9-C877BF1B6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669" y="2928067"/>
            <a:ext cx="9123218" cy="1200329"/>
          </a:xfrm>
        </p:spPr>
        <p:txBody>
          <a:bodyPr wrap="square">
            <a:spAutoFit/>
          </a:bodyPr>
          <a:lstStyle>
            <a:lvl1pPr>
              <a:defRPr lang="it-IT" sz="40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it-IT"/>
              <a:t>FARE CLIC PER MODIFICARE LO STILE DEL TITOLO DELLO SCHEMA</a:t>
            </a:r>
          </a:p>
        </p:txBody>
      </p:sp>
      <p:sp>
        <p:nvSpPr>
          <p:cNvPr id="4" name="Triangolo 3">
            <a:extLst>
              <a:ext uri="{FF2B5EF4-FFF2-40B4-BE49-F238E27FC236}">
                <a16:creationId xmlns="" xmlns:a16="http://schemas.microsoft.com/office/drawing/2014/main" id="{B332F31B-8B5E-4348-BFE2-218027F29EB9}"/>
              </a:ext>
            </a:extLst>
          </p:cNvPr>
          <p:cNvSpPr/>
          <p:nvPr userDrawn="1"/>
        </p:nvSpPr>
        <p:spPr>
          <a:xfrm rot="20210384">
            <a:off x="8111317" y="-2604198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CDA73C">
              <a:alpha val="957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Triangolo 3">
            <a:extLst>
              <a:ext uri="{FF2B5EF4-FFF2-40B4-BE49-F238E27FC236}">
                <a16:creationId xmlns="" xmlns:a16="http://schemas.microsoft.com/office/drawing/2014/main" id="{D75E7B67-284F-BC4D-A238-BC02D3DF9B51}"/>
              </a:ext>
            </a:extLst>
          </p:cNvPr>
          <p:cNvSpPr/>
          <p:nvPr userDrawn="1"/>
        </p:nvSpPr>
        <p:spPr>
          <a:xfrm rot="4332893" flipV="1">
            <a:off x="3413993" y="3487389"/>
            <a:ext cx="3464570" cy="5706350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476DB6">
              <a:alpha val="9111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=""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922614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=""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=""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600" b="0" i="0" baseline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9" name="Triangolo 3">
            <a:extLst>
              <a:ext uri="{FF2B5EF4-FFF2-40B4-BE49-F238E27FC236}">
                <a16:creationId xmlns="" xmlns:a16="http://schemas.microsoft.com/office/drawing/2014/main" id="{16160AA9-8282-DA4C-909B-F790731EAD07}"/>
              </a:ext>
            </a:extLst>
          </p:cNvPr>
          <p:cNvSpPr/>
          <p:nvPr userDrawn="1"/>
        </p:nvSpPr>
        <p:spPr>
          <a:xfrm rot="16200000" flipH="1">
            <a:off x="-340004" y="1272111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0A2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5652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">
            <a:extLst>
              <a:ext uri="{FF2B5EF4-FFF2-40B4-BE49-F238E27FC236}">
                <a16:creationId xmlns="" xmlns:a16="http://schemas.microsoft.com/office/drawing/2014/main" id="{843F6EDA-C372-6747-8EB0-AB6800F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847" y="512273"/>
            <a:ext cx="11532865" cy="424732"/>
          </a:xfrm>
          <a:noFill/>
        </p:spPr>
        <p:txBody>
          <a:bodyPr wrap="square" lIns="0" rtlCol="0">
            <a:spAutoFit/>
          </a:bodyPr>
          <a:lstStyle>
            <a:lvl1pPr>
              <a:defRPr lang="it-IT" sz="2400" b="1" dirty="0">
                <a:solidFill>
                  <a:srgbClr val="0A26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algn="just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="" xmlns:a16="http://schemas.microsoft.com/office/drawing/2014/main" id="{168416CD-683D-1B41-85C7-43BB3E681D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847" y="254521"/>
            <a:ext cx="8494999" cy="237757"/>
          </a:xfrm>
          <a:noFill/>
        </p:spPr>
        <p:txBody>
          <a:bodyPr wrap="square" lIns="0" rtlCol="0">
            <a:spAutoFit/>
          </a:bodyPr>
          <a:lstStyle>
            <a:lvl1pPr marL="0" indent="0">
              <a:buFont typeface="+mj-lt"/>
              <a:buNone/>
              <a:defRPr lang="it-IT" sz="10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just"/>
            <a:r>
              <a:rPr lang="it-IT"/>
              <a:t>FARE CLIC PER MODIFICARE GLI STILI DEL TESTO DELLO SCHEMA</a:t>
            </a:r>
          </a:p>
        </p:txBody>
      </p:sp>
      <p:sp>
        <p:nvSpPr>
          <p:cNvPr id="13" name="Footer Placeholder 83">
            <a:extLst>
              <a:ext uri="{FF2B5EF4-FFF2-40B4-BE49-F238E27FC236}">
                <a16:creationId xmlns="" xmlns:a16="http://schemas.microsoft.com/office/drawing/2014/main" id="{04D5A9D0-7D27-6043-94AF-A609E50211B4}"/>
              </a:ext>
            </a:extLst>
          </p:cNvPr>
          <p:cNvSpPr txBox="1"/>
          <p:nvPr userDrawn="1"/>
        </p:nvSpPr>
        <p:spPr>
          <a:xfrm>
            <a:off x="451474" y="6464980"/>
            <a:ext cx="41148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Copyright © 2021 </a:t>
            </a:r>
            <a:r>
              <a:rPr kumimoji="0" lang="it-IT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Italia domani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37464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montagna, cielo, esterni, uomo&#10;&#10;Descrizione generata automaticamente">
            <a:extLst>
              <a:ext uri="{FF2B5EF4-FFF2-40B4-BE49-F238E27FC236}">
                <a16:creationId xmlns="" xmlns:a16="http://schemas.microsoft.com/office/drawing/2014/main" id="{60CCCDFD-DE98-4F4E-BB2D-5A559977F5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2401" y="-57275"/>
            <a:ext cx="12406845" cy="7007719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37420C44-0863-4F1D-B8E8-A6171A05F533}"/>
              </a:ext>
            </a:extLst>
          </p:cNvPr>
          <p:cNvSpPr/>
          <p:nvPr userDrawn="1"/>
        </p:nvSpPr>
        <p:spPr>
          <a:xfrm>
            <a:off x="-152401" y="-57275"/>
            <a:ext cx="12393466" cy="7007719"/>
          </a:xfrm>
          <a:prstGeom prst="rect">
            <a:avLst/>
          </a:prstGeom>
          <a:solidFill>
            <a:srgbClr val="476DB6">
              <a:alpha val="74902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it-IT" sz="1600">
              <a:solidFill>
                <a:schemeClr val="bg1"/>
              </a:solidFill>
            </a:endParaRPr>
          </a:p>
        </p:txBody>
      </p:sp>
      <p:sp>
        <p:nvSpPr>
          <p:cNvPr id="7" name="Segnaposto testo 5">
            <a:extLst>
              <a:ext uri="{FF2B5EF4-FFF2-40B4-BE49-F238E27FC236}">
                <a16:creationId xmlns="" xmlns:a16="http://schemas.microsoft.com/office/drawing/2014/main" id="{BB960975-98BC-43E7-99EE-DDC6BBC6D4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159" y="3825087"/>
            <a:ext cx="4992687" cy="946135"/>
          </a:xfrm>
          <a:solidFill>
            <a:schemeClr val="bg2"/>
          </a:solidFill>
        </p:spPr>
        <p:txBody>
          <a:bodyPr wrap="square" lIns="360000" rtlCol="0" anchor="ctr">
            <a:noAutofit/>
          </a:bodyPr>
          <a:lstStyle>
            <a:lvl1pPr>
              <a:defRPr lang="it-IT" sz="3600" smtClean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</a:defRPr>
            </a:lvl1pPr>
            <a:lvl2pPr marL="114300" indent="0">
              <a:buNone/>
              <a:defRPr lang="it-IT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it-IT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it-IT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it-IT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/>
              <a:t>Fare clic per modifica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="" xmlns:a16="http://schemas.microsoft.com/office/drawing/2014/main" id="{04D0533A-67FD-41AB-B27C-38D2599733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297" y="4868057"/>
            <a:ext cx="2009103" cy="688952"/>
          </a:xfrm>
          <a:solidFill>
            <a:schemeClr val="bg2"/>
          </a:solidFill>
        </p:spPr>
        <p:txBody>
          <a:bodyPr wrap="square" lIns="360000" rtlCol="0" anchor="ctr">
            <a:noAutofit/>
          </a:bodyPr>
          <a:lstStyle>
            <a:lvl1pPr>
              <a:defRPr lang="it-IT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</a:defRPr>
            </a:lvl1pPr>
          </a:lstStyle>
          <a:p>
            <a:pPr lvl="0"/>
            <a:r>
              <a:rPr lang="it-IT"/>
              <a:t>FARE</a:t>
            </a:r>
          </a:p>
        </p:txBody>
      </p:sp>
    </p:spTree>
    <p:extLst>
      <p:ext uri="{BB962C8B-B14F-4D97-AF65-F5344CB8AC3E}">
        <p14:creationId xmlns:p14="http://schemas.microsoft.com/office/powerpoint/2010/main" val="1869393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gnaposto testo 20">
            <a:extLst>
              <a:ext uri="{FF2B5EF4-FFF2-40B4-BE49-F238E27FC236}">
                <a16:creationId xmlns="" xmlns:a16="http://schemas.microsoft.com/office/drawing/2014/main" id="{8B727156-FEEE-A640-9610-2DF6342436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669" y="4022660"/>
            <a:ext cx="4100657" cy="644850"/>
          </a:xfrm>
          <a:noFill/>
        </p:spPr>
        <p:txBody>
          <a:bodyPr wrap="square" lIns="0" rtlCol="0" anchor="ctr">
            <a:noAutofit/>
          </a:bodyPr>
          <a:lstStyle>
            <a:lvl1pPr marL="0" indent="0">
              <a:buNone/>
              <a:defRPr lang="it-IT" sz="2400" b="0" dirty="0">
                <a:solidFill>
                  <a:srgbClr val="CDA73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it-IT"/>
              <a:t>Fare clic per modificare gli</a:t>
            </a:r>
          </a:p>
        </p:txBody>
      </p:sp>
      <p:sp>
        <p:nvSpPr>
          <p:cNvPr id="5" name="Titolo 4">
            <a:extLst>
              <a:ext uri="{FF2B5EF4-FFF2-40B4-BE49-F238E27FC236}">
                <a16:creationId xmlns="" xmlns:a16="http://schemas.microsoft.com/office/drawing/2014/main" id="{6D580878-EF8E-B746-B8C9-C877BF1B6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402" y="2824802"/>
            <a:ext cx="9123218" cy="1200329"/>
          </a:xfrm>
        </p:spPr>
        <p:txBody>
          <a:bodyPr wrap="square">
            <a:spAutoFit/>
          </a:bodyPr>
          <a:lstStyle>
            <a:lvl1pPr>
              <a:defRPr lang="it-IT" sz="40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it-IT"/>
              <a:t>FARE CLIC PER MODIFICARE LO STILE DEL TITOLO DELLO SCHEMA</a:t>
            </a:r>
          </a:p>
        </p:txBody>
      </p:sp>
      <p:sp>
        <p:nvSpPr>
          <p:cNvPr id="4" name="Triangolo 3">
            <a:extLst>
              <a:ext uri="{FF2B5EF4-FFF2-40B4-BE49-F238E27FC236}">
                <a16:creationId xmlns="" xmlns:a16="http://schemas.microsoft.com/office/drawing/2014/main" id="{B332F31B-8B5E-4348-BFE2-218027F29EB9}"/>
              </a:ext>
            </a:extLst>
          </p:cNvPr>
          <p:cNvSpPr/>
          <p:nvPr userDrawn="1"/>
        </p:nvSpPr>
        <p:spPr>
          <a:xfrm>
            <a:off x="7368226" y="-154761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CDA73C">
              <a:alpha val="957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Triangolo 3">
            <a:extLst>
              <a:ext uri="{FF2B5EF4-FFF2-40B4-BE49-F238E27FC236}">
                <a16:creationId xmlns="" xmlns:a16="http://schemas.microsoft.com/office/drawing/2014/main" id="{D75E7B67-284F-BC4D-A238-BC02D3DF9B51}"/>
              </a:ext>
            </a:extLst>
          </p:cNvPr>
          <p:cNvSpPr/>
          <p:nvPr userDrawn="1"/>
        </p:nvSpPr>
        <p:spPr>
          <a:xfrm flipV="1">
            <a:off x="7516084" y="-1223913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476DB6">
              <a:alpha val="9111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=""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46977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=""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=""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600" b="0" i="0" baseline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9" name="Triangolo 3">
            <a:extLst>
              <a:ext uri="{FF2B5EF4-FFF2-40B4-BE49-F238E27FC236}">
                <a16:creationId xmlns="" xmlns:a16="http://schemas.microsoft.com/office/drawing/2014/main" id="{16160AA9-8282-DA4C-909B-F790731EAD07}"/>
              </a:ext>
            </a:extLst>
          </p:cNvPr>
          <p:cNvSpPr/>
          <p:nvPr userDrawn="1"/>
        </p:nvSpPr>
        <p:spPr>
          <a:xfrm rot="5400000" flipH="1" flipV="1">
            <a:off x="-2335059" y="-3246135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0A2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0079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riangolo 3">
            <a:extLst>
              <a:ext uri="{FF2B5EF4-FFF2-40B4-BE49-F238E27FC236}">
                <a16:creationId xmlns="" xmlns:a16="http://schemas.microsoft.com/office/drawing/2014/main" id="{4A1D4B6D-5583-6946-B8B0-562BF5E76E7B}"/>
              </a:ext>
            </a:extLst>
          </p:cNvPr>
          <p:cNvSpPr/>
          <p:nvPr userDrawn="1"/>
        </p:nvSpPr>
        <p:spPr>
          <a:xfrm rot="20210384">
            <a:off x="-2607017" y="4722820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CDA73C">
              <a:alpha val="957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Segnaposto testo 20">
            <a:extLst>
              <a:ext uri="{FF2B5EF4-FFF2-40B4-BE49-F238E27FC236}">
                <a16:creationId xmlns="" xmlns:a16="http://schemas.microsoft.com/office/drawing/2014/main" id="{8B727156-FEEE-A640-9610-2DF6342436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669" y="2179952"/>
            <a:ext cx="4100657" cy="644850"/>
          </a:xfrm>
          <a:noFill/>
        </p:spPr>
        <p:txBody>
          <a:bodyPr wrap="square" lIns="0" rtlCol="0" anchor="ctr">
            <a:noAutofit/>
          </a:bodyPr>
          <a:lstStyle>
            <a:lvl1pPr marL="0" indent="0">
              <a:buNone/>
              <a:defRPr lang="it-IT" sz="2400" b="0" dirty="0">
                <a:solidFill>
                  <a:srgbClr val="CDA73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it-IT"/>
              <a:t>Fare clic per modificare gli</a:t>
            </a:r>
          </a:p>
        </p:txBody>
      </p:sp>
      <p:sp>
        <p:nvSpPr>
          <p:cNvPr id="5" name="Titolo 4">
            <a:extLst>
              <a:ext uri="{FF2B5EF4-FFF2-40B4-BE49-F238E27FC236}">
                <a16:creationId xmlns="" xmlns:a16="http://schemas.microsoft.com/office/drawing/2014/main" id="{6D580878-EF8E-B746-B8C9-C877BF1B6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669" y="2928067"/>
            <a:ext cx="9123218" cy="1200329"/>
          </a:xfrm>
        </p:spPr>
        <p:txBody>
          <a:bodyPr wrap="square">
            <a:spAutoFit/>
          </a:bodyPr>
          <a:lstStyle>
            <a:lvl1pPr>
              <a:defRPr lang="it-IT" sz="40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it-IT"/>
              <a:t>FARE CLIC PER MODIFICARE LO STILE DEL TITOLO DELLO SCHEMA</a:t>
            </a:r>
          </a:p>
        </p:txBody>
      </p:sp>
      <p:sp>
        <p:nvSpPr>
          <p:cNvPr id="4" name="Triangolo 3">
            <a:extLst>
              <a:ext uri="{FF2B5EF4-FFF2-40B4-BE49-F238E27FC236}">
                <a16:creationId xmlns="" xmlns:a16="http://schemas.microsoft.com/office/drawing/2014/main" id="{B332F31B-8B5E-4348-BFE2-218027F29EB9}"/>
              </a:ext>
            </a:extLst>
          </p:cNvPr>
          <p:cNvSpPr/>
          <p:nvPr userDrawn="1"/>
        </p:nvSpPr>
        <p:spPr>
          <a:xfrm rot="20210384">
            <a:off x="8111317" y="-2604198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CDA73C">
              <a:alpha val="957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Triangolo 3">
            <a:extLst>
              <a:ext uri="{FF2B5EF4-FFF2-40B4-BE49-F238E27FC236}">
                <a16:creationId xmlns="" xmlns:a16="http://schemas.microsoft.com/office/drawing/2014/main" id="{D75E7B67-284F-BC4D-A238-BC02D3DF9B51}"/>
              </a:ext>
            </a:extLst>
          </p:cNvPr>
          <p:cNvSpPr/>
          <p:nvPr userDrawn="1"/>
        </p:nvSpPr>
        <p:spPr>
          <a:xfrm rot="4332893" flipV="1">
            <a:off x="3413993" y="3487389"/>
            <a:ext cx="3464570" cy="5706350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476DB6">
              <a:alpha val="9111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=""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54634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=""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=""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600" b="0" i="0" baseline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9" name="Triangolo 3">
            <a:extLst>
              <a:ext uri="{FF2B5EF4-FFF2-40B4-BE49-F238E27FC236}">
                <a16:creationId xmlns="" xmlns:a16="http://schemas.microsoft.com/office/drawing/2014/main" id="{16160AA9-8282-DA4C-909B-F790731EAD07}"/>
              </a:ext>
            </a:extLst>
          </p:cNvPr>
          <p:cNvSpPr/>
          <p:nvPr userDrawn="1"/>
        </p:nvSpPr>
        <p:spPr>
          <a:xfrm rot="16200000" flipH="1">
            <a:off x="-340004" y="1272111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0A2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5043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">
            <a:extLst>
              <a:ext uri="{FF2B5EF4-FFF2-40B4-BE49-F238E27FC236}">
                <a16:creationId xmlns="" xmlns:a16="http://schemas.microsoft.com/office/drawing/2014/main" id="{843F6EDA-C372-6747-8EB0-AB6800F25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847" y="512273"/>
            <a:ext cx="11532865" cy="424732"/>
          </a:xfrm>
          <a:noFill/>
        </p:spPr>
        <p:txBody>
          <a:bodyPr wrap="square" lIns="0" rtlCol="0">
            <a:spAutoFit/>
          </a:bodyPr>
          <a:lstStyle>
            <a:lvl1pPr>
              <a:defRPr lang="it-IT" sz="2400" b="1" dirty="0">
                <a:solidFill>
                  <a:srgbClr val="0A26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algn="just"/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="" xmlns:a16="http://schemas.microsoft.com/office/drawing/2014/main" id="{168416CD-683D-1B41-85C7-43BB3E681D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3847" y="254521"/>
            <a:ext cx="8494999" cy="237757"/>
          </a:xfrm>
          <a:noFill/>
        </p:spPr>
        <p:txBody>
          <a:bodyPr wrap="square" lIns="0" rtlCol="0">
            <a:spAutoFit/>
          </a:bodyPr>
          <a:lstStyle>
            <a:lvl1pPr marL="0" indent="0">
              <a:buFont typeface="+mj-lt"/>
              <a:buNone/>
              <a:defRPr lang="it-IT" sz="105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algn="just"/>
            <a:r>
              <a:rPr lang="it-IT"/>
              <a:t>FARE CLIC PER MODIFICARE GLI STILI DEL TESTO DELLO SCHEMA</a:t>
            </a:r>
          </a:p>
        </p:txBody>
      </p:sp>
      <p:sp>
        <p:nvSpPr>
          <p:cNvPr id="13" name="Footer Placeholder 83">
            <a:extLst>
              <a:ext uri="{FF2B5EF4-FFF2-40B4-BE49-F238E27FC236}">
                <a16:creationId xmlns="" xmlns:a16="http://schemas.microsoft.com/office/drawing/2014/main" id="{04D5A9D0-7D27-6043-94AF-A609E50211B4}"/>
              </a:ext>
            </a:extLst>
          </p:cNvPr>
          <p:cNvSpPr txBox="1"/>
          <p:nvPr userDrawn="1"/>
        </p:nvSpPr>
        <p:spPr>
          <a:xfrm>
            <a:off x="433847" y="6557313"/>
            <a:ext cx="41148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Copyright © 2021 </a:t>
            </a:r>
            <a:r>
              <a:rPr kumimoji="0" lang="it-IT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Italia domani</a:t>
            </a: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Graphik"/>
              </a:rPr>
              <a:t>  All rights reserved.</a:t>
            </a:r>
          </a:p>
        </p:txBody>
      </p:sp>
      <p:sp>
        <p:nvSpPr>
          <p:cNvPr id="5" name="CasellaDiTesto 4"/>
          <p:cNvSpPr txBox="1"/>
          <p:nvPr userDrawn="1"/>
        </p:nvSpPr>
        <p:spPr>
          <a:xfrm>
            <a:off x="10134600" y="6499604"/>
            <a:ext cx="17621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5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</a:rPr>
              <a:t>PMST2021920STLM03</a:t>
            </a:r>
          </a:p>
        </p:txBody>
      </p:sp>
    </p:spTree>
    <p:extLst>
      <p:ext uri="{BB962C8B-B14F-4D97-AF65-F5344CB8AC3E}">
        <p14:creationId xmlns:p14="http://schemas.microsoft.com/office/powerpoint/2010/main" val="2000920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montagna, cielo, esterni, uomo&#10;&#10;Descrizione generata automaticamente">
            <a:extLst>
              <a:ext uri="{FF2B5EF4-FFF2-40B4-BE49-F238E27FC236}">
                <a16:creationId xmlns="" xmlns:a16="http://schemas.microsoft.com/office/drawing/2014/main" id="{60CCCDFD-DE98-4F4E-BB2D-5A559977F5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52401" y="-57275"/>
            <a:ext cx="12406845" cy="7007719"/>
          </a:xfrm>
          <a:prstGeom prst="rect">
            <a:avLst/>
          </a:prstGeom>
        </p:spPr>
      </p:pic>
      <p:sp>
        <p:nvSpPr>
          <p:cNvPr id="6" name="Rectangle 4">
            <a:extLst>
              <a:ext uri="{FF2B5EF4-FFF2-40B4-BE49-F238E27FC236}">
                <a16:creationId xmlns="" xmlns:a16="http://schemas.microsoft.com/office/drawing/2014/main" id="{37420C44-0863-4F1D-B8E8-A6171A05F533}"/>
              </a:ext>
            </a:extLst>
          </p:cNvPr>
          <p:cNvSpPr/>
          <p:nvPr userDrawn="1"/>
        </p:nvSpPr>
        <p:spPr>
          <a:xfrm>
            <a:off x="-152401" y="-57275"/>
            <a:ext cx="12393466" cy="7007719"/>
          </a:xfrm>
          <a:prstGeom prst="rect">
            <a:avLst/>
          </a:prstGeom>
          <a:solidFill>
            <a:srgbClr val="476DB6">
              <a:alpha val="74902"/>
            </a:srgb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it-IT" sz="1600">
              <a:solidFill>
                <a:schemeClr val="bg1"/>
              </a:solidFill>
            </a:endParaRPr>
          </a:p>
        </p:txBody>
      </p:sp>
      <p:sp>
        <p:nvSpPr>
          <p:cNvPr id="7" name="Segnaposto testo 5">
            <a:extLst>
              <a:ext uri="{FF2B5EF4-FFF2-40B4-BE49-F238E27FC236}">
                <a16:creationId xmlns="" xmlns:a16="http://schemas.microsoft.com/office/drawing/2014/main" id="{BB960975-98BC-43E7-99EE-DDC6BBC6D4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4159" y="3825087"/>
            <a:ext cx="4992687" cy="946135"/>
          </a:xfrm>
          <a:solidFill>
            <a:schemeClr val="bg2"/>
          </a:solidFill>
        </p:spPr>
        <p:txBody>
          <a:bodyPr wrap="square" lIns="360000" rtlCol="0" anchor="ctr">
            <a:noAutofit/>
          </a:bodyPr>
          <a:lstStyle>
            <a:lvl1pPr>
              <a:defRPr lang="it-IT" sz="3600" smtClean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</a:defRPr>
            </a:lvl1pPr>
            <a:lvl2pPr marL="114300" indent="0">
              <a:buNone/>
              <a:defRPr lang="it-IT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it-IT" sz="1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it-IT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it-IT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it-IT"/>
              <a:t>Fare clic per modifica</a:t>
            </a:r>
          </a:p>
        </p:txBody>
      </p:sp>
      <p:sp>
        <p:nvSpPr>
          <p:cNvPr id="8" name="Segnaposto testo 5">
            <a:extLst>
              <a:ext uri="{FF2B5EF4-FFF2-40B4-BE49-F238E27FC236}">
                <a16:creationId xmlns="" xmlns:a16="http://schemas.microsoft.com/office/drawing/2014/main" id="{04D0533A-67FD-41AB-B27C-38D2599733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9297" y="4868057"/>
            <a:ext cx="2009103" cy="688952"/>
          </a:xfrm>
          <a:solidFill>
            <a:schemeClr val="bg2"/>
          </a:solidFill>
        </p:spPr>
        <p:txBody>
          <a:bodyPr wrap="square" lIns="360000" rtlCol="0" anchor="ctr">
            <a:noAutofit/>
          </a:bodyPr>
          <a:lstStyle>
            <a:lvl1pPr>
              <a:defRPr lang="it-IT" sz="3600" b="1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</a:defRPr>
            </a:lvl1pPr>
          </a:lstStyle>
          <a:p>
            <a:pPr lvl="0"/>
            <a:r>
              <a:rPr lang="it-IT"/>
              <a:t>FARE</a:t>
            </a:r>
          </a:p>
        </p:txBody>
      </p:sp>
    </p:spTree>
    <p:extLst>
      <p:ext uri="{BB962C8B-B14F-4D97-AF65-F5344CB8AC3E}">
        <p14:creationId xmlns:p14="http://schemas.microsoft.com/office/powerpoint/2010/main" val="4143399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=""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40085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=""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=""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600" b="0" i="0" baseline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6908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iangolo 3">
            <a:extLst>
              <a:ext uri="{FF2B5EF4-FFF2-40B4-BE49-F238E27FC236}">
                <a16:creationId xmlns="" xmlns:a16="http://schemas.microsoft.com/office/drawing/2014/main" id="{467C3E0D-F122-B446-8F3E-8919F8343E54}"/>
              </a:ext>
            </a:extLst>
          </p:cNvPr>
          <p:cNvSpPr/>
          <p:nvPr userDrawn="1"/>
        </p:nvSpPr>
        <p:spPr>
          <a:xfrm>
            <a:off x="7368226" y="-154761"/>
            <a:ext cx="5118410" cy="7142157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CDA73C">
              <a:alpha val="957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Triangolo 3">
            <a:extLst>
              <a:ext uri="{FF2B5EF4-FFF2-40B4-BE49-F238E27FC236}">
                <a16:creationId xmlns="" xmlns:a16="http://schemas.microsoft.com/office/drawing/2014/main" id="{894C735B-36C1-C94E-B6F4-47AF876BD4EA}"/>
              </a:ext>
            </a:extLst>
          </p:cNvPr>
          <p:cNvSpPr/>
          <p:nvPr userDrawn="1"/>
        </p:nvSpPr>
        <p:spPr>
          <a:xfrm flipV="1">
            <a:off x="7516084" y="-154764"/>
            <a:ext cx="5118410" cy="7142159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476DB6">
              <a:alpha val="9111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sp>
        <p:nvSpPr>
          <p:cNvPr id="14" name="Triangolo 3">
            <a:extLst>
              <a:ext uri="{FF2B5EF4-FFF2-40B4-BE49-F238E27FC236}">
                <a16:creationId xmlns="" xmlns:a16="http://schemas.microsoft.com/office/drawing/2014/main" id="{8CCB9C25-2A20-DE4D-A418-89A902A05CB2}"/>
              </a:ext>
            </a:extLst>
          </p:cNvPr>
          <p:cNvSpPr/>
          <p:nvPr userDrawn="1"/>
        </p:nvSpPr>
        <p:spPr>
          <a:xfrm rot="5400000" flipH="1" flipV="1">
            <a:off x="552400" y="-707160"/>
            <a:ext cx="1707415" cy="2812213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0A2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=""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30360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=""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=""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600" b="0" i="0" baseline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8741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riangolo 3">
            <a:extLst>
              <a:ext uri="{FF2B5EF4-FFF2-40B4-BE49-F238E27FC236}">
                <a16:creationId xmlns="" xmlns:a16="http://schemas.microsoft.com/office/drawing/2014/main" id="{4A1D4B6D-5583-6946-B8B0-562BF5E76E7B}"/>
              </a:ext>
            </a:extLst>
          </p:cNvPr>
          <p:cNvSpPr/>
          <p:nvPr userDrawn="1"/>
        </p:nvSpPr>
        <p:spPr>
          <a:xfrm rot="20210384">
            <a:off x="-2607017" y="4722820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CDA73C">
              <a:alpha val="957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Segnaposto testo 20">
            <a:extLst>
              <a:ext uri="{FF2B5EF4-FFF2-40B4-BE49-F238E27FC236}">
                <a16:creationId xmlns="" xmlns:a16="http://schemas.microsoft.com/office/drawing/2014/main" id="{8B727156-FEEE-A640-9610-2DF6342436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669" y="2179952"/>
            <a:ext cx="5511331" cy="644850"/>
          </a:xfrm>
          <a:noFill/>
        </p:spPr>
        <p:txBody>
          <a:bodyPr wrap="square" lIns="0" rtlCol="0" anchor="ctr">
            <a:noAutofit/>
          </a:bodyPr>
          <a:lstStyle>
            <a:lvl1pPr marL="0" indent="0">
              <a:buNone/>
              <a:defRPr lang="it-IT" sz="2400" b="0" dirty="0">
                <a:solidFill>
                  <a:srgbClr val="CDA73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/>
            <a:r>
              <a:rPr lang="it-IT"/>
              <a:t>Fare clic per modificare il testo</a:t>
            </a:r>
          </a:p>
        </p:txBody>
      </p:sp>
      <p:sp>
        <p:nvSpPr>
          <p:cNvPr id="5" name="Titolo 4">
            <a:extLst>
              <a:ext uri="{FF2B5EF4-FFF2-40B4-BE49-F238E27FC236}">
                <a16:creationId xmlns="" xmlns:a16="http://schemas.microsoft.com/office/drawing/2014/main" id="{6D580878-EF8E-B746-B8C9-C877BF1B67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669" y="2928067"/>
            <a:ext cx="9123218" cy="1200329"/>
          </a:xfrm>
        </p:spPr>
        <p:txBody>
          <a:bodyPr wrap="square">
            <a:spAutoFit/>
          </a:bodyPr>
          <a:lstStyle>
            <a:lvl1pPr>
              <a:defRPr lang="it-IT" sz="4000" b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it-IT"/>
              <a:t>FARE CLIC PER MODIFICARE LO STILE DEL TITOLO DELLO SCHEMA</a:t>
            </a:r>
          </a:p>
        </p:txBody>
      </p:sp>
      <p:sp>
        <p:nvSpPr>
          <p:cNvPr id="4" name="Triangolo 3">
            <a:extLst>
              <a:ext uri="{FF2B5EF4-FFF2-40B4-BE49-F238E27FC236}">
                <a16:creationId xmlns="" xmlns:a16="http://schemas.microsoft.com/office/drawing/2014/main" id="{B332F31B-8B5E-4348-BFE2-218027F29EB9}"/>
              </a:ext>
            </a:extLst>
          </p:cNvPr>
          <p:cNvSpPr/>
          <p:nvPr userDrawn="1"/>
        </p:nvSpPr>
        <p:spPr>
          <a:xfrm rot="20210384">
            <a:off x="8111317" y="-2604198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CDA73C">
              <a:alpha val="957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Triangolo 3">
            <a:extLst>
              <a:ext uri="{FF2B5EF4-FFF2-40B4-BE49-F238E27FC236}">
                <a16:creationId xmlns="" xmlns:a16="http://schemas.microsoft.com/office/drawing/2014/main" id="{D75E7B67-284F-BC4D-A238-BC02D3DF9B51}"/>
              </a:ext>
            </a:extLst>
          </p:cNvPr>
          <p:cNvSpPr/>
          <p:nvPr userDrawn="1"/>
        </p:nvSpPr>
        <p:spPr>
          <a:xfrm rot="4332893" flipV="1">
            <a:off x="3413993" y="3487389"/>
            <a:ext cx="3464570" cy="5706350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476DB6">
              <a:alpha val="9111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=""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573152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think-cell Slide" r:id="rId5" imgW="592" imgH="591" progId="TCLayout.ActiveDocument.1">
                  <p:embed/>
                </p:oleObj>
              </mc:Choice>
              <mc:Fallback>
                <p:oleObj name="think-cell Slide" r:id="rId5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=""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="" xmlns:a16="http://schemas.microsoft.com/office/drawing/2014/main" id="{CC42428D-965F-410A-AAB0-2F4E028AF079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300"/>
              </a:spcAft>
            </a:pPr>
            <a:endParaRPr lang="en-US" sz="3600" b="0" i="0" baseline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9" name="Triangolo 3">
            <a:extLst>
              <a:ext uri="{FF2B5EF4-FFF2-40B4-BE49-F238E27FC236}">
                <a16:creationId xmlns="" xmlns:a16="http://schemas.microsoft.com/office/drawing/2014/main" id="{16160AA9-8282-DA4C-909B-F790731EAD07}"/>
              </a:ext>
            </a:extLst>
          </p:cNvPr>
          <p:cNvSpPr/>
          <p:nvPr userDrawn="1"/>
        </p:nvSpPr>
        <p:spPr>
          <a:xfrm rot="16200000" flipH="1">
            <a:off x="-340004" y="1272111"/>
            <a:ext cx="5118410" cy="8430322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0A2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257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3">
            <a:extLst>
              <a:ext uri="{FF2B5EF4-FFF2-40B4-BE49-F238E27FC236}">
                <a16:creationId xmlns="" xmlns:a16="http://schemas.microsoft.com/office/drawing/2014/main" id="{D79B8E2C-9B9C-B242-A619-534BDAEE360B}"/>
              </a:ext>
            </a:extLst>
          </p:cNvPr>
          <p:cNvSpPr/>
          <p:nvPr userDrawn="1"/>
        </p:nvSpPr>
        <p:spPr>
          <a:xfrm>
            <a:off x="7368226" y="-154761"/>
            <a:ext cx="5118410" cy="7142157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CDA73C">
              <a:alpha val="9576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Triangolo 3">
            <a:extLst>
              <a:ext uri="{FF2B5EF4-FFF2-40B4-BE49-F238E27FC236}">
                <a16:creationId xmlns="" xmlns:a16="http://schemas.microsoft.com/office/drawing/2014/main" id="{CC6AEEBF-A3F9-B449-A26C-8606B739E0B1}"/>
              </a:ext>
            </a:extLst>
          </p:cNvPr>
          <p:cNvSpPr/>
          <p:nvPr userDrawn="1"/>
        </p:nvSpPr>
        <p:spPr>
          <a:xfrm flipV="1">
            <a:off x="7516084" y="-154764"/>
            <a:ext cx="5118410" cy="7142159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476DB6">
              <a:alpha val="9111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  <p:sp>
        <p:nvSpPr>
          <p:cNvPr id="9" name="Triangolo 3">
            <a:extLst>
              <a:ext uri="{FF2B5EF4-FFF2-40B4-BE49-F238E27FC236}">
                <a16:creationId xmlns="" xmlns:a16="http://schemas.microsoft.com/office/drawing/2014/main" id="{DFF0114B-C883-5142-A07F-2F430310A7FB}"/>
              </a:ext>
            </a:extLst>
          </p:cNvPr>
          <p:cNvSpPr/>
          <p:nvPr userDrawn="1"/>
        </p:nvSpPr>
        <p:spPr>
          <a:xfrm rot="5400000" flipH="1" flipV="1">
            <a:off x="552400" y="-707160"/>
            <a:ext cx="1707415" cy="2812213"/>
          </a:xfrm>
          <a:custGeom>
            <a:avLst/>
            <a:gdLst>
              <a:gd name="connsiteX0" fmla="*/ 0 w 8497229"/>
              <a:gd name="connsiteY0" fmla="*/ 7361170 h 7361170"/>
              <a:gd name="connsiteX1" fmla="*/ 4248615 w 8497229"/>
              <a:gd name="connsiteY1" fmla="*/ 0 h 7361170"/>
              <a:gd name="connsiteX2" fmla="*/ 8497229 w 8497229"/>
              <a:gd name="connsiteY2" fmla="*/ 7361170 h 7361170"/>
              <a:gd name="connsiteX3" fmla="*/ 0 w 8497229"/>
              <a:gd name="connsiteY3" fmla="*/ 7361170 h 7361170"/>
              <a:gd name="connsiteX0" fmla="*/ 0 w 8497229"/>
              <a:gd name="connsiteY0" fmla="*/ 5309345 h 5309345"/>
              <a:gd name="connsiteX1" fmla="*/ 1706137 w 8497229"/>
              <a:gd name="connsiteY1" fmla="*/ 0 h 5309345"/>
              <a:gd name="connsiteX2" fmla="*/ 8497229 w 8497229"/>
              <a:gd name="connsiteY2" fmla="*/ 5309345 h 5309345"/>
              <a:gd name="connsiteX3" fmla="*/ 0 w 8497229"/>
              <a:gd name="connsiteY3" fmla="*/ 5309345 h 5309345"/>
              <a:gd name="connsiteX0" fmla="*/ 0 w 6400800"/>
              <a:gd name="connsiteY0" fmla="*/ 5309345 h 5309345"/>
              <a:gd name="connsiteX1" fmla="*/ 1706137 w 6400800"/>
              <a:gd name="connsiteY1" fmla="*/ 0 h 5309345"/>
              <a:gd name="connsiteX2" fmla="*/ 6400800 w 6400800"/>
              <a:gd name="connsiteY2" fmla="*/ 135179 h 5309345"/>
              <a:gd name="connsiteX3" fmla="*/ 0 w 6400800"/>
              <a:gd name="connsiteY3" fmla="*/ 5309345 h 5309345"/>
              <a:gd name="connsiteX0" fmla="*/ 4560849 w 4694663"/>
              <a:gd name="connsiteY0" fmla="*/ 8565501 h 8565501"/>
              <a:gd name="connsiteX1" fmla="*/ 0 w 4694663"/>
              <a:gd name="connsiteY1" fmla="*/ 0 h 8565501"/>
              <a:gd name="connsiteX2" fmla="*/ 4694663 w 4694663"/>
              <a:gd name="connsiteY2" fmla="*/ 135179 h 8565501"/>
              <a:gd name="connsiteX3" fmla="*/ 4560849 w 4694663"/>
              <a:gd name="connsiteY3" fmla="*/ 8565501 h 8565501"/>
              <a:gd name="connsiteX0" fmla="*/ 4984596 w 5118410"/>
              <a:gd name="connsiteY0" fmla="*/ 8430322 h 8430322"/>
              <a:gd name="connsiteX1" fmla="*/ 0 w 5118410"/>
              <a:gd name="connsiteY1" fmla="*/ 20938 h 8430322"/>
              <a:gd name="connsiteX2" fmla="*/ 5118410 w 5118410"/>
              <a:gd name="connsiteY2" fmla="*/ 0 h 8430322"/>
              <a:gd name="connsiteX3" fmla="*/ 4984596 w 5118410"/>
              <a:gd name="connsiteY3" fmla="*/ 8430322 h 843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18410" h="8430322">
                <a:moveTo>
                  <a:pt x="4984596" y="8430322"/>
                </a:moveTo>
                <a:lnTo>
                  <a:pt x="0" y="20938"/>
                </a:lnTo>
                <a:lnTo>
                  <a:pt x="5118410" y="0"/>
                </a:lnTo>
                <a:lnTo>
                  <a:pt x="4984596" y="8430322"/>
                </a:lnTo>
                <a:close/>
              </a:path>
            </a:pathLst>
          </a:custGeom>
          <a:solidFill>
            <a:srgbClr val="0A2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6115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="" xmlns:a16="http://schemas.microsoft.com/office/drawing/2014/main" id="{77016CB3-B9AA-7A4A-A607-67CD2D2C1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="" xmlns:a16="http://schemas.microsoft.com/office/drawing/2014/main" id="{AD51F40F-55DE-8F46-B60A-0E235D58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7" name="Segnaposto numero diapositiva 5">
            <a:extLst>
              <a:ext uri="{FF2B5EF4-FFF2-40B4-BE49-F238E27FC236}">
                <a16:creationId xmlns="" xmlns:a16="http://schemas.microsoft.com/office/drawing/2014/main" id="{CC11CACA-3D43-6842-94A5-90E1FE5ACAA5}"/>
              </a:ext>
            </a:extLst>
          </p:cNvPr>
          <p:cNvSpPr txBox="1">
            <a:spLocks/>
          </p:cNvSpPr>
          <p:nvPr userDrawn="1"/>
        </p:nvSpPr>
        <p:spPr>
          <a:xfrm>
            <a:off x="11589431" y="6283857"/>
            <a:ext cx="360000" cy="364395"/>
          </a:xfrm>
          <a:prstGeom prst="rect">
            <a:avLst/>
          </a:prstGeom>
          <a:solidFill>
            <a:srgbClr val="F9CA4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it-IT"/>
            </a:defPPr>
            <a:lvl1pPr marL="0" algn="l" defTabSz="914400" rtl="0" eaLnBrk="1" latinLnBrk="0" hangingPunct="1">
              <a:defRPr lang="it-IT" sz="1000" b="1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A3629D-14CA-1049-B39F-B4DCB224B636}" type="slidenum">
              <a:rPr kumimoji="0" lang="it-IT" sz="1000" b="1" i="0" u="none" strike="noStrike" kern="1200" cap="none" spc="0" normalizeH="0" baseline="0" noProof="0" smtClean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endParaRPr kumimoji="0" lang="it-IT" sz="1000" b="1" i="0" u="none" strike="noStrike" kern="1200" cap="none" spc="0" normalizeH="0" baseline="0" noProof="0">
              <a:ln>
                <a:noFill/>
              </a:ln>
              <a:solidFill>
                <a:srgbClr val="0A26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27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="" xmlns:a16="http://schemas.microsoft.com/office/drawing/2014/main" id="{77016CB3-B9AA-7A4A-A607-67CD2D2C1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="" xmlns:a16="http://schemas.microsoft.com/office/drawing/2014/main" id="{AD51F40F-55DE-8F46-B60A-0E235D58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7" name="Segnaposto numero diapositiva 5">
            <a:extLst>
              <a:ext uri="{FF2B5EF4-FFF2-40B4-BE49-F238E27FC236}">
                <a16:creationId xmlns="" xmlns:a16="http://schemas.microsoft.com/office/drawing/2014/main" id="{CC11CACA-3D43-6842-94A5-90E1FE5ACAA5}"/>
              </a:ext>
            </a:extLst>
          </p:cNvPr>
          <p:cNvSpPr txBox="1">
            <a:spLocks/>
          </p:cNvSpPr>
          <p:nvPr userDrawn="1"/>
        </p:nvSpPr>
        <p:spPr>
          <a:xfrm>
            <a:off x="11589431" y="6251958"/>
            <a:ext cx="360000" cy="364395"/>
          </a:xfrm>
          <a:prstGeom prst="rect">
            <a:avLst/>
          </a:prstGeom>
          <a:solidFill>
            <a:srgbClr val="0A264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it-IT"/>
            </a:defPPr>
            <a:lvl1pPr marL="0" algn="l" defTabSz="914400" rtl="0" eaLnBrk="1" latinLnBrk="0" hangingPunct="1">
              <a:defRPr lang="it-IT" sz="1000" b="1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A3629D-14CA-1049-B39F-B4DCB224B636}" type="slidenum">
              <a:rPr kumimoji="0" lang="it-IT" sz="1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endParaRPr kumimoji="0" lang="it-IT" sz="1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782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="" xmlns:a16="http://schemas.microsoft.com/office/drawing/2014/main" id="{77016CB3-B9AA-7A4A-A607-67CD2D2C1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="" xmlns:a16="http://schemas.microsoft.com/office/drawing/2014/main" id="{AD51F40F-55DE-8F46-B60A-0E235D58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7" name="Segnaposto numero diapositiva 5">
            <a:extLst>
              <a:ext uri="{FF2B5EF4-FFF2-40B4-BE49-F238E27FC236}">
                <a16:creationId xmlns="" xmlns:a16="http://schemas.microsoft.com/office/drawing/2014/main" id="{CC11CACA-3D43-6842-94A5-90E1FE5ACAA5}"/>
              </a:ext>
            </a:extLst>
          </p:cNvPr>
          <p:cNvSpPr txBox="1">
            <a:spLocks/>
          </p:cNvSpPr>
          <p:nvPr userDrawn="1"/>
        </p:nvSpPr>
        <p:spPr>
          <a:xfrm>
            <a:off x="11589431" y="6283857"/>
            <a:ext cx="360000" cy="364395"/>
          </a:xfrm>
          <a:prstGeom prst="rect">
            <a:avLst/>
          </a:prstGeom>
          <a:solidFill>
            <a:srgbClr val="F9CA4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it-IT"/>
            </a:defPPr>
            <a:lvl1pPr marL="0" algn="l" defTabSz="914400" rtl="0" eaLnBrk="1" latinLnBrk="0" hangingPunct="1">
              <a:defRPr lang="it-IT" sz="1000" b="1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A3629D-14CA-1049-B39F-B4DCB224B636}" type="slidenum">
              <a:rPr kumimoji="0" lang="it-IT" sz="1000" b="1" i="0" u="none" strike="noStrike" kern="1200" cap="none" spc="0" normalizeH="0" baseline="0" noProof="0" smtClean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endParaRPr kumimoji="0" lang="it-IT" sz="1000" b="1" i="0" u="none" strike="noStrike" kern="1200" cap="none" spc="0" normalizeH="0" baseline="0" noProof="0">
              <a:ln>
                <a:noFill/>
              </a:ln>
              <a:solidFill>
                <a:srgbClr val="0A2643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8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tif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tiff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tiff"/><Relationship Id="rId5" Type="http://schemas.openxmlformats.org/officeDocument/2006/relationships/image" Target="../media/image12.svg"/><Relationship Id="rId10" Type="http://schemas.openxmlformats.org/officeDocument/2006/relationships/image" Target="../media/image17.sv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5" Type="http://schemas.openxmlformats.org/officeDocument/2006/relationships/image" Target="../media/image23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9.sv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svg"/><Relationship Id="rId13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image" Target="../media/image16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taliadomani.gov.it/it/documenti-pnrr.html" TargetMode="External"/><Relationship Id="rId11" Type="http://schemas.openxmlformats.org/officeDocument/2006/relationships/image" Target="../media/image26.png"/><Relationship Id="rId5" Type="http://schemas.openxmlformats.org/officeDocument/2006/relationships/hyperlink" Target="https://italiadomani.gov.it/it/bandi-e-avvisi.html?orderby=@jcr:content/jcr:title&amp;sort=asc" TargetMode="External"/><Relationship Id="rId10" Type="http://schemas.openxmlformats.org/officeDocument/2006/relationships/image" Target="../media/image165.svg"/><Relationship Id="rId4" Type="http://schemas.openxmlformats.org/officeDocument/2006/relationships/image" Target="../media/image23.png"/><Relationship Id="rId9" Type="http://schemas.openxmlformats.org/officeDocument/2006/relationships/image" Target="../media/image25.png"/><Relationship Id="rId14" Type="http://schemas.openxmlformats.org/officeDocument/2006/relationships/image" Target="../media/image16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2FC2EC-2044-324B-AFB9-22FD1EE56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776" y="3698543"/>
            <a:ext cx="9256466" cy="2993258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it-IT" sz="3600" dirty="0" smtClean="0"/>
              <a:t>IL PNRR</a:t>
            </a:r>
            <a:r>
              <a:rPr lang="it-IT" sz="3600" dirty="0"/>
              <a:t>:</a:t>
            </a:r>
            <a:br>
              <a:rPr lang="it-IT" sz="3600" dirty="0"/>
            </a:br>
            <a:r>
              <a:rPr lang="it-IT" sz="3600" dirty="0"/>
              <a:t>LE RISORSE E LE </a:t>
            </a:r>
            <a:r>
              <a:rPr lang="it-IT" sz="3600" dirty="0" smtClean="0"/>
              <a:t>SFIDE</a:t>
            </a:r>
            <a:r>
              <a:rPr lang="it-IT" sz="3600" dirty="0"/>
              <a:t/>
            </a:r>
            <a:br>
              <a:rPr lang="it-IT" sz="3600" dirty="0"/>
            </a:br>
            <a:r>
              <a:rPr lang="it-IT" sz="3600" dirty="0"/>
              <a:t/>
            </a:r>
            <a:br>
              <a:rPr lang="it-IT" sz="3600" dirty="0"/>
            </a:br>
            <a:r>
              <a:rPr lang="it-IT" sz="3600" dirty="0"/>
              <a:t>			</a:t>
            </a:r>
            <a:endParaRPr lang="x-none" sz="2400" i="1" dirty="0"/>
          </a:p>
        </p:txBody>
      </p:sp>
    </p:spTree>
    <p:extLst>
      <p:ext uri="{BB962C8B-B14F-4D97-AF65-F5344CB8AC3E}">
        <p14:creationId xmlns:p14="http://schemas.microsoft.com/office/powerpoint/2010/main" val="193194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olo 35">
            <a:extLst>
              <a:ext uri="{FF2B5EF4-FFF2-40B4-BE49-F238E27FC236}">
                <a16:creationId xmlns="" xmlns:a16="http://schemas.microsoft.com/office/drawing/2014/main" id="{03F16DBD-F392-4A84-AE82-0CCA52856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RISORSE DESTINATE ALL’ITALIA</a:t>
            </a:r>
          </a:p>
        </p:txBody>
      </p:sp>
      <p:sp>
        <p:nvSpPr>
          <p:cNvPr id="38" name="Rettangolo 1">
            <a:extLst>
              <a:ext uri="{FF2B5EF4-FFF2-40B4-BE49-F238E27FC236}">
                <a16:creationId xmlns="" xmlns:a16="http://schemas.microsoft.com/office/drawing/2014/main" id="{94FECA14-1A40-F749-A72B-C4DDC1338043}"/>
              </a:ext>
            </a:extLst>
          </p:cNvPr>
          <p:cNvSpPr/>
          <p:nvPr/>
        </p:nvSpPr>
        <p:spPr>
          <a:xfrm>
            <a:off x="433848" y="2358775"/>
            <a:ext cx="4621433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A2643"/>
              </a:buClr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 fine di finanziare tutti i progetti ritenuti validi e in linea con la strategia del PNRR Italia: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A264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parte delle risorse sono state stanziate tramite il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Fondo Sviluppo e Coesione (FSC)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15,6 mld di €;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A264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è stato istituito un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Fondo Nazionale Complementare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per un importo complessivo pari a 30,6 mld di €;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A264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risorse pari a 13 mld di € sono state assegnate per il tramite del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Fondo React EU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  <a:endParaRPr kumimoji="0" lang="it-IT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41" name="Chart 37">
            <a:extLst>
              <a:ext uri="{FF2B5EF4-FFF2-40B4-BE49-F238E27FC236}">
                <a16:creationId xmlns="" xmlns:a16="http://schemas.microsoft.com/office/drawing/2014/main" id="{C3A570A4-B147-1B45-9EF8-17E528CEACBC}"/>
              </a:ext>
            </a:extLst>
          </p:cNvPr>
          <p:cNvGraphicFramePr/>
          <p:nvPr/>
        </p:nvGraphicFramePr>
        <p:xfrm>
          <a:off x="6372404" y="1803412"/>
          <a:ext cx="5906502" cy="4269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Rettangolo 41">
            <a:extLst>
              <a:ext uri="{FF2B5EF4-FFF2-40B4-BE49-F238E27FC236}">
                <a16:creationId xmlns="" xmlns:a16="http://schemas.microsoft.com/office/drawing/2014/main" id="{35F81917-FE07-7D4B-A445-C207D8359946}"/>
              </a:ext>
            </a:extLst>
          </p:cNvPr>
          <p:cNvSpPr/>
          <p:nvPr/>
        </p:nvSpPr>
        <p:spPr>
          <a:xfrm>
            <a:off x="8811096" y="3350592"/>
            <a:ext cx="161290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DA2"/>
              </a:buClr>
              <a:buSzTx/>
              <a:buFontTx/>
              <a:buNone/>
              <a:tabLst/>
              <a:defRPr/>
            </a:pPr>
            <a:r>
              <a:rPr kumimoji="0" lang="it-IT" sz="44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235,1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="" xmlns:a16="http://schemas.microsoft.com/office/drawing/2014/main" id="{D4BDCC3D-DB76-4343-BF88-0E6D59C229A3}"/>
              </a:ext>
            </a:extLst>
          </p:cNvPr>
          <p:cNvSpPr/>
          <p:nvPr/>
        </p:nvSpPr>
        <p:spPr>
          <a:xfrm>
            <a:off x="8581470" y="3949476"/>
            <a:ext cx="20721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DA2"/>
              </a:buClr>
              <a:buSzTx/>
              <a:buFontTx/>
              <a:buNone/>
              <a:tabLst/>
              <a:defRPr/>
            </a:pPr>
            <a:r>
              <a:rPr kumimoji="0" lang="it-IT" sz="2400" b="0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Mld di €</a:t>
            </a:r>
          </a:p>
        </p:txBody>
      </p:sp>
      <p:sp>
        <p:nvSpPr>
          <p:cNvPr id="46" name="Rectangle 54">
            <a:extLst>
              <a:ext uri="{FF2B5EF4-FFF2-40B4-BE49-F238E27FC236}">
                <a16:creationId xmlns="" xmlns:a16="http://schemas.microsoft.com/office/drawing/2014/main" id="{FD97AB1D-414B-8B4B-ABC4-830BC67243D0}"/>
              </a:ext>
            </a:extLst>
          </p:cNvPr>
          <p:cNvSpPr/>
          <p:nvPr/>
        </p:nvSpPr>
        <p:spPr>
          <a:xfrm>
            <a:off x="6358325" y="4631688"/>
            <a:ext cx="1637754" cy="25861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FONDO REACT EU</a:t>
            </a:r>
          </a:p>
        </p:txBody>
      </p:sp>
      <p:sp>
        <p:nvSpPr>
          <p:cNvPr id="47" name="TextBox 72">
            <a:extLst>
              <a:ext uri="{FF2B5EF4-FFF2-40B4-BE49-F238E27FC236}">
                <a16:creationId xmlns="" xmlns:a16="http://schemas.microsoft.com/office/drawing/2014/main" id="{71FC2B33-B41A-CF4F-8A29-B202F75CADFA}"/>
              </a:ext>
            </a:extLst>
          </p:cNvPr>
          <p:cNvSpPr txBox="1"/>
          <p:nvPr/>
        </p:nvSpPr>
        <p:spPr>
          <a:xfrm>
            <a:off x="6784576" y="4411141"/>
            <a:ext cx="1051570" cy="246221"/>
          </a:xfrm>
          <a:prstGeom prst="rect">
            <a:avLst/>
          </a:prstGeom>
          <a:solidFill>
            <a:sysClr val="window" lastClr="FFFFFF">
              <a:alpha val="65000"/>
            </a:sysClr>
          </a:solidFill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13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Mld di €</a:t>
            </a:r>
          </a:p>
        </p:txBody>
      </p:sp>
      <p:sp>
        <p:nvSpPr>
          <p:cNvPr id="48" name="Rectangle 54">
            <a:extLst>
              <a:ext uri="{FF2B5EF4-FFF2-40B4-BE49-F238E27FC236}">
                <a16:creationId xmlns="" xmlns:a16="http://schemas.microsoft.com/office/drawing/2014/main" id="{65CD7235-7BB0-1541-9907-369232A66015}"/>
              </a:ext>
            </a:extLst>
          </p:cNvPr>
          <p:cNvSpPr/>
          <p:nvPr/>
        </p:nvSpPr>
        <p:spPr>
          <a:xfrm>
            <a:off x="6230827" y="5629261"/>
            <a:ext cx="1697028" cy="44585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FONDO NAZIONALE COMPLEMENTARE</a:t>
            </a:r>
          </a:p>
        </p:txBody>
      </p:sp>
      <p:sp>
        <p:nvSpPr>
          <p:cNvPr id="49" name="TextBox 72">
            <a:extLst>
              <a:ext uri="{FF2B5EF4-FFF2-40B4-BE49-F238E27FC236}">
                <a16:creationId xmlns="" xmlns:a16="http://schemas.microsoft.com/office/drawing/2014/main" id="{70281A7D-6E64-544D-9E6E-12B2A816E9A9}"/>
              </a:ext>
            </a:extLst>
          </p:cNvPr>
          <p:cNvSpPr txBox="1"/>
          <p:nvPr/>
        </p:nvSpPr>
        <p:spPr>
          <a:xfrm>
            <a:off x="6609247" y="5384746"/>
            <a:ext cx="1223092" cy="246221"/>
          </a:xfrm>
          <a:prstGeom prst="rect">
            <a:avLst/>
          </a:prstGeom>
          <a:solidFill>
            <a:sysClr val="window" lastClr="FFFFFF">
              <a:alpha val="65000"/>
            </a:sysClr>
          </a:solidFill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30,6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Mld di €</a:t>
            </a:r>
          </a:p>
        </p:txBody>
      </p:sp>
      <p:sp>
        <p:nvSpPr>
          <p:cNvPr id="17" name="Segnaposto testo 4">
            <a:extLst>
              <a:ext uri="{FF2B5EF4-FFF2-40B4-BE49-F238E27FC236}">
                <a16:creationId xmlns="" xmlns:a16="http://schemas.microsoft.com/office/drawing/2014/main" id="{23773DC4-F116-4385-A84A-AFD89230D14B}"/>
              </a:ext>
            </a:extLst>
          </p:cNvPr>
          <p:cNvSpPr txBox="1">
            <a:spLocks/>
          </p:cNvSpPr>
          <p:nvPr/>
        </p:nvSpPr>
        <p:spPr>
          <a:xfrm>
            <a:off x="354335" y="953359"/>
            <a:ext cx="10527175" cy="8500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Nell’ambito dell’iniziativa Next Generation EU, l’Italia ha ricevuto risorse afferenti al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Dispositivo di Ripresa e Resilienza (PNRR)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 un importo complessivo pari a € 191,5 miliardi da impiegare nel periodo 2021-2026 attraverso l’attuazione del PNRR (di cui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51,4 mld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per Progetti in Essere).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="" xmlns:a16="http://schemas.microsoft.com/office/drawing/2014/main" id="{EF4FB47B-2893-4E0F-96E6-2D8A2721968C}"/>
              </a:ext>
            </a:extLst>
          </p:cNvPr>
          <p:cNvSpPr/>
          <p:nvPr/>
        </p:nvSpPr>
        <p:spPr>
          <a:xfrm>
            <a:off x="12200148" y="5389318"/>
            <a:ext cx="983848" cy="8000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54">
            <a:extLst>
              <a:ext uri="{FF2B5EF4-FFF2-40B4-BE49-F238E27FC236}">
                <a16:creationId xmlns="" xmlns:a16="http://schemas.microsoft.com/office/drawing/2014/main" id="{19072909-6D3E-064C-9CAF-B8ED4E566EDA}"/>
              </a:ext>
            </a:extLst>
          </p:cNvPr>
          <p:cNvSpPr/>
          <p:nvPr/>
        </p:nvSpPr>
        <p:spPr>
          <a:xfrm>
            <a:off x="5749541" y="2495112"/>
            <a:ext cx="2156465" cy="5232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DISPOSITIVO DI RIPRESA E RESILIENZA (PNRR)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1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72">
            <a:extLst>
              <a:ext uri="{FF2B5EF4-FFF2-40B4-BE49-F238E27FC236}">
                <a16:creationId xmlns="" xmlns:a16="http://schemas.microsoft.com/office/drawing/2014/main" id="{F90B6F92-A8A0-F647-B8A3-38209C3FA718}"/>
              </a:ext>
            </a:extLst>
          </p:cNvPr>
          <p:cNvSpPr txBox="1"/>
          <p:nvPr/>
        </p:nvSpPr>
        <p:spPr>
          <a:xfrm>
            <a:off x="6486370" y="2255024"/>
            <a:ext cx="1336905" cy="246221"/>
          </a:xfrm>
          <a:prstGeom prst="rect">
            <a:avLst/>
          </a:prstGeom>
          <a:solidFill>
            <a:sysClr val="window" lastClr="FFFFFF">
              <a:alpha val="65000"/>
            </a:sysClr>
          </a:solidFill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191,5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Mld di €</a:t>
            </a:r>
          </a:p>
        </p:txBody>
      </p:sp>
      <p:sp>
        <p:nvSpPr>
          <p:cNvPr id="20" name="Rectangle 54">
            <a:extLst>
              <a:ext uri="{FF2B5EF4-FFF2-40B4-BE49-F238E27FC236}">
                <a16:creationId xmlns="" xmlns:a16="http://schemas.microsoft.com/office/drawing/2014/main" id="{CEC53F8A-9E6E-B642-8AD4-B44BE7A1CB36}"/>
              </a:ext>
            </a:extLst>
          </p:cNvPr>
          <p:cNvSpPr/>
          <p:nvPr/>
        </p:nvSpPr>
        <p:spPr>
          <a:xfrm>
            <a:off x="5749541" y="2927425"/>
            <a:ext cx="2156465" cy="52322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51,4 </a:t>
            </a:r>
            <a:r>
              <a:rPr kumimoji="0" lang="it-IT" sz="1200" b="0" i="0" u="none" strike="noStrike" kern="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Progetti in essere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15,6 </a:t>
            </a:r>
            <a:r>
              <a:rPr kumimoji="0" lang="it-IT" sz="1200" b="0" i="0" u="none" strike="noStrike" kern="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FSC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1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="" xmlns:a16="http://schemas.microsoft.com/office/drawing/2014/main" id="{560C9E1B-F15E-4592-ACB2-DEB41AC36F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847" y="254521"/>
            <a:ext cx="8494999" cy="237757"/>
          </a:xfrm>
        </p:spPr>
        <p:txBody>
          <a:bodyPr vert="horz" wrap="square" lIns="0" tIns="45720" rIns="91440" bIns="45720" rtlCol="0" anchor="t">
            <a:spAutoFit/>
          </a:bodyPr>
          <a:lstStyle/>
          <a:p>
            <a:r>
              <a:rPr lang="it-IT">
                <a:latin typeface="Arial"/>
                <a:cs typeface="Arial"/>
              </a:rPr>
              <a:t>IL PIANO NAZIONALE DI RIPRESA E RESILIENZA: uno sguardo d’insieme</a:t>
            </a:r>
            <a:endParaRPr lang="x-none"/>
          </a:p>
        </p:txBody>
      </p:sp>
      <p:sp>
        <p:nvSpPr>
          <p:cNvPr id="2" name="Rettangolo 1"/>
          <p:cNvSpPr/>
          <p:nvPr/>
        </p:nvSpPr>
        <p:spPr>
          <a:xfrm>
            <a:off x="354335" y="6387152"/>
            <a:ext cx="2893832" cy="2593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01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Chart 50">
            <a:extLst>
              <a:ext uri="{FF2B5EF4-FFF2-40B4-BE49-F238E27FC236}">
                <a16:creationId xmlns="" xmlns:a16="http://schemas.microsoft.com/office/drawing/2014/main" id="{2949E278-0F0B-7640-A443-B334677E6BA0}"/>
              </a:ext>
            </a:extLst>
          </p:cNvPr>
          <p:cNvGraphicFramePr/>
          <p:nvPr/>
        </p:nvGraphicFramePr>
        <p:xfrm>
          <a:off x="2671462" y="1492208"/>
          <a:ext cx="6649971" cy="4412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Rectangle 58">
            <a:extLst>
              <a:ext uri="{FF2B5EF4-FFF2-40B4-BE49-F238E27FC236}">
                <a16:creationId xmlns="" xmlns:a16="http://schemas.microsoft.com/office/drawing/2014/main" id="{4767D498-36EF-154C-985C-B4D0F0CE4C85}"/>
              </a:ext>
            </a:extLst>
          </p:cNvPr>
          <p:cNvSpPr/>
          <p:nvPr/>
        </p:nvSpPr>
        <p:spPr>
          <a:xfrm>
            <a:off x="7873690" y="4840076"/>
            <a:ext cx="2112270" cy="66213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TRANSIZIONE VERDE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0" cap="none" spc="0" normalizeH="0" baseline="0" noProof="0" dirty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59,46 mld di €</a:t>
            </a:r>
            <a:endParaRPr kumimoji="0" lang="it-IT" sz="1000" b="1" i="0" u="none" strike="noStrike" kern="0" cap="none" spc="0" normalizeH="0" baseline="0" noProof="0" dirty="0">
              <a:ln>
                <a:noFill/>
              </a:ln>
              <a:solidFill>
                <a:srgbClr val="476DB6"/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69">
            <a:extLst>
              <a:ext uri="{FF2B5EF4-FFF2-40B4-BE49-F238E27FC236}">
                <a16:creationId xmlns="" xmlns:a16="http://schemas.microsoft.com/office/drawing/2014/main" id="{F7A153A1-74FD-504D-B678-D8FC4246252A}"/>
              </a:ext>
            </a:extLst>
          </p:cNvPr>
          <p:cNvSpPr txBox="1"/>
          <p:nvPr/>
        </p:nvSpPr>
        <p:spPr>
          <a:xfrm>
            <a:off x="7961826" y="4663759"/>
            <a:ext cx="974626" cy="276999"/>
          </a:xfrm>
          <a:prstGeom prst="rect">
            <a:avLst/>
          </a:prstGeom>
          <a:solidFill>
            <a:sysClr val="window" lastClr="FFFFFF">
              <a:alpha val="65000"/>
            </a:sysClr>
          </a:solidFill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32,05%   </a:t>
            </a:r>
          </a:p>
        </p:txBody>
      </p:sp>
      <p:sp>
        <p:nvSpPr>
          <p:cNvPr id="41" name="Rectangle 59">
            <a:extLst>
              <a:ext uri="{FF2B5EF4-FFF2-40B4-BE49-F238E27FC236}">
                <a16:creationId xmlns="" xmlns:a16="http://schemas.microsoft.com/office/drawing/2014/main" id="{E85FD90F-1DA5-DF46-AE89-12B35C2D3337}"/>
              </a:ext>
            </a:extLst>
          </p:cNvPr>
          <p:cNvSpPr/>
          <p:nvPr/>
        </p:nvSpPr>
        <p:spPr>
          <a:xfrm>
            <a:off x="7851656" y="1902254"/>
            <a:ext cx="3786904" cy="47946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DIGITALIZZAZIONE, COMPETITIVITA’ E CULTURA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0" cap="none" spc="0" normalizeH="0" baseline="0" noProof="0" dirty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40,29 mld di €</a:t>
            </a:r>
            <a:endParaRPr kumimoji="0" lang="it-IT" sz="1200" b="0" i="0" u="none" strike="noStrike" kern="0" cap="none" spc="0" normalizeH="0" baseline="0" noProof="0" dirty="0">
              <a:ln>
                <a:noFill/>
              </a:ln>
              <a:solidFill>
                <a:srgbClr val="476DB6"/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70">
            <a:extLst>
              <a:ext uri="{FF2B5EF4-FFF2-40B4-BE49-F238E27FC236}">
                <a16:creationId xmlns="" xmlns:a16="http://schemas.microsoft.com/office/drawing/2014/main" id="{D8628ED5-794A-A845-8C64-369D70A30539}"/>
              </a:ext>
            </a:extLst>
          </p:cNvPr>
          <p:cNvSpPr txBox="1"/>
          <p:nvPr/>
        </p:nvSpPr>
        <p:spPr>
          <a:xfrm>
            <a:off x="7961826" y="1652605"/>
            <a:ext cx="782265" cy="276999"/>
          </a:xfrm>
          <a:prstGeom prst="rect">
            <a:avLst/>
          </a:prstGeom>
          <a:solidFill>
            <a:sysClr val="window" lastClr="FFFFFF">
              <a:alpha val="65000"/>
            </a:sysClr>
          </a:solidFill>
        </p:spPr>
        <p:txBody>
          <a:bodyPr wrap="none" lIns="0" tIns="0" rIns="0" bIns="0" rtlCol="0" anchor="ctr">
            <a:spAutoFit/>
          </a:bodyPr>
          <a:lstStyle>
            <a:defPPr>
              <a:defRPr lang="it-IT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kern="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21,04%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D69A3D9D-6EA8-45CB-BC5F-E89455B45626}"/>
              </a:ext>
            </a:extLst>
          </p:cNvPr>
          <p:cNvGrpSpPr/>
          <p:nvPr/>
        </p:nvGrpSpPr>
        <p:grpSpPr>
          <a:xfrm>
            <a:off x="5200650" y="5901328"/>
            <a:ext cx="2333298" cy="888797"/>
            <a:chOff x="-57150" y="5858524"/>
            <a:chExt cx="2333298" cy="888797"/>
          </a:xfrm>
        </p:grpSpPr>
        <p:sp>
          <p:nvSpPr>
            <p:cNvPr id="39" name="Rectangle 54">
              <a:extLst>
                <a:ext uri="{FF2B5EF4-FFF2-40B4-BE49-F238E27FC236}">
                  <a16:creationId xmlns="" xmlns:a16="http://schemas.microsoft.com/office/drawing/2014/main" id="{75CA416E-83D9-C44B-82A5-5F85392B7105}"/>
                </a:ext>
              </a:extLst>
            </p:cNvPr>
            <p:cNvSpPr/>
            <p:nvPr/>
          </p:nvSpPr>
          <p:spPr>
            <a:xfrm>
              <a:off x="-57150" y="6085182"/>
              <a:ext cx="2333298" cy="662139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INFRASTRUTTURE PER UNA MOBILITÀ SOSTENIBILE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400" b="1" i="0" u="none" strike="noStrike" kern="0" cap="none" spc="0" normalizeH="0" baseline="0" noProof="0">
                  <a:ln>
                    <a:noFill/>
                  </a:ln>
                  <a:solidFill>
                    <a:srgbClr val="476DB6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25,40 mld di €</a:t>
              </a:r>
              <a:endParaRPr kumimoji="0" lang="it-IT" sz="1200" b="1" i="0" u="none" strike="noStrike" kern="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Box 71">
              <a:extLst>
                <a:ext uri="{FF2B5EF4-FFF2-40B4-BE49-F238E27FC236}">
                  <a16:creationId xmlns="" xmlns:a16="http://schemas.microsoft.com/office/drawing/2014/main" id="{A4FCAF55-EA89-064C-A015-872992EC9651}"/>
                </a:ext>
              </a:extLst>
            </p:cNvPr>
            <p:cNvSpPr txBox="1"/>
            <p:nvPr/>
          </p:nvSpPr>
          <p:spPr>
            <a:xfrm>
              <a:off x="0" y="5858524"/>
              <a:ext cx="782266" cy="276999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</p:spPr>
          <p:txBody>
            <a:bodyPr wrap="none" lIns="0" tIns="0" rIns="0" bIns="0" rtlCol="0" anchor="ctr">
              <a:spAutoFit/>
            </a:bodyPr>
            <a:lstStyle>
              <a:defPPr>
                <a:defRPr lang="it-IT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0A2643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13,26%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AFD817DD-0AD8-45A5-9D9D-0DC05E8D405D}"/>
              </a:ext>
            </a:extLst>
          </p:cNvPr>
          <p:cNvGrpSpPr/>
          <p:nvPr/>
        </p:nvGrpSpPr>
        <p:grpSpPr>
          <a:xfrm>
            <a:off x="1840821" y="4793192"/>
            <a:ext cx="2162676" cy="755905"/>
            <a:chOff x="5631849" y="5886076"/>
            <a:chExt cx="2162676" cy="755905"/>
          </a:xfrm>
        </p:grpSpPr>
        <p:sp>
          <p:nvSpPr>
            <p:cNvPr id="38" name="Rectangle 53">
              <a:extLst>
                <a:ext uri="{FF2B5EF4-FFF2-40B4-BE49-F238E27FC236}">
                  <a16:creationId xmlns="" xmlns:a16="http://schemas.microsoft.com/office/drawing/2014/main" id="{322E7A46-02AD-2646-BC2C-9CC09990D25E}"/>
                </a:ext>
              </a:extLst>
            </p:cNvPr>
            <p:cNvSpPr/>
            <p:nvPr/>
          </p:nvSpPr>
          <p:spPr>
            <a:xfrm>
              <a:off x="5631849" y="6141873"/>
              <a:ext cx="2162676" cy="50010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ISTRUZIONE E RICERCA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400" b="1" i="0" u="none" strike="noStrike" kern="0" cap="none" spc="0" normalizeH="0" baseline="0" noProof="0">
                  <a:ln>
                    <a:noFill/>
                  </a:ln>
                  <a:solidFill>
                    <a:srgbClr val="476DB6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30,88 mld di €</a:t>
              </a:r>
              <a:endParaRPr kumimoji="0" lang="it-IT" sz="1200" b="1" i="0" u="none" strike="noStrike" kern="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Box 72">
              <a:extLst>
                <a:ext uri="{FF2B5EF4-FFF2-40B4-BE49-F238E27FC236}">
                  <a16:creationId xmlns="" xmlns:a16="http://schemas.microsoft.com/office/drawing/2014/main" id="{B998607F-CC0D-3244-90E0-DD1F062867B7}"/>
                </a:ext>
              </a:extLst>
            </p:cNvPr>
            <p:cNvSpPr txBox="1"/>
            <p:nvPr/>
          </p:nvSpPr>
          <p:spPr>
            <a:xfrm>
              <a:off x="7012259" y="5886076"/>
              <a:ext cx="782266" cy="276999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</p:spPr>
          <p:txBody>
            <a:bodyPr wrap="none" lIns="0" tIns="0" rIns="0" bIns="0" rtlCol="0" anchor="ctr">
              <a:spAutoFit/>
            </a:bodyPr>
            <a:lstStyle>
              <a:defPPr>
                <a:defRPr lang="it-IT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0A2643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16,13%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="" xmlns:a16="http://schemas.microsoft.com/office/drawing/2014/main" id="{C47522D1-4B0B-4CFF-8D9C-FC5FDE65179B}"/>
              </a:ext>
            </a:extLst>
          </p:cNvPr>
          <p:cNvGrpSpPr/>
          <p:nvPr/>
        </p:nvGrpSpPr>
        <p:grpSpPr>
          <a:xfrm>
            <a:off x="1671667" y="2977781"/>
            <a:ext cx="2112270" cy="720735"/>
            <a:chOff x="2418996" y="5289516"/>
            <a:chExt cx="2112270" cy="720735"/>
          </a:xfrm>
        </p:grpSpPr>
        <p:sp>
          <p:nvSpPr>
            <p:cNvPr id="37" name="Rectangle 52">
              <a:extLst>
                <a:ext uri="{FF2B5EF4-FFF2-40B4-BE49-F238E27FC236}">
                  <a16:creationId xmlns="" xmlns:a16="http://schemas.microsoft.com/office/drawing/2014/main" id="{3BC304E9-2244-B146-BAB3-715CAEA66E89}"/>
                </a:ext>
              </a:extLst>
            </p:cNvPr>
            <p:cNvSpPr/>
            <p:nvPr/>
          </p:nvSpPr>
          <p:spPr>
            <a:xfrm>
              <a:off x="2418996" y="5530783"/>
              <a:ext cx="2112270" cy="47946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b="0" i="0" u="none" strike="noStrike" kern="0" cap="none" spc="0" normalizeH="0" baseline="0" noProof="0">
                  <a:ln>
                    <a:noFill/>
                  </a:ln>
                  <a:solidFill>
                    <a:srgbClr val="0A2643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INCLUSIONE E COESIONE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400" b="1" i="0" u="none" strike="noStrike" kern="0" cap="none" spc="0" normalizeH="0" baseline="0" noProof="0">
                  <a:ln>
                    <a:noFill/>
                  </a:ln>
                  <a:solidFill>
                    <a:srgbClr val="476DB6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19,85 mld di €</a:t>
              </a:r>
              <a:endParaRPr kumimoji="0" lang="it-IT" sz="1200" b="1" i="0" u="none" strike="noStrike" kern="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73">
              <a:extLst>
                <a:ext uri="{FF2B5EF4-FFF2-40B4-BE49-F238E27FC236}">
                  <a16:creationId xmlns="" xmlns:a16="http://schemas.microsoft.com/office/drawing/2014/main" id="{0A6D9AEE-68F0-0C46-8DE6-0057861D31FD}"/>
                </a:ext>
              </a:extLst>
            </p:cNvPr>
            <p:cNvSpPr txBox="1"/>
            <p:nvPr/>
          </p:nvSpPr>
          <p:spPr>
            <a:xfrm>
              <a:off x="3669488" y="5289516"/>
              <a:ext cx="782266" cy="276999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</p:spPr>
          <p:txBody>
            <a:bodyPr wrap="none" lIns="0" tIns="0" rIns="0" bIns="0" rtlCol="0" anchor="ctr">
              <a:spAutoFit/>
            </a:bodyPr>
            <a:lstStyle>
              <a:defPPr>
                <a:defRPr lang="it-IT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0A2643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10,37%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EFAD5DBD-6060-49B3-B9E8-815CF66A9357}"/>
              </a:ext>
            </a:extLst>
          </p:cNvPr>
          <p:cNvGrpSpPr/>
          <p:nvPr/>
        </p:nvGrpSpPr>
        <p:grpSpPr>
          <a:xfrm>
            <a:off x="2295171" y="1652601"/>
            <a:ext cx="1986352" cy="680407"/>
            <a:chOff x="1821390" y="3942833"/>
            <a:chExt cx="1986352" cy="680407"/>
          </a:xfrm>
        </p:grpSpPr>
        <p:sp>
          <p:nvSpPr>
            <p:cNvPr id="42" name="Rectangle 60">
              <a:extLst>
                <a:ext uri="{FF2B5EF4-FFF2-40B4-BE49-F238E27FC236}">
                  <a16:creationId xmlns="" xmlns:a16="http://schemas.microsoft.com/office/drawing/2014/main" id="{8E15D91B-58EE-A043-B9E8-36971F3F3AAF}"/>
                </a:ext>
              </a:extLst>
            </p:cNvPr>
            <p:cNvSpPr/>
            <p:nvPr/>
          </p:nvSpPr>
          <p:spPr>
            <a:xfrm>
              <a:off x="1821390" y="4265136"/>
              <a:ext cx="1986352" cy="35810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SALUTE E RESILIENZA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400" b="1" i="0" u="none" strike="noStrike" kern="0" cap="none" spc="0" normalizeH="0" baseline="0" noProof="0">
                  <a:ln>
                    <a:noFill/>
                  </a:ln>
                  <a:solidFill>
                    <a:srgbClr val="476DB6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15,63 mld di €</a:t>
              </a:r>
            </a:p>
          </p:txBody>
        </p:sp>
        <p:sp>
          <p:nvSpPr>
            <p:cNvPr id="54" name="TextBox 74">
              <a:extLst>
                <a:ext uri="{FF2B5EF4-FFF2-40B4-BE49-F238E27FC236}">
                  <a16:creationId xmlns="" xmlns:a16="http://schemas.microsoft.com/office/drawing/2014/main" id="{422CDC88-1654-F643-9EF5-AD9531700E94}"/>
                </a:ext>
              </a:extLst>
            </p:cNvPr>
            <p:cNvSpPr txBox="1"/>
            <p:nvPr/>
          </p:nvSpPr>
          <p:spPr>
            <a:xfrm>
              <a:off x="3067441" y="3942833"/>
              <a:ext cx="654026" cy="276999"/>
            </a:xfrm>
            <a:prstGeom prst="rect">
              <a:avLst/>
            </a:prstGeom>
            <a:solidFill>
              <a:sysClr val="window" lastClr="FFFFFF">
                <a:alpha val="65000"/>
              </a:sysClr>
            </a:solidFill>
          </p:spPr>
          <p:txBody>
            <a:bodyPr wrap="none" lIns="0" tIns="0" rIns="0" bIns="0" rtlCol="0" anchor="ctr">
              <a:spAutoFit/>
            </a:bodyPr>
            <a:lstStyle>
              <a:defPPr>
                <a:defRPr lang="it-IT"/>
              </a:defPPr>
              <a:lvl1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b="0" i="0" u="none" strike="noStrike" kern="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800" b="1" i="0" u="none" strike="noStrike" kern="0" cap="none" spc="0" normalizeH="0" baseline="0" noProof="0">
                  <a:ln>
                    <a:noFill/>
                  </a:ln>
                  <a:solidFill>
                    <a:srgbClr val="0A2643"/>
                  </a:solidFill>
                  <a:effectLst/>
                  <a:uLnTx/>
                  <a:uFillTx/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8,16%</a:t>
              </a:r>
            </a:p>
          </p:txBody>
        </p:sp>
      </p:grpSp>
      <p:sp>
        <p:nvSpPr>
          <p:cNvPr id="35" name="TextBox 1">
            <a:extLst>
              <a:ext uri="{FF2B5EF4-FFF2-40B4-BE49-F238E27FC236}">
                <a16:creationId xmlns="" xmlns:a16="http://schemas.microsoft.com/office/drawing/2014/main" id="{4375508B-E17C-1440-B08F-D8DB64424CB9}"/>
              </a:ext>
            </a:extLst>
          </p:cNvPr>
          <p:cNvSpPr txBox="1"/>
          <p:nvPr/>
        </p:nvSpPr>
        <p:spPr>
          <a:xfrm>
            <a:off x="4966305" y="3065670"/>
            <a:ext cx="2060282" cy="1154162"/>
          </a:xfrm>
          <a:prstGeom prst="rect">
            <a:avLst/>
          </a:prstGeom>
          <a:noFill/>
        </p:spPr>
        <p:txBody>
          <a:bodyPr wrap="square" lIns="0" tIns="0" rIns="0" bIns="45720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4800" b="1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PNRR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191,5 mld di €</a:t>
            </a:r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04AD3872-8556-8F40-81D2-48176C23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PNRR: IL QUADRO FINANZIARIO</a:t>
            </a:r>
            <a:endParaRPr lang="x-none"/>
          </a:p>
        </p:txBody>
      </p:sp>
      <p:sp>
        <p:nvSpPr>
          <p:cNvPr id="20" name="Segnaposto testo 4">
            <a:extLst>
              <a:ext uri="{FF2B5EF4-FFF2-40B4-BE49-F238E27FC236}">
                <a16:creationId xmlns="" xmlns:a16="http://schemas.microsoft.com/office/drawing/2014/main" id="{4C7B0710-75FA-E245-856C-6DEFC7FB8EC6}"/>
              </a:ext>
            </a:extLst>
          </p:cNvPr>
          <p:cNvSpPr txBox="1">
            <a:spLocks/>
          </p:cNvSpPr>
          <p:nvPr/>
        </p:nvSpPr>
        <p:spPr>
          <a:xfrm>
            <a:off x="354335" y="944621"/>
            <a:ext cx="11532865" cy="8500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 PNRR contiene un pacchetto coerente di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riforme strutturali e investimenti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 il periodo 2021-2026 articolato in sei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settori d'intervento prioritari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obiettivi: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="" xmlns:a16="http://schemas.microsoft.com/office/drawing/2014/main" id="{C790887A-4AAE-49F1-96A9-33C62A67E3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847" y="254521"/>
            <a:ext cx="8494999" cy="237757"/>
          </a:xfrm>
        </p:spPr>
        <p:txBody>
          <a:bodyPr vert="horz" wrap="square" lIns="0" tIns="45720" rIns="91440" bIns="45720" rtlCol="0" anchor="t">
            <a:spAutoFit/>
          </a:bodyPr>
          <a:lstStyle/>
          <a:p>
            <a:r>
              <a:rPr lang="it-IT">
                <a:latin typeface="Arial"/>
                <a:cs typeface="Arial"/>
              </a:rPr>
              <a:t>IL PIANO NAZIONALE DI RIPRESA E RESILIENZA: uno sguardo d’insieme</a:t>
            </a:r>
            <a:endParaRPr lang="x-none"/>
          </a:p>
        </p:txBody>
      </p:sp>
      <p:sp>
        <p:nvSpPr>
          <p:cNvPr id="2" name="Rettangolo 1"/>
          <p:cNvSpPr/>
          <p:nvPr/>
        </p:nvSpPr>
        <p:spPr>
          <a:xfrm>
            <a:off x="354335" y="6459055"/>
            <a:ext cx="2958957" cy="228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716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="" xmlns:a16="http://schemas.microsoft.com/office/drawing/2014/main" id="{5E8A84E0-D136-43C5-9DD6-3F2C221C18BC}"/>
              </a:ext>
            </a:extLst>
          </p:cNvPr>
          <p:cNvSpPr/>
          <p:nvPr/>
        </p:nvSpPr>
        <p:spPr>
          <a:xfrm>
            <a:off x="861351" y="1905676"/>
            <a:ext cx="646784" cy="646784"/>
          </a:xfrm>
          <a:prstGeom prst="rect">
            <a:avLst/>
          </a:prstGeom>
          <a:solidFill>
            <a:srgbClr val="476D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rgbClr val="0A2542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="" xmlns:a16="http://schemas.microsoft.com/office/drawing/2014/main" id="{5B8D71BA-6DA5-4D2D-91B8-7A03821D024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005632" y="2049956"/>
            <a:ext cx="358222" cy="358222"/>
          </a:xfrm>
          <a:prstGeom prst="rect">
            <a:avLst/>
          </a:prstGeom>
          <a:noFill/>
        </p:spPr>
      </p:pic>
      <p:sp>
        <p:nvSpPr>
          <p:cNvPr id="10" name="Rettangolo 9">
            <a:extLst>
              <a:ext uri="{FF2B5EF4-FFF2-40B4-BE49-F238E27FC236}">
                <a16:creationId xmlns="" xmlns:a16="http://schemas.microsoft.com/office/drawing/2014/main" id="{8DD45D08-2D73-4907-9E49-AF6149647F10}"/>
              </a:ext>
            </a:extLst>
          </p:cNvPr>
          <p:cNvSpPr/>
          <p:nvPr/>
        </p:nvSpPr>
        <p:spPr>
          <a:xfrm>
            <a:off x="1682359" y="1838421"/>
            <a:ext cx="2160000" cy="448244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TRANSIZIONE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DIGITALE</a:t>
            </a:r>
          </a:p>
        </p:txBody>
      </p:sp>
      <p:sp>
        <p:nvSpPr>
          <p:cNvPr id="11" name="Rettangolo 46">
            <a:extLst>
              <a:ext uri="{FF2B5EF4-FFF2-40B4-BE49-F238E27FC236}">
                <a16:creationId xmlns="" xmlns:a16="http://schemas.microsoft.com/office/drawing/2014/main" id="{771D33A6-8D26-478B-8CBE-402196E8DEF7}"/>
              </a:ext>
            </a:extLst>
          </p:cNvPr>
          <p:cNvSpPr/>
          <p:nvPr/>
        </p:nvSpPr>
        <p:spPr>
          <a:xfrm>
            <a:off x="1706118" y="2339209"/>
            <a:ext cx="2160000" cy="9283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Promuovere e sostenere la trasformazione digitale del Paese e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l’innovazione del sistema produttivo 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investire in due settori chiave per l’Italia: turismo e cultura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="" xmlns:a16="http://schemas.microsoft.com/office/drawing/2014/main" id="{F9FEE664-4840-42CA-972D-1D75054E379D}"/>
              </a:ext>
            </a:extLst>
          </p:cNvPr>
          <p:cNvSpPr/>
          <p:nvPr/>
        </p:nvSpPr>
        <p:spPr>
          <a:xfrm>
            <a:off x="4472529" y="1905676"/>
            <a:ext cx="646784" cy="646784"/>
          </a:xfrm>
          <a:prstGeom prst="rect">
            <a:avLst/>
          </a:prstGeom>
          <a:solidFill>
            <a:srgbClr val="476D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rgbClr val="0A2542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="" xmlns:a16="http://schemas.microsoft.com/office/drawing/2014/main" id="{525A64ED-045F-4571-BCFE-0B8B6DC24E16}"/>
              </a:ext>
            </a:extLst>
          </p:cNvPr>
          <p:cNvSpPr/>
          <p:nvPr/>
        </p:nvSpPr>
        <p:spPr>
          <a:xfrm>
            <a:off x="5293537" y="1838421"/>
            <a:ext cx="2160000" cy="448244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ISTRUZIONE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RICERCA</a:t>
            </a:r>
          </a:p>
        </p:txBody>
      </p:sp>
      <p:sp>
        <p:nvSpPr>
          <p:cNvPr id="14" name="Rettangolo 46">
            <a:extLst>
              <a:ext uri="{FF2B5EF4-FFF2-40B4-BE49-F238E27FC236}">
                <a16:creationId xmlns="" xmlns:a16="http://schemas.microsoft.com/office/drawing/2014/main" id="{846062DA-2177-46DF-B6C8-50E32F195285}"/>
              </a:ext>
            </a:extLst>
          </p:cNvPr>
          <p:cNvSpPr/>
          <p:nvPr/>
        </p:nvSpPr>
        <p:spPr>
          <a:xfrm>
            <a:off x="5317296" y="2339209"/>
            <a:ext cx="2160000" cy="9283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Rafforzare il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sistema educativo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le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competenze digitali e STEM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la 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ricerca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 il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trasferimento tecnologico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="" xmlns:a16="http://schemas.microsoft.com/office/drawing/2014/main" id="{506CE5A2-2369-47E2-8619-61B2F16D63E9}"/>
              </a:ext>
            </a:extLst>
          </p:cNvPr>
          <p:cNvSpPr/>
          <p:nvPr/>
        </p:nvSpPr>
        <p:spPr>
          <a:xfrm>
            <a:off x="8040457" y="1905676"/>
            <a:ext cx="646784" cy="646784"/>
          </a:xfrm>
          <a:prstGeom prst="rect">
            <a:avLst/>
          </a:prstGeom>
          <a:solidFill>
            <a:srgbClr val="476D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rgbClr val="0A2542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="" xmlns:a16="http://schemas.microsoft.com/office/drawing/2014/main" id="{496DD6E8-025A-4E68-A757-214E962BBBC2}"/>
              </a:ext>
            </a:extLst>
          </p:cNvPr>
          <p:cNvSpPr/>
          <p:nvPr/>
        </p:nvSpPr>
        <p:spPr>
          <a:xfrm>
            <a:off x="8861465" y="1838421"/>
            <a:ext cx="2160000" cy="448244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TRANSIZIONE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VERDE</a:t>
            </a:r>
          </a:p>
        </p:txBody>
      </p:sp>
      <p:sp>
        <p:nvSpPr>
          <p:cNvPr id="17" name="Rettangolo 46">
            <a:extLst>
              <a:ext uri="{FF2B5EF4-FFF2-40B4-BE49-F238E27FC236}">
                <a16:creationId xmlns="" xmlns:a16="http://schemas.microsoft.com/office/drawing/2014/main" id="{A1DDBAB3-82CE-4D75-B25B-35FCE9EBEE89}"/>
              </a:ext>
            </a:extLst>
          </p:cNvPr>
          <p:cNvSpPr/>
          <p:nvPr/>
        </p:nvSpPr>
        <p:spPr>
          <a:xfrm>
            <a:off x="8885224" y="2339209"/>
            <a:ext cx="2160000" cy="9283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Migliorare la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sostenibilità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 la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resilienza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del sistema economico  assicurando una transizione equa e inclusiva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="" xmlns:a16="http://schemas.microsoft.com/office/drawing/2014/main" id="{AD0166CA-9482-4316-BABF-B5A54EDD8B72}"/>
              </a:ext>
            </a:extLst>
          </p:cNvPr>
          <p:cNvSpPr/>
          <p:nvPr/>
        </p:nvSpPr>
        <p:spPr>
          <a:xfrm>
            <a:off x="861351" y="4043113"/>
            <a:ext cx="646784" cy="646784"/>
          </a:xfrm>
          <a:prstGeom prst="rect">
            <a:avLst/>
          </a:prstGeom>
          <a:solidFill>
            <a:srgbClr val="476D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rgbClr val="0A2542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Rettangolo 18">
            <a:extLst>
              <a:ext uri="{FF2B5EF4-FFF2-40B4-BE49-F238E27FC236}">
                <a16:creationId xmlns="" xmlns:a16="http://schemas.microsoft.com/office/drawing/2014/main" id="{46D4C144-CA60-4305-B41D-E9E5DE3FBA80}"/>
              </a:ext>
            </a:extLst>
          </p:cNvPr>
          <p:cNvSpPr/>
          <p:nvPr/>
        </p:nvSpPr>
        <p:spPr>
          <a:xfrm>
            <a:off x="1682359" y="3975858"/>
            <a:ext cx="2160000" cy="448244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INCLUSIONE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COESIONE</a:t>
            </a:r>
          </a:p>
        </p:txBody>
      </p:sp>
      <p:sp>
        <p:nvSpPr>
          <p:cNvPr id="20" name="Rettangolo 46">
            <a:extLst>
              <a:ext uri="{FF2B5EF4-FFF2-40B4-BE49-F238E27FC236}">
                <a16:creationId xmlns="" xmlns:a16="http://schemas.microsoft.com/office/drawing/2014/main" id="{FF8DB6B4-EAC6-4ED8-BD55-B0F5E561113E}"/>
              </a:ext>
            </a:extLst>
          </p:cNvPr>
          <p:cNvSpPr/>
          <p:nvPr/>
        </p:nvSpPr>
        <p:spPr>
          <a:xfrm>
            <a:off x="1706118" y="4476646"/>
            <a:ext cx="2160000" cy="9283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Facilitare la partecipazione al mercato del lavoro, anche attraverso la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formazione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e rafforzare le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politiche attive del lavoro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; favorire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l’inclusione sociale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="" xmlns:a16="http://schemas.microsoft.com/office/drawing/2014/main" id="{10AC2F9B-0210-48DC-9036-B16E7EDB2083}"/>
              </a:ext>
            </a:extLst>
          </p:cNvPr>
          <p:cNvSpPr/>
          <p:nvPr/>
        </p:nvSpPr>
        <p:spPr>
          <a:xfrm>
            <a:off x="4472529" y="4043113"/>
            <a:ext cx="646784" cy="646784"/>
          </a:xfrm>
          <a:prstGeom prst="rect">
            <a:avLst/>
          </a:prstGeom>
          <a:solidFill>
            <a:srgbClr val="476D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rgbClr val="0A2542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="" xmlns:a16="http://schemas.microsoft.com/office/drawing/2014/main" id="{8EC7C253-3B26-4D5C-AC86-B2E031F14C30}"/>
              </a:ext>
            </a:extLst>
          </p:cNvPr>
          <p:cNvSpPr/>
          <p:nvPr/>
        </p:nvSpPr>
        <p:spPr>
          <a:xfrm>
            <a:off x="5293537" y="3975858"/>
            <a:ext cx="2160000" cy="448244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INFRASTRUTTURE PER LA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MOBILITÀ SOSTENIBILE</a:t>
            </a:r>
          </a:p>
        </p:txBody>
      </p:sp>
      <p:sp>
        <p:nvSpPr>
          <p:cNvPr id="23" name="Rettangolo 46">
            <a:extLst>
              <a:ext uri="{FF2B5EF4-FFF2-40B4-BE49-F238E27FC236}">
                <a16:creationId xmlns="" xmlns:a16="http://schemas.microsoft.com/office/drawing/2014/main" id="{765F6EED-C98D-40D8-A45D-02D649E66130}"/>
              </a:ext>
            </a:extLst>
          </p:cNvPr>
          <p:cNvSpPr/>
          <p:nvPr/>
        </p:nvSpPr>
        <p:spPr>
          <a:xfrm>
            <a:off x="5317296" y="4476646"/>
            <a:ext cx="2160000" cy="9283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Sviluppo razionale di una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infrastruttura di trasporto 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moderna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sostenibile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ed estesa a tutte le aree del Paese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="" xmlns:a16="http://schemas.microsoft.com/office/drawing/2014/main" id="{DD98A1E2-AAAE-4804-B005-3E276542CAAA}"/>
              </a:ext>
            </a:extLst>
          </p:cNvPr>
          <p:cNvSpPr/>
          <p:nvPr/>
        </p:nvSpPr>
        <p:spPr>
          <a:xfrm>
            <a:off x="8040457" y="4043113"/>
            <a:ext cx="646784" cy="646784"/>
          </a:xfrm>
          <a:prstGeom prst="rect">
            <a:avLst/>
          </a:prstGeom>
          <a:solidFill>
            <a:srgbClr val="476D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rgbClr val="0A2542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="" xmlns:a16="http://schemas.microsoft.com/office/drawing/2014/main" id="{6AE485BE-362A-4699-8180-F6DF01A06672}"/>
              </a:ext>
            </a:extLst>
          </p:cNvPr>
          <p:cNvSpPr/>
          <p:nvPr/>
        </p:nvSpPr>
        <p:spPr>
          <a:xfrm>
            <a:off x="8861465" y="3975858"/>
            <a:ext cx="2160000" cy="448244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SALUTE E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RESILIENZA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476DB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ttangolo 46">
            <a:extLst>
              <a:ext uri="{FF2B5EF4-FFF2-40B4-BE49-F238E27FC236}">
                <a16:creationId xmlns="" xmlns:a16="http://schemas.microsoft.com/office/drawing/2014/main" id="{159F8EB2-51B3-4396-B4E4-02BFA0FB5C93}"/>
              </a:ext>
            </a:extLst>
          </p:cNvPr>
          <p:cNvSpPr/>
          <p:nvPr/>
        </p:nvSpPr>
        <p:spPr>
          <a:xfrm>
            <a:off x="8885224" y="4476646"/>
            <a:ext cx="2160000" cy="92834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Rafforzare la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prevenzione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e i 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servizi sanitari </a:t>
            </a:r>
            <a:r>
              <a:rPr kumimoji="0" lang="it-IT" sz="1200" b="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sul territorio, modernizzare e digitalizzare il sistema sanitario e garantire equità di accesso alle cure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="" xmlns:a16="http://schemas.microsoft.com/office/drawing/2014/main" id="{2204193B-444F-4378-9C4B-9B8DD90B682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591658" y="2024805"/>
            <a:ext cx="408527" cy="408527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="" xmlns:a16="http://schemas.microsoft.com/office/drawing/2014/main" id="{143ADBF0-EBB2-42B8-A7AA-59F367B078D2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8147849" y="2013068"/>
            <a:ext cx="432000" cy="432000"/>
          </a:xfrm>
          <a:prstGeom prst="rect">
            <a:avLst/>
          </a:prstGeom>
        </p:spPr>
      </p:pic>
      <p:pic>
        <p:nvPicPr>
          <p:cNvPr id="29" name="Immagine 28">
            <a:extLst>
              <a:ext uri="{FF2B5EF4-FFF2-40B4-BE49-F238E27FC236}">
                <a16:creationId xmlns="" xmlns:a16="http://schemas.microsoft.com/office/drawing/2014/main" id="{9C92C422-F297-46E0-8607-23866F7E62AB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971500" y="4169417"/>
            <a:ext cx="392727" cy="392727"/>
          </a:xfrm>
          <a:prstGeom prst="rect">
            <a:avLst/>
          </a:prstGeom>
          <a:noFill/>
        </p:spPr>
      </p:pic>
      <p:pic>
        <p:nvPicPr>
          <p:cNvPr id="30" name="object 32">
            <a:extLst>
              <a:ext uri="{FF2B5EF4-FFF2-40B4-BE49-F238E27FC236}">
                <a16:creationId xmlns="" xmlns:a16="http://schemas.microsoft.com/office/drawing/2014/main" id="{CB9BD450-2257-48CA-8D9E-B8E54F53316C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82099" y="4122851"/>
            <a:ext cx="427645" cy="455315"/>
          </a:xfrm>
          <a:prstGeom prst="rect">
            <a:avLst/>
          </a:prstGeom>
        </p:spPr>
      </p:pic>
      <p:pic>
        <p:nvPicPr>
          <p:cNvPr id="31" name="Immagine 30">
            <a:extLst>
              <a:ext uri="{FF2B5EF4-FFF2-40B4-BE49-F238E27FC236}">
                <a16:creationId xmlns="" xmlns:a16="http://schemas.microsoft.com/office/drawing/2014/main" id="{4E1CF7B5-8927-4B03-B21A-542E0F3BCFE5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8147849" y="4150505"/>
            <a:ext cx="432000" cy="432000"/>
          </a:xfrm>
          <a:prstGeom prst="rect">
            <a:avLst/>
          </a:prstGeom>
        </p:spPr>
      </p:pic>
      <p:sp>
        <p:nvSpPr>
          <p:cNvPr id="36" name="Title 35">
            <a:extLst>
              <a:ext uri="{FF2B5EF4-FFF2-40B4-BE49-F238E27FC236}">
                <a16:creationId xmlns="" xmlns:a16="http://schemas.microsoft.com/office/drawing/2014/main" id="{5D81023E-6790-F54A-B23C-BE794736E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PNRR: 6 MISSIONI PER 6 PRIORITÀ</a:t>
            </a:r>
            <a:endParaRPr lang="x-none"/>
          </a:p>
        </p:txBody>
      </p:sp>
      <p:sp>
        <p:nvSpPr>
          <p:cNvPr id="33" name="Segnaposto testo 4">
            <a:extLst>
              <a:ext uri="{FF2B5EF4-FFF2-40B4-BE49-F238E27FC236}">
                <a16:creationId xmlns="" xmlns:a16="http://schemas.microsoft.com/office/drawing/2014/main" id="{6B17D692-B16F-486D-9767-0A2CE5F2E4F1}"/>
              </a:ext>
            </a:extLst>
          </p:cNvPr>
          <p:cNvSpPr txBox="1">
            <a:spLocks/>
          </p:cNvSpPr>
          <p:nvPr/>
        </p:nvSpPr>
        <p:spPr>
          <a:xfrm>
            <a:off x="354335" y="944621"/>
            <a:ext cx="11532865" cy="8500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Il PNRR contiene un pacchetto coerente di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riforme strutturali e investimenti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 il periodo 2021-2026 articolato in sei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settori d'intervento prioritari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obiettivi: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="" xmlns:a16="http://schemas.microsoft.com/office/drawing/2014/main" id="{79479239-70B1-4993-A0C3-8BF563EEDA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847" y="254521"/>
            <a:ext cx="8494999" cy="237757"/>
          </a:xfrm>
        </p:spPr>
        <p:txBody>
          <a:bodyPr vert="horz" wrap="square" lIns="0" tIns="45720" rIns="91440" bIns="45720" rtlCol="0" anchor="t">
            <a:spAutoFit/>
          </a:bodyPr>
          <a:lstStyle/>
          <a:p>
            <a:r>
              <a:rPr lang="it-IT">
                <a:latin typeface="Arial"/>
                <a:cs typeface="Arial"/>
              </a:rPr>
              <a:t>IL PIANO NAZIONALE DI RIPRESA E RESILIENZA: uno sguardo d’insieme</a:t>
            </a:r>
            <a:endParaRPr lang="x-none"/>
          </a:p>
        </p:txBody>
      </p:sp>
      <p:sp>
        <p:nvSpPr>
          <p:cNvPr id="32" name="Rettangolo 31"/>
          <p:cNvSpPr/>
          <p:nvPr/>
        </p:nvSpPr>
        <p:spPr>
          <a:xfrm>
            <a:off x="354335" y="6459055"/>
            <a:ext cx="2958957" cy="228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399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>
            <a:extLst>
              <a:ext uri="{FF2B5EF4-FFF2-40B4-BE49-F238E27FC236}">
                <a16:creationId xmlns="" xmlns:a16="http://schemas.microsoft.com/office/drawing/2014/main" id="{CC99E9BC-1061-4C3E-BE37-63ABF254042C}"/>
              </a:ext>
            </a:extLst>
          </p:cNvPr>
          <p:cNvSpPr/>
          <p:nvPr/>
        </p:nvSpPr>
        <p:spPr>
          <a:xfrm>
            <a:off x="0" y="2168788"/>
            <a:ext cx="12192000" cy="63143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="" xmlns:a16="http://schemas.microsoft.com/office/drawing/2014/main" id="{0C4AA65C-50A4-4E3C-8E08-13FB20B390E8}"/>
              </a:ext>
            </a:extLst>
          </p:cNvPr>
          <p:cNvSpPr/>
          <p:nvPr/>
        </p:nvSpPr>
        <p:spPr>
          <a:xfrm>
            <a:off x="0" y="1643941"/>
            <a:ext cx="12192000" cy="524124"/>
          </a:xfrm>
          <a:prstGeom prst="rect">
            <a:avLst/>
          </a:prstGeom>
          <a:solidFill>
            <a:srgbClr val="476D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720140F-109D-43CE-9897-0571372D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847" y="512273"/>
            <a:ext cx="11532865" cy="424732"/>
          </a:xfrm>
        </p:spPr>
        <p:txBody>
          <a:bodyPr/>
          <a:lstStyle/>
          <a:p>
            <a:r>
              <a:rPr lang="it-IT"/>
              <a:t>PNRR: I PRINCIPI TRASVERSALI</a:t>
            </a:r>
          </a:p>
        </p:txBody>
      </p:sp>
      <p:pic>
        <p:nvPicPr>
          <p:cNvPr id="7" name="Immagine 55">
            <a:extLst>
              <a:ext uri="{FF2B5EF4-FFF2-40B4-BE49-F238E27FC236}">
                <a16:creationId xmlns="" xmlns:a16="http://schemas.microsoft.com/office/drawing/2014/main" id="{A9064708-D39D-44F3-93FA-52533950B2C0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361775" y="1696621"/>
            <a:ext cx="437177" cy="437177"/>
          </a:xfrm>
          <a:prstGeom prst="rect">
            <a:avLst/>
          </a:prstGeom>
        </p:spPr>
      </p:pic>
      <p:sp>
        <p:nvSpPr>
          <p:cNvPr id="27" name="Freeform 116">
            <a:extLst>
              <a:ext uri="{FF2B5EF4-FFF2-40B4-BE49-F238E27FC236}">
                <a16:creationId xmlns="" xmlns:a16="http://schemas.microsoft.com/office/drawing/2014/main" id="{C4760079-13E0-4507-B4BB-FA315874F91C}"/>
              </a:ext>
            </a:extLst>
          </p:cNvPr>
          <p:cNvSpPr>
            <a:spLocks noEditPoints="1"/>
          </p:cNvSpPr>
          <p:nvPr/>
        </p:nvSpPr>
        <p:spPr bwMode="auto">
          <a:xfrm>
            <a:off x="3188946" y="1730690"/>
            <a:ext cx="402305" cy="347772"/>
          </a:xfrm>
          <a:custGeom>
            <a:avLst/>
            <a:gdLst>
              <a:gd name="T0" fmla="*/ 275 w 303"/>
              <a:gd name="T1" fmla="*/ 162 h 288"/>
              <a:gd name="T2" fmla="*/ 278 w 303"/>
              <a:gd name="T3" fmla="*/ 162 h 288"/>
              <a:gd name="T4" fmla="*/ 139 w 303"/>
              <a:gd name="T5" fmla="*/ 22 h 288"/>
              <a:gd name="T6" fmla="*/ 113 w 303"/>
              <a:gd name="T7" fmla="*/ 0 h 288"/>
              <a:gd name="T8" fmla="*/ 91 w 303"/>
              <a:gd name="T9" fmla="*/ 37 h 288"/>
              <a:gd name="T10" fmla="*/ 43 w 303"/>
              <a:gd name="T11" fmla="*/ 84 h 288"/>
              <a:gd name="T12" fmla="*/ 34 w 303"/>
              <a:gd name="T13" fmla="*/ 83 h 288"/>
              <a:gd name="T14" fmla="*/ 26 w 303"/>
              <a:gd name="T15" fmla="*/ 150 h 288"/>
              <a:gd name="T16" fmla="*/ 77 w 303"/>
              <a:gd name="T17" fmla="*/ 249 h 288"/>
              <a:gd name="T18" fmla="*/ 97 w 303"/>
              <a:gd name="T19" fmla="*/ 288 h 288"/>
              <a:gd name="T20" fmla="*/ 121 w 303"/>
              <a:gd name="T21" fmla="*/ 271 h 288"/>
              <a:gd name="T22" fmla="*/ 253 w 303"/>
              <a:gd name="T23" fmla="*/ 225 h 288"/>
              <a:gd name="T24" fmla="*/ 269 w 303"/>
              <a:gd name="T25" fmla="*/ 229 h 288"/>
              <a:gd name="T26" fmla="*/ 253 w 303"/>
              <a:gd name="T27" fmla="*/ 165 h 288"/>
              <a:gd name="T28" fmla="*/ 247 w 303"/>
              <a:gd name="T29" fmla="*/ 170 h 288"/>
              <a:gd name="T30" fmla="*/ 238 w 303"/>
              <a:gd name="T31" fmla="*/ 209 h 288"/>
              <a:gd name="T32" fmla="*/ 115 w 303"/>
              <a:gd name="T33" fmla="*/ 224 h 288"/>
              <a:gd name="T34" fmla="*/ 45 w 303"/>
              <a:gd name="T35" fmla="*/ 148 h 288"/>
              <a:gd name="T36" fmla="*/ 66 w 303"/>
              <a:gd name="T37" fmla="*/ 104 h 288"/>
              <a:gd name="T38" fmla="*/ 170 w 303"/>
              <a:gd name="T39" fmla="*/ 134 h 288"/>
              <a:gd name="T40" fmla="*/ 253 w 303"/>
              <a:gd name="T41" fmla="*/ 165 h 288"/>
              <a:gd name="T42" fmla="*/ 250 w 303"/>
              <a:gd name="T43" fmla="*/ 168 h 288"/>
              <a:gd name="T44" fmla="*/ 247 w 303"/>
              <a:gd name="T45" fmla="*/ 170 h 288"/>
              <a:gd name="T46" fmla="*/ 243 w 303"/>
              <a:gd name="T47" fmla="*/ 174 h 288"/>
              <a:gd name="T48" fmla="*/ 241 w 303"/>
              <a:gd name="T49" fmla="*/ 177 h 288"/>
              <a:gd name="T50" fmla="*/ 239 w 303"/>
              <a:gd name="T51" fmla="*/ 181 h 288"/>
              <a:gd name="T52" fmla="*/ 237 w 303"/>
              <a:gd name="T53" fmla="*/ 186 h 288"/>
              <a:gd name="T54" fmla="*/ 236 w 303"/>
              <a:gd name="T55" fmla="*/ 190 h 288"/>
              <a:gd name="T56" fmla="*/ 139 w 303"/>
              <a:gd name="T57" fmla="*/ 91 h 288"/>
              <a:gd name="T58" fmla="*/ 170 w 303"/>
              <a:gd name="T59" fmla="*/ 123 h 288"/>
              <a:gd name="T60" fmla="*/ 128 w 303"/>
              <a:gd name="T61" fmla="*/ 25 h 288"/>
              <a:gd name="T62" fmla="*/ 110 w 303"/>
              <a:gd name="T63" fmla="*/ 39 h 288"/>
              <a:gd name="T64" fmla="*/ 52 w 303"/>
              <a:gd name="T65" fmla="*/ 88 h 288"/>
              <a:gd name="T66" fmla="*/ 60 w 303"/>
              <a:gd name="T67" fmla="*/ 77 h 288"/>
              <a:gd name="T68" fmla="*/ 99 w 303"/>
              <a:gd name="T69" fmla="*/ 45 h 288"/>
              <a:gd name="T70" fmla="*/ 137 w 303"/>
              <a:gd name="T71" fmla="*/ 33 h 288"/>
              <a:gd name="T72" fmla="*/ 137 w 303"/>
              <a:gd name="T73" fmla="*/ 32 h 288"/>
              <a:gd name="T74" fmla="*/ 152 w 303"/>
              <a:gd name="T75" fmla="*/ 31 h 288"/>
              <a:gd name="T76" fmla="*/ 184 w 303"/>
              <a:gd name="T77" fmla="*/ 36 h 288"/>
              <a:gd name="T78" fmla="*/ 269 w 303"/>
              <a:gd name="T79" fmla="*/ 140 h 288"/>
              <a:gd name="T80" fmla="*/ 269 w 303"/>
              <a:gd name="T81" fmla="*/ 148 h 288"/>
              <a:gd name="T82" fmla="*/ 213 w 303"/>
              <a:gd name="T83" fmla="*/ 91 h 288"/>
              <a:gd name="T84" fmla="*/ 60 w 303"/>
              <a:gd name="T85" fmla="*/ 94 h 288"/>
              <a:gd name="T86" fmla="*/ 59 w 303"/>
              <a:gd name="T87" fmla="*/ 94 h 288"/>
              <a:gd name="T88" fmla="*/ 52 w 303"/>
              <a:gd name="T89" fmla="*/ 88 h 288"/>
              <a:gd name="T90" fmla="*/ 47 w 303"/>
              <a:gd name="T91" fmla="*/ 97 h 288"/>
              <a:gd name="T92" fmla="*/ 34 w 303"/>
              <a:gd name="T93" fmla="*/ 140 h 288"/>
              <a:gd name="T94" fmla="*/ 83 w 303"/>
              <a:gd name="T95" fmla="*/ 263 h 288"/>
              <a:gd name="T96" fmla="*/ 109 w 303"/>
              <a:gd name="T97" fmla="*/ 255 h 288"/>
              <a:gd name="T98" fmla="*/ 97 w 303"/>
              <a:gd name="T99" fmla="*/ 278 h 288"/>
              <a:gd name="T100" fmla="*/ 122 w 303"/>
              <a:gd name="T101" fmla="*/ 261 h 288"/>
              <a:gd name="T102" fmla="*/ 121 w 303"/>
              <a:gd name="T103" fmla="*/ 260 h 288"/>
              <a:gd name="T104" fmla="*/ 84 w 303"/>
              <a:gd name="T105" fmla="*/ 242 h 288"/>
              <a:gd name="T106" fmla="*/ 56 w 303"/>
              <a:gd name="T107" fmla="*/ 213 h 288"/>
              <a:gd name="T108" fmla="*/ 38 w 303"/>
              <a:gd name="T109" fmla="*/ 165 h 288"/>
              <a:gd name="T110" fmla="*/ 112 w 303"/>
              <a:gd name="T111" fmla="*/ 233 h 288"/>
              <a:gd name="T112" fmla="*/ 243 w 303"/>
              <a:gd name="T113" fmla="*/ 218 h 288"/>
              <a:gd name="T114" fmla="*/ 245 w 303"/>
              <a:gd name="T115" fmla="*/ 219 h 288"/>
              <a:gd name="T116" fmla="*/ 246 w 303"/>
              <a:gd name="T117" fmla="*/ 195 h 288"/>
              <a:gd name="T118" fmla="*/ 270 w 303"/>
              <a:gd name="T119" fmla="*/ 219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03" h="288">
                <a:moveTo>
                  <a:pt x="279" y="163"/>
                </a:moveTo>
                <a:cubicBezTo>
                  <a:pt x="279" y="163"/>
                  <a:pt x="279" y="163"/>
                  <a:pt x="279" y="163"/>
                </a:cubicBezTo>
                <a:cubicBezTo>
                  <a:pt x="278" y="162"/>
                  <a:pt x="277" y="162"/>
                  <a:pt x="275" y="162"/>
                </a:cubicBezTo>
                <a:cubicBezTo>
                  <a:pt x="277" y="162"/>
                  <a:pt x="278" y="162"/>
                  <a:pt x="279" y="163"/>
                </a:cubicBezTo>
                <a:cubicBezTo>
                  <a:pt x="278" y="162"/>
                  <a:pt x="278" y="162"/>
                  <a:pt x="278" y="162"/>
                </a:cubicBezTo>
                <a:cubicBezTo>
                  <a:pt x="278" y="162"/>
                  <a:pt x="278" y="162"/>
                  <a:pt x="278" y="162"/>
                </a:cubicBezTo>
                <a:cubicBezTo>
                  <a:pt x="279" y="157"/>
                  <a:pt x="279" y="152"/>
                  <a:pt x="279" y="148"/>
                </a:cubicBezTo>
                <a:cubicBezTo>
                  <a:pt x="279" y="78"/>
                  <a:pt x="223" y="21"/>
                  <a:pt x="153" y="21"/>
                </a:cubicBezTo>
                <a:cubicBezTo>
                  <a:pt x="148" y="21"/>
                  <a:pt x="144" y="21"/>
                  <a:pt x="139" y="22"/>
                </a:cubicBezTo>
                <a:cubicBezTo>
                  <a:pt x="139" y="22"/>
                  <a:pt x="139" y="22"/>
                  <a:pt x="139" y="22"/>
                </a:cubicBezTo>
                <a:cubicBezTo>
                  <a:pt x="138" y="21"/>
                  <a:pt x="138" y="21"/>
                  <a:pt x="138" y="21"/>
                </a:cubicBezTo>
                <a:cubicBezTo>
                  <a:pt x="136" y="9"/>
                  <a:pt x="125" y="0"/>
                  <a:pt x="113" y="0"/>
                </a:cubicBezTo>
                <a:cubicBezTo>
                  <a:pt x="100" y="0"/>
                  <a:pt x="88" y="11"/>
                  <a:pt x="88" y="25"/>
                </a:cubicBezTo>
                <a:cubicBezTo>
                  <a:pt x="88" y="29"/>
                  <a:pt x="89" y="33"/>
                  <a:pt x="91" y="36"/>
                </a:cubicBezTo>
                <a:cubicBezTo>
                  <a:pt x="91" y="37"/>
                  <a:pt x="91" y="37"/>
                  <a:pt x="91" y="37"/>
                </a:cubicBezTo>
                <a:cubicBezTo>
                  <a:pt x="91" y="37"/>
                  <a:pt x="91" y="37"/>
                  <a:pt x="91" y="37"/>
                </a:cubicBezTo>
                <a:cubicBezTo>
                  <a:pt x="71" y="48"/>
                  <a:pt x="55" y="64"/>
                  <a:pt x="44" y="83"/>
                </a:cubicBezTo>
                <a:cubicBezTo>
                  <a:pt x="43" y="84"/>
                  <a:pt x="43" y="84"/>
                  <a:pt x="43" y="84"/>
                </a:cubicBezTo>
                <a:cubicBezTo>
                  <a:pt x="43" y="84"/>
                  <a:pt x="43" y="84"/>
                  <a:pt x="43" y="84"/>
                </a:cubicBezTo>
                <a:cubicBezTo>
                  <a:pt x="41" y="84"/>
                  <a:pt x="39" y="83"/>
                  <a:pt x="38" y="83"/>
                </a:cubicBezTo>
                <a:cubicBezTo>
                  <a:pt x="37" y="83"/>
                  <a:pt x="36" y="83"/>
                  <a:pt x="34" y="83"/>
                </a:cubicBezTo>
                <a:cubicBezTo>
                  <a:pt x="15" y="83"/>
                  <a:pt x="0" y="98"/>
                  <a:pt x="0" y="117"/>
                </a:cubicBezTo>
                <a:cubicBezTo>
                  <a:pt x="0" y="132"/>
                  <a:pt x="11" y="146"/>
                  <a:pt x="25" y="150"/>
                </a:cubicBezTo>
                <a:cubicBezTo>
                  <a:pt x="26" y="150"/>
                  <a:pt x="26" y="150"/>
                  <a:pt x="26" y="150"/>
                </a:cubicBezTo>
                <a:cubicBezTo>
                  <a:pt x="26" y="151"/>
                  <a:pt x="26" y="151"/>
                  <a:pt x="26" y="151"/>
                </a:cubicBezTo>
                <a:cubicBezTo>
                  <a:pt x="27" y="189"/>
                  <a:pt x="45" y="226"/>
                  <a:pt x="76" y="249"/>
                </a:cubicBezTo>
                <a:cubicBezTo>
                  <a:pt x="77" y="249"/>
                  <a:pt x="77" y="249"/>
                  <a:pt x="77" y="249"/>
                </a:cubicBezTo>
                <a:cubicBezTo>
                  <a:pt x="76" y="250"/>
                  <a:pt x="76" y="250"/>
                  <a:pt x="76" y="250"/>
                </a:cubicBezTo>
                <a:cubicBezTo>
                  <a:pt x="73" y="255"/>
                  <a:pt x="72" y="259"/>
                  <a:pt x="72" y="263"/>
                </a:cubicBezTo>
                <a:cubicBezTo>
                  <a:pt x="72" y="278"/>
                  <a:pt x="83" y="288"/>
                  <a:pt x="97" y="288"/>
                </a:cubicBezTo>
                <a:cubicBezTo>
                  <a:pt x="108" y="288"/>
                  <a:pt x="117" y="282"/>
                  <a:pt x="120" y="272"/>
                </a:cubicBezTo>
                <a:cubicBezTo>
                  <a:pt x="121" y="271"/>
                  <a:pt x="121" y="271"/>
                  <a:pt x="121" y="271"/>
                </a:cubicBezTo>
                <a:cubicBezTo>
                  <a:pt x="121" y="271"/>
                  <a:pt x="121" y="271"/>
                  <a:pt x="121" y="271"/>
                </a:cubicBezTo>
                <a:cubicBezTo>
                  <a:pt x="131" y="273"/>
                  <a:pt x="141" y="275"/>
                  <a:pt x="153" y="275"/>
                </a:cubicBezTo>
                <a:cubicBezTo>
                  <a:pt x="191" y="275"/>
                  <a:pt x="228" y="257"/>
                  <a:pt x="253" y="226"/>
                </a:cubicBezTo>
                <a:cubicBezTo>
                  <a:pt x="253" y="225"/>
                  <a:pt x="253" y="225"/>
                  <a:pt x="253" y="225"/>
                </a:cubicBezTo>
                <a:cubicBezTo>
                  <a:pt x="254" y="226"/>
                  <a:pt x="254" y="226"/>
                  <a:pt x="254" y="226"/>
                </a:cubicBezTo>
                <a:cubicBezTo>
                  <a:pt x="256" y="227"/>
                  <a:pt x="259" y="228"/>
                  <a:pt x="262" y="228"/>
                </a:cubicBezTo>
                <a:cubicBezTo>
                  <a:pt x="265" y="229"/>
                  <a:pt x="267" y="229"/>
                  <a:pt x="269" y="229"/>
                </a:cubicBezTo>
                <a:cubicBezTo>
                  <a:pt x="288" y="229"/>
                  <a:pt x="303" y="214"/>
                  <a:pt x="303" y="195"/>
                </a:cubicBezTo>
                <a:cubicBezTo>
                  <a:pt x="303" y="180"/>
                  <a:pt x="293" y="167"/>
                  <a:pt x="279" y="163"/>
                </a:cubicBezTo>
                <a:close/>
                <a:moveTo>
                  <a:pt x="253" y="165"/>
                </a:moveTo>
                <a:cubicBezTo>
                  <a:pt x="252" y="166"/>
                  <a:pt x="251" y="167"/>
                  <a:pt x="250" y="167"/>
                </a:cubicBezTo>
                <a:cubicBezTo>
                  <a:pt x="250" y="168"/>
                  <a:pt x="249" y="168"/>
                  <a:pt x="249" y="169"/>
                </a:cubicBezTo>
                <a:cubicBezTo>
                  <a:pt x="248" y="169"/>
                  <a:pt x="248" y="169"/>
                  <a:pt x="247" y="170"/>
                </a:cubicBezTo>
                <a:cubicBezTo>
                  <a:pt x="240" y="176"/>
                  <a:pt x="235" y="185"/>
                  <a:pt x="235" y="195"/>
                </a:cubicBezTo>
                <a:cubicBezTo>
                  <a:pt x="235" y="200"/>
                  <a:pt x="236" y="204"/>
                  <a:pt x="238" y="208"/>
                </a:cubicBezTo>
                <a:cubicBezTo>
                  <a:pt x="238" y="209"/>
                  <a:pt x="238" y="209"/>
                  <a:pt x="238" y="209"/>
                </a:cubicBezTo>
                <a:cubicBezTo>
                  <a:pt x="238" y="209"/>
                  <a:pt x="238" y="209"/>
                  <a:pt x="238" y="209"/>
                </a:cubicBezTo>
                <a:cubicBezTo>
                  <a:pt x="219" y="219"/>
                  <a:pt x="191" y="231"/>
                  <a:pt x="158" y="231"/>
                </a:cubicBezTo>
                <a:cubicBezTo>
                  <a:pt x="143" y="231"/>
                  <a:pt x="129" y="229"/>
                  <a:pt x="115" y="224"/>
                </a:cubicBezTo>
                <a:cubicBezTo>
                  <a:pt x="61" y="204"/>
                  <a:pt x="48" y="165"/>
                  <a:pt x="46" y="149"/>
                </a:cubicBezTo>
                <a:cubicBezTo>
                  <a:pt x="46" y="149"/>
                  <a:pt x="46" y="149"/>
                  <a:pt x="46" y="149"/>
                </a:cubicBezTo>
                <a:cubicBezTo>
                  <a:pt x="45" y="148"/>
                  <a:pt x="45" y="148"/>
                  <a:pt x="45" y="148"/>
                </a:cubicBezTo>
                <a:cubicBezTo>
                  <a:pt x="46" y="148"/>
                  <a:pt x="46" y="148"/>
                  <a:pt x="46" y="148"/>
                </a:cubicBezTo>
                <a:cubicBezTo>
                  <a:pt x="59" y="143"/>
                  <a:pt x="68" y="131"/>
                  <a:pt x="68" y="117"/>
                </a:cubicBezTo>
                <a:cubicBezTo>
                  <a:pt x="68" y="113"/>
                  <a:pt x="67" y="108"/>
                  <a:pt x="66" y="104"/>
                </a:cubicBezTo>
                <a:cubicBezTo>
                  <a:pt x="76" y="99"/>
                  <a:pt x="99" y="88"/>
                  <a:pt x="128" y="86"/>
                </a:cubicBezTo>
                <a:cubicBezTo>
                  <a:pt x="127" y="88"/>
                  <a:pt x="127" y="90"/>
                  <a:pt x="127" y="91"/>
                </a:cubicBezTo>
                <a:cubicBezTo>
                  <a:pt x="127" y="115"/>
                  <a:pt x="146" y="134"/>
                  <a:pt x="170" y="134"/>
                </a:cubicBezTo>
                <a:cubicBezTo>
                  <a:pt x="188" y="134"/>
                  <a:pt x="203" y="124"/>
                  <a:pt x="209" y="109"/>
                </a:cubicBezTo>
                <a:cubicBezTo>
                  <a:pt x="228" y="122"/>
                  <a:pt x="245" y="140"/>
                  <a:pt x="261" y="162"/>
                </a:cubicBezTo>
                <a:cubicBezTo>
                  <a:pt x="258" y="163"/>
                  <a:pt x="256" y="164"/>
                  <a:pt x="253" y="165"/>
                </a:cubicBezTo>
                <a:cubicBezTo>
                  <a:pt x="253" y="165"/>
                  <a:pt x="253" y="165"/>
                  <a:pt x="253" y="165"/>
                </a:cubicBezTo>
                <a:cubicBezTo>
                  <a:pt x="253" y="165"/>
                  <a:pt x="253" y="165"/>
                  <a:pt x="253" y="165"/>
                </a:cubicBezTo>
                <a:close/>
                <a:moveTo>
                  <a:pt x="250" y="168"/>
                </a:moveTo>
                <a:cubicBezTo>
                  <a:pt x="250" y="168"/>
                  <a:pt x="249" y="168"/>
                  <a:pt x="249" y="168"/>
                </a:cubicBezTo>
                <a:cubicBezTo>
                  <a:pt x="249" y="168"/>
                  <a:pt x="250" y="168"/>
                  <a:pt x="250" y="168"/>
                </a:cubicBezTo>
                <a:close/>
                <a:moveTo>
                  <a:pt x="247" y="170"/>
                </a:moveTo>
                <a:cubicBezTo>
                  <a:pt x="246" y="170"/>
                  <a:pt x="246" y="171"/>
                  <a:pt x="246" y="171"/>
                </a:cubicBezTo>
                <a:cubicBezTo>
                  <a:pt x="246" y="171"/>
                  <a:pt x="246" y="170"/>
                  <a:pt x="247" y="170"/>
                </a:cubicBezTo>
                <a:close/>
                <a:moveTo>
                  <a:pt x="243" y="174"/>
                </a:moveTo>
                <a:cubicBezTo>
                  <a:pt x="243" y="174"/>
                  <a:pt x="243" y="174"/>
                  <a:pt x="243" y="174"/>
                </a:cubicBezTo>
                <a:cubicBezTo>
                  <a:pt x="243" y="174"/>
                  <a:pt x="243" y="174"/>
                  <a:pt x="243" y="174"/>
                </a:cubicBezTo>
                <a:close/>
                <a:moveTo>
                  <a:pt x="241" y="177"/>
                </a:moveTo>
                <a:cubicBezTo>
                  <a:pt x="241" y="178"/>
                  <a:pt x="240" y="178"/>
                  <a:pt x="240" y="178"/>
                </a:cubicBezTo>
                <a:cubicBezTo>
                  <a:pt x="240" y="178"/>
                  <a:pt x="241" y="178"/>
                  <a:pt x="241" y="177"/>
                </a:cubicBezTo>
                <a:close/>
                <a:moveTo>
                  <a:pt x="239" y="181"/>
                </a:moveTo>
                <a:cubicBezTo>
                  <a:pt x="239" y="181"/>
                  <a:pt x="238" y="182"/>
                  <a:pt x="238" y="182"/>
                </a:cubicBezTo>
                <a:cubicBezTo>
                  <a:pt x="238" y="182"/>
                  <a:pt x="239" y="181"/>
                  <a:pt x="239" y="181"/>
                </a:cubicBezTo>
                <a:close/>
                <a:moveTo>
                  <a:pt x="237" y="186"/>
                </a:moveTo>
                <a:cubicBezTo>
                  <a:pt x="237" y="186"/>
                  <a:pt x="237" y="186"/>
                  <a:pt x="237" y="187"/>
                </a:cubicBezTo>
                <a:cubicBezTo>
                  <a:pt x="237" y="186"/>
                  <a:pt x="237" y="186"/>
                  <a:pt x="237" y="186"/>
                </a:cubicBezTo>
                <a:close/>
                <a:moveTo>
                  <a:pt x="236" y="190"/>
                </a:moveTo>
                <a:cubicBezTo>
                  <a:pt x="236" y="190"/>
                  <a:pt x="236" y="191"/>
                  <a:pt x="236" y="191"/>
                </a:cubicBezTo>
                <a:cubicBezTo>
                  <a:pt x="236" y="191"/>
                  <a:pt x="236" y="190"/>
                  <a:pt x="236" y="190"/>
                </a:cubicBezTo>
                <a:close/>
                <a:moveTo>
                  <a:pt x="139" y="91"/>
                </a:moveTo>
                <a:cubicBezTo>
                  <a:pt x="139" y="74"/>
                  <a:pt x="153" y="60"/>
                  <a:pt x="170" y="60"/>
                </a:cubicBezTo>
                <a:cubicBezTo>
                  <a:pt x="187" y="60"/>
                  <a:pt x="201" y="74"/>
                  <a:pt x="201" y="91"/>
                </a:cubicBezTo>
                <a:cubicBezTo>
                  <a:pt x="201" y="109"/>
                  <a:pt x="187" y="123"/>
                  <a:pt x="170" y="123"/>
                </a:cubicBezTo>
                <a:cubicBezTo>
                  <a:pt x="153" y="123"/>
                  <a:pt x="139" y="109"/>
                  <a:pt x="139" y="91"/>
                </a:cubicBezTo>
                <a:close/>
                <a:moveTo>
                  <a:pt x="113" y="11"/>
                </a:moveTo>
                <a:cubicBezTo>
                  <a:pt x="122" y="11"/>
                  <a:pt x="128" y="17"/>
                  <a:pt x="128" y="25"/>
                </a:cubicBezTo>
                <a:cubicBezTo>
                  <a:pt x="128" y="28"/>
                  <a:pt x="127" y="32"/>
                  <a:pt x="124" y="35"/>
                </a:cubicBezTo>
                <a:cubicBezTo>
                  <a:pt x="122" y="38"/>
                  <a:pt x="118" y="40"/>
                  <a:pt x="113" y="40"/>
                </a:cubicBezTo>
                <a:cubicBezTo>
                  <a:pt x="112" y="40"/>
                  <a:pt x="111" y="40"/>
                  <a:pt x="110" y="39"/>
                </a:cubicBezTo>
                <a:cubicBezTo>
                  <a:pt x="103" y="38"/>
                  <a:pt x="99" y="31"/>
                  <a:pt x="99" y="25"/>
                </a:cubicBezTo>
                <a:cubicBezTo>
                  <a:pt x="99" y="17"/>
                  <a:pt x="105" y="11"/>
                  <a:pt x="113" y="11"/>
                </a:cubicBezTo>
                <a:close/>
                <a:moveTo>
                  <a:pt x="52" y="88"/>
                </a:moveTo>
                <a:cubicBezTo>
                  <a:pt x="53" y="87"/>
                  <a:pt x="53" y="87"/>
                  <a:pt x="53" y="87"/>
                </a:cubicBezTo>
                <a:cubicBezTo>
                  <a:pt x="55" y="84"/>
                  <a:pt x="57" y="81"/>
                  <a:pt x="59" y="78"/>
                </a:cubicBezTo>
                <a:cubicBezTo>
                  <a:pt x="59" y="78"/>
                  <a:pt x="60" y="78"/>
                  <a:pt x="60" y="77"/>
                </a:cubicBezTo>
                <a:cubicBezTo>
                  <a:pt x="61" y="76"/>
                  <a:pt x="62" y="75"/>
                  <a:pt x="62" y="74"/>
                </a:cubicBezTo>
                <a:cubicBezTo>
                  <a:pt x="72" y="62"/>
                  <a:pt x="85" y="52"/>
                  <a:pt x="98" y="45"/>
                </a:cubicBezTo>
                <a:cubicBezTo>
                  <a:pt x="99" y="45"/>
                  <a:pt x="99" y="45"/>
                  <a:pt x="99" y="45"/>
                </a:cubicBezTo>
                <a:cubicBezTo>
                  <a:pt x="99" y="45"/>
                  <a:pt x="99" y="45"/>
                  <a:pt x="99" y="45"/>
                </a:cubicBezTo>
                <a:cubicBezTo>
                  <a:pt x="103" y="48"/>
                  <a:pt x="109" y="50"/>
                  <a:pt x="113" y="50"/>
                </a:cubicBezTo>
                <a:cubicBezTo>
                  <a:pt x="124" y="50"/>
                  <a:pt x="133" y="43"/>
                  <a:pt x="137" y="33"/>
                </a:cubicBezTo>
                <a:cubicBezTo>
                  <a:pt x="137" y="32"/>
                  <a:pt x="137" y="32"/>
                  <a:pt x="137" y="32"/>
                </a:cubicBezTo>
                <a:cubicBezTo>
                  <a:pt x="137" y="32"/>
                  <a:pt x="137" y="32"/>
                  <a:pt x="137" y="32"/>
                </a:cubicBezTo>
                <a:cubicBezTo>
                  <a:pt x="137" y="32"/>
                  <a:pt x="137" y="32"/>
                  <a:pt x="137" y="32"/>
                </a:cubicBezTo>
                <a:cubicBezTo>
                  <a:pt x="142" y="31"/>
                  <a:pt x="147" y="31"/>
                  <a:pt x="152" y="31"/>
                </a:cubicBezTo>
                <a:cubicBezTo>
                  <a:pt x="152" y="31"/>
                  <a:pt x="152" y="31"/>
                  <a:pt x="152" y="31"/>
                </a:cubicBezTo>
                <a:cubicBezTo>
                  <a:pt x="152" y="31"/>
                  <a:pt x="152" y="31"/>
                  <a:pt x="152" y="31"/>
                </a:cubicBezTo>
                <a:cubicBezTo>
                  <a:pt x="153" y="31"/>
                  <a:pt x="153" y="31"/>
                  <a:pt x="153" y="31"/>
                </a:cubicBezTo>
                <a:cubicBezTo>
                  <a:pt x="163" y="31"/>
                  <a:pt x="172" y="32"/>
                  <a:pt x="181" y="35"/>
                </a:cubicBezTo>
                <a:cubicBezTo>
                  <a:pt x="182" y="35"/>
                  <a:pt x="183" y="35"/>
                  <a:pt x="184" y="36"/>
                </a:cubicBezTo>
                <a:cubicBezTo>
                  <a:pt x="185" y="36"/>
                  <a:pt x="185" y="36"/>
                  <a:pt x="186" y="36"/>
                </a:cubicBezTo>
                <a:cubicBezTo>
                  <a:pt x="224" y="48"/>
                  <a:pt x="254" y="78"/>
                  <a:pt x="265" y="117"/>
                </a:cubicBezTo>
                <a:cubicBezTo>
                  <a:pt x="267" y="124"/>
                  <a:pt x="268" y="132"/>
                  <a:pt x="269" y="140"/>
                </a:cubicBezTo>
                <a:cubicBezTo>
                  <a:pt x="269" y="142"/>
                  <a:pt x="269" y="143"/>
                  <a:pt x="269" y="145"/>
                </a:cubicBezTo>
                <a:cubicBezTo>
                  <a:pt x="269" y="148"/>
                  <a:pt x="269" y="148"/>
                  <a:pt x="269" y="148"/>
                </a:cubicBezTo>
                <a:cubicBezTo>
                  <a:pt x="269" y="148"/>
                  <a:pt x="269" y="148"/>
                  <a:pt x="269" y="148"/>
                </a:cubicBezTo>
                <a:cubicBezTo>
                  <a:pt x="269" y="150"/>
                  <a:pt x="269" y="151"/>
                  <a:pt x="269" y="153"/>
                </a:cubicBezTo>
                <a:cubicBezTo>
                  <a:pt x="252" y="129"/>
                  <a:pt x="233" y="111"/>
                  <a:pt x="213" y="97"/>
                </a:cubicBezTo>
                <a:cubicBezTo>
                  <a:pt x="213" y="95"/>
                  <a:pt x="213" y="93"/>
                  <a:pt x="213" y="91"/>
                </a:cubicBezTo>
                <a:cubicBezTo>
                  <a:pt x="213" y="68"/>
                  <a:pt x="194" y="48"/>
                  <a:pt x="170" y="48"/>
                </a:cubicBezTo>
                <a:cubicBezTo>
                  <a:pt x="153" y="48"/>
                  <a:pt x="137" y="59"/>
                  <a:pt x="131" y="74"/>
                </a:cubicBezTo>
                <a:cubicBezTo>
                  <a:pt x="97" y="75"/>
                  <a:pt x="71" y="88"/>
                  <a:pt x="60" y="94"/>
                </a:cubicBezTo>
                <a:cubicBezTo>
                  <a:pt x="60" y="94"/>
                  <a:pt x="60" y="94"/>
                  <a:pt x="59" y="94"/>
                </a:cubicBezTo>
                <a:cubicBezTo>
                  <a:pt x="59" y="94"/>
                  <a:pt x="59" y="94"/>
                  <a:pt x="59" y="94"/>
                </a:cubicBezTo>
                <a:cubicBezTo>
                  <a:pt x="59" y="94"/>
                  <a:pt x="59" y="94"/>
                  <a:pt x="59" y="94"/>
                </a:cubicBezTo>
                <a:cubicBezTo>
                  <a:pt x="57" y="92"/>
                  <a:pt x="56" y="91"/>
                  <a:pt x="54" y="89"/>
                </a:cubicBezTo>
                <a:cubicBezTo>
                  <a:pt x="52" y="88"/>
                  <a:pt x="52" y="88"/>
                  <a:pt x="52" y="88"/>
                </a:cubicBezTo>
                <a:cubicBezTo>
                  <a:pt x="52" y="88"/>
                  <a:pt x="52" y="88"/>
                  <a:pt x="52" y="88"/>
                </a:cubicBezTo>
                <a:close/>
                <a:moveTo>
                  <a:pt x="10" y="117"/>
                </a:moveTo>
                <a:cubicBezTo>
                  <a:pt x="10" y="104"/>
                  <a:pt x="21" y="93"/>
                  <a:pt x="34" y="93"/>
                </a:cubicBezTo>
                <a:cubicBezTo>
                  <a:pt x="39" y="93"/>
                  <a:pt x="44" y="95"/>
                  <a:pt x="47" y="97"/>
                </a:cubicBezTo>
                <a:cubicBezTo>
                  <a:pt x="54" y="102"/>
                  <a:pt x="58" y="109"/>
                  <a:pt x="58" y="117"/>
                </a:cubicBezTo>
                <a:cubicBezTo>
                  <a:pt x="58" y="129"/>
                  <a:pt x="48" y="139"/>
                  <a:pt x="36" y="140"/>
                </a:cubicBezTo>
                <a:cubicBezTo>
                  <a:pt x="36" y="140"/>
                  <a:pt x="35" y="140"/>
                  <a:pt x="34" y="140"/>
                </a:cubicBezTo>
                <a:cubicBezTo>
                  <a:pt x="21" y="140"/>
                  <a:pt x="10" y="130"/>
                  <a:pt x="10" y="117"/>
                </a:cubicBezTo>
                <a:close/>
                <a:moveTo>
                  <a:pt x="97" y="278"/>
                </a:moveTo>
                <a:cubicBezTo>
                  <a:pt x="89" y="278"/>
                  <a:pt x="83" y="271"/>
                  <a:pt x="83" y="263"/>
                </a:cubicBezTo>
                <a:cubicBezTo>
                  <a:pt x="83" y="256"/>
                  <a:pt x="89" y="250"/>
                  <a:pt x="96" y="250"/>
                </a:cubicBezTo>
                <a:cubicBezTo>
                  <a:pt x="97" y="250"/>
                  <a:pt x="97" y="250"/>
                  <a:pt x="97" y="250"/>
                </a:cubicBezTo>
                <a:cubicBezTo>
                  <a:pt x="102" y="250"/>
                  <a:pt x="106" y="252"/>
                  <a:pt x="109" y="255"/>
                </a:cubicBezTo>
                <a:cubicBezTo>
                  <a:pt x="110" y="258"/>
                  <a:pt x="111" y="260"/>
                  <a:pt x="112" y="263"/>
                </a:cubicBezTo>
                <a:cubicBezTo>
                  <a:pt x="112" y="265"/>
                  <a:pt x="112" y="265"/>
                  <a:pt x="112" y="265"/>
                </a:cubicBezTo>
                <a:cubicBezTo>
                  <a:pt x="111" y="272"/>
                  <a:pt x="104" y="278"/>
                  <a:pt x="97" y="278"/>
                </a:cubicBezTo>
                <a:close/>
                <a:moveTo>
                  <a:pt x="245" y="219"/>
                </a:moveTo>
                <a:cubicBezTo>
                  <a:pt x="222" y="248"/>
                  <a:pt x="189" y="264"/>
                  <a:pt x="153" y="264"/>
                </a:cubicBezTo>
                <a:cubicBezTo>
                  <a:pt x="141" y="264"/>
                  <a:pt x="131" y="263"/>
                  <a:pt x="122" y="261"/>
                </a:cubicBezTo>
                <a:cubicBezTo>
                  <a:pt x="121" y="261"/>
                  <a:pt x="121" y="261"/>
                  <a:pt x="121" y="261"/>
                </a:cubicBezTo>
                <a:cubicBezTo>
                  <a:pt x="121" y="260"/>
                  <a:pt x="121" y="260"/>
                  <a:pt x="121" y="260"/>
                </a:cubicBezTo>
                <a:cubicBezTo>
                  <a:pt x="121" y="260"/>
                  <a:pt x="121" y="260"/>
                  <a:pt x="121" y="260"/>
                </a:cubicBezTo>
                <a:cubicBezTo>
                  <a:pt x="119" y="248"/>
                  <a:pt x="110" y="239"/>
                  <a:pt x="97" y="239"/>
                </a:cubicBezTo>
                <a:cubicBezTo>
                  <a:pt x="93" y="239"/>
                  <a:pt x="89" y="240"/>
                  <a:pt x="85" y="242"/>
                </a:cubicBezTo>
                <a:cubicBezTo>
                  <a:pt x="84" y="242"/>
                  <a:pt x="84" y="242"/>
                  <a:pt x="84" y="242"/>
                </a:cubicBezTo>
                <a:cubicBezTo>
                  <a:pt x="84" y="242"/>
                  <a:pt x="84" y="242"/>
                  <a:pt x="84" y="242"/>
                </a:cubicBezTo>
                <a:cubicBezTo>
                  <a:pt x="84" y="242"/>
                  <a:pt x="84" y="242"/>
                  <a:pt x="84" y="242"/>
                </a:cubicBezTo>
                <a:cubicBezTo>
                  <a:pt x="73" y="234"/>
                  <a:pt x="63" y="224"/>
                  <a:pt x="56" y="213"/>
                </a:cubicBezTo>
                <a:cubicBezTo>
                  <a:pt x="55" y="211"/>
                  <a:pt x="54" y="209"/>
                  <a:pt x="52" y="207"/>
                </a:cubicBezTo>
                <a:cubicBezTo>
                  <a:pt x="45" y="195"/>
                  <a:pt x="40" y="181"/>
                  <a:pt x="38" y="166"/>
                </a:cubicBezTo>
                <a:cubicBezTo>
                  <a:pt x="38" y="165"/>
                  <a:pt x="38" y="165"/>
                  <a:pt x="38" y="165"/>
                </a:cubicBezTo>
                <a:cubicBezTo>
                  <a:pt x="39" y="165"/>
                  <a:pt x="39" y="165"/>
                  <a:pt x="39" y="165"/>
                </a:cubicBezTo>
                <a:cubicBezTo>
                  <a:pt x="40" y="166"/>
                  <a:pt x="40" y="166"/>
                  <a:pt x="40" y="166"/>
                </a:cubicBezTo>
                <a:cubicBezTo>
                  <a:pt x="45" y="183"/>
                  <a:pt x="62" y="216"/>
                  <a:pt x="112" y="233"/>
                </a:cubicBezTo>
                <a:cubicBezTo>
                  <a:pt x="126" y="238"/>
                  <a:pt x="141" y="241"/>
                  <a:pt x="159" y="241"/>
                </a:cubicBezTo>
                <a:cubicBezTo>
                  <a:pt x="197" y="241"/>
                  <a:pt x="228" y="227"/>
                  <a:pt x="243" y="218"/>
                </a:cubicBezTo>
                <a:cubicBezTo>
                  <a:pt x="243" y="218"/>
                  <a:pt x="243" y="218"/>
                  <a:pt x="243" y="218"/>
                </a:cubicBezTo>
                <a:cubicBezTo>
                  <a:pt x="244" y="218"/>
                  <a:pt x="244" y="218"/>
                  <a:pt x="244" y="218"/>
                </a:cubicBezTo>
                <a:cubicBezTo>
                  <a:pt x="246" y="218"/>
                  <a:pt x="246" y="218"/>
                  <a:pt x="246" y="218"/>
                </a:cubicBezTo>
                <a:cubicBezTo>
                  <a:pt x="245" y="219"/>
                  <a:pt x="245" y="219"/>
                  <a:pt x="245" y="219"/>
                </a:cubicBezTo>
                <a:close/>
                <a:moveTo>
                  <a:pt x="270" y="219"/>
                </a:moveTo>
                <a:cubicBezTo>
                  <a:pt x="269" y="219"/>
                  <a:pt x="269" y="219"/>
                  <a:pt x="269" y="219"/>
                </a:cubicBezTo>
                <a:cubicBezTo>
                  <a:pt x="256" y="219"/>
                  <a:pt x="246" y="208"/>
                  <a:pt x="246" y="195"/>
                </a:cubicBezTo>
                <a:cubicBezTo>
                  <a:pt x="246" y="182"/>
                  <a:pt x="256" y="171"/>
                  <a:pt x="269" y="171"/>
                </a:cubicBezTo>
                <a:cubicBezTo>
                  <a:pt x="282" y="171"/>
                  <a:pt x="293" y="182"/>
                  <a:pt x="293" y="195"/>
                </a:cubicBezTo>
                <a:cubicBezTo>
                  <a:pt x="293" y="208"/>
                  <a:pt x="282" y="219"/>
                  <a:pt x="270" y="21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C3932B"/>
              </a:solidFill>
              <a:effectLst/>
              <a:uLnTx/>
              <a:uFillTx/>
              <a:latin typeface="Calibri" panose="020F0502020204030204"/>
              <a:ea typeface="+mn-ea"/>
              <a:cs typeface="Arial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709EC4BA-D20B-454D-9EE4-D50E0A0C85A9}"/>
              </a:ext>
            </a:extLst>
          </p:cNvPr>
          <p:cNvSpPr txBox="1"/>
          <p:nvPr/>
        </p:nvSpPr>
        <p:spPr>
          <a:xfrm>
            <a:off x="376698" y="903835"/>
            <a:ext cx="11758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Nell’attuazione delle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C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 Missioni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 Amministrazioni sono chiamate a rispettare ulteriori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C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principi trasversali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tutti gli interventi finanziati nell’ambito del Piano.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1FA1AF65-25C5-41CF-8540-CF5DE2726089}"/>
              </a:ext>
            </a:extLst>
          </p:cNvPr>
          <p:cNvGrpSpPr/>
          <p:nvPr/>
        </p:nvGrpSpPr>
        <p:grpSpPr>
          <a:xfrm>
            <a:off x="11523412" y="1716345"/>
            <a:ext cx="413914" cy="397729"/>
            <a:chOff x="11502717" y="1787491"/>
            <a:chExt cx="455304" cy="437502"/>
          </a:xfrm>
        </p:grpSpPr>
        <p:grpSp>
          <p:nvGrpSpPr>
            <p:cNvPr id="32" name="Gruppieren 30">
              <a:extLst>
                <a:ext uri="{FF2B5EF4-FFF2-40B4-BE49-F238E27FC236}">
                  <a16:creationId xmlns="" xmlns:a16="http://schemas.microsoft.com/office/drawing/2014/main" id="{33D324E9-E8F9-473C-B6F0-969B593A8A23}"/>
                </a:ext>
              </a:extLst>
            </p:cNvPr>
            <p:cNvGrpSpPr/>
            <p:nvPr/>
          </p:nvGrpSpPr>
          <p:grpSpPr>
            <a:xfrm>
              <a:off x="11502717" y="1787491"/>
              <a:ext cx="230711" cy="252989"/>
              <a:chOff x="5484905" y="1361424"/>
              <a:chExt cx="487066" cy="485544"/>
            </a:xfrm>
          </p:grpSpPr>
          <p:sp>
            <p:nvSpPr>
              <p:cNvPr id="33" name="Freeform 5">
                <a:extLst>
                  <a:ext uri="{FF2B5EF4-FFF2-40B4-BE49-F238E27FC236}">
                    <a16:creationId xmlns="" xmlns:a16="http://schemas.microsoft.com/office/drawing/2014/main" id="{EDF410A0-F844-4000-A6D1-8B8A007D580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27151" y="1361424"/>
                <a:ext cx="165254" cy="162770"/>
              </a:xfrm>
              <a:custGeom>
                <a:avLst/>
                <a:gdLst>
                  <a:gd name="T0" fmla="*/ 16 w 32"/>
                  <a:gd name="T1" fmla="*/ 32 h 32"/>
                  <a:gd name="T2" fmla="*/ 32 w 32"/>
                  <a:gd name="T3" fmla="*/ 16 h 32"/>
                  <a:gd name="T4" fmla="*/ 16 w 32"/>
                  <a:gd name="T5" fmla="*/ 0 h 32"/>
                  <a:gd name="T6" fmla="*/ 0 w 32"/>
                  <a:gd name="T7" fmla="*/ 16 h 32"/>
                  <a:gd name="T8" fmla="*/ 16 w 32"/>
                  <a:gd name="T9" fmla="*/ 32 h 32"/>
                  <a:gd name="T10" fmla="*/ 16 w 32"/>
                  <a:gd name="T11" fmla="*/ 4 h 32"/>
                  <a:gd name="T12" fmla="*/ 28 w 32"/>
                  <a:gd name="T13" fmla="*/ 16 h 32"/>
                  <a:gd name="T14" fmla="*/ 16 w 32"/>
                  <a:gd name="T15" fmla="*/ 28 h 32"/>
                  <a:gd name="T16" fmla="*/ 4 w 32"/>
                  <a:gd name="T17" fmla="*/ 16 h 32"/>
                  <a:gd name="T18" fmla="*/ 16 w 32"/>
                  <a:gd name="T19" fmla="*/ 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lose/>
                    <a:moveTo>
                      <a:pt x="16" y="4"/>
                    </a:moveTo>
                    <a:cubicBezTo>
                      <a:pt x="23" y="4"/>
                      <a:pt x="28" y="9"/>
                      <a:pt x="28" y="16"/>
                    </a:cubicBezTo>
                    <a:cubicBezTo>
                      <a:pt x="28" y="23"/>
                      <a:pt x="23" y="28"/>
                      <a:pt x="16" y="28"/>
                    </a:cubicBezTo>
                    <a:cubicBezTo>
                      <a:pt x="9" y="28"/>
                      <a:pt x="4" y="23"/>
                      <a:pt x="4" y="16"/>
                    </a:cubicBezTo>
                    <a:cubicBezTo>
                      <a:pt x="4" y="9"/>
                      <a:pt x="9" y="4"/>
                      <a:pt x="16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A254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Freeform 7">
                <a:extLst>
                  <a:ext uri="{FF2B5EF4-FFF2-40B4-BE49-F238E27FC236}">
                    <a16:creationId xmlns="" xmlns:a16="http://schemas.microsoft.com/office/drawing/2014/main" id="{F1A23B27-86F7-4092-9E4E-CE4F0C6A84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4471" y="1361424"/>
                <a:ext cx="207500" cy="182650"/>
              </a:xfrm>
              <a:custGeom>
                <a:avLst/>
                <a:gdLst>
                  <a:gd name="T0" fmla="*/ 38 w 40"/>
                  <a:gd name="T1" fmla="*/ 0 h 36"/>
                  <a:gd name="T2" fmla="*/ 36 w 40"/>
                  <a:gd name="T3" fmla="*/ 2 h 36"/>
                  <a:gd name="T4" fmla="*/ 36 w 40"/>
                  <a:gd name="T5" fmla="*/ 4 h 36"/>
                  <a:gd name="T6" fmla="*/ 4 w 40"/>
                  <a:gd name="T7" fmla="*/ 12 h 36"/>
                  <a:gd name="T8" fmla="*/ 2 w 40"/>
                  <a:gd name="T9" fmla="*/ 10 h 36"/>
                  <a:gd name="T10" fmla="*/ 0 w 40"/>
                  <a:gd name="T11" fmla="*/ 12 h 36"/>
                  <a:gd name="T12" fmla="*/ 0 w 40"/>
                  <a:gd name="T13" fmla="*/ 14 h 36"/>
                  <a:gd name="T14" fmla="*/ 0 w 40"/>
                  <a:gd name="T15" fmla="*/ 22 h 36"/>
                  <a:gd name="T16" fmla="*/ 0 w 40"/>
                  <a:gd name="T17" fmla="*/ 24 h 36"/>
                  <a:gd name="T18" fmla="*/ 2 w 40"/>
                  <a:gd name="T19" fmla="*/ 26 h 36"/>
                  <a:gd name="T20" fmla="*/ 4 w 40"/>
                  <a:gd name="T21" fmla="*/ 24 h 36"/>
                  <a:gd name="T22" fmla="*/ 8 w 40"/>
                  <a:gd name="T23" fmla="*/ 25 h 36"/>
                  <a:gd name="T24" fmla="*/ 8 w 40"/>
                  <a:gd name="T25" fmla="*/ 28 h 36"/>
                  <a:gd name="T26" fmla="*/ 16 w 40"/>
                  <a:gd name="T27" fmla="*/ 36 h 36"/>
                  <a:gd name="T28" fmla="*/ 24 w 40"/>
                  <a:gd name="T29" fmla="*/ 29 h 36"/>
                  <a:gd name="T30" fmla="*/ 36 w 40"/>
                  <a:gd name="T31" fmla="*/ 32 h 36"/>
                  <a:gd name="T32" fmla="*/ 36 w 40"/>
                  <a:gd name="T33" fmla="*/ 34 h 36"/>
                  <a:gd name="T34" fmla="*/ 38 w 40"/>
                  <a:gd name="T35" fmla="*/ 36 h 36"/>
                  <a:gd name="T36" fmla="*/ 40 w 40"/>
                  <a:gd name="T37" fmla="*/ 34 h 36"/>
                  <a:gd name="T38" fmla="*/ 40 w 40"/>
                  <a:gd name="T39" fmla="*/ 30 h 36"/>
                  <a:gd name="T40" fmla="*/ 40 w 40"/>
                  <a:gd name="T41" fmla="*/ 6 h 36"/>
                  <a:gd name="T42" fmla="*/ 40 w 40"/>
                  <a:gd name="T43" fmla="*/ 2 h 36"/>
                  <a:gd name="T44" fmla="*/ 38 w 40"/>
                  <a:gd name="T45" fmla="*/ 0 h 36"/>
                  <a:gd name="T46" fmla="*/ 16 w 40"/>
                  <a:gd name="T47" fmla="*/ 32 h 36"/>
                  <a:gd name="T48" fmla="*/ 12 w 40"/>
                  <a:gd name="T49" fmla="*/ 28 h 36"/>
                  <a:gd name="T50" fmla="*/ 12 w 40"/>
                  <a:gd name="T51" fmla="*/ 26 h 36"/>
                  <a:gd name="T52" fmla="*/ 20 w 40"/>
                  <a:gd name="T53" fmla="*/ 28 h 36"/>
                  <a:gd name="T54" fmla="*/ 16 w 40"/>
                  <a:gd name="T55" fmla="*/ 32 h 36"/>
                  <a:gd name="T56" fmla="*/ 4 w 40"/>
                  <a:gd name="T57" fmla="*/ 20 h 36"/>
                  <a:gd name="T58" fmla="*/ 4 w 40"/>
                  <a:gd name="T59" fmla="*/ 16 h 36"/>
                  <a:gd name="T60" fmla="*/ 36 w 40"/>
                  <a:gd name="T61" fmla="*/ 8 h 36"/>
                  <a:gd name="T62" fmla="*/ 36 w 40"/>
                  <a:gd name="T63" fmla="*/ 28 h 36"/>
                  <a:gd name="T64" fmla="*/ 4 w 40"/>
                  <a:gd name="T65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0" h="36">
                    <a:moveTo>
                      <a:pt x="38" y="0"/>
                    </a:moveTo>
                    <a:cubicBezTo>
                      <a:pt x="37" y="0"/>
                      <a:pt x="36" y="1"/>
                      <a:pt x="36" y="2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2" y="10"/>
                    </a:cubicBezTo>
                    <a:cubicBezTo>
                      <a:pt x="1" y="10"/>
                      <a:pt x="0" y="11"/>
                      <a:pt x="0" y="1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5"/>
                      <a:pt x="1" y="26"/>
                      <a:pt x="2" y="26"/>
                    </a:cubicBezTo>
                    <a:cubicBezTo>
                      <a:pt x="3" y="26"/>
                      <a:pt x="4" y="25"/>
                      <a:pt x="4" y="24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2"/>
                      <a:pt x="12" y="36"/>
                      <a:pt x="16" y="36"/>
                    </a:cubicBezTo>
                    <a:cubicBezTo>
                      <a:pt x="20" y="36"/>
                      <a:pt x="23" y="33"/>
                      <a:pt x="24" y="29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5"/>
                      <a:pt x="37" y="36"/>
                      <a:pt x="38" y="36"/>
                    </a:cubicBezTo>
                    <a:cubicBezTo>
                      <a:pt x="39" y="36"/>
                      <a:pt x="40" y="35"/>
                      <a:pt x="40" y="34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40" y="1"/>
                      <a:pt x="39" y="0"/>
                      <a:pt x="38" y="0"/>
                    </a:cubicBezTo>
                    <a:close/>
                    <a:moveTo>
                      <a:pt x="16" y="32"/>
                    </a:moveTo>
                    <a:cubicBezTo>
                      <a:pt x="14" y="32"/>
                      <a:pt x="12" y="30"/>
                      <a:pt x="12" y="28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18" y="32"/>
                      <a:pt x="16" y="32"/>
                    </a:cubicBezTo>
                    <a:close/>
                    <a:moveTo>
                      <a:pt x="4" y="20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28"/>
                      <a:pt x="36" y="28"/>
                      <a:pt x="36" y="28"/>
                    </a:cubicBezTo>
                    <a:lnTo>
                      <a:pt x="4" y="2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A254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103">
                <a:extLst>
                  <a:ext uri="{FF2B5EF4-FFF2-40B4-BE49-F238E27FC236}">
                    <a16:creationId xmlns="" xmlns:a16="http://schemas.microsoft.com/office/drawing/2014/main" id="{0AD88861-54E6-4EF0-951B-5DC57E802C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484905" y="1544074"/>
                <a:ext cx="248847" cy="302894"/>
              </a:xfrm>
              <a:custGeom>
                <a:avLst/>
                <a:gdLst>
                  <a:gd name="T0" fmla="*/ 96 w 144"/>
                  <a:gd name="T1" fmla="*/ 180 h 180"/>
                  <a:gd name="T2" fmla="*/ 48 w 144"/>
                  <a:gd name="T3" fmla="*/ 180 h 180"/>
                  <a:gd name="T4" fmla="*/ 42 w 144"/>
                  <a:gd name="T5" fmla="*/ 174 h 180"/>
                  <a:gd name="T6" fmla="*/ 42 w 144"/>
                  <a:gd name="T7" fmla="*/ 99 h 180"/>
                  <a:gd name="T8" fmla="*/ 0 w 144"/>
                  <a:gd name="T9" fmla="*/ 6 h 180"/>
                  <a:gd name="T10" fmla="*/ 6 w 144"/>
                  <a:gd name="T11" fmla="*/ 0 h 180"/>
                  <a:gd name="T12" fmla="*/ 138 w 144"/>
                  <a:gd name="T13" fmla="*/ 0 h 180"/>
                  <a:gd name="T14" fmla="*/ 144 w 144"/>
                  <a:gd name="T15" fmla="*/ 6 h 180"/>
                  <a:gd name="T16" fmla="*/ 102 w 144"/>
                  <a:gd name="T17" fmla="*/ 99 h 180"/>
                  <a:gd name="T18" fmla="*/ 102 w 144"/>
                  <a:gd name="T19" fmla="*/ 174 h 180"/>
                  <a:gd name="T20" fmla="*/ 96 w 144"/>
                  <a:gd name="T21" fmla="*/ 180 h 180"/>
                  <a:gd name="T22" fmla="*/ 54 w 144"/>
                  <a:gd name="T23" fmla="*/ 168 h 180"/>
                  <a:gd name="T24" fmla="*/ 90 w 144"/>
                  <a:gd name="T25" fmla="*/ 168 h 180"/>
                  <a:gd name="T26" fmla="*/ 90 w 144"/>
                  <a:gd name="T27" fmla="*/ 96 h 180"/>
                  <a:gd name="T28" fmla="*/ 93 w 144"/>
                  <a:gd name="T29" fmla="*/ 91 h 180"/>
                  <a:gd name="T30" fmla="*/ 132 w 144"/>
                  <a:gd name="T31" fmla="*/ 12 h 180"/>
                  <a:gd name="T32" fmla="*/ 12 w 144"/>
                  <a:gd name="T33" fmla="*/ 12 h 180"/>
                  <a:gd name="T34" fmla="*/ 51 w 144"/>
                  <a:gd name="T35" fmla="*/ 91 h 180"/>
                  <a:gd name="T36" fmla="*/ 54 w 144"/>
                  <a:gd name="T37" fmla="*/ 96 h 180"/>
                  <a:gd name="T38" fmla="*/ 54 w 144"/>
                  <a:gd name="T39" fmla="*/ 168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4" h="180">
                    <a:moveTo>
                      <a:pt x="96" y="180"/>
                    </a:moveTo>
                    <a:cubicBezTo>
                      <a:pt x="48" y="180"/>
                      <a:pt x="48" y="180"/>
                      <a:pt x="48" y="180"/>
                    </a:cubicBezTo>
                    <a:cubicBezTo>
                      <a:pt x="45" y="180"/>
                      <a:pt x="42" y="177"/>
                      <a:pt x="42" y="174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15" y="82"/>
                      <a:pt x="0" y="4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138" y="0"/>
                      <a:pt x="138" y="0"/>
                      <a:pt x="138" y="0"/>
                    </a:cubicBezTo>
                    <a:cubicBezTo>
                      <a:pt x="141" y="0"/>
                      <a:pt x="144" y="3"/>
                      <a:pt x="144" y="6"/>
                    </a:cubicBezTo>
                    <a:cubicBezTo>
                      <a:pt x="144" y="49"/>
                      <a:pt x="129" y="82"/>
                      <a:pt x="102" y="99"/>
                    </a:cubicBezTo>
                    <a:cubicBezTo>
                      <a:pt x="102" y="174"/>
                      <a:pt x="102" y="174"/>
                      <a:pt x="102" y="174"/>
                    </a:cubicBezTo>
                    <a:cubicBezTo>
                      <a:pt x="102" y="177"/>
                      <a:pt x="99" y="180"/>
                      <a:pt x="96" y="180"/>
                    </a:cubicBezTo>
                    <a:close/>
                    <a:moveTo>
                      <a:pt x="54" y="168"/>
                    </a:moveTo>
                    <a:cubicBezTo>
                      <a:pt x="90" y="168"/>
                      <a:pt x="90" y="168"/>
                      <a:pt x="90" y="168"/>
                    </a:cubicBezTo>
                    <a:cubicBezTo>
                      <a:pt x="90" y="96"/>
                      <a:pt x="90" y="96"/>
                      <a:pt x="90" y="96"/>
                    </a:cubicBezTo>
                    <a:cubicBezTo>
                      <a:pt x="90" y="94"/>
                      <a:pt x="91" y="92"/>
                      <a:pt x="93" y="91"/>
                    </a:cubicBezTo>
                    <a:cubicBezTo>
                      <a:pt x="117" y="77"/>
                      <a:pt x="131" y="49"/>
                      <a:pt x="13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4" y="49"/>
                      <a:pt x="28" y="77"/>
                      <a:pt x="51" y="91"/>
                    </a:cubicBezTo>
                    <a:cubicBezTo>
                      <a:pt x="53" y="92"/>
                      <a:pt x="54" y="94"/>
                      <a:pt x="54" y="96"/>
                    </a:cubicBezTo>
                    <a:lnTo>
                      <a:pt x="54" y="16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A254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="" xmlns:a16="http://schemas.microsoft.com/office/drawing/2014/main" id="{05E386A7-192F-4041-B38D-27989463ED65}"/>
                </a:ext>
              </a:extLst>
            </p:cNvPr>
            <p:cNvGrpSpPr>
              <a:grpSpLocks/>
            </p:cNvGrpSpPr>
            <p:nvPr/>
          </p:nvGrpSpPr>
          <p:grpSpPr>
            <a:xfrm>
              <a:off x="11748282" y="1994869"/>
              <a:ext cx="209739" cy="230124"/>
              <a:chOff x="10391775" y="3759200"/>
              <a:chExt cx="622300" cy="620713"/>
            </a:xfrm>
            <a:solidFill>
              <a:schemeClr val="bg1"/>
            </a:solidFill>
          </p:grpSpPr>
          <p:sp>
            <p:nvSpPr>
              <p:cNvPr id="29" name="Freeform 20">
                <a:extLst>
                  <a:ext uri="{FF2B5EF4-FFF2-40B4-BE49-F238E27FC236}">
                    <a16:creationId xmlns="" xmlns:a16="http://schemas.microsoft.com/office/drawing/2014/main" id="{99482E1B-659B-4FB9-8706-108B923E1F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445750" y="3759200"/>
                <a:ext cx="211137" cy="206375"/>
              </a:xfrm>
              <a:custGeom>
                <a:avLst/>
                <a:gdLst>
                  <a:gd name="T0" fmla="*/ 16 w 32"/>
                  <a:gd name="T1" fmla="*/ 32 h 32"/>
                  <a:gd name="T2" fmla="*/ 32 w 32"/>
                  <a:gd name="T3" fmla="*/ 16 h 32"/>
                  <a:gd name="T4" fmla="*/ 16 w 32"/>
                  <a:gd name="T5" fmla="*/ 0 h 32"/>
                  <a:gd name="T6" fmla="*/ 0 w 32"/>
                  <a:gd name="T7" fmla="*/ 16 h 32"/>
                  <a:gd name="T8" fmla="*/ 16 w 32"/>
                  <a:gd name="T9" fmla="*/ 32 h 32"/>
                  <a:gd name="T10" fmla="*/ 16 w 32"/>
                  <a:gd name="T11" fmla="*/ 4 h 32"/>
                  <a:gd name="T12" fmla="*/ 28 w 32"/>
                  <a:gd name="T13" fmla="*/ 16 h 32"/>
                  <a:gd name="T14" fmla="*/ 16 w 32"/>
                  <a:gd name="T15" fmla="*/ 28 h 32"/>
                  <a:gd name="T16" fmla="*/ 4 w 32"/>
                  <a:gd name="T17" fmla="*/ 16 h 32"/>
                  <a:gd name="T18" fmla="*/ 16 w 32"/>
                  <a:gd name="T19" fmla="*/ 4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" h="32">
                    <a:moveTo>
                      <a:pt x="16" y="32"/>
                    </a:moveTo>
                    <a:cubicBezTo>
                      <a:pt x="25" y="32"/>
                      <a:pt x="32" y="25"/>
                      <a:pt x="32" y="16"/>
                    </a:cubicBezTo>
                    <a:cubicBezTo>
                      <a:pt x="32" y="7"/>
                      <a:pt x="25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25"/>
                      <a:pt x="7" y="32"/>
                      <a:pt x="16" y="32"/>
                    </a:cubicBezTo>
                    <a:close/>
                    <a:moveTo>
                      <a:pt x="16" y="4"/>
                    </a:moveTo>
                    <a:cubicBezTo>
                      <a:pt x="23" y="4"/>
                      <a:pt x="28" y="9"/>
                      <a:pt x="28" y="16"/>
                    </a:cubicBezTo>
                    <a:cubicBezTo>
                      <a:pt x="28" y="23"/>
                      <a:pt x="23" y="28"/>
                      <a:pt x="16" y="28"/>
                    </a:cubicBezTo>
                    <a:cubicBezTo>
                      <a:pt x="9" y="28"/>
                      <a:pt x="4" y="23"/>
                      <a:pt x="4" y="16"/>
                    </a:cubicBezTo>
                    <a:cubicBezTo>
                      <a:pt x="4" y="9"/>
                      <a:pt x="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A254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Freeform 21">
                <a:extLst>
                  <a:ext uri="{FF2B5EF4-FFF2-40B4-BE49-F238E27FC236}">
                    <a16:creationId xmlns="" xmlns:a16="http://schemas.microsoft.com/office/drawing/2014/main" id="{7979A580-287B-4E76-9A00-26144C5407E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91775" y="3978275"/>
                <a:ext cx="317500" cy="401638"/>
              </a:xfrm>
              <a:custGeom>
                <a:avLst/>
                <a:gdLst>
                  <a:gd name="T0" fmla="*/ 24 w 48"/>
                  <a:gd name="T1" fmla="*/ 0 h 62"/>
                  <a:gd name="T2" fmla="*/ 0 w 48"/>
                  <a:gd name="T3" fmla="*/ 40 h 62"/>
                  <a:gd name="T4" fmla="*/ 2 w 48"/>
                  <a:gd name="T5" fmla="*/ 42 h 62"/>
                  <a:gd name="T6" fmla="*/ 14 w 48"/>
                  <a:gd name="T7" fmla="*/ 42 h 62"/>
                  <a:gd name="T8" fmla="*/ 14 w 48"/>
                  <a:gd name="T9" fmla="*/ 60 h 62"/>
                  <a:gd name="T10" fmla="*/ 16 w 48"/>
                  <a:gd name="T11" fmla="*/ 62 h 62"/>
                  <a:gd name="T12" fmla="*/ 32 w 48"/>
                  <a:gd name="T13" fmla="*/ 62 h 62"/>
                  <a:gd name="T14" fmla="*/ 34 w 48"/>
                  <a:gd name="T15" fmla="*/ 60 h 62"/>
                  <a:gd name="T16" fmla="*/ 34 w 48"/>
                  <a:gd name="T17" fmla="*/ 42 h 62"/>
                  <a:gd name="T18" fmla="*/ 46 w 48"/>
                  <a:gd name="T19" fmla="*/ 42 h 62"/>
                  <a:gd name="T20" fmla="*/ 48 w 48"/>
                  <a:gd name="T21" fmla="*/ 40 h 62"/>
                  <a:gd name="T22" fmla="*/ 24 w 48"/>
                  <a:gd name="T23" fmla="*/ 0 h 62"/>
                  <a:gd name="T24" fmla="*/ 31 w 48"/>
                  <a:gd name="T25" fmla="*/ 7 h 62"/>
                  <a:gd name="T26" fmla="*/ 24 w 48"/>
                  <a:gd name="T27" fmla="*/ 17 h 62"/>
                  <a:gd name="T28" fmla="*/ 17 w 48"/>
                  <a:gd name="T29" fmla="*/ 7 h 62"/>
                  <a:gd name="T30" fmla="*/ 24 w 48"/>
                  <a:gd name="T31" fmla="*/ 4 h 62"/>
                  <a:gd name="T32" fmla="*/ 31 w 48"/>
                  <a:gd name="T33" fmla="*/ 7 h 62"/>
                  <a:gd name="T34" fmla="*/ 18 w 48"/>
                  <a:gd name="T35" fmla="*/ 58 h 62"/>
                  <a:gd name="T36" fmla="*/ 18 w 48"/>
                  <a:gd name="T37" fmla="*/ 42 h 62"/>
                  <a:gd name="T38" fmla="*/ 30 w 48"/>
                  <a:gd name="T39" fmla="*/ 42 h 62"/>
                  <a:gd name="T40" fmla="*/ 30 w 48"/>
                  <a:gd name="T41" fmla="*/ 58 h 62"/>
                  <a:gd name="T42" fmla="*/ 18 w 48"/>
                  <a:gd name="T43" fmla="*/ 58 h 62"/>
                  <a:gd name="T44" fmla="*/ 32 w 48"/>
                  <a:gd name="T45" fmla="*/ 38 h 62"/>
                  <a:gd name="T46" fmla="*/ 16 w 48"/>
                  <a:gd name="T47" fmla="*/ 38 h 62"/>
                  <a:gd name="T48" fmla="*/ 4 w 48"/>
                  <a:gd name="T49" fmla="*/ 38 h 62"/>
                  <a:gd name="T50" fmla="*/ 14 w 48"/>
                  <a:gd name="T51" fmla="*/ 9 h 62"/>
                  <a:gd name="T52" fmla="*/ 22 w 48"/>
                  <a:gd name="T53" fmla="*/ 21 h 62"/>
                  <a:gd name="T54" fmla="*/ 24 w 48"/>
                  <a:gd name="T55" fmla="*/ 22 h 62"/>
                  <a:gd name="T56" fmla="*/ 26 w 48"/>
                  <a:gd name="T57" fmla="*/ 21 h 62"/>
                  <a:gd name="T58" fmla="*/ 34 w 48"/>
                  <a:gd name="T59" fmla="*/ 9 h 62"/>
                  <a:gd name="T60" fmla="*/ 44 w 48"/>
                  <a:gd name="T61" fmla="*/ 38 h 62"/>
                  <a:gd name="T62" fmla="*/ 32 w 48"/>
                  <a:gd name="T63" fmla="*/ 38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8" h="62">
                    <a:moveTo>
                      <a:pt x="24" y="0"/>
                    </a:moveTo>
                    <a:cubicBezTo>
                      <a:pt x="11" y="0"/>
                      <a:pt x="0" y="18"/>
                      <a:pt x="0" y="40"/>
                    </a:cubicBezTo>
                    <a:cubicBezTo>
                      <a:pt x="0" y="41"/>
                      <a:pt x="1" y="42"/>
                      <a:pt x="2" y="42"/>
                    </a:cubicBezTo>
                    <a:cubicBezTo>
                      <a:pt x="14" y="42"/>
                      <a:pt x="14" y="42"/>
                      <a:pt x="14" y="42"/>
                    </a:cubicBezTo>
                    <a:cubicBezTo>
                      <a:pt x="14" y="60"/>
                      <a:pt x="14" y="60"/>
                      <a:pt x="14" y="60"/>
                    </a:cubicBezTo>
                    <a:cubicBezTo>
                      <a:pt x="14" y="61"/>
                      <a:pt x="15" y="62"/>
                      <a:pt x="16" y="62"/>
                    </a:cubicBezTo>
                    <a:cubicBezTo>
                      <a:pt x="32" y="62"/>
                      <a:pt x="32" y="62"/>
                      <a:pt x="32" y="62"/>
                    </a:cubicBezTo>
                    <a:cubicBezTo>
                      <a:pt x="33" y="62"/>
                      <a:pt x="34" y="61"/>
                      <a:pt x="34" y="60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7" y="42"/>
                      <a:pt x="48" y="41"/>
                      <a:pt x="48" y="40"/>
                    </a:cubicBezTo>
                    <a:cubicBezTo>
                      <a:pt x="48" y="18"/>
                      <a:pt x="37" y="0"/>
                      <a:pt x="24" y="0"/>
                    </a:cubicBezTo>
                    <a:close/>
                    <a:moveTo>
                      <a:pt x="31" y="7"/>
                    </a:moveTo>
                    <a:cubicBezTo>
                      <a:pt x="24" y="17"/>
                      <a:pt x="24" y="17"/>
                      <a:pt x="24" y="17"/>
                    </a:cubicBezTo>
                    <a:cubicBezTo>
                      <a:pt x="17" y="7"/>
                      <a:pt x="17" y="7"/>
                      <a:pt x="17" y="7"/>
                    </a:cubicBezTo>
                    <a:cubicBezTo>
                      <a:pt x="19" y="5"/>
                      <a:pt x="22" y="4"/>
                      <a:pt x="24" y="4"/>
                    </a:cubicBezTo>
                    <a:cubicBezTo>
                      <a:pt x="26" y="4"/>
                      <a:pt x="29" y="5"/>
                      <a:pt x="31" y="7"/>
                    </a:cubicBezTo>
                    <a:close/>
                    <a:moveTo>
                      <a:pt x="18" y="58"/>
                    </a:moveTo>
                    <a:cubicBezTo>
                      <a:pt x="18" y="42"/>
                      <a:pt x="18" y="42"/>
                      <a:pt x="18" y="42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30" y="58"/>
                      <a:pt x="30" y="58"/>
                      <a:pt x="30" y="58"/>
                    </a:cubicBezTo>
                    <a:lnTo>
                      <a:pt x="18" y="58"/>
                    </a:lnTo>
                    <a:close/>
                    <a:moveTo>
                      <a:pt x="32" y="38"/>
                    </a:moveTo>
                    <a:cubicBezTo>
                      <a:pt x="16" y="38"/>
                      <a:pt x="16" y="38"/>
                      <a:pt x="16" y="38"/>
                    </a:cubicBezTo>
                    <a:cubicBezTo>
                      <a:pt x="4" y="38"/>
                      <a:pt x="4" y="38"/>
                      <a:pt x="4" y="38"/>
                    </a:cubicBezTo>
                    <a:cubicBezTo>
                      <a:pt x="4" y="26"/>
                      <a:pt x="8" y="15"/>
                      <a:pt x="14" y="9"/>
                    </a:cubicBezTo>
                    <a:cubicBezTo>
                      <a:pt x="22" y="21"/>
                      <a:pt x="22" y="21"/>
                      <a:pt x="22" y="21"/>
                    </a:cubicBezTo>
                    <a:cubicBezTo>
                      <a:pt x="23" y="22"/>
                      <a:pt x="23" y="22"/>
                      <a:pt x="24" y="22"/>
                    </a:cubicBezTo>
                    <a:cubicBezTo>
                      <a:pt x="25" y="22"/>
                      <a:pt x="25" y="22"/>
                      <a:pt x="26" y="21"/>
                    </a:cubicBezTo>
                    <a:cubicBezTo>
                      <a:pt x="34" y="9"/>
                      <a:pt x="34" y="9"/>
                      <a:pt x="34" y="9"/>
                    </a:cubicBezTo>
                    <a:cubicBezTo>
                      <a:pt x="40" y="15"/>
                      <a:pt x="44" y="26"/>
                      <a:pt x="44" y="38"/>
                    </a:cubicBezTo>
                    <a:lnTo>
                      <a:pt x="32" y="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A254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Freeform 22">
                <a:extLst>
                  <a:ext uri="{FF2B5EF4-FFF2-40B4-BE49-F238E27FC236}">
                    <a16:creationId xmlns="" xmlns:a16="http://schemas.microsoft.com/office/drawing/2014/main" id="{5766BFF4-D836-4C00-9631-0BE6D64238C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48963" y="3759200"/>
                <a:ext cx="265112" cy="233363"/>
              </a:xfrm>
              <a:custGeom>
                <a:avLst/>
                <a:gdLst>
                  <a:gd name="T0" fmla="*/ 38 w 40"/>
                  <a:gd name="T1" fmla="*/ 0 h 36"/>
                  <a:gd name="T2" fmla="*/ 36 w 40"/>
                  <a:gd name="T3" fmla="*/ 2 h 36"/>
                  <a:gd name="T4" fmla="*/ 36 w 40"/>
                  <a:gd name="T5" fmla="*/ 4 h 36"/>
                  <a:gd name="T6" fmla="*/ 4 w 40"/>
                  <a:gd name="T7" fmla="*/ 12 h 36"/>
                  <a:gd name="T8" fmla="*/ 2 w 40"/>
                  <a:gd name="T9" fmla="*/ 10 h 36"/>
                  <a:gd name="T10" fmla="*/ 0 w 40"/>
                  <a:gd name="T11" fmla="*/ 12 h 36"/>
                  <a:gd name="T12" fmla="*/ 0 w 40"/>
                  <a:gd name="T13" fmla="*/ 14 h 36"/>
                  <a:gd name="T14" fmla="*/ 0 w 40"/>
                  <a:gd name="T15" fmla="*/ 22 h 36"/>
                  <a:gd name="T16" fmla="*/ 0 w 40"/>
                  <a:gd name="T17" fmla="*/ 24 h 36"/>
                  <a:gd name="T18" fmla="*/ 2 w 40"/>
                  <a:gd name="T19" fmla="*/ 26 h 36"/>
                  <a:gd name="T20" fmla="*/ 4 w 40"/>
                  <a:gd name="T21" fmla="*/ 24 h 36"/>
                  <a:gd name="T22" fmla="*/ 8 w 40"/>
                  <a:gd name="T23" fmla="*/ 25 h 36"/>
                  <a:gd name="T24" fmla="*/ 8 w 40"/>
                  <a:gd name="T25" fmla="*/ 28 h 36"/>
                  <a:gd name="T26" fmla="*/ 16 w 40"/>
                  <a:gd name="T27" fmla="*/ 36 h 36"/>
                  <a:gd name="T28" fmla="*/ 24 w 40"/>
                  <a:gd name="T29" fmla="*/ 29 h 36"/>
                  <a:gd name="T30" fmla="*/ 36 w 40"/>
                  <a:gd name="T31" fmla="*/ 32 h 36"/>
                  <a:gd name="T32" fmla="*/ 36 w 40"/>
                  <a:gd name="T33" fmla="*/ 34 h 36"/>
                  <a:gd name="T34" fmla="*/ 38 w 40"/>
                  <a:gd name="T35" fmla="*/ 36 h 36"/>
                  <a:gd name="T36" fmla="*/ 40 w 40"/>
                  <a:gd name="T37" fmla="*/ 34 h 36"/>
                  <a:gd name="T38" fmla="*/ 40 w 40"/>
                  <a:gd name="T39" fmla="*/ 30 h 36"/>
                  <a:gd name="T40" fmla="*/ 40 w 40"/>
                  <a:gd name="T41" fmla="*/ 6 h 36"/>
                  <a:gd name="T42" fmla="*/ 40 w 40"/>
                  <a:gd name="T43" fmla="*/ 2 h 36"/>
                  <a:gd name="T44" fmla="*/ 38 w 40"/>
                  <a:gd name="T45" fmla="*/ 0 h 36"/>
                  <a:gd name="T46" fmla="*/ 16 w 40"/>
                  <a:gd name="T47" fmla="*/ 32 h 36"/>
                  <a:gd name="T48" fmla="*/ 12 w 40"/>
                  <a:gd name="T49" fmla="*/ 28 h 36"/>
                  <a:gd name="T50" fmla="*/ 12 w 40"/>
                  <a:gd name="T51" fmla="*/ 26 h 36"/>
                  <a:gd name="T52" fmla="*/ 20 w 40"/>
                  <a:gd name="T53" fmla="*/ 28 h 36"/>
                  <a:gd name="T54" fmla="*/ 16 w 40"/>
                  <a:gd name="T55" fmla="*/ 32 h 36"/>
                  <a:gd name="T56" fmla="*/ 4 w 40"/>
                  <a:gd name="T57" fmla="*/ 20 h 36"/>
                  <a:gd name="T58" fmla="*/ 4 w 40"/>
                  <a:gd name="T59" fmla="*/ 16 h 36"/>
                  <a:gd name="T60" fmla="*/ 36 w 40"/>
                  <a:gd name="T61" fmla="*/ 8 h 36"/>
                  <a:gd name="T62" fmla="*/ 36 w 40"/>
                  <a:gd name="T63" fmla="*/ 28 h 36"/>
                  <a:gd name="T64" fmla="*/ 4 w 40"/>
                  <a:gd name="T65" fmla="*/ 2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40" h="36">
                    <a:moveTo>
                      <a:pt x="38" y="0"/>
                    </a:moveTo>
                    <a:cubicBezTo>
                      <a:pt x="37" y="0"/>
                      <a:pt x="36" y="1"/>
                      <a:pt x="36" y="2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1"/>
                      <a:pt x="3" y="10"/>
                      <a:pt x="2" y="10"/>
                    </a:cubicBezTo>
                    <a:cubicBezTo>
                      <a:pt x="1" y="10"/>
                      <a:pt x="0" y="11"/>
                      <a:pt x="0" y="12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25"/>
                      <a:pt x="1" y="26"/>
                      <a:pt x="2" y="26"/>
                    </a:cubicBezTo>
                    <a:cubicBezTo>
                      <a:pt x="3" y="26"/>
                      <a:pt x="4" y="25"/>
                      <a:pt x="4" y="24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8"/>
                      <a:pt x="8" y="28"/>
                      <a:pt x="8" y="28"/>
                    </a:cubicBezTo>
                    <a:cubicBezTo>
                      <a:pt x="8" y="32"/>
                      <a:pt x="12" y="36"/>
                      <a:pt x="16" y="36"/>
                    </a:cubicBezTo>
                    <a:cubicBezTo>
                      <a:pt x="20" y="36"/>
                      <a:pt x="23" y="33"/>
                      <a:pt x="24" y="29"/>
                    </a:cubicBezTo>
                    <a:cubicBezTo>
                      <a:pt x="36" y="32"/>
                      <a:pt x="36" y="32"/>
                      <a:pt x="36" y="32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5"/>
                      <a:pt x="37" y="36"/>
                      <a:pt x="38" y="36"/>
                    </a:cubicBezTo>
                    <a:cubicBezTo>
                      <a:pt x="39" y="36"/>
                      <a:pt x="40" y="35"/>
                      <a:pt x="40" y="34"/>
                    </a:cubicBezTo>
                    <a:cubicBezTo>
                      <a:pt x="40" y="30"/>
                      <a:pt x="40" y="30"/>
                      <a:pt x="40" y="30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40" y="1"/>
                      <a:pt x="39" y="0"/>
                      <a:pt x="38" y="0"/>
                    </a:cubicBezTo>
                    <a:close/>
                    <a:moveTo>
                      <a:pt x="16" y="32"/>
                    </a:moveTo>
                    <a:cubicBezTo>
                      <a:pt x="14" y="32"/>
                      <a:pt x="12" y="30"/>
                      <a:pt x="12" y="28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0" y="30"/>
                      <a:pt x="18" y="32"/>
                      <a:pt x="16" y="32"/>
                    </a:cubicBezTo>
                    <a:close/>
                    <a:moveTo>
                      <a:pt x="4" y="20"/>
                    </a:moveTo>
                    <a:cubicBezTo>
                      <a:pt x="4" y="16"/>
                      <a:pt x="4" y="16"/>
                      <a:pt x="4" y="16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6" y="28"/>
                      <a:pt x="36" y="28"/>
                      <a:pt x="36" y="28"/>
                    </a:cubicBezTo>
                    <a:lnTo>
                      <a:pt x="4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A254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pic>
          <p:nvPicPr>
            <p:cNvPr id="45" name="Graphic 44" descr="Line arrow: Clockwise curve with solid fill">
              <a:extLst>
                <a:ext uri="{FF2B5EF4-FFF2-40B4-BE49-F238E27FC236}">
                  <a16:creationId xmlns="" xmlns:a16="http://schemas.microsoft.com/office/drawing/2014/main" id="{35FDF149-F9F6-4E37-9E24-11DCBD52A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857580">
              <a:off x="11550340" y="2045914"/>
              <a:ext cx="149512" cy="164463"/>
            </a:xfrm>
            <a:prstGeom prst="rect">
              <a:avLst/>
            </a:prstGeom>
          </p:spPr>
        </p:pic>
        <p:pic>
          <p:nvPicPr>
            <p:cNvPr id="47" name="Graphic 46" descr="Line arrow: Clockwise curve with solid fill">
              <a:extLst>
                <a:ext uri="{FF2B5EF4-FFF2-40B4-BE49-F238E27FC236}">
                  <a16:creationId xmlns="" xmlns:a16="http://schemas.microsoft.com/office/drawing/2014/main" id="{B0190D53-A0FB-4A28-AED4-824BDECF44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9950321">
              <a:off x="11749572" y="1818519"/>
              <a:ext cx="149512" cy="164463"/>
            </a:xfrm>
            <a:prstGeom prst="rect">
              <a:avLst/>
            </a:prstGeom>
          </p:spPr>
        </p:pic>
      </p:grpSp>
      <p:sp>
        <p:nvSpPr>
          <p:cNvPr id="52" name="object 26">
            <a:extLst>
              <a:ext uri="{FF2B5EF4-FFF2-40B4-BE49-F238E27FC236}">
                <a16:creationId xmlns="" xmlns:a16="http://schemas.microsoft.com/office/drawing/2014/main" id="{F1836F8E-799C-461C-B786-7D9AC3089450}"/>
              </a:ext>
            </a:extLst>
          </p:cNvPr>
          <p:cNvSpPr txBox="1"/>
          <p:nvPr/>
        </p:nvSpPr>
        <p:spPr>
          <a:xfrm>
            <a:off x="1017034" y="2311638"/>
            <a:ext cx="2789377" cy="34394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wrap="square" lIns="0" tIns="1143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dello stanziamento totale è per obiettivi digitali</a:t>
            </a:r>
          </a:p>
        </p:txBody>
      </p:sp>
      <p:sp>
        <p:nvSpPr>
          <p:cNvPr id="56" name="Titolo 45">
            <a:extLst>
              <a:ext uri="{FF2B5EF4-FFF2-40B4-BE49-F238E27FC236}">
                <a16:creationId xmlns="" xmlns:a16="http://schemas.microsoft.com/office/drawing/2014/main" id="{869592E1-2272-4696-9B6D-1D2471B6BD12}"/>
              </a:ext>
            </a:extLst>
          </p:cNvPr>
          <p:cNvSpPr txBox="1">
            <a:spLocks/>
          </p:cNvSpPr>
          <p:nvPr/>
        </p:nvSpPr>
        <p:spPr>
          <a:xfrm>
            <a:off x="4119163" y="1709429"/>
            <a:ext cx="2955029" cy="286232"/>
          </a:xfrm>
          <a:prstGeom prst="rect">
            <a:avLst/>
          </a:prstGeom>
          <a:noFill/>
        </p:spPr>
        <p:txBody>
          <a:bodyPr vert="horz" wrap="square" lIns="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it-IT" sz="2400" b="1" kern="1200" dirty="0">
                <a:solidFill>
                  <a:srgbClr val="0A264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TRANSIZIONE VERDE E DNSH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F72141F7-18AE-4B15-87E5-24A675147737}"/>
              </a:ext>
            </a:extLst>
          </p:cNvPr>
          <p:cNvSpPr txBox="1"/>
          <p:nvPr/>
        </p:nvSpPr>
        <p:spPr>
          <a:xfrm>
            <a:off x="8240176" y="1709429"/>
            <a:ext cx="3030338" cy="480131"/>
          </a:xfrm>
          <a:prstGeom prst="rect">
            <a:avLst/>
          </a:prstGeom>
          <a:noFill/>
        </p:spPr>
        <p:txBody>
          <a:bodyPr vert="horz" wrap="square" lIns="0" tIns="45720" rIns="91440" bIns="45720" rtlCol="0" anchor="ctr">
            <a:spAutoFit/>
          </a:bodyPr>
          <a:lstStyle>
            <a:defPPr>
              <a:defRPr lang="it-IT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PARITÀ DI GENERE, GIOVANI E DIVARI TERRITORIALI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D9757F1E-A77E-479C-AFC0-BE6AC33E5DD1}"/>
              </a:ext>
            </a:extLst>
          </p:cNvPr>
          <p:cNvSpPr txBox="1"/>
          <p:nvPr/>
        </p:nvSpPr>
        <p:spPr>
          <a:xfrm>
            <a:off x="286917" y="1709429"/>
            <a:ext cx="2832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TRANSIZIONE DIGITALE</a:t>
            </a:r>
          </a:p>
        </p:txBody>
      </p:sp>
      <p:cxnSp>
        <p:nvCxnSpPr>
          <p:cNvPr id="64" name="Connector: Elbow 1046">
            <a:extLst>
              <a:ext uri="{FF2B5EF4-FFF2-40B4-BE49-F238E27FC236}">
                <a16:creationId xmlns="" xmlns:a16="http://schemas.microsoft.com/office/drawing/2014/main" id="{5FE00752-C417-42E1-809B-30927559FB6C}"/>
              </a:ext>
            </a:extLst>
          </p:cNvPr>
          <p:cNvCxnSpPr>
            <a:cxnSpLocks/>
          </p:cNvCxnSpPr>
          <p:nvPr/>
        </p:nvCxnSpPr>
        <p:spPr>
          <a:xfrm rot="5400000">
            <a:off x="5666718" y="4011926"/>
            <a:ext cx="4817292" cy="2"/>
          </a:xfrm>
          <a:prstGeom prst="bentConnector3">
            <a:avLst>
              <a:gd name="adj1" fmla="val 50000"/>
            </a:avLst>
          </a:prstGeom>
          <a:ln>
            <a:headEnd w="sm" len="sm"/>
            <a:tailEnd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="" xmlns:a16="http://schemas.microsoft.com/office/drawing/2014/main" id="{88D315AC-F840-4A76-B291-7E9E5689F019}"/>
              </a:ext>
            </a:extLst>
          </p:cNvPr>
          <p:cNvGrpSpPr/>
          <p:nvPr/>
        </p:nvGrpSpPr>
        <p:grpSpPr>
          <a:xfrm>
            <a:off x="4120816" y="2216196"/>
            <a:ext cx="524224" cy="492293"/>
            <a:chOff x="4114987" y="3405648"/>
            <a:chExt cx="697742" cy="720765"/>
          </a:xfrm>
        </p:grpSpPr>
        <p:sp>
          <p:nvSpPr>
            <p:cNvPr id="71" name="Oval 70">
              <a:extLst>
                <a:ext uri="{FF2B5EF4-FFF2-40B4-BE49-F238E27FC236}">
                  <a16:creationId xmlns="" xmlns:a16="http://schemas.microsoft.com/office/drawing/2014/main" id="{12E951A9-E49F-49C8-8CD6-F632297838E2}"/>
                </a:ext>
              </a:extLst>
            </p:cNvPr>
            <p:cNvSpPr/>
            <p:nvPr/>
          </p:nvSpPr>
          <p:spPr>
            <a:xfrm>
              <a:off x="4114987" y="3405648"/>
              <a:ext cx="697742" cy="720765"/>
            </a:xfrm>
            <a:prstGeom prst="ellipse">
              <a:avLst/>
            </a:prstGeom>
            <a:solidFill>
              <a:srgbClr val="476DB6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bject 26">
              <a:extLst>
                <a:ext uri="{FF2B5EF4-FFF2-40B4-BE49-F238E27FC236}">
                  <a16:creationId xmlns="" xmlns:a16="http://schemas.microsoft.com/office/drawing/2014/main" id="{F79A0B88-DBA5-41DF-80C7-99ADE3F28A25}"/>
                </a:ext>
              </a:extLst>
            </p:cNvPr>
            <p:cNvSpPr txBox="1"/>
            <p:nvPr/>
          </p:nvSpPr>
          <p:spPr>
            <a:xfrm>
              <a:off x="4162110" y="3648250"/>
              <a:ext cx="650619" cy="287268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x-none" sz="1200" b="1" i="0" u="none" strike="noStrike" kern="1200" cap="none" spc="-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37</a:t>
              </a:r>
              <a:r>
                <a:rPr kumimoji="0" lang="it-IT" sz="1200" b="1" i="0" u="none" strike="noStrike" kern="1200" cap="none" spc="-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,</a:t>
              </a:r>
              <a:r>
                <a:rPr kumimoji="0" lang="x-none" sz="1200" b="1" i="0" u="none" strike="noStrike" kern="1200" cap="none" spc="-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5%</a:t>
              </a:r>
              <a:endParaRPr kumimoji="0" lang="x-none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D8A20E80-345E-41DC-8A01-5EE316C3F685}"/>
              </a:ext>
            </a:extLst>
          </p:cNvPr>
          <p:cNvGrpSpPr/>
          <p:nvPr/>
        </p:nvGrpSpPr>
        <p:grpSpPr>
          <a:xfrm>
            <a:off x="8207102" y="2216196"/>
            <a:ext cx="947177" cy="492293"/>
            <a:chOff x="8231104" y="3429000"/>
            <a:chExt cx="1260693" cy="720765"/>
          </a:xfrm>
        </p:grpSpPr>
        <p:sp>
          <p:nvSpPr>
            <p:cNvPr id="72" name="Oval 71">
              <a:extLst>
                <a:ext uri="{FF2B5EF4-FFF2-40B4-BE49-F238E27FC236}">
                  <a16:creationId xmlns="" xmlns:a16="http://schemas.microsoft.com/office/drawing/2014/main" id="{8CE11E74-D3E0-43E3-86B3-D1F1D6BF2C1A}"/>
                </a:ext>
              </a:extLst>
            </p:cNvPr>
            <p:cNvSpPr/>
            <p:nvPr/>
          </p:nvSpPr>
          <p:spPr>
            <a:xfrm>
              <a:off x="8231104" y="3429000"/>
              <a:ext cx="697742" cy="720765"/>
            </a:xfrm>
            <a:prstGeom prst="ellipse">
              <a:avLst/>
            </a:prstGeom>
            <a:solidFill>
              <a:srgbClr val="476DB6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object 26">
              <a:extLst>
                <a:ext uri="{FF2B5EF4-FFF2-40B4-BE49-F238E27FC236}">
                  <a16:creationId xmlns="" xmlns:a16="http://schemas.microsoft.com/office/drawing/2014/main" id="{5A7C6395-4786-4385-9E88-D2DD9A5D5F85}"/>
                </a:ext>
              </a:extLst>
            </p:cNvPr>
            <p:cNvSpPr txBox="1"/>
            <p:nvPr/>
          </p:nvSpPr>
          <p:spPr>
            <a:xfrm>
              <a:off x="8396204" y="3648252"/>
              <a:ext cx="1095593" cy="287268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b="1" i="0" u="none" strike="noStrike" kern="1200" cap="none" spc="-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40</a:t>
              </a:r>
              <a:r>
                <a:rPr kumimoji="0" lang="x-none" sz="1200" b="1" i="0" u="none" strike="noStrike" kern="1200" cap="none" spc="-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%</a:t>
              </a:r>
              <a:endParaRPr kumimoji="0" lang="x-none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="" xmlns:a16="http://schemas.microsoft.com/office/drawing/2014/main" id="{6E0BE55B-04E3-49F7-B9D8-2F33F9614AA5}"/>
              </a:ext>
            </a:extLst>
          </p:cNvPr>
          <p:cNvSpPr txBox="1"/>
          <p:nvPr/>
        </p:nvSpPr>
        <p:spPr>
          <a:xfrm>
            <a:off x="4898893" y="2252776"/>
            <a:ext cx="30621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dello stanziamento totale è per obiettivi climatici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="" xmlns:a16="http://schemas.microsoft.com/office/drawing/2014/main" id="{FFD84115-2F62-4ED7-85DF-59BD00D45268}"/>
              </a:ext>
            </a:extLst>
          </p:cNvPr>
          <p:cNvSpPr txBox="1"/>
          <p:nvPr/>
        </p:nvSpPr>
        <p:spPr>
          <a:xfrm>
            <a:off x="8991287" y="2252776"/>
            <a:ext cx="31550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delle risorse territorializzabili è dedicate al Mezzogiorno</a:t>
            </a:r>
          </a:p>
        </p:txBody>
      </p:sp>
      <p:sp>
        <p:nvSpPr>
          <p:cNvPr id="84" name="Rettangolo 46">
            <a:extLst>
              <a:ext uri="{FF2B5EF4-FFF2-40B4-BE49-F238E27FC236}">
                <a16:creationId xmlns="" xmlns:a16="http://schemas.microsoft.com/office/drawing/2014/main" id="{B831E3AB-0672-45C0-A8EE-9C7F700D6C4D}"/>
              </a:ext>
            </a:extLst>
          </p:cNvPr>
          <p:cNvSpPr/>
          <p:nvPr/>
        </p:nvSpPr>
        <p:spPr>
          <a:xfrm>
            <a:off x="4732795" y="3156159"/>
            <a:ext cx="2891754" cy="40250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Nessuna misura del piano arreca danno agli obiettivi ambientali</a:t>
            </a:r>
          </a:p>
        </p:txBody>
      </p:sp>
      <p:grpSp>
        <p:nvGrpSpPr>
          <p:cNvPr id="85" name="Group 114">
            <a:extLst>
              <a:ext uri="{FF2B5EF4-FFF2-40B4-BE49-F238E27FC236}">
                <a16:creationId xmlns="" xmlns:a16="http://schemas.microsoft.com/office/drawing/2014/main" id="{44636F2C-6825-4AFB-B15F-EB6A9C7A9E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62869" y="2920719"/>
            <a:ext cx="330635" cy="329862"/>
            <a:chOff x="3629" y="1924"/>
            <a:chExt cx="427" cy="426"/>
          </a:xfrm>
          <a:solidFill>
            <a:srgbClr val="476DB6"/>
          </a:solidFill>
        </p:grpSpPr>
        <p:sp>
          <p:nvSpPr>
            <p:cNvPr id="86" name="Freeform 115">
              <a:extLst>
                <a:ext uri="{FF2B5EF4-FFF2-40B4-BE49-F238E27FC236}">
                  <a16:creationId xmlns="" xmlns:a16="http://schemas.microsoft.com/office/drawing/2014/main" id="{905293B7-BD68-44EA-9D0E-9DD94C8C79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5" y="2011"/>
              <a:ext cx="141" cy="146"/>
            </a:xfrm>
            <a:custGeom>
              <a:avLst/>
              <a:gdLst>
                <a:gd name="T0" fmla="*/ 43 w 95"/>
                <a:gd name="T1" fmla="*/ 98 h 98"/>
                <a:gd name="T2" fmla="*/ 39 w 95"/>
                <a:gd name="T3" fmla="*/ 98 h 98"/>
                <a:gd name="T4" fmla="*/ 15 w 95"/>
                <a:gd name="T5" fmla="*/ 76 h 98"/>
                <a:gd name="T6" fmla="*/ 0 w 95"/>
                <a:gd name="T7" fmla="*/ 51 h 98"/>
                <a:gd name="T8" fmla="*/ 17 w 95"/>
                <a:gd name="T9" fmla="*/ 25 h 98"/>
                <a:gd name="T10" fmla="*/ 17 w 95"/>
                <a:gd name="T11" fmla="*/ 25 h 98"/>
                <a:gd name="T12" fmla="*/ 44 w 95"/>
                <a:gd name="T13" fmla="*/ 14 h 98"/>
                <a:gd name="T14" fmla="*/ 75 w 95"/>
                <a:gd name="T15" fmla="*/ 1 h 98"/>
                <a:gd name="T16" fmla="*/ 80 w 95"/>
                <a:gd name="T17" fmla="*/ 0 h 98"/>
                <a:gd name="T18" fmla="*/ 84 w 95"/>
                <a:gd name="T19" fmla="*/ 4 h 98"/>
                <a:gd name="T20" fmla="*/ 72 w 95"/>
                <a:gd name="T21" fmla="*/ 84 h 98"/>
                <a:gd name="T22" fmla="*/ 43 w 95"/>
                <a:gd name="T23" fmla="*/ 98 h 98"/>
                <a:gd name="T24" fmla="*/ 24 w 95"/>
                <a:gd name="T25" fmla="*/ 35 h 98"/>
                <a:gd name="T26" fmla="*/ 12 w 95"/>
                <a:gd name="T27" fmla="*/ 51 h 98"/>
                <a:gd name="T28" fmla="*/ 24 w 95"/>
                <a:gd name="T29" fmla="*/ 67 h 98"/>
                <a:gd name="T30" fmla="*/ 26 w 95"/>
                <a:gd name="T31" fmla="*/ 70 h 98"/>
                <a:gd name="T32" fmla="*/ 41 w 95"/>
                <a:gd name="T33" fmla="*/ 86 h 98"/>
                <a:gd name="T34" fmla="*/ 63 w 95"/>
                <a:gd name="T35" fmla="*/ 76 h 98"/>
                <a:gd name="T36" fmla="*/ 75 w 95"/>
                <a:gd name="T37" fmla="*/ 15 h 98"/>
                <a:gd name="T38" fmla="*/ 47 w 95"/>
                <a:gd name="T39" fmla="*/ 26 h 98"/>
                <a:gd name="T40" fmla="*/ 24 w 95"/>
                <a:gd name="T41" fmla="*/ 35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5" h="98">
                  <a:moveTo>
                    <a:pt x="43" y="98"/>
                  </a:moveTo>
                  <a:cubicBezTo>
                    <a:pt x="42" y="98"/>
                    <a:pt x="40" y="98"/>
                    <a:pt x="39" y="98"/>
                  </a:cubicBezTo>
                  <a:cubicBezTo>
                    <a:pt x="32" y="97"/>
                    <a:pt x="22" y="92"/>
                    <a:pt x="15" y="76"/>
                  </a:cubicBezTo>
                  <a:cubicBezTo>
                    <a:pt x="3" y="67"/>
                    <a:pt x="0" y="58"/>
                    <a:pt x="0" y="51"/>
                  </a:cubicBezTo>
                  <a:cubicBezTo>
                    <a:pt x="0" y="42"/>
                    <a:pt x="6" y="32"/>
                    <a:pt x="17" y="25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26" y="19"/>
                    <a:pt x="35" y="17"/>
                    <a:pt x="44" y="14"/>
                  </a:cubicBezTo>
                  <a:cubicBezTo>
                    <a:pt x="54" y="12"/>
                    <a:pt x="64" y="9"/>
                    <a:pt x="75" y="1"/>
                  </a:cubicBezTo>
                  <a:cubicBezTo>
                    <a:pt x="76" y="0"/>
                    <a:pt x="78" y="0"/>
                    <a:pt x="80" y="0"/>
                  </a:cubicBezTo>
                  <a:cubicBezTo>
                    <a:pt x="81" y="1"/>
                    <a:pt x="83" y="2"/>
                    <a:pt x="84" y="4"/>
                  </a:cubicBezTo>
                  <a:cubicBezTo>
                    <a:pt x="95" y="28"/>
                    <a:pt x="87" y="69"/>
                    <a:pt x="72" y="84"/>
                  </a:cubicBezTo>
                  <a:cubicBezTo>
                    <a:pt x="63" y="93"/>
                    <a:pt x="53" y="98"/>
                    <a:pt x="43" y="98"/>
                  </a:cubicBezTo>
                  <a:close/>
                  <a:moveTo>
                    <a:pt x="24" y="35"/>
                  </a:moveTo>
                  <a:cubicBezTo>
                    <a:pt x="17" y="40"/>
                    <a:pt x="12" y="46"/>
                    <a:pt x="12" y="51"/>
                  </a:cubicBezTo>
                  <a:cubicBezTo>
                    <a:pt x="12" y="58"/>
                    <a:pt x="19" y="64"/>
                    <a:pt x="24" y="67"/>
                  </a:cubicBezTo>
                  <a:cubicBezTo>
                    <a:pt x="25" y="68"/>
                    <a:pt x="25" y="69"/>
                    <a:pt x="26" y="70"/>
                  </a:cubicBezTo>
                  <a:cubicBezTo>
                    <a:pt x="30" y="80"/>
                    <a:pt x="35" y="85"/>
                    <a:pt x="41" y="86"/>
                  </a:cubicBezTo>
                  <a:cubicBezTo>
                    <a:pt x="49" y="88"/>
                    <a:pt x="58" y="82"/>
                    <a:pt x="63" y="76"/>
                  </a:cubicBezTo>
                  <a:cubicBezTo>
                    <a:pt x="74" y="65"/>
                    <a:pt x="80" y="35"/>
                    <a:pt x="75" y="15"/>
                  </a:cubicBezTo>
                  <a:cubicBezTo>
                    <a:pt x="65" y="21"/>
                    <a:pt x="56" y="24"/>
                    <a:pt x="47" y="26"/>
                  </a:cubicBezTo>
                  <a:cubicBezTo>
                    <a:pt x="39" y="28"/>
                    <a:pt x="31" y="30"/>
                    <a:pt x="24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Freeform 116">
              <a:extLst>
                <a:ext uri="{FF2B5EF4-FFF2-40B4-BE49-F238E27FC236}">
                  <a16:creationId xmlns="" xmlns:a16="http://schemas.microsoft.com/office/drawing/2014/main" id="{39FD583E-697F-4DE3-BA05-6E11B9A54A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90" y="1924"/>
              <a:ext cx="185" cy="200"/>
            </a:xfrm>
            <a:custGeom>
              <a:avLst/>
              <a:gdLst>
                <a:gd name="T0" fmla="*/ 63 w 125"/>
                <a:gd name="T1" fmla="*/ 135 h 135"/>
                <a:gd name="T2" fmla="*/ 26 w 125"/>
                <a:gd name="T3" fmla="*/ 113 h 135"/>
                <a:gd name="T4" fmla="*/ 16 w 125"/>
                <a:gd name="T5" fmla="*/ 3 h 135"/>
                <a:gd name="T6" fmla="*/ 21 w 125"/>
                <a:gd name="T7" fmla="*/ 0 h 135"/>
                <a:gd name="T8" fmla="*/ 26 w 125"/>
                <a:gd name="T9" fmla="*/ 1 h 135"/>
                <a:gd name="T10" fmla="*/ 66 w 125"/>
                <a:gd name="T11" fmla="*/ 20 h 135"/>
                <a:gd name="T12" fmla="*/ 108 w 125"/>
                <a:gd name="T13" fmla="*/ 43 h 135"/>
                <a:gd name="T14" fmla="*/ 122 w 125"/>
                <a:gd name="T15" fmla="*/ 82 h 135"/>
                <a:gd name="T16" fmla="*/ 95 w 125"/>
                <a:gd name="T17" fmla="*/ 110 h 135"/>
                <a:gd name="T18" fmla="*/ 67 w 125"/>
                <a:gd name="T19" fmla="*/ 135 h 135"/>
                <a:gd name="T20" fmla="*/ 63 w 125"/>
                <a:gd name="T21" fmla="*/ 135 h 135"/>
                <a:gd name="T22" fmla="*/ 24 w 125"/>
                <a:gd name="T23" fmla="*/ 15 h 135"/>
                <a:gd name="T24" fmla="*/ 35 w 125"/>
                <a:gd name="T25" fmla="*/ 105 h 135"/>
                <a:gd name="T26" fmla="*/ 65 w 125"/>
                <a:gd name="T27" fmla="*/ 123 h 135"/>
                <a:gd name="T28" fmla="*/ 85 w 125"/>
                <a:gd name="T29" fmla="*/ 103 h 135"/>
                <a:gd name="T30" fmla="*/ 88 w 125"/>
                <a:gd name="T31" fmla="*/ 100 h 135"/>
                <a:gd name="T32" fmla="*/ 110 w 125"/>
                <a:gd name="T33" fmla="*/ 79 h 135"/>
                <a:gd name="T34" fmla="*/ 99 w 125"/>
                <a:gd name="T35" fmla="*/ 51 h 135"/>
                <a:gd name="T36" fmla="*/ 99 w 125"/>
                <a:gd name="T37" fmla="*/ 51 h 135"/>
                <a:gd name="T38" fmla="*/ 63 w 125"/>
                <a:gd name="T39" fmla="*/ 32 h 135"/>
                <a:gd name="T40" fmla="*/ 24 w 125"/>
                <a:gd name="T41" fmla="*/ 1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5" h="135">
                  <a:moveTo>
                    <a:pt x="63" y="135"/>
                  </a:moveTo>
                  <a:cubicBezTo>
                    <a:pt x="51" y="135"/>
                    <a:pt x="38" y="127"/>
                    <a:pt x="26" y="113"/>
                  </a:cubicBezTo>
                  <a:cubicBezTo>
                    <a:pt x="8" y="91"/>
                    <a:pt x="0" y="34"/>
                    <a:pt x="16" y="3"/>
                  </a:cubicBezTo>
                  <a:cubicBezTo>
                    <a:pt x="17" y="2"/>
                    <a:pt x="19" y="0"/>
                    <a:pt x="21" y="0"/>
                  </a:cubicBezTo>
                  <a:cubicBezTo>
                    <a:pt x="22" y="0"/>
                    <a:pt x="24" y="0"/>
                    <a:pt x="26" y="1"/>
                  </a:cubicBezTo>
                  <a:cubicBezTo>
                    <a:pt x="38" y="12"/>
                    <a:pt x="52" y="16"/>
                    <a:pt x="66" y="20"/>
                  </a:cubicBezTo>
                  <a:cubicBezTo>
                    <a:pt x="82" y="25"/>
                    <a:pt x="97" y="30"/>
                    <a:pt x="108" y="43"/>
                  </a:cubicBezTo>
                  <a:cubicBezTo>
                    <a:pt x="120" y="57"/>
                    <a:pt x="125" y="70"/>
                    <a:pt x="122" y="82"/>
                  </a:cubicBezTo>
                  <a:cubicBezTo>
                    <a:pt x="119" y="93"/>
                    <a:pt x="110" y="103"/>
                    <a:pt x="95" y="110"/>
                  </a:cubicBezTo>
                  <a:cubicBezTo>
                    <a:pt x="88" y="125"/>
                    <a:pt x="78" y="133"/>
                    <a:pt x="67" y="135"/>
                  </a:cubicBezTo>
                  <a:cubicBezTo>
                    <a:pt x="66" y="135"/>
                    <a:pt x="64" y="135"/>
                    <a:pt x="63" y="135"/>
                  </a:cubicBezTo>
                  <a:close/>
                  <a:moveTo>
                    <a:pt x="24" y="15"/>
                  </a:moveTo>
                  <a:cubicBezTo>
                    <a:pt x="14" y="43"/>
                    <a:pt x="21" y="88"/>
                    <a:pt x="35" y="105"/>
                  </a:cubicBezTo>
                  <a:cubicBezTo>
                    <a:pt x="46" y="118"/>
                    <a:pt x="57" y="124"/>
                    <a:pt x="65" y="123"/>
                  </a:cubicBezTo>
                  <a:cubicBezTo>
                    <a:pt x="73" y="122"/>
                    <a:pt x="79" y="115"/>
                    <a:pt x="85" y="103"/>
                  </a:cubicBezTo>
                  <a:cubicBezTo>
                    <a:pt x="85" y="101"/>
                    <a:pt x="86" y="100"/>
                    <a:pt x="88" y="100"/>
                  </a:cubicBezTo>
                  <a:cubicBezTo>
                    <a:pt x="101" y="94"/>
                    <a:pt x="108" y="87"/>
                    <a:pt x="110" y="79"/>
                  </a:cubicBezTo>
                  <a:cubicBezTo>
                    <a:pt x="112" y="69"/>
                    <a:pt x="105" y="58"/>
                    <a:pt x="99" y="51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90" y="40"/>
                    <a:pt x="77" y="36"/>
                    <a:pt x="63" y="32"/>
                  </a:cubicBezTo>
                  <a:cubicBezTo>
                    <a:pt x="51" y="28"/>
                    <a:pt x="37" y="24"/>
                    <a:pt x="2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Freeform 117">
              <a:extLst>
                <a:ext uri="{FF2B5EF4-FFF2-40B4-BE49-F238E27FC236}">
                  <a16:creationId xmlns="" xmlns:a16="http://schemas.microsoft.com/office/drawing/2014/main" id="{CFCA0BA8-7A7B-47E1-8374-6B397468C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8" y="1986"/>
              <a:ext cx="212" cy="203"/>
            </a:xfrm>
            <a:custGeom>
              <a:avLst/>
              <a:gdLst>
                <a:gd name="T0" fmla="*/ 82 w 143"/>
                <a:gd name="T1" fmla="*/ 137 h 137"/>
                <a:gd name="T2" fmla="*/ 82 w 143"/>
                <a:gd name="T3" fmla="*/ 137 h 137"/>
                <a:gd name="T4" fmla="*/ 76 w 143"/>
                <a:gd name="T5" fmla="*/ 132 h 137"/>
                <a:gd name="T6" fmla="*/ 3 w 143"/>
                <a:gd name="T7" fmla="*/ 11 h 137"/>
                <a:gd name="T8" fmla="*/ 3 w 143"/>
                <a:gd name="T9" fmla="*/ 3 h 137"/>
                <a:gd name="T10" fmla="*/ 11 w 143"/>
                <a:gd name="T11" fmla="*/ 2 h 137"/>
                <a:gd name="T12" fmla="*/ 84 w 143"/>
                <a:gd name="T13" fmla="*/ 114 h 137"/>
                <a:gd name="T14" fmla="*/ 134 w 143"/>
                <a:gd name="T15" fmla="*/ 60 h 137"/>
                <a:gd name="T16" fmla="*/ 142 w 143"/>
                <a:gd name="T17" fmla="*/ 62 h 137"/>
                <a:gd name="T18" fmla="*/ 139 w 143"/>
                <a:gd name="T19" fmla="*/ 70 h 137"/>
                <a:gd name="T20" fmla="*/ 88 w 143"/>
                <a:gd name="T21" fmla="*/ 133 h 137"/>
                <a:gd name="T22" fmla="*/ 82 w 143"/>
                <a:gd name="T23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3" h="137">
                  <a:moveTo>
                    <a:pt x="82" y="137"/>
                  </a:moveTo>
                  <a:cubicBezTo>
                    <a:pt x="82" y="137"/>
                    <a:pt x="82" y="137"/>
                    <a:pt x="82" y="137"/>
                  </a:cubicBezTo>
                  <a:cubicBezTo>
                    <a:pt x="79" y="137"/>
                    <a:pt x="77" y="135"/>
                    <a:pt x="76" y="132"/>
                  </a:cubicBezTo>
                  <a:cubicBezTo>
                    <a:pt x="76" y="132"/>
                    <a:pt x="61" y="63"/>
                    <a:pt x="3" y="11"/>
                  </a:cubicBezTo>
                  <a:cubicBezTo>
                    <a:pt x="1" y="9"/>
                    <a:pt x="0" y="5"/>
                    <a:pt x="3" y="3"/>
                  </a:cubicBezTo>
                  <a:cubicBezTo>
                    <a:pt x="5" y="0"/>
                    <a:pt x="9" y="0"/>
                    <a:pt x="11" y="2"/>
                  </a:cubicBezTo>
                  <a:cubicBezTo>
                    <a:pt x="55" y="42"/>
                    <a:pt x="75" y="90"/>
                    <a:pt x="84" y="114"/>
                  </a:cubicBezTo>
                  <a:cubicBezTo>
                    <a:pt x="92" y="98"/>
                    <a:pt x="109" y="72"/>
                    <a:pt x="134" y="60"/>
                  </a:cubicBezTo>
                  <a:cubicBezTo>
                    <a:pt x="137" y="58"/>
                    <a:pt x="140" y="59"/>
                    <a:pt x="142" y="62"/>
                  </a:cubicBezTo>
                  <a:cubicBezTo>
                    <a:pt x="143" y="65"/>
                    <a:pt x="142" y="69"/>
                    <a:pt x="139" y="70"/>
                  </a:cubicBezTo>
                  <a:cubicBezTo>
                    <a:pt x="105" y="87"/>
                    <a:pt x="88" y="133"/>
                    <a:pt x="88" y="133"/>
                  </a:cubicBezTo>
                  <a:cubicBezTo>
                    <a:pt x="87" y="135"/>
                    <a:pt x="85" y="137"/>
                    <a:pt x="82" y="1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Freeform 118">
              <a:extLst>
                <a:ext uri="{FF2B5EF4-FFF2-40B4-BE49-F238E27FC236}">
                  <a16:creationId xmlns="" xmlns:a16="http://schemas.microsoft.com/office/drawing/2014/main" id="{09CF1294-E4BC-465E-B8DB-F959EF5828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9" y="2173"/>
              <a:ext cx="89" cy="160"/>
            </a:xfrm>
            <a:custGeom>
              <a:avLst/>
              <a:gdLst>
                <a:gd name="T0" fmla="*/ 54 w 60"/>
                <a:gd name="T1" fmla="*/ 108 h 108"/>
                <a:gd name="T2" fmla="*/ 6 w 60"/>
                <a:gd name="T3" fmla="*/ 108 h 108"/>
                <a:gd name="T4" fmla="*/ 0 w 60"/>
                <a:gd name="T5" fmla="*/ 102 h 108"/>
                <a:gd name="T6" fmla="*/ 0 w 60"/>
                <a:gd name="T7" fmla="*/ 6 h 108"/>
                <a:gd name="T8" fmla="*/ 6 w 60"/>
                <a:gd name="T9" fmla="*/ 0 h 108"/>
                <a:gd name="T10" fmla="*/ 54 w 60"/>
                <a:gd name="T11" fmla="*/ 0 h 108"/>
                <a:gd name="T12" fmla="*/ 60 w 60"/>
                <a:gd name="T13" fmla="*/ 6 h 108"/>
                <a:gd name="T14" fmla="*/ 60 w 60"/>
                <a:gd name="T15" fmla="*/ 102 h 108"/>
                <a:gd name="T16" fmla="*/ 54 w 60"/>
                <a:gd name="T17" fmla="*/ 108 h 108"/>
                <a:gd name="T18" fmla="*/ 12 w 60"/>
                <a:gd name="T19" fmla="*/ 96 h 108"/>
                <a:gd name="T20" fmla="*/ 48 w 60"/>
                <a:gd name="T21" fmla="*/ 96 h 108"/>
                <a:gd name="T22" fmla="*/ 48 w 60"/>
                <a:gd name="T23" fmla="*/ 12 h 108"/>
                <a:gd name="T24" fmla="*/ 12 w 60"/>
                <a:gd name="T25" fmla="*/ 12 h 108"/>
                <a:gd name="T26" fmla="*/ 12 w 60"/>
                <a:gd name="T2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108">
                  <a:moveTo>
                    <a:pt x="54" y="108"/>
                  </a:moveTo>
                  <a:cubicBezTo>
                    <a:pt x="6" y="108"/>
                    <a:pt x="6" y="108"/>
                    <a:pt x="6" y="108"/>
                  </a:cubicBezTo>
                  <a:cubicBezTo>
                    <a:pt x="3" y="108"/>
                    <a:pt x="0" y="105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2"/>
                    <a:pt x="60" y="102"/>
                    <a:pt x="60" y="102"/>
                  </a:cubicBezTo>
                  <a:cubicBezTo>
                    <a:pt x="60" y="105"/>
                    <a:pt x="58" y="108"/>
                    <a:pt x="54" y="108"/>
                  </a:cubicBezTo>
                  <a:close/>
                  <a:moveTo>
                    <a:pt x="12" y="96"/>
                  </a:moveTo>
                  <a:cubicBezTo>
                    <a:pt x="48" y="96"/>
                    <a:pt x="48" y="96"/>
                    <a:pt x="48" y="96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Freeform 119">
              <a:extLst>
                <a:ext uri="{FF2B5EF4-FFF2-40B4-BE49-F238E27FC236}">
                  <a16:creationId xmlns="" xmlns:a16="http://schemas.microsoft.com/office/drawing/2014/main" id="{2F7DB775-ADE6-4DDD-AC0E-22780BB89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2221"/>
              <a:ext cx="357" cy="129"/>
            </a:xfrm>
            <a:custGeom>
              <a:avLst/>
              <a:gdLst>
                <a:gd name="T0" fmla="*/ 106 w 241"/>
                <a:gd name="T1" fmla="*/ 87 h 87"/>
                <a:gd name="T2" fmla="*/ 45 w 241"/>
                <a:gd name="T3" fmla="*/ 71 h 87"/>
                <a:gd name="T4" fmla="*/ 5 w 241"/>
                <a:gd name="T5" fmla="*/ 58 h 87"/>
                <a:gd name="T6" fmla="*/ 2 w 241"/>
                <a:gd name="T7" fmla="*/ 50 h 87"/>
                <a:gd name="T8" fmla="*/ 9 w 241"/>
                <a:gd name="T9" fmla="*/ 46 h 87"/>
                <a:gd name="T10" fmla="*/ 49 w 241"/>
                <a:gd name="T11" fmla="*/ 60 h 87"/>
                <a:gd name="T12" fmla="*/ 169 w 241"/>
                <a:gd name="T13" fmla="*/ 50 h 87"/>
                <a:gd name="T14" fmla="*/ 225 w 241"/>
                <a:gd name="T15" fmla="*/ 21 h 87"/>
                <a:gd name="T16" fmla="*/ 201 w 241"/>
                <a:gd name="T17" fmla="*/ 16 h 87"/>
                <a:gd name="T18" fmla="*/ 148 w 241"/>
                <a:gd name="T19" fmla="*/ 33 h 87"/>
                <a:gd name="T20" fmla="*/ 140 w 241"/>
                <a:gd name="T21" fmla="*/ 29 h 87"/>
                <a:gd name="T22" fmla="*/ 144 w 241"/>
                <a:gd name="T23" fmla="*/ 22 h 87"/>
                <a:gd name="T24" fmla="*/ 197 w 241"/>
                <a:gd name="T25" fmla="*/ 4 h 87"/>
                <a:gd name="T26" fmla="*/ 239 w 241"/>
                <a:gd name="T27" fmla="*/ 18 h 87"/>
                <a:gd name="T28" fmla="*/ 241 w 241"/>
                <a:gd name="T29" fmla="*/ 23 h 87"/>
                <a:gd name="T30" fmla="*/ 238 w 241"/>
                <a:gd name="T31" fmla="*/ 27 h 87"/>
                <a:gd name="T32" fmla="*/ 175 w 241"/>
                <a:gd name="T33" fmla="*/ 60 h 87"/>
                <a:gd name="T34" fmla="*/ 106 w 241"/>
                <a:gd name="T3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1" h="87">
                  <a:moveTo>
                    <a:pt x="106" y="87"/>
                  </a:moveTo>
                  <a:cubicBezTo>
                    <a:pt x="91" y="87"/>
                    <a:pt x="74" y="82"/>
                    <a:pt x="45" y="71"/>
                  </a:cubicBezTo>
                  <a:cubicBezTo>
                    <a:pt x="34" y="67"/>
                    <a:pt x="21" y="63"/>
                    <a:pt x="5" y="58"/>
                  </a:cubicBezTo>
                  <a:cubicBezTo>
                    <a:pt x="2" y="57"/>
                    <a:pt x="0" y="53"/>
                    <a:pt x="2" y="50"/>
                  </a:cubicBezTo>
                  <a:cubicBezTo>
                    <a:pt x="3" y="47"/>
                    <a:pt x="6" y="45"/>
                    <a:pt x="9" y="46"/>
                  </a:cubicBezTo>
                  <a:cubicBezTo>
                    <a:pt x="25" y="51"/>
                    <a:pt x="37" y="56"/>
                    <a:pt x="49" y="60"/>
                  </a:cubicBezTo>
                  <a:cubicBezTo>
                    <a:pt x="110" y="81"/>
                    <a:pt x="110" y="81"/>
                    <a:pt x="169" y="50"/>
                  </a:cubicBezTo>
                  <a:cubicBezTo>
                    <a:pt x="184" y="42"/>
                    <a:pt x="202" y="32"/>
                    <a:pt x="225" y="21"/>
                  </a:cubicBezTo>
                  <a:cubicBezTo>
                    <a:pt x="216" y="14"/>
                    <a:pt x="209" y="13"/>
                    <a:pt x="201" y="16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45" y="34"/>
                    <a:pt x="141" y="33"/>
                    <a:pt x="140" y="29"/>
                  </a:cubicBezTo>
                  <a:cubicBezTo>
                    <a:pt x="139" y="26"/>
                    <a:pt x="141" y="23"/>
                    <a:pt x="144" y="22"/>
                  </a:cubicBezTo>
                  <a:cubicBezTo>
                    <a:pt x="197" y="4"/>
                    <a:pt x="197" y="4"/>
                    <a:pt x="197" y="4"/>
                  </a:cubicBezTo>
                  <a:cubicBezTo>
                    <a:pt x="213" y="0"/>
                    <a:pt x="225" y="4"/>
                    <a:pt x="239" y="18"/>
                  </a:cubicBezTo>
                  <a:cubicBezTo>
                    <a:pt x="241" y="19"/>
                    <a:pt x="241" y="21"/>
                    <a:pt x="241" y="23"/>
                  </a:cubicBezTo>
                  <a:cubicBezTo>
                    <a:pt x="241" y="25"/>
                    <a:pt x="240" y="26"/>
                    <a:pt x="238" y="27"/>
                  </a:cubicBezTo>
                  <a:cubicBezTo>
                    <a:pt x="211" y="41"/>
                    <a:pt x="191" y="52"/>
                    <a:pt x="175" y="60"/>
                  </a:cubicBezTo>
                  <a:cubicBezTo>
                    <a:pt x="140" y="79"/>
                    <a:pt x="124" y="87"/>
                    <a:pt x="106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Freeform 120">
              <a:extLst>
                <a:ext uri="{FF2B5EF4-FFF2-40B4-BE49-F238E27FC236}">
                  <a16:creationId xmlns="" xmlns:a16="http://schemas.microsoft.com/office/drawing/2014/main" id="{5E6C1132-E6C1-409C-96D3-6DEE13FA6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2191"/>
              <a:ext cx="227" cy="89"/>
            </a:xfrm>
            <a:custGeom>
              <a:avLst/>
              <a:gdLst>
                <a:gd name="T0" fmla="*/ 132 w 153"/>
                <a:gd name="T1" fmla="*/ 60 h 60"/>
                <a:gd name="T2" fmla="*/ 66 w 153"/>
                <a:gd name="T3" fmla="*/ 60 h 60"/>
                <a:gd name="T4" fmla="*/ 60 w 153"/>
                <a:gd name="T5" fmla="*/ 54 h 60"/>
                <a:gd name="T6" fmla="*/ 66 w 153"/>
                <a:gd name="T7" fmla="*/ 48 h 60"/>
                <a:gd name="T8" fmla="*/ 132 w 153"/>
                <a:gd name="T9" fmla="*/ 48 h 60"/>
                <a:gd name="T10" fmla="*/ 141 w 153"/>
                <a:gd name="T11" fmla="*/ 42 h 60"/>
                <a:gd name="T12" fmla="*/ 132 w 153"/>
                <a:gd name="T13" fmla="*/ 36 h 60"/>
                <a:gd name="T14" fmla="*/ 96 w 153"/>
                <a:gd name="T15" fmla="*/ 36 h 60"/>
                <a:gd name="T16" fmla="*/ 92 w 153"/>
                <a:gd name="T17" fmla="*/ 34 h 60"/>
                <a:gd name="T18" fmla="*/ 42 w 153"/>
                <a:gd name="T19" fmla="*/ 12 h 60"/>
                <a:gd name="T20" fmla="*/ 6 w 153"/>
                <a:gd name="T21" fmla="*/ 12 h 60"/>
                <a:gd name="T22" fmla="*/ 0 w 153"/>
                <a:gd name="T23" fmla="*/ 6 h 60"/>
                <a:gd name="T24" fmla="*/ 6 w 153"/>
                <a:gd name="T25" fmla="*/ 0 h 60"/>
                <a:gd name="T26" fmla="*/ 42 w 153"/>
                <a:gd name="T27" fmla="*/ 0 h 60"/>
                <a:gd name="T28" fmla="*/ 99 w 153"/>
                <a:gd name="T29" fmla="*/ 24 h 60"/>
                <a:gd name="T30" fmla="*/ 132 w 153"/>
                <a:gd name="T31" fmla="*/ 24 h 60"/>
                <a:gd name="T32" fmla="*/ 153 w 153"/>
                <a:gd name="T33" fmla="*/ 42 h 60"/>
                <a:gd name="T34" fmla="*/ 132 w 153"/>
                <a:gd name="T3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53" h="60">
                  <a:moveTo>
                    <a:pt x="132" y="60"/>
                  </a:moveTo>
                  <a:cubicBezTo>
                    <a:pt x="66" y="60"/>
                    <a:pt x="66" y="60"/>
                    <a:pt x="66" y="60"/>
                  </a:cubicBezTo>
                  <a:cubicBezTo>
                    <a:pt x="63" y="60"/>
                    <a:pt x="60" y="57"/>
                    <a:pt x="60" y="54"/>
                  </a:cubicBezTo>
                  <a:cubicBezTo>
                    <a:pt x="60" y="51"/>
                    <a:pt x="63" y="48"/>
                    <a:pt x="66" y="48"/>
                  </a:cubicBezTo>
                  <a:cubicBezTo>
                    <a:pt x="132" y="48"/>
                    <a:pt x="132" y="48"/>
                    <a:pt x="132" y="48"/>
                  </a:cubicBezTo>
                  <a:cubicBezTo>
                    <a:pt x="138" y="48"/>
                    <a:pt x="141" y="45"/>
                    <a:pt x="141" y="42"/>
                  </a:cubicBezTo>
                  <a:cubicBezTo>
                    <a:pt x="141" y="39"/>
                    <a:pt x="138" y="36"/>
                    <a:pt x="132" y="36"/>
                  </a:cubicBezTo>
                  <a:cubicBezTo>
                    <a:pt x="96" y="36"/>
                    <a:pt x="96" y="36"/>
                    <a:pt x="96" y="36"/>
                  </a:cubicBezTo>
                  <a:cubicBezTo>
                    <a:pt x="95" y="36"/>
                    <a:pt x="93" y="35"/>
                    <a:pt x="92" y="34"/>
                  </a:cubicBezTo>
                  <a:cubicBezTo>
                    <a:pt x="85" y="27"/>
                    <a:pt x="67" y="12"/>
                    <a:pt x="42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70" y="0"/>
                    <a:pt x="90" y="16"/>
                    <a:pt x="99" y="24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46" y="24"/>
                    <a:pt x="153" y="33"/>
                    <a:pt x="153" y="42"/>
                  </a:cubicBezTo>
                  <a:cubicBezTo>
                    <a:pt x="153" y="51"/>
                    <a:pt x="146" y="60"/>
                    <a:pt x="132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3" name="Rettangolo 71">
            <a:extLst>
              <a:ext uri="{FF2B5EF4-FFF2-40B4-BE49-F238E27FC236}">
                <a16:creationId xmlns="" xmlns:a16="http://schemas.microsoft.com/office/drawing/2014/main" id="{BFB39B77-2C57-4E84-A6E4-FB6936D27FDB}"/>
              </a:ext>
            </a:extLst>
          </p:cNvPr>
          <p:cNvSpPr/>
          <p:nvPr/>
        </p:nvSpPr>
        <p:spPr>
          <a:xfrm>
            <a:off x="4732795" y="4093510"/>
            <a:ext cx="2230290" cy="448244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-5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INVESTIMENTI CHIAVE</a:t>
            </a: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476DB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6" name="Rettangolo 46">
            <a:extLst>
              <a:ext uri="{FF2B5EF4-FFF2-40B4-BE49-F238E27FC236}">
                <a16:creationId xmlns="" xmlns:a16="http://schemas.microsoft.com/office/drawing/2014/main" id="{DE14B7AF-1C02-4184-809A-158BE112FEB7}"/>
              </a:ext>
            </a:extLst>
          </p:cNvPr>
          <p:cNvSpPr/>
          <p:nvPr/>
        </p:nvSpPr>
        <p:spPr>
          <a:xfrm>
            <a:off x="4732795" y="4343885"/>
            <a:ext cx="2998915" cy="104792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Efficienza energetica negli edifici residenziali (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€ 12,1 Mld</a:t>
            </a: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Mobilità sostenibile (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€ 32,1 Mld</a:t>
            </a: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Energia rinnovabile ed economia circolare (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€ 18 Mld</a:t>
            </a: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it-IT" sz="1200" b="1" i="0" u="none" strike="noStrike" kern="1200" cap="none" spc="-5" normalizeH="0" baseline="0" noProof="0">
              <a:ln>
                <a:noFill/>
              </a:ln>
              <a:solidFill>
                <a:srgbClr val="476DB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7" name="Rettangolo 71">
            <a:extLst>
              <a:ext uri="{FF2B5EF4-FFF2-40B4-BE49-F238E27FC236}">
                <a16:creationId xmlns="" xmlns:a16="http://schemas.microsoft.com/office/drawing/2014/main" id="{2232AC8C-AD00-4F46-BB44-35D96285B610}"/>
              </a:ext>
            </a:extLst>
          </p:cNvPr>
          <p:cNvSpPr/>
          <p:nvPr/>
        </p:nvSpPr>
        <p:spPr>
          <a:xfrm>
            <a:off x="4732795" y="2920719"/>
            <a:ext cx="2230290" cy="448244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12700" marR="0" lvl="0" indent="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-5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DNSH</a:t>
            </a: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476DB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100" name="Group 27">
            <a:extLst>
              <a:ext uri="{FF2B5EF4-FFF2-40B4-BE49-F238E27FC236}">
                <a16:creationId xmlns="" xmlns:a16="http://schemas.microsoft.com/office/drawing/2014/main" id="{F5A94F5D-C33B-48B9-987E-84391D8D11F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6320" y="4093510"/>
            <a:ext cx="317184" cy="347197"/>
            <a:chOff x="2615" y="646"/>
            <a:chExt cx="391" cy="428"/>
          </a:xfrm>
          <a:solidFill>
            <a:srgbClr val="476DB6"/>
          </a:solidFill>
        </p:grpSpPr>
        <p:sp>
          <p:nvSpPr>
            <p:cNvPr id="101" name="Freeform 28">
              <a:extLst>
                <a:ext uri="{FF2B5EF4-FFF2-40B4-BE49-F238E27FC236}">
                  <a16:creationId xmlns="" xmlns:a16="http://schemas.microsoft.com/office/drawing/2014/main" id="{AD20F938-940B-4C29-B723-2B68D46CB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3" y="1021"/>
              <a:ext cx="71" cy="53"/>
            </a:xfrm>
            <a:custGeom>
              <a:avLst/>
              <a:gdLst>
                <a:gd name="T0" fmla="*/ 42 w 48"/>
                <a:gd name="T1" fmla="*/ 36 h 36"/>
                <a:gd name="T2" fmla="*/ 6 w 48"/>
                <a:gd name="T3" fmla="*/ 36 h 36"/>
                <a:gd name="T4" fmla="*/ 0 w 48"/>
                <a:gd name="T5" fmla="*/ 30 h 36"/>
                <a:gd name="T6" fmla="*/ 0 w 48"/>
                <a:gd name="T7" fmla="*/ 6 h 36"/>
                <a:gd name="T8" fmla="*/ 6 w 48"/>
                <a:gd name="T9" fmla="*/ 0 h 36"/>
                <a:gd name="T10" fmla="*/ 42 w 48"/>
                <a:gd name="T11" fmla="*/ 0 h 36"/>
                <a:gd name="T12" fmla="*/ 48 w 48"/>
                <a:gd name="T13" fmla="*/ 6 h 36"/>
                <a:gd name="T14" fmla="*/ 48 w 48"/>
                <a:gd name="T15" fmla="*/ 30 h 36"/>
                <a:gd name="T16" fmla="*/ 42 w 48"/>
                <a:gd name="T17" fmla="*/ 36 h 36"/>
                <a:gd name="T18" fmla="*/ 12 w 48"/>
                <a:gd name="T19" fmla="*/ 24 h 36"/>
                <a:gd name="T20" fmla="*/ 36 w 48"/>
                <a:gd name="T21" fmla="*/ 24 h 36"/>
                <a:gd name="T22" fmla="*/ 36 w 48"/>
                <a:gd name="T23" fmla="*/ 12 h 36"/>
                <a:gd name="T24" fmla="*/ 12 w 48"/>
                <a:gd name="T25" fmla="*/ 12 h 36"/>
                <a:gd name="T26" fmla="*/ 12 w 48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36">
                  <a:moveTo>
                    <a:pt x="42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8" y="33"/>
                    <a:pt x="45" y="36"/>
                    <a:pt x="42" y="36"/>
                  </a:cubicBezTo>
                  <a:close/>
                  <a:moveTo>
                    <a:pt x="12" y="24"/>
                  </a:moveTo>
                  <a:cubicBezTo>
                    <a:pt x="36" y="24"/>
                    <a:pt x="36" y="24"/>
                    <a:pt x="36" y="24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 29">
              <a:extLst>
                <a:ext uri="{FF2B5EF4-FFF2-40B4-BE49-F238E27FC236}">
                  <a16:creationId xmlns="" xmlns:a16="http://schemas.microsoft.com/office/drawing/2014/main" id="{A99DA531-638D-473C-BDA7-93D374EC8C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7" y="1021"/>
              <a:ext cx="72" cy="53"/>
            </a:xfrm>
            <a:custGeom>
              <a:avLst/>
              <a:gdLst>
                <a:gd name="T0" fmla="*/ 42 w 48"/>
                <a:gd name="T1" fmla="*/ 36 h 36"/>
                <a:gd name="T2" fmla="*/ 6 w 48"/>
                <a:gd name="T3" fmla="*/ 36 h 36"/>
                <a:gd name="T4" fmla="*/ 0 w 48"/>
                <a:gd name="T5" fmla="*/ 30 h 36"/>
                <a:gd name="T6" fmla="*/ 0 w 48"/>
                <a:gd name="T7" fmla="*/ 6 h 36"/>
                <a:gd name="T8" fmla="*/ 6 w 48"/>
                <a:gd name="T9" fmla="*/ 0 h 36"/>
                <a:gd name="T10" fmla="*/ 42 w 48"/>
                <a:gd name="T11" fmla="*/ 0 h 36"/>
                <a:gd name="T12" fmla="*/ 48 w 48"/>
                <a:gd name="T13" fmla="*/ 6 h 36"/>
                <a:gd name="T14" fmla="*/ 48 w 48"/>
                <a:gd name="T15" fmla="*/ 30 h 36"/>
                <a:gd name="T16" fmla="*/ 42 w 48"/>
                <a:gd name="T17" fmla="*/ 36 h 36"/>
                <a:gd name="T18" fmla="*/ 12 w 48"/>
                <a:gd name="T19" fmla="*/ 24 h 36"/>
                <a:gd name="T20" fmla="*/ 36 w 48"/>
                <a:gd name="T21" fmla="*/ 24 h 36"/>
                <a:gd name="T22" fmla="*/ 36 w 48"/>
                <a:gd name="T23" fmla="*/ 12 h 36"/>
                <a:gd name="T24" fmla="*/ 12 w 48"/>
                <a:gd name="T25" fmla="*/ 12 h 36"/>
                <a:gd name="T26" fmla="*/ 12 w 48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36">
                  <a:moveTo>
                    <a:pt x="42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30"/>
                    <a:pt x="48" y="30"/>
                    <a:pt x="48" y="30"/>
                  </a:cubicBezTo>
                  <a:cubicBezTo>
                    <a:pt x="48" y="33"/>
                    <a:pt x="45" y="36"/>
                    <a:pt x="42" y="36"/>
                  </a:cubicBezTo>
                  <a:close/>
                  <a:moveTo>
                    <a:pt x="12" y="24"/>
                  </a:moveTo>
                  <a:cubicBezTo>
                    <a:pt x="36" y="24"/>
                    <a:pt x="36" y="24"/>
                    <a:pt x="36" y="24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 30">
              <a:extLst>
                <a:ext uri="{FF2B5EF4-FFF2-40B4-BE49-F238E27FC236}">
                  <a16:creationId xmlns="" xmlns:a16="http://schemas.microsoft.com/office/drawing/2014/main" id="{83D024F7-01F8-41A6-9D56-24961AF538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9" y="985"/>
              <a:ext cx="143" cy="71"/>
            </a:xfrm>
            <a:custGeom>
              <a:avLst/>
              <a:gdLst>
                <a:gd name="T0" fmla="*/ 90 w 96"/>
                <a:gd name="T1" fmla="*/ 48 h 48"/>
                <a:gd name="T2" fmla="*/ 6 w 96"/>
                <a:gd name="T3" fmla="*/ 48 h 48"/>
                <a:gd name="T4" fmla="*/ 0 w 96"/>
                <a:gd name="T5" fmla="*/ 42 h 48"/>
                <a:gd name="T6" fmla="*/ 0 w 96"/>
                <a:gd name="T7" fmla="*/ 6 h 48"/>
                <a:gd name="T8" fmla="*/ 6 w 96"/>
                <a:gd name="T9" fmla="*/ 0 h 48"/>
                <a:gd name="T10" fmla="*/ 90 w 96"/>
                <a:gd name="T11" fmla="*/ 0 h 48"/>
                <a:gd name="T12" fmla="*/ 96 w 96"/>
                <a:gd name="T13" fmla="*/ 6 h 48"/>
                <a:gd name="T14" fmla="*/ 96 w 96"/>
                <a:gd name="T15" fmla="*/ 42 h 48"/>
                <a:gd name="T16" fmla="*/ 90 w 96"/>
                <a:gd name="T17" fmla="*/ 48 h 48"/>
                <a:gd name="T18" fmla="*/ 12 w 96"/>
                <a:gd name="T19" fmla="*/ 36 h 48"/>
                <a:gd name="T20" fmla="*/ 84 w 96"/>
                <a:gd name="T21" fmla="*/ 36 h 48"/>
                <a:gd name="T22" fmla="*/ 84 w 96"/>
                <a:gd name="T23" fmla="*/ 12 h 48"/>
                <a:gd name="T24" fmla="*/ 12 w 96"/>
                <a:gd name="T25" fmla="*/ 12 h 48"/>
                <a:gd name="T26" fmla="*/ 12 w 96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6" h="48">
                  <a:moveTo>
                    <a:pt x="90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2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93" y="0"/>
                    <a:pt x="96" y="3"/>
                    <a:pt x="96" y="6"/>
                  </a:cubicBezTo>
                  <a:cubicBezTo>
                    <a:pt x="96" y="42"/>
                    <a:pt x="96" y="42"/>
                    <a:pt x="96" y="42"/>
                  </a:cubicBezTo>
                  <a:cubicBezTo>
                    <a:pt x="96" y="45"/>
                    <a:pt x="93" y="48"/>
                    <a:pt x="90" y="48"/>
                  </a:cubicBezTo>
                  <a:close/>
                  <a:moveTo>
                    <a:pt x="12" y="36"/>
                  </a:moveTo>
                  <a:cubicBezTo>
                    <a:pt x="84" y="36"/>
                    <a:pt x="84" y="36"/>
                    <a:pt x="84" y="36"/>
                  </a:cubicBezTo>
                  <a:cubicBezTo>
                    <a:pt x="84" y="12"/>
                    <a:pt x="84" y="12"/>
                    <a:pt x="84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 31">
              <a:extLst>
                <a:ext uri="{FF2B5EF4-FFF2-40B4-BE49-F238E27FC236}">
                  <a16:creationId xmlns="" xmlns:a16="http://schemas.microsoft.com/office/drawing/2014/main" id="{EB1DC8AB-6FD0-416A-9EF6-7D91DEF68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896"/>
              <a:ext cx="391" cy="142"/>
            </a:xfrm>
            <a:custGeom>
              <a:avLst/>
              <a:gdLst>
                <a:gd name="T0" fmla="*/ 258 w 264"/>
                <a:gd name="T1" fmla="*/ 96 h 96"/>
                <a:gd name="T2" fmla="*/ 174 w 264"/>
                <a:gd name="T3" fmla="*/ 96 h 96"/>
                <a:gd name="T4" fmla="*/ 168 w 264"/>
                <a:gd name="T5" fmla="*/ 90 h 96"/>
                <a:gd name="T6" fmla="*/ 174 w 264"/>
                <a:gd name="T7" fmla="*/ 84 h 96"/>
                <a:gd name="T8" fmla="*/ 252 w 264"/>
                <a:gd name="T9" fmla="*/ 84 h 96"/>
                <a:gd name="T10" fmla="*/ 252 w 264"/>
                <a:gd name="T11" fmla="*/ 44 h 96"/>
                <a:gd name="T12" fmla="*/ 219 w 264"/>
                <a:gd name="T13" fmla="*/ 12 h 96"/>
                <a:gd name="T14" fmla="*/ 44 w 264"/>
                <a:gd name="T15" fmla="*/ 12 h 96"/>
                <a:gd name="T16" fmla="*/ 12 w 264"/>
                <a:gd name="T17" fmla="*/ 44 h 96"/>
                <a:gd name="T18" fmla="*/ 12 w 264"/>
                <a:gd name="T19" fmla="*/ 84 h 96"/>
                <a:gd name="T20" fmla="*/ 90 w 264"/>
                <a:gd name="T21" fmla="*/ 84 h 96"/>
                <a:gd name="T22" fmla="*/ 96 w 264"/>
                <a:gd name="T23" fmla="*/ 90 h 96"/>
                <a:gd name="T24" fmla="*/ 90 w 264"/>
                <a:gd name="T25" fmla="*/ 96 h 96"/>
                <a:gd name="T26" fmla="*/ 6 w 264"/>
                <a:gd name="T27" fmla="*/ 96 h 96"/>
                <a:gd name="T28" fmla="*/ 0 w 264"/>
                <a:gd name="T29" fmla="*/ 90 h 96"/>
                <a:gd name="T30" fmla="*/ 0 w 264"/>
                <a:gd name="T31" fmla="*/ 42 h 96"/>
                <a:gd name="T32" fmla="*/ 1 w 264"/>
                <a:gd name="T33" fmla="*/ 38 h 96"/>
                <a:gd name="T34" fmla="*/ 37 w 264"/>
                <a:gd name="T35" fmla="*/ 2 h 96"/>
                <a:gd name="T36" fmla="*/ 42 w 264"/>
                <a:gd name="T37" fmla="*/ 0 h 96"/>
                <a:gd name="T38" fmla="*/ 222 w 264"/>
                <a:gd name="T39" fmla="*/ 0 h 96"/>
                <a:gd name="T40" fmla="*/ 226 w 264"/>
                <a:gd name="T41" fmla="*/ 2 h 96"/>
                <a:gd name="T42" fmla="*/ 262 w 264"/>
                <a:gd name="T43" fmla="*/ 38 h 96"/>
                <a:gd name="T44" fmla="*/ 264 w 264"/>
                <a:gd name="T45" fmla="*/ 42 h 96"/>
                <a:gd name="T46" fmla="*/ 264 w 264"/>
                <a:gd name="T47" fmla="*/ 90 h 96"/>
                <a:gd name="T48" fmla="*/ 258 w 264"/>
                <a:gd name="T49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" h="96">
                  <a:moveTo>
                    <a:pt x="258" y="96"/>
                  </a:moveTo>
                  <a:cubicBezTo>
                    <a:pt x="174" y="96"/>
                    <a:pt x="174" y="96"/>
                    <a:pt x="174" y="96"/>
                  </a:cubicBezTo>
                  <a:cubicBezTo>
                    <a:pt x="170" y="96"/>
                    <a:pt x="168" y="93"/>
                    <a:pt x="168" y="90"/>
                  </a:cubicBezTo>
                  <a:cubicBezTo>
                    <a:pt x="168" y="87"/>
                    <a:pt x="170" y="84"/>
                    <a:pt x="174" y="84"/>
                  </a:cubicBezTo>
                  <a:cubicBezTo>
                    <a:pt x="252" y="84"/>
                    <a:pt x="252" y="84"/>
                    <a:pt x="252" y="84"/>
                  </a:cubicBezTo>
                  <a:cubicBezTo>
                    <a:pt x="252" y="44"/>
                    <a:pt x="252" y="44"/>
                    <a:pt x="252" y="44"/>
                  </a:cubicBezTo>
                  <a:cubicBezTo>
                    <a:pt x="219" y="12"/>
                    <a:pt x="219" y="12"/>
                    <a:pt x="219" y="12"/>
                  </a:cubicBezTo>
                  <a:cubicBezTo>
                    <a:pt x="44" y="12"/>
                    <a:pt x="44" y="12"/>
                    <a:pt x="44" y="12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2" y="84"/>
                    <a:pt x="12" y="84"/>
                    <a:pt x="12" y="84"/>
                  </a:cubicBezTo>
                  <a:cubicBezTo>
                    <a:pt x="90" y="84"/>
                    <a:pt x="90" y="84"/>
                    <a:pt x="90" y="84"/>
                  </a:cubicBezTo>
                  <a:cubicBezTo>
                    <a:pt x="93" y="84"/>
                    <a:pt x="96" y="87"/>
                    <a:pt x="96" y="90"/>
                  </a:cubicBezTo>
                  <a:cubicBezTo>
                    <a:pt x="96" y="93"/>
                    <a:pt x="93" y="96"/>
                    <a:pt x="90" y="96"/>
                  </a:cubicBezTo>
                  <a:cubicBezTo>
                    <a:pt x="6" y="96"/>
                    <a:pt x="6" y="96"/>
                    <a:pt x="6" y="96"/>
                  </a:cubicBezTo>
                  <a:cubicBezTo>
                    <a:pt x="2" y="96"/>
                    <a:pt x="0" y="93"/>
                    <a:pt x="0" y="9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40"/>
                    <a:pt x="0" y="39"/>
                    <a:pt x="1" y="38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9" y="0"/>
                    <a:pt x="40" y="0"/>
                    <a:pt x="42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23" y="0"/>
                    <a:pt x="225" y="0"/>
                    <a:pt x="226" y="2"/>
                  </a:cubicBezTo>
                  <a:cubicBezTo>
                    <a:pt x="262" y="38"/>
                    <a:pt x="262" y="38"/>
                    <a:pt x="262" y="38"/>
                  </a:cubicBezTo>
                  <a:cubicBezTo>
                    <a:pt x="263" y="39"/>
                    <a:pt x="264" y="40"/>
                    <a:pt x="264" y="42"/>
                  </a:cubicBezTo>
                  <a:cubicBezTo>
                    <a:pt x="264" y="90"/>
                    <a:pt x="264" y="90"/>
                    <a:pt x="264" y="90"/>
                  </a:cubicBezTo>
                  <a:cubicBezTo>
                    <a:pt x="264" y="93"/>
                    <a:pt x="261" y="96"/>
                    <a:pt x="258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Freeform 32">
              <a:extLst>
                <a:ext uri="{FF2B5EF4-FFF2-40B4-BE49-F238E27FC236}">
                  <a16:creationId xmlns="" xmlns:a16="http://schemas.microsoft.com/office/drawing/2014/main" id="{41EDDFA2-BF58-43BB-9B49-A5059ACFDA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7" y="825"/>
              <a:ext cx="286" cy="89"/>
            </a:xfrm>
            <a:custGeom>
              <a:avLst/>
              <a:gdLst>
                <a:gd name="T0" fmla="*/ 187 w 193"/>
                <a:gd name="T1" fmla="*/ 60 h 60"/>
                <a:gd name="T2" fmla="*/ 7 w 193"/>
                <a:gd name="T3" fmla="*/ 60 h 60"/>
                <a:gd name="T4" fmla="*/ 2 w 193"/>
                <a:gd name="T5" fmla="*/ 57 h 60"/>
                <a:gd name="T6" fmla="*/ 1 w 193"/>
                <a:gd name="T7" fmla="*/ 51 h 60"/>
                <a:gd name="T8" fmla="*/ 25 w 193"/>
                <a:gd name="T9" fmla="*/ 3 h 60"/>
                <a:gd name="T10" fmla="*/ 31 w 193"/>
                <a:gd name="T11" fmla="*/ 0 h 60"/>
                <a:gd name="T12" fmla="*/ 163 w 193"/>
                <a:gd name="T13" fmla="*/ 0 h 60"/>
                <a:gd name="T14" fmla="*/ 168 w 193"/>
                <a:gd name="T15" fmla="*/ 3 h 60"/>
                <a:gd name="T16" fmla="*/ 192 w 193"/>
                <a:gd name="T17" fmla="*/ 51 h 60"/>
                <a:gd name="T18" fmla="*/ 192 w 193"/>
                <a:gd name="T19" fmla="*/ 57 h 60"/>
                <a:gd name="T20" fmla="*/ 187 w 193"/>
                <a:gd name="T21" fmla="*/ 60 h 60"/>
                <a:gd name="T22" fmla="*/ 16 w 193"/>
                <a:gd name="T23" fmla="*/ 48 h 60"/>
                <a:gd name="T24" fmla="*/ 177 w 193"/>
                <a:gd name="T25" fmla="*/ 48 h 60"/>
                <a:gd name="T26" fmla="*/ 159 w 193"/>
                <a:gd name="T27" fmla="*/ 12 h 60"/>
                <a:gd name="T28" fmla="*/ 34 w 193"/>
                <a:gd name="T29" fmla="*/ 12 h 60"/>
                <a:gd name="T30" fmla="*/ 16 w 193"/>
                <a:gd name="T31" fmla="*/ 48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3" h="60">
                  <a:moveTo>
                    <a:pt x="187" y="60"/>
                  </a:move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3" y="59"/>
                    <a:pt x="2" y="57"/>
                  </a:cubicBezTo>
                  <a:cubicBezTo>
                    <a:pt x="0" y="55"/>
                    <a:pt x="0" y="53"/>
                    <a:pt x="1" y="51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6" y="1"/>
                    <a:pt x="28" y="0"/>
                    <a:pt x="31" y="0"/>
                  </a:cubicBezTo>
                  <a:cubicBezTo>
                    <a:pt x="163" y="0"/>
                    <a:pt x="163" y="0"/>
                    <a:pt x="163" y="0"/>
                  </a:cubicBezTo>
                  <a:cubicBezTo>
                    <a:pt x="165" y="0"/>
                    <a:pt x="167" y="1"/>
                    <a:pt x="168" y="3"/>
                  </a:cubicBezTo>
                  <a:cubicBezTo>
                    <a:pt x="192" y="51"/>
                    <a:pt x="192" y="51"/>
                    <a:pt x="192" y="51"/>
                  </a:cubicBezTo>
                  <a:cubicBezTo>
                    <a:pt x="193" y="53"/>
                    <a:pt x="193" y="55"/>
                    <a:pt x="192" y="57"/>
                  </a:cubicBezTo>
                  <a:cubicBezTo>
                    <a:pt x="191" y="59"/>
                    <a:pt x="189" y="60"/>
                    <a:pt x="187" y="60"/>
                  </a:cubicBezTo>
                  <a:close/>
                  <a:moveTo>
                    <a:pt x="16" y="48"/>
                  </a:moveTo>
                  <a:cubicBezTo>
                    <a:pt x="177" y="48"/>
                    <a:pt x="177" y="48"/>
                    <a:pt x="177" y="48"/>
                  </a:cubicBezTo>
                  <a:cubicBezTo>
                    <a:pt x="159" y="12"/>
                    <a:pt x="159" y="12"/>
                    <a:pt x="159" y="12"/>
                  </a:cubicBezTo>
                  <a:cubicBezTo>
                    <a:pt x="34" y="12"/>
                    <a:pt x="34" y="12"/>
                    <a:pt x="34" y="12"/>
                  </a:cubicBezTo>
                  <a:lnTo>
                    <a:pt x="16" y="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6" name="Freeform 33">
              <a:extLst>
                <a:ext uri="{FF2B5EF4-FFF2-40B4-BE49-F238E27FC236}">
                  <a16:creationId xmlns="" xmlns:a16="http://schemas.microsoft.com/office/drawing/2014/main" id="{827B1E11-A80B-476E-9F07-542264D716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5" y="949"/>
              <a:ext cx="89" cy="54"/>
            </a:xfrm>
            <a:custGeom>
              <a:avLst/>
              <a:gdLst>
                <a:gd name="T0" fmla="*/ 54 w 60"/>
                <a:gd name="T1" fmla="*/ 36 h 36"/>
                <a:gd name="T2" fmla="*/ 6 w 60"/>
                <a:gd name="T3" fmla="*/ 36 h 36"/>
                <a:gd name="T4" fmla="*/ 0 w 60"/>
                <a:gd name="T5" fmla="*/ 30 h 36"/>
                <a:gd name="T6" fmla="*/ 0 w 60"/>
                <a:gd name="T7" fmla="*/ 6 h 36"/>
                <a:gd name="T8" fmla="*/ 6 w 60"/>
                <a:gd name="T9" fmla="*/ 0 h 36"/>
                <a:gd name="T10" fmla="*/ 54 w 60"/>
                <a:gd name="T11" fmla="*/ 0 h 36"/>
                <a:gd name="T12" fmla="*/ 60 w 60"/>
                <a:gd name="T13" fmla="*/ 6 h 36"/>
                <a:gd name="T14" fmla="*/ 60 w 60"/>
                <a:gd name="T15" fmla="*/ 30 h 36"/>
                <a:gd name="T16" fmla="*/ 54 w 60"/>
                <a:gd name="T17" fmla="*/ 36 h 36"/>
                <a:gd name="T18" fmla="*/ 12 w 60"/>
                <a:gd name="T19" fmla="*/ 24 h 36"/>
                <a:gd name="T20" fmla="*/ 48 w 60"/>
                <a:gd name="T21" fmla="*/ 24 h 36"/>
                <a:gd name="T22" fmla="*/ 48 w 60"/>
                <a:gd name="T23" fmla="*/ 12 h 36"/>
                <a:gd name="T24" fmla="*/ 12 w 60"/>
                <a:gd name="T25" fmla="*/ 12 h 36"/>
                <a:gd name="T26" fmla="*/ 12 w 60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36">
                  <a:moveTo>
                    <a:pt x="54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33"/>
                    <a:pt x="57" y="36"/>
                    <a:pt x="54" y="36"/>
                  </a:cubicBezTo>
                  <a:close/>
                  <a:moveTo>
                    <a:pt x="12" y="24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 34">
              <a:extLst>
                <a:ext uri="{FF2B5EF4-FFF2-40B4-BE49-F238E27FC236}">
                  <a16:creationId xmlns="" xmlns:a16="http://schemas.microsoft.com/office/drawing/2014/main" id="{A1918E81-A79F-4821-B2CB-577E8A5921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17" y="949"/>
              <a:ext cx="89" cy="54"/>
            </a:xfrm>
            <a:custGeom>
              <a:avLst/>
              <a:gdLst>
                <a:gd name="T0" fmla="*/ 54 w 60"/>
                <a:gd name="T1" fmla="*/ 36 h 36"/>
                <a:gd name="T2" fmla="*/ 6 w 60"/>
                <a:gd name="T3" fmla="*/ 36 h 36"/>
                <a:gd name="T4" fmla="*/ 0 w 60"/>
                <a:gd name="T5" fmla="*/ 30 h 36"/>
                <a:gd name="T6" fmla="*/ 0 w 60"/>
                <a:gd name="T7" fmla="*/ 6 h 36"/>
                <a:gd name="T8" fmla="*/ 6 w 60"/>
                <a:gd name="T9" fmla="*/ 0 h 36"/>
                <a:gd name="T10" fmla="*/ 54 w 60"/>
                <a:gd name="T11" fmla="*/ 0 h 36"/>
                <a:gd name="T12" fmla="*/ 60 w 60"/>
                <a:gd name="T13" fmla="*/ 6 h 36"/>
                <a:gd name="T14" fmla="*/ 60 w 60"/>
                <a:gd name="T15" fmla="*/ 30 h 36"/>
                <a:gd name="T16" fmla="*/ 54 w 60"/>
                <a:gd name="T17" fmla="*/ 36 h 36"/>
                <a:gd name="T18" fmla="*/ 12 w 60"/>
                <a:gd name="T19" fmla="*/ 24 h 36"/>
                <a:gd name="T20" fmla="*/ 48 w 60"/>
                <a:gd name="T21" fmla="*/ 24 h 36"/>
                <a:gd name="T22" fmla="*/ 48 w 60"/>
                <a:gd name="T23" fmla="*/ 12 h 36"/>
                <a:gd name="T24" fmla="*/ 12 w 60"/>
                <a:gd name="T25" fmla="*/ 12 h 36"/>
                <a:gd name="T26" fmla="*/ 12 w 60"/>
                <a:gd name="T27" fmla="*/ 2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36">
                  <a:moveTo>
                    <a:pt x="54" y="36"/>
                  </a:moveTo>
                  <a:cubicBezTo>
                    <a:pt x="6" y="36"/>
                    <a:pt x="6" y="36"/>
                    <a:pt x="6" y="36"/>
                  </a:cubicBezTo>
                  <a:cubicBezTo>
                    <a:pt x="2" y="36"/>
                    <a:pt x="0" y="33"/>
                    <a:pt x="0" y="3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7" y="0"/>
                    <a:pt x="60" y="3"/>
                    <a:pt x="60" y="6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33"/>
                    <a:pt x="57" y="36"/>
                    <a:pt x="54" y="36"/>
                  </a:cubicBezTo>
                  <a:close/>
                  <a:moveTo>
                    <a:pt x="12" y="24"/>
                  </a:moveTo>
                  <a:cubicBezTo>
                    <a:pt x="48" y="24"/>
                    <a:pt x="48" y="24"/>
                    <a:pt x="48" y="24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Freeform 35">
              <a:extLst>
                <a:ext uri="{FF2B5EF4-FFF2-40B4-BE49-F238E27FC236}">
                  <a16:creationId xmlns="" xmlns:a16="http://schemas.microsoft.com/office/drawing/2014/main" id="{2D71255C-62C7-4CCC-8C11-47CEFE77D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932"/>
              <a:ext cx="17" cy="35"/>
            </a:xfrm>
            <a:custGeom>
              <a:avLst/>
              <a:gdLst>
                <a:gd name="T0" fmla="*/ 6 w 12"/>
                <a:gd name="T1" fmla="*/ 24 h 24"/>
                <a:gd name="T2" fmla="*/ 0 w 12"/>
                <a:gd name="T3" fmla="*/ 18 h 24"/>
                <a:gd name="T4" fmla="*/ 0 w 12"/>
                <a:gd name="T5" fmla="*/ 6 h 24"/>
                <a:gd name="T6" fmla="*/ 6 w 12"/>
                <a:gd name="T7" fmla="*/ 0 h 24"/>
                <a:gd name="T8" fmla="*/ 12 w 12"/>
                <a:gd name="T9" fmla="*/ 6 h 24"/>
                <a:gd name="T10" fmla="*/ 12 w 12"/>
                <a:gd name="T11" fmla="*/ 18 h 24"/>
                <a:gd name="T12" fmla="*/ 6 w 12"/>
                <a:gd name="T1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4">
                  <a:moveTo>
                    <a:pt x="6" y="24"/>
                  </a:moveTo>
                  <a:cubicBezTo>
                    <a:pt x="2" y="24"/>
                    <a:pt x="0" y="21"/>
                    <a:pt x="0" y="1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21"/>
                    <a:pt x="9" y="24"/>
                    <a:pt x="6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9" name="Freeform 36">
              <a:extLst>
                <a:ext uri="{FF2B5EF4-FFF2-40B4-BE49-F238E27FC236}">
                  <a16:creationId xmlns="" xmlns:a16="http://schemas.microsoft.com/office/drawing/2014/main" id="{0FB7CC99-3227-43F0-8867-79F5077D80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57" y="646"/>
              <a:ext cx="194" cy="162"/>
            </a:xfrm>
            <a:custGeom>
              <a:avLst/>
              <a:gdLst>
                <a:gd name="T0" fmla="*/ 39 w 131"/>
                <a:gd name="T1" fmla="*/ 109 h 109"/>
                <a:gd name="T2" fmla="*/ 12 w 131"/>
                <a:gd name="T3" fmla="*/ 98 h 109"/>
                <a:gd name="T4" fmla="*/ 11 w 131"/>
                <a:gd name="T5" fmla="*/ 58 h 109"/>
                <a:gd name="T6" fmla="*/ 5 w 131"/>
                <a:gd name="T7" fmla="*/ 18 h 109"/>
                <a:gd name="T8" fmla="*/ 37 w 131"/>
                <a:gd name="T9" fmla="*/ 1 h 109"/>
                <a:gd name="T10" fmla="*/ 37 w 131"/>
                <a:gd name="T11" fmla="*/ 1 h 109"/>
                <a:gd name="T12" fmla="*/ 83 w 131"/>
                <a:gd name="T13" fmla="*/ 15 h 109"/>
                <a:gd name="T14" fmla="*/ 125 w 131"/>
                <a:gd name="T15" fmla="*/ 30 h 109"/>
                <a:gd name="T16" fmla="*/ 129 w 131"/>
                <a:gd name="T17" fmla="*/ 32 h 109"/>
                <a:gd name="T18" fmla="*/ 130 w 131"/>
                <a:gd name="T19" fmla="*/ 37 h 109"/>
                <a:gd name="T20" fmla="*/ 47 w 131"/>
                <a:gd name="T21" fmla="*/ 109 h 109"/>
                <a:gd name="T22" fmla="*/ 39 w 131"/>
                <a:gd name="T23" fmla="*/ 109 h 109"/>
                <a:gd name="T24" fmla="*/ 38 w 131"/>
                <a:gd name="T25" fmla="*/ 13 h 109"/>
                <a:gd name="T26" fmla="*/ 16 w 131"/>
                <a:gd name="T27" fmla="*/ 24 h 109"/>
                <a:gd name="T28" fmla="*/ 23 w 131"/>
                <a:gd name="T29" fmla="*/ 54 h 109"/>
                <a:gd name="T30" fmla="*/ 24 w 131"/>
                <a:gd name="T31" fmla="*/ 59 h 109"/>
                <a:gd name="T32" fmla="*/ 21 w 131"/>
                <a:gd name="T33" fmla="*/ 91 h 109"/>
                <a:gd name="T34" fmla="*/ 46 w 131"/>
                <a:gd name="T35" fmla="*/ 97 h 109"/>
                <a:gd name="T36" fmla="*/ 116 w 131"/>
                <a:gd name="T37" fmla="*/ 40 h 109"/>
                <a:gd name="T38" fmla="*/ 77 w 131"/>
                <a:gd name="T39" fmla="*/ 25 h 109"/>
                <a:gd name="T40" fmla="*/ 38 w 131"/>
                <a:gd name="T41" fmla="*/ 1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1" h="109">
                  <a:moveTo>
                    <a:pt x="39" y="109"/>
                  </a:moveTo>
                  <a:cubicBezTo>
                    <a:pt x="26" y="109"/>
                    <a:pt x="17" y="105"/>
                    <a:pt x="12" y="98"/>
                  </a:cubicBezTo>
                  <a:cubicBezTo>
                    <a:pt x="5" y="89"/>
                    <a:pt x="5" y="76"/>
                    <a:pt x="11" y="58"/>
                  </a:cubicBezTo>
                  <a:cubicBezTo>
                    <a:pt x="2" y="42"/>
                    <a:pt x="0" y="29"/>
                    <a:pt x="5" y="18"/>
                  </a:cubicBezTo>
                  <a:cubicBezTo>
                    <a:pt x="10" y="9"/>
                    <a:pt x="21" y="3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54" y="0"/>
                    <a:pt x="68" y="7"/>
                    <a:pt x="83" y="15"/>
                  </a:cubicBezTo>
                  <a:cubicBezTo>
                    <a:pt x="95" y="21"/>
                    <a:pt x="108" y="28"/>
                    <a:pt x="125" y="30"/>
                  </a:cubicBezTo>
                  <a:cubicBezTo>
                    <a:pt x="127" y="30"/>
                    <a:pt x="128" y="31"/>
                    <a:pt x="129" y="32"/>
                  </a:cubicBezTo>
                  <a:cubicBezTo>
                    <a:pt x="130" y="34"/>
                    <a:pt x="131" y="35"/>
                    <a:pt x="130" y="37"/>
                  </a:cubicBezTo>
                  <a:cubicBezTo>
                    <a:pt x="120" y="71"/>
                    <a:pt x="75" y="106"/>
                    <a:pt x="47" y="109"/>
                  </a:cubicBezTo>
                  <a:cubicBezTo>
                    <a:pt x="44" y="109"/>
                    <a:pt x="42" y="109"/>
                    <a:pt x="39" y="109"/>
                  </a:cubicBezTo>
                  <a:close/>
                  <a:moveTo>
                    <a:pt x="38" y="13"/>
                  </a:moveTo>
                  <a:cubicBezTo>
                    <a:pt x="31" y="14"/>
                    <a:pt x="20" y="16"/>
                    <a:pt x="16" y="24"/>
                  </a:cubicBezTo>
                  <a:cubicBezTo>
                    <a:pt x="12" y="30"/>
                    <a:pt x="15" y="41"/>
                    <a:pt x="23" y="54"/>
                  </a:cubicBezTo>
                  <a:cubicBezTo>
                    <a:pt x="24" y="56"/>
                    <a:pt x="24" y="58"/>
                    <a:pt x="24" y="59"/>
                  </a:cubicBezTo>
                  <a:cubicBezTo>
                    <a:pt x="18" y="74"/>
                    <a:pt x="17" y="85"/>
                    <a:pt x="21" y="91"/>
                  </a:cubicBezTo>
                  <a:cubicBezTo>
                    <a:pt x="26" y="97"/>
                    <a:pt x="37" y="98"/>
                    <a:pt x="46" y="97"/>
                  </a:cubicBezTo>
                  <a:cubicBezTo>
                    <a:pt x="67" y="95"/>
                    <a:pt x="104" y="67"/>
                    <a:pt x="116" y="40"/>
                  </a:cubicBezTo>
                  <a:cubicBezTo>
                    <a:pt x="101" y="38"/>
                    <a:pt x="88" y="31"/>
                    <a:pt x="77" y="25"/>
                  </a:cubicBezTo>
                  <a:cubicBezTo>
                    <a:pt x="63" y="18"/>
                    <a:pt x="52" y="12"/>
                    <a:pt x="38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0" name="Freeform 37">
              <a:extLst>
                <a:ext uri="{FF2B5EF4-FFF2-40B4-BE49-F238E27FC236}">
                  <a16:creationId xmlns="" xmlns:a16="http://schemas.microsoft.com/office/drawing/2014/main" id="{72928F26-27FE-4EF4-8F5E-C9862DE4B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694"/>
              <a:ext cx="210" cy="89"/>
            </a:xfrm>
            <a:custGeom>
              <a:avLst/>
              <a:gdLst>
                <a:gd name="T0" fmla="*/ 7 w 142"/>
                <a:gd name="T1" fmla="*/ 60 h 60"/>
                <a:gd name="T2" fmla="*/ 2 w 142"/>
                <a:gd name="T3" fmla="*/ 57 h 60"/>
                <a:gd name="T4" fmla="*/ 4 w 142"/>
                <a:gd name="T5" fmla="*/ 49 h 60"/>
                <a:gd name="T6" fmla="*/ 137 w 142"/>
                <a:gd name="T7" fmla="*/ 12 h 60"/>
                <a:gd name="T8" fmla="*/ 142 w 142"/>
                <a:gd name="T9" fmla="*/ 19 h 60"/>
                <a:gd name="T10" fmla="*/ 134 w 142"/>
                <a:gd name="T11" fmla="*/ 23 h 60"/>
                <a:gd name="T12" fmla="*/ 10 w 142"/>
                <a:gd name="T13" fmla="*/ 59 h 60"/>
                <a:gd name="T14" fmla="*/ 7 w 142"/>
                <a:gd name="T1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2" h="60">
                  <a:moveTo>
                    <a:pt x="7" y="60"/>
                  </a:moveTo>
                  <a:cubicBezTo>
                    <a:pt x="5" y="60"/>
                    <a:pt x="3" y="59"/>
                    <a:pt x="2" y="57"/>
                  </a:cubicBezTo>
                  <a:cubicBezTo>
                    <a:pt x="0" y="54"/>
                    <a:pt x="1" y="51"/>
                    <a:pt x="4" y="49"/>
                  </a:cubicBezTo>
                  <a:cubicBezTo>
                    <a:pt x="7" y="47"/>
                    <a:pt x="90" y="0"/>
                    <a:pt x="137" y="12"/>
                  </a:cubicBezTo>
                  <a:cubicBezTo>
                    <a:pt x="140" y="12"/>
                    <a:pt x="142" y="16"/>
                    <a:pt x="142" y="19"/>
                  </a:cubicBezTo>
                  <a:cubicBezTo>
                    <a:pt x="141" y="22"/>
                    <a:pt x="138" y="24"/>
                    <a:pt x="134" y="23"/>
                  </a:cubicBezTo>
                  <a:cubicBezTo>
                    <a:pt x="92" y="13"/>
                    <a:pt x="11" y="59"/>
                    <a:pt x="10" y="59"/>
                  </a:cubicBezTo>
                  <a:cubicBezTo>
                    <a:pt x="9" y="60"/>
                    <a:pt x="8" y="60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11" name="Connector: Elbow 1046">
            <a:extLst>
              <a:ext uri="{FF2B5EF4-FFF2-40B4-BE49-F238E27FC236}">
                <a16:creationId xmlns="" xmlns:a16="http://schemas.microsoft.com/office/drawing/2014/main" id="{20A56703-113E-4A37-B095-E1F618D93BC9}"/>
              </a:ext>
            </a:extLst>
          </p:cNvPr>
          <p:cNvCxnSpPr>
            <a:cxnSpLocks/>
          </p:cNvCxnSpPr>
          <p:nvPr/>
        </p:nvCxnSpPr>
        <p:spPr>
          <a:xfrm rot="16200000" flipH="1">
            <a:off x="1579483" y="4011925"/>
            <a:ext cx="4817294" cy="1"/>
          </a:xfrm>
          <a:prstGeom prst="bentConnector3">
            <a:avLst>
              <a:gd name="adj1" fmla="val 50000"/>
            </a:avLst>
          </a:prstGeom>
          <a:ln>
            <a:headEnd w="sm" len="sm"/>
            <a:tailEnd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12" name="Group 104">
            <a:extLst>
              <a:ext uri="{FF2B5EF4-FFF2-40B4-BE49-F238E27FC236}">
                <a16:creationId xmlns="" xmlns:a16="http://schemas.microsoft.com/office/drawing/2014/main" id="{9DD3023B-8C4C-4979-B68F-1A1696028B8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72297" y="5642497"/>
            <a:ext cx="309159" cy="307715"/>
            <a:chOff x="1370" y="1724"/>
            <a:chExt cx="428" cy="426"/>
          </a:xfrm>
          <a:solidFill>
            <a:srgbClr val="476DB6"/>
          </a:solidFill>
        </p:grpSpPr>
        <p:sp>
          <p:nvSpPr>
            <p:cNvPr id="113" name="Freeform 105">
              <a:extLst>
                <a:ext uri="{FF2B5EF4-FFF2-40B4-BE49-F238E27FC236}">
                  <a16:creationId xmlns="" xmlns:a16="http://schemas.microsoft.com/office/drawing/2014/main" id="{EC312660-9E72-4985-AB0C-53AC9DECFD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1" y="1970"/>
              <a:ext cx="77" cy="77"/>
            </a:xfrm>
            <a:custGeom>
              <a:avLst/>
              <a:gdLst>
                <a:gd name="T0" fmla="*/ 26 w 52"/>
                <a:gd name="T1" fmla="*/ 52 h 52"/>
                <a:gd name="T2" fmla="*/ 0 w 52"/>
                <a:gd name="T3" fmla="*/ 26 h 52"/>
                <a:gd name="T4" fmla="*/ 26 w 52"/>
                <a:gd name="T5" fmla="*/ 0 h 52"/>
                <a:gd name="T6" fmla="*/ 52 w 52"/>
                <a:gd name="T7" fmla="*/ 26 h 52"/>
                <a:gd name="T8" fmla="*/ 26 w 52"/>
                <a:gd name="T9" fmla="*/ 52 h 52"/>
                <a:gd name="T10" fmla="*/ 26 w 52"/>
                <a:gd name="T11" fmla="*/ 12 h 52"/>
                <a:gd name="T12" fmla="*/ 12 w 52"/>
                <a:gd name="T13" fmla="*/ 26 h 52"/>
                <a:gd name="T14" fmla="*/ 26 w 52"/>
                <a:gd name="T15" fmla="*/ 40 h 52"/>
                <a:gd name="T16" fmla="*/ 40 w 52"/>
                <a:gd name="T17" fmla="*/ 26 h 52"/>
                <a:gd name="T18" fmla="*/ 26 w 52"/>
                <a:gd name="T19" fmla="*/ 1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cubicBezTo>
                    <a:pt x="11" y="52"/>
                    <a:pt x="0" y="41"/>
                    <a:pt x="0" y="26"/>
                  </a:cubicBezTo>
                  <a:cubicBezTo>
                    <a:pt x="0" y="12"/>
                    <a:pt x="11" y="0"/>
                    <a:pt x="26" y="0"/>
                  </a:cubicBezTo>
                  <a:cubicBezTo>
                    <a:pt x="40" y="0"/>
                    <a:pt x="52" y="12"/>
                    <a:pt x="52" y="26"/>
                  </a:cubicBezTo>
                  <a:cubicBezTo>
                    <a:pt x="52" y="41"/>
                    <a:pt x="40" y="52"/>
                    <a:pt x="26" y="52"/>
                  </a:cubicBezTo>
                  <a:close/>
                  <a:moveTo>
                    <a:pt x="26" y="12"/>
                  </a:moveTo>
                  <a:cubicBezTo>
                    <a:pt x="18" y="12"/>
                    <a:pt x="12" y="19"/>
                    <a:pt x="12" y="26"/>
                  </a:cubicBezTo>
                  <a:cubicBezTo>
                    <a:pt x="12" y="34"/>
                    <a:pt x="18" y="40"/>
                    <a:pt x="26" y="40"/>
                  </a:cubicBezTo>
                  <a:cubicBezTo>
                    <a:pt x="33" y="40"/>
                    <a:pt x="40" y="34"/>
                    <a:pt x="40" y="26"/>
                  </a:cubicBezTo>
                  <a:cubicBezTo>
                    <a:pt x="40" y="19"/>
                    <a:pt x="33" y="12"/>
                    <a:pt x="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reeform 106">
              <a:extLst>
                <a:ext uri="{FF2B5EF4-FFF2-40B4-BE49-F238E27FC236}">
                  <a16:creationId xmlns="" xmlns:a16="http://schemas.microsoft.com/office/drawing/2014/main" id="{CB4D853F-E083-4FC0-9AC2-44D6CF18E4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1" y="2073"/>
              <a:ext cx="77" cy="77"/>
            </a:xfrm>
            <a:custGeom>
              <a:avLst/>
              <a:gdLst>
                <a:gd name="T0" fmla="*/ 26 w 52"/>
                <a:gd name="T1" fmla="*/ 52 h 52"/>
                <a:gd name="T2" fmla="*/ 0 w 52"/>
                <a:gd name="T3" fmla="*/ 26 h 52"/>
                <a:gd name="T4" fmla="*/ 26 w 52"/>
                <a:gd name="T5" fmla="*/ 0 h 52"/>
                <a:gd name="T6" fmla="*/ 52 w 52"/>
                <a:gd name="T7" fmla="*/ 26 h 52"/>
                <a:gd name="T8" fmla="*/ 26 w 52"/>
                <a:gd name="T9" fmla="*/ 52 h 52"/>
                <a:gd name="T10" fmla="*/ 26 w 52"/>
                <a:gd name="T11" fmla="*/ 12 h 52"/>
                <a:gd name="T12" fmla="*/ 12 w 52"/>
                <a:gd name="T13" fmla="*/ 26 h 52"/>
                <a:gd name="T14" fmla="*/ 26 w 52"/>
                <a:gd name="T15" fmla="*/ 40 h 52"/>
                <a:gd name="T16" fmla="*/ 40 w 52"/>
                <a:gd name="T17" fmla="*/ 26 h 52"/>
                <a:gd name="T18" fmla="*/ 26 w 52"/>
                <a:gd name="T19" fmla="*/ 1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cubicBezTo>
                    <a:pt x="11" y="52"/>
                    <a:pt x="0" y="41"/>
                    <a:pt x="0" y="26"/>
                  </a:cubicBezTo>
                  <a:cubicBezTo>
                    <a:pt x="0" y="12"/>
                    <a:pt x="11" y="0"/>
                    <a:pt x="26" y="0"/>
                  </a:cubicBezTo>
                  <a:cubicBezTo>
                    <a:pt x="40" y="0"/>
                    <a:pt x="52" y="12"/>
                    <a:pt x="52" y="26"/>
                  </a:cubicBezTo>
                  <a:cubicBezTo>
                    <a:pt x="52" y="41"/>
                    <a:pt x="40" y="52"/>
                    <a:pt x="26" y="52"/>
                  </a:cubicBezTo>
                  <a:close/>
                  <a:moveTo>
                    <a:pt x="26" y="12"/>
                  </a:moveTo>
                  <a:cubicBezTo>
                    <a:pt x="18" y="12"/>
                    <a:pt x="12" y="19"/>
                    <a:pt x="12" y="26"/>
                  </a:cubicBezTo>
                  <a:cubicBezTo>
                    <a:pt x="12" y="34"/>
                    <a:pt x="18" y="40"/>
                    <a:pt x="26" y="40"/>
                  </a:cubicBezTo>
                  <a:cubicBezTo>
                    <a:pt x="33" y="40"/>
                    <a:pt x="40" y="34"/>
                    <a:pt x="40" y="26"/>
                  </a:cubicBezTo>
                  <a:cubicBezTo>
                    <a:pt x="40" y="19"/>
                    <a:pt x="33" y="12"/>
                    <a:pt x="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 107">
              <a:extLst>
                <a:ext uri="{FF2B5EF4-FFF2-40B4-BE49-F238E27FC236}">
                  <a16:creationId xmlns="" xmlns:a16="http://schemas.microsoft.com/office/drawing/2014/main" id="{C9EB465B-FF55-43EC-AB56-5DB396A416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02" y="2029"/>
              <a:ext cx="77" cy="77"/>
            </a:xfrm>
            <a:custGeom>
              <a:avLst/>
              <a:gdLst>
                <a:gd name="T0" fmla="*/ 26 w 52"/>
                <a:gd name="T1" fmla="*/ 52 h 52"/>
                <a:gd name="T2" fmla="*/ 0 w 52"/>
                <a:gd name="T3" fmla="*/ 26 h 52"/>
                <a:gd name="T4" fmla="*/ 26 w 52"/>
                <a:gd name="T5" fmla="*/ 0 h 52"/>
                <a:gd name="T6" fmla="*/ 52 w 52"/>
                <a:gd name="T7" fmla="*/ 26 h 52"/>
                <a:gd name="T8" fmla="*/ 26 w 52"/>
                <a:gd name="T9" fmla="*/ 52 h 52"/>
                <a:gd name="T10" fmla="*/ 26 w 52"/>
                <a:gd name="T11" fmla="*/ 12 h 52"/>
                <a:gd name="T12" fmla="*/ 12 w 52"/>
                <a:gd name="T13" fmla="*/ 26 h 52"/>
                <a:gd name="T14" fmla="*/ 26 w 52"/>
                <a:gd name="T15" fmla="*/ 40 h 52"/>
                <a:gd name="T16" fmla="*/ 40 w 52"/>
                <a:gd name="T17" fmla="*/ 26 h 52"/>
                <a:gd name="T18" fmla="*/ 26 w 52"/>
                <a:gd name="T19" fmla="*/ 1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52">
                  <a:moveTo>
                    <a:pt x="26" y="52"/>
                  </a:moveTo>
                  <a:cubicBezTo>
                    <a:pt x="11" y="52"/>
                    <a:pt x="0" y="41"/>
                    <a:pt x="0" y="26"/>
                  </a:cubicBezTo>
                  <a:cubicBezTo>
                    <a:pt x="0" y="12"/>
                    <a:pt x="11" y="0"/>
                    <a:pt x="26" y="0"/>
                  </a:cubicBezTo>
                  <a:cubicBezTo>
                    <a:pt x="40" y="0"/>
                    <a:pt x="52" y="12"/>
                    <a:pt x="52" y="26"/>
                  </a:cubicBezTo>
                  <a:cubicBezTo>
                    <a:pt x="52" y="41"/>
                    <a:pt x="40" y="52"/>
                    <a:pt x="26" y="52"/>
                  </a:cubicBezTo>
                  <a:close/>
                  <a:moveTo>
                    <a:pt x="26" y="12"/>
                  </a:moveTo>
                  <a:cubicBezTo>
                    <a:pt x="18" y="12"/>
                    <a:pt x="12" y="19"/>
                    <a:pt x="12" y="26"/>
                  </a:cubicBezTo>
                  <a:cubicBezTo>
                    <a:pt x="12" y="34"/>
                    <a:pt x="18" y="40"/>
                    <a:pt x="26" y="40"/>
                  </a:cubicBezTo>
                  <a:cubicBezTo>
                    <a:pt x="33" y="40"/>
                    <a:pt x="40" y="34"/>
                    <a:pt x="40" y="26"/>
                  </a:cubicBezTo>
                  <a:cubicBezTo>
                    <a:pt x="40" y="19"/>
                    <a:pt x="33" y="12"/>
                    <a:pt x="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Freeform 108">
              <a:extLst>
                <a:ext uri="{FF2B5EF4-FFF2-40B4-BE49-F238E27FC236}">
                  <a16:creationId xmlns="" xmlns:a16="http://schemas.microsoft.com/office/drawing/2014/main" id="{4AC948AA-1D83-4656-A57C-239AA49B9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2011"/>
              <a:ext cx="86" cy="52"/>
            </a:xfrm>
            <a:custGeom>
              <a:avLst/>
              <a:gdLst>
                <a:gd name="T0" fmla="*/ 6 w 58"/>
                <a:gd name="T1" fmla="*/ 35 h 35"/>
                <a:gd name="T2" fmla="*/ 1 w 58"/>
                <a:gd name="T3" fmla="*/ 32 h 35"/>
                <a:gd name="T4" fmla="*/ 4 w 58"/>
                <a:gd name="T5" fmla="*/ 24 h 35"/>
                <a:gd name="T6" fmla="*/ 48 w 58"/>
                <a:gd name="T7" fmla="*/ 2 h 35"/>
                <a:gd name="T8" fmla="*/ 56 w 58"/>
                <a:gd name="T9" fmla="*/ 5 h 35"/>
                <a:gd name="T10" fmla="*/ 53 w 58"/>
                <a:gd name="T11" fmla="*/ 13 h 35"/>
                <a:gd name="T12" fmla="*/ 9 w 58"/>
                <a:gd name="T13" fmla="*/ 35 h 35"/>
                <a:gd name="T14" fmla="*/ 6 w 58"/>
                <a:gd name="T15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8" h="35">
                  <a:moveTo>
                    <a:pt x="6" y="35"/>
                  </a:moveTo>
                  <a:cubicBezTo>
                    <a:pt x="4" y="35"/>
                    <a:pt x="2" y="34"/>
                    <a:pt x="1" y="32"/>
                  </a:cubicBezTo>
                  <a:cubicBezTo>
                    <a:pt x="0" y="29"/>
                    <a:pt x="1" y="26"/>
                    <a:pt x="4" y="24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51" y="0"/>
                    <a:pt x="55" y="2"/>
                    <a:pt x="56" y="5"/>
                  </a:cubicBezTo>
                  <a:cubicBezTo>
                    <a:pt x="58" y="8"/>
                    <a:pt x="56" y="11"/>
                    <a:pt x="53" y="13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8" y="35"/>
                    <a:pt x="7" y="35"/>
                    <a:pt x="6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7" name="Freeform 109">
              <a:extLst>
                <a:ext uri="{FF2B5EF4-FFF2-40B4-BE49-F238E27FC236}">
                  <a16:creationId xmlns="" xmlns:a16="http://schemas.microsoft.com/office/drawing/2014/main" id="{56D0F28F-DFC0-4BE1-A36F-A3FF99892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9" y="2069"/>
              <a:ext cx="82" cy="41"/>
            </a:xfrm>
            <a:custGeom>
              <a:avLst/>
              <a:gdLst>
                <a:gd name="T0" fmla="*/ 49 w 56"/>
                <a:gd name="T1" fmla="*/ 28 h 28"/>
                <a:gd name="T2" fmla="*/ 47 w 56"/>
                <a:gd name="T3" fmla="*/ 28 h 28"/>
                <a:gd name="T4" fmla="*/ 4 w 56"/>
                <a:gd name="T5" fmla="*/ 12 h 28"/>
                <a:gd name="T6" fmla="*/ 1 w 56"/>
                <a:gd name="T7" fmla="*/ 4 h 28"/>
                <a:gd name="T8" fmla="*/ 8 w 56"/>
                <a:gd name="T9" fmla="*/ 1 h 28"/>
                <a:gd name="T10" fmla="*/ 51 w 56"/>
                <a:gd name="T11" fmla="*/ 17 h 28"/>
                <a:gd name="T12" fmla="*/ 55 w 56"/>
                <a:gd name="T13" fmla="*/ 24 h 28"/>
                <a:gd name="T14" fmla="*/ 49 w 56"/>
                <a:gd name="T1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6" h="28">
                  <a:moveTo>
                    <a:pt x="49" y="28"/>
                  </a:moveTo>
                  <a:cubicBezTo>
                    <a:pt x="48" y="28"/>
                    <a:pt x="47" y="28"/>
                    <a:pt x="47" y="28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" y="11"/>
                    <a:pt x="0" y="7"/>
                    <a:pt x="1" y="4"/>
                  </a:cubicBezTo>
                  <a:cubicBezTo>
                    <a:pt x="2" y="1"/>
                    <a:pt x="5" y="0"/>
                    <a:pt x="8" y="1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4" y="18"/>
                    <a:pt x="56" y="21"/>
                    <a:pt x="55" y="24"/>
                  </a:cubicBezTo>
                  <a:cubicBezTo>
                    <a:pt x="54" y="27"/>
                    <a:pt x="51" y="28"/>
                    <a:pt x="49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8" name="Freeform 110">
              <a:extLst>
                <a:ext uri="{FF2B5EF4-FFF2-40B4-BE49-F238E27FC236}">
                  <a16:creationId xmlns="" xmlns:a16="http://schemas.microsoft.com/office/drawing/2014/main" id="{CD6AA577-3026-4432-A6D0-9D3AEF567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1729"/>
              <a:ext cx="96" cy="199"/>
            </a:xfrm>
            <a:custGeom>
              <a:avLst/>
              <a:gdLst>
                <a:gd name="T0" fmla="*/ 65 w 65"/>
                <a:gd name="T1" fmla="*/ 135 h 135"/>
                <a:gd name="T2" fmla="*/ 53 w 65"/>
                <a:gd name="T3" fmla="*/ 135 h 135"/>
                <a:gd name="T4" fmla="*/ 0 w 65"/>
                <a:gd name="T5" fmla="*/ 8 h 135"/>
                <a:gd name="T6" fmla="*/ 9 w 65"/>
                <a:gd name="T7" fmla="*/ 0 h 135"/>
                <a:gd name="T8" fmla="*/ 65 w 65"/>
                <a:gd name="T9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135">
                  <a:moveTo>
                    <a:pt x="65" y="135"/>
                  </a:moveTo>
                  <a:cubicBezTo>
                    <a:pt x="53" y="135"/>
                    <a:pt x="53" y="135"/>
                    <a:pt x="53" y="135"/>
                  </a:cubicBezTo>
                  <a:cubicBezTo>
                    <a:pt x="53" y="89"/>
                    <a:pt x="35" y="45"/>
                    <a:pt x="0" y="8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5" y="39"/>
                    <a:pt x="65" y="86"/>
                    <a:pt x="65" y="1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Freeform 111">
              <a:extLst>
                <a:ext uri="{FF2B5EF4-FFF2-40B4-BE49-F238E27FC236}">
                  <a16:creationId xmlns="" xmlns:a16="http://schemas.microsoft.com/office/drawing/2014/main" id="{1DCC3887-778C-4F91-A43A-C1D06D46D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2026"/>
              <a:ext cx="196" cy="18"/>
            </a:xfrm>
            <a:custGeom>
              <a:avLst/>
              <a:gdLst>
                <a:gd name="T0" fmla="*/ 126 w 132"/>
                <a:gd name="T1" fmla="*/ 12 h 12"/>
                <a:gd name="T2" fmla="*/ 6 w 132"/>
                <a:gd name="T3" fmla="*/ 12 h 12"/>
                <a:gd name="T4" fmla="*/ 0 w 132"/>
                <a:gd name="T5" fmla="*/ 6 h 12"/>
                <a:gd name="T6" fmla="*/ 6 w 132"/>
                <a:gd name="T7" fmla="*/ 0 h 12"/>
                <a:gd name="T8" fmla="*/ 126 w 132"/>
                <a:gd name="T9" fmla="*/ 0 h 12"/>
                <a:gd name="T10" fmla="*/ 132 w 132"/>
                <a:gd name="T11" fmla="*/ 6 h 12"/>
                <a:gd name="T12" fmla="*/ 126 w 132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" h="12">
                  <a:moveTo>
                    <a:pt x="126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9" y="0"/>
                    <a:pt x="132" y="3"/>
                    <a:pt x="132" y="6"/>
                  </a:cubicBezTo>
                  <a:cubicBezTo>
                    <a:pt x="132" y="10"/>
                    <a:pt x="129" y="12"/>
                    <a:pt x="126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Rectangle 112">
              <a:extLst>
                <a:ext uri="{FF2B5EF4-FFF2-40B4-BE49-F238E27FC236}">
                  <a16:creationId xmlns="" xmlns:a16="http://schemas.microsoft.com/office/drawing/2014/main" id="{C15E92DF-0507-4123-A72E-79867D362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3" y="1813"/>
              <a:ext cx="340" cy="1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 113">
              <a:extLst>
                <a:ext uri="{FF2B5EF4-FFF2-40B4-BE49-F238E27FC236}">
                  <a16:creationId xmlns="" xmlns:a16="http://schemas.microsoft.com/office/drawing/2014/main" id="{304DCA00-017B-4AB6-8EA6-586E24E224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0" y="1724"/>
              <a:ext cx="426" cy="426"/>
            </a:xfrm>
            <a:custGeom>
              <a:avLst/>
              <a:gdLst>
                <a:gd name="T0" fmla="*/ 137 w 288"/>
                <a:gd name="T1" fmla="*/ 288 h 288"/>
                <a:gd name="T2" fmla="*/ 137 w 288"/>
                <a:gd name="T3" fmla="*/ 288 h 288"/>
                <a:gd name="T4" fmla="*/ 131 w 288"/>
                <a:gd name="T5" fmla="*/ 288 h 288"/>
                <a:gd name="T6" fmla="*/ 0 w 288"/>
                <a:gd name="T7" fmla="*/ 141 h 288"/>
                <a:gd name="T8" fmla="*/ 0 w 288"/>
                <a:gd name="T9" fmla="*/ 139 h 288"/>
                <a:gd name="T10" fmla="*/ 0 w 288"/>
                <a:gd name="T11" fmla="*/ 138 h 288"/>
                <a:gd name="T12" fmla="*/ 0 w 288"/>
                <a:gd name="T13" fmla="*/ 138 h 288"/>
                <a:gd name="T14" fmla="*/ 134 w 288"/>
                <a:gd name="T15" fmla="*/ 1 h 288"/>
                <a:gd name="T16" fmla="*/ 136 w 288"/>
                <a:gd name="T17" fmla="*/ 1 h 288"/>
                <a:gd name="T18" fmla="*/ 138 w 288"/>
                <a:gd name="T19" fmla="*/ 1 h 288"/>
                <a:gd name="T20" fmla="*/ 145 w 288"/>
                <a:gd name="T21" fmla="*/ 0 h 288"/>
                <a:gd name="T22" fmla="*/ 288 w 288"/>
                <a:gd name="T23" fmla="*/ 132 h 288"/>
                <a:gd name="T24" fmla="*/ 288 w 288"/>
                <a:gd name="T25" fmla="*/ 132 h 288"/>
                <a:gd name="T26" fmla="*/ 288 w 288"/>
                <a:gd name="T27" fmla="*/ 139 h 288"/>
                <a:gd name="T28" fmla="*/ 282 w 288"/>
                <a:gd name="T29" fmla="*/ 144 h 288"/>
                <a:gd name="T30" fmla="*/ 88 w 288"/>
                <a:gd name="T31" fmla="*/ 144 h 288"/>
                <a:gd name="T32" fmla="*/ 142 w 288"/>
                <a:gd name="T33" fmla="*/ 279 h 288"/>
                <a:gd name="T34" fmla="*/ 142 w 288"/>
                <a:gd name="T35" fmla="*/ 285 h 288"/>
                <a:gd name="T36" fmla="*/ 137 w 288"/>
                <a:gd name="T37" fmla="*/ 288 h 288"/>
                <a:gd name="T38" fmla="*/ 12 w 288"/>
                <a:gd name="T39" fmla="*/ 144 h 288"/>
                <a:gd name="T40" fmla="*/ 125 w 288"/>
                <a:gd name="T41" fmla="*/ 275 h 288"/>
                <a:gd name="T42" fmla="*/ 77 w 288"/>
                <a:gd name="T43" fmla="*/ 144 h 288"/>
                <a:gd name="T44" fmla="*/ 12 w 288"/>
                <a:gd name="T45" fmla="*/ 144 h 288"/>
                <a:gd name="T46" fmla="*/ 88 w 288"/>
                <a:gd name="T47" fmla="*/ 132 h 288"/>
                <a:gd name="T48" fmla="*/ 276 w 288"/>
                <a:gd name="T49" fmla="*/ 132 h 288"/>
                <a:gd name="T50" fmla="*/ 276 w 288"/>
                <a:gd name="T51" fmla="*/ 132 h 288"/>
                <a:gd name="T52" fmla="*/ 145 w 288"/>
                <a:gd name="T53" fmla="*/ 12 h 288"/>
                <a:gd name="T54" fmla="*/ 139 w 288"/>
                <a:gd name="T55" fmla="*/ 13 h 288"/>
                <a:gd name="T56" fmla="*/ 138 w 288"/>
                <a:gd name="T57" fmla="*/ 13 h 288"/>
                <a:gd name="T58" fmla="*/ 88 w 288"/>
                <a:gd name="T59" fmla="*/ 132 h 288"/>
                <a:gd name="T60" fmla="*/ 13 w 288"/>
                <a:gd name="T61" fmla="*/ 132 h 288"/>
                <a:gd name="T62" fmla="*/ 77 w 288"/>
                <a:gd name="T63" fmla="*/ 132 h 288"/>
                <a:gd name="T64" fmla="*/ 121 w 288"/>
                <a:gd name="T65" fmla="*/ 14 h 288"/>
                <a:gd name="T66" fmla="*/ 13 w 288"/>
                <a:gd name="T67" fmla="*/ 132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8" h="288">
                  <a:moveTo>
                    <a:pt x="137" y="288"/>
                  </a:moveTo>
                  <a:cubicBezTo>
                    <a:pt x="137" y="288"/>
                    <a:pt x="137" y="288"/>
                    <a:pt x="137" y="288"/>
                  </a:cubicBezTo>
                  <a:cubicBezTo>
                    <a:pt x="131" y="288"/>
                    <a:pt x="131" y="288"/>
                    <a:pt x="131" y="288"/>
                  </a:cubicBezTo>
                  <a:cubicBezTo>
                    <a:pt x="58" y="282"/>
                    <a:pt x="0" y="217"/>
                    <a:pt x="0" y="141"/>
                  </a:cubicBezTo>
                  <a:cubicBezTo>
                    <a:pt x="0" y="140"/>
                    <a:pt x="0" y="140"/>
                    <a:pt x="0" y="139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2" y="64"/>
                    <a:pt x="59" y="6"/>
                    <a:pt x="134" y="1"/>
                  </a:cubicBezTo>
                  <a:cubicBezTo>
                    <a:pt x="135" y="1"/>
                    <a:pt x="136" y="1"/>
                    <a:pt x="136" y="1"/>
                  </a:cubicBezTo>
                  <a:cubicBezTo>
                    <a:pt x="137" y="1"/>
                    <a:pt x="138" y="1"/>
                    <a:pt x="138" y="1"/>
                  </a:cubicBezTo>
                  <a:cubicBezTo>
                    <a:pt x="140" y="1"/>
                    <a:pt x="143" y="0"/>
                    <a:pt x="145" y="0"/>
                  </a:cubicBezTo>
                  <a:cubicBezTo>
                    <a:pt x="220" y="0"/>
                    <a:pt x="282" y="57"/>
                    <a:pt x="288" y="132"/>
                  </a:cubicBezTo>
                  <a:cubicBezTo>
                    <a:pt x="288" y="132"/>
                    <a:pt x="288" y="132"/>
                    <a:pt x="288" y="132"/>
                  </a:cubicBezTo>
                  <a:cubicBezTo>
                    <a:pt x="288" y="139"/>
                    <a:pt x="288" y="139"/>
                    <a:pt x="288" y="139"/>
                  </a:cubicBezTo>
                  <a:cubicBezTo>
                    <a:pt x="288" y="142"/>
                    <a:pt x="285" y="144"/>
                    <a:pt x="282" y="144"/>
                  </a:cubicBezTo>
                  <a:cubicBezTo>
                    <a:pt x="88" y="144"/>
                    <a:pt x="88" y="144"/>
                    <a:pt x="88" y="144"/>
                  </a:cubicBezTo>
                  <a:cubicBezTo>
                    <a:pt x="90" y="188"/>
                    <a:pt x="108" y="234"/>
                    <a:pt x="142" y="279"/>
                  </a:cubicBezTo>
                  <a:cubicBezTo>
                    <a:pt x="143" y="281"/>
                    <a:pt x="144" y="283"/>
                    <a:pt x="142" y="285"/>
                  </a:cubicBezTo>
                  <a:cubicBezTo>
                    <a:pt x="141" y="287"/>
                    <a:pt x="139" y="288"/>
                    <a:pt x="137" y="288"/>
                  </a:cubicBezTo>
                  <a:close/>
                  <a:moveTo>
                    <a:pt x="12" y="144"/>
                  </a:moveTo>
                  <a:cubicBezTo>
                    <a:pt x="14" y="210"/>
                    <a:pt x="62" y="266"/>
                    <a:pt x="125" y="275"/>
                  </a:cubicBezTo>
                  <a:cubicBezTo>
                    <a:pt x="95" y="232"/>
                    <a:pt x="79" y="187"/>
                    <a:pt x="77" y="144"/>
                  </a:cubicBezTo>
                  <a:lnTo>
                    <a:pt x="12" y="144"/>
                  </a:lnTo>
                  <a:close/>
                  <a:moveTo>
                    <a:pt x="88" y="132"/>
                  </a:moveTo>
                  <a:cubicBezTo>
                    <a:pt x="276" y="132"/>
                    <a:pt x="276" y="132"/>
                    <a:pt x="276" y="132"/>
                  </a:cubicBezTo>
                  <a:cubicBezTo>
                    <a:pt x="276" y="132"/>
                    <a:pt x="276" y="132"/>
                    <a:pt x="276" y="132"/>
                  </a:cubicBezTo>
                  <a:cubicBezTo>
                    <a:pt x="270" y="64"/>
                    <a:pt x="214" y="12"/>
                    <a:pt x="145" y="12"/>
                  </a:cubicBezTo>
                  <a:cubicBezTo>
                    <a:pt x="143" y="12"/>
                    <a:pt x="141" y="13"/>
                    <a:pt x="139" y="13"/>
                  </a:cubicBezTo>
                  <a:cubicBezTo>
                    <a:pt x="139" y="13"/>
                    <a:pt x="139" y="13"/>
                    <a:pt x="138" y="13"/>
                  </a:cubicBezTo>
                  <a:cubicBezTo>
                    <a:pt x="106" y="49"/>
                    <a:pt x="89" y="89"/>
                    <a:pt x="88" y="132"/>
                  </a:cubicBezTo>
                  <a:close/>
                  <a:moveTo>
                    <a:pt x="13" y="132"/>
                  </a:moveTo>
                  <a:cubicBezTo>
                    <a:pt x="77" y="132"/>
                    <a:pt x="77" y="132"/>
                    <a:pt x="77" y="132"/>
                  </a:cubicBezTo>
                  <a:cubicBezTo>
                    <a:pt x="78" y="90"/>
                    <a:pt x="92" y="50"/>
                    <a:pt x="121" y="14"/>
                  </a:cubicBezTo>
                  <a:cubicBezTo>
                    <a:pt x="61" y="24"/>
                    <a:pt x="17" y="72"/>
                    <a:pt x="13" y="1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="" xmlns:a16="http://schemas.microsoft.com/office/drawing/2014/main" id="{26AF7E38-6501-4C28-99CF-177B3B5EA42B}"/>
              </a:ext>
            </a:extLst>
          </p:cNvPr>
          <p:cNvSpPr txBox="1"/>
          <p:nvPr/>
        </p:nvSpPr>
        <p:spPr>
          <a:xfrm>
            <a:off x="4647731" y="5642497"/>
            <a:ext cx="1559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NETWORK</a:t>
            </a:r>
          </a:p>
        </p:txBody>
      </p:sp>
      <p:sp>
        <p:nvSpPr>
          <p:cNvPr id="124" name="Rettangolo 46">
            <a:extLst>
              <a:ext uri="{FF2B5EF4-FFF2-40B4-BE49-F238E27FC236}">
                <a16:creationId xmlns="" xmlns:a16="http://schemas.microsoft.com/office/drawing/2014/main" id="{37E6D87A-0CBB-47F5-B2CD-45DF8073819D}"/>
              </a:ext>
            </a:extLst>
          </p:cNvPr>
          <p:cNvSpPr/>
          <p:nvPr/>
        </p:nvSpPr>
        <p:spPr>
          <a:xfrm>
            <a:off x="4732795" y="5935167"/>
            <a:ext cx="2982787" cy="30777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Reti Intelligenti (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€ 3,6 Mld</a:t>
            </a: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2" name="Rettangolo 21">
            <a:extLst>
              <a:ext uri="{FF2B5EF4-FFF2-40B4-BE49-F238E27FC236}">
                <a16:creationId xmlns="" xmlns:a16="http://schemas.microsoft.com/office/drawing/2014/main" id="{1CF21001-FF06-4849-B94F-B06115B8FEB0}"/>
              </a:ext>
            </a:extLst>
          </p:cNvPr>
          <p:cNvSpPr/>
          <p:nvPr/>
        </p:nvSpPr>
        <p:spPr>
          <a:xfrm>
            <a:off x="8672896" y="2920719"/>
            <a:ext cx="2160000" cy="228362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DIVARI TERRITORIALI</a:t>
            </a:r>
          </a:p>
        </p:txBody>
      </p:sp>
      <p:sp>
        <p:nvSpPr>
          <p:cNvPr id="125" name="Rettangolo 46">
            <a:extLst>
              <a:ext uri="{FF2B5EF4-FFF2-40B4-BE49-F238E27FC236}">
                <a16:creationId xmlns="" xmlns:a16="http://schemas.microsoft.com/office/drawing/2014/main" id="{F10326E9-3679-48AA-BE0F-5C6323909B88}"/>
              </a:ext>
            </a:extLst>
          </p:cNvPr>
          <p:cNvSpPr/>
          <p:nvPr/>
        </p:nvSpPr>
        <p:spPr>
          <a:xfrm>
            <a:off x="8713471" y="3187008"/>
            <a:ext cx="2900231" cy="53242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Allocazione risorse in coerenza con le % previste nel PNRR</a:t>
            </a:r>
          </a:p>
        </p:txBody>
      </p:sp>
      <p:grpSp>
        <p:nvGrpSpPr>
          <p:cNvPr id="126" name="Group 63">
            <a:extLst>
              <a:ext uri="{FF2B5EF4-FFF2-40B4-BE49-F238E27FC236}">
                <a16:creationId xmlns="" xmlns:a16="http://schemas.microsoft.com/office/drawing/2014/main" id="{2177494F-13CF-446C-B1E1-5E9D732F8B6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33944" y="4093510"/>
            <a:ext cx="371384" cy="257179"/>
            <a:chOff x="6700" y="1999"/>
            <a:chExt cx="439" cy="304"/>
          </a:xfrm>
          <a:solidFill>
            <a:srgbClr val="476DB6"/>
          </a:solidFill>
        </p:grpSpPr>
        <p:sp>
          <p:nvSpPr>
            <p:cNvPr id="127" name="Freeform 64">
              <a:extLst>
                <a:ext uri="{FF2B5EF4-FFF2-40B4-BE49-F238E27FC236}">
                  <a16:creationId xmlns="" xmlns:a16="http://schemas.microsoft.com/office/drawing/2014/main" id="{DC35666E-0C47-4BCC-A705-BD8681AFA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4" y="2012"/>
              <a:ext cx="92" cy="112"/>
            </a:xfrm>
            <a:custGeom>
              <a:avLst/>
              <a:gdLst>
                <a:gd name="T0" fmla="*/ 60 w 60"/>
                <a:gd name="T1" fmla="*/ 37 h 75"/>
                <a:gd name="T2" fmla="*/ 60 w 60"/>
                <a:gd name="T3" fmla="*/ 36 h 75"/>
                <a:gd name="T4" fmla="*/ 60 w 60"/>
                <a:gd name="T5" fmla="*/ 35 h 75"/>
                <a:gd name="T6" fmla="*/ 59 w 60"/>
                <a:gd name="T7" fmla="*/ 34 h 75"/>
                <a:gd name="T8" fmla="*/ 59 w 60"/>
                <a:gd name="T9" fmla="*/ 34 h 75"/>
                <a:gd name="T10" fmla="*/ 34 w 60"/>
                <a:gd name="T11" fmla="*/ 3 h 75"/>
                <a:gd name="T12" fmla="*/ 26 w 60"/>
                <a:gd name="T13" fmla="*/ 2 h 75"/>
                <a:gd name="T14" fmla="*/ 25 w 60"/>
                <a:gd name="T15" fmla="*/ 10 h 75"/>
                <a:gd name="T16" fmla="*/ 25 w 60"/>
                <a:gd name="T17" fmla="*/ 10 h 75"/>
                <a:gd name="T18" fmla="*/ 42 w 60"/>
                <a:gd name="T19" fmla="*/ 31 h 75"/>
                <a:gd name="T20" fmla="*/ 6 w 60"/>
                <a:gd name="T21" fmla="*/ 31 h 75"/>
                <a:gd name="T22" fmla="*/ 0 w 60"/>
                <a:gd name="T23" fmla="*/ 37 h 75"/>
                <a:gd name="T24" fmla="*/ 6 w 60"/>
                <a:gd name="T25" fmla="*/ 43 h 75"/>
                <a:gd name="T26" fmla="*/ 42 w 60"/>
                <a:gd name="T27" fmla="*/ 43 h 75"/>
                <a:gd name="T28" fmla="*/ 25 w 60"/>
                <a:gd name="T29" fmla="*/ 64 h 75"/>
                <a:gd name="T30" fmla="*/ 26 w 60"/>
                <a:gd name="T31" fmla="*/ 73 h 75"/>
                <a:gd name="T32" fmla="*/ 34 w 60"/>
                <a:gd name="T33" fmla="*/ 72 h 75"/>
                <a:gd name="T34" fmla="*/ 59 w 60"/>
                <a:gd name="T35" fmla="*/ 41 h 75"/>
                <a:gd name="T36" fmla="*/ 59 w 60"/>
                <a:gd name="T37" fmla="*/ 41 h 75"/>
                <a:gd name="T38" fmla="*/ 60 w 60"/>
                <a:gd name="T39" fmla="*/ 39 h 75"/>
                <a:gd name="T40" fmla="*/ 60 w 60"/>
                <a:gd name="T41" fmla="*/ 39 h 75"/>
                <a:gd name="T42" fmla="*/ 60 w 60"/>
                <a:gd name="T43" fmla="*/ 37 h 75"/>
                <a:gd name="T44" fmla="*/ 60 w 60"/>
                <a:gd name="T45" fmla="*/ 3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" h="75">
                  <a:moveTo>
                    <a:pt x="60" y="37"/>
                  </a:moveTo>
                  <a:cubicBezTo>
                    <a:pt x="60" y="37"/>
                    <a:pt x="60" y="36"/>
                    <a:pt x="60" y="36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5"/>
                    <a:pt x="59" y="34"/>
                    <a:pt x="59" y="34"/>
                  </a:cubicBezTo>
                  <a:cubicBezTo>
                    <a:pt x="59" y="34"/>
                    <a:pt x="59" y="34"/>
                    <a:pt x="59" y="34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2" y="0"/>
                    <a:pt x="28" y="0"/>
                    <a:pt x="26" y="2"/>
                  </a:cubicBezTo>
                  <a:cubicBezTo>
                    <a:pt x="23" y="4"/>
                    <a:pt x="23" y="8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42" y="31"/>
                    <a:pt x="42" y="31"/>
                    <a:pt x="42" y="31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3" y="31"/>
                    <a:pt x="0" y="34"/>
                    <a:pt x="0" y="37"/>
                  </a:cubicBezTo>
                  <a:cubicBezTo>
                    <a:pt x="0" y="41"/>
                    <a:pt x="3" y="43"/>
                    <a:pt x="6" y="43"/>
                  </a:cubicBezTo>
                  <a:cubicBezTo>
                    <a:pt x="42" y="43"/>
                    <a:pt x="42" y="43"/>
                    <a:pt x="42" y="43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3" y="67"/>
                    <a:pt x="23" y="71"/>
                    <a:pt x="26" y="73"/>
                  </a:cubicBezTo>
                  <a:cubicBezTo>
                    <a:pt x="28" y="75"/>
                    <a:pt x="32" y="74"/>
                    <a:pt x="34" y="72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1"/>
                    <a:pt x="59" y="41"/>
                    <a:pt x="59" y="41"/>
                  </a:cubicBezTo>
                  <a:cubicBezTo>
                    <a:pt x="59" y="40"/>
                    <a:pt x="60" y="40"/>
                    <a:pt x="60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9"/>
                    <a:pt x="60" y="38"/>
                    <a:pt x="60" y="37"/>
                  </a:cubicBezTo>
                  <a:cubicBezTo>
                    <a:pt x="60" y="37"/>
                    <a:pt x="60" y="37"/>
                    <a:pt x="60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28" name="Freeform 65">
              <a:extLst>
                <a:ext uri="{FF2B5EF4-FFF2-40B4-BE49-F238E27FC236}">
                  <a16:creationId xmlns="" xmlns:a16="http://schemas.microsoft.com/office/drawing/2014/main" id="{4AF45E7F-A1F2-46DE-9828-C268AB955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4" y="2175"/>
              <a:ext cx="92" cy="112"/>
            </a:xfrm>
            <a:custGeom>
              <a:avLst/>
              <a:gdLst>
                <a:gd name="T0" fmla="*/ 54 w 60"/>
                <a:gd name="T1" fmla="*/ 32 h 75"/>
                <a:gd name="T2" fmla="*/ 19 w 60"/>
                <a:gd name="T3" fmla="*/ 32 h 75"/>
                <a:gd name="T4" fmla="*/ 36 w 60"/>
                <a:gd name="T5" fmla="*/ 11 h 75"/>
                <a:gd name="T6" fmla="*/ 35 w 60"/>
                <a:gd name="T7" fmla="*/ 2 h 75"/>
                <a:gd name="T8" fmla="*/ 26 w 60"/>
                <a:gd name="T9" fmla="*/ 3 h 75"/>
                <a:gd name="T10" fmla="*/ 26 w 60"/>
                <a:gd name="T11" fmla="*/ 3 h 75"/>
                <a:gd name="T12" fmla="*/ 2 w 60"/>
                <a:gd name="T13" fmla="*/ 34 h 75"/>
                <a:gd name="T14" fmla="*/ 2 w 60"/>
                <a:gd name="T15" fmla="*/ 34 h 75"/>
                <a:gd name="T16" fmla="*/ 1 w 60"/>
                <a:gd name="T17" fmla="*/ 36 h 75"/>
                <a:gd name="T18" fmla="*/ 1 w 60"/>
                <a:gd name="T19" fmla="*/ 36 h 75"/>
                <a:gd name="T20" fmla="*/ 0 w 60"/>
                <a:gd name="T21" fmla="*/ 38 h 75"/>
                <a:gd name="T22" fmla="*/ 0 w 60"/>
                <a:gd name="T23" fmla="*/ 38 h 75"/>
                <a:gd name="T24" fmla="*/ 0 w 60"/>
                <a:gd name="T25" fmla="*/ 38 h 75"/>
                <a:gd name="T26" fmla="*/ 1 w 60"/>
                <a:gd name="T27" fmla="*/ 40 h 75"/>
                <a:gd name="T28" fmla="*/ 1 w 60"/>
                <a:gd name="T29" fmla="*/ 40 h 75"/>
                <a:gd name="T30" fmla="*/ 2 w 60"/>
                <a:gd name="T31" fmla="*/ 41 h 75"/>
                <a:gd name="T32" fmla="*/ 2 w 60"/>
                <a:gd name="T33" fmla="*/ 42 h 75"/>
                <a:gd name="T34" fmla="*/ 26 w 60"/>
                <a:gd name="T35" fmla="*/ 72 h 75"/>
                <a:gd name="T36" fmla="*/ 35 w 60"/>
                <a:gd name="T37" fmla="*/ 73 h 75"/>
                <a:gd name="T38" fmla="*/ 36 w 60"/>
                <a:gd name="T39" fmla="*/ 65 h 75"/>
                <a:gd name="T40" fmla="*/ 19 w 60"/>
                <a:gd name="T41" fmla="*/ 44 h 75"/>
                <a:gd name="T42" fmla="*/ 54 w 60"/>
                <a:gd name="T43" fmla="*/ 44 h 75"/>
                <a:gd name="T44" fmla="*/ 60 w 60"/>
                <a:gd name="T45" fmla="*/ 38 h 75"/>
                <a:gd name="T46" fmla="*/ 54 w 60"/>
                <a:gd name="T47" fmla="*/ 3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0" h="75">
                  <a:moveTo>
                    <a:pt x="54" y="32"/>
                  </a:moveTo>
                  <a:cubicBezTo>
                    <a:pt x="19" y="32"/>
                    <a:pt x="19" y="32"/>
                    <a:pt x="19" y="3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8" y="8"/>
                    <a:pt x="37" y="4"/>
                    <a:pt x="35" y="2"/>
                  </a:cubicBezTo>
                  <a:cubicBezTo>
                    <a:pt x="32" y="0"/>
                    <a:pt x="28" y="1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5"/>
                    <a:pt x="1" y="35"/>
                    <a:pt x="1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7"/>
                    <a:pt x="0" y="37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9"/>
                    <a:pt x="1" y="40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1" y="40"/>
                    <a:pt x="1" y="41"/>
                    <a:pt x="2" y="41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26" y="72"/>
                    <a:pt x="26" y="72"/>
                    <a:pt x="26" y="72"/>
                  </a:cubicBezTo>
                  <a:cubicBezTo>
                    <a:pt x="28" y="75"/>
                    <a:pt x="32" y="75"/>
                    <a:pt x="35" y="73"/>
                  </a:cubicBezTo>
                  <a:cubicBezTo>
                    <a:pt x="37" y="71"/>
                    <a:pt x="38" y="68"/>
                    <a:pt x="36" y="65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8" y="44"/>
                    <a:pt x="60" y="41"/>
                    <a:pt x="60" y="38"/>
                  </a:cubicBezTo>
                  <a:cubicBezTo>
                    <a:pt x="60" y="35"/>
                    <a:pt x="58" y="32"/>
                    <a:pt x="54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29" name="Freeform 66">
              <a:extLst>
                <a:ext uri="{FF2B5EF4-FFF2-40B4-BE49-F238E27FC236}">
                  <a16:creationId xmlns="" xmlns:a16="http://schemas.microsoft.com/office/drawing/2014/main" id="{573803AD-C2A1-4FE3-A3F4-A42EC26B5A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00" y="1999"/>
              <a:ext cx="110" cy="107"/>
            </a:xfrm>
            <a:custGeom>
              <a:avLst/>
              <a:gdLst>
                <a:gd name="T0" fmla="*/ 36 w 72"/>
                <a:gd name="T1" fmla="*/ 0 h 72"/>
                <a:gd name="T2" fmla="*/ 0 w 72"/>
                <a:gd name="T3" fmla="*/ 36 h 72"/>
                <a:gd name="T4" fmla="*/ 36 w 72"/>
                <a:gd name="T5" fmla="*/ 72 h 72"/>
                <a:gd name="T6" fmla="*/ 72 w 72"/>
                <a:gd name="T7" fmla="*/ 36 h 72"/>
                <a:gd name="T8" fmla="*/ 36 w 72"/>
                <a:gd name="T9" fmla="*/ 0 h 72"/>
                <a:gd name="T10" fmla="*/ 36 w 72"/>
                <a:gd name="T11" fmla="*/ 60 h 72"/>
                <a:gd name="T12" fmla="*/ 12 w 72"/>
                <a:gd name="T13" fmla="*/ 36 h 72"/>
                <a:gd name="T14" fmla="*/ 36 w 72"/>
                <a:gd name="T15" fmla="*/ 12 h 72"/>
                <a:gd name="T16" fmla="*/ 60 w 72"/>
                <a:gd name="T17" fmla="*/ 36 h 72"/>
                <a:gd name="T18" fmla="*/ 36 w 72"/>
                <a:gd name="T19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0"/>
                  </a:moveTo>
                  <a:cubicBezTo>
                    <a:pt x="16" y="0"/>
                    <a:pt x="0" y="17"/>
                    <a:pt x="0" y="36"/>
                  </a:cubicBezTo>
                  <a:cubicBezTo>
                    <a:pt x="0" y="56"/>
                    <a:pt x="16" y="72"/>
                    <a:pt x="36" y="72"/>
                  </a:cubicBezTo>
                  <a:cubicBezTo>
                    <a:pt x="56" y="72"/>
                    <a:pt x="72" y="56"/>
                    <a:pt x="72" y="36"/>
                  </a:cubicBezTo>
                  <a:cubicBezTo>
                    <a:pt x="72" y="17"/>
                    <a:pt x="56" y="0"/>
                    <a:pt x="36" y="0"/>
                  </a:cubicBezTo>
                  <a:close/>
                  <a:moveTo>
                    <a:pt x="36" y="60"/>
                  </a:moveTo>
                  <a:cubicBezTo>
                    <a:pt x="23" y="60"/>
                    <a:pt x="12" y="50"/>
                    <a:pt x="12" y="36"/>
                  </a:cubicBezTo>
                  <a:cubicBezTo>
                    <a:pt x="12" y="23"/>
                    <a:pt x="23" y="12"/>
                    <a:pt x="36" y="12"/>
                  </a:cubicBezTo>
                  <a:cubicBezTo>
                    <a:pt x="49" y="12"/>
                    <a:pt x="60" y="23"/>
                    <a:pt x="60" y="36"/>
                  </a:cubicBezTo>
                  <a:cubicBezTo>
                    <a:pt x="60" y="50"/>
                    <a:pt x="49" y="60"/>
                    <a:pt x="36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30" name="Freeform 67">
              <a:extLst>
                <a:ext uri="{FF2B5EF4-FFF2-40B4-BE49-F238E27FC236}">
                  <a16:creationId xmlns="" xmlns:a16="http://schemas.microsoft.com/office/drawing/2014/main" id="{6A8740DD-6B54-40A4-8358-C793B689F7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00" y="2124"/>
              <a:ext cx="110" cy="179"/>
            </a:xfrm>
            <a:custGeom>
              <a:avLst/>
              <a:gdLst>
                <a:gd name="T0" fmla="*/ 36 w 72"/>
                <a:gd name="T1" fmla="*/ 0 h 120"/>
                <a:gd name="T2" fmla="*/ 0 w 72"/>
                <a:gd name="T3" fmla="*/ 36 h 120"/>
                <a:gd name="T4" fmla="*/ 0 w 72"/>
                <a:gd name="T5" fmla="*/ 114 h 120"/>
                <a:gd name="T6" fmla="*/ 2 w 72"/>
                <a:gd name="T7" fmla="*/ 118 h 120"/>
                <a:gd name="T8" fmla="*/ 6 w 72"/>
                <a:gd name="T9" fmla="*/ 120 h 120"/>
                <a:gd name="T10" fmla="*/ 66 w 72"/>
                <a:gd name="T11" fmla="*/ 120 h 120"/>
                <a:gd name="T12" fmla="*/ 70 w 72"/>
                <a:gd name="T13" fmla="*/ 118 h 120"/>
                <a:gd name="T14" fmla="*/ 72 w 72"/>
                <a:gd name="T15" fmla="*/ 114 h 120"/>
                <a:gd name="T16" fmla="*/ 72 w 72"/>
                <a:gd name="T17" fmla="*/ 36 h 120"/>
                <a:gd name="T18" fmla="*/ 36 w 72"/>
                <a:gd name="T19" fmla="*/ 0 h 120"/>
                <a:gd name="T20" fmla="*/ 60 w 72"/>
                <a:gd name="T21" fmla="*/ 108 h 120"/>
                <a:gd name="T22" fmla="*/ 12 w 72"/>
                <a:gd name="T23" fmla="*/ 108 h 120"/>
                <a:gd name="T24" fmla="*/ 12 w 72"/>
                <a:gd name="T25" fmla="*/ 36 h 120"/>
                <a:gd name="T26" fmla="*/ 36 w 72"/>
                <a:gd name="T27" fmla="*/ 12 h 120"/>
                <a:gd name="T28" fmla="*/ 60 w 72"/>
                <a:gd name="T29" fmla="*/ 36 h 120"/>
                <a:gd name="T30" fmla="*/ 60 w 72"/>
                <a:gd name="T31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2" h="120">
                  <a:moveTo>
                    <a:pt x="36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16"/>
                    <a:pt x="1" y="117"/>
                    <a:pt x="2" y="118"/>
                  </a:cubicBezTo>
                  <a:cubicBezTo>
                    <a:pt x="3" y="119"/>
                    <a:pt x="4" y="120"/>
                    <a:pt x="6" y="120"/>
                  </a:cubicBezTo>
                  <a:cubicBezTo>
                    <a:pt x="66" y="120"/>
                    <a:pt x="66" y="120"/>
                    <a:pt x="66" y="120"/>
                  </a:cubicBezTo>
                  <a:cubicBezTo>
                    <a:pt x="67" y="120"/>
                    <a:pt x="69" y="119"/>
                    <a:pt x="70" y="118"/>
                  </a:cubicBezTo>
                  <a:cubicBezTo>
                    <a:pt x="71" y="117"/>
                    <a:pt x="72" y="116"/>
                    <a:pt x="72" y="114"/>
                  </a:cubicBezTo>
                  <a:cubicBezTo>
                    <a:pt x="72" y="36"/>
                    <a:pt x="72" y="36"/>
                    <a:pt x="72" y="36"/>
                  </a:cubicBezTo>
                  <a:cubicBezTo>
                    <a:pt x="72" y="16"/>
                    <a:pt x="56" y="0"/>
                    <a:pt x="36" y="0"/>
                  </a:cubicBezTo>
                  <a:close/>
                  <a:moveTo>
                    <a:pt x="60" y="108"/>
                  </a:moveTo>
                  <a:cubicBezTo>
                    <a:pt x="12" y="108"/>
                    <a:pt x="12" y="108"/>
                    <a:pt x="12" y="108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23"/>
                    <a:pt x="23" y="12"/>
                    <a:pt x="36" y="12"/>
                  </a:cubicBezTo>
                  <a:cubicBezTo>
                    <a:pt x="49" y="12"/>
                    <a:pt x="60" y="23"/>
                    <a:pt x="60" y="36"/>
                  </a:cubicBezTo>
                  <a:lnTo>
                    <a:pt x="60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31" name="Freeform 68">
              <a:extLst>
                <a:ext uri="{FF2B5EF4-FFF2-40B4-BE49-F238E27FC236}">
                  <a16:creationId xmlns="" xmlns:a16="http://schemas.microsoft.com/office/drawing/2014/main" id="{BFE73F50-12DD-4CDC-B206-9C5E250391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1" y="1999"/>
              <a:ext cx="108" cy="107"/>
            </a:xfrm>
            <a:custGeom>
              <a:avLst/>
              <a:gdLst>
                <a:gd name="T0" fmla="*/ 35 w 71"/>
                <a:gd name="T1" fmla="*/ 72 h 72"/>
                <a:gd name="T2" fmla="*/ 71 w 71"/>
                <a:gd name="T3" fmla="*/ 36 h 72"/>
                <a:gd name="T4" fmla="*/ 35 w 71"/>
                <a:gd name="T5" fmla="*/ 0 h 72"/>
                <a:gd name="T6" fmla="*/ 0 w 71"/>
                <a:gd name="T7" fmla="*/ 36 h 72"/>
                <a:gd name="T8" fmla="*/ 35 w 71"/>
                <a:gd name="T9" fmla="*/ 72 h 72"/>
                <a:gd name="T10" fmla="*/ 35 w 71"/>
                <a:gd name="T11" fmla="*/ 12 h 72"/>
                <a:gd name="T12" fmla="*/ 59 w 71"/>
                <a:gd name="T13" fmla="*/ 36 h 72"/>
                <a:gd name="T14" fmla="*/ 35 w 71"/>
                <a:gd name="T15" fmla="*/ 60 h 72"/>
                <a:gd name="T16" fmla="*/ 11 w 71"/>
                <a:gd name="T17" fmla="*/ 36 h 72"/>
                <a:gd name="T18" fmla="*/ 35 w 71"/>
                <a:gd name="T19" fmla="*/ 1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1" h="72">
                  <a:moveTo>
                    <a:pt x="35" y="72"/>
                  </a:moveTo>
                  <a:cubicBezTo>
                    <a:pt x="55" y="72"/>
                    <a:pt x="71" y="56"/>
                    <a:pt x="71" y="36"/>
                  </a:cubicBezTo>
                  <a:cubicBezTo>
                    <a:pt x="71" y="17"/>
                    <a:pt x="55" y="0"/>
                    <a:pt x="35" y="0"/>
                  </a:cubicBezTo>
                  <a:cubicBezTo>
                    <a:pt x="16" y="0"/>
                    <a:pt x="0" y="17"/>
                    <a:pt x="0" y="36"/>
                  </a:cubicBezTo>
                  <a:cubicBezTo>
                    <a:pt x="0" y="56"/>
                    <a:pt x="16" y="72"/>
                    <a:pt x="35" y="72"/>
                  </a:cubicBezTo>
                  <a:close/>
                  <a:moveTo>
                    <a:pt x="35" y="12"/>
                  </a:moveTo>
                  <a:cubicBezTo>
                    <a:pt x="49" y="12"/>
                    <a:pt x="59" y="23"/>
                    <a:pt x="59" y="36"/>
                  </a:cubicBezTo>
                  <a:cubicBezTo>
                    <a:pt x="59" y="50"/>
                    <a:pt x="49" y="60"/>
                    <a:pt x="35" y="60"/>
                  </a:cubicBezTo>
                  <a:cubicBezTo>
                    <a:pt x="22" y="60"/>
                    <a:pt x="12" y="50"/>
                    <a:pt x="11" y="36"/>
                  </a:cubicBezTo>
                  <a:cubicBezTo>
                    <a:pt x="12" y="23"/>
                    <a:pt x="22" y="12"/>
                    <a:pt x="35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132" name="Freeform 69">
              <a:extLst>
                <a:ext uri="{FF2B5EF4-FFF2-40B4-BE49-F238E27FC236}">
                  <a16:creationId xmlns="" xmlns:a16="http://schemas.microsoft.com/office/drawing/2014/main" id="{51B75189-D206-438A-A657-04BD302DD5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31" y="2124"/>
              <a:ext cx="108" cy="179"/>
            </a:xfrm>
            <a:custGeom>
              <a:avLst/>
              <a:gdLst>
                <a:gd name="T0" fmla="*/ 35 w 71"/>
                <a:gd name="T1" fmla="*/ 0 h 120"/>
                <a:gd name="T2" fmla="*/ 0 w 71"/>
                <a:gd name="T3" fmla="*/ 36 h 120"/>
                <a:gd name="T4" fmla="*/ 0 w 71"/>
                <a:gd name="T5" fmla="*/ 114 h 120"/>
                <a:gd name="T6" fmla="*/ 1 w 71"/>
                <a:gd name="T7" fmla="*/ 118 h 120"/>
                <a:gd name="T8" fmla="*/ 6 w 71"/>
                <a:gd name="T9" fmla="*/ 120 h 120"/>
                <a:gd name="T10" fmla="*/ 65 w 71"/>
                <a:gd name="T11" fmla="*/ 120 h 120"/>
                <a:gd name="T12" fmla="*/ 70 w 71"/>
                <a:gd name="T13" fmla="*/ 118 h 120"/>
                <a:gd name="T14" fmla="*/ 71 w 71"/>
                <a:gd name="T15" fmla="*/ 114 h 120"/>
                <a:gd name="T16" fmla="*/ 71 w 71"/>
                <a:gd name="T17" fmla="*/ 36 h 120"/>
                <a:gd name="T18" fmla="*/ 35 w 71"/>
                <a:gd name="T19" fmla="*/ 0 h 120"/>
                <a:gd name="T20" fmla="*/ 59 w 71"/>
                <a:gd name="T21" fmla="*/ 108 h 120"/>
                <a:gd name="T22" fmla="*/ 11 w 71"/>
                <a:gd name="T23" fmla="*/ 108 h 120"/>
                <a:gd name="T24" fmla="*/ 11 w 71"/>
                <a:gd name="T25" fmla="*/ 36 h 120"/>
                <a:gd name="T26" fmla="*/ 35 w 71"/>
                <a:gd name="T27" fmla="*/ 12 h 120"/>
                <a:gd name="T28" fmla="*/ 59 w 71"/>
                <a:gd name="T29" fmla="*/ 36 h 120"/>
                <a:gd name="T30" fmla="*/ 59 w 71"/>
                <a:gd name="T31" fmla="*/ 10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71" h="120">
                  <a:moveTo>
                    <a:pt x="35" y="0"/>
                  </a:moveTo>
                  <a:cubicBezTo>
                    <a:pt x="16" y="0"/>
                    <a:pt x="0" y="16"/>
                    <a:pt x="0" y="36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16"/>
                    <a:pt x="0" y="117"/>
                    <a:pt x="1" y="118"/>
                  </a:cubicBezTo>
                  <a:cubicBezTo>
                    <a:pt x="2" y="119"/>
                    <a:pt x="4" y="120"/>
                    <a:pt x="6" y="120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67" y="120"/>
                    <a:pt x="69" y="119"/>
                    <a:pt x="70" y="118"/>
                  </a:cubicBezTo>
                  <a:cubicBezTo>
                    <a:pt x="71" y="117"/>
                    <a:pt x="71" y="116"/>
                    <a:pt x="71" y="114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71" y="16"/>
                    <a:pt x="55" y="0"/>
                    <a:pt x="35" y="0"/>
                  </a:cubicBezTo>
                  <a:close/>
                  <a:moveTo>
                    <a:pt x="59" y="108"/>
                  </a:moveTo>
                  <a:cubicBezTo>
                    <a:pt x="11" y="108"/>
                    <a:pt x="11" y="108"/>
                    <a:pt x="11" y="108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2" y="23"/>
                    <a:pt x="22" y="12"/>
                    <a:pt x="35" y="12"/>
                  </a:cubicBezTo>
                  <a:cubicBezTo>
                    <a:pt x="49" y="12"/>
                    <a:pt x="59" y="23"/>
                    <a:pt x="59" y="36"/>
                  </a:cubicBezTo>
                  <a:lnTo>
                    <a:pt x="59" y="1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134" name="Rettangolo 46">
            <a:extLst>
              <a:ext uri="{FF2B5EF4-FFF2-40B4-BE49-F238E27FC236}">
                <a16:creationId xmlns="" xmlns:a16="http://schemas.microsoft.com/office/drawing/2014/main" id="{94278E81-B4AF-4306-B9D6-1EC98B434610}"/>
              </a:ext>
            </a:extLst>
          </p:cNvPr>
          <p:cNvSpPr/>
          <p:nvPr/>
        </p:nvSpPr>
        <p:spPr>
          <a:xfrm>
            <a:off x="8713471" y="4343885"/>
            <a:ext cx="2900231" cy="5359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 iniziative devono garantire la partecipazione delle donne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="" xmlns:a16="http://schemas.microsoft.com/office/drawing/2014/main" id="{66F7FF06-01A9-4C9B-9811-FF847D954BF3}"/>
              </a:ext>
            </a:extLst>
          </p:cNvPr>
          <p:cNvSpPr txBox="1"/>
          <p:nvPr/>
        </p:nvSpPr>
        <p:spPr>
          <a:xfrm>
            <a:off x="8672896" y="4093510"/>
            <a:ext cx="2221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PARITÀ DI GENERE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="" xmlns:a16="http://schemas.microsoft.com/office/drawing/2014/main" id="{44080BDA-6A78-4068-8184-58D2925963D4}"/>
              </a:ext>
            </a:extLst>
          </p:cNvPr>
          <p:cNvSpPr txBox="1"/>
          <p:nvPr/>
        </p:nvSpPr>
        <p:spPr>
          <a:xfrm>
            <a:off x="8672896" y="5174661"/>
            <a:ext cx="2457537" cy="31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FUTURE GENERAZIONI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="" xmlns:a16="http://schemas.microsoft.com/office/drawing/2014/main" id="{62EF3E42-56DF-4F2F-94E0-913A1BA318AB}"/>
              </a:ext>
            </a:extLst>
          </p:cNvPr>
          <p:cNvSpPr txBox="1"/>
          <p:nvPr/>
        </p:nvSpPr>
        <p:spPr>
          <a:xfrm>
            <a:off x="8667243" y="5467331"/>
            <a:ext cx="3112968" cy="686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Gli interventi sono tesi a valorizzare e fornire benefici diretti e indiretti alle future generazioni</a:t>
            </a:r>
          </a:p>
        </p:txBody>
      </p:sp>
      <p:pic>
        <p:nvPicPr>
          <p:cNvPr id="138" name="Immagine 46">
            <a:extLst>
              <a:ext uri="{FF2B5EF4-FFF2-40B4-BE49-F238E27FC236}">
                <a16:creationId xmlns="" xmlns:a16="http://schemas.microsoft.com/office/drawing/2014/main" id="{FA3FE1B0-F232-4A2E-BF1B-1298A4FCC6F5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202234" y="2920719"/>
            <a:ext cx="458268" cy="45826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TextBox 145">
            <a:extLst>
              <a:ext uri="{FF2B5EF4-FFF2-40B4-BE49-F238E27FC236}">
                <a16:creationId xmlns="" xmlns:a16="http://schemas.microsoft.com/office/drawing/2014/main" id="{98CBCF4F-5651-49B2-BAD9-0E9C9D7CD037}"/>
              </a:ext>
            </a:extLst>
          </p:cNvPr>
          <p:cNvSpPr txBox="1"/>
          <p:nvPr/>
        </p:nvSpPr>
        <p:spPr>
          <a:xfrm>
            <a:off x="716936" y="2920719"/>
            <a:ext cx="3330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PROGETTI TRANSFRONTALIERI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MULTINAZIONALI</a:t>
            </a:r>
          </a:p>
        </p:txBody>
      </p:sp>
      <p:sp>
        <p:nvSpPr>
          <p:cNvPr id="145" name="Rettangolo 110">
            <a:extLst>
              <a:ext uri="{FF2B5EF4-FFF2-40B4-BE49-F238E27FC236}">
                <a16:creationId xmlns="" xmlns:a16="http://schemas.microsoft.com/office/drawing/2014/main" id="{FD06C849-CADA-4522-9B29-B4B44241453D}"/>
              </a:ext>
            </a:extLst>
          </p:cNvPr>
          <p:cNvSpPr/>
          <p:nvPr/>
        </p:nvSpPr>
        <p:spPr>
          <a:xfrm>
            <a:off x="804443" y="4093510"/>
            <a:ext cx="2160000" cy="448244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-5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INVESTIMENTI CHIAVE</a:t>
            </a: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476DB6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47" name="Rettangolo 46">
            <a:extLst>
              <a:ext uri="{FF2B5EF4-FFF2-40B4-BE49-F238E27FC236}">
                <a16:creationId xmlns="" xmlns:a16="http://schemas.microsoft.com/office/drawing/2014/main" id="{CD506B2D-DEFD-42B2-AAF5-42A8AC6CE864}"/>
              </a:ext>
            </a:extLst>
          </p:cNvPr>
          <p:cNvSpPr/>
          <p:nvPr/>
        </p:nvSpPr>
        <p:spPr>
          <a:xfrm>
            <a:off x="814357" y="4343885"/>
            <a:ext cx="2943876" cy="184714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Sviluppo della banda ultra larga fissa e reti 5G (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€ 6,7 Mld</a:t>
            </a: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Digitalizzazione delle imprese (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€ 13,4 Mld</a:t>
            </a: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Digitalizzazione della P.A. (</a:t>
            </a:r>
            <a:r>
              <a:rPr kumimoji="0" lang="it-IT" sz="1200" b="1" i="0" u="none" strike="noStrike" kern="1200" cap="none" spc="-5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€ 6,1 Mld</a:t>
            </a:r>
            <a:r>
              <a:rPr kumimoji="0" lang="it-IT" sz="1200" i="0" u="none" strike="noStrike" kern="1200" cap="none" spc="-5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="" xmlns:a16="http://schemas.microsoft.com/office/drawing/2014/main" id="{7BD2D20A-1EC7-4399-B6AB-C6D01ADC8CF1}"/>
              </a:ext>
            </a:extLst>
          </p:cNvPr>
          <p:cNvSpPr txBox="1"/>
          <p:nvPr/>
        </p:nvSpPr>
        <p:spPr>
          <a:xfrm>
            <a:off x="717954" y="3406809"/>
            <a:ext cx="2935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Partecipazione alle IPCEI pianificate cloud e microelettronica e sviluppo di reti 5G</a:t>
            </a:r>
          </a:p>
        </p:txBody>
      </p:sp>
      <p:pic>
        <p:nvPicPr>
          <p:cNvPr id="3" name="Graphic 2" descr="Connections with solid fill">
            <a:extLst>
              <a:ext uri="{FF2B5EF4-FFF2-40B4-BE49-F238E27FC236}">
                <a16:creationId xmlns="" xmlns:a16="http://schemas.microsoft.com/office/drawing/2014/main" id="{DE48C709-CD4D-451A-BD81-AE6EF3B150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0755" y="4093510"/>
            <a:ext cx="425854" cy="425854"/>
          </a:xfrm>
          <a:prstGeom prst="rect">
            <a:avLst/>
          </a:prstGeom>
        </p:spPr>
      </p:pic>
      <p:grpSp>
        <p:nvGrpSpPr>
          <p:cNvPr id="151" name="Group 150">
            <a:extLst>
              <a:ext uri="{FF2B5EF4-FFF2-40B4-BE49-F238E27FC236}">
                <a16:creationId xmlns="" xmlns:a16="http://schemas.microsoft.com/office/drawing/2014/main" id="{1658E2F8-F70E-47E4-B91D-5A127235A7DC}"/>
              </a:ext>
            </a:extLst>
          </p:cNvPr>
          <p:cNvGrpSpPr/>
          <p:nvPr/>
        </p:nvGrpSpPr>
        <p:grpSpPr>
          <a:xfrm>
            <a:off x="227449" y="2920719"/>
            <a:ext cx="312467" cy="335164"/>
            <a:chOff x="9513888" y="2841625"/>
            <a:chExt cx="498475" cy="595313"/>
          </a:xfrm>
          <a:solidFill>
            <a:srgbClr val="476DB6"/>
          </a:solidFill>
        </p:grpSpPr>
        <p:sp>
          <p:nvSpPr>
            <p:cNvPr id="152" name="Freeform 70">
              <a:extLst>
                <a:ext uri="{FF2B5EF4-FFF2-40B4-BE49-F238E27FC236}">
                  <a16:creationId xmlns="" xmlns:a16="http://schemas.microsoft.com/office/drawing/2014/main" id="{F898295D-9486-4793-8D5E-5F1007E3E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8525" y="3167063"/>
              <a:ext cx="157163" cy="269875"/>
            </a:xfrm>
            <a:custGeom>
              <a:avLst/>
              <a:gdLst>
                <a:gd name="T0" fmla="*/ 14 w 24"/>
                <a:gd name="T1" fmla="*/ 0 h 40"/>
                <a:gd name="T2" fmla="*/ 10 w 24"/>
                <a:gd name="T3" fmla="*/ 0 h 40"/>
                <a:gd name="T4" fmla="*/ 0 w 24"/>
                <a:gd name="T5" fmla="*/ 10 h 40"/>
                <a:gd name="T6" fmla="*/ 0 w 24"/>
                <a:gd name="T7" fmla="*/ 30 h 40"/>
                <a:gd name="T8" fmla="*/ 10 w 24"/>
                <a:gd name="T9" fmla="*/ 40 h 40"/>
                <a:gd name="T10" fmla="*/ 14 w 24"/>
                <a:gd name="T11" fmla="*/ 40 h 40"/>
                <a:gd name="T12" fmla="*/ 24 w 24"/>
                <a:gd name="T13" fmla="*/ 30 h 40"/>
                <a:gd name="T14" fmla="*/ 24 w 24"/>
                <a:gd name="T15" fmla="*/ 22 h 40"/>
                <a:gd name="T16" fmla="*/ 22 w 24"/>
                <a:gd name="T17" fmla="*/ 20 h 40"/>
                <a:gd name="T18" fmla="*/ 10 w 24"/>
                <a:gd name="T19" fmla="*/ 20 h 40"/>
                <a:gd name="T20" fmla="*/ 8 w 24"/>
                <a:gd name="T21" fmla="*/ 22 h 40"/>
                <a:gd name="T22" fmla="*/ 10 w 24"/>
                <a:gd name="T23" fmla="*/ 24 h 40"/>
                <a:gd name="T24" fmla="*/ 20 w 24"/>
                <a:gd name="T25" fmla="*/ 24 h 40"/>
                <a:gd name="T26" fmla="*/ 20 w 24"/>
                <a:gd name="T27" fmla="*/ 30 h 40"/>
                <a:gd name="T28" fmla="*/ 14 w 24"/>
                <a:gd name="T29" fmla="*/ 36 h 40"/>
                <a:gd name="T30" fmla="*/ 10 w 24"/>
                <a:gd name="T31" fmla="*/ 36 h 40"/>
                <a:gd name="T32" fmla="*/ 4 w 24"/>
                <a:gd name="T33" fmla="*/ 30 h 40"/>
                <a:gd name="T34" fmla="*/ 4 w 24"/>
                <a:gd name="T35" fmla="*/ 10 h 40"/>
                <a:gd name="T36" fmla="*/ 10 w 24"/>
                <a:gd name="T37" fmla="*/ 4 h 40"/>
                <a:gd name="T38" fmla="*/ 14 w 24"/>
                <a:gd name="T39" fmla="*/ 4 h 40"/>
                <a:gd name="T40" fmla="*/ 20 w 24"/>
                <a:gd name="T41" fmla="*/ 10 h 40"/>
                <a:gd name="T42" fmla="*/ 20 w 24"/>
                <a:gd name="T43" fmla="*/ 14 h 40"/>
                <a:gd name="T44" fmla="*/ 22 w 24"/>
                <a:gd name="T45" fmla="*/ 16 h 40"/>
                <a:gd name="T46" fmla="*/ 24 w 24"/>
                <a:gd name="T47" fmla="*/ 14 h 40"/>
                <a:gd name="T48" fmla="*/ 24 w 24"/>
                <a:gd name="T49" fmla="*/ 10 h 40"/>
                <a:gd name="T50" fmla="*/ 14 w 24"/>
                <a:gd name="T5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40">
                  <a:moveTo>
                    <a:pt x="14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36"/>
                    <a:pt x="4" y="40"/>
                    <a:pt x="10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20" y="40"/>
                    <a:pt x="24" y="36"/>
                    <a:pt x="24" y="30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4" y="21"/>
                    <a:pt x="23" y="20"/>
                    <a:pt x="22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9" y="20"/>
                    <a:pt x="8" y="21"/>
                    <a:pt x="8" y="22"/>
                  </a:cubicBezTo>
                  <a:cubicBezTo>
                    <a:pt x="8" y="23"/>
                    <a:pt x="9" y="24"/>
                    <a:pt x="1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3"/>
                    <a:pt x="17" y="36"/>
                    <a:pt x="14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7" y="36"/>
                    <a:pt x="4" y="33"/>
                    <a:pt x="4" y="30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7"/>
                    <a:pt x="7" y="4"/>
                    <a:pt x="10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7" y="4"/>
                    <a:pt x="20" y="7"/>
                    <a:pt x="20" y="10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5"/>
                    <a:pt x="21" y="16"/>
                    <a:pt x="22" y="16"/>
                  </a:cubicBezTo>
                  <a:cubicBezTo>
                    <a:pt x="23" y="16"/>
                    <a:pt x="24" y="15"/>
                    <a:pt x="24" y="14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4" y="4"/>
                    <a:pt x="20" y="0"/>
                    <a:pt x="1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3" name="Freeform 71">
              <a:extLst>
                <a:ext uri="{FF2B5EF4-FFF2-40B4-BE49-F238E27FC236}">
                  <a16:creationId xmlns="" xmlns:a16="http://schemas.microsoft.com/office/drawing/2014/main" id="{49C4BF6C-52CF-4AE1-8596-9352D00BA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8975" y="3167063"/>
              <a:ext cx="144463" cy="269875"/>
            </a:xfrm>
            <a:custGeom>
              <a:avLst/>
              <a:gdLst>
                <a:gd name="T0" fmla="*/ 20 w 22"/>
                <a:gd name="T1" fmla="*/ 4 h 40"/>
                <a:gd name="T2" fmla="*/ 22 w 22"/>
                <a:gd name="T3" fmla="*/ 2 h 40"/>
                <a:gd name="T4" fmla="*/ 20 w 22"/>
                <a:gd name="T5" fmla="*/ 0 h 40"/>
                <a:gd name="T6" fmla="*/ 2 w 22"/>
                <a:gd name="T7" fmla="*/ 0 h 40"/>
                <a:gd name="T8" fmla="*/ 0 w 22"/>
                <a:gd name="T9" fmla="*/ 2 h 40"/>
                <a:gd name="T10" fmla="*/ 0 w 22"/>
                <a:gd name="T11" fmla="*/ 18 h 40"/>
                <a:gd name="T12" fmla="*/ 1 w 22"/>
                <a:gd name="T13" fmla="*/ 19 h 40"/>
                <a:gd name="T14" fmla="*/ 2 w 22"/>
                <a:gd name="T15" fmla="*/ 20 h 40"/>
                <a:gd name="T16" fmla="*/ 2 w 22"/>
                <a:gd name="T17" fmla="*/ 20 h 40"/>
                <a:gd name="T18" fmla="*/ 12 w 22"/>
                <a:gd name="T19" fmla="*/ 20 h 40"/>
                <a:gd name="T20" fmla="*/ 18 w 22"/>
                <a:gd name="T21" fmla="*/ 28 h 40"/>
                <a:gd name="T22" fmla="*/ 12 w 22"/>
                <a:gd name="T23" fmla="*/ 36 h 40"/>
                <a:gd name="T24" fmla="*/ 2 w 22"/>
                <a:gd name="T25" fmla="*/ 36 h 40"/>
                <a:gd name="T26" fmla="*/ 0 w 22"/>
                <a:gd name="T27" fmla="*/ 38 h 40"/>
                <a:gd name="T28" fmla="*/ 2 w 22"/>
                <a:gd name="T29" fmla="*/ 40 h 40"/>
                <a:gd name="T30" fmla="*/ 12 w 22"/>
                <a:gd name="T31" fmla="*/ 40 h 40"/>
                <a:gd name="T32" fmla="*/ 22 w 22"/>
                <a:gd name="T33" fmla="*/ 28 h 40"/>
                <a:gd name="T34" fmla="*/ 12 w 22"/>
                <a:gd name="T35" fmla="*/ 16 h 40"/>
                <a:gd name="T36" fmla="*/ 4 w 22"/>
                <a:gd name="T37" fmla="*/ 16 h 40"/>
                <a:gd name="T38" fmla="*/ 4 w 22"/>
                <a:gd name="T39" fmla="*/ 4 h 40"/>
                <a:gd name="T40" fmla="*/ 20 w 22"/>
                <a:gd name="T41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40">
                  <a:moveTo>
                    <a:pt x="20" y="4"/>
                  </a:moveTo>
                  <a:cubicBezTo>
                    <a:pt x="21" y="4"/>
                    <a:pt x="22" y="3"/>
                    <a:pt x="22" y="2"/>
                  </a:cubicBezTo>
                  <a:cubicBezTo>
                    <a:pt x="22" y="1"/>
                    <a:pt x="21" y="0"/>
                    <a:pt x="2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1" y="19"/>
                  </a:cubicBezTo>
                  <a:cubicBezTo>
                    <a:pt x="1" y="20"/>
                    <a:pt x="1" y="20"/>
                    <a:pt x="2" y="2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7" y="20"/>
                    <a:pt x="18" y="25"/>
                    <a:pt x="18" y="28"/>
                  </a:cubicBezTo>
                  <a:cubicBezTo>
                    <a:pt x="18" y="30"/>
                    <a:pt x="18" y="36"/>
                    <a:pt x="1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1" y="36"/>
                    <a:pt x="0" y="37"/>
                    <a:pt x="0" y="38"/>
                  </a:cubicBezTo>
                  <a:cubicBezTo>
                    <a:pt x="0" y="39"/>
                    <a:pt x="1" y="40"/>
                    <a:pt x="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9" y="40"/>
                    <a:pt x="22" y="33"/>
                    <a:pt x="22" y="28"/>
                  </a:cubicBezTo>
                  <a:cubicBezTo>
                    <a:pt x="22" y="22"/>
                    <a:pt x="19" y="16"/>
                    <a:pt x="12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20" y="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Freeform 72">
              <a:extLst>
                <a:ext uri="{FF2B5EF4-FFF2-40B4-BE49-F238E27FC236}">
                  <a16:creationId xmlns="" xmlns:a16="http://schemas.microsoft.com/office/drawing/2014/main" id="{C9B73CB2-2C5A-42E8-BA7E-966CCAEF8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2313" y="3003550"/>
              <a:ext cx="301625" cy="95250"/>
            </a:xfrm>
            <a:custGeom>
              <a:avLst/>
              <a:gdLst>
                <a:gd name="T0" fmla="*/ 42 w 46"/>
                <a:gd name="T1" fmla="*/ 13 h 14"/>
                <a:gd name="T2" fmla="*/ 44 w 46"/>
                <a:gd name="T3" fmla="*/ 14 h 14"/>
                <a:gd name="T4" fmla="*/ 45 w 46"/>
                <a:gd name="T5" fmla="*/ 14 h 14"/>
                <a:gd name="T6" fmla="*/ 45 w 46"/>
                <a:gd name="T7" fmla="*/ 11 h 14"/>
                <a:gd name="T8" fmla="*/ 23 w 46"/>
                <a:gd name="T9" fmla="*/ 0 h 14"/>
                <a:gd name="T10" fmla="*/ 1 w 46"/>
                <a:gd name="T11" fmla="*/ 11 h 14"/>
                <a:gd name="T12" fmla="*/ 1 w 46"/>
                <a:gd name="T13" fmla="*/ 14 h 14"/>
                <a:gd name="T14" fmla="*/ 4 w 46"/>
                <a:gd name="T15" fmla="*/ 13 h 14"/>
                <a:gd name="T16" fmla="*/ 23 w 46"/>
                <a:gd name="T17" fmla="*/ 4 h 14"/>
                <a:gd name="T18" fmla="*/ 42 w 46"/>
                <a:gd name="T19" fmla="*/ 1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14">
                  <a:moveTo>
                    <a:pt x="42" y="13"/>
                  </a:moveTo>
                  <a:cubicBezTo>
                    <a:pt x="42" y="14"/>
                    <a:pt x="43" y="14"/>
                    <a:pt x="44" y="14"/>
                  </a:cubicBezTo>
                  <a:cubicBezTo>
                    <a:pt x="44" y="14"/>
                    <a:pt x="44" y="14"/>
                    <a:pt x="45" y="14"/>
                  </a:cubicBezTo>
                  <a:cubicBezTo>
                    <a:pt x="46" y="13"/>
                    <a:pt x="46" y="12"/>
                    <a:pt x="45" y="11"/>
                  </a:cubicBezTo>
                  <a:cubicBezTo>
                    <a:pt x="40" y="4"/>
                    <a:pt x="32" y="0"/>
                    <a:pt x="23" y="0"/>
                  </a:cubicBezTo>
                  <a:cubicBezTo>
                    <a:pt x="14" y="0"/>
                    <a:pt x="6" y="4"/>
                    <a:pt x="1" y="11"/>
                  </a:cubicBezTo>
                  <a:cubicBezTo>
                    <a:pt x="0" y="12"/>
                    <a:pt x="0" y="13"/>
                    <a:pt x="1" y="14"/>
                  </a:cubicBezTo>
                  <a:cubicBezTo>
                    <a:pt x="2" y="14"/>
                    <a:pt x="3" y="14"/>
                    <a:pt x="4" y="13"/>
                  </a:cubicBezTo>
                  <a:cubicBezTo>
                    <a:pt x="9" y="7"/>
                    <a:pt x="16" y="4"/>
                    <a:pt x="23" y="4"/>
                  </a:cubicBezTo>
                  <a:cubicBezTo>
                    <a:pt x="31" y="4"/>
                    <a:pt x="37" y="7"/>
                    <a:pt x="42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 73">
              <a:extLst>
                <a:ext uri="{FF2B5EF4-FFF2-40B4-BE49-F238E27FC236}">
                  <a16:creationId xmlns="" xmlns:a16="http://schemas.microsoft.com/office/drawing/2014/main" id="{3A8D0F69-CDC6-4BE9-8109-DE5DA2E11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9566275" y="2922588"/>
              <a:ext cx="392113" cy="122238"/>
            </a:xfrm>
            <a:custGeom>
              <a:avLst/>
              <a:gdLst>
                <a:gd name="T0" fmla="*/ 30 w 60"/>
                <a:gd name="T1" fmla="*/ 0 h 18"/>
                <a:gd name="T2" fmla="*/ 0 w 60"/>
                <a:gd name="T3" fmla="*/ 14 h 18"/>
                <a:gd name="T4" fmla="*/ 1 w 60"/>
                <a:gd name="T5" fmla="*/ 17 h 18"/>
                <a:gd name="T6" fmla="*/ 2 w 60"/>
                <a:gd name="T7" fmla="*/ 17 h 18"/>
                <a:gd name="T8" fmla="*/ 4 w 60"/>
                <a:gd name="T9" fmla="*/ 17 h 18"/>
                <a:gd name="T10" fmla="*/ 30 w 60"/>
                <a:gd name="T11" fmla="*/ 4 h 18"/>
                <a:gd name="T12" fmla="*/ 57 w 60"/>
                <a:gd name="T13" fmla="*/ 17 h 18"/>
                <a:gd name="T14" fmla="*/ 59 w 60"/>
                <a:gd name="T15" fmla="*/ 17 h 18"/>
                <a:gd name="T16" fmla="*/ 60 w 60"/>
                <a:gd name="T17" fmla="*/ 14 h 18"/>
                <a:gd name="T18" fmla="*/ 30 w 60"/>
                <a:gd name="T1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8">
                  <a:moveTo>
                    <a:pt x="30" y="0"/>
                  </a:moveTo>
                  <a:cubicBezTo>
                    <a:pt x="18" y="0"/>
                    <a:pt x="8" y="5"/>
                    <a:pt x="0" y="14"/>
                  </a:cubicBezTo>
                  <a:cubicBezTo>
                    <a:pt x="0" y="15"/>
                    <a:pt x="0" y="16"/>
                    <a:pt x="1" y="17"/>
                  </a:cubicBezTo>
                  <a:cubicBezTo>
                    <a:pt x="1" y="17"/>
                    <a:pt x="2" y="17"/>
                    <a:pt x="2" y="17"/>
                  </a:cubicBezTo>
                  <a:cubicBezTo>
                    <a:pt x="3" y="17"/>
                    <a:pt x="3" y="17"/>
                    <a:pt x="4" y="17"/>
                  </a:cubicBezTo>
                  <a:cubicBezTo>
                    <a:pt x="10" y="9"/>
                    <a:pt x="20" y="4"/>
                    <a:pt x="30" y="4"/>
                  </a:cubicBezTo>
                  <a:cubicBezTo>
                    <a:pt x="40" y="4"/>
                    <a:pt x="50" y="9"/>
                    <a:pt x="57" y="17"/>
                  </a:cubicBezTo>
                  <a:cubicBezTo>
                    <a:pt x="57" y="17"/>
                    <a:pt x="58" y="18"/>
                    <a:pt x="59" y="17"/>
                  </a:cubicBezTo>
                  <a:cubicBezTo>
                    <a:pt x="60" y="16"/>
                    <a:pt x="60" y="15"/>
                    <a:pt x="60" y="14"/>
                  </a:cubicBezTo>
                  <a:cubicBezTo>
                    <a:pt x="52" y="5"/>
                    <a:pt x="42" y="0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Freeform 74">
              <a:extLst>
                <a:ext uri="{FF2B5EF4-FFF2-40B4-BE49-F238E27FC236}">
                  <a16:creationId xmlns="" xmlns:a16="http://schemas.microsoft.com/office/drawing/2014/main" id="{D8338546-4589-413E-B6C8-F85B015BC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3888" y="2841625"/>
              <a:ext cx="498475" cy="149225"/>
            </a:xfrm>
            <a:custGeom>
              <a:avLst/>
              <a:gdLst>
                <a:gd name="T0" fmla="*/ 76 w 76"/>
                <a:gd name="T1" fmla="*/ 18 h 22"/>
                <a:gd name="T2" fmla="*/ 38 w 76"/>
                <a:gd name="T3" fmla="*/ 0 h 22"/>
                <a:gd name="T4" fmla="*/ 0 w 76"/>
                <a:gd name="T5" fmla="*/ 18 h 22"/>
                <a:gd name="T6" fmla="*/ 1 w 76"/>
                <a:gd name="T7" fmla="*/ 21 h 22"/>
                <a:gd name="T8" fmla="*/ 4 w 76"/>
                <a:gd name="T9" fmla="*/ 21 h 22"/>
                <a:gd name="T10" fmla="*/ 38 w 76"/>
                <a:gd name="T11" fmla="*/ 4 h 22"/>
                <a:gd name="T12" fmla="*/ 73 w 76"/>
                <a:gd name="T13" fmla="*/ 21 h 22"/>
                <a:gd name="T14" fmla="*/ 74 w 76"/>
                <a:gd name="T15" fmla="*/ 21 h 22"/>
                <a:gd name="T16" fmla="*/ 75 w 76"/>
                <a:gd name="T17" fmla="*/ 21 h 22"/>
                <a:gd name="T18" fmla="*/ 76 w 76"/>
                <a:gd name="T19" fmla="*/ 18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6" h="22">
                  <a:moveTo>
                    <a:pt x="76" y="18"/>
                  </a:moveTo>
                  <a:cubicBezTo>
                    <a:pt x="67" y="7"/>
                    <a:pt x="53" y="0"/>
                    <a:pt x="38" y="0"/>
                  </a:cubicBezTo>
                  <a:cubicBezTo>
                    <a:pt x="23" y="0"/>
                    <a:pt x="10" y="7"/>
                    <a:pt x="0" y="18"/>
                  </a:cubicBezTo>
                  <a:cubicBezTo>
                    <a:pt x="0" y="19"/>
                    <a:pt x="0" y="20"/>
                    <a:pt x="1" y="21"/>
                  </a:cubicBezTo>
                  <a:cubicBezTo>
                    <a:pt x="2" y="22"/>
                    <a:pt x="3" y="22"/>
                    <a:pt x="4" y="21"/>
                  </a:cubicBezTo>
                  <a:cubicBezTo>
                    <a:pt x="12" y="10"/>
                    <a:pt x="25" y="4"/>
                    <a:pt x="38" y="4"/>
                  </a:cubicBezTo>
                  <a:cubicBezTo>
                    <a:pt x="52" y="4"/>
                    <a:pt x="64" y="10"/>
                    <a:pt x="73" y="21"/>
                  </a:cubicBezTo>
                  <a:cubicBezTo>
                    <a:pt x="73" y="21"/>
                    <a:pt x="74" y="21"/>
                    <a:pt x="74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6" y="20"/>
                    <a:pt x="76" y="19"/>
                    <a:pt x="7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9" name="Graphic 8" descr="Child with balloon outline">
            <a:extLst>
              <a:ext uri="{FF2B5EF4-FFF2-40B4-BE49-F238E27FC236}">
                <a16:creationId xmlns="" xmlns:a16="http://schemas.microsoft.com/office/drawing/2014/main" id="{E1EC4E83-E8AC-4A8D-ADFC-B7B3DF12495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87557" y="5174661"/>
            <a:ext cx="525914" cy="525914"/>
          </a:xfrm>
          <a:prstGeom prst="rect">
            <a:avLst/>
          </a:prstGeom>
        </p:spPr>
      </p:pic>
      <p:grpSp>
        <p:nvGrpSpPr>
          <p:cNvPr id="163" name="Group 162">
            <a:extLst>
              <a:ext uri="{FF2B5EF4-FFF2-40B4-BE49-F238E27FC236}">
                <a16:creationId xmlns="" xmlns:a16="http://schemas.microsoft.com/office/drawing/2014/main" id="{B8054774-4D06-40FF-BD44-8DA6FC76B896}"/>
              </a:ext>
            </a:extLst>
          </p:cNvPr>
          <p:cNvGrpSpPr/>
          <p:nvPr/>
        </p:nvGrpSpPr>
        <p:grpSpPr>
          <a:xfrm>
            <a:off x="306599" y="2216196"/>
            <a:ext cx="524224" cy="492293"/>
            <a:chOff x="4114987" y="3405648"/>
            <a:chExt cx="697742" cy="720765"/>
          </a:xfrm>
        </p:grpSpPr>
        <p:sp>
          <p:nvSpPr>
            <p:cNvPr id="164" name="Oval 163">
              <a:extLst>
                <a:ext uri="{FF2B5EF4-FFF2-40B4-BE49-F238E27FC236}">
                  <a16:creationId xmlns="" xmlns:a16="http://schemas.microsoft.com/office/drawing/2014/main" id="{8927780C-7684-48F3-9E90-AAE40872CB27}"/>
                </a:ext>
              </a:extLst>
            </p:cNvPr>
            <p:cNvSpPr/>
            <p:nvPr/>
          </p:nvSpPr>
          <p:spPr>
            <a:xfrm>
              <a:off x="4114987" y="3405648"/>
              <a:ext cx="697742" cy="720765"/>
            </a:xfrm>
            <a:prstGeom prst="ellipse">
              <a:avLst/>
            </a:prstGeom>
            <a:solidFill>
              <a:srgbClr val="476DB6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5" name="object 26">
              <a:extLst>
                <a:ext uri="{FF2B5EF4-FFF2-40B4-BE49-F238E27FC236}">
                  <a16:creationId xmlns="" xmlns:a16="http://schemas.microsoft.com/office/drawing/2014/main" id="{4C5364F4-5CDC-4F5E-8164-81FA8F30E1C0}"/>
                </a:ext>
              </a:extLst>
            </p:cNvPr>
            <p:cNvSpPr txBox="1"/>
            <p:nvPr/>
          </p:nvSpPr>
          <p:spPr>
            <a:xfrm>
              <a:off x="4162110" y="3648250"/>
              <a:ext cx="650619" cy="287268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9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200" b="1" i="0" u="none" strike="noStrike" kern="1200" cap="none" spc="-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25,1</a:t>
              </a:r>
              <a:r>
                <a:rPr kumimoji="0" lang="x-none" sz="1200" b="1" i="0" u="none" strike="noStrike" kern="1200" cap="none" spc="-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rPr>
                <a:t>%</a:t>
              </a:r>
              <a:endParaRPr kumimoji="0" lang="x-none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sp>
        <p:nvSpPr>
          <p:cNvPr id="139" name="Text Placeholder 2">
            <a:extLst>
              <a:ext uri="{FF2B5EF4-FFF2-40B4-BE49-F238E27FC236}">
                <a16:creationId xmlns="" xmlns:a16="http://schemas.microsoft.com/office/drawing/2014/main" id="{A30AB8A0-D072-4242-9080-7F80572B6D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847" y="254521"/>
            <a:ext cx="8494999" cy="237757"/>
          </a:xfrm>
        </p:spPr>
        <p:txBody>
          <a:bodyPr vert="horz" wrap="square" lIns="0" tIns="45720" rIns="91440" bIns="45720" rtlCol="0" anchor="t">
            <a:spAutoFit/>
          </a:bodyPr>
          <a:lstStyle/>
          <a:p>
            <a:r>
              <a:rPr lang="it-IT">
                <a:latin typeface="Arial"/>
                <a:cs typeface="Arial"/>
              </a:rPr>
              <a:t>IL PIANO NAZIONALE DI RIPRESA E RESILIENZA: uno sguardo d’insieme</a:t>
            </a:r>
            <a:endParaRPr lang="x-none"/>
          </a:p>
        </p:txBody>
      </p:sp>
      <p:sp>
        <p:nvSpPr>
          <p:cNvPr id="98" name="Rettangolo 97"/>
          <p:cNvSpPr/>
          <p:nvPr/>
        </p:nvSpPr>
        <p:spPr>
          <a:xfrm>
            <a:off x="354335" y="6459055"/>
            <a:ext cx="2958957" cy="228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3529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41">
            <a:extLst>
              <a:ext uri="{FF2B5EF4-FFF2-40B4-BE49-F238E27FC236}">
                <a16:creationId xmlns="" xmlns:a16="http://schemas.microsoft.com/office/drawing/2014/main" id="{1F8632BD-A72D-414B-A8D6-28EB4D1B65E1}"/>
              </a:ext>
            </a:extLst>
          </p:cNvPr>
          <p:cNvSpPr/>
          <p:nvPr/>
        </p:nvSpPr>
        <p:spPr>
          <a:xfrm>
            <a:off x="0" y="3571309"/>
            <a:ext cx="12192000" cy="2232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x-non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="" xmlns:a16="http://schemas.microsoft.com/office/drawing/2014/main" id="{6B5F6A5C-9D32-4E04-B418-581A68074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PNRR: PANORAMICA</a:t>
            </a:r>
          </a:p>
        </p:txBody>
      </p:sp>
      <p:sp>
        <p:nvSpPr>
          <p:cNvPr id="72" name="Rettangolo 71">
            <a:extLst>
              <a:ext uri="{FF2B5EF4-FFF2-40B4-BE49-F238E27FC236}">
                <a16:creationId xmlns="" xmlns:a16="http://schemas.microsoft.com/office/drawing/2014/main" id="{410331BC-B9DE-DC48-81C8-D778AEE074AC}"/>
              </a:ext>
            </a:extLst>
          </p:cNvPr>
          <p:cNvSpPr/>
          <p:nvPr/>
        </p:nvSpPr>
        <p:spPr>
          <a:xfrm>
            <a:off x="6308471" y="4089996"/>
            <a:ext cx="924651" cy="924651"/>
          </a:xfrm>
          <a:prstGeom prst="rect">
            <a:avLst/>
          </a:prstGeom>
          <a:solidFill>
            <a:srgbClr val="476D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rgbClr val="0A2542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3" name="Elemento grafico 72" descr="Euro con riempimento a tinta unita">
            <a:extLst>
              <a:ext uri="{FF2B5EF4-FFF2-40B4-BE49-F238E27FC236}">
                <a16:creationId xmlns="" xmlns:a16="http://schemas.microsoft.com/office/drawing/2014/main" id="{BAE3AD63-2292-0B4D-88A0-C0B3CD680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01468" y="4282993"/>
            <a:ext cx="538657" cy="538657"/>
          </a:xfrm>
          <a:prstGeom prst="rect">
            <a:avLst/>
          </a:prstGeom>
        </p:spPr>
      </p:pic>
      <p:sp>
        <p:nvSpPr>
          <p:cNvPr id="74" name="Rettangolo 73">
            <a:extLst>
              <a:ext uri="{FF2B5EF4-FFF2-40B4-BE49-F238E27FC236}">
                <a16:creationId xmlns="" xmlns:a16="http://schemas.microsoft.com/office/drawing/2014/main" id="{209FA700-48F0-0B40-89F2-377F528E16B4}"/>
              </a:ext>
            </a:extLst>
          </p:cNvPr>
          <p:cNvSpPr/>
          <p:nvPr/>
        </p:nvSpPr>
        <p:spPr>
          <a:xfrm>
            <a:off x="7507234" y="3952406"/>
            <a:ext cx="4005101" cy="77857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€ 191,5 </a:t>
            </a:r>
            <a:r>
              <a:rPr kumimoji="0" lang="it-IT" sz="3600" b="0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Mld</a:t>
            </a:r>
          </a:p>
        </p:txBody>
      </p:sp>
      <p:sp>
        <p:nvSpPr>
          <p:cNvPr id="76" name="Rettangolo 75">
            <a:extLst>
              <a:ext uri="{FF2B5EF4-FFF2-40B4-BE49-F238E27FC236}">
                <a16:creationId xmlns="" xmlns:a16="http://schemas.microsoft.com/office/drawing/2014/main" id="{79F09386-5DF5-2644-8F9C-9B03C0145E88}"/>
              </a:ext>
            </a:extLst>
          </p:cNvPr>
          <p:cNvSpPr/>
          <p:nvPr/>
        </p:nvSpPr>
        <p:spPr>
          <a:xfrm>
            <a:off x="1239291" y="4067087"/>
            <a:ext cx="924651" cy="924651"/>
          </a:xfrm>
          <a:prstGeom prst="rect">
            <a:avLst/>
          </a:prstGeom>
          <a:solidFill>
            <a:srgbClr val="476D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1" i="0" u="none" strike="noStrike" kern="1200" cap="none" spc="0" normalizeH="0" baseline="0" noProof="0">
              <a:ln>
                <a:noFill/>
              </a:ln>
              <a:solidFill>
                <a:srgbClr val="0A2542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7" name="Rettangolo 76">
            <a:extLst>
              <a:ext uri="{FF2B5EF4-FFF2-40B4-BE49-F238E27FC236}">
                <a16:creationId xmlns="" xmlns:a16="http://schemas.microsoft.com/office/drawing/2014/main" id="{3A64649A-0E52-334F-9725-6C6C5944349F}"/>
              </a:ext>
            </a:extLst>
          </p:cNvPr>
          <p:cNvSpPr/>
          <p:nvPr/>
        </p:nvSpPr>
        <p:spPr>
          <a:xfrm>
            <a:off x="2414376" y="3876635"/>
            <a:ext cx="3662413" cy="1351371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527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400" b="0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Traguardi &amp; Obiettivi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1017DC22-111A-E64F-AB27-0166A569E0CF}"/>
              </a:ext>
            </a:extLst>
          </p:cNvPr>
          <p:cNvSpPr/>
          <p:nvPr/>
        </p:nvSpPr>
        <p:spPr>
          <a:xfrm>
            <a:off x="7453498" y="4587347"/>
            <a:ext cx="3662413" cy="678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€ 68,9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Mld di sovvenzioni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€ 122,6 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A264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Mld di prestiti</a:t>
            </a:r>
          </a:p>
        </p:txBody>
      </p:sp>
      <p:grpSp>
        <p:nvGrpSpPr>
          <p:cNvPr id="35" name="Group 49">
            <a:extLst>
              <a:ext uri="{FF2B5EF4-FFF2-40B4-BE49-F238E27FC236}">
                <a16:creationId xmlns="" xmlns:a16="http://schemas.microsoft.com/office/drawing/2014/main" id="{0DF57465-5BF0-7343-9496-FAD1AA79248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378440" y="4197166"/>
            <a:ext cx="343477" cy="392152"/>
            <a:chOff x="6566" y="437"/>
            <a:chExt cx="374" cy="427"/>
          </a:xfrm>
          <a:solidFill>
            <a:schemeClr val="bg1"/>
          </a:solidFill>
        </p:grpSpPr>
        <p:sp>
          <p:nvSpPr>
            <p:cNvPr id="38" name="Freeform 50">
              <a:extLst>
                <a:ext uri="{FF2B5EF4-FFF2-40B4-BE49-F238E27FC236}">
                  <a16:creationId xmlns="" xmlns:a16="http://schemas.microsoft.com/office/drawing/2014/main" id="{0B12911E-86ED-E54D-8757-22756C1888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01" y="455"/>
              <a:ext cx="339" cy="231"/>
            </a:xfrm>
            <a:custGeom>
              <a:avLst/>
              <a:gdLst>
                <a:gd name="T0" fmla="*/ 222 w 229"/>
                <a:gd name="T1" fmla="*/ 156 h 156"/>
                <a:gd name="T2" fmla="*/ 6 w 229"/>
                <a:gd name="T3" fmla="*/ 156 h 156"/>
                <a:gd name="T4" fmla="*/ 0 w 229"/>
                <a:gd name="T5" fmla="*/ 150 h 156"/>
                <a:gd name="T6" fmla="*/ 0 w 229"/>
                <a:gd name="T7" fmla="*/ 6 h 156"/>
                <a:gd name="T8" fmla="*/ 6 w 229"/>
                <a:gd name="T9" fmla="*/ 0 h 156"/>
                <a:gd name="T10" fmla="*/ 222 w 229"/>
                <a:gd name="T11" fmla="*/ 0 h 156"/>
                <a:gd name="T12" fmla="*/ 228 w 229"/>
                <a:gd name="T13" fmla="*/ 4 h 156"/>
                <a:gd name="T14" fmla="*/ 226 w 229"/>
                <a:gd name="T15" fmla="*/ 11 h 156"/>
                <a:gd name="T16" fmla="*/ 142 w 229"/>
                <a:gd name="T17" fmla="*/ 78 h 156"/>
                <a:gd name="T18" fmla="*/ 226 w 229"/>
                <a:gd name="T19" fmla="*/ 145 h 156"/>
                <a:gd name="T20" fmla="*/ 228 w 229"/>
                <a:gd name="T21" fmla="*/ 152 h 156"/>
                <a:gd name="T22" fmla="*/ 222 w 229"/>
                <a:gd name="T23" fmla="*/ 156 h 156"/>
                <a:gd name="T24" fmla="*/ 12 w 229"/>
                <a:gd name="T25" fmla="*/ 144 h 156"/>
                <a:gd name="T26" fmla="*/ 205 w 229"/>
                <a:gd name="T27" fmla="*/ 144 h 156"/>
                <a:gd name="T28" fmla="*/ 129 w 229"/>
                <a:gd name="T29" fmla="*/ 83 h 156"/>
                <a:gd name="T30" fmla="*/ 126 w 229"/>
                <a:gd name="T31" fmla="*/ 78 h 156"/>
                <a:gd name="T32" fmla="*/ 129 w 229"/>
                <a:gd name="T33" fmla="*/ 73 h 156"/>
                <a:gd name="T34" fmla="*/ 205 w 229"/>
                <a:gd name="T35" fmla="*/ 12 h 156"/>
                <a:gd name="T36" fmla="*/ 12 w 229"/>
                <a:gd name="T37" fmla="*/ 12 h 156"/>
                <a:gd name="T38" fmla="*/ 12 w 229"/>
                <a:gd name="T39" fmla="*/ 14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9" h="156">
                  <a:moveTo>
                    <a:pt x="222" y="156"/>
                  </a:moveTo>
                  <a:cubicBezTo>
                    <a:pt x="6" y="156"/>
                    <a:pt x="6" y="156"/>
                    <a:pt x="6" y="156"/>
                  </a:cubicBez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25" y="0"/>
                    <a:pt x="227" y="2"/>
                    <a:pt x="228" y="4"/>
                  </a:cubicBezTo>
                  <a:cubicBezTo>
                    <a:pt x="229" y="6"/>
                    <a:pt x="228" y="9"/>
                    <a:pt x="226" y="11"/>
                  </a:cubicBezTo>
                  <a:cubicBezTo>
                    <a:pt x="142" y="78"/>
                    <a:pt x="142" y="78"/>
                    <a:pt x="142" y="78"/>
                  </a:cubicBezTo>
                  <a:cubicBezTo>
                    <a:pt x="226" y="145"/>
                    <a:pt x="226" y="145"/>
                    <a:pt x="226" y="145"/>
                  </a:cubicBezTo>
                  <a:cubicBezTo>
                    <a:pt x="228" y="147"/>
                    <a:pt x="229" y="150"/>
                    <a:pt x="228" y="152"/>
                  </a:cubicBezTo>
                  <a:cubicBezTo>
                    <a:pt x="227" y="154"/>
                    <a:pt x="225" y="156"/>
                    <a:pt x="222" y="156"/>
                  </a:cubicBezTo>
                  <a:close/>
                  <a:moveTo>
                    <a:pt x="12" y="144"/>
                  </a:moveTo>
                  <a:cubicBezTo>
                    <a:pt x="205" y="144"/>
                    <a:pt x="205" y="144"/>
                    <a:pt x="205" y="144"/>
                  </a:cubicBezTo>
                  <a:cubicBezTo>
                    <a:pt x="129" y="83"/>
                    <a:pt x="129" y="83"/>
                    <a:pt x="129" y="83"/>
                  </a:cubicBezTo>
                  <a:cubicBezTo>
                    <a:pt x="127" y="82"/>
                    <a:pt x="126" y="80"/>
                    <a:pt x="126" y="78"/>
                  </a:cubicBezTo>
                  <a:cubicBezTo>
                    <a:pt x="126" y="76"/>
                    <a:pt x="127" y="74"/>
                    <a:pt x="129" y="73"/>
                  </a:cubicBezTo>
                  <a:cubicBezTo>
                    <a:pt x="205" y="12"/>
                    <a:pt x="205" y="12"/>
                    <a:pt x="205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39" name="Freeform 51">
              <a:extLst>
                <a:ext uri="{FF2B5EF4-FFF2-40B4-BE49-F238E27FC236}">
                  <a16:creationId xmlns="" xmlns:a16="http://schemas.microsoft.com/office/drawing/2014/main" id="{9C05CC3F-C48B-FA43-8999-FA6D7BE04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6" y="437"/>
              <a:ext cx="18" cy="427"/>
            </a:xfrm>
            <a:custGeom>
              <a:avLst/>
              <a:gdLst>
                <a:gd name="T0" fmla="*/ 6 w 12"/>
                <a:gd name="T1" fmla="*/ 288 h 288"/>
                <a:gd name="T2" fmla="*/ 0 w 12"/>
                <a:gd name="T3" fmla="*/ 282 h 288"/>
                <a:gd name="T4" fmla="*/ 0 w 12"/>
                <a:gd name="T5" fmla="*/ 6 h 288"/>
                <a:gd name="T6" fmla="*/ 6 w 12"/>
                <a:gd name="T7" fmla="*/ 0 h 288"/>
                <a:gd name="T8" fmla="*/ 12 w 12"/>
                <a:gd name="T9" fmla="*/ 6 h 288"/>
                <a:gd name="T10" fmla="*/ 12 w 12"/>
                <a:gd name="T11" fmla="*/ 282 h 288"/>
                <a:gd name="T12" fmla="*/ 6 w 12"/>
                <a:gd name="T13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88">
                  <a:moveTo>
                    <a:pt x="6" y="288"/>
                  </a:moveTo>
                  <a:cubicBezTo>
                    <a:pt x="3" y="288"/>
                    <a:pt x="0" y="285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82"/>
                    <a:pt x="12" y="282"/>
                    <a:pt x="12" y="282"/>
                  </a:cubicBezTo>
                  <a:cubicBezTo>
                    <a:pt x="12" y="285"/>
                    <a:pt x="10" y="288"/>
                    <a:pt x="6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grpSp>
        <p:nvGrpSpPr>
          <p:cNvPr id="40" name="Group 515">
            <a:extLst>
              <a:ext uri="{FF2B5EF4-FFF2-40B4-BE49-F238E27FC236}">
                <a16:creationId xmlns="" xmlns:a16="http://schemas.microsoft.com/office/drawing/2014/main" id="{B3A1C701-883D-AD45-B215-52F8E1FBF8B5}"/>
              </a:ext>
            </a:extLst>
          </p:cNvPr>
          <p:cNvGrpSpPr/>
          <p:nvPr/>
        </p:nvGrpSpPr>
        <p:grpSpPr>
          <a:xfrm>
            <a:off x="1633712" y="4509534"/>
            <a:ext cx="378109" cy="356503"/>
            <a:chOff x="3468483" y="2355825"/>
            <a:chExt cx="643938" cy="642158"/>
          </a:xfrm>
          <a:solidFill>
            <a:schemeClr val="bg1"/>
          </a:solidFill>
        </p:grpSpPr>
        <p:sp>
          <p:nvSpPr>
            <p:cNvPr id="41" name="Freeform 5">
              <a:extLst>
                <a:ext uri="{FF2B5EF4-FFF2-40B4-BE49-F238E27FC236}">
                  <a16:creationId xmlns="" xmlns:a16="http://schemas.microsoft.com/office/drawing/2014/main" id="{713FAEBF-D161-9141-9A9D-8288A45E54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1991" y="2355825"/>
              <a:ext cx="350430" cy="350430"/>
            </a:xfrm>
            <a:custGeom>
              <a:avLst/>
              <a:gdLst>
                <a:gd name="T0" fmla="*/ 11 w 133"/>
                <a:gd name="T1" fmla="*/ 111 h 133"/>
                <a:gd name="T2" fmla="*/ 0 w 133"/>
                <a:gd name="T3" fmla="*/ 122 h 133"/>
                <a:gd name="T4" fmla="*/ 11 w 133"/>
                <a:gd name="T5" fmla="*/ 133 h 133"/>
                <a:gd name="T6" fmla="*/ 22 w 133"/>
                <a:gd name="T7" fmla="*/ 122 h 133"/>
                <a:gd name="T8" fmla="*/ 21 w 133"/>
                <a:gd name="T9" fmla="*/ 120 h 133"/>
                <a:gd name="T10" fmla="*/ 73 w 133"/>
                <a:gd name="T11" fmla="*/ 68 h 133"/>
                <a:gd name="T12" fmla="*/ 99 w 133"/>
                <a:gd name="T13" fmla="*/ 68 h 133"/>
                <a:gd name="T14" fmla="*/ 103 w 133"/>
                <a:gd name="T15" fmla="*/ 67 h 133"/>
                <a:gd name="T16" fmla="*/ 131 w 133"/>
                <a:gd name="T17" fmla="*/ 39 h 133"/>
                <a:gd name="T18" fmla="*/ 132 w 133"/>
                <a:gd name="T19" fmla="*/ 32 h 133"/>
                <a:gd name="T20" fmla="*/ 126 w 133"/>
                <a:gd name="T21" fmla="*/ 28 h 133"/>
                <a:gd name="T22" fmla="*/ 105 w 133"/>
                <a:gd name="T23" fmla="*/ 28 h 133"/>
                <a:gd name="T24" fmla="*/ 105 w 133"/>
                <a:gd name="T25" fmla="*/ 7 h 133"/>
                <a:gd name="T26" fmla="*/ 101 w 133"/>
                <a:gd name="T27" fmla="*/ 1 h 133"/>
                <a:gd name="T28" fmla="*/ 94 w 133"/>
                <a:gd name="T29" fmla="*/ 2 h 133"/>
                <a:gd name="T30" fmla="*/ 66 w 133"/>
                <a:gd name="T31" fmla="*/ 30 h 133"/>
                <a:gd name="T32" fmla="*/ 64 w 133"/>
                <a:gd name="T33" fmla="*/ 34 h 133"/>
                <a:gd name="T34" fmla="*/ 64 w 133"/>
                <a:gd name="T35" fmla="*/ 59 h 133"/>
                <a:gd name="T36" fmla="*/ 12 w 133"/>
                <a:gd name="T37" fmla="*/ 111 h 133"/>
                <a:gd name="T38" fmla="*/ 11 w 133"/>
                <a:gd name="T39" fmla="*/ 111 h 133"/>
                <a:gd name="T40" fmla="*/ 94 w 133"/>
                <a:gd name="T41" fmla="*/ 39 h 133"/>
                <a:gd name="T42" fmla="*/ 99 w 133"/>
                <a:gd name="T43" fmla="*/ 41 h 133"/>
                <a:gd name="T44" fmla="*/ 111 w 133"/>
                <a:gd name="T45" fmla="*/ 41 h 133"/>
                <a:gd name="T46" fmla="*/ 96 w 133"/>
                <a:gd name="T47" fmla="*/ 56 h 133"/>
                <a:gd name="T48" fmla="*/ 77 w 133"/>
                <a:gd name="T49" fmla="*/ 56 h 133"/>
                <a:gd name="T50" fmla="*/ 77 w 133"/>
                <a:gd name="T51" fmla="*/ 37 h 133"/>
                <a:gd name="T52" fmla="*/ 92 w 133"/>
                <a:gd name="T53" fmla="*/ 22 h 133"/>
                <a:gd name="T54" fmla="*/ 92 w 133"/>
                <a:gd name="T55" fmla="*/ 34 h 133"/>
                <a:gd name="T56" fmla="*/ 94 w 133"/>
                <a:gd name="T57" fmla="*/ 3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" y="111"/>
                  </a:moveTo>
                  <a:cubicBezTo>
                    <a:pt x="5" y="111"/>
                    <a:pt x="0" y="116"/>
                    <a:pt x="0" y="122"/>
                  </a:cubicBezTo>
                  <a:cubicBezTo>
                    <a:pt x="0" y="128"/>
                    <a:pt x="5" y="133"/>
                    <a:pt x="11" y="133"/>
                  </a:cubicBezTo>
                  <a:cubicBezTo>
                    <a:pt x="17" y="133"/>
                    <a:pt x="22" y="128"/>
                    <a:pt x="22" y="122"/>
                  </a:cubicBezTo>
                  <a:cubicBezTo>
                    <a:pt x="22" y="122"/>
                    <a:pt x="22" y="121"/>
                    <a:pt x="21" y="120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100" y="68"/>
                    <a:pt x="102" y="68"/>
                    <a:pt x="103" y="67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33" y="37"/>
                    <a:pt x="133" y="34"/>
                    <a:pt x="132" y="32"/>
                  </a:cubicBezTo>
                  <a:cubicBezTo>
                    <a:pt x="131" y="30"/>
                    <a:pt x="129" y="28"/>
                    <a:pt x="12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5" y="4"/>
                    <a:pt x="103" y="2"/>
                    <a:pt x="101" y="1"/>
                  </a:cubicBezTo>
                  <a:cubicBezTo>
                    <a:pt x="99" y="0"/>
                    <a:pt x="96" y="0"/>
                    <a:pt x="94" y="2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5" y="31"/>
                    <a:pt x="64" y="33"/>
                    <a:pt x="64" y="34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1" y="111"/>
                    <a:pt x="11" y="111"/>
                  </a:cubicBezTo>
                  <a:close/>
                  <a:moveTo>
                    <a:pt x="94" y="39"/>
                  </a:moveTo>
                  <a:cubicBezTo>
                    <a:pt x="95" y="40"/>
                    <a:pt x="97" y="41"/>
                    <a:pt x="99" y="41"/>
                  </a:cubicBezTo>
                  <a:cubicBezTo>
                    <a:pt x="111" y="41"/>
                    <a:pt x="111" y="41"/>
                    <a:pt x="111" y="41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37"/>
                    <a:pt x="77" y="37"/>
                    <a:pt x="77" y="37"/>
                  </a:cubicBezTo>
                  <a:cubicBezTo>
                    <a:pt x="92" y="22"/>
                    <a:pt x="92" y="22"/>
                    <a:pt x="92" y="22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2" y="36"/>
                    <a:pt x="93" y="38"/>
                    <a:pt x="94" y="3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2" name="Freeform 6">
              <a:extLst>
                <a:ext uri="{FF2B5EF4-FFF2-40B4-BE49-F238E27FC236}">
                  <a16:creationId xmlns="" xmlns:a16="http://schemas.microsoft.com/office/drawing/2014/main" id="{E7CF7173-52F9-4B48-8895-FFD552389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319" y="2453661"/>
              <a:ext cx="448266" cy="446487"/>
            </a:xfrm>
            <a:custGeom>
              <a:avLst/>
              <a:gdLst>
                <a:gd name="T0" fmla="*/ 123 w 170"/>
                <a:gd name="T1" fmla="*/ 16 h 170"/>
                <a:gd name="T2" fmla="*/ 120 w 170"/>
                <a:gd name="T3" fmla="*/ 8 h 170"/>
                <a:gd name="T4" fmla="*/ 119 w 170"/>
                <a:gd name="T5" fmla="*/ 8 h 170"/>
                <a:gd name="T6" fmla="*/ 85 w 170"/>
                <a:gd name="T7" fmla="*/ 0 h 170"/>
                <a:gd name="T8" fmla="*/ 0 w 170"/>
                <a:gd name="T9" fmla="*/ 85 h 170"/>
                <a:gd name="T10" fmla="*/ 85 w 170"/>
                <a:gd name="T11" fmla="*/ 170 h 170"/>
                <a:gd name="T12" fmla="*/ 170 w 170"/>
                <a:gd name="T13" fmla="*/ 85 h 170"/>
                <a:gd name="T14" fmla="*/ 162 w 170"/>
                <a:gd name="T15" fmla="*/ 50 h 170"/>
                <a:gd name="T16" fmla="*/ 158 w 170"/>
                <a:gd name="T17" fmla="*/ 47 h 170"/>
                <a:gd name="T18" fmla="*/ 154 w 170"/>
                <a:gd name="T19" fmla="*/ 47 h 170"/>
                <a:gd name="T20" fmla="*/ 150 w 170"/>
                <a:gd name="T21" fmla="*/ 51 h 170"/>
                <a:gd name="T22" fmla="*/ 151 w 170"/>
                <a:gd name="T23" fmla="*/ 55 h 170"/>
                <a:gd name="T24" fmla="*/ 157 w 170"/>
                <a:gd name="T25" fmla="*/ 85 h 170"/>
                <a:gd name="T26" fmla="*/ 85 w 170"/>
                <a:gd name="T27" fmla="*/ 158 h 170"/>
                <a:gd name="T28" fmla="*/ 12 w 170"/>
                <a:gd name="T29" fmla="*/ 85 h 170"/>
                <a:gd name="T30" fmla="*/ 85 w 170"/>
                <a:gd name="T31" fmla="*/ 13 h 170"/>
                <a:gd name="T32" fmla="*/ 114 w 170"/>
                <a:gd name="T33" fmla="*/ 19 h 170"/>
                <a:gd name="T34" fmla="*/ 123 w 170"/>
                <a:gd name="T35" fmla="*/ 1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0" h="170">
                  <a:moveTo>
                    <a:pt x="123" y="16"/>
                  </a:moveTo>
                  <a:cubicBezTo>
                    <a:pt x="124" y="13"/>
                    <a:pt x="123" y="9"/>
                    <a:pt x="120" y="8"/>
                  </a:cubicBezTo>
                  <a:cubicBezTo>
                    <a:pt x="119" y="8"/>
                    <a:pt x="119" y="8"/>
                    <a:pt x="119" y="8"/>
                  </a:cubicBezTo>
                  <a:cubicBezTo>
                    <a:pt x="108" y="3"/>
                    <a:pt x="97" y="0"/>
                    <a:pt x="85" y="0"/>
                  </a:cubicBezTo>
                  <a:cubicBezTo>
                    <a:pt x="38" y="0"/>
                    <a:pt x="0" y="38"/>
                    <a:pt x="0" y="85"/>
                  </a:cubicBezTo>
                  <a:cubicBezTo>
                    <a:pt x="0" y="132"/>
                    <a:pt x="38" y="170"/>
                    <a:pt x="85" y="170"/>
                  </a:cubicBezTo>
                  <a:cubicBezTo>
                    <a:pt x="131" y="170"/>
                    <a:pt x="170" y="132"/>
                    <a:pt x="170" y="85"/>
                  </a:cubicBezTo>
                  <a:cubicBezTo>
                    <a:pt x="170" y="73"/>
                    <a:pt x="167" y="61"/>
                    <a:pt x="162" y="50"/>
                  </a:cubicBezTo>
                  <a:cubicBezTo>
                    <a:pt x="161" y="49"/>
                    <a:pt x="160" y="48"/>
                    <a:pt x="158" y="47"/>
                  </a:cubicBezTo>
                  <a:cubicBezTo>
                    <a:pt x="157" y="46"/>
                    <a:pt x="155" y="46"/>
                    <a:pt x="154" y="47"/>
                  </a:cubicBezTo>
                  <a:cubicBezTo>
                    <a:pt x="152" y="48"/>
                    <a:pt x="151" y="49"/>
                    <a:pt x="150" y="51"/>
                  </a:cubicBezTo>
                  <a:cubicBezTo>
                    <a:pt x="150" y="52"/>
                    <a:pt x="150" y="54"/>
                    <a:pt x="151" y="55"/>
                  </a:cubicBezTo>
                  <a:cubicBezTo>
                    <a:pt x="155" y="65"/>
                    <a:pt x="157" y="75"/>
                    <a:pt x="157" y="85"/>
                  </a:cubicBezTo>
                  <a:cubicBezTo>
                    <a:pt x="157" y="125"/>
                    <a:pt x="124" y="158"/>
                    <a:pt x="85" y="158"/>
                  </a:cubicBezTo>
                  <a:cubicBezTo>
                    <a:pt x="45" y="158"/>
                    <a:pt x="12" y="125"/>
                    <a:pt x="12" y="85"/>
                  </a:cubicBezTo>
                  <a:cubicBezTo>
                    <a:pt x="12" y="45"/>
                    <a:pt x="45" y="13"/>
                    <a:pt x="85" y="13"/>
                  </a:cubicBezTo>
                  <a:cubicBezTo>
                    <a:pt x="95" y="13"/>
                    <a:pt x="105" y="15"/>
                    <a:pt x="114" y="19"/>
                  </a:cubicBezTo>
                  <a:cubicBezTo>
                    <a:pt x="118" y="21"/>
                    <a:pt x="121" y="19"/>
                    <a:pt x="123" y="1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3" name="Freeform 7">
              <a:extLst>
                <a:ext uri="{FF2B5EF4-FFF2-40B4-BE49-F238E27FC236}">
                  <a16:creationId xmlns="" xmlns:a16="http://schemas.microsoft.com/office/drawing/2014/main" id="{FA38F989-FE06-5D43-995B-A4D932EFC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155" y="2551496"/>
              <a:ext cx="252594" cy="250815"/>
            </a:xfrm>
            <a:custGeom>
              <a:avLst/>
              <a:gdLst>
                <a:gd name="T0" fmla="*/ 48 w 96"/>
                <a:gd name="T1" fmla="*/ 13 h 96"/>
                <a:gd name="T2" fmla="*/ 55 w 96"/>
                <a:gd name="T3" fmla="*/ 14 h 96"/>
                <a:gd name="T4" fmla="*/ 63 w 96"/>
                <a:gd name="T5" fmla="*/ 9 h 96"/>
                <a:gd name="T6" fmla="*/ 58 w 96"/>
                <a:gd name="T7" fmla="*/ 2 h 96"/>
                <a:gd name="T8" fmla="*/ 48 w 96"/>
                <a:gd name="T9" fmla="*/ 0 h 96"/>
                <a:gd name="T10" fmla="*/ 0 w 96"/>
                <a:gd name="T11" fmla="*/ 48 h 96"/>
                <a:gd name="T12" fmla="*/ 48 w 96"/>
                <a:gd name="T13" fmla="*/ 96 h 96"/>
                <a:gd name="T14" fmla="*/ 96 w 96"/>
                <a:gd name="T15" fmla="*/ 48 h 96"/>
                <a:gd name="T16" fmla="*/ 94 w 96"/>
                <a:gd name="T17" fmla="*/ 38 h 96"/>
                <a:gd name="T18" fmla="*/ 92 w 96"/>
                <a:gd name="T19" fmla="*/ 34 h 96"/>
                <a:gd name="T20" fmla="*/ 87 w 96"/>
                <a:gd name="T21" fmla="*/ 33 h 96"/>
                <a:gd name="T22" fmla="*/ 83 w 96"/>
                <a:gd name="T23" fmla="*/ 36 h 96"/>
                <a:gd name="T24" fmla="*/ 82 w 96"/>
                <a:gd name="T25" fmla="*/ 40 h 96"/>
                <a:gd name="T26" fmla="*/ 83 w 96"/>
                <a:gd name="T27" fmla="*/ 48 h 96"/>
                <a:gd name="T28" fmla="*/ 48 w 96"/>
                <a:gd name="T29" fmla="*/ 84 h 96"/>
                <a:gd name="T30" fmla="*/ 12 w 96"/>
                <a:gd name="T31" fmla="*/ 48 h 96"/>
                <a:gd name="T32" fmla="*/ 48 w 96"/>
                <a:gd name="T33" fmla="*/ 1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" h="96">
                  <a:moveTo>
                    <a:pt x="48" y="13"/>
                  </a:moveTo>
                  <a:cubicBezTo>
                    <a:pt x="50" y="13"/>
                    <a:pt x="53" y="13"/>
                    <a:pt x="55" y="14"/>
                  </a:cubicBezTo>
                  <a:cubicBezTo>
                    <a:pt x="59" y="15"/>
                    <a:pt x="62" y="12"/>
                    <a:pt x="63" y="9"/>
                  </a:cubicBezTo>
                  <a:cubicBezTo>
                    <a:pt x="64" y="6"/>
                    <a:pt x="62" y="2"/>
                    <a:pt x="58" y="2"/>
                  </a:cubicBezTo>
                  <a:cubicBezTo>
                    <a:pt x="55" y="1"/>
                    <a:pt x="51" y="0"/>
                    <a:pt x="48" y="0"/>
                  </a:cubicBez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6"/>
                    <a:pt x="48" y="96"/>
                  </a:cubicBezTo>
                  <a:cubicBezTo>
                    <a:pt x="74" y="96"/>
                    <a:pt x="96" y="75"/>
                    <a:pt x="96" y="48"/>
                  </a:cubicBezTo>
                  <a:cubicBezTo>
                    <a:pt x="96" y="45"/>
                    <a:pt x="95" y="41"/>
                    <a:pt x="94" y="38"/>
                  </a:cubicBezTo>
                  <a:cubicBezTo>
                    <a:pt x="94" y="36"/>
                    <a:pt x="93" y="35"/>
                    <a:pt x="92" y="34"/>
                  </a:cubicBezTo>
                  <a:cubicBezTo>
                    <a:pt x="90" y="33"/>
                    <a:pt x="88" y="32"/>
                    <a:pt x="87" y="33"/>
                  </a:cubicBezTo>
                  <a:cubicBezTo>
                    <a:pt x="85" y="33"/>
                    <a:pt x="84" y="34"/>
                    <a:pt x="83" y="36"/>
                  </a:cubicBezTo>
                  <a:cubicBezTo>
                    <a:pt x="82" y="37"/>
                    <a:pt x="82" y="39"/>
                    <a:pt x="82" y="40"/>
                  </a:cubicBezTo>
                  <a:cubicBezTo>
                    <a:pt x="83" y="43"/>
                    <a:pt x="83" y="46"/>
                    <a:pt x="83" y="48"/>
                  </a:cubicBezTo>
                  <a:cubicBezTo>
                    <a:pt x="83" y="68"/>
                    <a:pt x="67" y="84"/>
                    <a:pt x="48" y="84"/>
                  </a:cubicBezTo>
                  <a:cubicBezTo>
                    <a:pt x="28" y="84"/>
                    <a:pt x="12" y="68"/>
                    <a:pt x="12" y="48"/>
                  </a:cubicBezTo>
                  <a:cubicBezTo>
                    <a:pt x="12" y="29"/>
                    <a:pt x="28" y="13"/>
                    <a:pt x="48" y="1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4" name="Freeform 8">
              <a:extLst>
                <a:ext uri="{FF2B5EF4-FFF2-40B4-BE49-F238E27FC236}">
                  <a16:creationId xmlns="" xmlns:a16="http://schemas.microsoft.com/office/drawing/2014/main" id="{D247286F-9C21-794D-ACAB-BC4A2E5B2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483" y="2355825"/>
              <a:ext cx="643938" cy="642158"/>
            </a:xfrm>
            <a:custGeom>
              <a:avLst/>
              <a:gdLst>
                <a:gd name="T0" fmla="*/ 234 w 244"/>
                <a:gd name="T1" fmla="*/ 74 h 244"/>
                <a:gd name="T2" fmla="*/ 230 w 244"/>
                <a:gd name="T3" fmla="*/ 70 h 244"/>
                <a:gd name="T4" fmla="*/ 225 w 244"/>
                <a:gd name="T5" fmla="*/ 70 h 244"/>
                <a:gd name="T6" fmla="*/ 222 w 244"/>
                <a:gd name="T7" fmla="*/ 79 h 244"/>
                <a:gd name="T8" fmla="*/ 231 w 244"/>
                <a:gd name="T9" fmla="*/ 122 h 244"/>
                <a:gd name="T10" fmla="*/ 122 w 244"/>
                <a:gd name="T11" fmla="*/ 232 h 244"/>
                <a:gd name="T12" fmla="*/ 12 w 244"/>
                <a:gd name="T13" fmla="*/ 122 h 244"/>
                <a:gd name="T14" fmla="*/ 122 w 244"/>
                <a:gd name="T15" fmla="*/ 13 h 244"/>
                <a:gd name="T16" fmla="*/ 165 w 244"/>
                <a:gd name="T17" fmla="*/ 22 h 244"/>
                <a:gd name="T18" fmla="*/ 170 w 244"/>
                <a:gd name="T19" fmla="*/ 22 h 244"/>
                <a:gd name="T20" fmla="*/ 173 w 244"/>
                <a:gd name="T21" fmla="*/ 19 h 244"/>
                <a:gd name="T22" fmla="*/ 174 w 244"/>
                <a:gd name="T23" fmla="*/ 14 h 244"/>
                <a:gd name="T24" fmla="*/ 170 w 244"/>
                <a:gd name="T25" fmla="*/ 10 h 244"/>
                <a:gd name="T26" fmla="*/ 122 w 244"/>
                <a:gd name="T27" fmla="*/ 0 h 244"/>
                <a:gd name="T28" fmla="*/ 0 w 244"/>
                <a:gd name="T29" fmla="*/ 122 h 244"/>
                <a:gd name="T30" fmla="*/ 122 w 244"/>
                <a:gd name="T31" fmla="*/ 244 h 244"/>
                <a:gd name="T32" fmla="*/ 244 w 244"/>
                <a:gd name="T33" fmla="*/ 122 h 244"/>
                <a:gd name="T34" fmla="*/ 234 w 244"/>
                <a:gd name="T35" fmla="*/ 7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4" h="244">
                  <a:moveTo>
                    <a:pt x="234" y="74"/>
                  </a:moveTo>
                  <a:cubicBezTo>
                    <a:pt x="233" y="72"/>
                    <a:pt x="232" y="71"/>
                    <a:pt x="230" y="70"/>
                  </a:cubicBezTo>
                  <a:cubicBezTo>
                    <a:pt x="229" y="70"/>
                    <a:pt x="227" y="70"/>
                    <a:pt x="225" y="70"/>
                  </a:cubicBezTo>
                  <a:cubicBezTo>
                    <a:pt x="222" y="72"/>
                    <a:pt x="221" y="76"/>
                    <a:pt x="222" y="79"/>
                  </a:cubicBezTo>
                  <a:cubicBezTo>
                    <a:pt x="228" y="93"/>
                    <a:pt x="231" y="107"/>
                    <a:pt x="231" y="122"/>
                  </a:cubicBezTo>
                  <a:cubicBezTo>
                    <a:pt x="231" y="182"/>
                    <a:pt x="182" y="232"/>
                    <a:pt x="122" y="232"/>
                  </a:cubicBezTo>
                  <a:cubicBezTo>
                    <a:pt x="61" y="232"/>
                    <a:pt x="12" y="182"/>
                    <a:pt x="12" y="122"/>
                  </a:cubicBezTo>
                  <a:cubicBezTo>
                    <a:pt x="12" y="62"/>
                    <a:pt x="61" y="13"/>
                    <a:pt x="122" y="13"/>
                  </a:cubicBezTo>
                  <a:cubicBezTo>
                    <a:pt x="137" y="13"/>
                    <a:pt x="151" y="16"/>
                    <a:pt x="165" y="22"/>
                  </a:cubicBezTo>
                  <a:cubicBezTo>
                    <a:pt x="167" y="23"/>
                    <a:pt x="168" y="23"/>
                    <a:pt x="170" y="22"/>
                  </a:cubicBezTo>
                  <a:cubicBezTo>
                    <a:pt x="172" y="21"/>
                    <a:pt x="173" y="20"/>
                    <a:pt x="173" y="19"/>
                  </a:cubicBezTo>
                  <a:cubicBezTo>
                    <a:pt x="174" y="17"/>
                    <a:pt x="174" y="15"/>
                    <a:pt x="174" y="14"/>
                  </a:cubicBezTo>
                  <a:cubicBezTo>
                    <a:pt x="173" y="12"/>
                    <a:pt x="172" y="11"/>
                    <a:pt x="170" y="10"/>
                  </a:cubicBezTo>
                  <a:cubicBezTo>
                    <a:pt x="155" y="4"/>
                    <a:pt x="138" y="0"/>
                    <a:pt x="122" y="0"/>
                  </a:cubicBezTo>
                  <a:cubicBezTo>
                    <a:pt x="54" y="0"/>
                    <a:pt x="0" y="55"/>
                    <a:pt x="0" y="122"/>
                  </a:cubicBezTo>
                  <a:cubicBezTo>
                    <a:pt x="0" y="189"/>
                    <a:pt x="54" y="244"/>
                    <a:pt x="122" y="244"/>
                  </a:cubicBezTo>
                  <a:cubicBezTo>
                    <a:pt x="189" y="244"/>
                    <a:pt x="244" y="189"/>
                    <a:pt x="244" y="122"/>
                  </a:cubicBezTo>
                  <a:cubicBezTo>
                    <a:pt x="244" y="105"/>
                    <a:pt x="240" y="89"/>
                    <a:pt x="234" y="7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7352F638-DCA7-4602-8F31-6A6043B8166A}"/>
              </a:ext>
            </a:extLst>
          </p:cNvPr>
          <p:cNvGrpSpPr/>
          <p:nvPr/>
        </p:nvGrpSpPr>
        <p:grpSpPr>
          <a:xfrm>
            <a:off x="1613420" y="1428306"/>
            <a:ext cx="8965159" cy="1615887"/>
            <a:chOff x="2007116" y="1428306"/>
            <a:chExt cx="8965159" cy="1615887"/>
          </a:xfrm>
        </p:grpSpPr>
        <p:grpSp>
          <p:nvGrpSpPr>
            <p:cNvPr id="5" name="Group 4">
              <a:extLst>
                <a:ext uri="{FF2B5EF4-FFF2-40B4-BE49-F238E27FC236}">
                  <a16:creationId xmlns="" xmlns:a16="http://schemas.microsoft.com/office/drawing/2014/main" id="{DF051034-DDDE-4C61-B90B-D8FA73129AD1}"/>
                </a:ext>
              </a:extLst>
            </p:cNvPr>
            <p:cNvGrpSpPr/>
            <p:nvPr/>
          </p:nvGrpSpPr>
          <p:grpSpPr>
            <a:xfrm>
              <a:off x="2010373" y="1428306"/>
              <a:ext cx="1829409" cy="1615887"/>
              <a:chOff x="523098" y="1428306"/>
              <a:chExt cx="1829409" cy="1615887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="" xmlns:a16="http://schemas.microsoft.com/office/drawing/2014/main" id="{E6138677-CA10-4A81-BD15-23B3ABF48221}"/>
                  </a:ext>
                </a:extLst>
              </p:cNvPr>
              <p:cNvGrpSpPr/>
              <p:nvPr/>
            </p:nvGrpSpPr>
            <p:grpSpPr>
              <a:xfrm>
                <a:off x="523098" y="1428306"/>
                <a:ext cx="1426132" cy="1615887"/>
                <a:chOff x="523098" y="1428306"/>
                <a:chExt cx="1426132" cy="1615887"/>
              </a:xfrm>
            </p:grpSpPr>
            <p:sp>
              <p:nvSpPr>
                <p:cNvPr id="22" name="Rettangolo 21">
                  <a:extLst>
                    <a:ext uri="{FF2B5EF4-FFF2-40B4-BE49-F238E27FC236}">
                      <a16:creationId xmlns="" xmlns:a16="http://schemas.microsoft.com/office/drawing/2014/main" id="{6C8ED81E-0B39-3544-B3A3-F8D67FFC9349}"/>
                    </a:ext>
                  </a:extLst>
                </p:cNvPr>
                <p:cNvSpPr/>
                <p:nvPr/>
              </p:nvSpPr>
              <p:spPr>
                <a:xfrm>
                  <a:off x="528701" y="1428306"/>
                  <a:ext cx="1414927" cy="1224000"/>
                </a:xfrm>
                <a:prstGeom prst="rect">
                  <a:avLst/>
                </a:prstGeom>
              </p:spPr>
              <p:txBody>
                <a:bodyPr wrap="none" lIns="0" tIns="0" rIns="0" bIns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it-IT" sz="7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DA73C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6</a:t>
                  </a:r>
                  <a:endParaRPr kumimoji="0" lang="it-IT" sz="7200" b="0" i="0" u="none" strike="noStrike" kern="1200" cap="none" spc="0" normalizeH="0" baseline="0" noProof="0">
                    <a:ln>
                      <a:noFill/>
                    </a:ln>
                    <a:solidFill>
                      <a:srgbClr val="CDA73C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Rettangolo 23">
                  <a:extLst>
                    <a:ext uri="{FF2B5EF4-FFF2-40B4-BE49-F238E27FC236}">
                      <a16:creationId xmlns="" xmlns:a16="http://schemas.microsoft.com/office/drawing/2014/main" id="{63EDA3C8-173F-9E40-B5BE-4561B393E7F2}"/>
                    </a:ext>
                  </a:extLst>
                </p:cNvPr>
                <p:cNvSpPr/>
                <p:nvPr/>
              </p:nvSpPr>
              <p:spPr>
                <a:xfrm>
                  <a:off x="523098" y="2576193"/>
                  <a:ext cx="1426132" cy="468000"/>
                </a:xfrm>
                <a:prstGeom prst="rect">
                  <a:avLst/>
                </a:prstGeom>
              </p:spPr>
              <p:txBody>
                <a:bodyPr wrap="none" lIns="0" tIns="0" rIns="0" bIns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it-IT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76DB6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Missioni</a:t>
                  </a:r>
                </a:p>
              </p:txBody>
            </p:sp>
          </p:grpSp>
          <p:sp>
            <p:nvSpPr>
              <p:cNvPr id="37" name="Rectangle 36">
                <a:extLst>
                  <a:ext uri="{FF2B5EF4-FFF2-40B4-BE49-F238E27FC236}">
                    <a16:creationId xmlns="" xmlns:a16="http://schemas.microsoft.com/office/drawing/2014/main" id="{6DAF2E39-F803-B048-B467-284914F83B5B}"/>
                  </a:ext>
                </a:extLst>
              </p:cNvPr>
              <p:cNvSpPr/>
              <p:nvPr/>
            </p:nvSpPr>
            <p:spPr>
              <a:xfrm>
                <a:off x="2102073" y="2104436"/>
                <a:ext cx="250434" cy="45719"/>
              </a:xfrm>
              <a:prstGeom prst="rect">
                <a:avLst/>
              </a:prstGeom>
              <a:solidFill>
                <a:srgbClr val="C4CD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x-non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="" xmlns:a16="http://schemas.microsoft.com/office/drawing/2014/main" id="{447B7954-F7A3-4BA5-B38E-495EC2CC6BA9}"/>
                </a:ext>
              </a:extLst>
            </p:cNvPr>
            <p:cNvGrpSpPr/>
            <p:nvPr/>
          </p:nvGrpSpPr>
          <p:grpSpPr>
            <a:xfrm>
              <a:off x="4104440" y="1428306"/>
              <a:ext cx="2320217" cy="1615887"/>
              <a:chOff x="2617165" y="1428306"/>
              <a:chExt cx="2320217" cy="1615887"/>
            </a:xfrm>
          </p:grpSpPr>
          <p:sp>
            <p:nvSpPr>
              <p:cNvPr id="47" name="Rettangolo 46">
                <a:extLst>
                  <a:ext uri="{FF2B5EF4-FFF2-40B4-BE49-F238E27FC236}">
                    <a16:creationId xmlns="" xmlns:a16="http://schemas.microsoft.com/office/drawing/2014/main" id="{7159FF56-386A-D542-8FB6-EEF13607CD8A}"/>
                  </a:ext>
                </a:extLst>
              </p:cNvPr>
              <p:cNvSpPr/>
              <p:nvPr/>
            </p:nvSpPr>
            <p:spPr>
              <a:xfrm>
                <a:off x="2617165" y="1428306"/>
                <a:ext cx="1883268" cy="1224000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7200" b="1" i="0" u="none" strike="noStrike" kern="1200" cap="none" spc="0" normalizeH="0" baseline="0" noProof="0">
                    <a:ln>
                      <a:noFill/>
                    </a:ln>
                    <a:solidFill>
                      <a:srgbClr val="CDA73C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16</a:t>
                </a:r>
                <a:endParaRPr kumimoji="0" lang="it-IT" sz="7200" b="0" i="0" u="none" strike="noStrike" kern="1200" cap="none" spc="0" normalizeH="0" baseline="0" noProof="0">
                  <a:ln>
                    <a:noFill/>
                  </a:ln>
                  <a:solidFill>
                    <a:srgbClr val="CDA73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48" name="Rettangolo 47">
                <a:extLst>
                  <a:ext uri="{FF2B5EF4-FFF2-40B4-BE49-F238E27FC236}">
                    <a16:creationId xmlns="" xmlns:a16="http://schemas.microsoft.com/office/drawing/2014/main" id="{EEE4DB85-303F-6C4D-B6DB-159748412C91}"/>
                  </a:ext>
                </a:extLst>
              </p:cNvPr>
              <p:cNvSpPr/>
              <p:nvPr/>
            </p:nvSpPr>
            <p:spPr>
              <a:xfrm>
                <a:off x="2682909" y="2576193"/>
                <a:ext cx="1898182" cy="468000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476DB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Componenti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="" xmlns:a16="http://schemas.microsoft.com/office/drawing/2014/main" id="{1AD756E3-A46F-0246-B0A0-B4E15A512D13}"/>
                  </a:ext>
                </a:extLst>
              </p:cNvPr>
              <p:cNvSpPr/>
              <p:nvPr/>
            </p:nvSpPr>
            <p:spPr>
              <a:xfrm>
                <a:off x="4686948" y="2104436"/>
                <a:ext cx="250434" cy="45719"/>
              </a:xfrm>
              <a:prstGeom prst="rect">
                <a:avLst/>
              </a:prstGeom>
              <a:solidFill>
                <a:srgbClr val="C4CD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x-non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="" xmlns:a16="http://schemas.microsoft.com/office/drawing/2014/main" id="{0EA0626B-8D1A-4F2F-BFD7-3638334E9408}"/>
                </a:ext>
              </a:extLst>
            </p:cNvPr>
            <p:cNvGrpSpPr/>
            <p:nvPr/>
          </p:nvGrpSpPr>
          <p:grpSpPr>
            <a:xfrm>
              <a:off x="6557406" y="1428306"/>
              <a:ext cx="1973050" cy="1615887"/>
              <a:chOff x="7295539" y="1428306"/>
              <a:chExt cx="1973050" cy="1615887"/>
            </a:xfrm>
          </p:grpSpPr>
          <p:sp>
            <p:nvSpPr>
              <p:cNvPr id="58" name="Rettangolo 57">
                <a:extLst>
                  <a:ext uri="{FF2B5EF4-FFF2-40B4-BE49-F238E27FC236}">
                    <a16:creationId xmlns="" xmlns:a16="http://schemas.microsoft.com/office/drawing/2014/main" id="{C19521F3-42FE-C346-8C6C-3626763D7A51}"/>
                  </a:ext>
                </a:extLst>
              </p:cNvPr>
              <p:cNvSpPr/>
              <p:nvPr/>
            </p:nvSpPr>
            <p:spPr>
              <a:xfrm>
                <a:off x="7295539" y="1428306"/>
                <a:ext cx="1712062" cy="1224000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7200" b="1" i="0" u="none" strike="noStrike" kern="1200" cap="none" spc="0" normalizeH="0" baseline="0" noProof="0">
                    <a:ln>
                      <a:noFill/>
                    </a:ln>
                    <a:solidFill>
                      <a:srgbClr val="CDA73C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63</a:t>
                </a:r>
                <a:endParaRPr kumimoji="0" lang="it-IT" sz="7200" b="0" i="0" u="none" strike="noStrike" kern="1200" cap="none" spc="0" normalizeH="0" baseline="0" noProof="0">
                  <a:ln>
                    <a:noFill/>
                  </a:ln>
                  <a:solidFill>
                    <a:srgbClr val="CDA73C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59" name="Rettangolo 58">
                <a:extLst>
                  <a:ext uri="{FF2B5EF4-FFF2-40B4-BE49-F238E27FC236}">
                    <a16:creationId xmlns="" xmlns:a16="http://schemas.microsoft.com/office/drawing/2014/main" id="{C3A1B979-6F8F-1742-925D-13DE897FEC48}"/>
                  </a:ext>
                </a:extLst>
              </p:cNvPr>
              <p:cNvSpPr/>
              <p:nvPr/>
            </p:nvSpPr>
            <p:spPr>
              <a:xfrm>
                <a:off x="7474581" y="2576193"/>
                <a:ext cx="1296484" cy="468000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476DB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Riforme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="" xmlns:a16="http://schemas.microsoft.com/office/drawing/2014/main" id="{C3EF80AD-92EB-7E4C-9E69-69B8BE554EA1}"/>
                  </a:ext>
                </a:extLst>
              </p:cNvPr>
              <p:cNvSpPr/>
              <p:nvPr/>
            </p:nvSpPr>
            <p:spPr>
              <a:xfrm>
                <a:off x="9018155" y="2104436"/>
                <a:ext cx="250434" cy="45719"/>
              </a:xfrm>
              <a:prstGeom prst="rect">
                <a:avLst/>
              </a:prstGeom>
              <a:solidFill>
                <a:srgbClr val="C4CD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x-non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="" xmlns:a16="http://schemas.microsoft.com/office/drawing/2014/main" id="{DA9A2787-3815-4F1E-99ED-E5D44023F6DF}"/>
                </a:ext>
              </a:extLst>
            </p:cNvPr>
            <p:cNvGrpSpPr/>
            <p:nvPr/>
          </p:nvGrpSpPr>
          <p:grpSpPr>
            <a:xfrm>
              <a:off x="8462389" y="1432709"/>
              <a:ext cx="2506629" cy="1611484"/>
              <a:chOff x="9200522" y="1432709"/>
              <a:chExt cx="2506629" cy="1611484"/>
            </a:xfrm>
          </p:grpSpPr>
          <p:sp>
            <p:nvSpPr>
              <p:cNvPr id="60" name="Rettangolo 59">
                <a:extLst>
                  <a:ext uri="{FF2B5EF4-FFF2-40B4-BE49-F238E27FC236}">
                    <a16:creationId xmlns="" xmlns:a16="http://schemas.microsoft.com/office/drawing/2014/main" id="{76521C53-D08A-7743-AA38-91D64396E6D6}"/>
                  </a:ext>
                </a:extLst>
              </p:cNvPr>
              <p:cNvSpPr/>
              <p:nvPr/>
            </p:nvSpPr>
            <p:spPr>
              <a:xfrm>
                <a:off x="9200522" y="1432709"/>
                <a:ext cx="2506629" cy="1224000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7200" b="1" i="0" u="none" strike="noStrike" kern="1200" cap="none" spc="0" normalizeH="0" baseline="0" noProof="0">
                    <a:ln>
                      <a:noFill/>
                    </a:ln>
                    <a:solidFill>
                      <a:srgbClr val="CDA73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134</a:t>
                </a:r>
                <a:endParaRPr kumimoji="0" lang="it-IT" sz="5400" b="1" i="0" u="none" strike="noStrike" kern="1200" cap="none" spc="0" normalizeH="0" baseline="0" noProof="0">
                  <a:ln>
                    <a:noFill/>
                  </a:ln>
                  <a:solidFill>
                    <a:srgbClr val="CDA73C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61" name="Rettangolo 60">
                <a:extLst>
                  <a:ext uri="{FF2B5EF4-FFF2-40B4-BE49-F238E27FC236}">
                    <a16:creationId xmlns="" xmlns:a16="http://schemas.microsoft.com/office/drawing/2014/main" id="{0D62BD4E-C02C-874C-87CB-6C8055FD1AB9}"/>
                  </a:ext>
                </a:extLst>
              </p:cNvPr>
              <p:cNvSpPr/>
              <p:nvPr/>
            </p:nvSpPr>
            <p:spPr>
              <a:xfrm>
                <a:off x="9504745" y="2576193"/>
                <a:ext cx="1898182" cy="468000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476DB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Investimenti</a:t>
                </a: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="" xmlns:a16="http://schemas.microsoft.com/office/drawing/2014/main" id="{72BB5829-8FC8-4ECE-8365-C4DBCC21C872}"/>
                </a:ext>
              </a:extLst>
            </p:cNvPr>
            <p:cNvGrpSpPr/>
            <p:nvPr/>
          </p:nvGrpSpPr>
          <p:grpSpPr>
            <a:xfrm>
              <a:off x="6739705" y="2104436"/>
              <a:ext cx="1794008" cy="939757"/>
              <a:chOff x="7474581" y="2104436"/>
              <a:chExt cx="1794008" cy="939757"/>
            </a:xfrm>
          </p:grpSpPr>
          <p:sp>
            <p:nvSpPr>
              <p:cNvPr id="51" name="Rettangolo 58">
                <a:extLst>
                  <a:ext uri="{FF2B5EF4-FFF2-40B4-BE49-F238E27FC236}">
                    <a16:creationId xmlns="" xmlns:a16="http://schemas.microsoft.com/office/drawing/2014/main" id="{20826637-2F1A-4EEE-934D-7CE7BAB0CB6D}"/>
                  </a:ext>
                </a:extLst>
              </p:cNvPr>
              <p:cNvSpPr/>
              <p:nvPr/>
            </p:nvSpPr>
            <p:spPr>
              <a:xfrm>
                <a:off x="7474581" y="2576193"/>
                <a:ext cx="1296484" cy="468000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476DB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Riforme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="" xmlns:a16="http://schemas.microsoft.com/office/drawing/2014/main" id="{E43D284B-7F8B-4A25-946A-6754436A2B1A}"/>
                  </a:ext>
                </a:extLst>
              </p:cNvPr>
              <p:cNvSpPr/>
              <p:nvPr/>
            </p:nvSpPr>
            <p:spPr>
              <a:xfrm>
                <a:off x="9018155" y="2104436"/>
                <a:ext cx="250434" cy="45719"/>
              </a:xfrm>
              <a:prstGeom prst="rect">
                <a:avLst/>
              </a:prstGeom>
              <a:solidFill>
                <a:srgbClr val="C4CD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x-non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="" xmlns:a16="http://schemas.microsoft.com/office/drawing/2014/main" id="{F78296CE-517F-4E96-A9F4-8AFA8057DC48}"/>
                </a:ext>
              </a:extLst>
            </p:cNvPr>
            <p:cNvGrpSpPr/>
            <p:nvPr/>
          </p:nvGrpSpPr>
          <p:grpSpPr>
            <a:xfrm>
              <a:off x="8465646" y="1432709"/>
              <a:ext cx="2506629" cy="1611484"/>
              <a:chOff x="9200522" y="1432709"/>
              <a:chExt cx="2506629" cy="1611484"/>
            </a:xfrm>
          </p:grpSpPr>
          <p:sp>
            <p:nvSpPr>
              <p:cNvPr id="54" name="Rettangolo 59">
                <a:extLst>
                  <a:ext uri="{FF2B5EF4-FFF2-40B4-BE49-F238E27FC236}">
                    <a16:creationId xmlns="" xmlns:a16="http://schemas.microsoft.com/office/drawing/2014/main" id="{FDB039D5-4993-4938-8EE1-5D3D923D1C1B}"/>
                  </a:ext>
                </a:extLst>
              </p:cNvPr>
              <p:cNvSpPr/>
              <p:nvPr/>
            </p:nvSpPr>
            <p:spPr>
              <a:xfrm>
                <a:off x="9200522" y="1432709"/>
                <a:ext cx="2506629" cy="1224000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7200" b="1" i="0" u="none" strike="noStrike" kern="1200" cap="none" spc="0" normalizeH="0" baseline="0" noProof="0">
                    <a:ln>
                      <a:noFill/>
                    </a:ln>
                    <a:solidFill>
                      <a:srgbClr val="CDA73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134</a:t>
                </a:r>
                <a:endParaRPr kumimoji="0" lang="it-IT" sz="5400" b="1" i="0" u="none" strike="noStrike" kern="1200" cap="none" spc="0" normalizeH="0" baseline="0" noProof="0">
                  <a:ln>
                    <a:noFill/>
                  </a:ln>
                  <a:solidFill>
                    <a:srgbClr val="CDA73C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55" name="Rettangolo 60">
                <a:extLst>
                  <a:ext uri="{FF2B5EF4-FFF2-40B4-BE49-F238E27FC236}">
                    <a16:creationId xmlns="" xmlns:a16="http://schemas.microsoft.com/office/drawing/2014/main" id="{366211F7-54E1-4DF1-BC1F-3933B29FAA4E}"/>
                  </a:ext>
                </a:extLst>
              </p:cNvPr>
              <p:cNvSpPr/>
              <p:nvPr/>
            </p:nvSpPr>
            <p:spPr>
              <a:xfrm>
                <a:off x="9504745" y="2576193"/>
                <a:ext cx="1898182" cy="468000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476DB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Investimenti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="" xmlns:a16="http://schemas.microsoft.com/office/drawing/2014/main" id="{F144E708-8A2E-47D0-99C3-8595718D3E70}"/>
                </a:ext>
              </a:extLst>
            </p:cNvPr>
            <p:cNvGrpSpPr/>
            <p:nvPr/>
          </p:nvGrpSpPr>
          <p:grpSpPr>
            <a:xfrm>
              <a:off x="2007116" y="1428306"/>
              <a:ext cx="1829409" cy="1615887"/>
              <a:chOff x="523098" y="1428306"/>
              <a:chExt cx="1829409" cy="1615887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="" xmlns:a16="http://schemas.microsoft.com/office/drawing/2014/main" id="{8D7D96F9-F74B-4B3E-9A85-1ECF977DB227}"/>
                  </a:ext>
                </a:extLst>
              </p:cNvPr>
              <p:cNvGrpSpPr/>
              <p:nvPr/>
            </p:nvGrpSpPr>
            <p:grpSpPr>
              <a:xfrm>
                <a:off x="523098" y="1428306"/>
                <a:ext cx="1426132" cy="1615887"/>
                <a:chOff x="523098" y="1428306"/>
                <a:chExt cx="1426132" cy="1615887"/>
              </a:xfrm>
            </p:grpSpPr>
            <p:sp>
              <p:nvSpPr>
                <p:cNvPr id="66" name="Rettangolo 21">
                  <a:extLst>
                    <a:ext uri="{FF2B5EF4-FFF2-40B4-BE49-F238E27FC236}">
                      <a16:creationId xmlns="" xmlns:a16="http://schemas.microsoft.com/office/drawing/2014/main" id="{0EA504D0-C9C9-4B7F-BAEE-1D5C9DCBCCE7}"/>
                    </a:ext>
                  </a:extLst>
                </p:cNvPr>
                <p:cNvSpPr/>
                <p:nvPr/>
              </p:nvSpPr>
              <p:spPr>
                <a:xfrm>
                  <a:off x="528701" y="1428306"/>
                  <a:ext cx="1414927" cy="1224000"/>
                </a:xfrm>
                <a:prstGeom prst="rect">
                  <a:avLst/>
                </a:prstGeom>
              </p:spPr>
              <p:txBody>
                <a:bodyPr wrap="none" lIns="0" tIns="0" rIns="0" bIns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it-IT" sz="72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CDA73C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6</a:t>
                  </a:r>
                  <a:endParaRPr kumimoji="0" lang="it-IT" sz="7200" b="0" i="0" u="none" strike="noStrike" kern="1200" cap="none" spc="0" normalizeH="0" baseline="0" noProof="0">
                    <a:ln>
                      <a:noFill/>
                    </a:ln>
                    <a:solidFill>
                      <a:srgbClr val="CDA73C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Rettangolo 23">
                  <a:extLst>
                    <a:ext uri="{FF2B5EF4-FFF2-40B4-BE49-F238E27FC236}">
                      <a16:creationId xmlns="" xmlns:a16="http://schemas.microsoft.com/office/drawing/2014/main" id="{869F88EA-CCAA-41D5-922D-7463DFF3138E}"/>
                    </a:ext>
                  </a:extLst>
                </p:cNvPr>
                <p:cNvSpPr/>
                <p:nvPr/>
              </p:nvSpPr>
              <p:spPr>
                <a:xfrm>
                  <a:off x="523098" y="2576193"/>
                  <a:ext cx="1426132" cy="468000"/>
                </a:xfrm>
                <a:prstGeom prst="rect">
                  <a:avLst/>
                </a:prstGeom>
              </p:spPr>
              <p:txBody>
                <a:bodyPr wrap="none" lIns="0" tIns="0" rIns="0" bIns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1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it-IT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rgbClr val="476DB6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rPr>
                    <a:t>Missioni</a:t>
                  </a:r>
                </a:p>
              </p:txBody>
            </p:sp>
          </p:grpSp>
          <p:sp>
            <p:nvSpPr>
              <p:cNvPr id="65" name="Rectangle 64">
                <a:extLst>
                  <a:ext uri="{FF2B5EF4-FFF2-40B4-BE49-F238E27FC236}">
                    <a16:creationId xmlns="" xmlns:a16="http://schemas.microsoft.com/office/drawing/2014/main" id="{451943CE-CF0A-4D91-8A89-47A5315AA079}"/>
                  </a:ext>
                </a:extLst>
              </p:cNvPr>
              <p:cNvSpPr/>
              <p:nvPr/>
            </p:nvSpPr>
            <p:spPr>
              <a:xfrm>
                <a:off x="2102073" y="2104436"/>
                <a:ext cx="250434" cy="45719"/>
              </a:xfrm>
              <a:prstGeom prst="rect">
                <a:avLst/>
              </a:prstGeom>
              <a:solidFill>
                <a:srgbClr val="C4CDD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x-non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9" name="Rettangolo 47">
              <a:extLst>
                <a:ext uri="{FF2B5EF4-FFF2-40B4-BE49-F238E27FC236}">
                  <a16:creationId xmlns="" xmlns:a16="http://schemas.microsoft.com/office/drawing/2014/main" id="{CD69DE83-B237-4EC1-8799-1EAEA1A2722D}"/>
                </a:ext>
              </a:extLst>
            </p:cNvPr>
            <p:cNvSpPr/>
            <p:nvPr/>
          </p:nvSpPr>
          <p:spPr>
            <a:xfrm>
              <a:off x="4166927" y="2576193"/>
              <a:ext cx="1898182" cy="468000"/>
            </a:xfrm>
            <a:prstGeom prst="rect">
              <a:avLst/>
            </a:prstGeom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1" i="0" u="none" strike="noStrike" kern="1200" cap="none" spc="0" normalizeH="0" baseline="0" noProof="0">
                  <a:ln>
                    <a:noFill/>
                  </a:ln>
                  <a:solidFill>
                    <a:srgbClr val="476DB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Componenti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="" xmlns:a16="http://schemas.microsoft.com/office/drawing/2014/main" id="{48BDB393-FA5A-4625-B7B6-800DA465CF0F}"/>
                </a:ext>
              </a:extLst>
            </p:cNvPr>
            <p:cNvSpPr/>
            <p:nvPr/>
          </p:nvSpPr>
          <p:spPr>
            <a:xfrm>
              <a:off x="6170966" y="2104436"/>
              <a:ext cx="250434" cy="45719"/>
            </a:xfrm>
            <a:prstGeom prst="rect">
              <a:avLst/>
            </a:prstGeom>
            <a:solidFill>
              <a:srgbClr val="C4CD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Rettangolo 58">
              <a:extLst>
                <a:ext uri="{FF2B5EF4-FFF2-40B4-BE49-F238E27FC236}">
                  <a16:creationId xmlns="" xmlns:a16="http://schemas.microsoft.com/office/drawing/2014/main" id="{AB7CA769-773C-4295-8B8F-7472E9903F7F}"/>
                </a:ext>
              </a:extLst>
            </p:cNvPr>
            <p:cNvSpPr/>
            <p:nvPr/>
          </p:nvSpPr>
          <p:spPr>
            <a:xfrm>
              <a:off x="6736448" y="2576193"/>
              <a:ext cx="1296484" cy="468000"/>
            </a:xfrm>
            <a:prstGeom prst="rect">
              <a:avLst/>
            </a:prstGeom>
          </p:spPr>
          <p:txBody>
            <a:bodyPr wrap="none" lIns="0" tIns="0" rIns="0" bIns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2400" b="1" i="0" u="none" strike="noStrike" kern="1200" cap="none" spc="0" normalizeH="0" baseline="0" noProof="0">
                  <a:ln>
                    <a:noFill/>
                  </a:ln>
                  <a:solidFill>
                    <a:srgbClr val="476DB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Riforme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="" xmlns:a16="http://schemas.microsoft.com/office/drawing/2014/main" id="{64CCEDF1-8DD9-4384-99F7-FA9755E98C6F}"/>
                </a:ext>
              </a:extLst>
            </p:cNvPr>
            <p:cNvSpPr/>
            <p:nvPr/>
          </p:nvSpPr>
          <p:spPr>
            <a:xfrm>
              <a:off x="8280022" y="2104436"/>
              <a:ext cx="250434" cy="45719"/>
            </a:xfrm>
            <a:prstGeom prst="rect">
              <a:avLst/>
            </a:prstGeom>
            <a:solidFill>
              <a:srgbClr val="C4CD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="" xmlns:a16="http://schemas.microsoft.com/office/drawing/2014/main" id="{07412FA0-6D3F-43D3-A6D0-FCA33C14BF99}"/>
                </a:ext>
              </a:extLst>
            </p:cNvPr>
            <p:cNvGrpSpPr/>
            <p:nvPr/>
          </p:nvGrpSpPr>
          <p:grpSpPr>
            <a:xfrm>
              <a:off x="8462389" y="1432709"/>
              <a:ext cx="2506629" cy="1611484"/>
              <a:chOff x="9200522" y="1432709"/>
              <a:chExt cx="2506629" cy="1611484"/>
            </a:xfrm>
          </p:grpSpPr>
          <p:sp>
            <p:nvSpPr>
              <p:cNvPr id="90" name="Rettangolo 59">
                <a:extLst>
                  <a:ext uri="{FF2B5EF4-FFF2-40B4-BE49-F238E27FC236}">
                    <a16:creationId xmlns="" xmlns:a16="http://schemas.microsoft.com/office/drawing/2014/main" id="{5F007986-A53E-4FDA-A414-441538D3860E}"/>
                  </a:ext>
                </a:extLst>
              </p:cNvPr>
              <p:cNvSpPr/>
              <p:nvPr/>
            </p:nvSpPr>
            <p:spPr>
              <a:xfrm>
                <a:off x="9200522" y="1432709"/>
                <a:ext cx="2506629" cy="1224000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7200" b="1" i="0" u="none" strike="noStrike" kern="1200" cap="none" spc="0" normalizeH="0" baseline="0" noProof="0">
                    <a:ln>
                      <a:noFill/>
                    </a:ln>
                    <a:solidFill>
                      <a:srgbClr val="CDA73C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134</a:t>
                </a:r>
                <a:endParaRPr kumimoji="0" lang="it-IT" sz="5400" b="1" i="0" u="none" strike="noStrike" kern="1200" cap="none" spc="0" normalizeH="0" baseline="0" noProof="0">
                  <a:ln>
                    <a:noFill/>
                  </a:ln>
                  <a:solidFill>
                    <a:srgbClr val="CDA73C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91" name="Rettangolo 60">
                <a:extLst>
                  <a:ext uri="{FF2B5EF4-FFF2-40B4-BE49-F238E27FC236}">
                    <a16:creationId xmlns="" xmlns:a16="http://schemas.microsoft.com/office/drawing/2014/main" id="{C0D2F6CB-0600-4093-ACAE-0392060AF8E4}"/>
                  </a:ext>
                </a:extLst>
              </p:cNvPr>
              <p:cNvSpPr/>
              <p:nvPr/>
            </p:nvSpPr>
            <p:spPr>
              <a:xfrm>
                <a:off x="9504745" y="2576193"/>
                <a:ext cx="1898182" cy="468000"/>
              </a:xfrm>
              <a:prstGeom prst="rect">
                <a:avLst/>
              </a:prstGeom>
            </p:spPr>
            <p:txBody>
              <a:bodyPr wrap="none" lIns="0" tIns="0" rIns="0" bIns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t-IT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476DB6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Investimenti</a:t>
                </a:r>
              </a:p>
            </p:txBody>
          </p:sp>
        </p:grpSp>
      </p:grpSp>
      <p:sp>
        <p:nvSpPr>
          <p:cNvPr id="57" name="Text Placeholder 2">
            <a:extLst>
              <a:ext uri="{FF2B5EF4-FFF2-40B4-BE49-F238E27FC236}">
                <a16:creationId xmlns="" xmlns:a16="http://schemas.microsoft.com/office/drawing/2014/main" id="{D3B4A4C8-3B0B-431D-A724-74EAF9084C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847" y="203150"/>
            <a:ext cx="8494999" cy="237757"/>
          </a:xfrm>
        </p:spPr>
        <p:txBody>
          <a:bodyPr vert="horz" wrap="square" lIns="0" tIns="45720" rIns="91440" bIns="45720" rtlCol="0" anchor="t">
            <a:spAutoFit/>
          </a:bodyPr>
          <a:lstStyle/>
          <a:p>
            <a:r>
              <a:rPr lang="it-IT">
                <a:latin typeface="Arial"/>
                <a:cs typeface="Arial"/>
              </a:rPr>
              <a:t>IL PIANO NAZIONALE DI RIPRESA E RESILIENZA: uno sguardo d’insieme</a:t>
            </a:r>
            <a:endParaRPr lang="x-none"/>
          </a:p>
        </p:txBody>
      </p:sp>
      <p:sp>
        <p:nvSpPr>
          <p:cNvPr id="56" name="Rettangolo 55"/>
          <p:cNvSpPr/>
          <p:nvPr/>
        </p:nvSpPr>
        <p:spPr>
          <a:xfrm>
            <a:off x="354335" y="6459055"/>
            <a:ext cx="2958957" cy="228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9858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Connector: Elbow 1046">
            <a:extLst>
              <a:ext uri="{FF2B5EF4-FFF2-40B4-BE49-F238E27FC236}">
                <a16:creationId xmlns="" xmlns:a16="http://schemas.microsoft.com/office/drawing/2014/main" id="{2D33679A-F651-46F4-A786-7D4EBE504E88}"/>
              </a:ext>
            </a:extLst>
          </p:cNvPr>
          <p:cNvCxnSpPr>
            <a:cxnSpLocks/>
          </p:cNvCxnSpPr>
          <p:nvPr/>
        </p:nvCxnSpPr>
        <p:spPr>
          <a:xfrm rot="5400000">
            <a:off x="6265713" y="3958769"/>
            <a:ext cx="3619303" cy="2"/>
          </a:xfrm>
          <a:prstGeom prst="bentConnector3">
            <a:avLst>
              <a:gd name="adj1" fmla="val 50000"/>
            </a:avLst>
          </a:prstGeom>
          <a:ln>
            <a:headEnd w="sm" len="sm"/>
            <a:tailEnd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Connector: Elbow 1046">
            <a:extLst>
              <a:ext uri="{FF2B5EF4-FFF2-40B4-BE49-F238E27FC236}">
                <a16:creationId xmlns="" xmlns:a16="http://schemas.microsoft.com/office/drawing/2014/main" id="{92F25111-1ADF-4681-8C6B-E3B25FCC73B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78478" y="3958768"/>
            <a:ext cx="3619305" cy="1"/>
          </a:xfrm>
          <a:prstGeom prst="bentConnector3">
            <a:avLst>
              <a:gd name="adj1" fmla="val 50000"/>
            </a:avLst>
          </a:prstGeom>
          <a:ln>
            <a:headEnd w="sm" len="sm"/>
            <a:tailEnd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BEE57CB0-CA0B-40B5-8F57-27F33B3208FC}"/>
              </a:ext>
            </a:extLst>
          </p:cNvPr>
          <p:cNvSpPr/>
          <p:nvPr/>
        </p:nvSpPr>
        <p:spPr>
          <a:xfrm>
            <a:off x="0" y="1945505"/>
            <a:ext cx="12192000" cy="78260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olo 4">
            <a:extLst>
              <a:ext uri="{FF2B5EF4-FFF2-40B4-BE49-F238E27FC236}">
                <a16:creationId xmlns="" xmlns:a16="http://schemas.microsoft.com/office/drawing/2014/main" id="{71FC05DF-1049-4298-B58D-4B607A341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TIPOLOGIE DI RIFORME PREVISTE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="" xmlns:a16="http://schemas.microsoft.com/office/drawing/2014/main" id="{7F9B95AF-17CC-4A93-9BB7-04D23ADBF3BF}"/>
              </a:ext>
            </a:extLst>
          </p:cNvPr>
          <p:cNvSpPr/>
          <p:nvPr/>
        </p:nvSpPr>
        <p:spPr>
          <a:xfrm>
            <a:off x="1062790" y="2080387"/>
            <a:ext cx="1946089" cy="78260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RIFORME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ORIZZONTALI</a:t>
            </a:r>
          </a:p>
        </p:txBody>
      </p:sp>
      <p:sp>
        <p:nvSpPr>
          <p:cNvPr id="12" name="Rettangolo 46">
            <a:extLst>
              <a:ext uri="{FF2B5EF4-FFF2-40B4-BE49-F238E27FC236}">
                <a16:creationId xmlns="" xmlns:a16="http://schemas.microsoft.com/office/drawing/2014/main" id="{B4080D46-A063-4AEC-92B1-A2880B57B89A}"/>
              </a:ext>
            </a:extLst>
          </p:cNvPr>
          <p:cNvSpPr/>
          <p:nvPr/>
        </p:nvSpPr>
        <p:spPr>
          <a:xfrm>
            <a:off x="629237" y="2875486"/>
            <a:ext cx="2813195" cy="130811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Riforme di natura </a:t>
            </a:r>
            <a:r>
              <a:rPr kumimoji="0" lang="it-IT" sz="1400" b="1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trasversale al Sistema economico e sociale </a:t>
            </a: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 Paese quali ad esempio le riforme della Pubblica Amministrazione e della Giustizia.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="" xmlns:a16="http://schemas.microsoft.com/office/drawing/2014/main" id="{D94B092A-A10B-400F-BFB9-BD92B1AC5FE7}"/>
              </a:ext>
            </a:extLst>
          </p:cNvPr>
          <p:cNvSpPr/>
          <p:nvPr/>
        </p:nvSpPr>
        <p:spPr>
          <a:xfrm>
            <a:off x="4998801" y="2080387"/>
            <a:ext cx="2160000" cy="78260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RIFORME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ABILITANTI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="" xmlns:a16="http://schemas.microsoft.com/office/drawing/2014/main" id="{98E6E25E-3681-4E72-B035-7C1B4B177C46}"/>
              </a:ext>
            </a:extLst>
          </p:cNvPr>
          <p:cNvSpPr/>
          <p:nvPr/>
        </p:nvSpPr>
        <p:spPr>
          <a:xfrm>
            <a:off x="9002419" y="2080387"/>
            <a:ext cx="2160000" cy="78260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RIFORME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SETTORIALI</a:t>
            </a:r>
          </a:p>
        </p:txBody>
      </p:sp>
      <p:sp>
        <p:nvSpPr>
          <p:cNvPr id="18" name="Rettangolo 46">
            <a:extLst>
              <a:ext uri="{FF2B5EF4-FFF2-40B4-BE49-F238E27FC236}">
                <a16:creationId xmlns="" xmlns:a16="http://schemas.microsoft.com/office/drawing/2014/main" id="{538C4FF7-EAAB-44D4-986D-5FED3EDFA3D4}"/>
              </a:ext>
            </a:extLst>
          </p:cNvPr>
          <p:cNvSpPr/>
          <p:nvPr/>
        </p:nvSpPr>
        <p:spPr>
          <a:xfrm>
            <a:off x="8567068" y="2926793"/>
            <a:ext cx="3030703" cy="292491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Riforme </a:t>
            </a:r>
            <a:r>
              <a:rPr kumimoji="0" lang="it-IT" sz="1400" b="1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specifiche di natura settoriale </a:t>
            </a: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definite all’interno delle diverse Missioni del Piano. </a:t>
            </a: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Esempi</a:t>
            </a:r>
            <a:r>
              <a:rPr lang="it-IT" sz="1400" spc="-5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tale riforme sono:</a:t>
            </a:r>
            <a:endParaRPr kumimoji="0" lang="it-IT" sz="1400" b="0" i="0" u="none" strike="noStrike" kern="1200" cap="none" spc="-5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Lavoro, politiche sociali e famiglie </a:t>
            </a:r>
          </a:p>
          <a:p>
            <a:pPr marL="285750" marR="0" lvl="0" indent="-28575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Istruzione, università e ricerca Trasporti</a:t>
            </a:r>
            <a:endParaRPr lang="it-IT" sz="1400" spc="-5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Semplificazioni per idrogeno, impianti rinnovabili, infrastrutture di approvvigionamento idrico e altro</a:t>
            </a:r>
          </a:p>
          <a:p>
            <a:pPr marL="285750" marR="0" lvl="0" indent="-28575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Legge quadro disabilità</a:t>
            </a: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Franklin Gothic Medium" panose="020B0603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Franklin Gothic Medium" panose="020B0603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endParaRPr kumimoji="0" lang="it-IT" sz="1400" b="1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Franklin Gothic Medium" panose="020B0603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-5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AEA25EB-59B0-A441-983C-A86DA945AE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848" y="254521"/>
            <a:ext cx="5340350" cy="237757"/>
          </a:xfrm>
        </p:spPr>
        <p:txBody>
          <a:bodyPr vert="horz" wrap="square" lIns="0" tIns="45720" rIns="91440" bIns="45720" rtlCol="0" anchor="t">
            <a:spAutoFit/>
          </a:bodyPr>
          <a:lstStyle/>
          <a:p>
            <a:r>
              <a:rPr lang="it-IT">
                <a:latin typeface="Arial"/>
                <a:cs typeface="Arial"/>
              </a:rPr>
              <a:t>IL PNRR ITALIA DOMAN</a:t>
            </a:r>
            <a:r>
              <a:rPr lang="en-US">
                <a:latin typeface="Arial"/>
                <a:cs typeface="Arial"/>
              </a:rPr>
              <a:t>I: </a:t>
            </a:r>
            <a:r>
              <a:rPr lang="it-IT">
                <a:latin typeface="Arial"/>
                <a:cs typeface="Arial"/>
              </a:rPr>
              <a:t>UN QUADRO D’INSIEME</a:t>
            </a:r>
            <a:endParaRPr lang="it-IT"/>
          </a:p>
        </p:txBody>
      </p:sp>
      <p:sp>
        <p:nvSpPr>
          <p:cNvPr id="19" name="Segnaposto testo 4">
            <a:extLst>
              <a:ext uri="{FF2B5EF4-FFF2-40B4-BE49-F238E27FC236}">
                <a16:creationId xmlns="" xmlns:a16="http://schemas.microsoft.com/office/drawing/2014/main" id="{9EFCBB44-7A1C-4675-BCF1-DC4F496F158A}"/>
              </a:ext>
            </a:extLst>
          </p:cNvPr>
          <p:cNvSpPr txBox="1">
            <a:spLocks/>
          </p:cNvSpPr>
          <p:nvPr/>
        </p:nvSpPr>
        <p:spPr>
          <a:xfrm>
            <a:off x="354335" y="957000"/>
            <a:ext cx="10527175" cy="85005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Gli investimenti previsti nel PNRR sono accompagnati da un ampio 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sistema di riforme strutturali del Sistema Paese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(n. 63) che sono identificabili e sintetizzabili in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3 macro-tipologie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</a:p>
        </p:txBody>
      </p:sp>
      <p:sp>
        <p:nvSpPr>
          <p:cNvPr id="31" name="Rettangolo 46">
            <a:extLst>
              <a:ext uri="{FF2B5EF4-FFF2-40B4-BE49-F238E27FC236}">
                <a16:creationId xmlns="" xmlns:a16="http://schemas.microsoft.com/office/drawing/2014/main" id="{C1998E81-ECC6-446B-9A97-2D6260B37A22}"/>
              </a:ext>
            </a:extLst>
          </p:cNvPr>
          <p:cNvSpPr/>
          <p:nvPr/>
        </p:nvSpPr>
        <p:spPr>
          <a:xfrm>
            <a:off x="4482807" y="2875486"/>
            <a:ext cx="3191989" cy="292491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7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Riforme </a:t>
            </a:r>
            <a:r>
              <a:rPr kumimoji="0" lang="it-IT" sz="1400" b="1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funzionali a garantire la piena attuazione del Piano </a:t>
            </a: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 rimuovere gli ostacoli amministrativi, regolatori e procedurali.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Esempi di tali riforme sono: 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Norme di semplificazione degli Appalti pubblici.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sz="1400" spc="-5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Acquisto ICT</a:t>
            </a:r>
            <a:endParaRPr kumimoji="0" lang="it-IT" sz="1400" b="0" i="0" u="none" strike="noStrike" kern="1200" cap="none" spc="-5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Legge sulla concorrenza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Legge delega sulla corruzione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Federalismo fiscale</a:t>
            </a:r>
          </a:p>
          <a:p>
            <a:pPr marL="285750" marR="0" lvl="0" indent="-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-5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Riduzione tempi di pagamento PA e del tax gap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anklin Gothic Medium" panose="020B0603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-5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4" name="Graphic 3" descr="Circles with lines outline">
            <a:extLst>
              <a:ext uri="{FF2B5EF4-FFF2-40B4-BE49-F238E27FC236}">
                <a16:creationId xmlns="" xmlns:a16="http://schemas.microsoft.com/office/drawing/2014/main" id="{091497E8-5A51-4FC8-A697-8FACBBA2EA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67067" y="2034313"/>
            <a:ext cx="624548" cy="624548"/>
          </a:xfrm>
          <a:prstGeom prst="rect">
            <a:avLst/>
          </a:prstGeom>
        </p:spPr>
      </p:pic>
      <p:pic>
        <p:nvPicPr>
          <p:cNvPr id="7" name="Graphic 6" descr="Acquisition outline">
            <a:extLst>
              <a:ext uri="{FF2B5EF4-FFF2-40B4-BE49-F238E27FC236}">
                <a16:creationId xmlns="" xmlns:a16="http://schemas.microsoft.com/office/drawing/2014/main" id="{D04E8517-2A0D-4519-973F-CA463ABF83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933" y="2014573"/>
            <a:ext cx="687003" cy="687003"/>
          </a:xfrm>
          <a:prstGeom prst="rect">
            <a:avLst/>
          </a:prstGeom>
        </p:spPr>
      </p:pic>
      <p:pic>
        <p:nvPicPr>
          <p:cNvPr id="10" name="Graphic 9" descr="Cause And Effect outline">
            <a:extLst>
              <a:ext uri="{FF2B5EF4-FFF2-40B4-BE49-F238E27FC236}">
                <a16:creationId xmlns="" xmlns:a16="http://schemas.microsoft.com/office/drawing/2014/main" id="{8FD3970D-8BA7-454C-A8B4-FCDC1AFA12A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4126" y="2003085"/>
            <a:ext cx="687003" cy="687003"/>
          </a:xfrm>
          <a:prstGeom prst="rect">
            <a:avLst/>
          </a:prstGeom>
        </p:spPr>
      </p:pic>
      <p:sp>
        <p:nvSpPr>
          <p:cNvPr id="20" name="Rettangolo 19"/>
          <p:cNvSpPr/>
          <p:nvPr/>
        </p:nvSpPr>
        <p:spPr>
          <a:xfrm>
            <a:off x="354335" y="6459055"/>
            <a:ext cx="2958957" cy="228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9133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DE7DAF78-6356-4441-8822-431506BBD75B}"/>
              </a:ext>
            </a:extLst>
          </p:cNvPr>
          <p:cNvSpPr/>
          <p:nvPr/>
        </p:nvSpPr>
        <p:spPr>
          <a:xfrm>
            <a:off x="-2" y="4866045"/>
            <a:ext cx="12267345" cy="10827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3D1C6731-EC19-4CEA-BBB2-356BC27AED70}"/>
              </a:ext>
            </a:extLst>
          </p:cNvPr>
          <p:cNvSpPr/>
          <p:nvPr/>
        </p:nvSpPr>
        <p:spPr>
          <a:xfrm>
            <a:off x="-1" y="1329857"/>
            <a:ext cx="12192000" cy="1446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3847" y="512273"/>
            <a:ext cx="11532865" cy="424732"/>
          </a:xfrm>
        </p:spPr>
        <p:txBody>
          <a:bodyPr/>
          <a:lstStyle/>
          <a:p>
            <a:r>
              <a:rPr lang="it-IT">
                <a:solidFill>
                  <a:schemeClr val="tx1"/>
                </a:solidFill>
                <a:latin typeface="Arial"/>
                <a:cs typeface="Arial"/>
              </a:rPr>
              <a:t>PNRR: ALCUNE RIFORME DI INTERESSE PER GLI ENTI LOCALI</a:t>
            </a:r>
            <a:endParaRPr lang="it-IT">
              <a:solidFill>
                <a:schemeClr val="tx1"/>
              </a:solidFill>
            </a:endParaRPr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>
          <a:xfrm>
            <a:off x="433847" y="254521"/>
            <a:ext cx="8494999" cy="237757"/>
          </a:xfrm>
        </p:spPr>
        <p:txBody>
          <a:bodyPr/>
          <a:lstStyle/>
          <a:p>
            <a:r>
              <a:rPr lang="it-IT">
                <a:latin typeface="Arial"/>
                <a:cs typeface="Arial"/>
              </a:rPr>
              <a:t>IL PIANO NAZIONALE DI RIPRESA E RESILIENZA: uno sguardo d’insieme</a:t>
            </a:r>
            <a:endParaRPr lang="x-none"/>
          </a:p>
        </p:txBody>
      </p:sp>
      <p:sp>
        <p:nvSpPr>
          <p:cNvPr id="4" name="CasellaDiTesto 3">
            <a:extLst>
              <a:ext uri="{FF2B5EF4-FFF2-40B4-BE49-F238E27FC236}">
                <a16:creationId xmlns="" xmlns:a16="http://schemas.microsoft.com/office/drawing/2014/main" id="{D3B09152-3468-427A-BBC5-4F71CD9644CC}"/>
              </a:ext>
            </a:extLst>
          </p:cNvPr>
          <p:cNvSpPr txBox="1"/>
          <p:nvPr/>
        </p:nvSpPr>
        <p:spPr>
          <a:xfrm>
            <a:off x="142125" y="719192"/>
            <a:ext cx="1190774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DCDEDD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DCDEDD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0" u="none" strike="noStrike" kern="1200" cap="none" spc="0" normalizeH="0" baseline="0" noProof="0">
              <a:ln>
                <a:noFill/>
              </a:ln>
              <a:solidFill>
                <a:srgbClr val="DCDEDD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" name="Graphic 8" descr="Handshake outline">
            <a:extLst>
              <a:ext uri="{FF2B5EF4-FFF2-40B4-BE49-F238E27FC236}">
                <a16:creationId xmlns="" xmlns:a16="http://schemas.microsoft.com/office/drawing/2014/main" id="{FE98B2A8-2DDD-4173-9604-73EA981336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3629" y="5123529"/>
            <a:ext cx="566984" cy="567771"/>
          </a:xfrm>
          <a:prstGeom prst="rect">
            <a:avLst/>
          </a:prstGeom>
        </p:spPr>
      </p:pic>
      <p:pic>
        <p:nvPicPr>
          <p:cNvPr id="11" name="Graphic 10" descr="Group brainstorm outline">
            <a:extLst>
              <a:ext uri="{FF2B5EF4-FFF2-40B4-BE49-F238E27FC236}">
                <a16:creationId xmlns="" xmlns:a16="http://schemas.microsoft.com/office/drawing/2014/main" id="{2C8BCEAF-4079-4D22-9103-8DCE72E9B2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4055" y="1709631"/>
            <a:ext cx="686050" cy="687003"/>
          </a:xfrm>
          <a:prstGeom prst="rect">
            <a:avLst/>
          </a:prstGeom>
        </p:spPr>
      </p:pic>
      <p:pic>
        <p:nvPicPr>
          <p:cNvPr id="15" name="Graphic 14" descr="Stopwatch outline">
            <a:extLst>
              <a:ext uri="{FF2B5EF4-FFF2-40B4-BE49-F238E27FC236}">
                <a16:creationId xmlns="" xmlns:a16="http://schemas.microsoft.com/office/drawing/2014/main" id="{1DBC3E5B-5642-48CA-9931-0660F186FF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4012" y="3476415"/>
            <a:ext cx="686051" cy="687003"/>
          </a:xfrm>
          <a:prstGeom prst="rect">
            <a:avLst/>
          </a:prstGeom>
        </p:spPr>
      </p:pic>
      <p:sp>
        <p:nvSpPr>
          <p:cNvPr id="16" name="CasellaDiTesto 4">
            <a:extLst>
              <a:ext uri="{FF2B5EF4-FFF2-40B4-BE49-F238E27FC236}">
                <a16:creationId xmlns="" xmlns:a16="http://schemas.microsoft.com/office/drawing/2014/main" id="{283C9115-AE97-45F4-83AB-360C819EDB98}"/>
              </a:ext>
            </a:extLst>
          </p:cNvPr>
          <p:cNvSpPr txBox="1"/>
          <p:nvPr/>
        </p:nvSpPr>
        <p:spPr>
          <a:xfrm>
            <a:off x="1718921" y="1452968"/>
            <a:ext cx="85717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FEDERALISMO FISCALE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completamento del federalismo fiscale previsto dalla legge 42 del 2009, con l'obiettivo di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migliorare la trasparenza delle relazioni fiscali </a:t>
            </a:r>
            <a:r>
              <a:rPr kumimoji="0" lang="it-IT" sz="14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 i diversi livelli di governo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assegnare le risorse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alle amministrazioni subnazionali sulla base di criteri oggettivi e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incentivare un uso efficiente delle risorse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medesime (RSO, Province, Città metropolitane)</a:t>
            </a:r>
          </a:p>
        </p:txBody>
      </p:sp>
      <p:sp>
        <p:nvSpPr>
          <p:cNvPr id="17" name="CasellaDiTesto 4">
            <a:extLst>
              <a:ext uri="{FF2B5EF4-FFF2-40B4-BE49-F238E27FC236}">
                <a16:creationId xmlns="" xmlns:a16="http://schemas.microsoft.com/office/drawing/2014/main" id="{F36EB534-CC65-49D7-B285-5DC9F9CCE118}"/>
              </a:ext>
            </a:extLst>
          </p:cNvPr>
          <p:cNvSpPr txBox="1"/>
          <p:nvPr/>
        </p:nvSpPr>
        <p:spPr>
          <a:xfrm>
            <a:off x="1718921" y="3004308"/>
            <a:ext cx="861621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RIDUZIONE TEMPI DI PAGAMENTO DELLA PA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400">
                <a:latin typeface="Arial" panose="020B0604020202020204" pitchFamily="34" charset="0"/>
                <a:cs typeface="Arial" panose="020B0604020202020204" pitchFamily="34" charset="0"/>
              </a:rPr>
              <a:t>Si prevede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entro la fine del 2023</a:t>
            </a:r>
            <a:r>
              <a:rPr lang="it-IT" sz="1400">
                <a:latin typeface="Arial" panose="020B0604020202020204" pitchFamily="34" charset="0"/>
                <a:cs typeface="Arial" panose="020B0604020202020204" pitchFamily="34" charset="0"/>
              </a:rPr>
              <a:t> che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i) le pubbliche amministrazioni a livello centrale, regionale e locale paghino entro il termine di 30 giorni e ii) le autorità sanitarie regionali entro il termine di 60 giorni. Affinché la soluzione al problema dei ritardi di pagamento sia strutturale, la riforma è intesa altresì a garantire che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nel 2024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i) le pubbliche amministrazioni a livello centrale, regionale e locale continuino a pagare entro il termine di 30 giorni e ii) le autorità sanitarie regionali entro il termine di 60 giorni.</a:t>
            </a:r>
          </a:p>
        </p:txBody>
      </p:sp>
      <p:sp>
        <p:nvSpPr>
          <p:cNvPr id="18" name="CasellaDiTesto 4">
            <a:extLst>
              <a:ext uri="{FF2B5EF4-FFF2-40B4-BE49-F238E27FC236}">
                <a16:creationId xmlns="" xmlns:a16="http://schemas.microsoft.com/office/drawing/2014/main" id="{00563050-D8AC-4F7F-A7DE-D0A2B82DAF57}"/>
              </a:ext>
            </a:extLst>
          </p:cNvPr>
          <p:cNvSpPr txBox="1"/>
          <p:nvPr/>
        </p:nvSpPr>
        <p:spPr>
          <a:xfrm>
            <a:off x="1772322" y="4914972"/>
            <a:ext cx="852723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APPALTI PUBBLICI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Mira alla semplificazioni, al riordino e allo sviluppo dell’e-Procurement per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ridurre i tempi tra pubblicazione del bando e aggiudicazione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 in media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100 giorni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entro il 2023 e ridurre i tempi  tra aggiudicazione dell'appalto e realizzazione dell'infrastruttura del 15% entro il 2023.</a:t>
            </a:r>
          </a:p>
        </p:txBody>
      </p:sp>
      <p:sp>
        <p:nvSpPr>
          <p:cNvPr id="13" name="Rettangolo 12"/>
          <p:cNvSpPr/>
          <p:nvPr/>
        </p:nvSpPr>
        <p:spPr>
          <a:xfrm>
            <a:off x="354335" y="6459055"/>
            <a:ext cx="2958957" cy="228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2081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6EFDB6DC-75F3-44CF-B77D-45B370EB409F}"/>
              </a:ext>
            </a:extLst>
          </p:cNvPr>
          <p:cNvSpPr/>
          <p:nvPr/>
        </p:nvSpPr>
        <p:spPr>
          <a:xfrm>
            <a:off x="0" y="1504336"/>
            <a:ext cx="12192000" cy="2122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720140F-109D-43CE-9897-0571372D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847" y="512273"/>
            <a:ext cx="11532865" cy="424732"/>
          </a:xfrm>
        </p:spPr>
        <p:txBody>
          <a:bodyPr/>
          <a:lstStyle/>
          <a:p>
            <a:r>
              <a:rPr lang="it-IT">
                <a:solidFill>
                  <a:schemeClr val="tx1"/>
                </a:solidFill>
              </a:rPr>
              <a:t>SPECIFICITÀ DEL DISPOSITIVO EUROPEO DI RIPRESA E RESILIENZA</a:t>
            </a:r>
          </a:p>
        </p:txBody>
      </p:sp>
      <p:sp>
        <p:nvSpPr>
          <p:cNvPr id="5" name="Rectangle 45">
            <a:extLst>
              <a:ext uri="{FF2B5EF4-FFF2-40B4-BE49-F238E27FC236}">
                <a16:creationId xmlns="" xmlns:a16="http://schemas.microsoft.com/office/drawing/2014/main" id="{E1A935D9-AA76-4F5D-BACD-638BCC08D589}"/>
              </a:ext>
            </a:extLst>
          </p:cNvPr>
          <p:cNvSpPr/>
          <p:nvPr/>
        </p:nvSpPr>
        <p:spPr>
          <a:xfrm>
            <a:off x="385763" y="976466"/>
            <a:ext cx="113442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Modalità innovative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nei rapporti finanziari tra Unione europea e Stati membri: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="" xmlns:a16="http://schemas.microsoft.com/office/drawing/2014/main" id="{62EC99A4-10C7-403B-90CB-4B103E28E1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847" y="254521"/>
            <a:ext cx="8494999" cy="237757"/>
          </a:xfrm>
        </p:spPr>
        <p:txBody>
          <a:bodyPr vert="horz" wrap="square" lIns="0" tIns="45720" rIns="91440" bIns="45720" rtlCol="0" anchor="t">
            <a:spAutoFit/>
          </a:bodyPr>
          <a:lstStyle/>
          <a:p>
            <a:r>
              <a:rPr lang="it-IT">
                <a:latin typeface="Arial"/>
                <a:cs typeface="Arial"/>
              </a:rPr>
              <a:t>DISPOSITIVO RRF: uno sguardo d’insieme</a:t>
            </a:r>
            <a:endParaRPr lang="x-none"/>
          </a:p>
        </p:txBody>
      </p:sp>
      <p:sp>
        <p:nvSpPr>
          <p:cNvPr id="12" name="Rectangle: Rounded Corners 11">
            <a:extLst>
              <a:ext uri="{FF2B5EF4-FFF2-40B4-BE49-F238E27FC236}">
                <a16:creationId xmlns="" xmlns:a16="http://schemas.microsoft.com/office/drawing/2014/main" id="{CDFCFA60-F178-4339-802E-16F9B02841DC}"/>
              </a:ext>
            </a:extLst>
          </p:cNvPr>
          <p:cNvSpPr/>
          <p:nvPr/>
        </p:nvSpPr>
        <p:spPr>
          <a:xfrm>
            <a:off x="4201913" y="1600295"/>
            <a:ext cx="876841" cy="80843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954D7DBF-9F87-4870-A2B8-58EC44F97269}"/>
              </a:ext>
            </a:extLst>
          </p:cNvPr>
          <p:cNvSpPr txBox="1"/>
          <p:nvPr/>
        </p:nvSpPr>
        <p:spPr>
          <a:xfrm>
            <a:off x="2943442" y="2630570"/>
            <a:ext cx="30282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Piani nazionali come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contratti di performance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(non programmi di spesa)</a:t>
            </a:r>
          </a:p>
        </p:txBody>
      </p:sp>
      <p:grpSp>
        <p:nvGrpSpPr>
          <p:cNvPr id="20" name="Group 40">
            <a:extLst>
              <a:ext uri="{FF2B5EF4-FFF2-40B4-BE49-F238E27FC236}">
                <a16:creationId xmlns="" xmlns:a16="http://schemas.microsoft.com/office/drawing/2014/main" id="{FED52AF2-5177-4064-ACAB-17C75F231CA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72486" y="1781714"/>
            <a:ext cx="335695" cy="448294"/>
            <a:chOff x="4533" y="439"/>
            <a:chExt cx="319" cy="426"/>
          </a:xfrm>
          <a:solidFill>
            <a:schemeClr val="bg1"/>
          </a:solidFill>
        </p:grpSpPr>
        <p:sp>
          <p:nvSpPr>
            <p:cNvPr id="21" name="Freeform 41">
              <a:extLst>
                <a:ext uri="{FF2B5EF4-FFF2-40B4-BE49-F238E27FC236}">
                  <a16:creationId xmlns="" xmlns:a16="http://schemas.microsoft.com/office/drawing/2014/main" id="{A4B1B65B-45FA-4DCB-B610-B8F411E585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33" y="439"/>
              <a:ext cx="319" cy="426"/>
            </a:xfrm>
            <a:custGeom>
              <a:avLst/>
              <a:gdLst>
                <a:gd name="T0" fmla="*/ 210 w 216"/>
                <a:gd name="T1" fmla="*/ 288 h 288"/>
                <a:gd name="T2" fmla="*/ 6 w 216"/>
                <a:gd name="T3" fmla="*/ 288 h 288"/>
                <a:gd name="T4" fmla="*/ 0 w 216"/>
                <a:gd name="T5" fmla="*/ 282 h 288"/>
                <a:gd name="T6" fmla="*/ 0 w 216"/>
                <a:gd name="T7" fmla="*/ 6 h 288"/>
                <a:gd name="T8" fmla="*/ 6 w 216"/>
                <a:gd name="T9" fmla="*/ 0 h 288"/>
                <a:gd name="T10" fmla="*/ 138 w 216"/>
                <a:gd name="T11" fmla="*/ 0 h 288"/>
                <a:gd name="T12" fmla="*/ 143 w 216"/>
                <a:gd name="T13" fmla="*/ 1 h 288"/>
                <a:gd name="T14" fmla="*/ 215 w 216"/>
                <a:gd name="T15" fmla="*/ 73 h 288"/>
                <a:gd name="T16" fmla="*/ 216 w 216"/>
                <a:gd name="T17" fmla="*/ 78 h 288"/>
                <a:gd name="T18" fmla="*/ 216 w 216"/>
                <a:gd name="T19" fmla="*/ 282 h 288"/>
                <a:gd name="T20" fmla="*/ 210 w 216"/>
                <a:gd name="T21" fmla="*/ 288 h 288"/>
                <a:gd name="T22" fmla="*/ 12 w 216"/>
                <a:gd name="T23" fmla="*/ 276 h 288"/>
                <a:gd name="T24" fmla="*/ 204 w 216"/>
                <a:gd name="T25" fmla="*/ 276 h 288"/>
                <a:gd name="T26" fmla="*/ 204 w 216"/>
                <a:gd name="T27" fmla="*/ 80 h 288"/>
                <a:gd name="T28" fmla="*/ 136 w 216"/>
                <a:gd name="T29" fmla="*/ 12 h 288"/>
                <a:gd name="T30" fmla="*/ 12 w 216"/>
                <a:gd name="T31" fmla="*/ 12 h 288"/>
                <a:gd name="T32" fmla="*/ 12 w 216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288">
                  <a:moveTo>
                    <a:pt x="210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5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2" y="0"/>
                    <a:pt x="143" y="1"/>
                  </a:cubicBezTo>
                  <a:cubicBezTo>
                    <a:pt x="215" y="73"/>
                    <a:pt x="215" y="73"/>
                    <a:pt x="215" y="73"/>
                  </a:cubicBezTo>
                  <a:cubicBezTo>
                    <a:pt x="216" y="75"/>
                    <a:pt x="216" y="76"/>
                    <a:pt x="216" y="78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5"/>
                    <a:pt x="214" y="288"/>
                    <a:pt x="210" y="288"/>
                  </a:cubicBezTo>
                  <a:close/>
                  <a:moveTo>
                    <a:pt x="12" y="276"/>
                  </a:moveTo>
                  <a:cubicBezTo>
                    <a:pt x="204" y="276"/>
                    <a:pt x="204" y="276"/>
                    <a:pt x="204" y="276"/>
                  </a:cubicBezTo>
                  <a:cubicBezTo>
                    <a:pt x="204" y="80"/>
                    <a:pt x="204" y="80"/>
                    <a:pt x="204" y="80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42">
              <a:extLst>
                <a:ext uri="{FF2B5EF4-FFF2-40B4-BE49-F238E27FC236}">
                  <a16:creationId xmlns="" xmlns:a16="http://schemas.microsoft.com/office/drawing/2014/main" id="{4B253B7C-7998-439D-AF43-AFADE27E6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8" y="439"/>
              <a:ext cx="124" cy="124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1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0" y="0"/>
                    <a:pt x="12" y="2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4"/>
                    <a:pt x="84" y="78"/>
                  </a:cubicBezTo>
                  <a:cubicBezTo>
                    <a:pt x="84" y="81"/>
                    <a:pt x="82" y="84"/>
                    <a:pt x="78" y="8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43">
              <a:extLst>
                <a:ext uri="{FF2B5EF4-FFF2-40B4-BE49-F238E27FC236}">
                  <a16:creationId xmlns="" xmlns:a16="http://schemas.microsoft.com/office/drawing/2014/main" id="{AD2A6B26-75C9-4379-AFB5-A73A399EB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563"/>
              <a:ext cx="97" cy="18"/>
            </a:xfrm>
            <a:custGeom>
              <a:avLst/>
              <a:gdLst>
                <a:gd name="T0" fmla="*/ 60 w 66"/>
                <a:gd name="T1" fmla="*/ 12 h 12"/>
                <a:gd name="T2" fmla="*/ 6 w 66"/>
                <a:gd name="T3" fmla="*/ 12 h 12"/>
                <a:gd name="T4" fmla="*/ 0 w 66"/>
                <a:gd name="T5" fmla="*/ 6 h 12"/>
                <a:gd name="T6" fmla="*/ 6 w 66"/>
                <a:gd name="T7" fmla="*/ 0 h 12"/>
                <a:gd name="T8" fmla="*/ 60 w 66"/>
                <a:gd name="T9" fmla="*/ 0 h 12"/>
                <a:gd name="T10" fmla="*/ 66 w 66"/>
                <a:gd name="T11" fmla="*/ 6 h 12"/>
                <a:gd name="T12" fmla="*/ 60 w 66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" h="12">
                  <a:moveTo>
                    <a:pt x="60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6" y="2"/>
                    <a:pt x="66" y="6"/>
                  </a:cubicBezTo>
                  <a:cubicBezTo>
                    <a:pt x="66" y="9"/>
                    <a:pt x="64" y="12"/>
                    <a:pt x="60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44">
              <a:extLst>
                <a:ext uri="{FF2B5EF4-FFF2-40B4-BE49-F238E27FC236}">
                  <a16:creationId xmlns="" xmlns:a16="http://schemas.microsoft.com/office/drawing/2014/main" id="{FD290D41-3B71-4368-808A-A2BDEFE421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617"/>
              <a:ext cx="177" cy="17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8" y="0"/>
                    <a:pt x="120" y="2"/>
                    <a:pt x="120" y="6"/>
                  </a:cubicBezTo>
                  <a:cubicBezTo>
                    <a:pt x="120" y="9"/>
                    <a:pt x="118" y="12"/>
                    <a:pt x="11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45">
              <a:extLst>
                <a:ext uri="{FF2B5EF4-FFF2-40B4-BE49-F238E27FC236}">
                  <a16:creationId xmlns="" xmlns:a16="http://schemas.microsoft.com/office/drawing/2014/main" id="{401A1EEA-1698-4BDD-AEA7-F245226B5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670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8" y="0"/>
                    <a:pt x="120" y="2"/>
                    <a:pt x="120" y="6"/>
                  </a:cubicBezTo>
                  <a:cubicBezTo>
                    <a:pt x="120" y="9"/>
                    <a:pt x="118" y="12"/>
                    <a:pt x="11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46">
              <a:extLst>
                <a:ext uri="{FF2B5EF4-FFF2-40B4-BE49-F238E27FC236}">
                  <a16:creationId xmlns="" xmlns:a16="http://schemas.microsoft.com/office/drawing/2014/main" id="{CD4E1326-8A32-40E1-A758-5764AE1AD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723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8" y="0"/>
                    <a:pt x="120" y="2"/>
                    <a:pt x="120" y="6"/>
                  </a:cubicBezTo>
                  <a:cubicBezTo>
                    <a:pt x="120" y="9"/>
                    <a:pt x="118" y="12"/>
                    <a:pt x="11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47">
              <a:extLst>
                <a:ext uri="{FF2B5EF4-FFF2-40B4-BE49-F238E27FC236}">
                  <a16:creationId xmlns="" xmlns:a16="http://schemas.microsoft.com/office/drawing/2014/main" id="{A7F391C2-7487-4A21-BA4D-044FF1B36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776"/>
              <a:ext cx="177" cy="18"/>
            </a:xfrm>
            <a:custGeom>
              <a:avLst/>
              <a:gdLst>
                <a:gd name="T0" fmla="*/ 114 w 120"/>
                <a:gd name="T1" fmla="*/ 12 h 12"/>
                <a:gd name="T2" fmla="*/ 6 w 120"/>
                <a:gd name="T3" fmla="*/ 12 h 12"/>
                <a:gd name="T4" fmla="*/ 0 w 120"/>
                <a:gd name="T5" fmla="*/ 6 h 12"/>
                <a:gd name="T6" fmla="*/ 6 w 120"/>
                <a:gd name="T7" fmla="*/ 0 h 12"/>
                <a:gd name="T8" fmla="*/ 114 w 120"/>
                <a:gd name="T9" fmla="*/ 0 h 12"/>
                <a:gd name="T10" fmla="*/ 120 w 120"/>
                <a:gd name="T11" fmla="*/ 6 h 12"/>
                <a:gd name="T12" fmla="*/ 114 w 12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0" h="12">
                  <a:moveTo>
                    <a:pt x="11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8" y="0"/>
                    <a:pt x="120" y="2"/>
                    <a:pt x="120" y="6"/>
                  </a:cubicBezTo>
                  <a:cubicBezTo>
                    <a:pt x="120" y="9"/>
                    <a:pt x="118" y="12"/>
                    <a:pt x="11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="" xmlns:a16="http://schemas.microsoft.com/office/drawing/2014/main" id="{E2FF97E1-A246-4155-97D3-D9DEB0CAE8E6}"/>
              </a:ext>
            </a:extLst>
          </p:cNvPr>
          <p:cNvSpPr/>
          <p:nvPr/>
        </p:nvSpPr>
        <p:spPr>
          <a:xfrm>
            <a:off x="7048734" y="1600295"/>
            <a:ext cx="876841" cy="80843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8D090936-D2E5-4A87-9365-B7AA609A1C4D}"/>
              </a:ext>
            </a:extLst>
          </p:cNvPr>
          <p:cNvSpPr txBox="1"/>
          <p:nvPr/>
        </p:nvSpPr>
        <p:spPr>
          <a:xfrm>
            <a:off x="5764658" y="2630570"/>
            <a:ext cx="30282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Ambizione di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trasformare l’economia dell’UE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ancor più che mitigare l'impatto della crisi economica</a:t>
            </a:r>
          </a:p>
        </p:txBody>
      </p:sp>
      <p:grpSp>
        <p:nvGrpSpPr>
          <p:cNvPr id="28" name="Group 60">
            <a:extLst>
              <a:ext uri="{FF2B5EF4-FFF2-40B4-BE49-F238E27FC236}">
                <a16:creationId xmlns="" xmlns:a16="http://schemas.microsoft.com/office/drawing/2014/main" id="{85039E82-5CDC-4D84-8C93-6305FE70A78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74280" y="1788405"/>
            <a:ext cx="447020" cy="436527"/>
            <a:chOff x="6726" y="600"/>
            <a:chExt cx="426" cy="416"/>
          </a:xfrm>
          <a:solidFill>
            <a:schemeClr val="bg1"/>
          </a:solidFill>
        </p:grpSpPr>
        <p:sp>
          <p:nvSpPr>
            <p:cNvPr id="29" name="Freeform 61">
              <a:extLst>
                <a:ext uri="{FF2B5EF4-FFF2-40B4-BE49-F238E27FC236}">
                  <a16:creationId xmlns="" xmlns:a16="http://schemas.microsoft.com/office/drawing/2014/main" id="{110AD0CD-E859-49AF-BB03-AE5466E08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" y="999"/>
              <a:ext cx="426" cy="17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10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10"/>
                    <a:pt x="285" y="12"/>
                    <a:pt x="282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62">
              <a:extLst>
                <a:ext uri="{FF2B5EF4-FFF2-40B4-BE49-F238E27FC236}">
                  <a16:creationId xmlns="" xmlns:a16="http://schemas.microsoft.com/office/drawing/2014/main" id="{EF3DFFC7-4F2B-4B97-B370-9C8A68E93A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44" y="912"/>
              <a:ext cx="71" cy="104"/>
            </a:xfrm>
            <a:custGeom>
              <a:avLst/>
              <a:gdLst>
                <a:gd name="T0" fmla="*/ 42 w 48"/>
                <a:gd name="T1" fmla="*/ 72 h 72"/>
                <a:gd name="T2" fmla="*/ 6 w 48"/>
                <a:gd name="T3" fmla="*/ 72 h 72"/>
                <a:gd name="T4" fmla="*/ 0 w 48"/>
                <a:gd name="T5" fmla="*/ 66 h 72"/>
                <a:gd name="T6" fmla="*/ 0 w 48"/>
                <a:gd name="T7" fmla="*/ 6 h 72"/>
                <a:gd name="T8" fmla="*/ 6 w 48"/>
                <a:gd name="T9" fmla="*/ 0 h 72"/>
                <a:gd name="T10" fmla="*/ 42 w 48"/>
                <a:gd name="T11" fmla="*/ 0 h 72"/>
                <a:gd name="T12" fmla="*/ 48 w 48"/>
                <a:gd name="T13" fmla="*/ 6 h 72"/>
                <a:gd name="T14" fmla="*/ 48 w 48"/>
                <a:gd name="T15" fmla="*/ 66 h 72"/>
                <a:gd name="T16" fmla="*/ 42 w 48"/>
                <a:gd name="T17" fmla="*/ 72 h 72"/>
                <a:gd name="T18" fmla="*/ 12 w 48"/>
                <a:gd name="T19" fmla="*/ 60 h 72"/>
                <a:gd name="T20" fmla="*/ 36 w 48"/>
                <a:gd name="T21" fmla="*/ 60 h 72"/>
                <a:gd name="T22" fmla="*/ 36 w 48"/>
                <a:gd name="T23" fmla="*/ 12 h 72"/>
                <a:gd name="T24" fmla="*/ 12 w 48"/>
                <a:gd name="T25" fmla="*/ 12 h 72"/>
                <a:gd name="T26" fmla="*/ 12 w 48"/>
                <a:gd name="T27" fmla="*/ 6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72">
                  <a:moveTo>
                    <a:pt x="42" y="72"/>
                  </a:moveTo>
                  <a:cubicBezTo>
                    <a:pt x="6" y="72"/>
                    <a:pt x="6" y="72"/>
                    <a:pt x="6" y="72"/>
                  </a:cubicBezTo>
                  <a:cubicBezTo>
                    <a:pt x="2" y="72"/>
                    <a:pt x="0" y="70"/>
                    <a:pt x="0" y="6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70"/>
                    <a:pt x="45" y="72"/>
                    <a:pt x="42" y="72"/>
                  </a:cubicBezTo>
                  <a:close/>
                  <a:moveTo>
                    <a:pt x="12" y="60"/>
                  </a:moveTo>
                  <a:cubicBezTo>
                    <a:pt x="36" y="60"/>
                    <a:pt x="36" y="60"/>
                    <a:pt x="36" y="6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6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63">
              <a:extLst>
                <a:ext uri="{FF2B5EF4-FFF2-40B4-BE49-F238E27FC236}">
                  <a16:creationId xmlns="" xmlns:a16="http://schemas.microsoft.com/office/drawing/2014/main" id="{1D47A0F8-FB0E-4438-8057-8D9F550C65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0" y="826"/>
              <a:ext cx="71" cy="190"/>
            </a:xfrm>
            <a:custGeom>
              <a:avLst/>
              <a:gdLst>
                <a:gd name="T0" fmla="*/ 42 w 48"/>
                <a:gd name="T1" fmla="*/ 132 h 132"/>
                <a:gd name="T2" fmla="*/ 6 w 48"/>
                <a:gd name="T3" fmla="*/ 132 h 132"/>
                <a:gd name="T4" fmla="*/ 0 w 48"/>
                <a:gd name="T5" fmla="*/ 126 h 132"/>
                <a:gd name="T6" fmla="*/ 0 w 48"/>
                <a:gd name="T7" fmla="*/ 6 h 132"/>
                <a:gd name="T8" fmla="*/ 6 w 48"/>
                <a:gd name="T9" fmla="*/ 0 h 132"/>
                <a:gd name="T10" fmla="*/ 42 w 48"/>
                <a:gd name="T11" fmla="*/ 0 h 132"/>
                <a:gd name="T12" fmla="*/ 48 w 48"/>
                <a:gd name="T13" fmla="*/ 6 h 132"/>
                <a:gd name="T14" fmla="*/ 48 w 48"/>
                <a:gd name="T15" fmla="*/ 126 h 132"/>
                <a:gd name="T16" fmla="*/ 42 w 48"/>
                <a:gd name="T17" fmla="*/ 132 h 132"/>
                <a:gd name="T18" fmla="*/ 12 w 48"/>
                <a:gd name="T19" fmla="*/ 120 h 132"/>
                <a:gd name="T20" fmla="*/ 36 w 48"/>
                <a:gd name="T21" fmla="*/ 120 h 132"/>
                <a:gd name="T22" fmla="*/ 36 w 48"/>
                <a:gd name="T23" fmla="*/ 12 h 132"/>
                <a:gd name="T24" fmla="*/ 12 w 48"/>
                <a:gd name="T25" fmla="*/ 12 h 132"/>
                <a:gd name="T26" fmla="*/ 12 w 48"/>
                <a:gd name="T27" fmla="*/ 12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32">
                  <a:moveTo>
                    <a:pt x="42" y="132"/>
                  </a:moveTo>
                  <a:cubicBezTo>
                    <a:pt x="6" y="132"/>
                    <a:pt x="6" y="132"/>
                    <a:pt x="6" y="132"/>
                  </a:cubicBezTo>
                  <a:cubicBezTo>
                    <a:pt x="2" y="132"/>
                    <a:pt x="0" y="130"/>
                    <a:pt x="0" y="12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26"/>
                    <a:pt x="48" y="126"/>
                    <a:pt x="48" y="126"/>
                  </a:cubicBezTo>
                  <a:cubicBezTo>
                    <a:pt x="48" y="130"/>
                    <a:pt x="45" y="132"/>
                    <a:pt x="42" y="132"/>
                  </a:cubicBezTo>
                  <a:close/>
                  <a:moveTo>
                    <a:pt x="12" y="120"/>
                  </a:moveTo>
                  <a:cubicBezTo>
                    <a:pt x="36" y="120"/>
                    <a:pt x="36" y="120"/>
                    <a:pt x="36" y="12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2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Freeform 64">
              <a:extLst>
                <a:ext uri="{FF2B5EF4-FFF2-40B4-BE49-F238E27FC236}">
                  <a16:creationId xmlns="" xmlns:a16="http://schemas.microsoft.com/office/drawing/2014/main" id="{4DA1E3D6-C55E-40EA-AD06-B15C88F316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57" y="860"/>
              <a:ext cx="71" cy="156"/>
            </a:xfrm>
            <a:custGeom>
              <a:avLst/>
              <a:gdLst>
                <a:gd name="T0" fmla="*/ 42 w 48"/>
                <a:gd name="T1" fmla="*/ 108 h 108"/>
                <a:gd name="T2" fmla="*/ 6 w 48"/>
                <a:gd name="T3" fmla="*/ 108 h 108"/>
                <a:gd name="T4" fmla="*/ 0 w 48"/>
                <a:gd name="T5" fmla="*/ 102 h 108"/>
                <a:gd name="T6" fmla="*/ 0 w 48"/>
                <a:gd name="T7" fmla="*/ 6 h 108"/>
                <a:gd name="T8" fmla="*/ 6 w 48"/>
                <a:gd name="T9" fmla="*/ 0 h 108"/>
                <a:gd name="T10" fmla="*/ 42 w 48"/>
                <a:gd name="T11" fmla="*/ 0 h 108"/>
                <a:gd name="T12" fmla="*/ 48 w 48"/>
                <a:gd name="T13" fmla="*/ 6 h 108"/>
                <a:gd name="T14" fmla="*/ 48 w 48"/>
                <a:gd name="T15" fmla="*/ 102 h 108"/>
                <a:gd name="T16" fmla="*/ 42 w 48"/>
                <a:gd name="T17" fmla="*/ 108 h 108"/>
                <a:gd name="T18" fmla="*/ 12 w 48"/>
                <a:gd name="T19" fmla="*/ 96 h 108"/>
                <a:gd name="T20" fmla="*/ 36 w 48"/>
                <a:gd name="T21" fmla="*/ 96 h 108"/>
                <a:gd name="T22" fmla="*/ 36 w 48"/>
                <a:gd name="T23" fmla="*/ 12 h 108"/>
                <a:gd name="T24" fmla="*/ 12 w 48"/>
                <a:gd name="T25" fmla="*/ 12 h 108"/>
                <a:gd name="T26" fmla="*/ 12 w 48"/>
                <a:gd name="T27" fmla="*/ 9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08">
                  <a:moveTo>
                    <a:pt x="42" y="108"/>
                  </a:moveTo>
                  <a:cubicBezTo>
                    <a:pt x="6" y="108"/>
                    <a:pt x="6" y="108"/>
                    <a:pt x="6" y="108"/>
                  </a:cubicBezTo>
                  <a:cubicBezTo>
                    <a:pt x="2" y="108"/>
                    <a:pt x="0" y="106"/>
                    <a:pt x="0" y="10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48" y="106"/>
                    <a:pt x="45" y="108"/>
                    <a:pt x="42" y="108"/>
                  </a:cubicBezTo>
                  <a:close/>
                  <a:moveTo>
                    <a:pt x="12" y="96"/>
                  </a:moveTo>
                  <a:cubicBezTo>
                    <a:pt x="36" y="96"/>
                    <a:pt x="36" y="96"/>
                    <a:pt x="36" y="96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9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65">
              <a:extLst>
                <a:ext uri="{FF2B5EF4-FFF2-40B4-BE49-F238E27FC236}">
                  <a16:creationId xmlns="" xmlns:a16="http://schemas.microsoft.com/office/drawing/2014/main" id="{A0F16F94-AC1D-465E-90A9-A89D2ECB2D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3" y="739"/>
              <a:ext cx="71" cy="277"/>
            </a:xfrm>
            <a:custGeom>
              <a:avLst/>
              <a:gdLst>
                <a:gd name="T0" fmla="*/ 42 w 48"/>
                <a:gd name="T1" fmla="*/ 192 h 192"/>
                <a:gd name="T2" fmla="*/ 6 w 48"/>
                <a:gd name="T3" fmla="*/ 192 h 192"/>
                <a:gd name="T4" fmla="*/ 0 w 48"/>
                <a:gd name="T5" fmla="*/ 186 h 192"/>
                <a:gd name="T6" fmla="*/ 0 w 48"/>
                <a:gd name="T7" fmla="*/ 6 h 192"/>
                <a:gd name="T8" fmla="*/ 6 w 48"/>
                <a:gd name="T9" fmla="*/ 0 h 192"/>
                <a:gd name="T10" fmla="*/ 42 w 48"/>
                <a:gd name="T11" fmla="*/ 0 h 192"/>
                <a:gd name="T12" fmla="*/ 48 w 48"/>
                <a:gd name="T13" fmla="*/ 6 h 192"/>
                <a:gd name="T14" fmla="*/ 48 w 48"/>
                <a:gd name="T15" fmla="*/ 186 h 192"/>
                <a:gd name="T16" fmla="*/ 42 w 48"/>
                <a:gd name="T17" fmla="*/ 192 h 192"/>
                <a:gd name="T18" fmla="*/ 12 w 48"/>
                <a:gd name="T19" fmla="*/ 180 h 192"/>
                <a:gd name="T20" fmla="*/ 36 w 48"/>
                <a:gd name="T21" fmla="*/ 180 h 192"/>
                <a:gd name="T22" fmla="*/ 36 w 48"/>
                <a:gd name="T23" fmla="*/ 12 h 192"/>
                <a:gd name="T24" fmla="*/ 12 w 48"/>
                <a:gd name="T25" fmla="*/ 12 h 192"/>
                <a:gd name="T26" fmla="*/ 12 w 48"/>
                <a:gd name="T27" fmla="*/ 18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8" h="192">
                  <a:moveTo>
                    <a:pt x="42" y="192"/>
                  </a:moveTo>
                  <a:cubicBezTo>
                    <a:pt x="6" y="192"/>
                    <a:pt x="6" y="192"/>
                    <a:pt x="6" y="192"/>
                  </a:cubicBezTo>
                  <a:cubicBezTo>
                    <a:pt x="2" y="192"/>
                    <a:pt x="0" y="190"/>
                    <a:pt x="0" y="18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5" y="0"/>
                    <a:pt x="48" y="3"/>
                    <a:pt x="48" y="6"/>
                  </a:cubicBezTo>
                  <a:cubicBezTo>
                    <a:pt x="48" y="186"/>
                    <a:pt x="48" y="186"/>
                    <a:pt x="48" y="186"/>
                  </a:cubicBezTo>
                  <a:cubicBezTo>
                    <a:pt x="48" y="190"/>
                    <a:pt x="45" y="192"/>
                    <a:pt x="42" y="192"/>
                  </a:cubicBezTo>
                  <a:close/>
                  <a:moveTo>
                    <a:pt x="12" y="180"/>
                  </a:moveTo>
                  <a:cubicBezTo>
                    <a:pt x="36" y="180"/>
                    <a:pt x="36" y="180"/>
                    <a:pt x="36" y="180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8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 66">
              <a:extLst>
                <a:ext uri="{FF2B5EF4-FFF2-40B4-BE49-F238E27FC236}">
                  <a16:creationId xmlns="" xmlns:a16="http://schemas.microsoft.com/office/drawing/2014/main" id="{4478643E-40A3-402F-97B8-E3764CADF3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53" y="774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Freeform 67">
              <a:extLst>
                <a:ext uri="{FF2B5EF4-FFF2-40B4-BE49-F238E27FC236}">
                  <a16:creationId xmlns="" xmlns:a16="http://schemas.microsoft.com/office/drawing/2014/main" id="{E3906C5C-10C8-46AD-8B9D-19535052A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9" y="687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Freeform 68">
              <a:extLst>
                <a:ext uri="{FF2B5EF4-FFF2-40B4-BE49-F238E27FC236}">
                  <a16:creationId xmlns="" xmlns:a16="http://schemas.microsoft.com/office/drawing/2014/main" id="{179DA628-7ABF-4BF7-9372-F573B588B8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66" y="722"/>
              <a:ext cx="53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Freeform 69">
              <a:extLst>
                <a:ext uri="{FF2B5EF4-FFF2-40B4-BE49-F238E27FC236}">
                  <a16:creationId xmlns="" xmlns:a16="http://schemas.microsoft.com/office/drawing/2014/main" id="{B2921E8B-B3FF-444F-BA58-F35121C1CF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72" y="600"/>
              <a:ext cx="54" cy="52"/>
            </a:xfrm>
            <a:custGeom>
              <a:avLst/>
              <a:gdLst>
                <a:gd name="T0" fmla="*/ 18 w 36"/>
                <a:gd name="T1" fmla="*/ 36 h 36"/>
                <a:gd name="T2" fmla="*/ 0 w 36"/>
                <a:gd name="T3" fmla="*/ 18 h 36"/>
                <a:gd name="T4" fmla="*/ 18 w 36"/>
                <a:gd name="T5" fmla="*/ 0 h 36"/>
                <a:gd name="T6" fmla="*/ 36 w 36"/>
                <a:gd name="T7" fmla="*/ 18 h 36"/>
                <a:gd name="T8" fmla="*/ 18 w 36"/>
                <a:gd name="T9" fmla="*/ 36 h 36"/>
                <a:gd name="T10" fmla="*/ 18 w 36"/>
                <a:gd name="T11" fmla="*/ 12 h 36"/>
                <a:gd name="T12" fmla="*/ 12 w 36"/>
                <a:gd name="T13" fmla="*/ 18 h 36"/>
                <a:gd name="T14" fmla="*/ 18 w 36"/>
                <a:gd name="T15" fmla="*/ 24 h 36"/>
                <a:gd name="T16" fmla="*/ 24 w 36"/>
                <a:gd name="T17" fmla="*/ 18 h 36"/>
                <a:gd name="T18" fmla="*/ 18 w 36"/>
                <a:gd name="T19" fmla="*/ 1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8" y="36"/>
                    <a:pt x="0" y="28"/>
                    <a:pt x="0" y="18"/>
                  </a:cubicBezTo>
                  <a:cubicBezTo>
                    <a:pt x="0" y="9"/>
                    <a:pt x="8" y="0"/>
                    <a:pt x="18" y="0"/>
                  </a:cubicBezTo>
                  <a:cubicBezTo>
                    <a:pt x="28" y="0"/>
                    <a:pt x="36" y="9"/>
                    <a:pt x="36" y="18"/>
                  </a:cubicBezTo>
                  <a:cubicBezTo>
                    <a:pt x="36" y="28"/>
                    <a:pt x="28" y="36"/>
                    <a:pt x="18" y="36"/>
                  </a:cubicBezTo>
                  <a:close/>
                  <a:moveTo>
                    <a:pt x="18" y="12"/>
                  </a:moveTo>
                  <a:cubicBezTo>
                    <a:pt x="14" y="12"/>
                    <a:pt x="12" y="15"/>
                    <a:pt x="12" y="18"/>
                  </a:cubicBezTo>
                  <a:cubicBezTo>
                    <a:pt x="12" y="22"/>
                    <a:pt x="14" y="24"/>
                    <a:pt x="18" y="24"/>
                  </a:cubicBezTo>
                  <a:cubicBezTo>
                    <a:pt x="21" y="24"/>
                    <a:pt x="24" y="22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Freeform 70">
              <a:extLst>
                <a:ext uri="{FF2B5EF4-FFF2-40B4-BE49-F238E27FC236}">
                  <a16:creationId xmlns="" xmlns:a16="http://schemas.microsoft.com/office/drawing/2014/main" id="{28842F68-CA81-4928-BEDA-664BB944C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" y="714"/>
              <a:ext cx="99" cy="84"/>
            </a:xfrm>
            <a:custGeom>
              <a:avLst/>
              <a:gdLst>
                <a:gd name="T0" fmla="*/ 7 w 67"/>
                <a:gd name="T1" fmla="*/ 58 h 58"/>
                <a:gd name="T2" fmla="*/ 2 w 67"/>
                <a:gd name="T3" fmla="*/ 56 h 58"/>
                <a:gd name="T4" fmla="*/ 3 w 67"/>
                <a:gd name="T5" fmla="*/ 47 h 58"/>
                <a:gd name="T6" fmla="*/ 57 w 67"/>
                <a:gd name="T7" fmla="*/ 3 h 58"/>
                <a:gd name="T8" fmla="*/ 65 w 67"/>
                <a:gd name="T9" fmla="*/ 3 h 58"/>
                <a:gd name="T10" fmla="*/ 64 w 67"/>
                <a:gd name="T11" fmla="*/ 12 h 58"/>
                <a:gd name="T12" fmla="*/ 11 w 67"/>
                <a:gd name="T13" fmla="*/ 56 h 58"/>
                <a:gd name="T14" fmla="*/ 7 w 67"/>
                <a:gd name="T15" fmla="*/ 58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7" h="58">
                  <a:moveTo>
                    <a:pt x="7" y="58"/>
                  </a:moveTo>
                  <a:cubicBezTo>
                    <a:pt x="5" y="58"/>
                    <a:pt x="3" y="57"/>
                    <a:pt x="2" y="56"/>
                  </a:cubicBezTo>
                  <a:cubicBezTo>
                    <a:pt x="0" y="53"/>
                    <a:pt x="0" y="49"/>
                    <a:pt x="3" y="47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9" y="0"/>
                    <a:pt x="63" y="1"/>
                    <a:pt x="65" y="3"/>
                  </a:cubicBezTo>
                  <a:cubicBezTo>
                    <a:pt x="67" y="6"/>
                    <a:pt x="67" y="10"/>
                    <a:pt x="64" y="12"/>
                  </a:cubicBezTo>
                  <a:cubicBezTo>
                    <a:pt x="11" y="56"/>
                    <a:pt x="11" y="56"/>
                    <a:pt x="11" y="56"/>
                  </a:cubicBezTo>
                  <a:cubicBezTo>
                    <a:pt x="10" y="57"/>
                    <a:pt x="8" y="58"/>
                    <a:pt x="7" y="5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 71">
              <a:extLst>
                <a:ext uri="{FF2B5EF4-FFF2-40B4-BE49-F238E27FC236}">
                  <a16:creationId xmlns="" xmlns:a16="http://schemas.microsoft.com/office/drawing/2014/main" id="{500D6F39-D8F5-46CB-86DF-72BD453EA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2" y="708"/>
              <a:ext cx="93" cy="44"/>
            </a:xfrm>
            <a:custGeom>
              <a:avLst/>
              <a:gdLst>
                <a:gd name="T0" fmla="*/ 57 w 63"/>
                <a:gd name="T1" fmla="*/ 30 h 30"/>
                <a:gd name="T2" fmla="*/ 55 w 63"/>
                <a:gd name="T3" fmla="*/ 29 h 30"/>
                <a:gd name="T4" fmla="*/ 5 w 63"/>
                <a:gd name="T5" fmla="*/ 13 h 30"/>
                <a:gd name="T6" fmla="*/ 1 w 63"/>
                <a:gd name="T7" fmla="*/ 5 h 30"/>
                <a:gd name="T8" fmla="*/ 9 w 63"/>
                <a:gd name="T9" fmla="*/ 2 h 30"/>
                <a:gd name="T10" fmla="*/ 58 w 63"/>
                <a:gd name="T11" fmla="*/ 18 h 30"/>
                <a:gd name="T12" fmla="*/ 62 w 63"/>
                <a:gd name="T13" fmla="*/ 26 h 30"/>
                <a:gd name="T14" fmla="*/ 57 w 63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3" h="30">
                  <a:moveTo>
                    <a:pt x="57" y="30"/>
                  </a:moveTo>
                  <a:cubicBezTo>
                    <a:pt x="56" y="30"/>
                    <a:pt x="55" y="30"/>
                    <a:pt x="55" y="29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2" y="12"/>
                    <a:pt x="0" y="8"/>
                    <a:pt x="1" y="5"/>
                  </a:cubicBezTo>
                  <a:cubicBezTo>
                    <a:pt x="2" y="2"/>
                    <a:pt x="6" y="0"/>
                    <a:pt x="9" y="2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62" y="19"/>
                    <a:pt x="63" y="23"/>
                    <a:pt x="62" y="26"/>
                  </a:cubicBezTo>
                  <a:cubicBezTo>
                    <a:pt x="61" y="28"/>
                    <a:pt x="59" y="30"/>
                    <a:pt x="57" y="30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72">
              <a:extLst>
                <a:ext uri="{FF2B5EF4-FFF2-40B4-BE49-F238E27FC236}">
                  <a16:creationId xmlns="" xmlns:a16="http://schemas.microsoft.com/office/drawing/2014/main" id="{5BB5850C-C193-4D95-9B9E-8582C507C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4" y="630"/>
              <a:ext cx="103" cy="113"/>
            </a:xfrm>
            <a:custGeom>
              <a:avLst/>
              <a:gdLst>
                <a:gd name="T0" fmla="*/ 6 w 70"/>
                <a:gd name="T1" fmla="*/ 78 h 78"/>
                <a:gd name="T2" fmla="*/ 3 w 70"/>
                <a:gd name="T3" fmla="*/ 77 h 78"/>
                <a:gd name="T4" fmla="*/ 2 w 70"/>
                <a:gd name="T5" fmla="*/ 68 h 78"/>
                <a:gd name="T6" fmla="*/ 58 w 70"/>
                <a:gd name="T7" fmla="*/ 3 h 78"/>
                <a:gd name="T8" fmla="*/ 67 w 70"/>
                <a:gd name="T9" fmla="*/ 2 h 78"/>
                <a:gd name="T10" fmla="*/ 67 w 70"/>
                <a:gd name="T11" fmla="*/ 10 h 78"/>
                <a:gd name="T12" fmla="*/ 11 w 70"/>
                <a:gd name="T13" fmla="*/ 76 h 78"/>
                <a:gd name="T14" fmla="*/ 6 w 70"/>
                <a:gd name="T1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78">
                  <a:moveTo>
                    <a:pt x="6" y="78"/>
                  </a:moveTo>
                  <a:cubicBezTo>
                    <a:pt x="5" y="78"/>
                    <a:pt x="4" y="78"/>
                    <a:pt x="3" y="77"/>
                  </a:cubicBezTo>
                  <a:cubicBezTo>
                    <a:pt x="0" y="75"/>
                    <a:pt x="0" y="71"/>
                    <a:pt x="2" y="68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60" y="0"/>
                    <a:pt x="64" y="0"/>
                    <a:pt x="67" y="2"/>
                  </a:cubicBezTo>
                  <a:cubicBezTo>
                    <a:pt x="69" y="4"/>
                    <a:pt x="70" y="8"/>
                    <a:pt x="67" y="10"/>
                  </a:cubicBezTo>
                  <a:cubicBezTo>
                    <a:pt x="11" y="76"/>
                    <a:pt x="11" y="76"/>
                    <a:pt x="11" y="76"/>
                  </a:cubicBezTo>
                  <a:cubicBezTo>
                    <a:pt x="10" y="78"/>
                    <a:pt x="8" y="78"/>
                    <a:pt x="6" y="7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="" xmlns:a16="http://schemas.microsoft.com/office/drawing/2014/main" id="{31C21614-5A1B-402C-950E-DB4ADD2A5EA9}"/>
              </a:ext>
            </a:extLst>
          </p:cNvPr>
          <p:cNvSpPr/>
          <p:nvPr/>
        </p:nvSpPr>
        <p:spPr>
          <a:xfrm>
            <a:off x="1485001" y="1600295"/>
            <a:ext cx="876841" cy="80843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D33FCFAD-5F60-4016-9EE9-0FEBA9E7D20B}"/>
              </a:ext>
            </a:extLst>
          </p:cNvPr>
          <p:cNvSpPr txBox="1"/>
          <p:nvPr/>
        </p:nvSpPr>
        <p:spPr>
          <a:xfrm>
            <a:off x="252419" y="2630570"/>
            <a:ext cx="30282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Prestiti da un «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debito comune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» (diversi rispetto a SURE o MES)</a:t>
            </a:r>
          </a:p>
        </p:txBody>
      </p:sp>
      <p:grpSp>
        <p:nvGrpSpPr>
          <p:cNvPr id="41" name="Group 193">
            <a:extLst>
              <a:ext uri="{FF2B5EF4-FFF2-40B4-BE49-F238E27FC236}">
                <a16:creationId xmlns="" xmlns:a16="http://schemas.microsoft.com/office/drawing/2014/main" id="{F3C3D6EF-A2A7-4E4B-B603-D1A132986A3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698485" y="1786713"/>
            <a:ext cx="449872" cy="420093"/>
            <a:chOff x="1560" y="3234"/>
            <a:chExt cx="423" cy="395"/>
          </a:xfrm>
          <a:solidFill>
            <a:schemeClr val="bg1"/>
          </a:solidFill>
        </p:grpSpPr>
        <p:sp>
          <p:nvSpPr>
            <p:cNvPr id="42" name="Freeform 194">
              <a:extLst>
                <a:ext uri="{FF2B5EF4-FFF2-40B4-BE49-F238E27FC236}">
                  <a16:creationId xmlns="" xmlns:a16="http://schemas.microsoft.com/office/drawing/2014/main" id="{A1011563-88CF-423C-8471-DCC5CAEC99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234"/>
              <a:ext cx="184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195">
              <a:extLst>
                <a:ext uri="{FF2B5EF4-FFF2-40B4-BE49-F238E27FC236}">
                  <a16:creationId xmlns="" xmlns:a16="http://schemas.microsoft.com/office/drawing/2014/main" id="{9F8B6731-34A5-4C6D-9E93-CC87C6C1B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3234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Freeform 196">
              <a:extLst>
                <a:ext uri="{FF2B5EF4-FFF2-40B4-BE49-F238E27FC236}">
                  <a16:creationId xmlns="" xmlns:a16="http://schemas.microsoft.com/office/drawing/2014/main" id="{E69DA99B-8D27-413F-94E7-2DE225611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3234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197">
              <a:extLst>
                <a:ext uri="{FF2B5EF4-FFF2-40B4-BE49-F238E27FC236}">
                  <a16:creationId xmlns="" xmlns:a16="http://schemas.microsoft.com/office/drawing/2014/main" id="{CA5DC683-4A58-4E93-B8E9-DD47B73AD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97" y="3288"/>
              <a:ext cx="184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Freeform 198">
              <a:extLst>
                <a:ext uri="{FF2B5EF4-FFF2-40B4-BE49-F238E27FC236}">
                  <a16:creationId xmlns="" xmlns:a16="http://schemas.microsoft.com/office/drawing/2014/main" id="{69014EF6-07DE-45ED-B8BA-80E88D696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3288"/>
              <a:ext cx="19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199">
              <a:extLst>
                <a:ext uri="{FF2B5EF4-FFF2-40B4-BE49-F238E27FC236}">
                  <a16:creationId xmlns="" xmlns:a16="http://schemas.microsoft.com/office/drawing/2014/main" id="{0AB47097-BD7A-49EE-8012-822BD84EE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3288"/>
              <a:ext cx="19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200">
              <a:extLst>
                <a:ext uri="{FF2B5EF4-FFF2-40B4-BE49-F238E27FC236}">
                  <a16:creationId xmlns="" xmlns:a16="http://schemas.microsoft.com/office/drawing/2014/main" id="{EC99E8DE-E4DE-4F18-9245-EC3B3789A1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8" y="3342"/>
              <a:ext cx="184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 201">
              <a:extLst>
                <a:ext uri="{FF2B5EF4-FFF2-40B4-BE49-F238E27FC236}">
                  <a16:creationId xmlns="" xmlns:a16="http://schemas.microsoft.com/office/drawing/2014/main" id="{553C28FA-6B5B-4D11-AA13-43AFA21D2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3342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 202">
              <a:extLst>
                <a:ext uri="{FF2B5EF4-FFF2-40B4-BE49-F238E27FC236}">
                  <a16:creationId xmlns="" xmlns:a16="http://schemas.microsoft.com/office/drawing/2014/main" id="{A112B618-2B3D-4E62-A509-BAC4CC891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3342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Freeform 203">
              <a:extLst>
                <a:ext uri="{FF2B5EF4-FFF2-40B4-BE49-F238E27FC236}">
                  <a16:creationId xmlns="" xmlns:a16="http://schemas.microsoft.com/office/drawing/2014/main" id="{B11B830D-FE47-417F-AA4C-79E7BE91E5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396"/>
              <a:ext cx="184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Freeform 204">
              <a:extLst>
                <a:ext uri="{FF2B5EF4-FFF2-40B4-BE49-F238E27FC236}">
                  <a16:creationId xmlns="" xmlns:a16="http://schemas.microsoft.com/office/drawing/2014/main" id="{D44A9786-0F9A-4BDD-9F81-E0DBF802B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3396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Freeform 205">
              <a:extLst>
                <a:ext uri="{FF2B5EF4-FFF2-40B4-BE49-F238E27FC236}">
                  <a16:creationId xmlns="" xmlns:a16="http://schemas.microsoft.com/office/drawing/2014/main" id="{042425A5-4302-46EE-8C1F-ED6F3C86E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3396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Freeform 206">
              <a:extLst>
                <a:ext uri="{FF2B5EF4-FFF2-40B4-BE49-F238E27FC236}">
                  <a16:creationId xmlns="" xmlns:a16="http://schemas.microsoft.com/office/drawing/2014/main" id="{049D1B67-679D-4F2B-B17F-515DAAB1CD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8" y="3450"/>
              <a:ext cx="184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207">
              <a:extLst>
                <a:ext uri="{FF2B5EF4-FFF2-40B4-BE49-F238E27FC236}">
                  <a16:creationId xmlns="" xmlns:a16="http://schemas.microsoft.com/office/drawing/2014/main" id="{08E96EC6-399B-48B7-97D2-9E85C3094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3450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208">
              <a:extLst>
                <a:ext uri="{FF2B5EF4-FFF2-40B4-BE49-F238E27FC236}">
                  <a16:creationId xmlns="" xmlns:a16="http://schemas.microsoft.com/office/drawing/2014/main" id="{CBE820A0-F19B-4EA8-B656-2AD5E30CA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3450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Freeform 209">
              <a:extLst>
                <a:ext uri="{FF2B5EF4-FFF2-40B4-BE49-F238E27FC236}">
                  <a16:creationId xmlns="" xmlns:a16="http://schemas.microsoft.com/office/drawing/2014/main" id="{EDF9212B-C2D1-4FFB-81DE-78ADDCEC7A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60" y="3504"/>
              <a:ext cx="184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 210">
              <a:extLst>
                <a:ext uri="{FF2B5EF4-FFF2-40B4-BE49-F238E27FC236}">
                  <a16:creationId xmlns="" xmlns:a16="http://schemas.microsoft.com/office/drawing/2014/main" id="{9FB0F99C-0709-4F2B-AA6C-348ADECFE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" y="3504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reeform 211">
              <a:extLst>
                <a:ext uri="{FF2B5EF4-FFF2-40B4-BE49-F238E27FC236}">
                  <a16:creationId xmlns="" xmlns:a16="http://schemas.microsoft.com/office/drawing/2014/main" id="{7091A61C-7607-4E2D-B59B-E3D32C626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" y="3504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Freeform 212">
              <a:extLst>
                <a:ext uri="{FF2B5EF4-FFF2-40B4-BE49-F238E27FC236}">
                  <a16:creationId xmlns="" xmlns:a16="http://schemas.microsoft.com/office/drawing/2014/main" id="{E7229C47-5012-48F9-8A9A-9AB773E4A0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8" y="3558"/>
              <a:ext cx="184" cy="71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 213">
              <a:extLst>
                <a:ext uri="{FF2B5EF4-FFF2-40B4-BE49-F238E27FC236}">
                  <a16:creationId xmlns="" xmlns:a16="http://schemas.microsoft.com/office/drawing/2014/main" id="{57EA246A-B37F-497E-8F73-23623E078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7" y="3558"/>
              <a:ext cx="18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 214">
              <a:extLst>
                <a:ext uri="{FF2B5EF4-FFF2-40B4-BE49-F238E27FC236}">
                  <a16:creationId xmlns="" xmlns:a16="http://schemas.microsoft.com/office/drawing/2014/main" id="{C57E37DC-020C-4210-AC09-763C11075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5" y="3558"/>
              <a:ext cx="18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 215">
              <a:extLst>
                <a:ext uri="{FF2B5EF4-FFF2-40B4-BE49-F238E27FC236}">
                  <a16:creationId xmlns="" xmlns:a16="http://schemas.microsoft.com/office/drawing/2014/main" id="{72D2C2A3-8E02-451D-AF1B-4B886FE6E2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1" y="3450"/>
              <a:ext cx="184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reeform 216">
              <a:extLst>
                <a:ext uri="{FF2B5EF4-FFF2-40B4-BE49-F238E27FC236}">
                  <a16:creationId xmlns="" xmlns:a16="http://schemas.microsoft.com/office/drawing/2014/main" id="{9B56F402-99C0-4BD4-B3DD-BB6A2C87F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" y="3450"/>
              <a:ext cx="19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217">
              <a:extLst>
                <a:ext uri="{FF2B5EF4-FFF2-40B4-BE49-F238E27FC236}">
                  <a16:creationId xmlns="" xmlns:a16="http://schemas.microsoft.com/office/drawing/2014/main" id="{8BCC9804-25A6-4C9C-805C-9D65AC0F8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3450"/>
              <a:ext cx="19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Freeform 218">
              <a:extLst>
                <a:ext uri="{FF2B5EF4-FFF2-40B4-BE49-F238E27FC236}">
                  <a16:creationId xmlns="" xmlns:a16="http://schemas.microsoft.com/office/drawing/2014/main" id="{82764385-C73E-4DDF-8407-72BBB52A8B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99" y="3504"/>
              <a:ext cx="184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Freeform 219">
              <a:extLst>
                <a:ext uri="{FF2B5EF4-FFF2-40B4-BE49-F238E27FC236}">
                  <a16:creationId xmlns="" xmlns:a16="http://schemas.microsoft.com/office/drawing/2014/main" id="{9964CDF7-F88F-49D6-B551-EA36199D1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3504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220">
              <a:extLst>
                <a:ext uri="{FF2B5EF4-FFF2-40B4-BE49-F238E27FC236}">
                  <a16:creationId xmlns="" xmlns:a16="http://schemas.microsoft.com/office/drawing/2014/main" id="{D7512351-B28F-49F0-BC0E-FA44507CB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3504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 221">
              <a:extLst>
                <a:ext uri="{FF2B5EF4-FFF2-40B4-BE49-F238E27FC236}">
                  <a16:creationId xmlns="" xmlns:a16="http://schemas.microsoft.com/office/drawing/2014/main" id="{4F78B8F8-BE52-4C96-A94F-9875DE9C6D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1" y="3558"/>
              <a:ext cx="184" cy="71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 222">
              <a:extLst>
                <a:ext uri="{FF2B5EF4-FFF2-40B4-BE49-F238E27FC236}">
                  <a16:creationId xmlns="" xmlns:a16="http://schemas.microsoft.com/office/drawing/2014/main" id="{F219E7CD-2529-4711-A2CD-BC035B4E9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7" y="3558"/>
              <a:ext cx="19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reeform 223">
              <a:extLst>
                <a:ext uri="{FF2B5EF4-FFF2-40B4-BE49-F238E27FC236}">
                  <a16:creationId xmlns="" xmlns:a16="http://schemas.microsoft.com/office/drawing/2014/main" id="{DCCAAFD9-2084-4B35-9AE8-BDECAE6DF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3558"/>
              <a:ext cx="19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5" name="Rectangle: Rounded Corners 94">
            <a:extLst>
              <a:ext uri="{FF2B5EF4-FFF2-40B4-BE49-F238E27FC236}">
                <a16:creationId xmlns="" xmlns:a16="http://schemas.microsoft.com/office/drawing/2014/main" id="{EBDCCA24-FE41-4064-80AC-FEC35F48B729}"/>
              </a:ext>
            </a:extLst>
          </p:cNvPr>
          <p:cNvSpPr/>
          <p:nvPr/>
        </p:nvSpPr>
        <p:spPr>
          <a:xfrm>
            <a:off x="9955023" y="1600295"/>
            <a:ext cx="876841" cy="80843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="" xmlns:a16="http://schemas.microsoft.com/office/drawing/2014/main" id="{0EB3C733-EE60-4EE3-9365-8B6ED570B3D5}"/>
              </a:ext>
            </a:extLst>
          </p:cNvPr>
          <p:cNvSpPr txBox="1"/>
          <p:nvPr/>
        </p:nvSpPr>
        <p:spPr>
          <a:xfrm>
            <a:off x="8670947" y="2630570"/>
            <a:ext cx="302826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Accento sulla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capacità di dimostrare risultati tangibili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sufficientemente rilevanti</a:t>
            </a:r>
          </a:p>
        </p:txBody>
      </p:sp>
      <p:grpSp>
        <p:nvGrpSpPr>
          <p:cNvPr id="75" name="Group 81">
            <a:extLst>
              <a:ext uri="{FF2B5EF4-FFF2-40B4-BE49-F238E27FC236}">
                <a16:creationId xmlns="" xmlns:a16="http://schemas.microsoft.com/office/drawing/2014/main" id="{13EE2235-9EFE-40A2-8F2D-33FBD3676C0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163898" y="1811767"/>
            <a:ext cx="438496" cy="391174"/>
            <a:chOff x="2400" y="1718"/>
            <a:chExt cx="427" cy="428"/>
          </a:xfrm>
          <a:solidFill>
            <a:schemeClr val="bg1"/>
          </a:solidFill>
        </p:grpSpPr>
        <p:sp>
          <p:nvSpPr>
            <p:cNvPr id="76" name="Freeform 82">
              <a:extLst>
                <a:ext uri="{FF2B5EF4-FFF2-40B4-BE49-F238E27FC236}">
                  <a16:creationId xmlns="" xmlns:a16="http://schemas.microsoft.com/office/drawing/2014/main" id="{9386A85C-AD9F-45D2-8A36-A880AA84F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844"/>
              <a:ext cx="427" cy="17"/>
            </a:xfrm>
            <a:custGeom>
              <a:avLst/>
              <a:gdLst>
                <a:gd name="T0" fmla="*/ 282 w 288"/>
                <a:gd name="T1" fmla="*/ 12 h 12"/>
                <a:gd name="T2" fmla="*/ 6 w 288"/>
                <a:gd name="T3" fmla="*/ 12 h 12"/>
                <a:gd name="T4" fmla="*/ 0 w 288"/>
                <a:gd name="T5" fmla="*/ 6 h 12"/>
                <a:gd name="T6" fmla="*/ 6 w 288"/>
                <a:gd name="T7" fmla="*/ 0 h 12"/>
                <a:gd name="T8" fmla="*/ 282 w 288"/>
                <a:gd name="T9" fmla="*/ 0 h 12"/>
                <a:gd name="T10" fmla="*/ 288 w 288"/>
                <a:gd name="T11" fmla="*/ 6 h 12"/>
                <a:gd name="T12" fmla="*/ 282 w 288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8" h="12">
                  <a:moveTo>
                    <a:pt x="282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5" y="0"/>
                    <a:pt x="288" y="3"/>
                    <a:pt x="288" y="6"/>
                  </a:cubicBezTo>
                  <a:cubicBezTo>
                    <a:pt x="288" y="9"/>
                    <a:pt x="285" y="12"/>
                    <a:pt x="282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Freeform 83">
              <a:extLst>
                <a:ext uri="{FF2B5EF4-FFF2-40B4-BE49-F238E27FC236}">
                  <a16:creationId xmlns="" xmlns:a16="http://schemas.microsoft.com/office/drawing/2014/main" id="{0FCD179D-0403-48EF-B307-F6A88D7BDD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00" y="1719"/>
              <a:ext cx="427" cy="427"/>
            </a:xfrm>
            <a:custGeom>
              <a:avLst/>
              <a:gdLst>
                <a:gd name="T0" fmla="*/ 144 w 288"/>
                <a:gd name="T1" fmla="*/ 288 h 288"/>
                <a:gd name="T2" fmla="*/ 139 w 288"/>
                <a:gd name="T3" fmla="*/ 285 h 288"/>
                <a:gd name="T4" fmla="*/ 1 w 288"/>
                <a:gd name="T5" fmla="*/ 93 h 288"/>
                <a:gd name="T6" fmla="*/ 1 w 288"/>
                <a:gd name="T7" fmla="*/ 86 h 288"/>
                <a:gd name="T8" fmla="*/ 61 w 288"/>
                <a:gd name="T9" fmla="*/ 2 h 288"/>
                <a:gd name="T10" fmla="*/ 66 w 288"/>
                <a:gd name="T11" fmla="*/ 0 h 288"/>
                <a:gd name="T12" fmla="*/ 222 w 288"/>
                <a:gd name="T13" fmla="*/ 0 h 288"/>
                <a:gd name="T14" fmla="*/ 227 w 288"/>
                <a:gd name="T15" fmla="*/ 2 h 288"/>
                <a:gd name="T16" fmla="*/ 287 w 288"/>
                <a:gd name="T17" fmla="*/ 86 h 288"/>
                <a:gd name="T18" fmla="*/ 287 w 288"/>
                <a:gd name="T19" fmla="*/ 93 h 288"/>
                <a:gd name="T20" fmla="*/ 149 w 288"/>
                <a:gd name="T21" fmla="*/ 285 h 288"/>
                <a:gd name="T22" fmla="*/ 144 w 288"/>
                <a:gd name="T23" fmla="*/ 288 h 288"/>
                <a:gd name="T24" fmla="*/ 13 w 288"/>
                <a:gd name="T25" fmla="*/ 90 h 288"/>
                <a:gd name="T26" fmla="*/ 144 w 288"/>
                <a:gd name="T27" fmla="*/ 272 h 288"/>
                <a:gd name="T28" fmla="*/ 275 w 288"/>
                <a:gd name="T29" fmla="*/ 90 h 288"/>
                <a:gd name="T30" fmla="*/ 219 w 288"/>
                <a:gd name="T31" fmla="*/ 12 h 288"/>
                <a:gd name="T32" fmla="*/ 69 w 288"/>
                <a:gd name="T33" fmla="*/ 12 h 288"/>
                <a:gd name="T34" fmla="*/ 13 w 288"/>
                <a:gd name="T35" fmla="*/ 9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8" h="288">
                  <a:moveTo>
                    <a:pt x="144" y="288"/>
                  </a:moveTo>
                  <a:cubicBezTo>
                    <a:pt x="142" y="288"/>
                    <a:pt x="140" y="287"/>
                    <a:pt x="139" y="285"/>
                  </a:cubicBezTo>
                  <a:cubicBezTo>
                    <a:pt x="1" y="93"/>
                    <a:pt x="1" y="93"/>
                    <a:pt x="1" y="93"/>
                  </a:cubicBezTo>
                  <a:cubicBezTo>
                    <a:pt x="0" y="91"/>
                    <a:pt x="0" y="88"/>
                    <a:pt x="1" y="86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62" y="1"/>
                    <a:pt x="64" y="0"/>
                    <a:pt x="66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24" y="0"/>
                    <a:pt x="226" y="1"/>
                    <a:pt x="227" y="2"/>
                  </a:cubicBezTo>
                  <a:cubicBezTo>
                    <a:pt x="287" y="86"/>
                    <a:pt x="287" y="86"/>
                    <a:pt x="287" y="86"/>
                  </a:cubicBezTo>
                  <a:cubicBezTo>
                    <a:pt x="288" y="88"/>
                    <a:pt x="288" y="91"/>
                    <a:pt x="287" y="93"/>
                  </a:cubicBezTo>
                  <a:cubicBezTo>
                    <a:pt x="149" y="285"/>
                    <a:pt x="149" y="285"/>
                    <a:pt x="149" y="285"/>
                  </a:cubicBezTo>
                  <a:cubicBezTo>
                    <a:pt x="148" y="287"/>
                    <a:pt x="146" y="288"/>
                    <a:pt x="144" y="288"/>
                  </a:cubicBezTo>
                  <a:close/>
                  <a:moveTo>
                    <a:pt x="13" y="90"/>
                  </a:moveTo>
                  <a:cubicBezTo>
                    <a:pt x="144" y="272"/>
                    <a:pt x="144" y="272"/>
                    <a:pt x="144" y="272"/>
                  </a:cubicBezTo>
                  <a:cubicBezTo>
                    <a:pt x="275" y="90"/>
                    <a:pt x="275" y="90"/>
                    <a:pt x="275" y="90"/>
                  </a:cubicBezTo>
                  <a:cubicBezTo>
                    <a:pt x="219" y="12"/>
                    <a:pt x="219" y="12"/>
                    <a:pt x="219" y="12"/>
                  </a:cubicBezTo>
                  <a:cubicBezTo>
                    <a:pt x="69" y="12"/>
                    <a:pt x="69" y="12"/>
                    <a:pt x="69" y="12"/>
                  </a:cubicBezTo>
                  <a:lnTo>
                    <a:pt x="13" y="90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 84">
              <a:extLst>
                <a:ext uri="{FF2B5EF4-FFF2-40B4-BE49-F238E27FC236}">
                  <a16:creationId xmlns="" xmlns:a16="http://schemas.microsoft.com/office/drawing/2014/main" id="{E3916E0B-2EFD-4958-9216-E9CE50FD88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25" y="1718"/>
              <a:ext cx="177" cy="428"/>
            </a:xfrm>
            <a:custGeom>
              <a:avLst/>
              <a:gdLst>
                <a:gd name="T0" fmla="*/ 60 w 120"/>
                <a:gd name="T1" fmla="*/ 289 h 289"/>
                <a:gd name="T2" fmla="*/ 54 w 120"/>
                <a:gd name="T3" fmla="*/ 284 h 289"/>
                <a:gd name="T4" fmla="*/ 0 w 120"/>
                <a:gd name="T5" fmla="*/ 92 h 289"/>
                <a:gd name="T6" fmla="*/ 1 w 120"/>
                <a:gd name="T7" fmla="*/ 88 h 289"/>
                <a:gd name="T8" fmla="*/ 55 w 120"/>
                <a:gd name="T9" fmla="*/ 4 h 289"/>
                <a:gd name="T10" fmla="*/ 65 w 120"/>
                <a:gd name="T11" fmla="*/ 4 h 289"/>
                <a:gd name="T12" fmla="*/ 119 w 120"/>
                <a:gd name="T13" fmla="*/ 88 h 289"/>
                <a:gd name="T14" fmla="*/ 120 w 120"/>
                <a:gd name="T15" fmla="*/ 92 h 289"/>
                <a:gd name="T16" fmla="*/ 66 w 120"/>
                <a:gd name="T17" fmla="*/ 284 h 289"/>
                <a:gd name="T18" fmla="*/ 60 w 120"/>
                <a:gd name="T19" fmla="*/ 289 h 289"/>
                <a:gd name="T20" fmla="*/ 13 w 120"/>
                <a:gd name="T21" fmla="*/ 92 h 289"/>
                <a:gd name="T22" fmla="*/ 60 w 120"/>
                <a:gd name="T23" fmla="*/ 261 h 289"/>
                <a:gd name="T24" fmla="*/ 108 w 120"/>
                <a:gd name="T25" fmla="*/ 92 h 289"/>
                <a:gd name="T26" fmla="*/ 60 w 120"/>
                <a:gd name="T27" fmla="*/ 18 h 289"/>
                <a:gd name="T28" fmla="*/ 13 w 120"/>
                <a:gd name="T29" fmla="*/ 92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289">
                  <a:moveTo>
                    <a:pt x="60" y="289"/>
                  </a:moveTo>
                  <a:cubicBezTo>
                    <a:pt x="57" y="289"/>
                    <a:pt x="55" y="287"/>
                    <a:pt x="54" y="2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91"/>
                    <a:pt x="0" y="89"/>
                    <a:pt x="1" y="88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57" y="0"/>
                    <a:pt x="63" y="0"/>
                    <a:pt x="65" y="4"/>
                  </a:cubicBezTo>
                  <a:cubicBezTo>
                    <a:pt x="119" y="88"/>
                    <a:pt x="119" y="88"/>
                    <a:pt x="119" y="88"/>
                  </a:cubicBezTo>
                  <a:cubicBezTo>
                    <a:pt x="120" y="89"/>
                    <a:pt x="120" y="91"/>
                    <a:pt x="120" y="92"/>
                  </a:cubicBezTo>
                  <a:cubicBezTo>
                    <a:pt x="66" y="284"/>
                    <a:pt x="66" y="284"/>
                    <a:pt x="66" y="284"/>
                  </a:cubicBezTo>
                  <a:cubicBezTo>
                    <a:pt x="65" y="287"/>
                    <a:pt x="63" y="289"/>
                    <a:pt x="60" y="289"/>
                  </a:cubicBezTo>
                  <a:close/>
                  <a:moveTo>
                    <a:pt x="13" y="92"/>
                  </a:moveTo>
                  <a:cubicBezTo>
                    <a:pt x="60" y="261"/>
                    <a:pt x="60" y="261"/>
                    <a:pt x="60" y="261"/>
                  </a:cubicBezTo>
                  <a:cubicBezTo>
                    <a:pt x="108" y="92"/>
                    <a:pt x="108" y="92"/>
                    <a:pt x="108" y="92"/>
                  </a:cubicBezTo>
                  <a:cubicBezTo>
                    <a:pt x="60" y="18"/>
                    <a:pt x="60" y="18"/>
                    <a:pt x="60" y="18"/>
                  </a:cubicBezTo>
                  <a:lnTo>
                    <a:pt x="13" y="92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Freeform 85">
              <a:extLst>
                <a:ext uri="{FF2B5EF4-FFF2-40B4-BE49-F238E27FC236}">
                  <a16:creationId xmlns="" xmlns:a16="http://schemas.microsoft.com/office/drawing/2014/main" id="{EE3C3997-C47D-4CA1-A405-96059B18C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" y="1718"/>
              <a:ext cx="56" cy="143"/>
            </a:xfrm>
            <a:custGeom>
              <a:avLst/>
              <a:gdLst>
                <a:gd name="T0" fmla="*/ 31 w 38"/>
                <a:gd name="T1" fmla="*/ 97 h 97"/>
                <a:gd name="T2" fmla="*/ 25 w 38"/>
                <a:gd name="T3" fmla="*/ 92 h 97"/>
                <a:gd name="T4" fmla="*/ 1 w 38"/>
                <a:gd name="T5" fmla="*/ 8 h 97"/>
                <a:gd name="T6" fmla="*/ 5 w 38"/>
                <a:gd name="T7" fmla="*/ 1 h 97"/>
                <a:gd name="T8" fmla="*/ 13 w 38"/>
                <a:gd name="T9" fmla="*/ 5 h 97"/>
                <a:gd name="T10" fmla="*/ 37 w 38"/>
                <a:gd name="T11" fmla="*/ 89 h 97"/>
                <a:gd name="T12" fmla="*/ 33 w 38"/>
                <a:gd name="T13" fmla="*/ 97 h 97"/>
                <a:gd name="T14" fmla="*/ 31 w 38"/>
                <a:gd name="T15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97">
                  <a:moveTo>
                    <a:pt x="31" y="97"/>
                  </a:moveTo>
                  <a:cubicBezTo>
                    <a:pt x="28" y="97"/>
                    <a:pt x="26" y="95"/>
                    <a:pt x="25" y="92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5"/>
                    <a:pt x="2" y="2"/>
                    <a:pt x="5" y="1"/>
                  </a:cubicBezTo>
                  <a:cubicBezTo>
                    <a:pt x="9" y="0"/>
                    <a:pt x="12" y="2"/>
                    <a:pt x="13" y="5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8" y="92"/>
                    <a:pt x="36" y="96"/>
                    <a:pt x="33" y="97"/>
                  </a:cubicBezTo>
                  <a:cubicBezTo>
                    <a:pt x="32" y="97"/>
                    <a:pt x="32" y="97"/>
                    <a:pt x="31" y="9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86">
              <a:extLst>
                <a:ext uri="{FF2B5EF4-FFF2-40B4-BE49-F238E27FC236}">
                  <a16:creationId xmlns="" xmlns:a16="http://schemas.microsoft.com/office/drawing/2014/main" id="{FAD9BCF1-C5F0-4234-A560-DD7BF622F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1718"/>
              <a:ext cx="56" cy="143"/>
            </a:xfrm>
            <a:custGeom>
              <a:avLst/>
              <a:gdLst>
                <a:gd name="T0" fmla="*/ 7 w 38"/>
                <a:gd name="T1" fmla="*/ 97 h 97"/>
                <a:gd name="T2" fmla="*/ 5 w 38"/>
                <a:gd name="T3" fmla="*/ 97 h 97"/>
                <a:gd name="T4" fmla="*/ 1 w 38"/>
                <a:gd name="T5" fmla="*/ 89 h 97"/>
                <a:gd name="T6" fmla="*/ 25 w 38"/>
                <a:gd name="T7" fmla="*/ 5 h 97"/>
                <a:gd name="T8" fmla="*/ 33 w 38"/>
                <a:gd name="T9" fmla="*/ 1 h 97"/>
                <a:gd name="T10" fmla="*/ 37 w 38"/>
                <a:gd name="T11" fmla="*/ 8 h 97"/>
                <a:gd name="T12" fmla="*/ 13 w 38"/>
                <a:gd name="T13" fmla="*/ 92 h 97"/>
                <a:gd name="T14" fmla="*/ 7 w 38"/>
                <a:gd name="T15" fmla="*/ 97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97">
                  <a:moveTo>
                    <a:pt x="7" y="97"/>
                  </a:moveTo>
                  <a:cubicBezTo>
                    <a:pt x="6" y="97"/>
                    <a:pt x="6" y="97"/>
                    <a:pt x="5" y="97"/>
                  </a:cubicBezTo>
                  <a:cubicBezTo>
                    <a:pt x="2" y="96"/>
                    <a:pt x="0" y="92"/>
                    <a:pt x="1" y="89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6" y="2"/>
                    <a:pt x="30" y="0"/>
                    <a:pt x="33" y="1"/>
                  </a:cubicBezTo>
                  <a:cubicBezTo>
                    <a:pt x="36" y="2"/>
                    <a:pt x="38" y="5"/>
                    <a:pt x="37" y="8"/>
                  </a:cubicBezTo>
                  <a:cubicBezTo>
                    <a:pt x="13" y="92"/>
                    <a:pt x="13" y="92"/>
                    <a:pt x="13" y="92"/>
                  </a:cubicBezTo>
                  <a:cubicBezTo>
                    <a:pt x="12" y="95"/>
                    <a:pt x="10" y="97"/>
                    <a:pt x="7" y="9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12" name="Rectangle 45">
            <a:extLst>
              <a:ext uri="{FF2B5EF4-FFF2-40B4-BE49-F238E27FC236}">
                <a16:creationId xmlns="" xmlns:a16="http://schemas.microsoft.com/office/drawing/2014/main" id="{2527261E-A9B9-4423-AE01-AE1DC8877662}"/>
              </a:ext>
            </a:extLst>
          </p:cNvPr>
          <p:cNvSpPr/>
          <p:nvPr/>
        </p:nvSpPr>
        <p:spPr>
          <a:xfrm>
            <a:off x="2340576" y="4278604"/>
            <a:ext cx="8092675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L’Italia si è impegnata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 ante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realizzare milestone e target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(M&amp;T)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associati a riforme e investimenti entro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scadenze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400" b="0" i="0" u="none" strike="noStrike" kern="1200" cap="none" spc="0" normalizeH="0" baseline="0" noProof="0" err="1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fissate,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tutte entro giugno 2026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600" b="0" i="0" u="none" strike="noStrike" kern="1200" cap="none" spc="0" normalizeH="0" baseline="0" noProof="0">
              <a:ln>
                <a:noFill/>
              </a:ln>
              <a:solidFill>
                <a:schemeClr val="accent4">
                  <a:lumMod val="1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DCDEDD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chemeClr val="accent4">
                    <a:lumMod val="1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E’ stata valutata la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corrispondenza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coerenza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tra finanziamenti richiesti e target </a:t>
            </a:r>
            <a:r>
              <a:rPr kumimoji="0" lang="it-IT" sz="1400" b="0" i="0" u="none" strike="noStrike" kern="1200" cap="none" spc="0" normalizeH="0" baseline="0" noProof="0" err="1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-fissato </a:t>
            </a: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DCDEDD">
                  <a:lumMod val="10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marR="0" lvl="1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 CE autorizza gli esborsi sulla base del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soddisfacente adempimento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 insiemi di M&amp;T che riflettono i progressi compiuti (e non alla spesa erogata)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="" xmlns:a16="http://schemas.microsoft.com/office/drawing/2014/main" id="{23D827F7-9B97-4BA9-9D20-586D85D619D0}"/>
              </a:ext>
            </a:extLst>
          </p:cNvPr>
          <p:cNvSpPr txBox="1"/>
          <p:nvPr/>
        </p:nvSpPr>
        <p:spPr>
          <a:xfrm>
            <a:off x="385763" y="3838389"/>
            <a:ext cx="10774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Inoltre, essendo i programmi finanziati con RRF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programmi di performance </a:t>
            </a:r>
            <a:r>
              <a:rPr kumimoji="0" lang="it-IT" sz="140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(e non di spesa):</a:t>
            </a:r>
          </a:p>
        </p:txBody>
      </p:sp>
      <p:grpSp>
        <p:nvGrpSpPr>
          <p:cNvPr id="117" name="Group 4">
            <a:extLst>
              <a:ext uri="{FF2B5EF4-FFF2-40B4-BE49-F238E27FC236}">
                <a16:creationId xmlns="" xmlns:a16="http://schemas.microsoft.com/office/drawing/2014/main" id="{44AFB1E6-F551-403A-B1AE-D41871C6A72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57098" y="4369511"/>
            <a:ext cx="330442" cy="329529"/>
            <a:chOff x="380" y="473"/>
            <a:chExt cx="362" cy="361"/>
          </a:xfrm>
          <a:solidFill>
            <a:schemeClr val="tx2"/>
          </a:solidFill>
        </p:grpSpPr>
        <p:sp>
          <p:nvSpPr>
            <p:cNvPr id="118" name="Freeform 5">
              <a:extLst>
                <a:ext uri="{FF2B5EF4-FFF2-40B4-BE49-F238E27FC236}">
                  <a16:creationId xmlns="" xmlns:a16="http://schemas.microsoft.com/office/drawing/2014/main" id="{9990151F-6D8A-4497-8093-32163BB29C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5" y="473"/>
              <a:ext cx="197" cy="197"/>
            </a:xfrm>
            <a:custGeom>
              <a:avLst/>
              <a:gdLst>
                <a:gd name="T0" fmla="*/ 11 w 133"/>
                <a:gd name="T1" fmla="*/ 111 h 133"/>
                <a:gd name="T2" fmla="*/ 0 w 133"/>
                <a:gd name="T3" fmla="*/ 122 h 133"/>
                <a:gd name="T4" fmla="*/ 11 w 133"/>
                <a:gd name="T5" fmla="*/ 133 h 133"/>
                <a:gd name="T6" fmla="*/ 22 w 133"/>
                <a:gd name="T7" fmla="*/ 122 h 133"/>
                <a:gd name="T8" fmla="*/ 21 w 133"/>
                <a:gd name="T9" fmla="*/ 120 h 133"/>
                <a:gd name="T10" fmla="*/ 73 w 133"/>
                <a:gd name="T11" fmla="*/ 68 h 133"/>
                <a:gd name="T12" fmla="*/ 99 w 133"/>
                <a:gd name="T13" fmla="*/ 68 h 133"/>
                <a:gd name="T14" fmla="*/ 103 w 133"/>
                <a:gd name="T15" fmla="*/ 67 h 133"/>
                <a:gd name="T16" fmla="*/ 131 w 133"/>
                <a:gd name="T17" fmla="*/ 39 h 133"/>
                <a:gd name="T18" fmla="*/ 132 w 133"/>
                <a:gd name="T19" fmla="*/ 32 h 133"/>
                <a:gd name="T20" fmla="*/ 126 w 133"/>
                <a:gd name="T21" fmla="*/ 28 h 133"/>
                <a:gd name="T22" fmla="*/ 105 w 133"/>
                <a:gd name="T23" fmla="*/ 28 h 133"/>
                <a:gd name="T24" fmla="*/ 105 w 133"/>
                <a:gd name="T25" fmla="*/ 7 h 133"/>
                <a:gd name="T26" fmla="*/ 101 w 133"/>
                <a:gd name="T27" fmla="*/ 1 h 133"/>
                <a:gd name="T28" fmla="*/ 94 w 133"/>
                <a:gd name="T29" fmla="*/ 2 h 133"/>
                <a:gd name="T30" fmla="*/ 66 w 133"/>
                <a:gd name="T31" fmla="*/ 30 h 133"/>
                <a:gd name="T32" fmla="*/ 64 w 133"/>
                <a:gd name="T33" fmla="*/ 34 h 133"/>
                <a:gd name="T34" fmla="*/ 64 w 133"/>
                <a:gd name="T35" fmla="*/ 59 h 133"/>
                <a:gd name="T36" fmla="*/ 12 w 133"/>
                <a:gd name="T37" fmla="*/ 111 h 133"/>
                <a:gd name="T38" fmla="*/ 11 w 133"/>
                <a:gd name="T39" fmla="*/ 111 h 133"/>
                <a:gd name="T40" fmla="*/ 94 w 133"/>
                <a:gd name="T41" fmla="*/ 39 h 133"/>
                <a:gd name="T42" fmla="*/ 99 w 133"/>
                <a:gd name="T43" fmla="*/ 41 h 133"/>
                <a:gd name="T44" fmla="*/ 111 w 133"/>
                <a:gd name="T45" fmla="*/ 41 h 133"/>
                <a:gd name="T46" fmla="*/ 96 w 133"/>
                <a:gd name="T47" fmla="*/ 56 h 133"/>
                <a:gd name="T48" fmla="*/ 77 w 133"/>
                <a:gd name="T49" fmla="*/ 56 h 133"/>
                <a:gd name="T50" fmla="*/ 77 w 133"/>
                <a:gd name="T51" fmla="*/ 37 h 133"/>
                <a:gd name="T52" fmla="*/ 92 w 133"/>
                <a:gd name="T53" fmla="*/ 22 h 133"/>
                <a:gd name="T54" fmla="*/ 92 w 133"/>
                <a:gd name="T55" fmla="*/ 34 h 133"/>
                <a:gd name="T56" fmla="*/ 94 w 133"/>
                <a:gd name="T57" fmla="*/ 3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" y="111"/>
                  </a:moveTo>
                  <a:cubicBezTo>
                    <a:pt x="5" y="111"/>
                    <a:pt x="0" y="116"/>
                    <a:pt x="0" y="122"/>
                  </a:cubicBezTo>
                  <a:cubicBezTo>
                    <a:pt x="0" y="128"/>
                    <a:pt x="5" y="133"/>
                    <a:pt x="11" y="133"/>
                  </a:cubicBezTo>
                  <a:cubicBezTo>
                    <a:pt x="17" y="133"/>
                    <a:pt x="22" y="128"/>
                    <a:pt x="22" y="122"/>
                  </a:cubicBezTo>
                  <a:cubicBezTo>
                    <a:pt x="22" y="122"/>
                    <a:pt x="22" y="121"/>
                    <a:pt x="21" y="120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100" y="68"/>
                    <a:pt x="102" y="68"/>
                    <a:pt x="103" y="67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33" y="37"/>
                    <a:pt x="133" y="34"/>
                    <a:pt x="132" y="32"/>
                  </a:cubicBezTo>
                  <a:cubicBezTo>
                    <a:pt x="131" y="30"/>
                    <a:pt x="129" y="28"/>
                    <a:pt x="12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5" y="4"/>
                    <a:pt x="103" y="2"/>
                    <a:pt x="101" y="1"/>
                  </a:cubicBezTo>
                  <a:cubicBezTo>
                    <a:pt x="99" y="0"/>
                    <a:pt x="96" y="0"/>
                    <a:pt x="94" y="2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5" y="31"/>
                    <a:pt x="64" y="33"/>
                    <a:pt x="64" y="34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1" y="111"/>
                    <a:pt x="11" y="111"/>
                  </a:cubicBezTo>
                  <a:close/>
                  <a:moveTo>
                    <a:pt x="94" y="39"/>
                  </a:moveTo>
                  <a:cubicBezTo>
                    <a:pt x="95" y="40"/>
                    <a:pt x="97" y="41"/>
                    <a:pt x="99" y="41"/>
                  </a:cubicBezTo>
                  <a:cubicBezTo>
                    <a:pt x="111" y="41"/>
                    <a:pt x="111" y="41"/>
                    <a:pt x="111" y="41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37"/>
                    <a:pt x="77" y="37"/>
                    <a:pt x="77" y="37"/>
                  </a:cubicBezTo>
                  <a:cubicBezTo>
                    <a:pt x="92" y="22"/>
                    <a:pt x="92" y="22"/>
                    <a:pt x="92" y="22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2" y="36"/>
                    <a:pt x="93" y="38"/>
                    <a:pt x="94" y="39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9" name="Freeform 6">
              <a:extLst>
                <a:ext uri="{FF2B5EF4-FFF2-40B4-BE49-F238E27FC236}">
                  <a16:creationId xmlns="" xmlns:a16="http://schemas.microsoft.com/office/drawing/2014/main" id="{E7A70AD0-12F5-4B1F-94F4-FBACB1AC5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" y="528"/>
              <a:ext cx="252" cy="251"/>
            </a:xfrm>
            <a:custGeom>
              <a:avLst/>
              <a:gdLst>
                <a:gd name="T0" fmla="*/ 123 w 170"/>
                <a:gd name="T1" fmla="*/ 16 h 170"/>
                <a:gd name="T2" fmla="*/ 120 w 170"/>
                <a:gd name="T3" fmla="*/ 8 h 170"/>
                <a:gd name="T4" fmla="*/ 119 w 170"/>
                <a:gd name="T5" fmla="*/ 8 h 170"/>
                <a:gd name="T6" fmla="*/ 85 w 170"/>
                <a:gd name="T7" fmla="*/ 0 h 170"/>
                <a:gd name="T8" fmla="*/ 0 w 170"/>
                <a:gd name="T9" fmla="*/ 85 h 170"/>
                <a:gd name="T10" fmla="*/ 85 w 170"/>
                <a:gd name="T11" fmla="*/ 170 h 170"/>
                <a:gd name="T12" fmla="*/ 170 w 170"/>
                <a:gd name="T13" fmla="*/ 85 h 170"/>
                <a:gd name="T14" fmla="*/ 162 w 170"/>
                <a:gd name="T15" fmla="*/ 50 h 170"/>
                <a:gd name="T16" fmla="*/ 158 w 170"/>
                <a:gd name="T17" fmla="*/ 47 h 170"/>
                <a:gd name="T18" fmla="*/ 154 w 170"/>
                <a:gd name="T19" fmla="*/ 47 h 170"/>
                <a:gd name="T20" fmla="*/ 150 w 170"/>
                <a:gd name="T21" fmla="*/ 51 h 170"/>
                <a:gd name="T22" fmla="*/ 151 w 170"/>
                <a:gd name="T23" fmla="*/ 55 h 170"/>
                <a:gd name="T24" fmla="*/ 157 w 170"/>
                <a:gd name="T25" fmla="*/ 85 h 170"/>
                <a:gd name="T26" fmla="*/ 85 w 170"/>
                <a:gd name="T27" fmla="*/ 158 h 170"/>
                <a:gd name="T28" fmla="*/ 12 w 170"/>
                <a:gd name="T29" fmla="*/ 85 h 170"/>
                <a:gd name="T30" fmla="*/ 85 w 170"/>
                <a:gd name="T31" fmla="*/ 13 h 170"/>
                <a:gd name="T32" fmla="*/ 114 w 170"/>
                <a:gd name="T33" fmla="*/ 19 h 170"/>
                <a:gd name="T34" fmla="*/ 123 w 170"/>
                <a:gd name="T35" fmla="*/ 1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0" h="170">
                  <a:moveTo>
                    <a:pt x="123" y="16"/>
                  </a:moveTo>
                  <a:cubicBezTo>
                    <a:pt x="124" y="13"/>
                    <a:pt x="123" y="9"/>
                    <a:pt x="120" y="8"/>
                  </a:cubicBezTo>
                  <a:cubicBezTo>
                    <a:pt x="119" y="8"/>
                    <a:pt x="119" y="8"/>
                    <a:pt x="119" y="8"/>
                  </a:cubicBezTo>
                  <a:cubicBezTo>
                    <a:pt x="108" y="3"/>
                    <a:pt x="97" y="0"/>
                    <a:pt x="85" y="0"/>
                  </a:cubicBezTo>
                  <a:cubicBezTo>
                    <a:pt x="38" y="0"/>
                    <a:pt x="0" y="38"/>
                    <a:pt x="0" y="85"/>
                  </a:cubicBezTo>
                  <a:cubicBezTo>
                    <a:pt x="0" y="132"/>
                    <a:pt x="38" y="170"/>
                    <a:pt x="85" y="170"/>
                  </a:cubicBezTo>
                  <a:cubicBezTo>
                    <a:pt x="131" y="170"/>
                    <a:pt x="170" y="132"/>
                    <a:pt x="170" y="85"/>
                  </a:cubicBezTo>
                  <a:cubicBezTo>
                    <a:pt x="170" y="73"/>
                    <a:pt x="167" y="61"/>
                    <a:pt x="162" y="50"/>
                  </a:cubicBezTo>
                  <a:cubicBezTo>
                    <a:pt x="161" y="49"/>
                    <a:pt x="160" y="48"/>
                    <a:pt x="158" y="47"/>
                  </a:cubicBezTo>
                  <a:cubicBezTo>
                    <a:pt x="157" y="46"/>
                    <a:pt x="155" y="46"/>
                    <a:pt x="154" y="47"/>
                  </a:cubicBezTo>
                  <a:cubicBezTo>
                    <a:pt x="152" y="48"/>
                    <a:pt x="151" y="49"/>
                    <a:pt x="150" y="51"/>
                  </a:cubicBezTo>
                  <a:cubicBezTo>
                    <a:pt x="150" y="52"/>
                    <a:pt x="150" y="54"/>
                    <a:pt x="151" y="55"/>
                  </a:cubicBezTo>
                  <a:cubicBezTo>
                    <a:pt x="155" y="65"/>
                    <a:pt x="157" y="75"/>
                    <a:pt x="157" y="85"/>
                  </a:cubicBezTo>
                  <a:cubicBezTo>
                    <a:pt x="157" y="125"/>
                    <a:pt x="124" y="158"/>
                    <a:pt x="85" y="158"/>
                  </a:cubicBezTo>
                  <a:cubicBezTo>
                    <a:pt x="45" y="158"/>
                    <a:pt x="12" y="125"/>
                    <a:pt x="12" y="85"/>
                  </a:cubicBezTo>
                  <a:cubicBezTo>
                    <a:pt x="12" y="45"/>
                    <a:pt x="45" y="13"/>
                    <a:pt x="85" y="13"/>
                  </a:cubicBezTo>
                  <a:cubicBezTo>
                    <a:pt x="95" y="13"/>
                    <a:pt x="105" y="15"/>
                    <a:pt x="114" y="19"/>
                  </a:cubicBezTo>
                  <a:cubicBezTo>
                    <a:pt x="118" y="21"/>
                    <a:pt x="121" y="19"/>
                    <a:pt x="123" y="16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 7">
              <a:extLst>
                <a:ext uri="{FF2B5EF4-FFF2-40B4-BE49-F238E27FC236}">
                  <a16:creationId xmlns="" xmlns:a16="http://schemas.microsoft.com/office/drawing/2014/main" id="{48DFDB73-6EBA-4C1C-8E3E-736DB4D84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" y="583"/>
              <a:ext cx="142" cy="141"/>
            </a:xfrm>
            <a:custGeom>
              <a:avLst/>
              <a:gdLst>
                <a:gd name="T0" fmla="*/ 48 w 96"/>
                <a:gd name="T1" fmla="*/ 13 h 96"/>
                <a:gd name="T2" fmla="*/ 55 w 96"/>
                <a:gd name="T3" fmla="*/ 14 h 96"/>
                <a:gd name="T4" fmla="*/ 63 w 96"/>
                <a:gd name="T5" fmla="*/ 9 h 96"/>
                <a:gd name="T6" fmla="*/ 58 w 96"/>
                <a:gd name="T7" fmla="*/ 2 h 96"/>
                <a:gd name="T8" fmla="*/ 48 w 96"/>
                <a:gd name="T9" fmla="*/ 0 h 96"/>
                <a:gd name="T10" fmla="*/ 0 w 96"/>
                <a:gd name="T11" fmla="*/ 48 h 96"/>
                <a:gd name="T12" fmla="*/ 48 w 96"/>
                <a:gd name="T13" fmla="*/ 96 h 96"/>
                <a:gd name="T14" fmla="*/ 96 w 96"/>
                <a:gd name="T15" fmla="*/ 48 h 96"/>
                <a:gd name="T16" fmla="*/ 94 w 96"/>
                <a:gd name="T17" fmla="*/ 38 h 96"/>
                <a:gd name="T18" fmla="*/ 92 w 96"/>
                <a:gd name="T19" fmla="*/ 34 h 96"/>
                <a:gd name="T20" fmla="*/ 87 w 96"/>
                <a:gd name="T21" fmla="*/ 33 h 96"/>
                <a:gd name="T22" fmla="*/ 83 w 96"/>
                <a:gd name="T23" fmla="*/ 36 h 96"/>
                <a:gd name="T24" fmla="*/ 82 w 96"/>
                <a:gd name="T25" fmla="*/ 40 h 96"/>
                <a:gd name="T26" fmla="*/ 83 w 96"/>
                <a:gd name="T27" fmla="*/ 48 h 96"/>
                <a:gd name="T28" fmla="*/ 48 w 96"/>
                <a:gd name="T29" fmla="*/ 84 h 96"/>
                <a:gd name="T30" fmla="*/ 12 w 96"/>
                <a:gd name="T31" fmla="*/ 48 h 96"/>
                <a:gd name="T32" fmla="*/ 48 w 96"/>
                <a:gd name="T33" fmla="*/ 1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" h="96">
                  <a:moveTo>
                    <a:pt x="48" y="13"/>
                  </a:moveTo>
                  <a:cubicBezTo>
                    <a:pt x="50" y="13"/>
                    <a:pt x="53" y="13"/>
                    <a:pt x="55" y="14"/>
                  </a:cubicBezTo>
                  <a:cubicBezTo>
                    <a:pt x="59" y="15"/>
                    <a:pt x="62" y="12"/>
                    <a:pt x="63" y="9"/>
                  </a:cubicBezTo>
                  <a:cubicBezTo>
                    <a:pt x="64" y="6"/>
                    <a:pt x="62" y="2"/>
                    <a:pt x="58" y="2"/>
                  </a:cubicBezTo>
                  <a:cubicBezTo>
                    <a:pt x="55" y="1"/>
                    <a:pt x="51" y="0"/>
                    <a:pt x="48" y="0"/>
                  </a:cubicBez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6"/>
                    <a:pt x="48" y="96"/>
                  </a:cubicBezTo>
                  <a:cubicBezTo>
                    <a:pt x="74" y="96"/>
                    <a:pt x="96" y="75"/>
                    <a:pt x="96" y="48"/>
                  </a:cubicBezTo>
                  <a:cubicBezTo>
                    <a:pt x="96" y="45"/>
                    <a:pt x="95" y="41"/>
                    <a:pt x="94" y="38"/>
                  </a:cubicBezTo>
                  <a:cubicBezTo>
                    <a:pt x="94" y="36"/>
                    <a:pt x="93" y="35"/>
                    <a:pt x="92" y="34"/>
                  </a:cubicBezTo>
                  <a:cubicBezTo>
                    <a:pt x="90" y="33"/>
                    <a:pt x="88" y="32"/>
                    <a:pt x="87" y="33"/>
                  </a:cubicBezTo>
                  <a:cubicBezTo>
                    <a:pt x="85" y="33"/>
                    <a:pt x="84" y="34"/>
                    <a:pt x="83" y="36"/>
                  </a:cubicBezTo>
                  <a:cubicBezTo>
                    <a:pt x="82" y="37"/>
                    <a:pt x="82" y="39"/>
                    <a:pt x="82" y="40"/>
                  </a:cubicBezTo>
                  <a:cubicBezTo>
                    <a:pt x="83" y="43"/>
                    <a:pt x="83" y="46"/>
                    <a:pt x="83" y="48"/>
                  </a:cubicBezTo>
                  <a:cubicBezTo>
                    <a:pt x="83" y="68"/>
                    <a:pt x="67" y="84"/>
                    <a:pt x="48" y="84"/>
                  </a:cubicBezTo>
                  <a:cubicBezTo>
                    <a:pt x="28" y="84"/>
                    <a:pt x="12" y="68"/>
                    <a:pt x="12" y="48"/>
                  </a:cubicBezTo>
                  <a:cubicBezTo>
                    <a:pt x="12" y="29"/>
                    <a:pt x="28" y="13"/>
                    <a:pt x="48" y="13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 8">
              <a:extLst>
                <a:ext uri="{FF2B5EF4-FFF2-40B4-BE49-F238E27FC236}">
                  <a16:creationId xmlns="" xmlns:a16="http://schemas.microsoft.com/office/drawing/2014/main" id="{FEEA686B-E5CC-4343-8B0A-2D77080E5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" y="473"/>
              <a:ext cx="362" cy="361"/>
            </a:xfrm>
            <a:custGeom>
              <a:avLst/>
              <a:gdLst>
                <a:gd name="T0" fmla="*/ 234 w 244"/>
                <a:gd name="T1" fmla="*/ 74 h 244"/>
                <a:gd name="T2" fmla="*/ 230 w 244"/>
                <a:gd name="T3" fmla="*/ 70 h 244"/>
                <a:gd name="T4" fmla="*/ 225 w 244"/>
                <a:gd name="T5" fmla="*/ 70 h 244"/>
                <a:gd name="T6" fmla="*/ 222 w 244"/>
                <a:gd name="T7" fmla="*/ 79 h 244"/>
                <a:gd name="T8" fmla="*/ 231 w 244"/>
                <a:gd name="T9" fmla="*/ 122 h 244"/>
                <a:gd name="T10" fmla="*/ 122 w 244"/>
                <a:gd name="T11" fmla="*/ 232 h 244"/>
                <a:gd name="T12" fmla="*/ 12 w 244"/>
                <a:gd name="T13" fmla="*/ 122 h 244"/>
                <a:gd name="T14" fmla="*/ 122 w 244"/>
                <a:gd name="T15" fmla="*/ 13 h 244"/>
                <a:gd name="T16" fmla="*/ 165 w 244"/>
                <a:gd name="T17" fmla="*/ 22 h 244"/>
                <a:gd name="T18" fmla="*/ 170 w 244"/>
                <a:gd name="T19" fmla="*/ 22 h 244"/>
                <a:gd name="T20" fmla="*/ 173 w 244"/>
                <a:gd name="T21" fmla="*/ 19 h 244"/>
                <a:gd name="T22" fmla="*/ 174 w 244"/>
                <a:gd name="T23" fmla="*/ 14 h 244"/>
                <a:gd name="T24" fmla="*/ 170 w 244"/>
                <a:gd name="T25" fmla="*/ 10 h 244"/>
                <a:gd name="T26" fmla="*/ 122 w 244"/>
                <a:gd name="T27" fmla="*/ 0 h 244"/>
                <a:gd name="T28" fmla="*/ 0 w 244"/>
                <a:gd name="T29" fmla="*/ 122 h 244"/>
                <a:gd name="T30" fmla="*/ 122 w 244"/>
                <a:gd name="T31" fmla="*/ 244 h 244"/>
                <a:gd name="T32" fmla="*/ 244 w 244"/>
                <a:gd name="T33" fmla="*/ 122 h 244"/>
                <a:gd name="T34" fmla="*/ 234 w 244"/>
                <a:gd name="T35" fmla="*/ 7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4" h="244">
                  <a:moveTo>
                    <a:pt x="234" y="74"/>
                  </a:moveTo>
                  <a:cubicBezTo>
                    <a:pt x="233" y="72"/>
                    <a:pt x="232" y="71"/>
                    <a:pt x="230" y="70"/>
                  </a:cubicBezTo>
                  <a:cubicBezTo>
                    <a:pt x="229" y="70"/>
                    <a:pt x="227" y="70"/>
                    <a:pt x="225" y="70"/>
                  </a:cubicBezTo>
                  <a:cubicBezTo>
                    <a:pt x="222" y="72"/>
                    <a:pt x="221" y="76"/>
                    <a:pt x="222" y="79"/>
                  </a:cubicBezTo>
                  <a:cubicBezTo>
                    <a:pt x="228" y="93"/>
                    <a:pt x="231" y="107"/>
                    <a:pt x="231" y="122"/>
                  </a:cubicBezTo>
                  <a:cubicBezTo>
                    <a:pt x="231" y="182"/>
                    <a:pt x="182" y="232"/>
                    <a:pt x="122" y="232"/>
                  </a:cubicBezTo>
                  <a:cubicBezTo>
                    <a:pt x="61" y="232"/>
                    <a:pt x="12" y="182"/>
                    <a:pt x="12" y="122"/>
                  </a:cubicBezTo>
                  <a:cubicBezTo>
                    <a:pt x="12" y="62"/>
                    <a:pt x="61" y="13"/>
                    <a:pt x="122" y="13"/>
                  </a:cubicBezTo>
                  <a:cubicBezTo>
                    <a:pt x="137" y="13"/>
                    <a:pt x="151" y="16"/>
                    <a:pt x="165" y="22"/>
                  </a:cubicBezTo>
                  <a:cubicBezTo>
                    <a:pt x="167" y="23"/>
                    <a:pt x="168" y="23"/>
                    <a:pt x="170" y="22"/>
                  </a:cubicBezTo>
                  <a:cubicBezTo>
                    <a:pt x="172" y="21"/>
                    <a:pt x="173" y="20"/>
                    <a:pt x="173" y="19"/>
                  </a:cubicBezTo>
                  <a:cubicBezTo>
                    <a:pt x="174" y="17"/>
                    <a:pt x="174" y="15"/>
                    <a:pt x="174" y="14"/>
                  </a:cubicBezTo>
                  <a:cubicBezTo>
                    <a:pt x="173" y="12"/>
                    <a:pt x="172" y="11"/>
                    <a:pt x="170" y="10"/>
                  </a:cubicBezTo>
                  <a:cubicBezTo>
                    <a:pt x="155" y="4"/>
                    <a:pt x="138" y="0"/>
                    <a:pt x="122" y="0"/>
                  </a:cubicBezTo>
                  <a:cubicBezTo>
                    <a:pt x="54" y="0"/>
                    <a:pt x="0" y="55"/>
                    <a:pt x="0" y="122"/>
                  </a:cubicBezTo>
                  <a:cubicBezTo>
                    <a:pt x="0" y="189"/>
                    <a:pt x="54" y="244"/>
                    <a:pt x="122" y="244"/>
                  </a:cubicBezTo>
                  <a:cubicBezTo>
                    <a:pt x="189" y="244"/>
                    <a:pt x="244" y="189"/>
                    <a:pt x="244" y="122"/>
                  </a:cubicBezTo>
                  <a:cubicBezTo>
                    <a:pt x="244" y="105"/>
                    <a:pt x="240" y="89"/>
                    <a:pt x="234" y="74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35" name="Group 78">
            <a:extLst>
              <a:ext uri="{FF2B5EF4-FFF2-40B4-BE49-F238E27FC236}">
                <a16:creationId xmlns="" xmlns:a16="http://schemas.microsoft.com/office/drawing/2014/main" id="{84543678-62C4-4000-9EB8-E6BDC20E2AB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55607" y="5458856"/>
            <a:ext cx="333425" cy="333425"/>
            <a:chOff x="2403" y="1721"/>
            <a:chExt cx="425" cy="425"/>
          </a:xfrm>
          <a:solidFill>
            <a:schemeClr val="tx2"/>
          </a:solidFill>
        </p:grpSpPr>
        <p:sp>
          <p:nvSpPr>
            <p:cNvPr id="136" name="Freeform 79">
              <a:extLst>
                <a:ext uri="{FF2B5EF4-FFF2-40B4-BE49-F238E27FC236}">
                  <a16:creationId xmlns="" xmlns:a16="http://schemas.microsoft.com/office/drawing/2014/main" id="{2943E996-D06F-46E9-B031-3032A4535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3" y="1965"/>
              <a:ext cx="169" cy="181"/>
            </a:xfrm>
            <a:custGeom>
              <a:avLst/>
              <a:gdLst>
                <a:gd name="T0" fmla="*/ 69 w 114"/>
                <a:gd name="T1" fmla="*/ 123 h 123"/>
                <a:gd name="T2" fmla="*/ 68 w 114"/>
                <a:gd name="T3" fmla="*/ 123 h 123"/>
                <a:gd name="T4" fmla="*/ 63 w 114"/>
                <a:gd name="T5" fmla="*/ 119 h 123"/>
                <a:gd name="T6" fmla="*/ 49 w 114"/>
                <a:gd name="T7" fmla="*/ 79 h 123"/>
                <a:gd name="T8" fmla="*/ 8 w 114"/>
                <a:gd name="T9" fmla="*/ 86 h 123"/>
                <a:gd name="T10" fmla="*/ 2 w 114"/>
                <a:gd name="T11" fmla="*/ 84 h 123"/>
                <a:gd name="T12" fmla="*/ 2 w 114"/>
                <a:gd name="T13" fmla="*/ 77 h 123"/>
                <a:gd name="T14" fmla="*/ 46 w 114"/>
                <a:gd name="T15" fmla="*/ 0 h 123"/>
                <a:gd name="T16" fmla="*/ 57 w 114"/>
                <a:gd name="T17" fmla="*/ 6 h 123"/>
                <a:gd name="T18" fmla="*/ 18 w 114"/>
                <a:gd name="T19" fmla="*/ 72 h 123"/>
                <a:gd name="T20" fmla="*/ 52 w 114"/>
                <a:gd name="T21" fmla="*/ 67 h 123"/>
                <a:gd name="T22" fmla="*/ 59 w 114"/>
                <a:gd name="T23" fmla="*/ 71 h 123"/>
                <a:gd name="T24" fmla="*/ 70 w 114"/>
                <a:gd name="T25" fmla="*/ 103 h 123"/>
                <a:gd name="T26" fmla="*/ 103 w 114"/>
                <a:gd name="T27" fmla="*/ 47 h 123"/>
                <a:gd name="T28" fmla="*/ 114 w 114"/>
                <a:gd name="T29" fmla="*/ 54 h 123"/>
                <a:gd name="T30" fmla="*/ 74 w 114"/>
                <a:gd name="T31" fmla="*/ 120 h 123"/>
                <a:gd name="T32" fmla="*/ 69 w 114"/>
                <a:gd name="T33" fmla="*/ 123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4" h="123">
                  <a:moveTo>
                    <a:pt x="69" y="123"/>
                  </a:moveTo>
                  <a:cubicBezTo>
                    <a:pt x="69" y="123"/>
                    <a:pt x="69" y="123"/>
                    <a:pt x="68" y="123"/>
                  </a:cubicBezTo>
                  <a:cubicBezTo>
                    <a:pt x="66" y="122"/>
                    <a:pt x="64" y="121"/>
                    <a:pt x="63" y="119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8" y="86"/>
                    <a:pt x="8" y="86"/>
                    <a:pt x="8" y="86"/>
                  </a:cubicBezTo>
                  <a:cubicBezTo>
                    <a:pt x="6" y="87"/>
                    <a:pt x="3" y="86"/>
                    <a:pt x="2" y="84"/>
                  </a:cubicBezTo>
                  <a:cubicBezTo>
                    <a:pt x="1" y="82"/>
                    <a:pt x="0" y="79"/>
                    <a:pt x="2" y="77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52" y="67"/>
                    <a:pt x="52" y="67"/>
                    <a:pt x="52" y="67"/>
                  </a:cubicBezTo>
                  <a:cubicBezTo>
                    <a:pt x="55" y="66"/>
                    <a:pt x="58" y="68"/>
                    <a:pt x="59" y="71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103" y="47"/>
                    <a:pt x="103" y="47"/>
                    <a:pt x="103" y="47"/>
                  </a:cubicBezTo>
                  <a:cubicBezTo>
                    <a:pt x="114" y="54"/>
                    <a:pt x="114" y="54"/>
                    <a:pt x="114" y="54"/>
                  </a:cubicBezTo>
                  <a:cubicBezTo>
                    <a:pt x="74" y="120"/>
                    <a:pt x="74" y="120"/>
                    <a:pt x="74" y="120"/>
                  </a:cubicBezTo>
                  <a:cubicBezTo>
                    <a:pt x="73" y="122"/>
                    <a:pt x="71" y="123"/>
                    <a:pt x="69" y="123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7" name="Freeform 80">
              <a:extLst>
                <a:ext uri="{FF2B5EF4-FFF2-40B4-BE49-F238E27FC236}">
                  <a16:creationId xmlns="" xmlns:a16="http://schemas.microsoft.com/office/drawing/2014/main" id="{57448B3A-3297-4C11-862F-9DE67175F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1968"/>
              <a:ext cx="167" cy="178"/>
            </a:xfrm>
            <a:custGeom>
              <a:avLst/>
              <a:gdLst>
                <a:gd name="T0" fmla="*/ 45 w 113"/>
                <a:gd name="T1" fmla="*/ 121 h 121"/>
                <a:gd name="T2" fmla="*/ 39 w 113"/>
                <a:gd name="T3" fmla="*/ 118 h 121"/>
                <a:gd name="T4" fmla="*/ 0 w 113"/>
                <a:gd name="T5" fmla="*/ 52 h 121"/>
                <a:gd name="T6" fmla="*/ 10 w 113"/>
                <a:gd name="T7" fmla="*/ 46 h 121"/>
                <a:gd name="T8" fmla="*/ 43 w 113"/>
                <a:gd name="T9" fmla="*/ 101 h 121"/>
                <a:gd name="T10" fmla="*/ 55 w 113"/>
                <a:gd name="T11" fmla="*/ 69 h 121"/>
                <a:gd name="T12" fmla="*/ 62 w 113"/>
                <a:gd name="T13" fmla="*/ 65 h 121"/>
                <a:gd name="T14" fmla="*/ 95 w 113"/>
                <a:gd name="T15" fmla="*/ 70 h 121"/>
                <a:gd name="T16" fmla="*/ 58 w 113"/>
                <a:gd name="T17" fmla="*/ 6 h 121"/>
                <a:gd name="T18" fmla="*/ 68 w 113"/>
                <a:gd name="T19" fmla="*/ 0 h 121"/>
                <a:gd name="T20" fmla="*/ 112 w 113"/>
                <a:gd name="T21" fmla="*/ 75 h 121"/>
                <a:gd name="T22" fmla="*/ 112 w 113"/>
                <a:gd name="T23" fmla="*/ 82 h 121"/>
                <a:gd name="T24" fmla="*/ 106 w 113"/>
                <a:gd name="T25" fmla="*/ 84 h 121"/>
                <a:gd name="T26" fmla="*/ 65 w 113"/>
                <a:gd name="T27" fmla="*/ 77 h 121"/>
                <a:gd name="T28" fmla="*/ 50 w 113"/>
                <a:gd name="T29" fmla="*/ 117 h 121"/>
                <a:gd name="T30" fmla="*/ 45 w 113"/>
                <a:gd name="T31" fmla="*/ 121 h 121"/>
                <a:gd name="T32" fmla="*/ 45 w 113"/>
                <a:gd name="T33" fmla="*/ 12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3" h="121">
                  <a:moveTo>
                    <a:pt x="45" y="121"/>
                  </a:moveTo>
                  <a:cubicBezTo>
                    <a:pt x="43" y="121"/>
                    <a:pt x="41" y="120"/>
                    <a:pt x="39" y="118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3" y="101"/>
                    <a:pt x="43" y="101"/>
                    <a:pt x="43" y="101"/>
                  </a:cubicBezTo>
                  <a:cubicBezTo>
                    <a:pt x="55" y="69"/>
                    <a:pt x="55" y="69"/>
                    <a:pt x="55" y="69"/>
                  </a:cubicBezTo>
                  <a:cubicBezTo>
                    <a:pt x="56" y="66"/>
                    <a:pt x="59" y="64"/>
                    <a:pt x="62" y="65"/>
                  </a:cubicBezTo>
                  <a:cubicBezTo>
                    <a:pt x="95" y="70"/>
                    <a:pt x="95" y="70"/>
                    <a:pt x="95" y="70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112" y="75"/>
                    <a:pt x="112" y="75"/>
                    <a:pt x="112" y="75"/>
                  </a:cubicBezTo>
                  <a:cubicBezTo>
                    <a:pt x="113" y="77"/>
                    <a:pt x="113" y="80"/>
                    <a:pt x="112" y="82"/>
                  </a:cubicBezTo>
                  <a:cubicBezTo>
                    <a:pt x="110" y="84"/>
                    <a:pt x="108" y="85"/>
                    <a:pt x="106" y="84"/>
                  </a:cubicBezTo>
                  <a:cubicBezTo>
                    <a:pt x="65" y="77"/>
                    <a:pt x="65" y="77"/>
                    <a:pt x="65" y="77"/>
                  </a:cubicBezTo>
                  <a:cubicBezTo>
                    <a:pt x="50" y="117"/>
                    <a:pt x="50" y="117"/>
                    <a:pt x="50" y="117"/>
                  </a:cubicBezTo>
                  <a:cubicBezTo>
                    <a:pt x="49" y="119"/>
                    <a:pt x="48" y="120"/>
                    <a:pt x="45" y="121"/>
                  </a:cubicBezTo>
                  <a:cubicBezTo>
                    <a:pt x="45" y="121"/>
                    <a:pt x="45" y="121"/>
                    <a:pt x="45" y="121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8" name="Freeform 81">
              <a:extLst>
                <a:ext uri="{FF2B5EF4-FFF2-40B4-BE49-F238E27FC236}">
                  <a16:creationId xmlns="" xmlns:a16="http://schemas.microsoft.com/office/drawing/2014/main" id="{D9B057C3-410C-426C-9AC1-68A362CBF6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9" y="1721"/>
              <a:ext cx="338" cy="337"/>
            </a:xfrm>
            <a:custGeom>
              <a:avLst/>
              <a:gdLst>
                <a:gd name="T0" fmla="*/ 114 w 228"/>
                <a:gd name="T1" fmla="*/ 228 h 228"/>
                <a:gd name="T2" fmla="*/ 0 w 228"/>
                <a:gd name="T3" fmla="*/ 114 h 228"/>
                <a:gd name="T4" fmla="*/ 114 w 228"/>
                <a:gd name="T5" fmla="*/ 0 h 228"/>
                <a:gd name="T6" fmla="*/ 228 w 228"/>
                <a:gd name="T7" fmla="*/ 114 h 228"/>
                <a:gd name="T8" fmla="*/ 114 w 228"/>
                <a:gd name="T9" fmla="*/ 228 h 228"/>
                <a:gd name="T10" fmla="*/ 114 w 228"/>
                <a:gd name="T11" fmla="*/ 12 h 228"/>
                <a:gd name="T12" fmla="*/ 12 w 228"/>
                <a:gd name="T13" fmla="*/ 114 h 228"/>
                <a:gd name="T14" fmla="*/ 114 w 228"/>
                <a:gd name="T15" fmla="*/ 216 h 228"/>
                <a:gd name="T16" fmla="*/ 216 w 228"/>
                <a:gd name="T17" fmla="*/ 114 h 228"/>
                <a:gd name="T18" fmla="*/ 114 w 228"/>
                <a:gd name="T19" fmla="*/ 12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8" h="228">
                  <a:moveTo>
                    <a:pt x="114" y="228"/>
                  </a:moveTo>
                  <a:cubicBezTo>
                    <a:pt x="51" y="228"/>
                    <a:pt x="0" y="176"/>
                    <a:pt x="0" y="114"/>
                  </a:cubicBezTo>
                  <a:cubicBezTo>
                    <a:pt x="0" y="51"/>
                    <a:pt x="51" y="0"/>
                    <a:pt x="114" y="0"/>
                  </a:cubicBezTo>
                  <a:cubicBezTo>
                    <a:pt x="177" y="0"/>
                    <a:pt x="228" y="51"/>
                    <a:pt x="228" y="114"/>
                  </a:cubicBezTo>
                  <a:cubicBezTo>
                    <a:pt x="228" y="176"/>
                    <a:pt x="177" y="228"/>
                    <a:pt x="114" y="228"/>
                  </a:cubicBezTo>
                  <a:close/>
                  <a:moveTo>
                    <a:pt x="114" y="12"/>
                  </a:moveTo>
                  <a:cubicBezTo>
                    <a:pt x="58" y="12"/>
                    <a:pt x="12" y="57"/>
                    <a:pt x="12" y="114"/>
                  </a:cubicBezTo>
                  <a:cubicBezTo>
                    <a:pt x="12" y="170"/>
                    <a:pt x="58" y="216"/>
                    <a:pt x="114" y="216"/>
                  </a:cubicBezTo>
                  <a:cubicBezTo>
                    <a:pt x="170" y="216"/>
                    <a:pt x="216" y="170"/>
                    <a:pt x="216" y="114"/>
                  </a:cubicBezTo>
                  <a:cubicBezTo>
                    <a:pt x="216" y="57"/>
                    <a:pt x="170" y="12"/>
                    <a:pt x="114" y="12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9" name="Freeform 82">
              <a:extLst>
                <a:ext uri="{FF2B5EF4-FFF2-40B4-BE49-F238E27FC236}">
                  <a16:creationId xmlns="" xmlns:a16="http://schemas.microsoft.com/office/drawing/2014/main" id="{587CF20F-B73F-401A-BDB7-B794077C9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1823"/>
              <a:ext cx="154" cy="130"/>
            </a:xfrm>
            <a:custGeom>
              <a:avLst/>
              <a:gdLst>
                <a:gd name="T0" fmla="*/ 38 w 104"/>
                <a:gd name="T1" fmla="*/ 88 h 88"/>
                <a:gd name="T2" fmla="*/ 34 w 104"/>
                <a:gd name="T3" fmla="*/ 87 h 88"/>
                <a:gd name="T4" fmla="*/ 2 w 104"/>
                <a:gd name="T5" fmla="*/ 55 h 88"/>
                <a:gd name="T6" fmla="*/ 2 w 104"/>
                <a:gd name="T7" fmla="*/ 46 h 88"/>
                <a:gd name="T8" fmla="*/ 10 w 104"/>
                <a:gd name="T9" fmla="*/ 46 h 88"/>
                <a:gd name="T10" fmla="*/ 38 w 104"/>
                <a:gd name="T11" fmla="*/ 73 h 88"/>
                <a:gd name="T12" fmla="*/ 93 w 104"/>
                <a:gd name="T13" fmla="*/ 3 h 88"/>
                <a:gd name="T14" fmla="*/ 101 w 104"/>
                <a:gd name="T15" fmla="*/ 2 h 88"/>
                <a:gd name="T16" fmla="*/ 102 w 104"/>
                <a:gd name="T17" fmla="*/ 11 h 88"/>
                <a:gd name="T18" fmla="*/ 43 w 104"/>
                <a:gd name="T19" fmla="*/ 86 h 88"/>
                <a:gd name="T20" fmla="*/ 38 w 104"/>
                <a:gd name="T21" fmla="*/ 88 h 88"/>
                <a:gd name="T22" fmla="*/ 38 w 104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4" h="88">
                  <a:moveTo>
                    <a:pt x="38" y="88"/>
                  </a:moveTo>
                  <a:cubicBezTo>
                    <a:pt x="36" y="88"/>
                    <a:pt x="35" y="88"/>
                    <a:pt x="34" y="87"/>
                  </a:cubicBezTo>
                  <a:cubicBezTo>
                    <a:pt x="2" y="55"/>
                    <a:pt x="2" y="55"/>
                    <a:pt x="2" y="55"/>
                  </a:cubicBezTo>
                  <a:cubicBezTo>
                    <a:pt x="0" y="52"/>
                    <a:pt x="0" y="49"/>
                    <a:pt x="2" y="46"/>
                  </a:cubicBezTo>
                  <a:cubicBezTo>
                    <a:pt x="4" y="44"/>
                    <a:pt x="8" y="44"/>
                    <a:pt x="10" y="46"/>
                  </a:cubicBezTo>
                  <a:cubicBezTo>
                    <a:pt x="38" y="73"/>
                    <a:pt x="38" y="73"/>
                    <a:pt x="38" y="73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95" y="1"/>
                    <a:pt x="99" y="0"/>
                    <a:pt x="101" y="2"/>
                  </a:cubicBezTo>
                  <a:cubicBezTo>
                    <a:pt x="104" y="4"/>
                    <a:pt x="104" y="8"/>
                    <a:pt x="102" y="11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42" y="87"/>
                    <a:pt x="40" y="88"/>
                    <a:pt x="38" y="88"/>
                  </a:cubicBezTo>
                  <a:cubicBezTo>
                    <a:pt x="38" y="88"/>
                    <a:pt x="38" y="88"/>
                    <a:pt x="38" y="88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0" name="Group 158">
            <a:extLst>
              <a:ext uri="{FF2B5EF4-FFF2-40B4-BE49-F238E27FC236}">
                <a16:creationId xmlns="" xmlns:a16="http://schemas.microsoft.com/office/drawing/2014/main" id="{330A710C-7F15-42BD-907A-DA88DE8D3E2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29592" y="4928133"/>
            <a:ext cx="385454" cy="362509"/>
            <a:chOff x="4473" y="3018"/>
            <a:chExt cx="420" cy="395"/>
          </a:xfrm>
          <a:solidFill>
            <a:schemeClr val="tx2"/>
          </a:solidFill>
        </p:grpSpPr>
        <p:sp>
          <p:nvSpPr>
            <p:cNvPr id="141" name="Freeform 159">
              <a:extLst>
                <a:ext uri="{FF2B5EF4-FFF2-40B4-BE49-F238E27FC236}">
                  <a16:creationId xmlns="" xmlns:a16="http://schemas.microsoft.com/office/drawing/2014/main" id="{0B631B03-6196-4793-8322-9FB74E1CB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3058"/>
              <a:ext cx="72" cy="54"/>
            </a:xfrm>
            <a:custGeom>
              <a:avLst/>
              <a:gdLst>
                <a:gd name="T0" fmla="*/ 9 w 49"/>
                <a:gd name="T1" fmla="*/ 17 h 37"/>
                <a:gd name="T2" fmla="*/ 5 w 49"/>
                <a:gd name="T3" fmla="*/ 15 h 37"/>
                <a:gd name="T4" fmla="*/ 1 w 49"/>
                <a:gd name="T5" fmla="*/ 17 h 37"/>
                <a:gd name="T6" fmla="*/ 0 w 49"/>
                <a:gd name="T7" fmla="*/ 20 h 37"/>
                <a:gd name="T8" fmla="*/ 1 w 49"/>
                <a:gd name="T9" fmla="*/ 24 h 37"/>
                <a:gd name="T10" fmla="*/ 12 w 49"/>
                <a:gd name="T11" fmla="*/ 35 h 37"/>
                <a:gd name="T12" fmla="*/ 16 w 49"/>
                <a:gd name="T13" fmla="*/ 37 h 37"/>
                <a:gd name="T14" fmla="*/ 19 w 49"/>
                <a:gd name="T15" fmla="*/ 35 h 37"/>
                <a:gd name="T16" fmla="*/ 47 w 49"/>
                <a:gd name="T17" fmla="*/ 10 h 37"/>
                <a:gd name="T18" fmla="*/ 47 w 49"/>
                <a:gd name="T19" fmla="*/ 3 h 37"/>
                <a:gd name="T20" fmla="*/ 40 w 49"/>
                <a:gd name="T21" fmla="*/ 2 h 37"/>
                <a:gd name="T22" fmla="*/ 16 w 49"/>
                <a:gd name="T23" fmla="*/ 24 h 37"/>
                <a:gd name="T24" fmla="*/ 9 w 49"/>
                <a:gd name="T25" fmla="*/ 1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9" h="37">
                  <a:moveTo>
                    <a:pt x="9" y="17"/>
                  </a:moveTo>
                  <a:cubicBezTo>
                    <a:pt x="8" y="16"/>
                    <a:pt x="7" y="15"/>
                    <a:pt x="5" y="15"/>
                  </a:cubicBezTo>
                  <a:cubicBezTo>
                    <a:pt x="4" y="15"/>
                    <a:pt x="2" y="16"/>
                    <a:pt x="1" y="17"/>
                  </a:cubicBezTo>
                  <a:cubicBezTo>
                    <a:pt x="0" y="18"/>
                    <a:pt x="0" y="19"/>
                    <a:pt x="0" y="20"/>
                  </a:cubicBezTo>
                  <a:cubicBezTo>
                    <a:pt x="0" y="22"/>
                    <a:pt x="0" y="23"/>
                    <a:pt x="1" y="2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6"/>
                    <a:pt x="14" y="37"/>
                    <a:pt x="16" y="37"/>
                  </a:cubicBezTo>
                  <a:cubicBezTo>
                    <a:pt x="17" y="37"/>
                    <a:pt x="18" y="36"/>
                    <a:pt x="19" y="35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9" y="8"/>
                    <a:pt x="49" y="5"/>
                    <a:pt x="47" y="3"/>
                  </a:cubicBezTo>
                  <a:cubicBezTo>
                    <a:pt x="45" y="0"/>
                    <a:pt x="42" y="0"/>
                    <a:pt x="40" y="2"/>
                  </a:cubicBezTo>
                  <a:cubicBezTo>
                    <a:pt x="16" y="24"/>
                    <a:pt x="16" y="24"/>
                    <a:pt x="16" y="24"/>
                  </a:cubicBezTo>
                  <a:lnTo>
                    <a:pt x="9" y="17"/>
                  </a:ln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2" name="Freeform 160">
              <a:extLst>
                <a:ext uri="{FF2B5EF4-FFF2-40B4-BE49-F238E27FC236}">
                  <a16:creationId xmlns="" xmlns:a16="http://schemas.microsoft.com/office/drawing/2014/main" id="{4D404E2B-8FE9-4570-BFE7-3F74EBD72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9" y="3191"/>
              <a:ext cx="74" cy="53"/>
            </a:xfrm>
            <a:custGeom>
              <a:avLst/>
              <a:gdLst>
                <a:gd name="T0" fmla="*/ 9 w 50"/>
                <a:gd name="T1" fmla="*/ 17 h 36"/>
                <a:gd name="T2" fmla="*/ 6 w 50"/>
                <a:gd name="T3" fmla="*/ 15 h 36"/>
                <a:gd name="T4" fmla="*/ 2 w 50"/>
                <a:gd name="T5" fmla="*/ 17 h 36"/>
                <a:gd name="T6" fmla="*/ 0 w 50"/>
                <a:gd name="T7" fmla="*/ 20 h 36"/>
                <a:gd name="T8" fmla="*/ 2 w 50"/>
                <a:gd name="T9" fmla="*/ 24 h 36"/>
                <a:gd name="T10" fmla="*/ 13 w 50"/>
                <a:gd name="T11" fmla="*/ 35 h 36"/>
                <a:gd name="T12" fmla="*/ 16 w 50"/>
                <a:gd name="T13" fmla="*/ 36 h 36"/>
                <a:gd name="T14" fmla="*/ 20 w 50"/>
                <a:gd name="T15" fmla="*/ 35 h 36"/>
                <a:gd name="T16" fmla="*/ 48 w 50"/>
                <a:gd name="T17" fmla="*/ 10 h 36"/>
                <a:gd name="T18" fmla="*/ 48 w 50"/>
                <a:gd name="T19" fmla="*/ 2 h 36"/>
                <a:gd name="T20" fmla="*/ 40 w 50"/>
                <a:gd name="T21" fmla="*/ 2 h 36"/>
                <a:gd name="T22" fmla="*/ 17 w 50"/>
                <a:gd name="T23" fmla="*/ 24 h 36"/>
                <a:gd name="T24" fmla="*/ 9 w 50"/>
                <a:gd name="T25" fmla="*/ 1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0" h="36">
                  <a:moveTo>
                    <a:pt x="9" y="17"/>
                  </a:moveTo>
                  <a:cubicBezTo>
                    <a:pt x="8" y="16"/>
                    <a:pt x="7" y="15"/>
                    <a:pt x="6" y="15"/>
                  </a:cubicBezTo>
                  <a:cubicBezTo>
                    <a:pt x="4" y="15"/>
                    <a:pt x="3" y="16"/>
                    <a:pt x="2" y="17"/>
                  </a:cubicBezTo>
                  <a:cubicBezTo>
                    <a:pt x="1" y="18"/>
                    <a:pt x="0" y="19"/>
                    <a:pt x="0" y="20"/>
                  </a:cubicBezTo>
                  <a:cubicBezTo>
                    <a:pt x="0" y="22"/>
                    <a:pt x="1" y="23"/>
                    <a:pt x="2" y="24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6"/>
                    <a:pt x="15" y="36"/>
                    <a:pt x="16" y="36"/>
                  </a:cubicBezTo>
                  <a:cubicBezTo>
                    <a:pt x="18" y="36"/>
                    <a:pt x="19" y="36"/>
                    <a:pt x="20" y="35"/>
                  </a:cubicBezTo>
                  <a:cubicBezTo>
                    <a:pt x="48" y="10"/>
                    <a:pt x="48" y="10"/>
                    <a:pt x="48" y="10"/>
                  </a:cubicBezTo>
                  <a:cubicBezTo>
                    <a:pt x="50" y="8"/>
                    <a:pt x="50" y="5"/>
                    <a:pt x="48" y="2"/>
                  </a:cubicBezTo>
                  <a:cubicBezTo>
                    <a:pt x="46" y="0"/>
                    <a:pt x="43" y="0"/>
                    <a:pt x="40" y="2"/>
                  </a:cubicBezTo>
                  <a:cubicBezTo>
                    <a:pt x="17" y="24"/>
                    <a:pt x="17" y="24"/>
                    <a:pt x="17" y="24"/>
                  </a:cubicBezTo>
                  <a:lnTo>
                    <a:pt x="9" y="17"/>
                  </a:ln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Freeform 161">
              <a:extLst>
                <a:ext uri="{FF2B5EF4-FFF2-40B4-BE49-F238E27FC236}">
                  <a16:creationId xmlns="" xmlns:a16="http://schemas.microsoft.com/office/drawing/2014/main" id="{9B6B0759-A866-45A2-81CC-EA5CFEB75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3318"/>
              <a:ext cx="72" cy="54"/>
            </a:xfrm>
            <a:custGeom>
              <a:avLst/>
              <a:gdLst>
                <a:gd name="T0" fmla="*/ 9 w 49"/>
                <a:gd name="T1" fmla="*/ 16 h 36"/>
                <a:gd name="T2" fmla="*/ 5 w 49"/>
                <a:gd name="T3" fmla="*/ 15 h 36"/>
                <a:gd name="T4" fmla="*/ 1 w 49"/>
                <a:gd name="T5" fmla="*/ 16 h 36"/>
                <a:gd name="T6" fmla="*/ 0 w 49"/>
                <a:gd name="T7" fmla="*/ 20 h 36"/>
                <a:gd name="T8" fmla="*/ 1 w 49"/>
                <a:gd name="T9" fmla="*/ 24 h 36"/>
                <a:gd name="T10" fmla="*/ 12 w 49"/>
                <a:gd name="T11" fmla="*/ 34 h 36"/>
                <a:gd name="T12" fmla="*/ 16 w 49"/>
                <a:gd name="T13" fmla="*/ 36 h 36"/>
                <a:gd name="T14" fmla="*/ 19 w 49"/>
                <a:gd name="T15" fmla="*/ 35 h 36"/>
                <a:gd name="T16" fmla="*/ 47 w 49"/>
                <a:gd name="T17" fmla="*/ 10 h 36"/>
                <a:gd name="T18" fmla="*/ 47 w 49"/>
                <a:gd name="T19" fmla="*/ 2 h 36"/>
                <a:gd name="T20" fmla="*/ 40 w 49"/>
                <a:gd name="T21" fmla="*/ 2 h 36"/>
                <a:gd name="T22" fmla="*/ 16 w 49"/>
                <a:gd name="T23" fmla="*/ 23 h 36"/>
                <a:gd name="T24" fmla="*/ 9 w 49"/>
                <a:gd name="T25" fmla="*/ 1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9" h="36">
                  <a:moveTo>
                    <a:pt x="9" y="16"/>
                  </a:moveTo>
                  <a:cubicBezTo>
                    <a:pt x="8" y="15"/>
                    <a:pt x="7" y="15"/>
                    <a:pt x="5" y="15"/>
                  </a:cubicBezTo>
                  <a:cubicBezTo>
                    <a:pt x="4" y="15"/>
                    <a:pt x="2" y="15"/>
                    <a:pt x="1" y="16"/>
                  </a:cubicBezTo>
                  <a:cubicBezTo>
                    <a:pt x="0" y="17"/>
                    <a:pt x="0" y="19"/>
                    <a:pt x="0" y="20"/>
                  </a:cubicBezTo>
                  <a:cubicBezTo>
                    <a:pt x="0" y="21"/>
                    <a:pt x="0" y="23"/>
                    <a:pt x="1" y="24"/>
                  </a:cubicBezTo>
                  <a:cubicBezTo>
                    <a:pt x="12" y="34"/>
                    <a:pt x="12" y="34"/>
                    <a:pt x="12" y="34"/>
                  </a:cubicBezTo>
                  <a:cubicBezTo>
                    <a:pt x="13" y="35"/>
                    <a:pt x="14" y="36"/>
                    <a:pt x="16" y="36"/>
                  </a:cubicBezTo>
                  <a:cubicBezTo>
                    <a:pt x="17" y="36"/>
                    <a:pt x="18" y="36"/>
                    <a:pt x="19" y="35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9" y="8"/>
                    <a:pt x="49" y="4"/>
                    <a:pt x="47" y="2"/>
                  </a:cubicBezTo>
                  <a:cubicBezTo>
                    <a:pt x="45" y="0"/>
                    <a:pt x="42" y="0"/>
                    <a:pt x="40" y="2"/>
                  </a:cubicBezTo>
                  <a:cubicBezTo>
                    <a:pt x="16" y="23"/>
                    <a:pt x="16" y="23"/>
                    <a:pt x="16" y="23"/>
                  </a:cubicBezTo>
                  <a:lnTo>
                    <a:pt x="9" y="16"/>
                  </a:ln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 162">
              <a:extLst>
                <a:ext uri="{FF2B5EF4-FFF2-40B4-BE49-F238E27FC236}">
                  <a16:creationId xmlns="" xmlns:a16="http://schemas.microsoft.com/office/drawing/2014/main" id="{6AD390EB-9196-462E-9CCE-DB96E74A06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3" y="3018"/>
              <a:ext cx="420" cy="395"/>
            </a:xfrm>
            <a:custGeom>
              <a:avLst/>
              <a:gdLst>
                <a:gd name="T0" fmla="*/ 267 w 284"/>
                <a:gd name="T1" fmla="*/ 168 h 267"/>
                <a:gd name="T2" fmla="*/ 234 w 284"/>
                <a:gd name="T3" fmla="*/ 90 h 267"/>
                <a:gd name="T4" fmla="*/ 198 w 284"/>
                <a:gd name="T5" fmla="*/ 163 h 267"/>
                <a:gd name="T6" fmla="*/ 171 w 284"/>
                <a:gd name="T7" fmla="*/ 186 h 267"/>
                <a:gd name="T8" fmla="*/ 112 w 284"/>
                <a:gd name="T9" fmla="*/ 187 h 267"/>
                <a:gd name="T10" fmla="*/ 111 w 284"/>
                <a:gd name="T11" fmla="*/ 187 h 267"/>
                <a:gd name="T12" fmla="*/ 86 w 284"/>
                <a:gd name="T13" fmla="*/ 162 h 267"/>
                <a:gd name="T14" fmla="*/ 86 w 284"/>
                <a:gd name="T15" fmla="*/ 106 h 267"/>
                <a:gd name="T16" fmla="*/ 114 w 284"/>
                <a:gd name="T17" fmla="*/ 81 h 267"/>
                <a:gd name="T18" fmla="*/ 174 w 284"/>
                <a:gd name="T19" fmla="*/ 78 h 267"/>
                <a:gd name="T20" fmla="*/ 142 w 284"/>
                <a:gd name="T21" fmla="*/ 0 h 267"/>
                <a:gd name="T22" fmla="*/ 106 w 284"/>
                <a:gd name="T23" fmla="*/ 73 h 267"/>
                <a:gd name="T24" fmla="*/ 78 w 284"/>
                <a:gd name="T25" fmla="*/ 99 h 267"/>
                <a:gd name="T26" fmla="*/ 50 w 284"/>
                <a:gd name="T27" fmla="*/ 89 h 267"/>
                <a:gd name="T28" fmla="*/ 18 w 284"/>
                <a:gd name="T29" fmla="*/ 167 h 267"/>
                <a:gd name="T30" fmla="*/ 78 w 284"/>
                <a:gd name="T31" fmla="*/ 170 h 267"/>
                <a:gd name="T32" fmla="*/ 78 w 284"/>
                <a:gd name="T33" fmla="*/ 170 h 267"/>
                <a:gd name="T34" fmla="*/ 104 w 284"/>
                <a:gd name="T35" fmla="*/ 196 h 267"/>
                <a:gd name="T36" fmla="*/ 142 w 284"/>
                <a:gd name="T37" fmla="*/ 267 h 267"/>
                <a:gd name="T38" fmla="*/ 179 w 284"/>
                <a:gd name="T39" fmla="*/ 194 h 267"/>
                <a:gd name="T40" fmla="*/ 206 w 284"/>
                <a:gd name="T41" fmla="*/ 171 h 267"/>
                <a:gd name="T42" fmla="*/ 234 w 284"/>
                <a:gd name="T43" fmla="*/ 181 h 267"/>
                <a:gd name="T44" fmla="*/ 142 w 284"/>
                <a:gd name="T45" fmla="*/ 11 h 267"/>
                <a:gd name="T46" fmla="*/ 177 w 284"/>
                <a:gd name="T47" fmla="*/ 46 h 267"/>
                <a:gd name="T48" fmla="*/ 142 w 284"/>
                <a:gd name="T49" fmla="*/ 80 h 267"/>
                <a:gd name="T50" fmla="*/ 108 w 284"/>
                <a:gd name="T51" fmla="*/ 46 h 267"/>
                <a:gd name="T52" fmla="*/ 75 w 284"/>
                <a:gd name="T53" fmla="*/ 159 h 267"/>
                <a:gd name="T54" fmla="*/ 25 w 284"/>
                <a:gd name="T55" fmla="*/ 159 h 267"/>
                <a:gd name="T56" fmla="*/ 50 w 284"/>
                <a:gd name="T57" fmla="*/ 100 h 267"/>
                <a:gd name="T58" fmla="*/ 85 w 284"/>
                <a:gd name="T59" fmla="*/ 134 h 267"/>
                <a:gd name="T60" fmla="*/ 167 w 284"/>
                <a:gd name="T61" fmla="*/ 246 h 267"/>
                <a:gd name="T62" fmla="*/ 142 w 284"/>
                <a:gd name="T63" fmla="*/ 256 h 267"/>
                <a:gd name="T64" fmla="*/ 108 w 284"/>
                <a:gd name="T65" fmla="*/ 221 h 267"/>
                <a:gd name="T66" fmla="*/ 142 w 284"/>
                <a:gd name="T67" fmla="*/ 186 h 267"/>
                <a:gd name="T68" fmla="*/ 177 w 284"/>
                <a:gd name="T69" fmla="*/ 221 h 267"/>
                <a:gd name="T70" fmla="*/ 200 w 284"/>
                <a:gd name="T71" fmla="*/ 136 h 267"/>
                <a:gd name="T72" fmla="*/ 234 w 284"/>
                <a:gd name="T73" fmla="*/ 101 h 267"/>
                <a:gd name="T74" fmla="*/ 259 w 284"/>
                <a:gd name="T75" fmla="*/ 160 h 267"/>
                <a:gd name="T76" fmla="*/ 210 w 284"/>
                <a:gd name="T77" fmla="*/ 16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84" h="267">
                  <a:moveTo>
                    <a:pt x="234" y="181"/>
                  </a:moveTo>
                  <a:cubicBezTo>
                    <a:pt x="247" y="181"/>
                    <a:pt x="258" y="176"/>
                    <a:pt x="267" y="168"/>
                  </a:cubicBezTo>
                  <a:cubicBezTo>
                    <a:pt x="284" y="150"/>
                    <a:pt x="284" y="121"/>
                    <a:pt x="267" y="103"/>
                  </a:cubicBezTo>
                  <a:cubicBezTo>
                    <a:pt x="258" y="95"/>
                    <a:pt x="247" y="90"/>
                    <a:pt x="234" y="90"/>
                  </a:cubicBezTo>
                  <a:cubicBezTo>
                    <a:pt x="222" y="90"/>
                    <a:pt x="211" y="95"/>
                    <a:pt x="202" y="103"/>
                  </a:cubicBezTo>
                  <a:cubicBezTo>
                    <a:pt x="186" y="119"/>
                    <a:pt x="185" y="145"/>
                    <a:pt x="198" y="163"/>
                  </a:cubicBezTo>
                  <a:cubicBezTo>
                    <a:pt x="198" y="163"/>
                    <a:pt x="198" y="163"/>
                    <a:pt x="198" y="163"/>
                  </a:cubicBezTo>
                  <a:cubicBezTo>
                    <a:pt x="171" y="186"/>
                    <a:pt x="171" y="186"/>
                    <a:pt x="171" y="186"/>
                  </a:cubicBezTo>
                  <a:cubicBezTo>
                    <a:pt x="170" y="186"/>
                    <a:pt x="170" y="186"/>
                    <a:pt x="170" y="186"/>
                  </a:cubicBezTo>
                  <a:cubicBezTo>
                    <a:pt x="153" y="172"/>
                    <a:pt x="129" y="173"/>
                    <a:pt x="112" y="187"/>
                  </a:cubicBezTo>
                  <a:cubicBezTo>
                    <a:pt x="112" y="187"/>
                    <a:pt x="112" y="187"/>
                    <a:pt x="112" y="187"/>
                  </a:cubicBezTo>
                  <a:cubicBezTo>
                    <a:pt x="111" y="187"/>
                    <a:pt x="111" y="187"/>
                    <a:pt x="111" y="187"/>
                  </a:cubicBezTo>
                  <a:cubicBezTo>
                    <a:pt x="86" y="162"/>
                    <a:pt x="86" y="162"/>
                    <a:pt x="86" y="162"/>
                  </a:cubicBezTo>
                  <a:cubicBezTo>
                    <a:pt x="86" y="162"/>
                    <a:pt x="86" y="162"/>
                    <a:pt x="86" y="162"/>
                  </a:cubicBezTo>
                  <a:cubicBezTo>
                    <a:pt x="99" y="146"/>
                    <a:pt x="99" y="123"/>
                    <a:pt x="86" y="107"/>
                  </a:cubicBezTo>
                  <a:cubicBezTo>
                    <a:pt x="86" y="106"/>
                    <a:pt x="86" y="106"/>
                    <a:pt x="86" y="106"/>
                  </a:cubicBezTo>
                  <a:cubicBezTo>
                    <a:pt x="114" y="81"/>
                    <a:pt x="114" y="81"/>
                    <a:pt x="114" y="81"/>
                  </a:cubicBezTo>
                  <a:cubicBezTo>
                    <a:pt x="114" y="81"/>
                    <a:pt x="114" y="81"/>
                    <a:pt x="114" y="81"/>
                  </a:cubicBezTo>
                  <a:cubicBezTo>
                    <a:pt x="122" y="88"/>
                    <a:pt x="132" y="91"/>
                    <a:pt x="142" y="91"/>
                  </a:cubicBezTo>
                  <a:cubicBezTo>
                    <a:pt x="154" y="91"/>
                    <a:pt x="166" y="86"/>
                    <a:pt x="174" y="78"/>
                  </a:cubicBezTo>
                  <a:cubicBezTo>
                    <a:pt x="192" y="60"/>
                    <a:pt x="192" y="31"/>
                    <a:pt x="174" y="14"/>
                  </a:cubicBezTo>
                  <a:cubicBezTo>
                    <a:pt x="166" y="5"/>
                    <a:pt x="154" y="0"/>
                    <a:pt x="142" y="0"/>
                  </a:cubicBezTo>
                  <a:cubicBezTo>
                    <a:pt x="130" y="0"/>
                    <a:pt x="119" y="5"/>
                    <a:pt x="110" y="14"/>
                  </a:cubicBezTo>
                  <a:cubicBezTo>
                    <a:pt x="94" y="30"/>
                    <a:pt x="92" y="55"/>
                    <a:pt x="106" y="73"/>
                  </a:cubicBezTo>
                  <a:cubicBezTo>
                    <a:pt x="106" y="74"/>
                    <a:pt x="106" y="74"/>
                    <a:pt x="106" y="74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78" y="99"/>
                    <a:pt x="78" y="99"/>
                    <a:pt x="78" y="99"/>
                  </a:cubicBezTo>
                  <a:cubicBezTo>
                    <a:pt x="70" y="92"/>
                    <a:pt x="60" y="89"/>
                    <a:pt x="50" y="89"/>
                  </a:cubicBezTo>
                  <a:cubicBezTo>
                    <a:pt x="38" y="89"/>
                    <a:pt x="26" y="94"/>
                    <a:pt x="18" y="102"/>
                  </a:cubicBezTo>
                  <a:cubicBezTo>
                    <a:pt x="0" y="120"/>
                    <a:pt x="0" y="149"/>
                    <a:pt x="18" y="167"/>
                  </a:cubicBezTo>
                  <a:cubicBezTo>
                    <a:pt x="26" y="175"/>
                    <a:pt x="38" y="180"/>
                    <a:pt x="50" y="180"/>
                  </a:cubicBezTo>
                  <a:cubicBezTo>
                    <a:pt x="60" y="180"/>
                    <a:pt x="70" y="176"/>
                    <a:pt x="78" y="170"/>
                  </a:cubicBezTo>
                  <a:cubicBezTo>
                    <a:pt x="78" y="170"/>
                    <a:pt x="78" y="170"/>
                    <a:pt x="78" y="170"/>
                  </a:cubicBezTo>
                  <a:cubicBezTo>
                    <a:pt x="78" y="170"/>
                    <a:pt x="78" y="170"/>
                    <a:pt x="78" y="170"/>
                  </a:cubicBezTo>
                  <a:cubicBezTo>
                    <a:pt x="105" y="196"/>
                    <a:pt x="105" y="196"/>
                    <a:pt x="105" y="196"/>
                  </a:cubicBezTo>
                  <a:cubicBezTo>
                    <a:pt x="104" y="196"/>
                    <a:pt x="104" y="196"/>
                    <a:pt x="104" y="196"/>
                  </a:cubicBezTo>
                  <a:cubicBezTo>
                    <a:pt x="92" y="214"/>
                    <a:pt x="95" y="238"/>
                    <a:pt x="110" y="253"/>
                  </a:cubicBezTo>
                  <a:cubicBezTo>
                    <a:pt x="119" y="262"/>
                    <a:pt x="130" y="267"/>
                    <a:pt x="142" y="267"/>
                  </a:cubicBezTo>
                  <a:cubicBezTo>
                    <a:pt x="154" y="267"/>
                    <a:pt x="166" y="262"/>
                    <a:pt x="174" y="253"/>
                  </a:cubicBezTo>
                  <a:cubicBezTo>
                    <a:pt x="190" y="237"/>
                    <a:pt x="192" y="212"/>
                    <a:pt x="179" y="194"/>
                  </a:cubicBezTo>
                  <a:cubicBezTo>
                    <a:pt x="178" y="194"/>
                    <a:pt x="178" y="194"/>
                    <a:pt x="178" y="194"/>
                  </a:cubicBezTo>
                  <a:cubicBezTo>
                    <a:pt x="206" y="171"/>
                    <a:pt x="206" y="171"/>
                    <a:pt x="206" y="171"/>
                  </a:cubicBezTo>
                  <a:cubicBezTo>
                    <a:pt x="206" y="171"/>
                    <a:pt x="206" y="171"/>
                    <a:pt x="206" y="171"/>
                  </a:cubicBezTo>
                  <a:cubicBezTo>
                    <a:pt x="214" y="178"/>
                    <a:pt x="224" y="181"/>
                    <a:pt x="234" y="181"/>
                  </a:cubicBezTo>
                  <a:close/>
                  <a:moveTo>
                    <a:pt x="118" y="21"/>
                  </a:moveTo>
                  <a:cubicBezTo>
                    <a:pt x="124" y="15"/>
                    <a:pt x="133" y="11"/>
                    <a:pt x="142" y="11"/>
                  </a:cubicBezTo>
                  <a:cubicBezTo>
                    <a:pt x="152" y="11"/>
                    <a:pt x="160" y="15"/>
                    <a:pt x="167" y="21"/>
                  </a:cubicBezTo>
                  <a:cubicBezTo>
                    <a:pt x="173" y="28"/>
                    <a:pt x="177" y="36"/>
                    <a:pt x="177" y="46"/>
                  </a:cubicBezTo>
                  <a:cubicBezTo>
                    <a:pt x="177" y="55"/>
                    <a:pt x="173" y="64"/>
                    <a:pt x="167" y="70"/>
                  </a:cubicBezTo>
                  <a:cubicBezTo>
                    <a:pt x="160" y="77"/>
                    <a:pt x="152" y="80"/>
                    <a:pt x="142" y="80"/>
                  </a:cubicBezTo>
                  <a:cubicBezTo>
                    <a:pt x="133" y="80"/>
                    <a:pt x="124" y="77"/>
                    <a:pt x="118" y="70"/>
                  </a:cubicBezTo>
                  <a:cubicBezTo>
                    <a:pt x="111" y="64"/>
                    <a:pt x="108" y="55"/>
                    <a:pt x="108" y="46"/>
                  </a:cubicBezTo>
                  <a:cubicBezTo>
                    <a:pt x="108" y="36"/>
                    <a:pt x="111" y="28"/>
                    <a:pt x="118" y="21"/>
                  </a:cubicBezTo>
                  <a:close/>
                  <a:moveTo>
                    <a:pt x="75" y="159"/>
                  </a:moveTo>
                  <a:cubicBezTo>
                    <a:pt x="68" y="166"/>
                    <a:pt x="59" y="169"/>
                    <a:pt x="50" y="169"/>
                  </a:cubicBezTo>
                  <a:cubicBezTo>
                    <a:pt x="41" y="169"/>
                    <a:pt x="32" y="166"/>
                    <a:pt x="25" y="159"/>
                  </a:cubicBezTo>
                  <a:cubicBezTo>
                    <a:pt x="12" y="145"/>
                    <a:pt x="12" y="123"/>
                    <a:pt x="25" y="110"/>
                  </a:cubicBezTo>
                  <a:cubicBezTo>
                    <a:pt x="32" y="103"/>
                    <a:pt x="41" y="100"/>
                    <a:pt x="50" y="100"/>
                  </a:cubicBezTo>
                  <a:cubicBezTo>
                    <a:pt x="59" y="100"/>
                    <a:pt x="68" y="103"/>
                    <a:pt x="75" y="110"/>
                  </a:cubicBezTo>
                  <a:cubicBezTo>
                    <a:pt x="81" y="116"/>
                    <a:pt x="85" y="125"/>
                    <a:pt x="85" y="134"/>
                  </a:cubicBezTo>
                  <a:cubicBezTo>
                    <a:pt x="85" y="144"/>
                    <a:pt x="81" y="152"/>
                    <a:pt x="75" y="159"/>
                  </a:cubicBezTo>
                  <a:close/>
                  <a:moveTo>
                    <a:pt x="167" y="246"/>
                  </a:moveTo>
                  <a:cubicBezTo>
                    <a:pt x="167" y="246"/>
                    <a:pt x="167" y="246"/>
                    <a:pt x="167" y="246"/>
                  </a:cubicBezTo>
                  <a:cubicBezTo>
                    <a:pt x="160" y="252"/>
                    <a:pt x="152" y="256"/>
                    <a:pt x="142" y="256"/>
                  </a:cubicBezTo>
                  <a:cubicBezTo>
                    <a:pt x="133" y="256"/>
                    <a:pt x="124" y="252"/>
                    <a:pt x="118" y="246"/>
                  </a:cubicBezTo>
                  <a:cubicBezTo>
                    <a:pt x="111" y="239"/>
                    <a:pt x="108" y="230"/>
                    <a:pt x="108" y="221"/>
                  </a:cubicBezTo>
                  <a:cubicBezTo>
                    <a:pt x="108" y="212"/>
                    <a:pt x="111" y="203"/>
                    <a:pt x="118" y="197"/>
                  </a:cubicBezTo>
                  <a:cubicBezTo>
                    <a:pt x="124" y="190"/>
                    <a:pt x="133" y="186"/>
                    <a:pt x="142" y="186"/>
                  </a:cubicBezTo>
                  <a:cubicBezTo>
                    <a:pt x="152" y="186"/>
                    <a:pt x="160" y="190"/>
                    <a:pt x="167" y="197"/>
                  </a:cubicBezTo>
                  <a:cubicBezTo>
                    <a:pt x="173" y="203"/>
                    <a:pt x="177" y="212"/>
                    <a:pt x="177" y="221"/>
                  </a:cubicBezTo>
                  <a:cubicBezTo>
                    <a:pt x="177" y="230"/>
                    <a:pt x="173" y="239"/>
                    <a:pt x="167" y="246"/>
                  </a:cubicBezTo>
                  <a:close/>
                  <a:moveTo>
                    <a:pt x="200" y="136"/>
                  </a:moveTo>
                  <a:cubicBezTo>
                    <a:pt x="200" y="126"/>
                    <a:pt x="203" y="118"/>
                    <a:pt x="210" y="111"/>
                  </a:cubicBezTo>
                  <a:cubicBezTo>
                    <a:pt x="216" y="104"/>
                    <a:pt x="225" y="101"/>
                    <a:pt x="234" y="101"/>
                  </a:cubicBezTo>
                  <a:cubicBezTo>
                    <a:pt x="244" y="101"/>
                    <a:pt x="252" y="104"/>
                    <a:pt x="259" y="111"/>
                  </a:cubicBezTo>
                  <a:cubicBezTo>
                    <a:pt x="273" y="125"/>
                    <a:pt x="273" y="147"/>
                    <a:pt x="259" y="160"/>
                  </a:cubicBezTo>
                  <a:cubicBezTo>
                    <a:pt x="252" y="167"/>
                    <a:pt x="244" y="170"/>
                    <a:pt x="234" y="170"/>
                  </a:cubicBezTo>
                  <a:cubicBezTo>
                    <a:pt x="225" y="170"/>
                    <a:pt x="216" y="167"/>
                    <a:pt x="210" y="160"/>
                  </a:cubicBezTo>
                  <a:cubicBezTo>
                    <a:pt x="203" y="154"/>
                    <a:pt x="200" y="145"/>
                    <a:pt x="200" y="136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 163">
              <a:extLst>
                <a:ext uri="{FF2B5EF4-FFF2-40B4-BE49-F238E27FC236}">
                  <a16:creationId xmlns="" xmlns:a16="http://schemas.microsoft.com/office/drawing/2014/main" id="{E8DE0043-581C-4829-9E81-AA2A07349C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2" y="3187"/>
              <a:ext cx="76" cy="71"/>
            </a:xfrm>
            <a:custGeom>
              <a:avLst/>
              <a:gdLst>
                <a:gd name="T0" fmla="*/ 36 w 51"/>
                <a:gd name="T1" fmla="*/ 0 h 48"/>
                <a:gd name="T2" fmla="*/ 26 w 51"/>
                <a:gd name="T3" fmla="*/ 3 h 48"/>
                <a:gd name="T4" fmla="*/ 25 w 51"/>
                <a:gd name="T5" fmla="*/ 3 h 48"/>
                <a:gd name="T6" fmla="*/ 25 w 51"/>
                <a:gd name="T7" fmla="*/ 3 h 48"/>
                <a:gd name="T8" fmla="*/ 15 w 51"/>
                <a:gd name="T9" fmla="*/ 0 h 48"/>
                <a:gd name="T10" fmla="*/ 0 w 51"/>
                <a:gd name="T11" fmla="*/ 17 h 48"/>
                <a:gd name="T12" fmla="*/ 25 w 51"/>
                <a:gd name="T13" fmla="*/ 48 h 48"/>
                <a:gd name="T14" fmla="*/ 51 w 51"/>
                <a:gd name="T15" fmla="*/ 17 h 48"/>
                <a:gd name="T16" fmla="*/ 36 w 51"/>
                <a:gd name="T17" fmla="*/ 0 h 48"/>
                <a:gd name="T18" fmla="*/ 26 w 51"/>
                <a:gd name="T19" fmla="*/ 36 h 48"/>
                <a:gd name="T20" fmla="*/ 25 w 51"/>
                <a:gd name="T21" fmla="*/ 37 h 48"/>
                <a:gd name="T22" fmla="*/ 25 w 51"/>
                <a:gd name="T23" fmla="*/ 36 h 48"/>
                <a:gd name="T24" fmla="*/ 11 w 51"/>
                <a:gd name="T25" fmla="*/ 17 h 48"/>
                <a:gd name="T26" fmla="*/ 15 w 51"/>
                <a:gd name="T27" fmla="*/ 11 h 48"/>
                <a:gd name="T28" fmla="*/ 20 w 51"/>
                <a:gd name="T29" fmla="*/ 13 h 48"/>
                <a:gd name="T30" fmla="*/ 20 w 51"/>
                <a:gd name="T31" fmla="*/ 13 h 48"/>
                <a:gd name="T32" fmla="*/ 25 w 51"/>
                <a:gd name="T33" fmla="*/ 18 h 48"/>
                <a:gd name="T34" fmla="*/ 31 w 51"/>
                <a:gd name="T35" fmla="*/ 13 h 48"/>
                <a:gd name="T36" fmla="*/ 31 w 51"/>
                <a:gd name="T37" fmla="*/ 13 h 48"/>
                <a:gd name="T38" fmla="*/ 36 w 51"/>
                <a:gd name="T39" fmla="*/ 11 h 48"/>
                <a:gd name="T40" fmla="*/ 40 w 51"/>
                <a:gd name="T41" fmla="*/ 17 h 48"/>
                <a:gd name="T42" fmla="*/ 26 w 51"/>
                <a:gd name="T43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1" h="48">
                  <a:moveTo>
                    <a:pt x="36" y="0"/>
                  </a:moveTo>
                  <a:cubicBezTo>
                    <a:pt x="32" y="0"/>
                    <a:pt x="29" y="1"/>
                    <a:pt x="26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2" y="1"/>
                    <a:pt x="19" y="0"/>
                    <a:pt x="15" y="0"/>
                  </a:cubicBezTo>
                  <a:cubicBezTo>
                    <a:pt x="4" y="0"/>
                    <a:pt x="0" y="9"/>
                    <a:pt x="0" y="17"/>
                  </a:cubicBezTo>
                  <a:cubicBezTo>
                    <a:pt x="0" y="31"/>
                    <a:pt x="18" y="48"/>
                    <a:pt x="25" y="48"/>
                  </a:cubicBezTo>
                  <a:cubicBezTo>
                    <a:pt x="33" y="48"/>
                    <a:pt x="51" y="31"/>
                    <a:pt x="51" y="17"/>
                  </a:cubicBezTo>
                  <a:cubicBezTo>
                    <a:pt x="51" y="9"/>
                    <a:pt x="46" y="0"/>
                    <a:pt x="36" y="0"/>
                  </a:cubicBezTo>
                  <a:close/>
                  <a:moveTo>
                    <a:pt x="26" y="36"/>
                  </a:moveTo>
                  <a:cubicBezTo>
                    <a:pt x="25" y="37"/>
                    <a:pt x="25" y="37"/>
                    <a:pt x="25" y="37"/>
                  </a:cubicBezTo>
                  <a:cubicBezTo>
                    <a:pt x="25" y="36"/>
                    <a:pt x="25" y="36"/>
                    <a:pt x="25" y="36"/>
                  </a:cubicBezTo>
                  <a:cubicBezTo>
                    <a:pt x="21" y="34"/>
                    <a:pt x="11" y="24"/>
                    <a:pt x="11" y="17"/>
                  </a:cubicBezTo>
                  <a:cubicBezTo>
                    <a:pt x="11" y="17"/>
                    <a:pt x="11" y="11"/>
                    <a:pt x="15" y="11"/>
                  </a:cubicBezTo>
                  <a:cubicBezTo>
                    <a:pt x="19" y="11"/>
                    <a:pt x="20" y="12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1" y="16"/>
                    <a:pt x="23" y="18"/>
                    <a:pt x="25" y="18"/>
                  </a:cubicBezTo>
                  <a:cubicBezTo>
                    <a:pt x="28" y="18"/>
                    <a:pt x="30" y="16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2" y="11"/>
                    <a:pt x="36" y="11"/>
                  </a:cubicBezTo>
                  <a:cubicBezTo>
                    <a:pt x="40" y="11"/>
                    <a:pt x="40" y="16"/>
                    <a:pt x="40" y="17"/>
                  </a:cubicBezTo>
                  <a:cubicBezTo>
                    <a:pt x="40" y="24"/>
                    <a:pt x="30" y="34"/>
                    <a:pt x="26" y="36"/>
                  </a:cubicBez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0" name="Rettangolo 89"/>
          <p:cNvSpPr/>
          <p:nvPr/>
        </p:nvSpPr>
        <p:spPr>
          <a:xfrm>
            <a:off x="354335" y="6459055"/>
            <a:ext cx="2958957" cy="228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8230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33847" y="512273"/>
            <a:ext cx="11532865" cy="424732"/>
          </a:xfrm>
        </p:spPr>
        <p:txBody>
          <a:bodyPr/>
          <a:lstStyle/>
          <a:p>
            <a:r>
              <a:rPr lang="it-IT">
                <a:latin typeface="Arial"/>
                <a:cs typeface="Arial"/>
              </a:rPr>
              <a:t>PNRR: TRAGUARDI &amp; OBIETTIVI</a:t>
            </a:r>
            <a:endParaRPr lang="it-IT"/>
          </a:p>
        </p:txBody>
      </p:sp>
      <p:sp>
        <p:nvSpPr>
          <p:cNvPr id="4" name="Text Placeholder 2">
            <a:extLst>
              <a:ext uri="{FF2B5EF4-FFF2-40B4-BE49-F238E27FC236}">
                <a16:creationId xmlns="" xmlns:a16="http://schemas.microsoft.com/office/drawing/2014/main" id="{D60D1C5C-C0FC-4629-BFE9-5744DA4FE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3847" y="254521"/>
            <a:ext cx="8494999" cy="237757"/>
          </a:xfrm>
        </p:spPr>
        <p:txBody>
          <a:bodyPr vert="horz" wrap="square" lIns="0" tIns="45720" rIns="91440" bIns="45720" rtlCol="0" anchor="t">
            <a:spAutoFit/>
          </a:bodyPr>
          <a:lstStyle/>
          <a:p>
            <a:r>
              <a:rPr lang="it-IT">
                <a:latin typeface="Arial"/>
                <a:cs typeface="Arial"/>
              </a:rPr>
              <a:t>IL PIANO NAZIONALE DI RIPRESA E RESILIENZA: uno sguardo d’insieme</a:t>
            </a:r>
            <a:endParaRPr lang="x-none"/>
          </a:p>
        </p:txBody>
      </p:sp>
      <p:graphicFrame>
        <p:nvGraphicFramePr>
          <p:cNvPr id="5" name="Grafico 4">
            <a:extLst>
              <a:ext uri="{FF2B5EF4-FFF2-40B4-BE49-F238E27FC236}">
                <a16:creationId xmlns="" xmlns:a16="http://schemas.microsoft.com/office/drawing/2014/main" id="{F536E08D-628D-46E1-9883-94B9A190F1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2716379"/>
              </p:ext>
            </p:extLst>
          </p:nvPr>
        </p:nvGraphicFramePr>
        <p:xfrm>
          <a:off x="696736" y="2196810"/>
          <a:ext cx="10347984" cy="38336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6">
            <a:extLst>
              <a:ext uri="{FF2B5EF4-FFF2-40B4-BE49-F238E27FC236}">
                <a16:creationId xmlns="" xmlns:a16="http://schemas.microsoft.com/office/drawing/2014/main" id="{37E2F62A-3AB9-447F-A236-8A412A8DEB01}"/>
              </a:ext>
            </a:extLst>
          </p:cNvPr>
          <p:cNvSpPr txBox="1">
            <a:spLocks/>
          </p:cNvSpPr>
          <p:nvPr/>
        </p:nvSpPr>
        <p:spPr>
          <a:xfrm>
            <a:off x="874322" y="5606825"/>
            <a:ext cx="1581037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600" dirty="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228600" lvl="1" indent="-230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lang="en-US" sz="1600" dirty="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39200" lvl="2" indent="-208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lang="en-US" sz="1600" dirty="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604800" lvl="3" indent="-154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lang="en-US" sz="1600" dirty="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3600" lvl="4" indent="-147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lang="en-US" sz="1600" dirty="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it-IT" sz="1100" b="1" i="0" u="none" strike="noStrike" kern="1200" cap="none" spc="0" normalizeH="0" baseline="0" noProof="0" dirty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Tahoma" panose="020B0604030504040204" pitchFamily="34" charset="0"/>
              </a:rPr>
              <a:t>Digitalizzazione, innovazione, competitività e cultura</a:t>
            </a:r>
          </a:p>
        </p:txBody>
      </p:sp>
      <p:sp>
        <p:nvSpPr>
          <p:cNvPr id="7" name="TextBox 57">
            <a:extLst>
              <a:ext uri="{FF2B5EF4-FFF2-40B4-BE49-F238E27FC236}">
                <a16:creationId xmlns="" xmlns:a16="http://schemas.microsoft.com/office/drawing/2014/main" id="{67B9B4E3-FCBB-4E5B-B63F-27E7D2AAF973}"/>
              </a:ext>
            </a:extLst>
          </p:cNvPr>
          <p:cNvSpPr txBox="1">
            <a:spLocks/>
          </p:cNvSpPr>
          <p:nvPr/>
        </p:nvSpPr>
        <p:spPr>
          <a:xfrm>
            <a:off x="2750678" y="5606825"/>
            <a:ext cx="1178702" cy="67710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 b="1">
                <a:solidFill>
                  <a:srgbClr val="0B2466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lvl="1" indent="-230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39200" lvl="2" indent="-208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604800" lvl="3" indent="-154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3600" lvl="4" indent="-147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it-IT" sz="11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Tahoma" panose="020B0604030504040204" pitchFamily="34" charset="0"/>
              </a:rPr>
              <a:t>Rivoluzione verde e transizione ecologica</a:t>
            </a:r>
          </a:p>
        </p:txBody>
      </p:sp>
      <p:sp>
        <p:nvSpPr>
          <p:cNvPr id="8" name="TextBox 57">
            <a:extLst>
              <a:ext uri="{FF2B5EF4-FFF2-40B4-BE49-F238E27FC236}">
                <a16:creationId xmlns="" xmlns:a16="http://schemas.microsoft.com/office/drawing/2014/main" id="{F1EB9033-C77C-49E3-8753-4A53A454EF70}"/>
              </a:ext>
            </a:extLst>
          </p:cNvPr>
          <p:cNvSpPr txBox="1">
            <a:spLocks/>
          </p:cNvSpPr>
          <p:nvPr/>
        </p:nvSpPr>
        <p:spPr>
          <a:xfrm>
            <a:off x="4345571" y="5606825"/>
            <a:ext cx="1202287" cy="50783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 b="1">
                <a:solidFill>
                  <a:srgbClr val="0B2466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lvl="1" indent="-230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39200" lvl="2" indent="-208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604800" lvl="3" indent="-154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3600" lvl="4" indent="-147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it-IT" sz="11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Tahoma" panose="020B0604030504040204" pitchFamily="34" charset="0"/>
              </a:rPr>
              <a:t>Infrastrutture per una mobilità sostenibile</a:t>
            </a:r>
          </a:p>
        </p:txBody>
      </p:sp>
      <p:sp>
        <p:nvSpPr>
          <p:cNvPr id="9" name="TextBox 57">
            <a:extLst>
              <a:ext uri="{FF2B5EF4-FFF2-40B4-BE49-F238E27FC236}">
                <a16:creationId xmlns="" xmlns:a16="http://schemas.microsoft.com/office/drawing/2014/main" id="{57704727-D0B2-47FE-B12B-6F1788E57F19}"/>
              </a:ext>
            </a:extLst>
          </p:cNvPr>
          <p:cNvSpPr txBox="1">
            <a:spLocks/>
          </p:cNvSpPr>
          <p:nvPr/>
        </p:nvSpPr>
        <p:spPr>
          <a:xfrm>
            <a:off x="6142867" y="5606825"/>
            <a:ext cx="1178702" cy="33855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 b="1">
                <a:solidFill>
                  <a:srgbClr val="0B2466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lvl="1" indent="-230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39200" lvl="2" indent="-208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604800" lvl="3" indent="-154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3600" lvl="4" indent="-147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it-IT" sz="11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Tahoma" panose="020B0604030504040204" pitchFamily="34" charset="0"/>
              </a:rPr>
              <a:t>Istruzione e ricerca</a:t>
            </a:r>
          </a:p>
        </p:txBody>
      </p:sp>
      <p:sp>
        <p:nvSpPr>
          <p:cNvPr id="10" name="TextBox 57">
            <a:extLst>
              <a:ext uri="{FF2B5EF4-FFF2-40B4-BE49-F238E27FC236}">
                <a16:creationId xmlns="" xmlns:a16="http://schemas.microsoft.com/office/drawing/2014/main" id="{0A8D16C2-B7DC-4E0A-B404-768B7D571916}"/>
              </a:ext>
            </a:extLst>
          </p:cNvPr>
          <p:cNvSpPr txBox="1">
            <a:spLocks/>
          </p:cNvSpPr>
          <p:nvPr/>
        </p:nvSpPr>
        <p:spPr>
          <a:xfrm>
            <a:off x="7790657" y="5606825"/>
            <a:ext cx="1178702" cy="33855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 b="1">
                <a:solidFill>
                  <a:srgbClr val="0B2466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lvl="1" indent="-230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39200" lvl="2" indent="-208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604800" lvl="3" indent="-154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3600" lvl="4" indent="-147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it-IT" sz="11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Tahoma" panose="020B0604030504040204" pitchFamily="34" charset="0"/>
              </a:rPr>
              <a:t>Inclusione e coesione</a:t>
            </a:r>
          </a:p>
        </p:txBody>
      </p:sp>
      <p:sp>
        <p:nvSpPr>
          <p:cNvPr id="11" name="TextBox 57">
            <a:extLst>
              <a:ext uri="{FF2B5EF4-FFF2-40B4-BE49-F238E27FC236}">
                <a16:creationId xmlns="" xmlns:a16="http://schemas.microsoft.com/office/drawing/2014/main" id="{F75FFCBE-11A0-46FA-A963-CDEE61D7298D}"/>
              </a:ext>
            </a:extLst>
          </p:cNvPr>
          <p:cNvSpPr txBox="1">
            <a:spLocks/>
          </p:cNvSpPr>
          <p:nvPr/>
        </p:nvSpPr>
        <p:spPr>
          <a:xfrm>
            <a:off x="9546407" y="5606825"/>
            <a:ext cx="1178702" cy="1692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400" b="1">
                <a:solidFill>
                  <a:srgbClr val="0B2466"/>
                </a:solidFill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28600" lvl="1" indent="-230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§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439200" lvl="2" indent="-208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604800" lvl="3" indent="-154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813600" lvl="4" indent="-147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>
                <a:solidFill>
                  <a:srgbClr val="0B246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None/>
              <a:tabLst/>
              <a:defRPr/>
            </a:pPr>
            <a:r>
              <a:rPr kumimoji="0" lang="it-IT" sz="11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sym typeface="Tahoma" panose="020B0604030504040204" pitchFamily="34" charset="0"/>
              </a:rPr>
              <a:t>Salute</a:t>
            </a:r>
          </a:p>
        </p:txBody>
      </p:sp>
      <p:sp>
        <p:nvSpPr>
          <p:cNvPr id="12" name="Rectangle 376">
            <a:extLst>
              <a:ext uri="{FF2B5EF4-FFF2-40B4-BE49-F238E27FC236}">
                <a16:creationId xmlns="" xmlns:a16="http://schemas.microsoft.com/office/drawing/2014/main" id="{B827EE70-AD4B-412E-A40F-E2791251EC11}"/>
              </a:ext>
            </a:extLst>
          </p:cNvPr>
          <p:cNvSpPr/>
          <p:nvPr/>
        </p:nvSpPr>
        <p:spPr>
          <a:xfrm>
            <a:off x="1302426" y="1089568"/>
            <a:ext cx="4063784" cy="5847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TRAGUARDI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rappresenta un risultato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qualitativo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oggettivamente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verificabile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nell’ambito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dell'attuazione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degli interventi</a:t>
            </a:r>
          </a:p>
        </p:txBody>
      </p:sp>
      <p:sp>
        <p:nvSpPr>
          <p:cNvPr id="13" name="Rectangle 382">
            <a:extLst>
              <a:ext uri="{FF2B5EF4-FFF2-40B4-BE49-F238E27FC236}">
                <a16:creationId xmlns="" xmlns:a16="http://schemas.microsoft.com/office/drawing/2014/main" id="{EA447FAE-85EB-469E-8916-E0C5A7899197}"/>
              </a:ext>
            </a:extLst>
          </p:cNvPr>
          <p:cNvSpPr/>
          <p:nvPr/>
        </p:nvSpPr>
        <p:spPr>
          <a:xfrm>
            <a:off x="6871865" y="1089568"/>
            <a:ext cx="4508559" cy="5847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CDA73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OBIETTIVI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rappresenta un risultato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CDA73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quantitativo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CDA73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concreto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oggettivamente 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CDA73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verificabile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nell’ambito dell'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CDA73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attuazione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degli interventi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Box 645">
            <a:extLst>
              <a:ext uri="{FF2B5EF4-FFF2-40B4-BE49-F238E27FC236}">
                <a16:creationId xmlns="" xmlns:a16="http://schemas.microsoft.com/office/drawing/2014/main" id="{1A48E3E0-BAD3-44B7-8DAF-4BAD8CAFEB00}"/>
              </a:ext>
            </a:extLst>
          </p:cNvPr>
          <p:cNvSpPr txBox="1"/>
          <p:nvPr/>
        </p:nvSpPr>
        <p:spPr>
          <a:xfrm>
            <a:off x="338335" y="1935582"/>
            <a:ext cx="11609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Si rappresenta di seguito una</a:t>
            </a:r>
            <a:r>
              <a:rPr kumimoji="0" lang="it-IT" sz="1400" b="1" i="0" u="none" strike="noStrike" kern="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kumimoji="0" lang="it-IT" sz="1400" b="1" i="0" u="none" strike="noStrike" kern="0" cap="none" spc="-2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panoramica</a:t>
            </a:r>
            <a:r>
              <a:rPr kumimoji="0" lang="it-IT" sz="1400" b="1" i="0" u="none" strike="noStrike" kern="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kumimoji="0" lang="it-IT" sz="1400" b="0" i="0" u="none" strike="noStrike" kern="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complessiva di Traguardi &amp; Obiettivi (T&amp;O) EU previsti per ciascuna Missione del PNRR </a:t>
            </a:r>
            <a:endParaRPr kumimoji="0" lang="en-US" sz="1400" b="0" i="0" u="none" strike="noStrike" kern="0" cap="none" spc="-2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515">
            <a:extLst>
              <a:ext uri="{FF2B5EF4-FFF2-40B4-BE49-F238E27FC236}">
                <a16:creationId xmlns="" xmlns:a16="http://schemas.microsoft.com/office/drawing/2014/main" id="{D14DD79C-51D6-49F8-B0F2-C09663CFE015}"/>
              </a:ext>
            </a:extLst>
          </p:cNvPr>
          <p:cNvGrpSpPr/>
          <p:nvPr/>
        </p:nvGrpSpPr>
        <p:grpSpPr>
          <a:xfrm>
            <a:off x="5862149" y="1120251"/>
            <a:ext cx="707325" cy="666905"/>
            <a:chOff x="3468483" y="2355825"/>
            <a:chExt cx="643938" cy="642158"/>
          </a:xfrm>
          <a:solidFill>
            <a:srgbClr val="CDA73C"/>
          </a:solidFill>
        </p:grpSpPr>
        <p:sp>
          <p:nvSpPr>
            <p:cNvPr id="16" name="Freeform 5">
              <a:extLst>
                <a:ext uri="{FF2B5EF4-FFF2-40B4-BE49-F238E27FC236}">
                  <a16:creationId xmlns="" xmlns:a16="http://schemas.microsoft.com/office/drawing/2014/main" id="{65280511-FC91-4F0C-AA25-309F658E77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1991" y="2355825"/>
              <a:ext cx="350430" cy="350430"/>
            </a:xfrm>
            <a:custGeom>
              <a:avLst/>
              <a:gdLst>
                <a:gd name="T0" fmla="*/ 11 w 133"/>
                <a:gd name="T1" fmla="*/ 111 h 133"/>
                <a:gd name="T2" fmla="*/ 0 w 133"/>
                <a:gd name="T3" fmla="*/ 122 h 133"/>
                <a:gd name="T4" fmla="*/ 11 w 133"/>
                <a:gd name="T5" fmla="*/ 133 h 133"/>
                <a:gd name="T6" fmla="*/ 22 w 133"/>
                <a:gd name="T7" fmla="*/ 122 h 133"/>
                <a:gd name="T8" fmla="*/ 21 w 133"/>
                <a:gd name="T9" fmla="*/ 120 h 133"/>
                <a:gd name="T10" fmla="*/ 73 w 133"/>
                <a:gd name="T11" fmla="*/ 68 h 133"/>
                <a:gd name="T12" fmla="*/ 99 w 133"/>
                <a:gd name="T13" fmla="*/ 68 h 133"/>
                <a:gd name="T14" fmla="*/ 103 w 133"/>
                <a:gd name="T15" fmla="*/ 67 h 133"/>
                <a:gd name="T16" fmla="*/ 131 w 133"/>
                <a:gd name="T17" fmla="*/ 39 h 133"/>
                <a:gd name="T18" fmla="*/ 132 w 133"/>
                <a:gd name="T19" fmla="*/ 32 h 133"/>
                <a:gd name="T20" fmla="*/ 126 w 133"/>
                <a:gd name="T21" fmla="*/ 28 h 133"/>
                <a:gd name="T22" fmla="*/ 105 w 133"/>
                <a:gd name="T23" fmla="*/ 28 h 133"/>
                <a:gd name="T24" fmla="*/ 105 w 133"/>
                <a:gd name="T25" fmla="*/ 7 h 133"/>
                <a:gd name="T26" fmla="*/ 101 w 133"/>
                <a:gd name="T27" fmla="*/ 1 h 133"/>
                <a:gd name="T28" fmla="*/ 94 w 133"/>
                <a:gd name="T29" fmla="*/ 2 h 133"/>
                <a:gd name="T30" fmla="*/ 66 w 133"/>
                <a:gd name="T31" fmla="*/ 30 h 133"/>
                <a:gd name="T32" fmla="*/ 64 w 133"/>
                <a:gd name="T33" fmla="*/ 34 h 133"/>
                <a:gd name="T34" fmla="*/ 64 w 133"/>
                <a:gd name="T35" fmla="*/ 59 h 133"/>
                <a:gd name="T36" fmla="*/ 12 w 133"/>
                <a:gd name="T37" fmla="*/ 111 h 133"/>
                <a:gd name="T38" fmla="*/ 11 w 133"/>
                <a:gd name="T39" fmla="*/ 111 h 133"/>
                <a:gd name="T40" fmla="*/ 94 w 133"/>
                <a:gd name="T41" fmla="*/ 39 h 133"/>
                <a:gd name="T42" fmla="*/ 99 w 133"/>
                <a:gd name="T43" fmla="*/ 41 h 133"/>
                <a:gd name="T44" fmla="*/ 111 w 133"/>
                <a:gd name="T45" fmla="*/ 41 h 133"/>
                <a:gd name="T46" fmla="*/ 96 w 133"/>
                <a:gd name="T47" fmla="*/ 56 h 133"/>
                <a:gd name="T48" fmla="*/ 77 w 133"/>
                <a:gd name="T49" fmla="*/ 56 h 133"/>
                <a:gd name="T50" fmla="*/ 77 w 133"/>
                <a:gd name="T51" fmla="*/ 37 h 133"/>
                <a:gd name="T52" fmla="*/ 92 w 133"/>
                <a:gd name="T53" fmla="*/ 22 h 133"/>
                <a:gd name="T54" fmla="*/ 92 w 133"/>
                <a:gd name="T55" fmla="*/ 34 h 133"/>
                <a:gd name="T56" fmla="*/ 94 w 133"/>
                <a:gd name="T57" fmla="*/ 39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3" h="133">
                  <a:moveTo>
                    <a:pt x="11" y="111"/>
                  </a:moveTo>
                  <a:cubicBezTo>
                    <a:pt x="5" y="111"/>
                    <a:pt x="0" y="116"/>
                    <a:pt x="0" y="122"/>
                  </a:cubicBezTo>
                  <a:cubicBezTo>
                    <a:pt x="0" y="128"/>
                    <a:pt x="5" y="133"/>
                    <a:pt x="11" y="133"/>
                  </a:cubicBezTo>
                  <a:cubicBezTo>
                    <a:pt x="17" y="133"/>
                    <a:pt x="22" y="128"/>
                    <a:pt x="22" y="122"/>
                  </a:cubicBezTo>
                  <a:cubicBezTo>
                    <a:pt x="22" y="122"/>
                    <a:pt x="22" y="121"/>
                    <a:pt x="21" y="120"/>
                  </a:cubicBezTo>
                  <a:cubicBezTo>
                    <a:pt x="73" y="68"/>
                    <a:pt x="73" y="68"/>
                    <a:pt x="73" y="68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100" y="68"/>
                    <a:pt x="102" y="68"/>
                    <a:pt x="103" y="67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33" y="37"/>
                    <a:pt x="133" y="34"/>
                    <a:pt x="132" y="32"/>
                  </a:cubicBezTo>
                  <a:cubicBezTo>
                    <a:pt x="131" y="30"/>
                    <a:pt x="129" y="28"/>
                    <a:pt x="12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5" y="7"/>
                    <a:pt x="105" y="7"/>
                    <a:pt x="105" y="7"/>
                  </a:cubicBezTo>
                  <a:cubicBezTo>
                    <a:pt x="105" y="4"/>
                    <a:pt x="103" y="2"/>
                    <a:pt x="101" y="1"/>
                  </a:cubicBezTo>
                  <a:cubicBezTo>
                    <a:pt x="99" y="0"/>
                    <a:pt x="96" y="0"/>
                    <a:pt x="94" y="2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5" y="31"/>
                    <a:pt x="64" y="33"/>
                    <a:pt x="64" y="34"/>
                  </a:cubicBezTo>
                  <a:cubicBezTo>
                    <a:pt x="64" y="59"/>
                    <a:pt x="64" y="59"/>
                    <a:pt x="64" y="59"/>
                  </a:cubicBezTo>
                  <a:cubicBezTo>
                    <a:pt x="12" y="111"/>
                    <a:pt x="12" y="111"/>
                    <a:pt x="12" y="111"/>
                  </a:cubicBezTo>
                  <a:cubicBezTo>
                    <a:pt x="12" y="111"/>
                    <a:pt x="11" y="111"/>
                    <a:pt x="11" y="111"/>
                  </a:cubicBezTo>
                  <a:close/>
                  <a:moveTo>
                    <a:pt x="94" y="39"/>
                  </a:moveTo>
                  <a:cubicBezTo>
                    <a:pt x="95" y="40"/>
                    <a:pt x="97" y="41"/>
                    <a:pt x="99" y="41"/>
                  </a:cubicBezTo>
                  <a:cubicBezTo>
                    <a:pt x="111" y="41"/>
                    <a:pt x="111" y="41"/>
                    <a:pt x="111" y="41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37"/>
                    <a:pt x="77" y="37"/>
                    <a:pt x="77" y="37"/>
                  </a:cubicBezTo>
                  <a:cubicBezTo>
                    <a:pt x="92" y="22"/>
                    <a:pt x="92" y="22"/>
                    <a:pt x="92" y="22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2" y="36"/>
                    <a:pt x="93" y="38"/>
                    <a:pt x="94" y="3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7" name="Freeform 6">
              <a:extLst>
                <a:ext uri="{FF2B5EF4-FFF2-40B4-BE49-F238E27FC236}">
                  <a16:creationId xmlns="" xmlns:a16="http://schemas.microsoft.com/office/drawing/2014/main" id="{A75DB1F1-F8EA-4D18-ADF8-B571C0827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319" y="2453661"/>
              <a:ext cx="448266" cy="446487"/>
            </a:xfrm>
            <a:custGeom>
              <a:avLst/>
              <a:gdLst>
                <a:gd name="T0" fmla="*/ 123 w 170"/>
                <a:gd name="T1" fmla="*/ 16 h 170"/>
                <a:gd name="T2" fmla="*/ 120 w 170"/>
                <a:gd name="T3" fmla="*/ 8 h 170"/>
                <a:gd name="T4" fmla="*/ 119 w 170"/>
                <a:gd name="T5" fmla="*/ 8 h 170"/>
                <a:gd name="T6" fmla="*/ 85 w 170"/>
                <a:gd name="T7" fmla="*/ 0 h 170"/>
                <a:gd name="T8" fmla="*/ 0 w 170"/>
                <a:gd name="T9" fmla="*/ 85 h 170"/>
                <a:gd name="T10" fmla="*/ 85 w 170"/>
                <a:gd name="T11" fmla="*/ 170 h 170"/>
                <a:gd name="T12" fmla="*/ 170 w 170"/>
                <a:gd name="T13" fmla="*/ 85 h 170"/>
                <a:gd name="T14" fmla="*/ 162 w 170"/>
                <a:gd name="T15" fmla="*/ 50 h 170"/>
                <a:gd name="T16" fmla="*/ 158 w 170"/>
                <a:gd name="T17" fmla="*/ 47 h 170"/>
                <a:gd name="T18" fmla="*/ 154 w 170"/>
                <a:gd name="T19" fmla="*/ 47 h 170"/>
                <a:gd name="T20" fmla="*/ 150 w 170"/>
                <a:gd name="T21" fmla="*/ 51 h 170"/>
                <a:gd name="T22" fmla="*/ 151 w 170"/>
                <a:gd name="T23" fmla="*/ 55 h 170"/>
                <a:gd name="T24" fmla="*/ 157 w 170"/>
                <a:gd name="T25" fmla="*/ 85 h 170"/>
                <a:gd name="T26" fmla="*/ 85 w 170"/>
                <a:gd name="T27" fmla="*/ 158 h 170"/>
                <a:gd name="T28" fmla="*/ 12 w 170"/>
                <a:gd name="T29" fmla="*/ 85 h 170"/>
                <a:gd name="T30" fmla="*/ 85 w 170"/>
                <a:gd name="T31" fmla="*/ 13 h 170"/>
                <a:gd name="T32" fmla="*/ 114 w 170"/>
                <a:gd name="T33" fmla="*/ 19 h 170"/>
                <a:gd name="T34" fmla="*/ 123 w 170"/>
                <a:gd name="T35" fmla="*/ 1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70" h="170">
                  <a:moveTo>
                    <a:pt x="123" y="16"/>
                  </a:moveTo>
                  <a:cubicBezTo>
                    <a:pt x="124" y="13"/>
                    <a:pt x="123" y="9"/>
                    <a:pt x="120" y="8"/>
                  </a:cubicBezTo>
                  <a:cubicBezTo>
                    <a:pt x="119" y="8"/>
                    <a:pt x="119" y="8"/>
                    <a:pt x="119" y="8"/>
                  </a:cubicBezTo>
                  <a:cubicBezTo>
                    <a:pt x="108" y="3"/>
                    <a:pt x="97" y="0"/>
                    <a:pt x="85" y="0"/>
                  </a:cubicBezTo>
                  <a:cubicBezTo>
                    <a:pt x="38" y="0"/>
                    <a:pt x="0" y="38"/>
                    <a:pt x="0" y="85"/>
                  </a:cubicBezTo>
                  <a:cubicBezTo>
                    <a:pt x="0" y="132"/>
                    <a:pt x="38" y="170"/>
                    <a:pt x="85" y="170"/>
                  </a:cubicBezTo>
                  <a:cubicBezTo>
                    <a:pt x="131" y="170"/>
                    <a:pt x="170" y="132"/>
                    <a:pt x="170" y="85"/>
                  </a:cubicBezTo>
                  <a:cubicBezTo>
                    <a:pt x="170" y="73"/>
                    <a:pt x="167" y="61"/>
                    <a:pt x="162" y="50"/>
                  </a:cubicBezTo>
                  <a:cubicBezTo>
                    <a:pt x="161" y="49"/>
                    <a:pt x="160" y="48"/>
                    <a:pt x="158" y="47"/>
                  </a:cubicBezTo>
                  <a:cubicBezTo>
                    <a:pt x="157" y="46"/>
                    <a:pt x="155" y="46"/>
                    <a:pt x="154" y="47"/>
                  </a:cubicBezTo>
                  <a:cubicBezTo>
                    <a:pt x="152" y="48"/>
                    <a:pt x="151" y="49"/>
                    <a:pt x="150" y="51"/>
                  </a:cubicBezTo>
                  <a:cubicBezTo>
                    <a:pt x="150" y="52"/>
                    <a:pt x="150" y="54"/>
                    <a:pt x="151" y="55"/>
                  </a:cubicBezTo>
                  <a:cubicBezTo>
                    <a:pt x="155" y="65"/>
                    <a:pt x="157" y="75"/>
                    <a:pt x="157" y="85"/>
                  </a:cubicBezTo>
                  <a:cubicBezTo>
                    <a:pt x="157" y="125"/>
                    <a:pt x="124" y="158"/>
                    <a:pt x="85" y="158"/>
                  </a:cubicBezTo>
                  <a:cubicBezTo>
                    <a:pt x="45" y="158"/>
                    <a:pt x="12" y="125"/>
                    <a:pt x="12" y="85"/>
                  </a:cubicBezTo>
                  <a:cubicBezTo>
                    <a:pt x="12" y="45"/>
                    <a:pt x="45" y="13"/>
                    <a:pt x="85" y="13"/>
                  </a:cubicBezTo>
                  <a:cubicBezTo>
                    <a:pt x="95" y="13"/>
                    <a:pt x="105" y="15"/>
                    <a:pt x="114" y="19"/>
                  </a:cubicBezTo>
                  <a:cubicBezTo>
                    <a:pt x="118" y="21"/>
                    <a:pt x="121" y="19"/>
                    <a:pt x="123" y="16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Freeform 7">
              <a:extLst>
                <a:ext uri="{FF2B5EF4-FFF2-40B4-BE49-F238E27FC236}">
                  <a16:creationId xmlns="" xmlns:a16="http://schemas.microsoft.com/office/drawing/2014/main" id="{B69FD7CA-7FAB-455B-BB44-B8158CDE2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155" y="2551496"/>
              <a:ext cx="252594" cy="250815"/>
            </a:xfrm>
            <a:custGeom>
              <a:avLst/>
              <a:gdLst>
                <a:gd name="T0" fmla="*/ 48 w 96"/>
                <a:gd name="T1" fmla="*/ 13 h 96"/>
                <a:gd name="T2" fmla="*/ 55 w 96"/>
                <a:gd name="T3" fmla="*/ 14 h 96"/>
                <a:gd name="T4" fmla="*/ 63 w 96"/>
                <a:gd name="T5" fmla="*/ 9 h 96"/>
                <a:gd name="T6" fmla="*/ 58 w 96"/>
                <a:gd name="T7" fmla="*/ 2 h 96"/>
                <a:gd name="T8" fmla="*/ 48 w 96"/>
                <a:gd name="T9" fmla="*/ 0 h 96"/>
                <a:gd name="T10" fmla="*/ 0 w 96"/>
                <a:gd name="T11" fmla="*/ 48 h 96"/>
                <a:gd name="T12" fmla="*/ 48 w 96"/>
                <a:gd name="T13" fmla="*/ 96 h 96"/>
                <a:gd name="T14" fmla="*/ 96 w 96"/>
                <a:gd name="T15" fmla="*/ 48 h 96"/>
                <a:gd name="T16" fmla="*/ 94 w 96"/>
                <a:gd name="T17" fmla="*/ 38 h 96"/>
                <a:gd name="T18" fmla="*/ 92 w 96"/>
                <a:gd name="T19" fmla="*/ 34 h 96"/>
                <a:gd name="T20" fmla="*/ 87 w 96"/>
                <a:gd name="T21" fmla="*/ 33 h 96"/>
                <a:gd name="T22" fmla="*/ 83 w 96"/>
                <a:gd name="T23" fmla="*/ 36 h 96"/>
                <a:gd name="T24" fmla="*/ 82 w 96"/>
                <a:gd name="T25" fmla="*/ 40 h 96"/>
                <a:gd name="T26" fmla="*/ 83 w 96"/>
                <a:gd name="T27" fmla="*/ 48 h 96"/>
                <a:gd name="T28" fmla="*/ 48 w 96"/>
                <a:gd name="T29" fmla="*/ 84 h 96"/>
                <a:gd name="T30" fmla="*/ 12 w 96"/>
                <a:gd name="T31" fmla="*/ 48 h 96"/>
                <a:gd name="T32" fmla="*/ 48 w 96"/>
                <a:gd name="T33" fmla="*/ 1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96" h="96">
                  <a:moveTo>
                    <a:pt x="48" y="13"/>
                  </a:moveTo>
                  <a:cubicBezTo>
                    <a:pt x="50" y="13"/>
                    <a:pt x="53" y="13"/>
                    <a:pt x="55" y="14"/>
                  </a:cubicBezTo>
                  <a:cubicBezTo>
                    <a:pt x="59" y="15"/>
                    <a:pt x="62" y="12"/>
                    <a:pt x="63" y="9"/>
                  </a:cubicBezTo>
                  <a:cubicBezTo>
                    <a:pt x="64" y="6"/>
                    <a:pt x="62" y="2"/>
                    <a:pt x="58" y="2"/>
                  </a:cubicBezTo>
                  <a:cubicBezTo>
                    <a:pt x="55" y="1"/>
                    <a:pt x="51" y="0"/>
                    <a:pt x="48" y="0"/>
                  </a:cubicBez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6"/>
                    <a:pt x="48" y="96"/>
                  </a:cubicBezTo>
                  <a:cubicBezTo>
                    <a:pt x="74" y="96"/>
                    <a:pt x="96" y="75"/>
                    <a:pt x="96" y="48"/>
                  </a:cubicBezTo>
                  <a:cubicBezTo>
                    <a:pt x="96" y="45"/>
                    <a:pt x="95" y="41"/>
                    <a:pt x="94" y="38"/>
                  </a:cubicBezTo>
                  <a:cubicBezTo>
                    <a:pt x="94" y="36"/>
                    <a:pt x="93" y="35"/>
                    <a:pt x="92" y="34"/>
                  </a:cubicBezTo>
                  <a:cubicBezTo>
                    <a:pt x="90" y="33"/>
                    <a:pt x="88" y="32"/>
                    <a:pt x="87" y="33"/>
                  </a:cubicBezTo>
                  <a:cubicBezTo>
                    <a:pt x="85" y="33"/>
                    <a:pt x="84" y="34"/>
                    <a:pt x="83" y="36"/>
                  </a:cubicBezTo>
                  <a:cubicBezTo>
                    <a:pt x="82" y="37"/>
                    <a:pt x="82" y="39"/>
                    <a:pt x="82" y="40"/>
                  </a:cubicBezTo>
                  <a:cubicBezTo>
                    <a:pt x="83" y="43"/>
                    <a:pt x="83" y="46"/>
                    <a:pt x="83" y="48"/>
                  </a:cubicBezTo>
                  <a:cubicBezTo>
                    <a:pt x="83" y="68"/>
                    <a:pt x="67" y="84"/>
                    <a:pt x="48" y="84"/>
                  </a:cubicBezTo>
                  <a:cubicBezTo>
                    <a:pt x="28" y="84"/>
                    <a:pt x="12" y="68"/>
                    <a:pt x="12" y="48"/>
                  </a:cubicBezTo>
                  <a:cubicBezTo>
                    <a:pt x="12" y="29"/>
                    <a:pt x="28" y="13"/>
                    <a:pt x="48" y="13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9" name="Freeform 8">
              <a:extLst>
                <a:ext uri="{FF2B5EF4-FFF2-40B4-BE49-F238E27FC236}">
                  <a16:creationId xmlns="" xmlns:a16="http://schemas.microsoft.com/office/drawing/2014/main" id="{1B1ED549-4082-4F63-BB50-B081B1A56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8483" y="2355825"/>
              <a:ext cx="643938" cy="642158"/>
            </a:xfrm>
            <a:custGeom>
              <a:avLst/>
              <a:gdLst>
                <a:gd name="T0" fmla="*/ 234 w 244"/>
                <a:gd name="T1" fmla="*/ 74 h 244"/>
                <a:gd name="T2" fmla="*/ 230 w 244"/>
                <a:gd name="T3" fmla="*/ 70 h 244"/>
                <a:gd name="T4" fmla="*/ 225 w 244"/>
                <a:gd name="T5" fmla="*/ 70 h 244"/>
                <a:gd name="T6" fmla="*/ 222 w 244"/>
                <a:gd name="T7" fmla="*/ 79 h 244"/>
                <a:gd name="T8" fmla="*/ 231 w 244"/>
                <a:gd name="T9" fmla="*/ 122 h 244"/>
                <a:gd name="T10" fmla="*/ 122 w 244"/>
                <a:gd name="T11" fmla="*/ 232 h 244"/>
                <a:gd name="T12" fmla="*/ 12 w 244"/>
                <a:gd name="T13" fmla="*/ 122 h 244"/>
                <a:gd name="T14" fmla="*/ 122 w 244"/>
                <a:gd name="T15" fmla="*/ 13 h 244"/>
                <a:gd name="T16" fmla="*/ 165 w 244"/>
                <a:gd name="T17" fmla="*/ 22 h 244"/>
                <a:gd name="T18" fmla="*/ 170 w 244"/>
                <a:gd name="T19" fmla="*/ 22 h 244"/>
                <a:gd name="T20" fmla="*/ 173 w 244"/>
                <a:gd name="T21" fmla="*/ 19 h 244"/>
                <a:gd name="T22" fmla="*/ 174 w 244"/>
                <a:gd name="T23" fmla="*/ 14 h 244"/>
                <a:gd name="T24" fmla="*/ 170 w 244"/>
                <a:gd name="T25" fmla="*/ 10 h 244"/>
                <a:gd name="T26" fmla="*/ 122 w 244"/>
                <a:gd name="T27" fmla="*/ 0 h 244"/>
                <a:gd name="T28" fmla="*/ 0 w 244"/>
                <a:gd name="T29" fmla="*/ 122 h 244"/>
                <a:gd name="T30" fmla="*/ 122 w 244"/>
                <a:gd name="T31" fmla="*/ 244 h 244"/>
                <a:gd name="T32" fmla="*/ 244 w 244"/>
                <a:gd name="T33" fmla="*/ 122 h 244"/>
                <a:gd name="T34" fmla="*/ 234 w 244"/>
                <a:gd name="T35" fmla="*/ 74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44" h="244">
                  <a:moveTo>
                    <a:pt x="234" y="74"/>
                  </a:moveTo>
                  <a:cubicBezTo>
                    <a:pt x="233" y="72"/>
                    <a:pt x="232" y="71"/>
                    <a:pt x="230" y="70"/>
                  </a:cubicBezTo>
                  <a:cubicBezTo>
                    <a:pt x="229" y="70"/>
                    <a:pt x="227" y="70"/>
                    <a:pt x="225" y="70"/>
                  </a:cubicBezTo>
                  <a:cubicBezTo>
                    <a:pt x="222" y="72"/>
                    <a:pt x="221" y="76"/>
                    <a:pt x="222" y="79"/>
                  </a:cubicBezTo>
                  <a:cubicBezTo>
                    <a:pt x="228" y="93"/>
                    <a:pt x="231" y="107"/>
                    <a:pt x="231" y="122"/>
                  </a:cubicBezTo>
                  <a:cubicBezTo>
                    <a:pt x="231" y="182"/>
                    <a:pt x="182" y="232"/>
                    <a:pt x="122" y="232"/>
                  </a:cubicBezTo>
                  <a:cubicBezTo>
                    <a:pt x="61" y="232"/>
                    <a:pt x="12" y="182"/>
                    <a:pt x="12" y="122"/>
                  </a:cubicBezTo>
                  <a:cubicBezTo>
                    <a:pt x="12" y="62"/>
                    <a:pt x="61" y="13"/>
                    <a:pt x="122" y="13"/>
                  </a:cubicBezTo>
                  <a:cubicBezTo>
                    <a:pt x="137" y="13"/>
                    <a:pt x="151" y="16"/>
                    <a:pt x="165" y="22"/>
                  </a:cubicBezTo>
                  <a:cubicBezTo>
                    <a:pt x="167" y="23"/>
                    <a:pt x="168" y="23"/>
                    <a:pt x="170" y="22"/>
                  </a:cubicBezTo>
                  <a:cubicBezTo>
                    <a:pt x="172" y="21"/>
                    <a:pt x="173" y="20"/>
                    <a:pt x="173" y="19"/>
                  </a:cubicBezTo>
                  <a:cubicBezTo>
                    <a:pt x="174" y="17"/>
                    <a:pt x="174" y="15"/>
                    <a:pt x="174" y="14"/>
                  </a:cubicBezTo>
                  <a:cubicBezTo>
                    <a:pt x="173" y="12"/>
                    <a:pt x="172" y="11"/>
                    <a:pt x="170" y="10"/>
                  </a:cubicBezTo>
                  <a:cubicBezTo>
                    <a:pt x="155" y="4"/>
                    <a:pt x="138" y="0"/>
                    <a:pt x="122" y="0"/>
                  </a:cubicBezTo>
                  <a:cubicBezTo>
                    <a:pt x="54" y="0"/>
                    <a:pt x="0" y="55"/>
                    <a:pt x="0" y="122"/>
                  </a:cubicBezTo>
                  <a:cubicBezTo>
                    <a:pt x="0" y="189"/>
                    <a:pt x="54" y="244"/>
                    <a:pt x="122" y="244"/>
                  </a:cubicBezTo>
                  <a:cubicBezTo>
                    <a:pt x="189" y="244"/>
                    <a:pt x="244" y="189"/>
                    <a:pt x="244" y="122"/>
                  </a:cubicBezTo>
                  <a:cubicBezTo>
                    <a:pt x="244" y="105"/>
                    <a:pt x="240" y="89"/>
                    <a:pt x="234" y="74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49">
            <a:extLst>
              <a:ext uri="{FF2B5EF4-FFF2-40B4-BE49-F238E27FC236}">
                <a16:creationId xmlns="" xmlns:a16="http://schemas.microsoft.com/office/drawing/2014/main" id="{14208917-1531-4026-A2E6-9252FE931E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5304" y="1158505"/>
            <a:ext cx="521015" cy="594846"/>
            <a:chOff x="6566" y="437"/>
            <a:chExt cx="374" cy="427"/>
          </a:xfrm>
          <a:solidFill>
            <a:srgbClr val="476DB6"/>
          </a:solidFill>
        </p:grpSpPr>
        <p:sp>
          <p:nvSpPr>
            <p:cNvPr id="21" name="Freeform 50">
              <a:extLst>
                <a:ext uri="{FF2B5EF4-FFF2-40B4-BE49-F238E27FC236}">
                  <a16:creationId xmlns="" xmlns:a16="http://schemas.microsoft.com/office/drawing/2014/main" id="{D41A47A8-E88E-48A1-913F-2BD103E1E0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01" y="455"/>
              <a:ext cx="339" cy="231"/>
            </a:xfrm>
            <a:custGeom>
              <a:avLst/>
              <a:gdLst>
                <a:gd name="T0" fmla="*/ 222 w 229"/>
                <a:gd name="T1" fmla="*/ 156 h 156"/>
                <a:gd name="T2" fmla="*/ 6 w 229"/>
                <a:gd name="T3" fmla="*/ 156 h 156"/>
                <a:gd name="T4" fmla="*/ 0 w 229"/>
                <a:gd name="T5" fmla="*/ 150 h 156"/>
                <a:gd name="T6" fmla="*/ 0 w 229"/>
                <a:gd name="T7" fmla="*/ 6 h 156"/>
                <a:gd name="T8" fmla="*/ 6 w 229"/>
                <a:gd name="T9" fmla="*/ 0 h 156"/>
                <a:gd name="T10" fmla="*/ 222 w 229"/>
                <a:gd name="T11" fmla="*/ 0 h 156"/>
                <a:gd name="T12" fmla="*/ 228 w 229"/>
                <a:gd name="T13" fmla="*/ 4 h 156"/>
                <a:gd name="T14" fmla="*/ 226 w 229"/>
                <a:gd name="T15" fmla="*/ 11 h 156"/>
                <a:gd name="T16" fmla="*/ 142 w 229"/>
                <a:gd name="T17" fmla="*/ 78 h 156"/>
                <a:gd name="T18" fmla="*/ 226 w 229"/>
                <a:gd name="T19" fmla="*/ 145 h 156"/>
                <a:gd name="T20" fmla="*/ 228 w 229"/>
                <a:gd name="T21" fmla="*/ 152 h 156"/>
                <a:gd name="T22" fmla="*/ 222 w 229"/>
                <a:gd name="T23" fmla="*/ 156 h 156"/>
                <a:gd name="T24" fmla="*/ 12 w 229"/>
                <a:gd name="T25" fmla="*/ 144 h 156"/>
                <a:gd name="T26" fmla="*/ 205 w 229"/>
                <a:gd name="T27" fmla="*/ 144 h 156"/>
                <a:gd name="T28" fmla="*/ 129 w 229"/>
                <a:gd name="T29" fmla="*/ 83 h 156"/>
                <a:gd name="T30" fmla="*/ 126 w 229"/>
                <a:gd name="T31" fmla="*/ 78 h 156"/>
                <a:gd name="T32" fmla="*/ 129 w 229"/>
                <a:gd name="T33" fmla="*/ 73 h 156"/>
                <a:gd name="T34" fmla="*/ 205 w 229"/>
                <a:gd name="T35" fmla="*/ 12 h 156"/>
                <a:gd name="T36" fmla="*/ 12 w 229"/>
                <a:gd name="T37" fmla="*/ 12 h 156"/>
                <a:gd name="T38" fmla="*/ 12 w 229"/>
                <a:gd name="T39" fmla="*/ 14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9" h="156">
                  <a:moveTo>
                    <a:pt x="222" y="156"/>
                  </a:moveTo>
                  <a:cubicBezTo>
                    <a:pt x="6" y="156"/>
                    <a:pt x="6" y="156"/>
                    <a:pt x="6" y="156"/>
                  </a:cubicBezTo>
                  <a:cubicBezTo>
                    <a:pt x="3" y="156"/>
                    <a:pt x="0" y="153"/>
                    <a:pt x="0" y="15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222" y="0"/>
                    <a:pt x="222" y="0"/>
                    <a:pt x="222" y="0"/>
                  </a:cubicBezTo>
                  <a:cubicBezTo>
                    <a:pt x="225" y="0"/>
                    <a:pt x="227" y="2"/>
                    <a:pt x="228" y="4"/>
                  </a:cubicBezTo>
                  <a:cubicBezTo>
                    <a:pt x="229" y="6"/>
                    <a:pt x="228" y="9"/>
                    <a:pt x="226" y="11"/>
                  </a:cubicBezTo>
                  <a:cubicBezTo>
                    <a:pt x="142" y="78"/>
                    <a:pt x="142" y="78"/>
                    <a:pt x="142" y="78"/>
                  </a:cubicBezTo>
                  <a:cubicBezTo>
                    <a:pt x="226" y="145"/>
                    <a:pt x="226" y="145"/>
                    <a:pt x="226" y="145"/>
                  </a:cubicBezTo>
                  <a:cubicBezTo>
                    <a:pt x="228" y="147"/>
                    <a:pt x="229" y="150"/>
                    <a:pt x="228" y="152"/>
                  </a:cubicBezTo>
                  <a:cubicBezTo>
                    <a:pt x="227" y="154"/>
                    <a:pt x="225" y="156"/>
                    <a:pt x="222" y="156"/>
                  </a:cubicBezTo>
                  <a:close/>
                  <a:moveTo>
                    <a:pt x="12" y="144"/>
                  </a:moveTo>
                  <a:cubicBezTo>
                    <a:pt x="205" y="144"/>
                    <a:pt x="205" y="144"/>
                    <a:pt x="205" y="144"/>
                  </a:cubicBezTo>
                  <a:cubicBezTo>
                    <a:pt x="129" y="83"/>
                    <a:pt x="129" y="83"/>
                    <a:pt x="129" y="83"/>
                  </a:cubicBezTo>
                  <a:cubicBezTo>
                    <a:pt x="127" y="82"/>
                    <a:pt x="126" y="80"/>
                    <a:pt x="126" y="78"/>
                  </a:cubicBezTo>
                  <a:cubicBezTo>
                    <a:pt x="126" y="76"/>
                    <a:pt x="127" y="74"/>
                    <a:pt x="129" y="73"/>
                  </a:cubicBezTo>
                  <a:cubicBezTo>
                    <a:pt x="205" y="12"/>
                    <a:pt x="205" y="12"/>
                    <a:pt x="205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  <p:sp>
          <p:nvSpPr>
            <p:cNvPr id="22" name="Freeform 51">
              <a:extLst>
                <a:ext uri="{FF2B5EF4-FFF2-40B4-BE49-F238E27FC236}">
                  <a16:creationId xmlns="" xmlns:a16="http://schemas.microsoft.com/office/drawing/2014/main" id="{058B6D89-8274-49A1-900F-AAF5CC5C2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6" y="437"/>
              <a:ext cx="18" cy="427"/>
            </a:xfrm>
            <a:custGeom>
              <a:avLst/>
              <a:gdLst>
                <a:gd name="T0" fmla="*/ 6 w 12"/>
                <a:gd name="T1" fmla="*/ 288 h 288"/>
                <a:gd name="T2" fmla="*/ 0 w 12"/>
                <a:gd name="T3" fmla="*/ 282 h 288"/>
                <a:gd name="T4" fmla="*/ 0 w 12"/>
                <a:gd name="T5" fmla="*/ 6 h 288"/>
                <a:gd name="T6" fmla="*/ 6 w 12"/>
                <a:gd name="T7" fmla="*/ 0 h 288"/>
                <a:gd name="T8" fmla="*/ 12 w 12"/>
                <a:gd name="T9" fmla="*/ 6 h 288"/>
                <a:gd name="T10" fmla="*/ 12 w 12"/>
                <a:gd name="T11" fmla="*/ 282 h 288"/>
                <a:gd name="T12" fmla="*/ 6 w 12"/>
                <a:gd name="T13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288">
                  <a:moveTo>
                    <a:pt x="6" y="288"/>
                  </a:moveTo>
                  <a:cubicBezTo>
                    <a:pt x="3" y="288"/>
                    <a:pt x="0" y="285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282"/>
                    <a:pt x="12" y="282"/>
                    <a:pt x="12" y="282"/>
                  </a:cubicBezTo>
                  <a:cubicBezTo>
                    <a:pt x="12" y="285"/>
                    <a:pt x="10" y="288"/>
                    <a:pt x="6" y="28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endParaRPr>
            </a:p>
          </p:txBody>
        </p:sp>
      </p:grpSp>
      <p:sp>
        <p:nvSpPr>
          <p:cNvPr id="23" name="Rettangolo 22"/>
          <p:cNvSpPr/>
          <p:nvPr/>
        </p:nvSpPr>
        <p:spPr>
          <a:xfrm>
            <a:off x="354335" y="6459055"/>
            <a:ext cx="2958957" cy="228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0904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="" xmlns:a16="http://schemas.microsoft.com/office/drawing/2014/main" id="{77B89197-6559-4CAF-96DB-F289BBDCFDDD}"/>
              </a:ext>
            </a:extLst>
          </p:cNvPr>
          <p:cNvSpPr/>
          <p:nvPr/>
        </p:nvSpPr>
        <p:spPr>
          <a:xfrm>
            <a:off x="0" y="3682891"/>
            <a:ext cx="12192000" cy="19842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54CBE39-9A7A-4F4B-B6D6-DADB7D8A1A64}"/>
              </a:ext>
            </a:extLst>
          </p:cNvPr>
          <p:cNvSpPr/>
          <p:nvPr/>
        </p:nvSpPr>
        <p:spPr>
          <a:xfrm>
            <a:off x="0" y="1740571"/>
            <a:ext cx="12192000" cy="1259620"/>
          </a:xfrm>
          <a:prstGeom prst="rect">
            <a:avLst/>
          </a:prstGeom>
          <a:solidFill>
            <a:srgbClr val="476D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720140F-109D-43CE-9897-0571372D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847" y="512273"/>
            <a:ext cx="11532865" cy="424732"/>
          </a:xfrm>
        </p:spPr>
        <p:txBody>
          <a:bodyPr/>
          <a:lstStyle/>
          <a:p>
            <a:r>
              <a:rPr lang="it-IT">
                <a:solidFill>
                  <a:schemeClr val="tx1"/>
                </a:solidFill>
              </a:rPr>
              <a:t>FOCUS: NON ARRECARE UN DANNO SIGNIFICATIVO</a:t>
            </a:r>
          </a:p>
        </p:txBody>
      </p:sp>
      <p:sp>
        <p:nvSpPr>
          <p:cNvPr id="5" name="Rectangle 45">
            <a:extLst>
              <a:ext uri="{FF2B5EF4-FFF2-40B4-BE49-F238E27FC236}">
                <a16:creationId xmlns="" xmlns:a16="http://schemas.microsoft.com/office/drawing/2014/main" id="{D446A0D0-767E-4D3D-9E40-4CA4BE416CE5}"/>
              </a:ext>
            </a:extLst>
          </p:cNvPr>
          <p:cNvSpPr/>
          <p:nvPr/>
        </p:nvSpPr>
        <p:spPr>
          <a:xfrm>
            <a:off x="376698" y="957000"/>
            <a:ext cx="1153286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Tutte le misure del PNRR devono soddisfare il principio di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non arrecare danno significativo agli obiettivi ambientali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(DNSH), con riferimento al sistema di tassonomia delle attività ecosostenibili indicato all’articolo 17 del Regolamento (UE) 2020/852.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0A25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0A25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257300" marR="0" lvl="2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Nella fase di predisposizione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la conformità DNSH è illustrata per ogni singola misura tramite delle schede di auto-valutazione standardizzate. </a:t>
            </a:r>
          </a:p>
          <a:p>
            <a:pPr marL="1257300" marR="0" lvl="2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257300" marR="0" lvl="2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Nella fase attuativa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è necessario dimostrare che il DNSH è effettivamente rispettato in sede, sia di rendicontazione, sia di verifica e controllo della spesa.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0A25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0A25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 assicurare il DSNH, le Amministrazioni titolari di interventi del PNRR: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="" xmlns:a16="http://schemas.microsoft.com/office/drawing/2014/main" id="{FAE67DCA-3133-4F20-A1A6-E016F609CDD1}"/>
              </a:ext>
            </a:extLst>
          </p:cNvPr>
          <p:cNvSpPr txBox="1">
            <a:spLocks/>
          </p:cNvSpPr>
          <p:nvPr/>
        </p:nvSpPr>
        <p:spPr>
          <a:xfrm>
            <a:off x="433847" y="254521"/>
            <a:ext cx="8494999" cy="237757"/>
          </a:xfrm>
          <a:prstGeom prst="rect">
            <a:avLst/>
          </a:prstGeom>
          <a:noFill/>
        </p:spPr>
        <p:txBody>
          <a:bodyPr vert="horz" wrap="square" lIns="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lang="it-IT" sz="105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it-IT" sz="1050" b="0" i="0" u="none" strike="noStrike" kern="1200" cap="none" spc="0" normalizeH="0" baseline="0" noProof="0">
                <a:ln>
                  <a:noFill/>
                </a:ln>
                <a:solidFill>
                  <a:srgbClr val="0A2542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IL PIANO NAZIONALE DI RIPRESA E RESILIENZA: uno sguardo d’insieme</a:t>
            </a:r>
            <a:endParaRPr kumimoji="0" lang="it-IT" sz="1050" b="0" i="0" u="none" strike="noStrike" kern="1200" cap="none" spc="0" normalizeH="0" baseline="0" noProof="0">
              <a:ln>
                <a:noFill/>
              </a:ln>
              <a:solidFill>
                <a:srgbClr val="0A2542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0" name="Group 78">
            <a:extLst>
              <a:ext uri="{FF2B5EF4-FFF2-40B4-BE49-F238E27FC236}">
                <a16:creationId xmlns="" xmlns:a16="http://schemas.microsoft.com/office/drawing/2014/main" id="{649D4554-22AB-4446-BE43-971F9C0A595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2293" y="2082099"/>
            <a:ext cx="369200" cy="491500"/>
            <a:chOff x="5561" y="440"/>
            <a:chExt cx="320" cy="426"/>
          </a:xfrm>
          <a:solidFill>
            <a:schemeClr val="bg1"/>
          </a:solidFill>
        </p:grpSpPr>
        <p:sp>
          <p:nvSpPr>
            <p:cNvPr id="21" name="Freeform 79">
              <a:extLst>
                <a:ext uri="{FF2B5EF4-FFF2-40B4-BE49-F238E27FC236}">
                  <a16:creationId xmlns="" xmlns:a16="http://schemas.microsoft.com/office/drawing/2014/main" id="{10572E96-BD39-46FB-AA91-2B8CD02FCE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1" y="440"/>
              <a:ext cx="320" cy="426"/>
            </a:xfrm>
            <a:custGeom>
              <a:avLst/>
              <a:gdLst>
                <a:gd name="T0" fmla="*/ 210 w 216"/>
                <a:gd name="T1" fmla="*/ 288 h 288"/>
                <a:gd name="T2" fmla="*/ 6 w 216"/>
                <a:gd name="T3" fmla="*/ 288 h 288"/>
                <a:gd name="T4" fmla="*/ 0 w 216"/>
                <a:gd name="T5" fmla="*/ 282 h 288"/>
                <a:gd name="T6" fmla="*/ 0 w 216"/>
                <a:gd name="T7" fmla="*/ 6 h 288"/>
                <a:gd name="T8" fmla="*/ 6 w 216"/>
                <a:gd name="T9" fmla="*/ 0 h 288"/>
                <a:gd name="T10" fmla="*/ 138 w 216"/>
                <a:gd name="T11" fmla="*/ 0 h 288"/>
                <a:gd name="T12" fmla="*/ 142 w 216"/>
                <a:gd name="T13" fmla="*/ 2 h 288"/>
                <a:gd name="T14" fmla="*/ 214 w 216"/>
                <a:gd name="T15" fmla="*/ 74 h 288"/>
                <a:gd name="T16" fmla="*/ 216 w 216"/>
                <a:gd name="T17" fmla="*/ 78 h 288"/>
                <a:gd name="T18" fmla="*/ 216 w 216"/>
                <a:gd name="T19" fmla="*/ 282 h 288"/>
                <a:gd name="T20" fmla="*/ 210 w 216"/>
                <a:gd name="T21" fmla="*/ 288 h 288"/>
                <a:gd name="T22" fmla="*/ 12 w 216"/>
                <a:gd name="T23" fmla="*/ 276 h 288"/>
                <a:gd name="T24" fmla="*/ 204 w 216"/>
                <a:gd name="T25" fmla="*/ 276 h 288"/>
                <a:gd name="T26" fmla="*/ 204 w 216"/>
                <a:gd name="T27" fmla="*/ 81 h 288"/>
                <a:gd name="T28" fmla="*/ 136 w 216"/>
                <a:gd name="T29" fmla="*/ 12 h 288"/>
                <a:gd name="T30" fmla="*/ 12 w 216"/>
                <a:gd name="T31" fmla="*/ 12 h 288"/>
                <a:gd name="T32" fmla="*/ 12 w 216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288">
                  <a:moveTo>
                    <a:pt x="210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6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1" y="1"/>
                    <a:pt x="142" y="2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6" y="75"/>
                    <a:pt x="216" y="77"/>
                    <a:pt x="216" y="78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6"/>
                    <a:pt x="214" y="288"/>
                    <a:pt x="210" y="288"/>
                  </a:cubicBezTo>
                  <a:close/>
                  <a:moveTo>
                    <a:pt x="12" y="276"/>
                  </a:moveTo>
                  <a:cubicBezTo>
                    <a:pt x="204" y="276"/>
                    <a:pt x="204" y="276"/>
                    <a:pt x="204" y="276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80">
              <a:extLst>
                <a:ext uri="{FF2B5EF4-FFF2-40B4-BE49-F238E27FC236}">
                  <a16:creationId xmlns="" xmlns:a16="http://schemas.microsoft.com/office/drawing/2014/main" id="{93706586-7827-49AB-B7C8-08095712F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" y="440"/>
              <a:ext cx="124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2"/>
                    <a:pt x="82" y="84"/>
                    <a:pt x="78" y="8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1">
              <a:extLst>
                <a:ext uri="{FF2B5EF4-FFF2-40B4-BE49-F238E27FC236}">
                  <a16:creationId xmlns="" xmlns:a16="http://schemas.microsoft.com/office/drawing/2014/main" id="{215EFF2D-C50A-4BFF-A864-32DDC3FE4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82">
              <a:extLst>
                <a:ext uri="{FF2B5EF4-FFF2-40B4-BE49-F238E27FC236}">
                  <a16:creationId xmlns="" xmlns:a16="http://schemas.microsoft.com/office/drawing/2014/main" id="{0E813E3F-7950-4013-9B40-E9CCD2B76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83">
              <a:extLst>
                <a:ext uri="{FF2B5EF4-FFF2-40B4-BE49-F238E27FC236}">
                  <a16:creationId xmlns="" xmlns:a16="http://schemas.microsoft.com/office/drawing/2014/main" id="{9950DBDD-E016-4529-9154-C660CAC67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760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4">
              <a:extLst>
                <a:ext uri="{FF2B5EF4-FFF2-40B4-BE49-F238E27FC236}">
                  <a16:creationId xmlns="" xmlns:a16="http://schemas.microsoft.com/office/drawing/2014/main" id="{DFE2220A-BEBD-446B-B7AC-57DCEE28E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582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85">
              <a:extLst>
                <a:ext uri="{FF2B5EF4-FFF2-40B4-BE49-F238E27FC236}">
                  <a16:creationId xmlns="" xmlns:a16="http://schemas.microsoft.com/office/drawing/2014/main" id="{15CF5DB1-19AF-4E24-A4AE-E8F4FB09E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653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86">
              <a:extLst>
                <a:ext uri="{FF2B5EF4-FFF2-40B4-BE49-F238E27FC236}">
                  <a16:creationId xmlns="" xmlns:a16="http://schemas.microsoft.com/office/drawing/2014/main" id="{D5ABFDB9-6388-4B16-9A3F-794607E91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724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="" xmlns:a16="http://schemas.microsoft.com/office/drawing/2014/main" id="{C7218A5A-133A-4FDE-8F84-5E0B5FDAC903}"/>
              </a:ext>
            </a:extLst>
          </p:cNvPr>
          <p:cNvSpPr txBox="1"/>
          <p:nvPr/>
        </p:nvSpPr>
        <p:spPr>
          <a:xfrm>
            <a:off x="100476" y="3716038"/>
            <a:ext cx="1175367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2938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Indirizzano, a monte del processo, gli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interventi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 maniera che essi siano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conformi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inserendo gli opportuni richiami e indicazioni specifiche nell’ambito degli atti programmatici di propria competenza, tramite per esempio l’adozione di liste di esclusione e/o criteri di selezione utili negli avvisi per il finanziamento di progetti;</a:t>
            </a:r>
          </a:p>
          <a:p>
            <a:pPr marL="642938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0A25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642938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Adottano </a:t>
            </a:r>
            <a:r>
              <a:rPr kumimoji="0" lang="it-IT" sz="1400" b="1" i="0" u="none" strike="noStrike" kern="1200" cap="none" spc="0" normalizeH="0" baseline="0" noProof="0">
                <a:ln>
                  <a:noFill/>
                </a:ln>
                <a:solidFill>
                  <a:srgbClr val="476D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criteri conformi nelle gare di appalto </a:t>
            </a: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per assicurare una progettazione e realizzazione adeguata;</a:t>
            </a:r>
          </a:p>
          <a:p>
            <a:pPr marL="642938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0A254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642938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Raccolgono le informazioni necessarie per la rendicontazione di ogni singola milestone e target il rispetto; delle condizioni collegate al principio del DSNH e la documentazione necessaria per eventuali controlli.</a:t>
            </a: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ettangolo 16"/>
          <p:cNvSpPr/>
          <p:nvPr/>
        </p:nvSpPr>
        <p:spPr>
          <a:xfrm>
            <a:off x="354335" y="6459055"/>
            <a:ext cx="2958957" cy="228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6933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="" xmlns:a16="http://schemas.microsoft.com/office/drawing/2014/main" id="{77B89197-6559-4CAF-96DB-F289BBDCFDDD}"/>
              </a:ext>
            </a:extLst>
          </p:cNvPr>
          <p:cNvSpPr/>
          <p:nvPr/>
        </p:nvSpPr>
        <p:spPr>
          <a:xfrm>
            <a:off x="0" y="3682891"/>
            <a:ext cx="12192000" cy="19842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54CBE39-9A7A-4F4B-B6D6-DADB7D8A1A64}"/>
              </a:ext>
            </a:extLst>
          </p:cNvPr>
          <p:cNvSpPr/>
          <p:nvPr/>
        </p:nvSpPr>
        <p:spPr>
          <a:xfrm>
            <a:off x="0" y="1999006"/>
            <a:ext cx="12192000" cy="1586308"/>
          </a:xfrm>
          <a:prstGeom prst="rect">
            <a:avLst/>
          </a:prstGeom>
          <a:solidFill>
            <a:srgbClr val="476D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9720140F-109D-43CE-9897-0571372D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847" y="512273"/>
            <a:ext cx="11532865" cy="424732"/>
          </a:xfrm>
        </p:spPr>
        <p:txBody>
          <a:bodyPr/>
          <a:lstStyle/>
          <a:p>
            <a:r>
              <a:rPr lang="it-IT" dirty="0" smtClean="0">
                <a:solidFill>
                  <a:schemeClr val="tx1"/>
                </a:solidFill>
              </a:rPr>
              <a:t>CONCLUSIONI E CONSIDERAZIONI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5" name="Rectangle 45">
            <a:extLst>
              <a:ext uri="{FF2B5EF4-FFF2-40B4-BE49-F238E27FC236}">
                <a16:creationId xmlns="" xmlns:a16="http://schemas.microsoft.com/office/drawing/2014/main" id="{D446A0D0-767E-4D3D-9E40-4CA4BE416CE5}"/>
              </a:ext>
            </a:extLst>
          </p:cNvPr>
          <p:cNvSpPr/>
          <p:nvPr/>
        </p:nvSpPr>
        <p:spPr>
          <a:xfrm>
            <a:off x="376698" y="957000"/>
            <a:ext cx="11532865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it-IT" sz="2400" dirty="0"/>
              <a:t>Senza l’applicazione di regole tecniche si rischia di vanificare le risorse PNRR (Missione 1, digitale pubblico; ma anche altri progetti di altre Missioni che fanno ricorso al digitale). </a:t>
            </a:r>
            <a:endParaRPr lang="it-IT" sz="2400" dirty="0" smtClean="0"/>
          </a:p>
          <a:p>
            <a:pPr lvl="0" algn="just">
              <a:defRPr/>
            </a:pPr>
            <a:endParaRPr lang="it-IT" sz="1400" dirty="0"/>
          </a:p>
          <a:p>
            <a:pPr marL="900113" lvl="0" indent="-900113" algn="just">
              <a:defRPr/>
            </a:pPr>
            <a:r>
              <a:rPr lang="it-IT" sz="1400" dirty="0"/>
              <a:t>	</a:t>
            </a:r>
            <a:endParaRPr lang="it-IT" sz="1400" dirty="0" smtClean="0"/>
          </a:p>
          <a:p>
            <a:pPr marL="900113" lvl="0" indent="-900113" algn="just">
              <a:defRPr/>
            </a:pPr>
            <a:r>
              <a:rPr lang="it-IT" sz="1400" dirty="0">
                <a:solidFill>
                  <a:schemeClr val="bg1"/>
                </a:solidFill>
              </a:rPr>
              <a:t>	</a:t>
            </a:r>
            <a:r>
              <a:rPr lang="it-IT" sz="2400" dirty="0" smtClean="0">
                <a:solidFill>
                  <a:schemeClr val="bg1"/>
                </a:solidFill>
              </a:rPr>
              <a:t>Le </a:t>
            </a:r>
            <a:r>
              <a:rPr lang="it-IT" sz="2400" dirty="0">
                <a:solidFill>
                  <a:schemeClr val="bg1"/>
                </a:solidFill>
              </a:rPr>
              <a:t>regole tecniche fondamentali sono contenute nelle </a:t>
            </a:r>
            <a:r>
              <a:rPr lang="it-IT" sz="2400" b="1" dirty="0">
                <a:solidFill>
                  <a:schemeClr val="bg1"/>
                </a:solidFill>
              </a:rPr>
              <a:t>Linee guida sulla gestione e conservazione documentale</a:t>
            </a:r>
            <a:r>
              <a:rPr lang="it-IT" sz="2400" dirty="0">
                <a:solidFill>
                  <a:schemeClr val="bg1"/>
                </a:solidFill>
              </a:rPr>
              <a:t> e i principi di transito verso amministrazioni digitali sono tutti compresi nel </a:t>
            </a:r>
            <a:r>
              <a:rPr lang="it-IT" sz="2400" b="1" dirty="0">
                <a:solidFill>
                  <a:schemeClr val="bg1"/>
                </a:solidFill>
              </a:rPr>
              <a:t>Piano triennale dell’informatica 2021-2023</a:t>
            </a:r>
            <a:r>
              <a:rPr lang="it-IT" sz="2400" dirty="0">
                <a:solidFill>
                  <a:schemeClr val="bg1"/>
                </a:solidFill>
              </a:rPr>
              <a:t>.</a:t>
            </a:r>
            <a:endParaRPr lang="it-IT" sz="2400" dirty="0">
              <a:solidFill>
                <a:schemeClr val="bg1"/>
              </a:solidFill>
            </a:endParaRPr>
          </a:p>
          <a:p>
            <a:pPr lvl="0" algn="just">
              <a:defRPr/>
            </a:pPr>
            <a:endParaRPr lang="it-IT" sz="1400" dirty="0" smtClean="0"/>
          </a:p>
          <a:p>
            <a:pPr lvl="0" algn="just">
              <a:spcAft>
                <a:spcPts val="1200"/>
              </a:spcAft>
              <a:defRPr/>
            </a:pPr>
            <a:endParaRPr lang="it-IT" sz="2400" dirty="0" smtClean="0"/>
          </a:p>
          <a:p>
            <a:pPr lvl="0" algn="just">
              <a:spcAft>
                <a:spcPts val="1200"/>
              </a:spcAft>
              <a:defRPr/>
            </a:pPr>
            <a:r>
              <a:rPr lang="it-IT" sz="2400" dirty="0" smtClean="0"/>
              <a:t>L’applicazione </a:t>
            </a:r>
            <a:r>
              <a:rPr lang="it-IT" sz="2400" dirty="0"/>
              <a:t>delle regole tecniche deve comprendere anche il cambio di “contesto organizzativo” (modello organizzativo: da analogico a digitale). </a:t>
            </a:r>
            <a:endParaRPr lang="it-IT" sz="2400" dirty="0" smtClean="0"/>
          </a:p>
          <a:p>
            <a:pPr lvl="0" algn="just">
              <a:defRPr/>
            </a:pPr>
            <a:r>
              <a:rPr lang="it-IT" sz="2400" dirty="0" smtClean="0"/>
              <a:t>E</a:t>
            </a:r>
            <a:r>
              <a:rPr lang="it-IT" sz="2400" dirty="0"/>
              <a:t>’ ancora molto forte la prassi di fare ricorso ad </a:t>
            </a:r>
            <a:r>
              <a:rPr lang="it-IT" sz="2400" i="1" dirty="0"/>
              <a:t>applicativi informatici verticali </a:t>
            </a:r>
            <a:r>
              <a:rPr lang="it-IT" sz="2400" dirty="0"/>
              <a:t>fuori da un approccio sistemico. Questa cultura è l’espressione di una </a:t>
            </a:r>
            <a:r>
              <a:rPr lang="it-IT" sz="2400" i="1" dirty="0"/>
              <a:t>verniciatura di novità</a:t>
            </a:r>
            <a:r>
              <a:rPr lang="it-IT" sz="2400" dirty="0"/>
              <a:t> della vecchia cultura dell’automazione amministrativa (rapporto uno ad uno tra applicativo informatico e attività da automatizzare).</a:t>
            </a:r>
            <a:endParaRPr kumimoji="0" lang="it-IT" sz="2400" b="0" i="0" u="none" strike="noStrike" kern="1200" cap="none" spc="0" normalizeH="0" baseline="0" noProof="0" dirty="0">
              <a:ln>
                <a:noFill/>
              </a:ln>
              <a:solidFill>
                <a:srgbClr val="0A2542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="" xmlns:a16="http://schemas.microsoft.com/office/drawing/2014/main" id="{FAE67DCA-3133-4F20-A1A6-E016F609CDD1}"/>
              </a:ext>
            </a:extLst>
          </p:cNvPr>
          <p:cNvSpPr txBox="1">
            <a:spLocks/>
          </p:cNvSpPr>
          <p:nvPr/>
        </p:nvSpPr>
        <p:spPr>
          <a:xfrm>
            <a:off x="433847" y="254521"/>
            <a:ext cx="8494999" cy="237757"/>
          </a:xfrm>
          <a:prstGeom prst="rect">
            <a:avLst/>
          </a:prstGeom>
          <a:noFill/>
        </p:spPr>
        <p:txBody>
          <a:bodyPr vert="horz" wrap="square" lIns="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lang="it-IT" sz="105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it-IT" sz="1050" b="0" i="0" u="none" strike="noStrike" kern="1200" cap="none" spc="0" normalizeH="0" baseline="0" noProof="0">
                <a:ln>
                  <a:noFill/>
                </a:ln>
                <a:solidFill>
                  <a:srgbClr val="0A2542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IL PIANO NAZIONALE DI RIPRESA E RESILIENZA: uno sguardo d’insieme</a:t>
            </a:r>
            <a:endParaRPr kumimoji="0" lang="it-IT" sz="1050" b="0" i="0" u="none" strike="noStrike" kern="1200" cap="none" spc="0" normalizeH="0" baseline="0" noProof="0">
              <a:ln>
                <a:noFill/>
              </a:ln>
              <a:solidFill>
                <a:srgbClr val="0A2542">
                  <a:lumMod val="85000"/>
                  <a:lumOff val="1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0" name="Group 78">
            <a:extLst>
              <a:ext uri="{FF2B5EF4-FFF2-40B4-BE49-F238E27FC236}">
                <a16:creationId xmlns="" xmlns:a16="http://schemas.microsoft.com/office/drawing/2014/main" id="{649D4554-22AB-4446-BE43-971F9C0A595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030" y="2409766"/>
            <a:ext cx="369200" cy="491500"/>
            <a:chOff x="5561" y="440"/>
            <a:chExt cx="320" cy="426"/>
          </a:xfrm>
          <a:solidFill>
            <a:schemeClr val="bg1"/>
          </a:solidFill>
        </p:grpSpPr>
        <p:sp>
          <p:nvSpPr>
            <p:cNvPr id="21" name="Freeform 79">
              <a:extLst>
                <a:ext uri="{FF2B5EF4-FFF2-40B4-BE49-F238E27FC236}">
                  <a16:creationId xmlns="" xmlns:a16="http://schemas.microsoft.com/office/drawing/2014/main" id="{10572E96-BD39-46FB-AA91-2B8CD02FCE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1" y="440"/>
              <a:ext cx="320" cy="426"/>
            </a:xfrm>
            <a:custGeom>
              <a:avLst/>
              <a:gdLst>
                <a:gd name="T0" fmla="*/ 210 w 216"/>
                <a:gd name="T1" fmla="*/ 288 h 288"/>
                <a:gd name="T2" fmla="*/ 6 w 216"/>
                <a:gd name="T3" fmla="*/ 288 h 288"/>
                <a:gd name="T4" fmla="*/ 0 w 216"/>
                <a:gd name="T5" fmla="*/ 282 h 288"/>
                <a:gd name="T6" fmla="*/ 0 w 216"/>
                <a:gd name="T7" fmla="*/ 6 h 288"/>
                <a:gd name="T8" fmla="*/ 6 w 216"/>
                <a:gd name="T9" fmla="*/ 0 h 288"/>
                <a:gd name="T10" fmla="*/ 138 w 216"/>
                <a:gd name="T11" fmla="*/ 0 h 288"/>
                <a:gd name="T12" fmla="*/ 142 w 216"/>
                <a:gd name="T13" fmla="*/ 2 h 288"/>
                <a:gd name="T14" fmla="*/ 214 w 216"/>
                <a:gd name="T15" fmla="*/ 74 h 288"/>
                <a:gd name="T16" fmla="*/ 216 w 216"/>
                <a:gd name="T17" fmla="*/ 78 h 288"/>
                <a:gd name="T18" fmla="*/ 216 w 216"/>
                <a:gd name="T19" fmla="*/ 282 h 288"/>
                <a:gd name="T20" fmla="*/ 210 w 216"/>
                <a:gd name="T21" fmla="*/ 288 h 288"/>
                <a:gd name="T22" fmla="*/ 12 w 216"/>
                <a:gd name="T23" fmla="*/ 276 h 288"/>
                <a:gd name="T24" fmla="*/ 204 w 216"/>
                <a:gd name="T25" fmla="*/ 276 h 288"/>
                <a:gd name="T26" fmla="*/ 204 w 216"/>
                <a:gd name="T27" fmla="*/ 81 h 288"/>
                <a:gd name="T28" fmla="*/ 136 w 216"/>
                <a:gd name="T29" fmla="*/ 12 h 288"/>
                <a:gd name="T30" fmla="*/ 12 w 216"/>
                <a:gd name="T31" fmla="*/ 12 h 288"/>
                <a:gd name="T32" fmla="*/ 12 w 216"/>
                <a:gd name="T33" fmla="*/ 276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6" h="288">
                  <a:moveTo>
                    <a:pt x="210" y="288"/>
                  </a:moveTo>
                  <a:cubicBezTo>
                    <a:pt x="6" y="288"/>
                    <a:pt x="6" y="288"/>
                    <a:pt x="6" y="288"/>
                  </a:cubicBezTo>
                  <a:cubicBezTo>
                    <a:pt x="3" y="288"/>
                    <a:pt x="0" y="286"/>
                    <a:pt x="0" y="28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40" y="0"/>
                    <a:pt x="141" y="1"/>
                    <a:pt x="142" y="2"/>
                  </a:cubicBezTo>
                  <a:cubicBezTo>
                    <a:pt x="214" y="74"/>
                    <a:pt x="214" y="74"/>
                    <a:pt x="214" y="74"/>
                  </a:cubicBezTo>
                  <a:cubicBezTo>
                    <a:pt x="216" y="75"/>
                    <a:pt x="216" y="77"/>
                    <a:pt x="216" y="78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6" y="286"/>
                    <a:pt x="214" y="288"/>
                    <a:pt x="210" y="288"/>
                  </a:cubicBezTo>
                  <a:close/>
                  <a:moveTo>
                    <a:pt x="12" y="276"/>
                  </a:moveTo>
                  <a:cubicBezTo>
                    <a:pt x="204" y="276"/>
                    <a:pt x="204" y="276"/>
                    <a:pt x="204" y="276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136" y="12"/>
                    <a:pt x="136" y="12"/>
                    <a:pt x="136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276"/>
                  </a:ln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80">
              <a:extLst>
                <a:ext uri="{FF2B5EF4-FFF2-40B4-BE49-F238E27FC236}">
                  <a16:creationId xmlns="" xmlns:a16="http://schemas.microsoft.com/office/drawing/2014/main" id="{93706586-7827-49AB-B7C8-08095712F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" y="440"/>
              <a:ext cx="124" cy="125"/>
            </a:xfrm>
            <a:custGeom>
              <a:avLst/>
              <a:gdLst>
                <a:gd name="T0" fmla="*/ 78 w 84"/>
                <a:gd name="T1" fmla="*/ 84 h 84"/>
                <a:gd name="T2" fmla="*/ 6 w 84"/>
                <a:gd name="T3" fmla="*/ 84 h 84"/>
                <a:gd name="T4" fmla="*/ 0 w 84"/>
                <a:gd name="T5" fmla="*/ 78 h 84"/>
                <a:gd name="T6" fmla="*/ 0 w 84"/>
                <a:gd name="T7" fmla="*/ 6 h 84"/>
                <a:gd name="T8" fmla="*/ 6 w 84"/>
                <a:gd name="T9" fmla="*/ 0 h 84"/>
                <a:gd name="T10" fmla="*/ 12 w 84"/>
                <a:gd name="T11" fmla="*/ 6 h 84"/>
                <a:gd name="T12" fmla="*/ 12 w 84"/>
                <a:gd name="T13" fmla="*/ 72 h 84"/>
                <a:gd name="T14" fmla="*/ 78 w 84"/>
                <a:gd name="T15" fmla="*/ 72 h 84"/>
                <a:gd name="T16" fmla="*/ 84 w 84"/>
                <a:gd name="T17" fmla="*/ 78 h 84"/>
                <a:gd name="T18" fmla="*/ 78 w 84"/>
                <a:gd name="T19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" h="84">
                  <a:moveTo>
                    <a:pt x="78" y="84"/>
                  </a:moveTo>
                  <a:cubicBezTo>
                    <a:pt x="6" y="84"/>
                    <a:pt x="6" y="84"/>
                    <a:pt x="6" y="84"/>
                  </a:cubicBezTo>
                  <a:cubicBezTo>
                    <a:pt x="3" y="84"/>
                    <a:pt x="0" y="82"/>
                    <a:pt x="0" y="7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2" y="3"/>
                    <a:pt x="12" y="6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78" y="72"/>
                    <a:pt x="78" y="72"/>
                    <a:pt x="78" y="72"/>
                  </a:cubicBezTo>
                  <a:cubicBezTo>
                    <a:pt x="82" y="72"/>
                    <a:pt x="84" y="75"/>
                    <a:pt x="84" y="78"/>
                  </a:cubicBezTo>
                  <a:cubicBezTo>
                    <a:pt x="84" y="82"/>
                    <a:pt x="82" y="84"/>
                    <a:pt x="78" y="84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81">
              <a:extLst>
                <a:ext uri="{FF2B5EF4-FFF2-40B4-BE49-F238E27FC236}">
                  <a16:creationId xmlns="" xmlns:a16="http://schemas.microsoft.com/office/drawing/2014/main" id="{215EFF2D-C50A-4BFF-A864-32DDC3FE4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18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82">
              <a:extLst>
                <a:ext uri="{FF2B5EF4-FFF2-40B4-BE49-F238E27FC236}">
                  <a16:creationId xmlns="" xmlns:a16="http://schemas.microsoft.com/office/drawing/2014/main" id="{0E813E3F-7950-4013-9B40-E9CCD2B76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689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83">
              <a:extLst>
                <a:ext uri="{FF2B5EF4-FFF2-40B4-BE49-F238E27FC236}">
                  <a16:creationId xmlns="" xmlns:a16="http://schemas.microsoft.com/office/drawing/2014/main" id="{9950DBDD-E016-4529-9154-C660CAC67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" y="760"/>
              <a:ext cx="89" cy="17"/>
            </a:xfrm>
            <a:custGeom>
              <a:avLst/>
              <a:gdLst>
                <a:gd name="T0" fmla="*/ 54 w 60"/>
                <a:gd name="T1" fmla="*/ 12 h 12"/>
                <a:gd name="T2" fmla="*/ 6 w 60"/>
                <a:gd name="T3" fmla="*/ 12 h 12"/>
                <a:gd name="T4" fmla="*/ 0 w 60"/>
                <a:gd name="T5" fmla="*/ 6 h 12"/>
                <a:gd name="T6" fmla="*/ 6 w 60"/>
                <a:gd name="T7" fmla="*/ 0 h 12"/>
                <a:gd name="T8" fmla="*/ 54 w 60"/>
                <a:gd name="T9" fmla="*/ 0 h 12"/>
                <a:gd name="T10" fmla="*/ 60 w 60"/>
                <a:gd name="T11" fmla="*/ 6 h 12"/>
                <a:gd name="T12" fmla="*/ 54 w 60"/>
                <a:gd name="T13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0" h="12">
                  <a:moveTo>
                    <a:pt x="54" y="12"/>
                  </a:move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8" y="0"/>
                    <a:pt x="60" y="3"/>
                    <a:pt x="60" y="6"/>
                  </a:cubicBezTo>
                  <a:cubicBezTo>
                    <a:pt x="60" y="10"/>
                    <a:pt x="58" y="12"/>
                    <a:pt x="54" y="1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84">
              <a:extLst>
                <a:ext uri="{FF2B5EF4-FFF2-40B4-BE49-F238E27FC236}">
                  <a16:creationId xmlns="" xmlns:a16="http://schemas.microsoft.com/office/drawing/2014/main" id="{DFE2220A-BEBD-446B-B7AC-57DCEE28E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582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85">
              <a:extLst>
                <a:ext uri="{FF2B5EF4-FFF2-40B4-BE49-F238E27FC236}">
                  <a16:creationId xmlns="" xmlns:a16="http://schemas.microsoft.com/office/drawing/2014/main" id="{15CF5DB1-19AF-4E24-A4AE-E8F4FB09E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653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86">
              <a:extLst>
                <a:ext uri="{FF2B5EF4-FFF2-40B4-BE49-F238E27FC236}">
                  <a16:creationId xmlns="" xmlns:a16="http://schemas.microsoft.com/office/drawing/2014/main" id="{D5ABFDB9-6388-4B16-9A3F-794607E91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4" y="724"/>
              <a:ext cx="91" cy="62"/>
            </a:xfrm>
            <a:custGeom>
              <a:avLst/>
              <a:gdLst>
                <a:gd name="T0" fmla="*/ 24 w 61"/>
                <a:gd name="T1" fmla="*/ 42 h 42"/>
                <a:gd name="T2" fmla="*/ 20 w 61"/>
                <a:gd name="T3" fmla="*/ 41 h 42"/>
                <a:gd name="T4" fmla="*/ 2 w 61"/>
                <a:gd name="T5" fmla="*/ 23 h 42"/>
                <a:gd name="T6" fmla="*/ 2 w 61"/>
                <a:gd name="T7" fmla="*/ 14 h 42"/>
                <a:gd name="T8" fmla="*/ 10 w 61"/>
                <a:gd name="T9" fmla="*/ 14 h 42"/>
                <a:gd name="T10" fmla="*/ 24 w 61"/>
                <a:gd name="T11" fmla="*/ 28 h 42"/>
                <a:gd name="T12" fmla="*/ 50 w 61"/>
                <a:gd name="T13" fmla="*/ 2 h 42"/>
                <a:gd name="T14" fmla="*/ 58 w 61"/>
                <a:gd name="T15" fmla="*/ 2 h 42"/>
                <a:gd name="T16" fmla="*/ 58 w 61"/>
                <a:gd name="T17" fmla="*/ 11 h 42"/>
                <a:gd name="T18" fmla="*/ 28 w 61"/>
                <a:gd name="T19" fmla="*/ 41 h 42"/>
                <a:gd name="T20" fmla="*/ 24 w 61"/>
                <a:gd name="T21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1" h="42">
                  <a:moveTo>
                    <a:pt x="24" y="42"/>
                  </a:moveTo>
                  <a:cubicBezTo>
                    <a:pt x="23" y="42"/>
                    <a:pt x="21" y="42"/>
                    <a:pt x="20" y="41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0" y="20"/>
                    <a:pt x="0" y="17"/>
                    <a:pt x="2" y="14"/>
                  </a:cubicBezTo>
                  <a:cubicBezTo>
                    <a:pt x="4" y="12"/>
                    <a:pt x="8" y="12"/>
                    <a:pt x="10" y="14"/>
                  </a:cubicBezTo>
                  <a:cubicBezTo>
                    <a:pt x="24" y="28"/>
                    <a:pt x="24" y="28"/>
                    <a:pt x="24" y="28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2" y="0"/>
                    <a:pt x="56" y="0"/>
                    <a:pt x="58" y="2"/>
                  </a:cubicBezTo>
                  <a:cubicBezTo>
                    <a:pt x="61" y="5"/>
                    <a:pt x="61" y="8"/>
                    <a:pt x="58" y="1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7" y="42"/>
                    <a:pt x="26" y="42"/>
                    <a:pt x="24" y="4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19" tIns="45709" rIns="91419" bIns="457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7" name="Rettangolo 16"/>
          <p:cNvSpPr/>
          <p:nvPr/>
        </p:nvSpPr>
        <p:spPr>
          <a:xfrm>
            <a:off x="354335" y="6459055"/>
            <a:ext cx="2958957" cy="228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0624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="" xmlns:a16="http://schemas.microsoft.com/office/drawing/2014/main" id="{B708A73F-75C5-4EEB-BD18-039C6B6CA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017" y="3362249"/>
            <a:ext cx="12192000" cy="2670955"/>
          </a:xfrm>
          <a:prstGeom prst="rect">
            <a:avLst/>
          </a:prstGeom>
        </p:spPr>
      </p:pic>
      <p:sp>
        <p:nvSpPr>
          <p:cNvPr id="21" name="Segnaposto testo 4">
            <a:extLst>
              <a:ext uri="{FF2B5EF4-FFF2-40B4-BE49-F238E27FC236}">
                <a16:creationId xmlns="" xmlns:a16="http://schemas.microsoft.com/office/drawing/2014/main" id="{B94115FF-5B29-4884-894D-F3A01269D6DD}"/>
              </a:ext>
            </a:extLst>
          </p:cNvPr>
          <p:cNvSpPr txBox="1">
            <a:spLocks/>
          </p:cNvSpPr>
          <p:nvPr/>
        </p:nvSpPr>
        <p:spPr>
          <a:xfrm>
            <a:off x="433847" y="254521"/>
            <a:ext cx="8494999" cy="237757"/>
          </a:xfrm>
          <a:prstGeom prst="rect">
            <a:avLst/>
          </a:prstGeom>
          <a:noFill/>
        </p:spPr>
        <p:txBody>
          <a:bodyPr vert="horz" wrap="square" lIns="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lang="it-IT" sz="105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it-IT" sz="1050" b="0" i="0" u="none" strike="noStrike" kern="1200" cap="none" spc="0" normalizeH="0" baseline="0" noProof="0">
                <a:ln>
                  <a:noFill/>
                </a:ln>
                <a:solidFill>
                  <a:srgbClr val="0A2542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ENTI LOCALI: INFORMAZIONI</a:t>
            </a:r>
          </a:p>
        </p:txBody>
      </p:sp>
      <p:sp>
        <p:nvSpPr>
          <p:cNvPr id="155" name="Title 3">
            <a:extLst>
              <a:ext uri="{FF2B5EF4-FFF2-40B4-BE49-F238E27FC236}">
                <a16:creationId xmlns="" xmlns:a16="http://schemas.microsoft.com/office/drawing/2014/main" id="{6B961DAD-CE95-4C00-B462-332034E0C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DOVE TROVARE INFORMAZIONI</a:t>
            </a:r>
            <a:endParaRPr lang="it-IT">
              <a:solidFill>
                <a:schemeClr val="tx1"/>
              </a:solidFill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="" xmlns:a16="http://schemas.microsoft.com/office/drawing/2014/main" id="{2D4D1883-5A38-4CE5-B47D-26F3EB5BA867}"/>
              </a:ext>
            </a:extLst>
          </p:cNvPr>
          <p:cNvSpPr/>
          <p:nvPr/>
        </p:nvSpPr>
        <p:spPr>
          <a:xfrm>
            <a:off x="433847" y="957000"/>
            <a:ext cx="1135420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Sul sito </a:t>
            </a:r>
            <a:r>
              <a:rPr kumimoji="0" lang="it-IT" sz="1600" b="1" i="1" u="none" strike="noStrike" kern="1200" cap="none" spc="0" normalizeH="0" baseline="0" noProof="0">
                <a:ln>
                  <a:noFill/>
                </a:ln>
                <a:solidFill>
                  <a:srgbClr val="476CB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www.italiadomani.gov.it 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DCDEDD">
                    <a:lumMod val="1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sono presenti tutte le informazioni in merito alla pubblicazione di: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="" xmlns:a16="http://schemas.microsoft.com/office/drawing/2014/main" id="{B2B19F05-D493-4E7B-8B2F-C6FBC1875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654" y="4018092"/>
            <a:ext cx="3156346" cy="6155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D9F6A9C0-FDA0-4A3A-9293-7CDEB8676E16}"/>
              </a:ext>
            </a:extLst>
          </p:cNvPr>
          <p:cNvSpPr txBox="1"/>
          <p:nvPr/>
        </p:nvSpPr>
        <p:spPr>
          <a:xfrm>
            <a:off x="2941503" y="1608897"/>
            <a:ext cx="7447403" cy="350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5485E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Bandi e Avvisi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5485E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4E994DF-2FF8-41D5-8074-359186C43979}"/>
              </a:ext>
            </a:extLst>
          </p:cNvPr>
          <p:cNvSpPr txBox="1"/>
          <p:nvPr/>
        </p:nvSpPr>
        <p:spPr>
          <a:xfrm>
            <a:off x="2941503" y="2163534"/>
            <a:ext cx="7634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Documenti</a:t>
            </a: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(Leggi, Linee guida, Decreti, Milestone &amp; Target, Regolamenti, DNSH)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97D2BC87-C4B3-4512-90EF-D3918F4E4A12}"/>
              </a:ext>
            </a:extLst>
          </p:cNvPr>
          <p:cNvSpPr txBox="1"/>
          <p:nvPr/>
        </p:nvSpPr>
        <p:spPr>
          <a:xfrm>
            <a:off x="2915541" y="2771992"/>
            <a:ext cx="76346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FAQ</a:t>
            </a:r>
            <a:r>
              <a:rPr kumimoji="0" lang="it-IT" sz="1600" b="0" i="0" u="none" strike="noStrike" kern="1200" cap="none" spc="0" normalizeH="0" baseline="0" noProof="0">
                <a:ln>
                  <a:noFill/>
                </a:ln>
                <a:solidFill>
                  <a:srgbClr val="0A254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informazioni generali su PNRR Italia</a:t>
            </a:r>
          </a:p>
        </p:txBody>
      </p:sp>
      <p:pic>
        <p:nvPicPr>
          <p:cNvPr id="5" name="Graphic 4" descr="Folder outline">
            <a:extLst>
              <a:ext uri="{FF2B5EF4-FFF2-40B4-BE49-F238E27FC236}">
                <a16:creationId xmlns="" xmlns:a16="http://schemas.microsoft.com/office/drawing/2014/main" id="{7A339A80-E6DC-499B-BD52-24B0AE75D1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47094" y="1602993"/>
            <a:ext cx="350362" cy="350362"/>
          </a:xfrm>
          <a:prstGeom prst="rect">
            <a:avLst/>
          </a:prstGeom>
        </p:spPr>
      </p:pic>
      <p:pic>
        <p:nvPicPr>
          <p:cNvPr id="11" name="Graphic 10" descr="Open folder outline">
            <a:extLst>
              <a:ext uri="{FF2B5EF4-FFF2-40B4-BE49-F238E27FC236}">
                <a16:creationId xmlns="" xmlns:a16="http://schemas.microsoft.com/office/drawing/2014/main" id="{FB134BD1-8CDB-4D7F-9AFA-9F9D04A145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47094" y="2173870"/>
            <a:ext cx="350362" cy="350362"/>
          </a:xfrm>
          <a:prstGeom prst="rect">
            <a:avLst/>
          </a:prstGeom>
        </p:spPr>
      </p:pic>
      <p:pic>
        <p:nvPicPr>
          <p:cNvPr id="13" name="Graphic 12" descr="Paperclip outline">
            <a:extLst>
              <a:ext uri="{FF2B5EF4-FFF2-40B4-BE49-F238E27FC236}">
                <a16:creationId xmlns="" xmlns:a16="http://schemas.microsoft.com/office/drawing/2014/main" id="{DC524ED7-E0F0-461A-83EF-1716E0A476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49233" y="2768227"/>
            <a:ext cx="346084" cy="346084"/>
          </a:xfrm>
          <a:prstGeom prst="rect">
            <a:avLst/>
          </a:prstGeom>
        </p:spPr>
      </p:pic>
      <p:pic>
        <p:nvPicPr>
          <p:cNvPr id="15" name="Graphic 14" descr="Right pointing backhand index outline">
            <a:extLst>
              <a:ext uri="{FF2B5EF4-FFF2-40B4-BE49-F238E27FC236}">
                <a16:creationId xmlns="" xmlns:a16="http://schemas.microsoft.com/office/drawing/2014/main" id="{87C5345C-1CAC-4DD6-BF9D-5BD7EF7C9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4714271">
            <a:off x="4090076" y="2440340"/>
            <a:ext cx="291356" cy="291356"/>
          </a:xfrm>
          <a:prstGeom prst="rect">
            <a:avLst/>
          </a:prstGeom>
        </p:spPr>
      </p:pic>
      <p:pic>
        <p:nvPicPr>
          <p:cNvPr id="19" name="Graphic 18" descr="Right pointing backhand index outline">
            <a:extLst>
              <a:ext uri="{FF2B5EF4-FFF2-40B4-BE49-F238E27FC236}">
                <a16:creationId xmlns="" xmlns:a16="http://schemas.microsoft.com/office/drawing/2014/main" id="{1A9B97D5-592C-4A49-8639-2DEC95B85D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4714271">
            <a:off x="4476680" y="1788805"/>
            <a:ext cx="291356" cy="291356"/>
          </a:xfrm>
          <a:prstGeom prst="rect">
            <a:avLst/>
          </a:prstGeom>
        </p:spPr>
      </p:pic>
      <p:pic>
        <p:nvPicPr>
          <p:cNvPr id="20" name="Graphic 19" descr="Open folder outline">
            <a:extLst>
              <a:ext uri="{FF2B5EF4-FFF2-40B4-BE49-F238E27FC236}">
                <a16:creationId xmlns="" xmlns:a16="http://schemas.microsoft.com/office/drawing/2014/main" id="{65C89CB8-C61F-4F3A-BA92-CCA4633624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47094" y="2157630"/>
            <a:ext cx="350362" cy="350362"/>
          </a:xfrm>
          <a:prstGeom prst="rect">
            <a:avLst/>
          </a:prstGeom>
        </p:spPr>
      </p:pic>
      <p:sp>
        <p:nvSpPr>
          <p:cNvPr id="16" name="Rettangolo 15"/>
          <p:cNvSpPr/>
          <p:nvPr/>
        </p:nvSpPr>
        <p:spPr>
          <a:xfrm>
            <a:off x="354335" y="6459055"/>
            <a:ext cx="2958957" cy="2283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0934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9_f.d6YGbJCbK0.Pg2_A"/>
</p:tagLst>
</file>

<file path=ppt/theme/theme1.xml><?xml version="1.0" encoding="utf-8"?>
<a:theme xmlns:a="http://schemas.openxmlformats.org/drawingml/2006/main" name="1_Tema di Office">
  <a:themeElements>
    <a:clrScheme name="Personalizzati 2">
      <a:dk1>
        <a:srgbClr val="0A2542"/>
      </a:dk1>
      <a:lt1>
        <a:srgbClr val="FFFFFF"/>
      </a:lt1>
      <a:dk2>
        <a:srgbClr val="C3932B"/>
      </a:dk2>
      <a:lt2>
        <a:srgbClr val="476CB6"/>
      </a:lt2>
      <a:accent1>
        <a:srgbClr val="F8C94D"/>
      </a:accent1>
      <a:accent2>
        <a:srgbClr val="476CB6"/>
      </a:accent2>
      <a:accent3>
        <a:srgbClr val="273D66"/>
      </a:accent3>
      <a:accent4>
        <a:srgbClr val="DCDEDD"/>
      </a:accent4>
      <a:accent5>
        <a:srgbClr val="5485E2"/>
      </a:accent5>
      <a:accent6>
        <a:srgbClr val="8D6A23"/>
      </a:accent6>
      <a:hlink>
        <a:srgbClr val="DCE1E7"/>
      </a:hlink>
      <a:folHlink>
        <a:srgbClr val="09264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ema di Office">
  <a:themeElements>
    <a:clrScheme name="Personalizzati 2">
      <a:dk1>
        <a:srgbClr val="0A2542"/>
      </a:dk1>
      <a:lt1>
        <a:srgbClr val="FFFFFF"/>
      </a:lt1>
      <a:dk2>
        <a:srgbClr val="C3932B"/>
      </a:dk2>
      <a:lt2>
        <a:srgbClr val="476CB6"/>
      </a:lt2>
      <a:accent1>
        <a:srgbClr val="F8C94D"/>
      </a:accent1>
      <a:accent2>
        <a:srgbClr val="476CB6"/>
      </a:accent2>
      <a:accent3>
        <a:srgbClr val="273D66"/>
      </a:accent3>
      <a:accent4>
        <a:srgbClr val="DCDEDD"/>
      </a:accent4>
      <a:accent5>
        <a:srgbClr val="5485E2"/>
      </a:accent5>
      <a:accent6>
        <a:srgbClr val="8D6A23"/>
      </a:accent6>
      <a:hlink>
        <a:srgbClr val="DCE1E7"/>
      </a:hlink>
      <a:folHlink>
        <a:srgbClr val="09264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Tema di Office">
  <a:themeElements>
    <a:clrScheme name="Personalizzati 2">
      <a:dk1>
        <a:srgbClr val="0A2542"/>
      </a:dk1>
      <a:lt1>
        <a:srgbClr val="FFFFFF"/>
      </a:lt1>
      <a:dk2>
        <a:srgbClr val="C3932B"/>
      </a:dk2>
      <a:lt2>
        <a:srgbClr val="476CB6"/>
      </a:lt2>
      <a:accent1>
        <a:srgbClr val="F8C94D"/>
      </a:accent1>
      <a:accent2>
        <a:srgbClr val="476CB6"/>
      </a:accent2>
      <a:accent3>
        <a:srgbClr val="273D66"/>
      </a:accent3>
      <a:accent4>
        <a:srgbClr val="DCDEDD"/>
      </a:accent4>
      <a:accent5>
        <a:srgbClr val="5485E2"/>
      </a:accent5>
      <a:accent6>
        <a:srgbClr val="8D6A23"/>
      </a:accent6>
      <a:hlink>
        <a:srgbClr val="DCE1E7"/>
      </a:hlink>
      <a:folHlink>
        <a:srgbClr val="09264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Tema di Office">
  <a:themeElements>
    <a:clrScheme name="Personalizzati 2">
      <a:dk1>
        <a:srgbClr val="0A2542"/>
      </a:dk1>
      <a:lt1>
        <a:srgbClr val="FFFFFF"/>
      </a:lt1>
      <a:dk2>
        <a:srgbClr val="C3932B"/>
      </a:dk2>
      <a:lt2>
        <a:srgbClr val="476CB6"/>
      </a:lt2>
      <a:accent1>
        <a:srgbClr val="F8C94D"/>
      </a:accent1>
      <a:accent2>
        <a:srgbClr val="476CB6"/>
      </a:accent2>
      <a:accent3>
        <a:srgbClr val="273D66"/>
      </a:accent3>
      <a:accent4>
        <a:srgbClr val="DCDEDD"/>
      </a:accent4>
      <a:accent5>
        <a:srgbClr val="5485E2"/>
      </a:accent5>
      <a:accent6>
        <a:srgbClr val="8D6A23"/>
      </a:accent6>
      <a:hlink>
        <a:srgbClr val="DCE1E7"/>
      </a:hlink>
      <a:folHlink>
        <a:srgbClr val="09264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7FA69C250BE842A685C73BB47D6EE1" ma:contentTypeVersion="6" ma:contentTypeDescription="Create a new document." ma:contentTypeScope="" ma:versionID="f0c0c111f1cf2d5867a5f47aa5b204a4">
  <xsd:schema xmlns:xsd="http://www.w3.org/2001/XMLSchema" xmlns:xs="http://www.w3.org/2001/XMLSchema" xmlns:p="http://schemas.microsoft.com/office/2006/metadata/properties" xmlns:ns2="0076d322-ad0d-44eb-a7bf-8b897416eb57" targetNamespace="http://schemas.microsoft.com/office/2006/metadata/properties" ma:root="true" ma:fieldsID="ec5f730daaca7bbf9ce3682b90a0bbce" ns2:_="">
    <xsd:import namespace="0076d322-ad0d-44eb-a7bf-8b897416eb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76d322-ad0d-44eb-a7bf-8b897416eb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9FEF6B-EB71-48D3-BE40-D0D1CA1F40F7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0076d322-ad0d-44eb-a7bf-8b897416eb57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CC2C57F-7D29-4A07-A354-B4D95E2FF5B8}">
  <ds:schemaRefs>
    <ds:schemaRef ds:uri="0076d322-ad0d-44eb-a7bf-8b897416eb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8E16451-9444-4D74-A9A0-5590F8635A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1688</Words>
  <Application>Microsoft Office PowerPoint</Application>
  <PresentationFormat>Personalizzato</PresentationFormat>
  <Paragraphs>221</Paragraphs>
  <Slides>13</Slides>
  <Notes>6</Notes>
  <HiddenSlides>0</HiddenSlides>
  <MMClips>0</MMClips>
  <ScaleCrop>false</ScaleCrop>
  <HeadingPairs>
    <vt:vector size="6" baseType="variant">
      <vt:variant>
        <vt:lpstr>Tema</vt:lpstr>
      </vt:variant>
      <vt:variant>
        <vt:i4>4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8" baseType="lpstr">
      <vt:lpstr>1_Tema di Office</vt:lpstr>
      <vt:lpstr>2_Tema di Office</vt:lpstr>
      <vt:lpstr>3_Tema di Office</vt:lpstr>
      <vt:lpstr>4_Tema di Office</vt:lpstr>
      <vt:lpstr>think-cell Slide</vt:lpstr>
      <vt:lpstr>IL PNRR: LE RISORSE E LE SFIDE     </vt:lpstr>
      <vt:lpstr>RISORSE DESTINATE ALL’ITALIA</vt:lpstr>
      <vt:lpstr>PNRR: IL QUADRO FINANZIARIO</vt:lpstr>
      <vt:lpstr>PNRR: 6 MISSIONI PER 6 PRIORITÀ</vt:lpstr>
      <vt:lpstr>PNRR: I PRINCIPI TRASVERSALI</vt:lpstr>
      <vt:lpstr>PNRR: PANORAMICA</vt:lpstr>
      <vt:lpstr>TIPOLOGIE DI RIFORME PREVISTE</vt:lpstr>
      <vt:lpstr>PNRR: ALCUNE RIFORME DI INTERESSE PER GLI ENTI LOCALI</vt:lpstr>
      <vt:lpstr>SPECIFICITÀ DEL DISPOSITIVO EUROPEO DI RIPRESA E RESILIENZA</vt:lpstr>
      <vt:lpstr>PNRR: TRAGUARDI &amp; OBIETTIVI</vt:lpstr>
      <vt:lpstr>FOCUS: NON ARRECARE UN DANNO SIGNIFICATIVO</vt:lpstr>
      <vt:lpstr>CONCLUSIONI E CONSIDERAZIONI</vt:lpstr>
      <vt:lpstr>DOVE TROVARE INFORMAZIONI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Sera, Marco</dc:creator>
  <cp:lastModifiedBy>Enzo Chilelli</cp:lastModifiedBy>
  <cp:revision>37</cp:revision>
  <cp:lastPrinted>2021-11-19T08:34:36Z</cp:lastPrinted>
  <dcterms:created xsi:type="dcterms:W3CDTF">2021-11-16T17:23:34Z</dcterms:created>
  <dcterms:modified xsi:type="dcterms:W3CDTF">2022-11-28T10:42:09Z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0x010100247FA69C250BE842A685C73BB47D6EE1</vt:lpwstr>
  </property>
</Properties>
</file>