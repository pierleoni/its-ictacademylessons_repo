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8" r:id="rId5"/>
    <p:sldId id="261" r:id="rId6"/>
    <p:sldId id="267" r:id="rId7"/>
  </p:sldIdLst>
  <p:sldSz cx="1080135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116" y="-96"/>
      </p:cViewPr>
      <p:guideLst>
        <p:guide orient="horz" pos="2160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08013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2"/>
            <a:ext cx="204213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2396" y="1122363"/>
            <a:ext cx="7788786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2396" y="3602038"/>
            <a:ext cx="7788786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70232" y="5410203"/>
            <a:ext cx="2430304" cy="365125"/>
          </a:xfrm>
        </p:spPr>
        <p:txBody>
          <a:bodyPr/>
          <a:lstStyle/>
          <a:p>
            <a:fld id="{F70D8EC6-05AF-42E8-967A-AAD7AD80F81C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62395" y="5410203"/>
            <a:ext cx="4540329" cy="365125"/>
          </a:xfrm>
        </p:spPr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8046" y="5410201"/>
            <a:ext cx="683137" cy="365125"/>
          </a:xfrm>
        </p:spPr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20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CE15-04C7-4618-95DB-ED79C8E3A217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739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18" y="1419228"/>
            <a:ext cx="8776097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18" y="4424362"/>
            <a:ext cx="8776097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66418-C66F-482C-A2AE-8C47E252DB0C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54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1219" y="2249486"/>
            <a:ext cx="4321948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8185" y="2249486"/>
            <a:ext cx="4319132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4234-F74D-49AA-A11A-76052BA5687A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67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18" y="619128"/>
            <a:ext cx="8776097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753" y="2249486"/>
            <a:ext cx="4119417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1219" y="3073399"/>
            <a:ext cx="4321949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70716" y="2249485"/>
            <a:ext cx="4116600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8183" y="3073399"/>
            <a:ext cx="4319132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7E194-C971-4739-81F1-E8777D881483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26A4-72B2-441B-A754-36D12F008D9C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4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4A30-5C7A-4441-B5D7-70720E734D76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61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09" y="609601"/>
            <a:ext cx="341620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072" y="592666"/>
            <a:ext cx="5219243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5909" y="2249486"/>
            <a:ext cx="341620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FD286-1E23-4496-AB18-A7DF5C8CE213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01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22" y="609600"/>
            <a:ext cx="5257603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38858" y="609603"/>
            <a:ext cx="3248459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219" y="2249486"/>
            <a:ext cx="5257606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EBD2-745A-4FFD-9F97-D0274C7E853B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40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18" y="4304666"/>
            <a:ext cx="8781727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1218" y="606426"/>
            <a:ext cx="8781727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179" y="5124020"/>
            <a:ext cx="8780401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57D-6A4F-431D-96FE-2A6C51CDA8F8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168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60" y="609600"/>
            <a:ext cx="8776057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219" y="4419601"/>
            <a:ext cx="8774731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3762-40E7-4456-B57E-599A6885D454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643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1253" y="609601"/>
            <a:ext cx="8241657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24384" y="3365557"/>
            <a:ext cx="7753990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219" y="4309919"/>
            <a:ext cx="8776099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88880-91AB-48E8-BE9C-4F0F7BBF2859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00455" y="732394"/>
            <a:ext cx="54006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defTabSz="457200"/>
            <a:r>
              <a:rPr lang="en-US" sz="8000" dirty="0">
                <a:solidFill>
                  <a:prstClr val="white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35452" y="2764972"/>
            <a:ext cx="54006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defTabSz="457200"/>
            <a:r>
              <a:rPr lang="en-US" sz="8000" dirty="0">
                <a:solidFill>
                  <a:prstClr val="white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50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19" y="2134043"/>
            <a:ext cx="8776098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178" y="4657655"/>
            <a:ext cx="8774773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4CDF5-9C9C-44D9-8D59-F569663E130C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765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11221" y="609600"/>
            <a:ext cx="8776096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11219" y="2674463"/>
            <a:ext cx="2832252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99266" y="3360263"/>
            <a:ext cx="284273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99802" y="2677635"/>
            <a:ext cx="282116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90452" y="3363435"/>
            <a:ext cx="283130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56773" y="2674463"/>
            <a:ext cx="2830542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956773" y="3360263"/>
            <a:ext cx="283054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B067-3B22-42E3-B521-8212467F7A55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421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11220" y="609600"/>
            <a:ext cx="8776096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11221" y="4404596"/>
            <a:ext cx="2830783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1221" y="2666998"/>
            <a:ext cx="2830783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11221" y="4980860"/>
            <a:ext cx="2830783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7021" y="4404596"/>
            <a:ext cx="2835354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77021" y="2666998"/>
            <a:ext cx="2834061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75727" y="4980857"/>
            <a:ext cx="2835354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56885" y="4404595"/>
            <a:ext cx="2826797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956774" y="2666998"/>
            <a:ext cx="2830543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956773" y="4980856"/>
            <a:ext cx="2830542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EA9A-AE73-4C86-9BB9-19EF17F31910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147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35E3A-8505-46E3-8727-03942588E388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869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11003" y="609601"/>
            <a:ext cx="1776314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1218" y="609601"/>
            <a:ext cx="6864767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79863-396D-43E8-A741-75AB7B866696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80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08013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2658" y="2"/>
            <a:ext cx="10678991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1221" y="618518"/>
            <a:ext cx="8776096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21" y="2249487"/>
            <a:ext cx="8776096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6366" y="5883278"/>
            <a:ext cx="24303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CD3B760-DED4-4157-BBB8-83F0E672D44A}" type="datetime1">
              <a:rPr lang="it-IT" smtClean="0">
                <a:solidFill>
                  <a:prstClr val="white">
                    <a:tint val="75000"/>
                  </a:prstClr>
                </a:solidFill>
              </a:rPr>
              <a:pPr defTabSz="457200"/>
              <a:t>15/02/2024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1220" y="5883277"/>
            <a:ext cx="5527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4179" y="5883276"/>
            <a:ext cx="683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3A03E66D-A13A-4C27-A19D-D7B0DBB2617F}" type="slidenum">
              <a:rPr lang="it-IT" smtClean="0">
                <a:solidFill>
                  <a:prstClr val="white">
                    <a:tint val="75000"/>
                  </a:prstClr>
                </a:solidFill>
              </a:rPr>
              <a:pPr defTabSz="457200"/>
              <a:t>‹N›</a:t>
            </a:fld>
            <a:endParaRPr lang="it-IT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7159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34504" y="617037"/>
            <a:ext cx="10566846" cy="23876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Fondazione ITS 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1300" b="1" dirty="0" smtClean="0"/>
              <a:t/>
            </a:r>
            <a:br>
              <a:rPr lang="en-US" sz="1300" b="1" dirty="0" smtClean="0"/>
            </a:br>
            <a:r>
              <a:rPr lang="en-US" sz="3200" b="1" dirty="0" smtClean="0"/>
              <a:t>Information &amp; </a:t>
            </a:r>
            <a:r>
              <a:rPr lang="en-US" sz="3200" b="1" dirty="0"/>
              <a:t>Communications Technology </a:t>
            </a:r>
            <a:r>
              <a:rPr lang="en-US" sz="3200" b="1" dirty="0" smtClean="0"/>
              <a:t>Academy</a:t>
            </a:r>
            <a:endParaRPr lang="it-IT" sz="3200" b="1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44725" y="3602038"/>
            <a:ext cx="9972625" cy="1655762"/>
          </a:xfrm>
        </p:spPr>
        <p:txBody>
          <a:bodyPr>
            <a:noAutofit/>
          </a:bodyPr>
          <a:lstStyle/>
          <a:p>
            <a:pPr algn="ctr"/>
            <a:r>
              <a:rPr lang="it-IT" sz="3200" b="1" u="sng" dirty="0" smtClean="0">
                <a:solidFill>
                  <a:schemeClr val="tx1">
                    <a:lumMod val="95000"/>
                  </a:schemeClr>
                </a:solidFill>
              </a:rPr>
              <a:t>DIGITAL SERVICE ACT</a:t>
            </a:r>
            <a:endParaRPr lang="it-IT" sz="3200" b="1" u="sng" dirty="0" smtClean="0">
              <a:solidFill>
                <a:schemeClr val="tx1">
                  <a:lumMod val="95000"/>
                </a:schemeClr>
              </a:solidFill>
            </a:endParaRPr>
          </a:p>
          <a:p>
            <a:pPr algn="ctr"/>
            <a:r>
              <a:rPr lang="it-IT" sz="3200" b="1" u="sng" dirty="0" smtClean="0">
                <a:solidFill>
                  <a:schemeClr val="tx1">
                    <a:lumMod val="95000"/>
                  </a:schemeClr>
                </a:solidFill>
              </a:rPr>
              <a:t>Regolamentazione ANTI HATERS</a:t>
            </a:r>
            <a:endParaRPr lang="it-IT" sz="3200" b="1" u="sng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08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1008187" y="1124744"/>
            <a:ext cx="842493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>
                <a:solidFill>
                  <a:srgbClr val="FFFF00"/>
                </a:solidFill>
              </a:rPr>
              <a:t>I recenti fatti di cronaca hanno focalizzato l’attenzione sulla diffusione dell’odio online e del </a:t>
            </a:r>
            <a:r>
              <a:rPr lang="it-IT" sz="3200" dirty="0" err="1" smtClean="0">
                <a:solidFill>
                  <a:srgbClr val="FFFF00"/>
                </a:solidFill>
              </a:rPr>
              <a:t>cyberbullismo</a:t>
            </a:r>
            <a:r>
              <a:rPr lang="it-IT" sz="3200" dirty="0" smtClean="0">
                <a:solidFill>
                  <a:srgbClr val="FFFF00"/>
                </a:solidFill>
              </a:rPr>
              <a:t>. </a:t>
            </a:r>
            <a:r>
              <a:rPr lang="it-IT" sz="3200" dirty="0">
                <a:solidFill>
                  <a:srgbClr val="FFFF00"/>
                </a:solidFill>
              </a:rPr>
              <a:t>Un esempio è rappresentato dagli episodi di razzismo nelle attività sportive. </a:t>
            </a:r>
            <a:endParaRPr lang="it-IT" sz="3200" dirty="0" smtClean="0">
              <a:solidFill>
                <a:srgbClr val="FFFF00"/>
              </a:solidFill>
            </a:endParaRPr>
          </a:p>
          <a:p>
            <a:pPr algn="just"/>
            <a:endParaRPr lang="it-IT" sz="3200" dirty="0">
              <a:solidFill>
                <a:srgbClr val="FFFF00"/>
              </a:solidFill>
            </a:endParaRPr>
          </a:p>
          <a:p>
            <a:pPr algn="just"/>
            <a:r>
              <a:rPr lang="it-IT" sz="3200" dirty="0" smtClean="0">
                <a:solidFill>
                  <a:srgbClr val="FFFF00"/>
                </a:solidFill>
              </a:rPr>
              <a:t>Per </a:t>
            </a:r>
            <a:r>
              <a:rPr lang="it-IT" sz="3200" dirty="0">
                <a:solidFill>
                  <a:srgbClr val="FFFF00"/>
                </a:solidFill>
              </a:rPr>
              <a:t>questo motivo, la Commissione europea e l’Alto Rappresentante </a:t>
            </a:r>
            <a:r>
              <a:rPr lang="it-IT" sz="3200" dirty="0" smtClean="0">
                <a:solidFill>
                  <a:srgbClr val="FFFF00"/>
                </a:solidFill>
              </a:rPr>
              <a:t>hanno intensificato </a:t>
            </a:r>
            <a:r>
              <a:rPr lang="it-IT" sz="3200" dirty="0">
                <a:solidFill>
                  <a:srgbClr val="FFFF00"/>
                </a:solidFill>
              </a:rPr>
              <a:t>gli sforzi </a:t>
            </a:r>
            <a:r>
              <a:rPr lang="it-IT" sz="3200" b="1" dirty="0">
                <a:solidFill>
                  <a:srgbClr val="FFFF00"/>
                </a:solidFill>
              </a:rPr>
              <a:t>per contrastare</a:t>
            </a:r>
            <a:r>
              <a:rPr lang="it-IT" sz="3200" dirty="0">
                <a:solidFill>
                  <a:srgbClr val="FFFF00"/>
                </a:solidFill>
              </a:rPr>
              <a:t> la diffusione dell’</a:t>
            </a:r>
            <a:r>
              <a:rPr lang="it-IT" sz="3200" b="1" dirty="0">
                <a:solidFill>
                  <a:srgbClr val="FFFF00"/>
                </a:solidFill>
              </a:rPr>
              <a:t>astio</a:t>
            </a:r>
            <a:r>
              <a:rPr lang="it-IT" sz="3200" dirty="0">
                <a:solidFill>
                  <a:srgbClr val="FFFF00"/>
                </a:solidFill>
              </a:rPr>
              <a:t> in tutte le sue forme adottando un regolamento contro gli </a:t>
            </a:r>
            <a:r>
              <a:rPr lang="it-IT" sz="3200" i="1" dirty="0" err="1">
                <a:solidFill>
                  <a:srgbClr val="FFFF00"/>
                </a:solidFill>
              </a:rPr>
              <a:t>haters</a:t>
            </a:r>
            <a:r>
              <a:rPr lang="it-IT" sz="3200" dirty="0">
                <a:solidFill>
                  <a:srgbClr val="FFFF00"/>
                </a:solidFill>
              </a:rPr>
              <a:t>.</a:t>
            </a:r>
            <a:endParaRPr lang="it-IT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0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936179" y="302359"/>
            <a:ext cx="9289031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>
                <a:solidFill>
                  <a:srgbClr val="FFFF00"/>
                </a:solidFill>
              </a:rPr>
              <a:t>Il 1 gennaio è diventato operativo il </a:t>
            </a:r>
            <a:r>
              <a:rPr lang="it-IT" sz="2800" b="1" dirty="0">
                <a:solidFill>
                  <a:srgbClr val="FFFF00"/>
                </a:solidFill>
              </a:rPr>
              <a:t>regolamento Ue</a:t>
            </a:r>
            <a:r>
              <a:rPr lang="it-IT" sz="2800" dirty="0">
                <a:solidFill>
                  <a:srgbClr val="FFFF00"/>
                </a:solidFill>
              </a:rPr>
              <a:t>, definito Digital Service </a:t>
            </a:r>
            <a:r>
              <a:rPr lang="it-IT" sz="2800" dirty="0" err="1">
                <a:solidFill>
                  <a:srgbClr val="FFFF00"/>
                </a:solidFill>
              </a:rPr>
              <a:t>Act</a:t>
            </a:r>
            <a:r>
              <a:rPr lang="it-IT" sz="2800" dirty="0">
                <a:solidFill>
                  <a:srgbClr val="FFFF00"/>
                </a:solidFill>
              </a:rPr>
              <a:t>. Questo regolamento rafforza l’azione degli Stati in diverse aree politiche, come la sicurezza, il digitale, l’istruzione, la cultura e lo sport. È parte di un quadro normativo più ampio che mira a proteggere i diritti dei cittadini, promuovendo l’uguaglianza, l’inclusione e la partecipazione di tutti. </a:t>
            </a:r>
            <a:endParaRPr lang="it-IT" sz="2800" dirty="0" smtClean="0">
              <a:solidFill>
                <a:srgbClr val="FFFF00"/>
              </a:solidFill>
            </a:endParaRPr>
          </a:p>
          <a:p>
            <a:pPr algn="just"/>
            <a:endParaRPr lang="it-IT" sz="2800" dirty="0">
              <a:solidFill>
                <a:srgbClr val="FFFF00"/>
              </a:solidFill>
            </a:endParaRPr>
          </a:p>
          <a:p>
            <a:pPr algn="just"/>
            <a:r>
              <a:rPr lang="it-IT" sz="2800" dirty="0" smtClean="0">
                <a:solidFill>
                  <a:srgbClr val="FFFF00"/>
                </a:solidFill>
              </a:rPr>
              <a:t>Un </a:t>
            </a:r>
            <a:r>
              <a:rPr lang="it-IT" sz="2800" dirty="0">
                <a:solidFill>
                  <a:srgbClr val="FFFF00"/>
                </a:solidFill>
              </a:rPr>
              <a:t>obiettivo del Digital Service </a:t>
            </a:r>
            <a:r>
              <a:rPr lang="it-IT" sz="2800" dirty="0" err="1">
                <a:solidFill>
                  <a:srgbClr val="FFFF00"/>
                </a:solidFill>
              </a:rPr>
              <a:t>Act</a:t>
            </a:r>
            <a:r>
              <a:rPr lang="it-IT" sz="2800" dirty="0">
                <a:solidFill>
                  <a:srgbClr val="FFFF00"/>
                </a:solidFill>
              </a:rPr>
              <a:t> è </a:t>
            </a:r>
            <a:r>
              <a:rPr lang="it-IT" sz="2800" b="1" dirty="0">
                <a:solidFill>
                  <a:srgbClr val="FFFF00"/>
                </a:solidFill>
              </a:rPr>
              <a:t>limitare l’odio online, sia sui social media, sia in altre forme di aggregazione</a:t>
            </a:r>
            <a:r>
              <a:rPr lang="it-IT" sz="2800" dirty="0">
                <a:solidFill>
                  <a:srgbClr val="FFFF00"/>
                </a:solidFill>
              </a:rPr>
              <a:t>. Questo impegno include anche finanziamenti aggiuntivi per la protezione dei luoghi di culto spesso oggetto di odio, razzismo e insicurezza e sarà supportato dalla nomina di inviati per massimizzare l’efficacia delle politiche dell’Unione europea nell’affrontare l’animosità degli </a:t>
            </a:r>
            <a:r>
              <a:rPr lang="it-IT" sz="2800" i="1" dirty="0" err="1">
                <a:solidFill>
                  <a:srgbClr val="FFFF00"/>
                </a:solidFill>
              </a:rPr>
              <a:t>haters</a:t>
            </a:r>
            <a:r>
              <a:rPr lang="it-IT" sz="2800" dirty="0">
                <a:solidFill>
                  <a:srgbClr val="FFFF00"/>
                </a:solidFill>
              </a:rPr>
              <a:t>.</a:t>
            </a:r>
            <a:endParaRPr lang="it-IT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21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958018" y="188640"/>
            <a:ext cx="9217024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it-IT" sz="2800" b="1" dirty="0">
                <a:solidFill>
                  <a:srgbClr val="FFFF00"/>
                </a:solidFill>
              </a:rPr>
              <a:t>Chi sono gli </a:t>
            </a:r>
            <a:r>
              <a:rPr lang="it-IT" sz="2800" b="1" dirty="0" err="1">
                <a:solidFill>
                  <a:srgbClr val="FFFF00"/>
                </a:solidFill>
              </a:rPr>
              <a:t>haters</a:t>
            </a:r>
            <a:r>
              <a:rPr lang="it-IT" sz="2800" b="1" dirty="0" smtClean="0">
                <a:solidFill>
                  <a:srgbClr val="FFFF00"/>
                </a:solidFill>
              </a:rPr>
              <a:t>?</a:t>
            </a:r>
          </a:p>
          <a:p>
            <a:pPr algn="just" fontAlgn="base"/>
            <a:endParaRPr lang="it-IT" sz="2800" b="1" dirty="0">
              <a:solidFill>
                <a:srgbClr val="FFFF00"/>
              </a:solidFill>
            </a:endParaRPr>
          </a:p>
          <a:p>
            <a:pPr algn="just" fontAlgn="base"/>
            <a:r>
              <a:rPr lang="it-IT" sz="2800" b="1" dirty="0">
                <a:solidFill>
                  <a:srgbClr val="FFFF00"/>
                </a:solidFill>
              </a:rPr>
              <a:t>Gli </a:t>
            </a:r>
            <a:r>
              <a:rPr lang="it-IT" sz="2800" b="1" i="1" dirty="0" err="1">
                <a:solidFill>
                  <a:srgbClr val="FFFF00"/>
                </a:solidFill>
              </a:rPr>
              <a:t>haters</a:t>
            </a:r>
            <a:r>
              <a:rPr lang="it-IT" sz="2800" b="1" i="1" dirty="0">
                <a:solidFill>
                  <a:srgbClr val="FFFF00"/>
                </a:solidFill>
              </a:rPr>
              <a:t> </a:t>
            </a:r>
            <a:r>
              <a:rPr lang="it-IT" sz="2800" dirty="0">
                <a:solidFill>
                  <a:srgbClr val="FFFF00"/>
                </a:solidFill>
              </a:rPr>
              <a:t>sono </a:t>
            </a:r>
            <a:r>
              <a:rPr lang="it-IT" sz="2800" b="1" dirty="0">
                <a:solidFill>
                  <a:srgbClr val="FFFF00"/>
                </a:solidFill>
              </a:rPr>
              <a:t>persone</a:t>
            </a:r>
            <a:r>
              <a:rPr lang="it-IT" sz="2800" dirty="0">
                <a:solidFill>
                  <a:srgbClr val="FFFF00"/>
                </a:solidFill>
              </a:rPr>
              <a:t> che usano la rete, e soprattutto i social network, per </a:t>
            </a:r>
            <a:r>
              <a:rPr lang="it-IT" sz="2800" b="1" dirty="0">
                <a:solidFill>
                  <a:srgbClr val="FFFF00"/>
                </a:solidFill>
              </a:rPr>
              <a:t>esprimere livore </a:t>
            </a:r>
            <a:r>
              <a:rPr lang="it-IT" sz="2800" dirty="0">
                <a:solidFill>
                  <a:srgbClr val="FFFF00"/>
                </a:solidFill>
              </a:rPr>
              <a:t>o per incitare all’odio verso qualcuno. Con la diffusione di </a:t>
            </a:r>
            <a:r>
              <a:rPr lang="it-IT" sz="2800" dirty="0" err="1">
                <a:solidFill>
                  <a:srgbClr val="FFFF00"/>
                </a:solidFill>
              </a:rPr>
              <a:t>Facebook</a:t>
            </a:r>
            <a:r>
              <a:rPr lang="it-IT" sz="2800" dirty="0">
                <a:solidFill>
                  <a:srgbClr val="FFFF00"/>
                </a:solidFill>
              </a:rPr>
              <a:t>, </a:t>
            </a:r>
            <a:r>
              <a:rPr lang="it-IT" sz="2800" dirty="0" err="1">
                <a:solidFill>
                  <a:srgbClr val="FFFF00"/>
                </a:solidFill>
              </a:rPr>
              <a:t>Twitter</a:t>
            </a:r>
            <a:r>
              <a:rPr lang="it-IT" sz="2800" dirty="0">
                <a:solidFill>
                  <a:srgbClr val="FFFF00"/>
                </a:solidFill>
              </a:rPr>
              <a:t> e degli altri social network, il </a:t>
            </a:r>
            <a:r>
              <a:rPr lang="it-IT" sz="2800" b="1" dirty="0">
                <a:solidFill>
                  <a:srgbClr val="FFFF00"/>
                </a:solidFill>
              </a:rPr>
              <a:t>fenomeno si è intensificato</a:t>
            </a:r>
            <a:r>
              <a:rPr lang="it-IT" sz="2800" dirty="0">
                <a:solidFill>
                  <a:srgbClr val="FFFF00"/>
                </a:solidFill>
              </a:rPr>
              <a:t>. I social media sono nati con l’obiettivo di facilitare l’incontro e la connessione tra persone, anche se distanti e differenti, offrendo la possibilità di confrontarsi, esprimersi, esplorare realtà diverse e sviluppare legami al di là delle limitazioni del “mondo reale”. Un odio che spesso trascende dal mondo virtuale per passare a quello reale e non solo nei confronti delle minoranze. Le modifiche dei regolamenti apportate dalle piattaforme online non hanno avuto un impatto efficace nella riduzione dei messaggi denigratori.</a:t>
            </a:r>
          </a:p>
        </p:txBody>
      </p:sp>
    </p:spTree>
    <p:extLst>
      <p:ext uri="{BB962C8B-B14F-4D97-AF65-F5344CB8AC3E}">
        <p14:creationId xmlns:p14="http://schemas.microsoft.com/office/powerpoint/2010/main" val="305937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648147" y="188640"/>
            <a:ext cx="9865096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it-IT" sz="2800" b="1" dirty="0">
                <a:solidFill>
                  <a:srgbClr val="FFFF00"/>
                </a:solidFill>
              </a:rPr>
              <a:t>Il regolamento Ue contro gli </a:t>
            </a:r>
            <a:r>
              <a:rPr lang="it-IT" sz="2800" b="1" dirty="0" err="1">
                <a:solidFill>
                  <a:srgbClr val="FFFF00"/>
                </a:solidFill>
              </a:rPr>
              <a:t>haters</a:t>
            </a:r>
            <a:r>
              <a:rPr lang="it-IT" sz="2800" b="1" dirty="0">
                <a:solidFill>
                  <a:srgbClr val="FFFF00"/>
                </a:solidFill>
              </a:rPr>
              <a:t> sui servizi </a:t>
            </a:r>
            <a:r>
              <a:rPr lang="it-IT" sz="2800" b="1" dirty="0" smtClean="0">
                <a:solidFill>
                  <a:srgbClr val="FFFF00"/>
                </a:solidFill>
              </a:rPr>
              <a:t>digitali</a:t>
            </a:r>
          </a:p>
          <a:p>
            <a:pPr algn="just" fontAlgn="base"/>
            <a:endParaRPr lang="it-IT" sz="2800" b="1" dirty="0">
              <a:solidFill>
                <a:srgbClr val="FFFF00"/>
              </a:solidFill>
            </a:endParaRPr>
          </a:p>
          <a:p>
            <a:pPr algn="just" fontAlgn="base"/>
            <a:r>
              <a:rPr lang="it-IT" sz="2800" b="1" dirty="0">
                <a:solidFill>
                  <a:srgbClr val="FFFF00"/>
                </a:solidFill>
              </a:rPr>
              <a:t>Il </a:t>
            </a:r>
            <a:r>
              <a:rPr lang="it-IT" sz="2800" b="1" dirty="0" smtClean="0">
                <a:solidFill>
                  <a:srgbClr val="FFFF00"/>
                </a:solidFill>
              </a:rPr>
              <a:t>Digital </a:t>
            </a:r>
            <a:r>
              <a:rPr lang="it-IT" sz="2800" b="1" dirty="0" err="1">
                <a:solidFill>
                  <a:srgbClr val="FFFF00"/>
                </a:solidFill>
              </a:rPr>
              <a:t>services</a:t>
            </a:r>
            <a:r>
              <a:rPr lang="it-IT" sz="2800" b="1" dirty="0">
                <a:solidFill>
                  <a:srgbClr val="FFFF00"/>
                </a:solidFill>
              </a:rPr>
              <a:t> </a:t>
            </a:r>
            <a:r>
              <a:rPr lang="it-IT" sz="2800" b="1" dirty="0" err="1">
                <a:solidFill>
                  <a:srgbClr val="FFFF00"/>
                </a:solidFill>
              </a:rPr>
              <a:t>act</a:t>
            </a:r>
            <a:r>
              <a:rPr lang="it-IT" sz="2800" dirty="0">
                <a:solidFill>
                  <a:srgbClr val="FFFF00"/>
                </a:solidFill>
              </a:rPr>
              <a:t>  </a:t>
            </a:r>
            <a:r>
              <a:rPr lang="it-IT" sz="2800" b="1" dirty="0">
                <a:solidFill>
                  <a:srgbClr val="FFFF00"/>
                </a:solidFill>
              </a:rPr>
              <a:t>è applicato dal 1 gennaio</a:t>
            </a:r>
            <a:r>
              <a:rPr lang="it-IT" sz="2800" dirty="0">
                <a:solidFill>
                  <a:srgbClr val="FFFF00"/>
                </a:solidFill>
              </a:rPr>
              <a:t> 2024. Entro marzo tutte le piattaforme online dovranno adeguare i loro sistemi in modo da rispettarne </a:t>
            </a:r>
            <a:r>
              <a:rPr lang="it-IT" sz="2800" dirty="0" smtClean="0">
                <a:solidFill>
                  <a:srgbClr val="FFFF00"/>
                </a:solidFill>
              </a:rPr>
              <a:t>la normativa che:</a:t>
            </a:r>
          </a:p>
          <a:p>
            <a:pPr marL="457200" indent="-457200" algn="just" fontAlgn="base">
              <a:buFont typeface="Wingdings" panose="05000000000000000000" pitchFamily="2" charset="2"/>
              <a:buChar char="Ø"/>
            </a:pPr>
            <a:r>
              <a:rPr lang="it-IT" sz="2800" dirty="0">
                <a:solidFill>
                  <a:srgbClr val="FFFF00"/>
                </a:solidFill>
              </a:rPr>
              <a:t>p</a:t>
            </a:r>
            <a:r>
              <a:rPr lang="it-IT" sz="2800" dirty="0" smtClean="0">
                <a:solidFill>
                  <a:srgbClr val="FFFF00"/>
                </a:solidFill>
              </a:rPr>
              <a:t>romuove la </a:t>
            </a:r>
            <a:r>
              <a:rPr lang="it-IT" sz="2800" dirty="0">
                <a:solidFill>
                  <a:srgbClr val="FFFF00"/>
                </a:solidFill>
              </a:rPr>
              <a:t>libertà di ricevere informazioni e manifestare opinioni. </a:t>
            </a:r>
            <a:endParaRPr lang="it-IT" sz="2800" dirty="0" smtClean="0">
              <a:solidFill>
                <a:srgbClr val="FFFF00"/>
              </a:solidFill>
            </a:endParaRPr>
          </a:p>
          <a:p>
            <a:pPr marL="457200" indent="-457200" algn="just" fontAlgn="base">
              <a:buFont typeface="Wingdings" panose="05000000000000000000" pitchFamily="2" charset="2"/>
              <a:buChar char="Ø"/>
            </a:pPr>
            <a:r>
              <a:rPr lang="it-IT" sz="2800" dirty="0" smtClean="0">
                <a:solidFill>
                  <a:srgbClr val="FFFF00"/>
                </a:solidFill>
              </a:rPr>
              <a:t>attenua </a:t>
            </a:r>
            <a:r>
              <a:rPr lang="it-IT" sz="2800" dirty="0">
                <a:solidFill>
                  <a:srgbClr val="FFFF00"/>
                </a:solidFill>
              </a:rPr>
              <a:t>i rischi di discriminazione e </a:t>
            </a:r>
            <a:r>
              <a:rPr lang="it-IT" sz="2800" b="1" dirty="0">
                <a:solidFill>
                  <a:srgbClr val="FFFF00"/>
                </a:solidFill>
              </a:rPr>
              <a:t>contribuisce a proteggere i diritti dei minori e il diritto alla dignità umana</a:t>
            </a:r>
            <a:r>
              <a:rPr lang="it-IT" sz="2800" dirty="0">
                <a:solidFill>
                  <a:srgbClr val="FFFF00"/>
                </a:solidFill>
              </a:rPr>
              <a:t> online attraverso l’eliminazione dei contenuti illeciti</a:t>
            </a:r>
            <a:r>
              <a:rPr lang="it-IT" sz="2800" dirty="0" smtClean="0">
                <a:solidFill>
                  <a:srgbClr val="FFFF00"/>
                </a:solidFill>
              </a:rPr>
              <a:t>.</a:t>
            </a:r>
          </a:p>
          <a:p>
            <a:pPr marL="457200" indent="-457200" algn="just" fontAlgn="base">
              <a:buFont typeface="Wingdings" panose="05000000000000000000" pitchFamily="2" charset="2"/>
              <a:buChar char="Ø"/>
            </a:pPr>
            <a:r>
              <a:rPr lang="it-IT" sz="2800" dirty="0" smtClean="0">
                <a:solidFill>
                  <a:srgbClr val="FFFF00"/>
                </a:solidFill>
              </a:rPr>
              <a:t>Consente di individuare i responsabili di diffusione </a:t>
            </a:r>
            <a:r>
              <a:rPr lang="it-IT" sz="2800" dirty="0">
                <a:solidFill>
                  <a:srgbClr val="FFFF00"/>
                </a:solidFill>
              </a:rPr>
              <a:t>di contenuti illegali e disinformazione con riferimento alla diffusione di contenuti terroristici, violenti e di incitamento all’odio da parte degli </a:t>
            </a:r>
            <a:r>
              <a:rPr lang="it-IT" sz="2800" i="1" dirty="0" err="1" smtClean="0">
                <a:solidFill>
                  <a:srgbClr val="FFFF00"/>
                </a:solidFill>
              </a:rPr>
              <a:t>haters</a:t>
            </a:r>
            <a:r>
              <a:rPr lang="it-IT" sz="2800" dirty="0" smtClean="0">
                <a:solidFill>
                  <a:srgbClr val="FFFF00"/>
                </a:solidFill>
              </a:rPr>
              <a:t> </a:t>
            </a:r>
            <a:r>
              <a:rPr lang="it-IT" sz="2800" dirty="0">
                <a:solidFill>
                  <a:srgbClr val="FFFF00"/>
                </a:solidFill>
              </a:rPr>
              <a:t>(ed i social network X, Meta e </a:t>
            </a:r>
            <a:r>
              <a:rPr lang="it-IT" sz="2800" dirty="0" err="1">
                <a:solidFill>
                  <a:srgbClr val="FFFF00"/>
                </a:solidFill>
              </a:rPr>
              <a:t>Tik</a:t>
            </a:r>
            <a:r>
              <a:rPr lang="it-IT" sz="2800" dirty="0">
                <a:solidFill>
                  <a:srgbClr val="FFFF00"/>
                </a:solidFill>
              </a:rPr>
              <a:t> </a:t>
            </a:r>
            <a:r>
              <a:rPr lang="it-IT" sz="2800" dirty="0" err="1">
                <a:solidFill>
                  <a:srgbClr val="FFFF00"/>
                </a:solidFill>
              </a:rPr>
              <a:t>Tok</a:t>
            </a:r>
            <a:r>
              <a:rPr lang="it-IT" sz="2800" dirty="0">
                <a:solidFill>
                  <a:srgbClr val="FFFF00"/>
                </a:solidFill>
              </a:rPr>
              <a:t> non possono opporsi</a:t>
            </a:r>
            <a:r>
              <a:rPr lang="it-IT" sz="2800" dirty="0" smtClean="0">
                <a:solidFill>
                  <a:srgbClr val="FFFF00"/>
                </a:solidFill>
              </a:rPr>
              <a:t>).</a:t>
            </a:r>
            <a:endParaRPr lang="it-IT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182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1110702" y="2060848"/>
            <a:ext cx="885698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/>
            <a:r>
              <a:rPr lang="it-IT" sz="3200" dirty="0" smtClean="0">
                <a:solidFill>
                  <a:srgbClr val="FFFF00"/>
                </a:solidFill>
                <a:latin typeface="droid-serif"/>
              </a:rPr>
              <a:t>Come </a:t>
            </a:r>
            <a:r>
              <a:rPr lang="it-IT" sz="3200" dirty="0" smtClean="0">
                <a:solidFill>
                  <a:srgbClr val="FFFF00"/>
                </a:solidFill>
                <a:latin typeface="droid-serif"/>
              </a:rPr>
              <a:t>prima conseguenza di questo regolamento </a:t>
            </a:r>
            <a:r>
              <a:rPr lang="it-IT" sz="3200" dirty="0" smtClean="0">
                <a:solidFill>
                  <a:srgbClr val="FFFF00"/>
                </a:solidFill>
                <a:latin typeface="droid-serif"/>
              </a:rPr>
              <a:t>si sono attivati studi legali ed agenzie investigative per ottenere i risarcimenti previsti dalla norma.</a:t>
            </a:r>
          </a:p>
          <a:p>
            <a:pPr lvl="0" algn="just" fontAlgn="base"/>
            <a:endParaRPr lang="it-IT" sz="3200" dirty="0">
              <a:solidFill>
                <a:srgbClr val="FFFF00"/>
              </a:solidFill>
              <a:latin typeface="droid-serif"/>
            </a:endParaRPr>
          </a:p>
          <a:p>
            <a:pPr lvl="0" algn="just" fontAlgn="base"/>
            <a:r>
              <a:rPr lang="it-IT" sz="3200" dirty="0" smtClean="0">
                <a:solidFill>
                  <a:srgbClr val="FFFF00"/>
                </a:solidFill>
                <a:latin typeface="droid-serif"/>
              </a:rPr>
              <a:t>Si va dai 1.000 euro fino al carcere.</a:t>
            </a:r>
          </a:p>
        </p:txBody>
      </p:sp>
    </p:spTree>
    <p:extLst>
      <p:ext uri="{BB962C8B-B14F-4D97-AF65-F5344CB8AC3E}">
        <p14:creationId xmlns:p14="http://schemas.microsoft.com/office/powerpoint/2010/main" val="13817597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79</Words>
  <Application>Microsoft Office PowerPoint</Application>
  <PresentationFormat>Personalizzato</PresentationFormat>
  <Paragraphs>21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7" baseType="lpstr">
      <vt:lpstr>Circuito</vt:lpstr>
      <vt:lpstr>Fondazione ITS   Information &amp; Communications Technology Academy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Fondazione ITS   Information &amp; Communications Technology Academy</dc:title>
  <dc:creator>Enzo Chilelli</dc:creator>
  <cp:lastModifiedBy>Enzo Chilelli</cp:lastModifiedBy>
  <cp:revision>7</cp:revision>
  <dcterms:created xsi:type="dcterms:W3CDTF">2024-02-15T16:10:22Z</dcterms:created>
  <dcterms:modified xsi:type="dcterms:W3CDTF">2024-02-15T18:00:49Z</dcterms:modified>
</cp:coreProperties>
</file>