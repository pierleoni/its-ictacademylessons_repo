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54"/>
  </p:notesMasterIdLst>
  <p:handoutMasterIdLst>
    <p:handoutMasterId r:id="rId55"/>
  </p:handoutMasterIdLst>
  <p:sldIdLst>
    <p:sldId id="302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2" r:id="rId15"/>
    <p:sldId id="333" r:id="rId16"/>
    <p:sldId id="334" r:id="rId17"/>
    <p:sldId id="335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0" r:id="rId45"/>
    <p:sldId id="371" r:id="rId46"/>
    <p:sldId id="372" r:id="rId47"/>
    <p:sldId id="373" r:id="rId48"/>
    <p:sldId id="374" r:id="rId49"/>
    <p:sldId id="375" r:id="rId50"/>
    <p:sldId id="376" r:id="rId51"/>
    <p:sldId id="377" r:id="rId52"/>
    <p:sldId id="378" r:id="rId5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83274" autoAdjust="0"/>
  </p:normalViewPr>
  <p:slideViewPr>
    <p:cSldViewPr snapToGrid="0">
      <p:cViewPr>
        <p:scale>
          <a:sx n="60" d="100"/>
          <a:sy n="60" d="100"/>
        </p:scale>
        <p:origin x="-774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52BAE-439A-4FC8-8655-99AAAEB01D21}" type="datetimeFigureOut">
              <a:rPr lang="it-IT" smtClean="0"/>
              <a:t>19/02/2024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176B-96D9-4935-94ED-396780CCE3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4373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651B7-D1FD-484D-9665-DAAE23E1A784}" type="datetimeFigureOut">
              <a:rPr lang="it-IT" smtClean="0"/>
              <a:t>19/02/2024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96FAA-A9DD-444E-AAB0-7E9234A0C1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6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70D8EC6-05AF-42E8-967A-AAD7AD80F81C}" type="datetime1">
              <a:rPr lang="it-IT" smtClean="0"/>
              <a:t>19/02/2024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72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CE15-04C7-4618-95DB-ED79C8E3A217}" type="datetime1">
              <a:rPr lang="it-IT" smtClean="0"/>
              <a:t>19/02/2024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1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6418-C66F-482C-A2AE-8C47E252DB0C}" type="datetime1">
              <a:rPr lang="it-IT" smtClean="0"/>
              <a:t>19/02/2024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76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4234-F74D-49AA-A11A-76052BA5687A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42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7E194-C971-4739-81F1-E8777D881483}" type="datetime1">
              <a:rPr lang="it-IT" smtClean="0"/>
              <a:t>19/02/2024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52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26A4-72B2-441B-A754-36D12F008D9C}" type="datetime1">
              <a:rPr lang="it-IT" smtClean="0"/>
              <a:t>19/02/2024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51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4A30-5C7A-4441-B5D7-70720E734D76}" type="datetime1">
              <a:rPr lang="it-IT" smtClean="0"/>
              <a:t>19/02/2024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14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86-1E23-4496-AB18-A7DF5C8CE213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448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BD2-745A-4FFD-9F97-D0274C7E853B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7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57D-6A4F-431D-96FE-2A6C51CDA8F8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33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3762-40E7-4456-B57E-599A6885D454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8880-91AB-48E8-BE9C-4F0F7BBF2859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5887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CDF5-9C9C-44D9-8D59-F569663E130C}" type="datetime1">
              <a:rPr lang="it-IT" smtClean="0"/>
              <a:t>19/02/2024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06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B067-3B22-42E3-B521-8212467F7A55}" type="datetime1">
              <a:rPr lang="it-IT" smtClean="0"/>
              <a:t>19/02/2024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899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EA9A-AE73-4C86-9BB9-19EF17F31910}" type="datetime1">
              <a:rPr lang="it-IT" smtClean="0"/>
              <a:t>19/02/2024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77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5E3A-8505-46E3-8727-03942588E388}" type="datetime1">
              <a:rPr lang="it-IT" smtClean="0"/>
              <a:t>19/02/2024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3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9863-396D-43E8-A741-75AB7B866696}" type="datetime1">
              <a:rPr lang="it-IT" smtClean="0"/>
              <a:t>19/02/2024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012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566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B760-DED4-4157-BBB8-83F0E672D44A}" type="datetime1">
              <a:rPr lang="it-IT" smtClean="0"/>
              <a:t>19/02/2024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17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64696" y="617037"/>
            <a:ext cx="11927304" cy="2387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Fondazione ITS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1300" b="1" dirty="0" smtClean="0"/>
              <a:t/>
            </a:r>
            <a:br>
              <a:rPr lang="en-US" sz="1300" b="1" dirty="0" smtClean="0"/>
            </a:br>
            <a:r>
              <a:rPr lang="en-US" sz="3200" b="1" dirty="0" smtClean="0"/>
              <a:t>Information &amp; </a:t>
            </a:r>
            <a:r>
              <a:rPr lang="en-US" sz="3200" b="1" dirty="0"/>
              <a:t>Communications Technology </a:t>
            </a:r>
            <a:r>
              <a:rPr lang="en-US" sz="3200" b="1" dirty="0" smtClean="0"/>
              <a:t>Academy</a:t>
            </a:r>
            <a:endParaRPr lang="it-IT" sz="3200" b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14855" y="3602038"/>
            <a:ext cx="11256579" cy="1655762"/>
          </a:xfrm>
        </p:spPr>
        <p:txBody>
          <a:bodyPr>
            <a:noAutofit/>
          </a:bodyPr>
          <a:lstStyle/>
          <a:p>
            <a:pPr algn="ctr"/>
            <a:r>
              <a:rPr lang="it-IT" sz="3200" b="1" dirty="0" smtClean="0">
                <a:solidFill>
                  <a:srgbClr val="FFC000"/>
                </a:solidFill>
              </a:rPr>
              <a:t>Regolamento generale protezione dati personali</a:t>
            </a:r>
          </a:p>
          <a:p>
            <a:pPr algn="ctr"/>
            <a:r>
              <a:rPr lang="it-IT" sz="3200" b="1" u="sng" dirty="0" smtClean="0">
                <a:solidFill>
                  <a:srgbClr val="FFC000"/>
                </a:solidFill>
              </a:rPr>
              <a:t>G.D.P.R.</a:t>
            </a:r>
            <a:endParaRPr lang="it-IT" sz="32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6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930166" y="274638"/>
            <a:ext cx="11261834" cy="1209675"/>
          </a:xfrm>
        </p:spPr>
        <p:txBody>
          <a:bodyPr>
            <a:normAutofit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Cos’è il G.D.P.R. ?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914399" y="1103587"/>
            <a:ext cx="10673255" cy="5349602"/>
          </a:xfrm>
        </p:spPr>
        <p:txBody>
          <a:bodyPr>
            <a:normAutofit lnSpcReduction="10000"/>
          </a:bodyPr>
          <a:lstStyle/>
          <a:p>
            <a:pPr marL="0" indent="0" algn="just" fontAlgn="base">
              <a:buNone/>
            </a:pPr>
            <a:r>
              <a:rPr lang="it-IT" dirty="0" smtClean="0"/>
              <a:t>È il </a:t>
            </a:r>
            <a:r>
              <a:rPr lang="it-IT" dirty="0"/>
              <a:t>Regolamento generale sulla protezione dei dati (GDPR, dall’inglese </a:t>
            </a:r>
            <a:r>
              <a:rPr lang="it-IT" b="1" i="1" dirty="0"/>
              <a:t>General Data </a:t>
            </a:r>
            <a:r>
              <a:rPr lang="it-IT" b="1" i="1" dirty="0" err="1"/>
              <a:t>Protection</a:t>
            </a:r>
            <a:r>
              <a:rPr lang="it-IT" b="1" i="1" dirty="0"/>
              <a:t> </a:t>
            </a:r>
            <a:r>
              <a:rPr lang="it-IT" b="1" i="1" dirty="0" err="1"/>
              <a:t>Regulation</a:t>
            </a:r>
            <a:r>
              <a:rPr lang="it-IT" dirty="0"/>
              <a:t>) è un regolamento europeo che disciplina il modo in cui le aziende e le altre organizzazioni trattano i dati personali. È il provvedimento più significativo degli ultimi 20 anni in materia di protezione dei dati e ha implicazioni importanti per qualsiasi organizzazione al mondo che si rivolga ai cittadini dell’Unione Europea.</a:t>
            </a:r>
          </a:p>
          <a:p>
            <a:pPr marL="0" indent="0" algn="just" fontAlgn="base">
              <a:buNone/>
            </a:pPr>
            <a:r>
              <a:rPr lang="it-IT" dirty="0" smtClean="0"/>
              <a:t>La </a:t>
            </a:r>
            <a:r>
              <a:rPr lang="it-IT" dirty="0"/>
              <a:t>legislazione punta a dare a ogni individuo il controllo sull’utilizzo dei propri dati, tutelando “i diritti e le libertà fondamentali delle persone fisiche”: con questa finalità, stabilisce requisiti precisi e rigorosi per il trattamento dei dati, la trasparenza, la documentazione da produrre e conservare e il consenso degli </a:t>
            </a:r>
            <a:r>
              <a:rPr lang="it-IT" dirty="0" smtClean="0"/>
              <a:t>utenti.</a:t>
            </a:r>
          </a:p>
          <a:p>
            <a:pPr marL="0" indent="0" algn="just" fontAlgn="base">
              <a:buNone/>
            </a:pPr>
            <a:r>
              <a:rPr lang="it-IT" i="1" dirty="0" smtClean="0"/>
              <a:t>Ogni </a:t>
            </a:r>
            <a:r>
              <a:rPr lang="it-IT" i="1" dirty="0"/>
              <a:t>organizzazione deve documentare e monitorare le attività di trattamento dei dati personali</a:t>
            </a:r>
            <a:r>
              <a:rPr lang="it-IT" i="1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452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9"/>
            <a:ext cx="10958512" cy="1018134"/>
          </a:xfrm>
        </p:spPr>
        <p:txBody>
          <a:bodyPr>
            <a:normAutofit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Cos’è il G.D.P.R. ?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245476" y="961697"/>
            <a:ext cx="10720552" cy="5491491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3200" dirty="0"/>
              <a:t>In estrema sintesi, con l’introduzione del General Data </a:t>
            </a:r>
            <a:r>
              <a:rPr lang="it-IT" sz="3200" dirty="0" err="1"/>
              <a:t>Protection</a:t>
            </a:r>
            <a:r>
              <a:rPr lang="it-IT" sz="3200" dirty="0"/>
              <a:t> </a:t>
            </a:r>
            <a:r>
              <a:rPr lang="it-IT" sz="3200" dirty="0" err="1"/>
              <a:t>Regulation</a:t>
            </a:r>
            <a:r>
              <a:rPr lang="it-IT" sz="3200" dirty="0"/>
              <a:t>:</a:t>
            </a:r>
          </a:p>
          <a:p>
            <a:pPr marL="361950" indent="-36195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it-IT" sz="3200" dirty="0"/>
              <a:t>si introducono regole più chiare su informativa e consenso</a:t>
            </a:r>
          </a:p>
          <a:p>
            <a:pPr marL="361950" indent="-36195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it-IT" sz="3200" dirty="0"/>
              <a:t>definiti i limiti al trattamento automatizzato dei dati personali</a:t>
            </a:r>
          </a:p>
          <a:p>
            <a:pPr marL="361950" indent="-36195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it-IT" sz="3200" dirty="0"/>
              <a:t>poste le basi per l’esercizio di nuovi diritti</a:t>
            </a:r>
          </a:p>
          <a:p>
            <a:pPr marL="361950" indent="-36195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it-IT" sz="3200" dirty="0"/>
              <a:t>stabiliti criteri rigorosi per il trasferimento degli stessi al di fuori dell’Ue</a:t>
            </a:r>
          </a:p>
          <a:p>
            <a:pPr marL="361950" indent="-36195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it-IT" sz="3200" dirty="0"/>
              <a:t>fissate norme rigorose per i casi di violazione dei dati (data </a:t>
            </a:r>
            <a:r>
              <a:rPr lang="it-IT" sz="3200" dirty="0" err="1"/>
              <a:t>breach</a:t>
            </a:r>
            <a:r>
              <a:rPr lang="it-IT" sz="3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2874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45476" y="0"/>
            <a:ext cx="8550166" cy="1477963"/>
          </a:xfrm>
        </p:spPr>
        <p:txBody>
          <a:bodyPr/>
          <a:lstStyle/>
          <a:p>
            <a:r>
              <a:rPr lang="it-IT" b="1" dirty="0" smtClean="0">
                <a:solidFill>
                  <a:srgbClr val="FFC000"/>
                </a:solidFill>
              </a:rPr>
              <a:t>Riepilogando: GDPR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862013" y="1600200"/>
            <a:ext cx="10709877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3600" dirty="0"/>
              <a:t>Il GDPR (</a:t>
            </a:r>
            <a:r>
              <a:rPr lang="it-IT" sz="3600" i="1" dirty="0"/>
              <a:t>Regolamento digitale sulla </a:t>
            </a:r>
            <a:r>
              <a:rPr lang="it-IT" sz="3600" i="1" dirty="0" smtClean="0"/>
              <a:t>protezione dei </a:t>
            </a:r>
            <a:r>
              <a:rPr lang="it-IT" sz="3600" i="1" dirty="0"/>
              <a:t>dati</a:t>
            </a:r>
            <a:r>
              <a:rPr lang="it-IT" sz="3600" dirty="0"/>
              <a:t>) è stato varato </a:t>
            </a:r>
            <a:r>
              <a:rPr lang="it-IT" sz="3600" dirty="0" smtClean="0"/>
              <a:t>dall’Unione Europea </a:t>
            </a:r>
            <a:r>
              <a:rPr lang="it-IT" sz="3600" dirty="0"/>
              <a:t>nel 2016. </a:t>
            </a:r>
            <a:endParaRPr lang="it-IT" sz="3600" dirty="0" smtClean="0"/>
          </a:p>
          <a:p>
            <a:pPr marL="0" indent="0" algn="just">
              <a:buNone/>
            </a:pPr>
            <a:r>
              <a:rPr lang="it-IT" sz="3600" dirty="0" smtClean="0">
                <a:solidFill>
                  <a:srgbClr val="FFC000"/>
                </a:solidFill>
              </a:rPr>
              <a:t>Definisce </a:t>
            </a:r>
            <a:r>
              <a:rPr lang="it-IT" sz="3600" dirty="0">
                <a:solidFill>
                  <a:srgbClr val="FFC000"/>
                </a:solidFill>
              </a:rPr>
              <a:t>i </a:t>
            </a:r>
            <a:r>
              <a:rPr lang="it-IT" sz="3600" b="1" i="1" u="sng" dirty="0" smtClean="0">
                <a:solidFill>
                  <a:srgbClr val="FFC000"/>
                </a:solidFill>
              </a:rPr>
              <a:t>principi</a:t>
            </a:r>
            <a:r>
              <a:rPr lang="it-IT" sz="3600" dirty="0" smtClean="0">
                <a:solidFill>
                  <a:srgbClr val="FFC000"/>
                </a:solidFill>
              </a:rPr>
              <a:t> che </a:t>
            </a:r>
            <a:r>
              <a:rPr lang="it-IT" sz="3600" dirty="0">
                <a:solidFill>
                  <a:srgbClr val="FFC000"/>
                </a:solidFill>
              </a:rPr>
              <a:t>aziende e organizzazioni </a:t>
            </a:r>
            <a:r>
              <a:rPr lang="it-IT" sz="3600" dirty="0" smtClean="0">
                <a:solidFill>
                  <a:srgbClr val="FFC000"/>
                </a:solidFill>
              </a:rPr>
              <a:t>devono rispettare </a:t>
            </a:r>
            <a:r>
              <a:rPr lang="it-IT" sz="3600" dirty="0">
                <a:solidFill>
                  <a:srgbClr val="FFC000"/>
                </a:solidFill>
              </a:rPr>
              <a:t>quando raccolgono e </a:t>
            </a:r>
            <a:r>
              <a:rPr lang="it-IT" sz="3600" dirty="0" smtClean="0">
                <a:solidFill>
                  <a:srgbClr val="FFC000"/>
                </a:solidFill>
              </a:rPr>
              <a:t>trattano i </a:t>
            </a:r>
            <a:r>
              <a:rPr lang="it-IT" sz="3600" dirty="0">
                <a:solidFill>
                  <a:srgbClr val="FFC000"/>
                </a:solidFill>
              </a:rPr>
              <a:t>dati personali dei residenti </a:t>
            </a:r>
            <a:r>
              <a:rPr lang="it-IT" sz="3600" dirty="0" smtClean="0">
                <a:solidFill>
                  <a:srgbClr val="FFC000"/>
                </a:solidFill>
              </a:rPr>
              <a:t>nell’Unione Europea</a:t>
            </a:r>
            <a:r>
              <a:rPr lang="it-IT" sz="3600" dirty="0">
                <a:solidFill>
                  <a:srgbClr val="FFC000"/>
                </a:solidFill>
              </a:rPr>
              <a:t>. </a:t>
            </a:r>
            <a:endParaRPr lang="it-IT" sz="3600" dirty="0" smtClean="0">
              <a:solidFill>
                <a:srgbClr val="FFC000"/>
              </a:solidFill>
            </a:endParaRPr>
          </a:p>
          <a:p>
            <a:pPr marL="0" indent="0" algn="just">
              <a:buNone/>
            </a:pPr>
            <a:r>
              <a:rPr lang="it-IT" sz="3600" dirty="0" smtClean="0"/>
              <a:t>I principi più </a:t>
            </a:r>
            <a:r>
              <a:rPr lang="it-IT" sz="3600" dirty="0"/>
              <a:t>importanti sono:</a:t>
            </a:r>
          </a:p>
        </p:txBody>
      </p:sp>
    </p:spTree>
    <p:extLst>
      <p:ext uri="{BB962C8B-B14F-4D97-AF65-F5344CB8AC3E}">
        <p14:creationId xmlns:p14="http://schemas.microsoft.com/office/powerpoint/2010/main" val="67948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82414" y="224987"/>
            <a:ext cx="8723586" cy="1477963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Liceità, correttezza e trasparenza: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819805" y="1839584"/>
            <a:ext cx="10704788" cy="35417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4400" dirty="0"/>
              <a:t>non si può fare nulla di illegale con </a:t>
            </a:r>
            <a:r>
              <a:rPr lang="it-IT" sz="4400" dirty="0" smtClean="0"/>
              <a:t>i dati </a:t>
            </a:r>
            <a:r>
              <a:rPr lang="it-IT" sz="4400" dirty="0"/>
              <a:t>degli utenti, che devono </a:t>
            </a:r>
            <a:r>
              <a:rPr lang="it-IT" sz="4400" dirty="0" smtClean="0"/>
              <a:t>essere informati </a:t>
            </a:r>
            <a:r>
              <a:rPr lang="it-IT" sz="4400" dirty="0"/>
              <a:t>in modo preciso e </a:t>
            </a:r>
            <a:r>
              <a:rPr lang="it-IT" sz="4400" dirty="0" smtClean="0"/>
              <a:t>completo circa </a:t>
            </a:r>
            <a:r>
              <a:rPr lang="it-IT" sz="4400" dirty="0"/>
              <a:t>il loro utilizzo.</a:t>
            </a:r>
          </a:p>
        </p:txBody>
      </p:sp>
    </p:spTree>
    <p:extLst>
      <p:ext uri="{BB962C8B-B14F-4D97-AF65-F5344CB8AC3E}">
        <p14:creationId xmlns:p14="http://schemas.microsoft.com/office/powerpoint/2010/main" val="208472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92772" y="619125"/>
            <a:ext cx="8613228" cy="1477963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Limitazione della finalità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50882" y="2249488"/>
            <a:ext cx="10089932" cy="35417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4000" dirty="0"/>
              <a:t>i dati </a:t>
            </a:r>
            <a:r>
              <a:rPr lang="it-IT" sz="4000" dirty="0" smtClean="0"/>
              <a:t>personali possono </a:t>
            </a:r>
            <a:r>
              <a:rPr lang="it-IT" sz="4000" dirty="0"/>
              <a:t>essere raccolti e </a:t>
            </a:r>
            <a:r>
              <a:rPr lang="it-IT" sz="4000" dirty="0" smtClean="0"/>
              <a:t>conservati solo </a:t>
            </a:r>
            <a:r>
              <a:rPr lang="it-IT" sz="4000" dirty="0"/>
              <a:t>per i motivi necessari </a:t>
            </a:r>
            <a:r>
              <a:rPr lang="it-IT" sz="4000" dirty="0" smtClean="0"/>
              <a:t>a fornire </a:t>
            </a:r>
            <a:r>
              <a:rPr lang="it-IT" sz="4000" dirty="0"/>
              <a:t>il servizio.</a:t>
            </a:r>
          </a:p>
        </p:txBody>
      </p:sp>
    </p:spTree>
    <p:extLst>
      <p:ext uri="{BB962C8B-B14F-4D97-AF65-F5344CB8AC3E}">
        <p14:creationId xmlns:p14="http://schemas.microsoft.com/office/powerpoint/2010/main" val="39790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781502" y="619125"/>
            <a:ext cx="8124497" cy="1477963"/>
          </a:xfrm>
        </p:spPr>
        <p:txBody>
          <a:bodyPr/>
          <a:lstStyle/>
          <a:p>
            <a:r>
              <a:rPr lang="it-IT" dirty="0">
                <a:solidFill>
                  <a:srgbClr val="FFC000"/>
                </a:solidFill>
              </a:rPr>
              <a:t>Minimizzazione dei </a:t>
            </a:r>
            <a:r>
              <a:rPr lang="it-IT" dirty="0" smtClean="0">
                <a:solidFill>
                  <a:srgbClr val="FFC000"/>
                </a:solidFill>
              </a:rPr>
              <a:t>dati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387366" y="2249488"/>
            <a:ext cx="9774620" cy="35417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4400" dirty="0"/>
              <a:t>non si </a:t>
            </a:r>
            <a:r>
              <a:rPr lang="it-IT" sz="4400" dirty="0" smtClean="0"/>
              <a:t>possono chiedere </a:t>
            </a:r>
            <a:r>
              <a:rPr lang="it-IT" sz="4400" dirty="0"/>
              <a:t>informazioni che </a:t>
            </a:r>
            <a:r>
              <a:rPr lang="it-IT" sz="4400" dirty="0" smtClean="0"/>
              <a:t>non siano </a:t>
            </a:r>
            <a:r>
              <a:rPr lang="it-IT" sz="4400" dirty="0"/>
              <a:t>utili a fornire il servizio.</a:t>
            </a:r>
          </a:p>
        </p:txBody>
      </p:sp>
    </p:spTree>
    <p:extLst>
      <p:ext uri="{BB962C8B-B14F-4D97-AF65-F5344CB8AC3E}">
        <p14:creationId xmlns:p14="http://schemas.microsoft.com/office/powerpoint/2010/main" val="93573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308538" y="619125"/>
            <a:ext cx="8597462" cy="1477963"/>
          </a:xfrm>
        </p:spPr>
        <p:txBody>
          <a:bodyPr/>
          <a:lstStyle/>
          <a:p>
            <a:r>
              <a:rPr lang="it-IT" b="1" dirty="0" smtClean="0">
                <a:solidFill>
                  <a:srgbClr val="FFC000"/>
                </a:solidFill>
              </a:rPr>
              <a:t>Esattezza, integrità </a:t>
            </a:r>
            <a:r>
              <a:rPr lang="it-IT" b="1" dirty="0">
                <a:solidFill>
                  <a:srgbClr val="FFC000"/>
                </a:solidFill>
              </a:rPr>
              <a:t>e riservatezza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35116" y="2249488"/>
            <a:ext cx="9932277" cy="3541712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it-IT" sz="4400" dirty="0"/>
              <a:t>eventuali errori o </a:t>
            </a:r>
            <a:r>
              <a:rPr lang="it-IT" sz="4400" dirty="0" smtClean="0"/>
              <a:t>imprecisioni dei </a:t>
            </a:r>
            <a:r>
              <a:rPr lang="it-IT" sz="4400" dirty="0"/>
              <a:t>dati vanno corretti </a:t>
            </a:r>
            <a:r>
              <a:rPr lang="it-IT" sz="4400" dirty="0" smtClean="0"/>
              <a:t>quanto prima.</a:t>
            </a:r>
          </a:p>
          <a:p>
            <a:pPr marL="742950" indent="-742950">
              <a:buFont typeface="+mj-lt"/>
              <a:buAutoNum type="arabicPeriod"/>
            </a:pPr>
            <a:r>
              <a:rPr lang="it-IT" sz="4400" dirty="0"/>
              <a:t>occorre che </a:t>
            </a:r>
            <a:r>
              <a:rPr lang="it-IT" sz="4400" dirty="0" smtClean="0"/>
              <a:t>gli archivi </a:t>
            </a:r>
            <a:r>
              <a:rPr lang="it-IT" sz="4400" dirty="0"/>
              <a:t>siano ben conservati e protetti</a:t>
            </a:r>
          </a:p>
        </p:txBody>
      </p:sp>
    </p:spTree>
    <p:extLst>
      <p:ext uri="{BB962C8B-B14F-4D97-AF65-F5344CB8AC3E}">
        <p14:creationId xmlns:p14="http://schemas.microsoft.com/office/powerpoint/2010/main" val="226655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324302" y="619125"/>
            <a:ext cx="8581697" cy="1477963"/>
          </a:xfrm>
        </p:spPr>
        <p:txBody>
          <a:bodyPr/>
          <a:lstStyle/>
          <a:p>
            <a:r>
              <a:rPr lang="it-IT" dirty="0">
                <a:solidFill>
                  <a:srgbClr val="FFC000"/>
                </a:solidFill>
              </a:rPr>
              <a:t>Limitazione della conservazione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98178" y="2249488"/>
            <a:ext cx="8707821" cy="35417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4400" dirty="0" smtClean="0"/>
              <a:t>I dati non </a:t>
            </a:r>
            <a:r>
              <a:rPr lang="it-IT" sz="4400" dirty="0"/>
              <a:t>possono essere registrati </a:t>
            </a:r>
            <a:r>
              <a:rPr lang="it-IT" sz="4400" dirty="0" smtClean="0"/>
              <a:t>per più del tempo </a:t>
            </a:r>
            <a:r>
              <a:rPr lang="it-IT" sz="4400" dirty="0"/>
              <a:t>necessario a fornire il servizio.</a:t>
            </a:r>
          </a:p>
        </p:txBody>
      </p:sp>
    </p:spTree>
    <p:extLst>
      <p:ext uri="{BB962C8B-B14F-4D97-AF65-F5344CB8AC3E}">
        <p14:creationId xmlns:p14="http://schemas.microsoft.com/office/powerpoint/2010/main" val="11456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29710" y="161925"/>
            <a:ext cx="8676290" cy="1477963"/>
          </a:xfrm>
        </p:spPr>
        <p:txBody>
          <a:bodyPr/>
          <a:lstStyle/>
          <a:p>
            <a:r>
              <a:rPr lang="it-IT" dirty="0" smtClean="0">
                <a:solidFill>
                  <a:srgbClr val="FFC000"/>
                </a:solidFill>
              </a:rPr>
              <a:t>Altri diritti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740978" y="1341438"/>
            <a:ext cx="11051629" cy="4525962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it-IT" sz="3000" dirty="0"/>
              <a:t>alla portabilità dei dati: se </a:t>
            </a:r>
            <a:r>
              <a:rPr lang="it-IT" sz="3000" dirty="0" smtClean="0"/>
              <a:t>l’utente vuole </a:t>
            </a:r>
            <a:r>
              <a:rPr lang="it-IT" sz="3000" dirty="0"/>
              <a:t>scaricare o trasferire foto, conversazioni</a:t>
            </a:r>
            <a:r>
              <a:rPr lang="it-IT" sz="3000" dirty="0" smtClean="0"/>
              <a:t>, video </a:t>
            </a:r>
            <a:r>
              <a:rPr lang="it-IT" sz="3000" dirty="0"/>
              <a:t>a un altro servizio, </a:t>
            </a:r>
            <a:r>
              <a:rPr lang="it-IT" sz="3000" dirty="0" smtClean="0"/>
              <a:t>lo deve </a:t>
            </a:r>
            <a:r>
              <a:rPr lang="it-IT" sz="3000" dirty="0"/>
              <a:t>poter fare senza essere bloccato;</a:t>
            </a:r>
          </a:p>
          <a:p>
            <a:pPr marL="514350" indent="-51435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it-IT" sz="3000" dirty="0" smtClean="0"/>
              <a:t>a </a:t>
            </a:r>
            <a:r>
              <a:rPr lang="it-IT" sz="3000" dirty="0"/>
              <a:t>un migliore accesso ai propri dati</a:t>
            </a:r>
            <a:r>
              <a:rPr lang="it-IT" sz="3000" dirty="0" smtClean="0"/>
              <a:t>: capire </a:t>
            </a:r>
            <a:r>
              <a:rPr lang="it-IT" sz="3000" dirty="0"/>
              <a:t>quali dati l’utente ha </a:t>
            </a:r>
            <a:r>
              <a:rPr lang="it-IT" sz="3000" dirty="0" smtClean="0"/>
              <a:t>consegnato non </a:t>
            </a:r>
            <a:r>
              <a:rPr lang="it-IT" sz="3000" dirty="0"/>
              <a:t>deve essere possibile solo a </a:t>
            </a:r>
            <a:r>
              <a:rPr lang="it-IT" sz="3000" dirty="0" smtClean="0"/>
              <a:t>superesperti informatici</a:t>
            </a:r>
            <a:r>
              <a:rPr lang="it-IT" sz="3000" dirty="0"/>
              <a:t>;</a:t>
            </a:r>
          </a:p>
          <a:p>
            <a:pPr marL="514350" indent="-51435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it-IT" sz="3000" dirty="0" smtClean="0"/>
              <a:t>all’oblio</a:t>
            </a:r>
            <a:r>
              <a:rPr lang="it-IT" sz="3000" dirty="0"/>
              <a:t>: l’utente deve poter </a:t>
            </a:r>
            <a:r>
              <a:rPr lang="it-IT" sz="3000" dirty="0" smtClean="0"/>
              <a:t>cancellare ogni </a:t>
            </a:r>
            <a:r>
              <a:rPr lang="it-IT" sz="3000" dirty="0"/>
              <a:t>traccia da un account o da un sito;</a:t>
            </a:r>
          </a:p>
          <a:p>
            <a:pPr marL="514350" indent="-51435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it-IT" sz="3000" dirty="0" smtClean="0"/>
              <a:t>di </a:t>
            </a:r>
            <a:r>
              <a:rPr lang="it-IT" sz="3000" dirty="0"/>
              <a:t>revoca: l’utente deve poter </a:t>
            </a:r>
            <a:r>
              <a:rPr lang="it-IT" sz="3000" dirty="0" smtClean="0"/>
              <a:t>cambiare quando </a:t>
            </a:r>
            <a:r>
              <a:rPr lang="it-IT" sz="3000" dirty="0"/>
              <a:t>vuole le autorizzazioni </a:t>
            </a:r>
            <a:r>
              <a:rPr lang="it-IT" sz="3000" dirty="0" smtClean="0"/>
              <a:t>date precedentemente</a:t>
            </a:r>
            <a:r>
              <a:rPr lang="it-IT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5372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1" y="1772816"/>
            <a:ext cx="6350857" cy="3850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tangolo 1"/>
          <p:cNvSpPr/>
          <p:nvPr/>
        </p:nvSpPr>
        <p:spPr>
          <a:xfrm>
            <a:off x="6681057" y="1443543"/>
            <a:ext cx="4901343" cy="450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sz="3000" dirty="0" smtClean="0"/>
              <a:t>Viviamo in un mondo sempre più digitale quindi anche </a:t>
            </a:r>
            <a:r>
              <a:rPr lang="it-IT" sz="3000" dirty="0"/>
              <a:t>il Web </a:t>
            </a:r>
            <a:r>
              <a:rPr lang="it-IT" sz="3000" dirty="0" smtClean="0"/>
              <a:t>rispetta i </a:t>
            </a:r>
            <a:r>
              <a:rPr lang="it-IT" sz="3000" dirty="0"/>
              <a:t>principi guida del #GDPR: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3000" b="1" dirty="0" err="1"/>
              <a:t>Accountability</a:t>
            </a:r>
            <a:r>
              <a:rPr lang="it-IT" sz="3000" b="1" dirty="0"/>
              <a:t>,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3000" b="1" dirty="0"/>
              <a:t>Privacy by design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3000" b="1" dirty="0"/>
              <a:t>e Privacy by default</a:t>
            </a:r>
          </a:p>
          <a:p>
            <a:endParaRPr lang="it-IT" sz="1200" dirty="0" smtClean="0"/>
          </a:p>
          <a:p>
            <a:r>
              <a:rPr lang="it-IT" sz="3000" dirty="0" smtClean="0"/>
              <a:t>Ma </a:t>
            </a:r>
            <a:r>
              <a:rPr lang="it-IT" sz="3000" dirty="0"/>
              <a:t>dove si raccolgono </a:t>
            </a:r>
          </a:p>
          <a:p>
            <a:r>
              <a:rPr lang="it-IT" sz="3000" dirty="0"/>
              <a:t>nel web i dati dell’utente?</a:t>
            </a:r>
          </a:p>
        </p:txBody>
      </p:sp>
      <p:sp>
        <p:nvSpPr>
          <p:cNvPr id="4" name="Titolo 1"/>
          <p:cNvSpPr txBox="1">
            <a:spLocks/>
          </p:cNvSpPr>
          <p:nvPr/>
        </p:nvSpPr>
        <p:spPr>
          <a:xfrm>
            <a:off x="623392" y="274638"/>
            <a:ext cx="10959008" cy="121014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 smtClean="0">
                <a:solidFill>
                  <a:srgbClr val="FFC000"/>
                </a:solidFill>
              </a:rPr>
              <a:t>Il G.D.P.R. ed il mondo digitale</a:t>
            </a:r>
            <a:endParaRPr lang="it-IT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20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623848" y="619125"/>
            <a:ext cx="8282152" cy="1477963"/>
          </a:xfrm>
        </p:spPr>
        <p:txBody>
          <a:bodyPr/>
          <a:lstStyle/>
          <a:p>
            <a:r>
              <a:rPr lang="it-IT" b="1" dirty="0" err="1" smtClean="0">
                <a:solidFill>
                  <a:srgbClr val="FFC000"/>
                </a:solidFill>
              </a:rPr>
              <a:t>Accountability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804040" y="2249488"/>
            <a:ext cx="10436774" cy="35417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4400" dirty="0"/>
              <a:t>la </a:t>
            </a:r>
            <a:r>
              <a:rPr lang="it-IT" sz="4400" b="1" dirty="0"/>
              <a:t>capacità di un sistema di identificare un singolo utente, di determinarne le azioni e il comportamento all'interno del sistema stesso</a:t>
            </a:r>
            <a:r>
              <a:rPr lang="it-IT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5246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418896" y="619125"/>
            <a:ext cx="8487103" cy="1477963"/>
          </a:xfrm>
        </p:spPr>
        <p:txBody>
          <a:bodyPr/>
          <a:lstStyle/>
          <a:p>
            <a:r>
              <a:rPr lang="it-IT" dirty="0" smtClean="0">
                <a:solidFill>
                  <a:srgbClr val="FFC000"/>
                </a:solidFill>
              </a:rPr>
              <a:t>Privacy by design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056290" y="2249488"/>
            <a:ext cx="10373710" cy="354171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it-IT" sz="4400" dirty="0"/>
              <a:t>Il principio della </a:t>
            </a:r>
            <a:r>
              <a:rPr lang="it-IT" sz="4400" b="1" i="1" u="sng" dirty="0"/>
              <a:t>privacy by design</a:t>
            </a:r>
            <a:r>
              <a:rPr lang="it-IT" sz="4400" dirty="0"/>
              <a:t> prevede </a:t>
            </a:r>
            <a:r>
              <a:rPr lang="it-IT" sz="4400" b="1" dirty="0"/>
              <a:t>che</a:t>
            </a:r>
            <a:r>
              <a:rPr lang="it-IT" sz="4400" dirty="0"/>
              <a:t> la protezione dei dati sia integrata nell'intero ciclo </a:t>
            </a:r>
            <a:r>
              <a:rPr lang="it-IT" sz="4400" b="1" dirty="0"/>
              <a:t>di</a:t>
            </a:r>
            <a:r>
              <a:rPr lang="it-IT" sz="4400" dirty="0"/>
              <a:t> vita della tecnologia, dalla primissima fase </a:t>
            </a:r>
            <a:r>
              <a:rPr lang="it-IT" sz="4400" b="1" dirty="0"/>
              <a:t>di</a:t>
            </a:r>
            <a:r>
              <a:rPr lang="it-IT" sz="4400" dirty="0"/>
              <a:t> progettazione fino alla sua ultima distribuzione, all'utilizzo e all'eliminazione finale.</a:t>
            </a:r>
          </a:p>
        </p:txBody>
      </p:sp>
    </p:spTree>
    <p:extLst>
      <p:ext uri="{BB962C8B-B14F-4D97-AF65-F5344CB8AC3E}">
        <p14:creationId xmlns:p14="http://schemas.microsoft.com/office/powerpoint/2010/main" val="5783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10972800" cy="1143000"/>
          </a:xfrm>
        </p:spPr>
        <p:txBody>
          <a:bodyPr/>
          <a:lstStyle/>
          <a:p>
            <a:r>
              <a:rPr lang="it-IT" dirty="0" smtClean="0">
                <a:solidFill>
                  <a:srgbClr val="FFC000"/>
                </a:solidFill>
              </a:rPr>
              <a:t>Privacy by default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614854" y="836613"/>
            <a:ext cx="11193517" cy="56165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2600" dirty="0"/>
              <a:t>Il principio di </a:t>
            </a:r>
            <a:r>
              <a:rPr lang="it-IT" sz="2600" i="1" dirty="0"/>
              <a:t>privacy by default</a:t>
            </a:r>
            <a:r>
              <a:rPr lang="it-IT" sz="2600" dirty="0"/>
              <a:t> (</a:t>
            </a:r>
            <a:r>
              <a:rPr lang="it-IT" sz="2600" b="1" dirty="0"/>
              <a:t>protezione per impostazione predefinita</a:t>
            </a:r>
            <a:r>
              <a:rPr lang="it-IT" sz="2600" dirty="0"/>
              <a:t>) </a:t>
            </a:r>
            <a:r>
              <a:rPr lang="it-IT" sz="2600" dirty="0" smtClean="0"/>
              <a:t>prevede che: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it-IT" sz="2600" dirty="0" smtClean="0"/>
              <a:t>le </a:t>
            </a:r>
            <a:r>
              <a:rPr lang="it-IT" sz="2600" dirty="0"/>
              <a:t>imprese </a:t>
            </a:r>
            <a:r>
              <a:rPr lang="it-IT" sz="2600" dirty="0" smtClean="0"/>
              <a:t>trattino </a:t>
            </a:r>
            <a:r>
              <a:rPr lang="it-IT" sz="2600" u="sng" dirty="0"/>
              <a:t>solo i dati personali nella misura necessaria e sufficiente per le finalità previste e per il periodo strettamente necessario a tali fini</a:t>
            </a:r>
            <a:r>
              <a:rPr lang="it-IT" sz="2600" dirty="0"/>
              <a:t>. </a:t>
            </a:r>
            <a:endParaRPr lang="it-IT" sz="2600" dirty="0" smtClean="0"/>
          </a:p>
          <a:p>
            <a:pPr marL="0" indent="0" algn="just">
              <a:buNone/>
            </a:pPr>
            <a:r>
              <a:rPr lang="it-IT" sz="2600" dirty="0" smtClean="0"/>
              <a:t>Occorre</a:t>
            </a:r>
            <a:r>
              <a:rPr lang="it-IT" sz="2600" dirty="0"/>
              <a:t>, quindi, progettare il sistema di trattamento di dati garantendo la </a:t>
            </a:r>
            <a:r>
              <a:rPr lang="it-IT" sz="2600" b="1" dirty="0"/>
              <a:t>non eccessività dei dati </a:t>
            </a:r>
            <a:r>
              <a:rPr lang="it-IT" sz="2600" b="1" dirty="0" smtClean="0"/>
              <a:t>raccolti (MINIMIZZAZIONE)</a:t>
            </a:r>
            <a:r>
              <a:rPr lang="it-IT" sz="2600" dirty="0"/>
              <a:t>,</a:t>
            </a:r>
            <a:r>
              <a:rPr lang="it-IT" sz="2600" dirty="0" smtClean="0"/>
              <a:t> </a:t>
            </a:r>
            <a:r>
              <a:rPr lang="it-IT" sz="2600" dirty="0"/>
              <a:t>in modo che l'interessato riceva un alto livello di protezione anche se non si attiva per limitare la raccolta dei </a:t>
            </a:r>
            <a:r>
              <a:rPr lang="it-IT" sz="2600" dirty="0" smtClean="0"/>
              <a:t>dati attraverso le scelte.</a:t>
            </a:r>
            <a:r>
              <a:rPr lang="it-IT" sz="2600" dirty="0"/>
              <a:t> </a:t>
            </a:r>
          </a:p>
          <a:p>
            <a:pPr marL="0" indent="0" algn="just">
              <a:buNone/>
            </a:pPr>
            <a:r>
              <a:rPr lang="it-IT" sz="2600" dirty="0"/>
              <a:t>Il principio in </a:t>
            </a:r>
            <a:r>
              <a:rPr lang="it-IT" sz="2600" dirty="0" smtClean="0"/>
              <a:t>questione tocca </a:t>
            </a:r>
            <a:r>
              <a:rPr lang="it-IT" sz="2600" dirty="0"/>
              <a:t>tutti gli aspetti del trattamento, non solo la quantità e qualità dei dati, ma anche il periodo di trattamento e le persone che possono accedere ai dati. </a:t>
            </a:r>
          </a:p>
          <a:p>
            <a:pPr algn="just"/>
            <a:endParaRPr lang="it-IT" sz="2600" dirty="0"/>
          </a:p>
        </p:txBody>
      </p:sp>
    </p:spTree>
    <p:extLst>
      <p:ext uri="{BB962C8B-B14F-4D97-AF65-F5344CB8AC3E}">
        <p14:creationId xmlns:p14="http://schemas.microsoft.com/office/powerpoint/2010/main" val="253947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idx="4294967295"/>
          </p:nvPr>
        </p:nvSpPr>
        <p:spPr>
          <a:xfrm>
            <a:off x="1119351" y="802837"/>
            <a:ext cx="9212317" cy="1470025"/>
          </a:xfrm>
        </p:spPr>
        <p:txBody>
          <a:bodyPr>
            <a:normAutofit/>
          </a:bodyPr>
          <a:lstStyle/>
          <a:p>
            <a:r>
              <a:rPr lang="it-IT" sz="6600" b="1" dirty="0" smtClean="0">
                <a:solidFill>
                  <a:srgbClr val="FFC000"/>
                </a:solidFill>
              </a:rPr>
              <a:t>Privacy Policy</a:t>
            </a:r>
            <a:endParaRPr lang="it-IT" sz="6600" b="1" dirty="0">
              <a:solidFill>
                <a:srgbClr val="FFC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4294967295"/>
          </p:nvPr>
        </p:nvSpPr>
        <p:spPr>
          <a:xfrm>
            <a:off x="1148036" y="1884910"/>
            <a:ext cx="11233150" cy="1223962"/>
          </a:xfrm>
        </p:spPr>
        <p:txBody>
          <a:bodyPr>
            <a:noAutofit/>
          </a:bodyPr>
          <a:lstStyle/>
          <a:p>
            <a:r>
              <a:rPr lang="it-IT" sz="3200" dirty="0" smtClean="0"/>
              <a:t>Le norme che regolano la protezione dei dati personali: </a:t>
            </a:r>
            <a:endParaRPr lang="it-IT" sz="3200" dirty="0"/>
          </a:p>
          <a:p>
            <a:r>
              <a:rPr lang="it-IT" sz="3200" dirty="0"/>
              <a:t>GDPR </a:t>
            </a:r>
            <a:r>
              <a:rPr lang="it-IT" sz="3200" dirty="0" smtClean="0"/>
              <a:t>(EU 679/2016),  Legge </a:t>
            </a:r>
            <a:r>
              <a:rPr lang="it-IT" sz="3200" dirty="0"/>
              <a:t>101/2018 </a:t>
            </a:r>
            <a:r>
              <a:rPr lang="it-IT" sz="3200" dirty="0" smtClean="0"/>
              <a:t>(armonizzazione)</a:t>
            </a:r>
            <a:endParaRPr lang="it-IT" sz="3200" dirty="0"/>
          </a:p>
        </p:txBody>
      </p:sp>
      <p:sp>
        <p:nvSpPr>
          <p:cNvPr id="4" name="Sottotitolo 2"/>
          <p:cNvSpPr txBox="1">
            <a:spLocks/>
          </p:cNvSpPr>
          <p:nvPr/>
        </p:nvSpPr>
        <p:spPr>
          <a:xfrm>
            <a:off x="719403" y="4005064"/>
            <a:ext cx="10849205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4400" dirty="0" smtClean="0"/>
              <a:t>Come avere un sito od un blog conforme alla normativa GDPR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01700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66648" y="274638"/>
            <a:ext cx="10882014" cy="1143000"/>
          </a:xfrm>
        </p:spPr>
        <p:txBody>
          <a:bodyPr>
            <a:noAutofit/>
          </a:bodyPr>
          <a:lstStyle/>
          <a:p>
            <a:r>
              <a:rPr lang="it-IT" sz="3600" b="1" dirty="0" smtClean="0">
                <a:solidFill>
                  <a:srgbClr val="FFC000"/>
                </a:solidFill>
              </a:rPr>
              <a:t>Perché è importante che un programmatore conosca le regole della privacy)</a:t>
            </a:r>
            <a:endParaRPr lang="it-IT" sz="3600" b="1" dirty="0">
              <a:solidFill>
                <a:srgbClr val="FFC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678616"/>
            <a:ext cx="11905323" cy="4774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9559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82414" y="188913"/>
            <a:ext cx="9790386" cy="1008062"/>
          </a:xfrm>
        </p:spPr>
        <p:txBody>
          <a:bodyPr/>
          <a:lstStyle/>
          <a:p>
            <a:r>
              <a:rPr lang="it-IT" b="1" dirty="0" smtClean="0">
                <a:solidFill>
                  <a:srgbClr val="FFC000"/>
                </a:solidFill>
              </a:rPr>
              <a:t>Quindi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961696" y="974725"/>
            <a:ext cx="10011103" cy="3081338"/>
          </a:xfrm>
        </p:spPr>
        <p:txBody>
          <a:bodyPr>
            <a:normAutofit/>
          </a:bodyPr>
          <a:lstStyle/>
          <a:p>
            <a:pPr algn="just"/>
            <a:r>
              <a:rPr lang="it-IT" sz="3000" dirty="0" smtClean="0"/>
              <a:t>Se non volete mettere nei guai il vostro datore di lavoro (e rischiare di perdere il lavoro stesso) o, nel caso diventiate voi stessi imprenditori, è bene tenere a mente le regole (semplici) che evitano di avere quelle multe molto «salate» indicate prima … </a:t>
            </a:r>
            <a:endParaRPr lang="it-IT" sz="3000" dirty="0"/>
          </a:p>
        </p:txBody>
      </p:sp>
      <p:pic>
        <p:nvPicPr>
          <p:cNvPr id="2050" name="Picture 2" descr="La sanzione amministrativa inflitta all'ente/società in house configura  danno erariale | Appalti e Società Pubblich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3833743"/>
            <a:ext cx="8064896" cy="2707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048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03446" y="188913"/>
            <a:ext cx="9869354" cy="1008062"/>
          </a:xfrm>
        </p:spPr>
        <p:txBody>
          <a:bodyPr>
            <a:normAutofit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Bisogna raccogliere il «consenso»</a:t>
            </a:r>
            <a:endParaRPr lang="it-IT" b="1" dirty="0">
              <a:solidFill>
                <a:srgbClr val="FFC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46" y="2276872"/>
            <a:ext cx="3360373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tangolo 4"/>
          <p:cNvSpPr/>
          <p:nvPr/>
        </p:nvSpPr>
        <p:spPr>
          <a:xfrm>
            <a:off x="5560435" y="1412777"/>
            <a:ext cx="3624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b="0" i="0" u="none" strike="noStrike" baseline="0" dirty="0" smtClean="0">
                <a:solidFill>
                  <a:srgbClr val="FF6500"/>
                </a:solidFill>
                <a:latin typeface="Wingdings 2"/>
              </a:rPr>
              <a:t></a:t>
            </a:r>
            <a:r>
              <a:rPr lang="it-IT" sz="3600" b="1" dirty="0"/>
              <a:t>Cookie</a:t>
            </a:r>
            <a:endParaRPr lang="it-IT" sz="3600" dirty="0"/>
          </a:p>
          <a:p>
            <a:r>
              <a:rPr lang="it-IT" sz="3600" b="0" i="0" u="none" strike="noStrike" baseline="0" dirty="0" smtClean="0">
                <a:solidFill>
                  <a:srgbClr val="FF6500"/>
                </a:solidFill>
                <a:latin typeface="Wingdings 2"/>
              </a:rPr>
              <a:t></a:t>
            </a:r>
            <a:r>
              <a:rPr lang="it-IT" sz="3600" b="1" dirty="0"/>
              <a:t>Form</a:t>
            </a:r>
            <a:endParaRPr lang="it-IT" sz="3600" dirty="0"/>
          </a:p>
        </p:txBody>
      </p:sp>
      <p:sp>
        <p:nvSpPr>
          <p:cNvPr id="6" name="Rettangolo 5"/>
          <p:cNvSpPr/>
          <p:nvPr/>
        </p:nvSpPr>
        <p:spPr>
          <a:xfrm>
            <a:off x="5560435" y="2967335"/>
            <a:ext cx="620019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dirty="0"/>
              <a:t>Come si raccolgono i dati </a:t>
            </a:r>
          </a:p>
          <a:p>
            <a:r>
              <a:rPr lang="it-IT" sz="3200" dirty="0"/>
              <a:t>e come si raccoglie </a:t>
            </a:r>
          </a:p>
          <a:p>
            <a:r>
              <a:rPr lang="it-IT" sz="3200" dirty="0"/>
              <a:t>il </a:t>
            </a:r>
            <a:r>
              <a:rPr lang="it-IT" sz="3200" b="1" i="1" dirty="0"/>
              <a:t>consenso dell’utente</a:t>
            </a:r>
            <a:r>
              <a:rPr lang="it-IT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14905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820" y="2117751"/>
            <a:ext cx="2976329" cy="290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024758" y="188913"/>
            <a:ext cx="9948041" cy="1008062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#Cookies: cosa sono? </a:t>
            </a:r>
          </a:p>
        </p:txBody>
      </p:sp>
      <p:sp>
        <p:nvSpPr>
          <p:cNvPr id="3" name="Rettangolo 2"/>
          <p:cNvSpPr/>
          <p:nvPr/>
        </p:nvSpPr>
        <p:spPr>
          <a:xfrm>
            <a:off x="488731" y="1216669"/>
            <a:ext cx="3975089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sz="3200" b="1" dirty="0" smtClean="0"/>
              <a:t> Cosa </a:t>
            </a:r>
            <a:r>
              <a:rPr lang="it-IT" sz="3200" b="1" dirty="0"/>
              <a:t>memorizzano?</a:t>
            </a:r>
            <a:endParaRPr lang="it-IT" sz="3200" dirty="0"/>
          </a:p>
          <a:p>
            <a:pPr marL="265113" indent="-26511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3200" dirty="0" smtClean="0"/>
              <a:t>scelte </a:t>
            </a:r>
            <a:r>
              <a:rPr lang="it-IT" sz="3200" dirty="0"/>
              <a:t>di tipo grafico o linguistico</a:t>
            </a:r>
          </a:p>
          <a:p>
            <a:pPr marL="265113" indent="-26511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3200" dirty="0" smtClean="0"/>
              <a:t>il </a:t>
            </a:r>
            <a:r>
              <a:rPr lang="it-IT" sz="3200" dirty="0"/>
              <a:t>contenuto di </a:t>
            </a:r>
            <a:r>
              <a:rPr lang="it-IT" sz="3200" dirty="0" smtClean="0"/>
              <a:t>quanto </a:t>
            </a:r>
            <a:r>
              <a:rPr lang="it-IT" sz="3200" dirty="0"/>
              <a:t>è stato messo nel carrello </a:t>
            </a:r>
            <a:r>
              <a:rPr lang="it-IT" sz="3200" dirty="0" smtClean="0"/>
              <a:t>di un e-commerce</a:t>
            </a:r>
            <a:endParaRPr lang="it-IT" sz="3200" dirty="0"/>
          </a:p>
          <a:p>
            <a:pPr marL="265113" indent="-265113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3200" dirty="0" smtClean="0"/>
              <a:t>le </a:t>
            </a:r>
            <a:r>
              <a:rPr lang="it-IT" sz="3200" dirty="0"/>
              <a:t>interazioni e le preferenze per fini statistici o pubblicitari</a:t>
            </a:r>
          </a:p>
        </p:txBody>
      </p:sp>
      <p:sp>
        <p:nvSpPr>
          <p:cNvPr id="4" name="Rettangolo 3"/>
          <p:cNvSpPr/>
          <p:nvPr/>
        </p:nvSpPr>
        <p:spPr>
          <a:xfrm>
            <a:off x="7677807" y="1628800"/>
            <a:ext cx="417883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b="1" dirty="0"/>
              <a:t>Quali Cookies esistono</a:t>
            </a:r>
            <a:r>
              <a:rPr lang="it-IT" sz="2800" b="1" dirty="0" smtClean="0"/>
              <a:t>?</a:t>
            </a:r>
          </a:p>
          <a:p>
            <a:endParaRPr lang="it-IT" sz="2800" dirty="0"/>
          </a:p>
          <a:p>
            <a:r>
              <a:rPr lang="it-IT" sz="2800" dirty="0" smtClean="0"/>
              <a:t>1.Tecnici</a:t>
            </a:r>
          </a:p>
          <a:p>
            <a:endParaRPr lang="it-IT" sz="2800" dirty="0"/>
          </a:p>
          <a:p>
            <a:r>
              <a:rPr lang="it-IT" sz="2800" dirty="0"/>
              <a:t>2.di terze </a:t>
            </a:r>
            <a:r>
              <a:rPr lang="it-IT" sz="2800" dirty="0" smtClean="0"/>
              <a:t>parti</a:t>
            </a:r>
          </a:p>
          <a:p>
            <a:endParaRPr lang="it-IT" sz="2800" dirty="0"/>
          </a:p>
          <a:p>
            <a:r>
              <a:rPr lang="it-IT" sz="2800" dirty="0"/>
              <a:t>3.di </a:t>
            </a:r>
            <a:r>
              <a:rPr lang="it-IT" sz="2800" dirty="0" err="1"/>
              <a:t>profilazione</a:t>
            </a:r>
            <a:endParaRPr lang="it-IT" sz="2800" dirty="0"/>
          </a:p>
        </p:txBody>
      </p:sp>
      <p:sp>
        <p:nvSpPr>
          <p:cNvPr id="7" name="Rettangolo 6"/>
          <p:cNvSpPr/>
          <p:nvPr/>
        </p:nvSpPr>
        <p:spPr>
          <a:xfrm>
            <a:off x="4726394" y="4436459"/>
            <a:ext cx="18806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200" b="0" i="0" u="none" strike="noStrike" baseline="0" dirty="0" smtClean="0">
                <a:solidFill>
                  <a:schemeClr val="bg1"/>
                </a:solidFill>
                <a:latin typeface="Bauhaus 93"/>
              </a:rPr>
              <a:t>COOKIES</a:t>
            </a:r>
            <a:endParaRPr lang="it-IT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688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28" y="170243"/>
            <a:ext cx="1056117" cy="103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427244" y="188913"/>
            <a:ext cx="9545555" cy="1008062"/>
          </a:xfrm>
        </p:spPr>
        <p:txBody>
          <a:bodyPr>
            <a:normAutofit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#</a:t>
            </a:r>
            <a:r>
              <a:rPr lang="it-IT" b="1" dirty="0">
                <a:solidFill>
                  <a:srgbClr val="FFC000"/>
                </a:solidFill>
              </a:rPr>
              <a:t>Cookies: per chiarezza</a:t>
            </a:r>
          </a:p>
        </p:txBody>
      </p:sp>
      <p:sp>
        <p:nvSpPr>
          <p:cNvPr id="7" name="Rettangolo 6"/>
          <p:cNvSpPr/>
          <p:nvPr/>
        </p:nvSpPr>
        <p:spPr>
          <a:xfrm>
            <a:off x="297015" y="944153"/>
            <a:ext cx="12481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b="0" i="0" u="none" strike="noStrike" baseline="0" dirty="0" smtClean="0">
                <a:solidFill>
                  <a:schemeClr val="bg1"/>
                </a:solidFill>
                <a:latin typeface="Bauhaus 93"/>
              </a:rPr>
              <a:t>COOKIES</a:t>
            </a:r>
            <a:endParaRPr lang="it-IT" sz="1200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00512"/>
            <a:ext cx="12191999" cy="578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448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28" y="170243"/>
            <a:ext cx="1056117" cy="103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2119313" y="188913"/>
            <a:ext cx="10072687" cy="1008062"/>
          </a:xfrm>
        </p:spPr>
        <p:txBody>
          <a:bodyPr>
            <a:normAutofit fontScale="90000"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#Cookies </a:t>
            </a:r>
            <a:br>
              <a:rPr lang="it-IT" b="1" dirty="0" smtClean="0">
                <a:solidFill>
                  <a:srgbClr val="FFC000"/>
                </a:solidFill>
              </a:rPr>
            </a:br>
            <a:r>
              <a:rPr lang="it-IT" b="1" dirty="0" smtClean="0">
                <a:solidFill>
                  <a:srgbClr val="FFC000"/>
                </a:solidFill>
              </a:rPr>
              <a:t>#</a:t>
            </a:r>
            <a:r>
              <a:rPr lang="it-IT" b="1" dirty="0">
                <a:solidFill>
                  <a:srgbClr val="FFC000"/>
                </a:solidFill>
              </a:rPr>
              <a:t>Banner: cosa non fare / cosa fare?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97015" y="944153"/>
            <a:ext cx="12481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b="0" i="0" u="none" strike="noStrike" baseline="0" dirty="0" smtClean="0">
                <a:solidFill>
                  <a:schemeClr val="bg1"/>
                </a:solidFill>
                <a:latin typeface="Bauhaus 93"/>
              </a:rPr>
              <a:t>COOKIES</a:t>
            </a:r>
            <a:endParaRPr lang="it-IT" sz="1200" dirty="0">
              <a:solidFill>
                <a:schemeClr val="bg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89" y="1484784"/>
            <a:ext cx="1128057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13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28" y="170243"/>
            <a:ext cx="1056117" cy="103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2119313" y="188913"/>
            <a:ext cx="10072687" cy="1008062"/>
          </a:xfrm>
        </p:spPr>
        <p:txBody>
          <a:bodyPr>
            <a:normAutofit fontScale="90000"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#Cookies </a:t>
            </a:r>
            <a:br>
              <a:rPr lang="it-IT" b="1" dirty="0" smtClean="0">
                <a:solidFill>
                  <a:srgbClr val="FFC000"/>
                </a:solidFill>
              </a:rPr>
            </a:br>
            <a:r>
              <a:rPr lang="it-IT" b="1" dirty="0">
                <a:solidFill>
                  <a:srgbClr val="FFC000"/>
                </a:solidFill>
              </a:rPr>
              <a:t>#Banner, alcuni esempi</a:t>
            </a:r>
          </a:p>
        </p:txBody>
      </p:sp>
      <p:sp>
        <p:nvSpPr>
          <p:cNvPr id="7" name="Rettangolo 6"/>
          <p:cNvSpPr/>
          <p:nvPr/>
        </p:nvSpPr>
        <p:spPr>
          <a:xfrm>
            <a:off x="297015" y="944153"/>
            <a:ext cx="12481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b="0" i="0" u="none" strike="noStrike" baseline="0" dirty="0" smtClean="0">
                <a:solidFill>
                  <a:schemeClr val="bg1"/>
                </a:solidFill>
                <a:latin typeface="Bauhaus 93"/>
              </a:rPr>
              <a:t>COOKIES</a:t>
            </a:r>
            <a:endParaRPr lang="it-IT" sz="1200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93033"/>
            <a:ext cx="12164231" cy="1690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780929"/>
            <a:ext cx="12164231" cy="2053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834196"/>
            <a:ext cx="12164231" cy="1882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778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371600" y="414174"/>
            <a:ext cx="8550166" cy="1477963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#Form e consenso</a:t>
            </a:r>
          </a:p>
        </p:txBody>
      </p:sp>
      <p:sp>
        <p:nvSpPr>
          <p:cNvPr id="3" name="Rettangolo 2"/>
          <p:cNvSpPr/>
          <p:nvPr/>
        </p:nvSpPr>
        <p:spPr>
          <a:xfrm>
            <a:off x="993227" y="1484785"/>
            <a:ext cx="731101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dirty="0"/>
              <a:t>E nei </a:t>
            </a:r>
            <a:r>
              <a:rPr lang="it-IT" sz="3600" dirty="0" err="1"/>
              <a:t>form</a:t>
            </a:r>
            <a:r>
              <a:rPr lang="it-IT" sz="3600" dirty="0" smtClean="0"/>
              <a:t>?</a:t>
            </a:r>
          </a:p>
          <a:p>
            <a:r>
              <a:rPr lang="it-IT" sz="1200" dirty="0" smtClean="0"/>
              <a:t> </a:t>
            </a:r>
            <a:endParaRPr lang="it-IT" sz="1200" dirty="0"/>
          </a:p>
          <a:p>
            <a:r>
              <a:rPr lang="it-IT" sz="3600" dirty="0"/>
              <a:t>Come si raccoglie il consenso?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053" y="2852936"/>
            <a:ext cx="50800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/>
          <p:cNvSpPr/>
          <p:nvPr/>
        </p:nvSpPr>
        <p:spPr>
          <a:xfrm>
            <a:off x="1410642" y="4233257"/>
            <a:ext cx="4688365" cy="954107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sz="2800" b="1" dirty="0"/>
              <a:t>SCOPRI </a:t>
            </a:r>
            <a:endParaRPr lang="it-IT" sz="2800" dirty="0"/>
          </a:p>
          <a:p>
            <a:pPr algn="ctr"/>
            <a:r>
              <a:rPr lang="it-IT" sz="2800" b="1" dirty="0"/>
              <a:t>LE 3 REGOLE D’ORO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650574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351179" y="161925"/>
            <a:ext cx="9906000" cy="1477963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#Form e consenso</a:t>
            </a:r>
          </a:p>
        </p:txBody>
      </p:sp>
      <p:sp>
        <p:nvSpPr>
          <p:cNvPr id="3" name="Rettangolo 2"/>
          <p:cNvSpPr/>
          <p:nvPr/>
        </p:nvSpPr>
        <p:spPr>
          <a:xfrm>
            <a:off x="835571" y="1201061"/>
            <a:ext cx="11229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b="1" u="sng" dirty="0"/>
              <a:t>#Consenso: le 3 regole d’oro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299" y="3068960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tangolo 4"/>
          <p:cNvSpPr/>
          <p:nvPr/>
        </p:nvSpPr>
        <p:spPr>
          <a:xfrm>
            <a:off x="709448" y="1847392"/>
            <a:ext cx="807485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>
              <a:spcAft>
                <a:spcPts val="1200"/>
              </a:spcAft>
            </a:pPr>
            <a:r>
              <a:rPr lang="it-IT" sz="3200" b="1" dirty="0" smtClean="0"/>
              <a:t>1</a:t>
            </a:r>
            <a:r>
              <a:rPr lang="it-IT" sz="3200" b="1" dirty="0"/>
              <a:t>. </a:t>
            </a:r>
            <a:r>
              <a:rPr lang="it-IT" sz="3200" b="1" dirty="0" smtClean="0"/>
              <a:t> </a:t>
            </a:r>
            <a:r>
              <a:rPr lang="it-IT" sz="3200" dirty="0" smtClean="0"/>
              <a:t>Il </a:t>
            </a:r>
            <a:r>
              <a:rPr lang="it-IT" sz="3200" b="1" dirty="0"/>
              <a:t>consenso </a:t>
            </a:r>
            <a:r>
              <a:rPr lang="it-IT" sz="3200" dirty="0"/>
              <a:t>al/ai </a:t>
            </a:r>
            <a:r>
              <a:rPr lang="it-IT" sz="3200" dirty="0" smtClean="0"/>
              <a:t>trattamento/i dei </a:t>
            </a:r>
            <a:r>
              <a:rPr lang="it-IT" sz="3200" dirty="0"/>
              <a:t>dati personali deve essere </a:t>
            </a:r>
            <a:r>
              <a:rPr lang="it-IT" sz="3200" b="1" dirty="0" smtClean="0"/>
              <a:t>preventivo, libero ed esplicito</a:t>
            </a:r>
            <a:r>
              <a:rPr lang="it-IT" sz="3200" dirty="0"/>
              <a:t>.</a:t>
            </a:r>
          </a:p>
          <a:p>
            <a:pPr marL="265113" indent="-265113">
              <a:spcAft>
                <a:spcPts val="1200"/>
              </a:spcAft>
            </a:pPr>
            <a:r>
              <a:rPr lang="it-IT" sz="3200" b="1" dirty="0" smtClean="0"/>
              <a:t>2. </a:t>
            </a:r>
            <a:r>
              <a:rPr lang="it-IT" sz="3200" dirty="0" smtClean="0"/>
              <a:t> Il </a:t>
            </a:r>
            <a:r>
              <a:rPr lang="it-IT" sz="3200" dirty="0"/>
              <a:t>consenso va chiesto in modo specifico per finalità di </a:t>
            </a:r>
            <a:r>
              <a:rPr lang="it-IT" sz="3200" b="1" dirty="0"/>
              <a:t>marketing diretto </a:t>
            </a:r>
            <a:r>
              <a:rPr lang="it-IT" sz="3200" dirty="0"/>
              <a:t>e/o di </a:t>
            </a:r>
            <a:r>
              <a:rPr lang="it-IT" sz="3200" b="1" dirty="0" err="1" smtClean="0"/>
              <a:t>profilazione</a:t>
            </a:r>
            <a:r>
              <a:rPr lang="it-IT" sz="3200" b="1" dirty="0" smtClean="0"/>
              <a:t> </a:t>
            </a:r>
            <a:r>
              <a:rPr lang="it-IT" sz="3200" dirty="0" smtClean="0"/>
              <a:t>connessa al </a:t>
            </a:r>
            <a:r>
              <a:rPr lang="it-IT" sz="3200" dirty="0"/>
              <a:t>marketing diretto.</a:t>
            </a:r>
          </a:p>
          <a:p>
            <a:pPr marL="265113" indent="-265113">
              <a:spcAft>
                <a:spcPts val="1200"/>
              </a:spcAft>
            </a:pPr>
            <a:r>
              <a:rPr lang="it-IT" sz="3200" b="1" dirty="0" smtClean="0"/>
              <a:t>3</a:t>
            </a:r>
            <a:r>
              <a:rPr lang="it-IT" sz="3200" b="1" dirty="0"/>
              <a:t>. </a:t>
            </a:r>
            <a:r>
              <a:rPr lang="it-IT" sz="3200" b="1" dirty="0" smtClean="0"/>
              <a:t> </a:t>
            </a:r>
            <a:r>
              <a:rPr lang="it-IT" sz="3200" dirty="0" smtClean="0"/>
              <a:t>Il </a:t>
            </a:r>
            <a:r>
              <a:rPr lang="it-IT" sz="3200" dirty="0"/>
              <a:t>consenso deve poter essere </a:t>
            </a:r>
            <a:r>
              <a:rPr lang="it-IT" sz="3200" dirty="0" smtClean="0"/>
              <a:t>revocato In </a:t>
            </a:r>
            <a:r>
              <a:rPr lang="it-IT" sz="3200" dirty="0"/>
              <a:t>qualsiasi momento con la stessa </a:t>
            </a:r>
            <a:r>
              <a:rPr lang="it-IT" sz="3200" b="1" dirty="0" smtClean="0"/>
              <a:t>facilità </a:t>
            </a:r>
            <a:r>
              <a:rPr lang="it-IT" sz="3200" dirty="0" smtClean="0"/>
              <a:t>con </a:t>
            </a:r>
            <a:r>
              <a:rPr lang="it-IT" sz="3200" dirty="0"/>
              <a:t>cui è accordato.</a:t>
            </a:r>
          </a:p>
        </p:txBody>
      </p:sp>
    </p:spTree>
    <p:extLst>
      <p:ext uri="{BB962C8B-B14F-4D97-AF65-F5344CB8AC3E}">
        <p14:creationId xmlns:p14="http://schemas.microsoft.com/office/powerpoint/2010/main" val="455576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2384425" y="274638"/>
            <a:ext cx="9807575" cy="1143000"/>
          </a:xfrm>
        </p:spPr>
        <p:txBody>
          <a:bodyPr/>
          <a:lstStyle/>
          <a:p>
            <a:r>
              <a:rPr lang="it-IT" b="1" dirty="0" smtClean="0">
                <a:solidFill>
                  <a:srgbClr val="FFC000"/>
                </a:solidFill>
              </a:rPr>
              <a:t>#Form di consenso: cosa fare</a:t>
            </a:r>
            <a:endParaRPr lang="it-IT" b="1" dirty="0">
              <a:solidFill>
                <a:srgbClr val="FFC00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2"/>
            <a:ext cx="1595668" cy="119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1412777"/>
            <a:ext cx="11417300" cy="5013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25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923393" y="256518"/>
            <a:ext cx="8092966" cy="1477963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#</a:t>
            </a:r>
            <a:r>
              <a:rPr lang="it-IT" b="1" dirty="0" smtClean="0">
                <a:solidFill>
                  <a:srgbClr val="FFC000"/>
                </a:solidFill>
              </a:rPr>
              <a:t>Form di </a:t>
            </a:r>
            <a:r>
              <a:rPr lang="it-IT" b="1" dirty="0">
                <a:solidFill>
                  <a:srgbClr val="FFC000"/>
                </a:solidFill>
              </a:rPr>
              <a:t>consenso: cosa non fare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1" y="1900238"/>
            <a:ext cx="11595100" cy="3833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53" y="204954"/>
            <a:ext cx="1595668" cy="119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3498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idx="4294967295"/>
          </p:nvPr>
        </p:nvSpPr>
        <p:spPr>
          <a:xfrm>
            <a:off x="1135117" y="765175"/>
            <a:ext cx="11056883" cy="1470025"/>
          </a:xfrm>
        </p:spPr>
        <p:txBody>
          <a:bodyPr/>
          <a:lstStyle/>
          <a:p>
            <a:r>
              <a:rPr lang="it-IT" b="1" dirty="0" smtClean="0">
                <a:solidFill>
                  <a:srgbClr val="FFC000"/>
                </a:solidFill>
              </a:rPr>
              <a:t>L’INFORMATIVA PRIVACY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760991" y="2780928"/>
            <a:ext cx="10945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3600" dirty="0"/>
              <a:t>L'informativa privacy è una dichiarazione </a:t>
            </a:r>
            <a:r>
              <a:rPr lang="it-IT" sz="3600" dirty="0" smtClean="0"/>
              <a:t>(corrispondente ad un documento contrattuale di valore legale) </a:t>
            </a:r>
            <a:r>
              <a:rPr lang="it-IT" sz="3600" dirty="0"/>
              <a:t>che indica come un'azienda o un sito Web raccoglie, gestisce ed elabora i dati dei propri clienti e visitatori.</a:t>
            </a:r>
          </a:p>
        </p:txBody>
      </p:sp>
    </p:spTree>
    <p:extLst>
      <p:ext uri="{BB962C8B-B14F-4D97-AF65-F5344CB8AC3E}">
        <p14:creationId xmlns:p14="http://schemas.microsoft.com/office/powerpoint/2010/main" val="96305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66648" y="274638"/>
            <a:ext cx="10545927" cy="1354137"/>
          </a:xfrm>
        </p:spPr>
        <p:txBody>
          <a:bodyPr>
            <a:noAutofit/>
          </a:bodyPr>
          <a:lstStyle/>
          <a:p>
            <a:pPr algn="ctr"/>
            <a:r>
              <a:rPr lang="it-IT" sz="3600" b="1" u="sng" dirty="0" smtClean="0">
                <a:solidFill>
                  <a:srgbClr val="FFC000"/>
                </a:solidFill>
              </a:rPr>
              <a:t>Quando si usa </a:t>
            </a:r>
            <a:br>
              <a:rPr lang="it-IT" sz="3600" b="1" u="sng" dirty="0" smtClean="0">
                <a:solidFill>
                  <a:srgbClr val="FFC000"/>
                </a:solidFill>
              </a:rPr>
            </a:br>
            <a:r>
              <a:rPr lang="it-IT" sz="3600" b="1" dirty="0" smtClean="0">
                <a:solidFill>
                  <a:srgbClr val="FFC000"/>
                </a:solidFill>
              </a:rPr>
              <a:t>l'informativa privacy per Siti Internet o </a:t>
            </a:r>
            <a:r>
              <a:rPr lang="it-IT" sz="3600" b="1" dirty="0" err="1" smtClean="0">
                <a:solidFill>
                  <a:srgbClr val="FFC000"/>
                </a:solidFill>
              </a:rPr>
              <a:t>App</a:t>
            </a:r>
            <a:r>
              <a:rPr lang="it-IT" sz="3600" b="1" dirty="0" smtClean="0">
                <a:solidFill>
                  <a:srgbClr val="FFC000"/>
                </a:solidFill>
              </a:rPr>
              <a:t/>
            </a:r>
            <a:br>
              <a:rPr lang="it-IT" sz="3600" b="1" dirty="0" smtClean="0">
                <a:solidFill>
                  <a:srgbClr val="FFC000"/>
                </a:solidFill>
              </a:rPr>
            </a:br>
            <a:endParaRPr lang="it-IT" sz="3600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219200" y="1196975"/>
            <a:ext cx="10399986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3200" dirty="0"/>
              <a:t>La privacy policy per siti internet e </a:t>
            </a:r>
            <a:r>
              <a:rPr lang="it-IT" sz="3200" dirty="0" err="1"/>
              <a:t>app</a:t>
            </a:r>
            <a:r>
              <a:rPr lang="it-IT" sz="3200" dirty="0"/>
              <a:t> si usa per comunicare agli utenti le informazioni personali raccolte da un </a:t>
            </a:r>
            <a:r>
              <a:rPr lang="it-IT" sz="3200" b="1" dirty="0"/>
              <a:t>sito web </a:t>
            </a:r>
            <a:r>
              <a:rPr lang="it-IT" sz="3200" dirty="0"/>
              <a:t>o da un'</a:t>
            </a:r>
            <a:r>
              <a:rPr lang="it-IT" sz="3200" b="1" dirty="0"/>
              <a:t>applicazione desktop o mobile</a:t>
            </a:r>
            <a:r>
              <a:rPr lang="it-IT" sz="3200" dirty="0"/>
              <a:t>. </a:t>
            </a:r>
            <a:endParaRPr lang="it-IT" sz="3200" dirty="0" smtClean="0"/>
          </a:p>
          <a:p>
            <a:pPr marL="0" indent="0" algn="just">
              <a:buNone/>
            </a:pPr>
            <a:r>
              <a:rPr lang="it-IT" sz="3200" dirty="0" smtClean="0"/>
              <a:t>Questo </a:t>
            </a:r>
            <a:r>
              <a:rPr lang="it-IT" sz="3200" b="1" u="sng" dirty="0"/>
              <a:t>documento</a:t>
            </a:r>
            <a:r>
              <a:rPr lang="it-IT" sz="3200" dirty="0"/>
              <a:t> può essere</a:t>
            </a:r>
            <a:r>
              <a:rPr lang="it-IT" sz="3200" b="1" dirty="0"/>
              <a:t> pubblicato online</a:t>
            </a:r>
            <a:r>
              <a:rPr lang="it-IT" sz="3200" dirty="0"/>
              <a:t> sul proprio sito oppure all'interno di un'applicazione. </a:t>
            </a:r>
            <a:endParaRPr lang="it-IT" sz="3200" dirty="0" smtClean="0"/>
          </a:p>
          <a:p>
            <a:pPr marL="0" indent="0" algn="just">
              <a:buNone/>
            </a:pPr>
            <a:r>
              <a:rPr lang="it-IT" sz="3200" dirty="0" smtClean="0"/>
              <a:t>Inoltre</a:t>
            </a:r>
            <a:r>
              <a:rPr lang="it-IT" sz="3200" dirty="0"/>
              <a:t>, può essere utilizzato per qualsiasi tipologia di servizio online fornito agli utenti (ad es. blog, e-commerce, siti di informazione, e-</a:t>
            </a:r>
            <a:r>
              <a:rPr lang="it-IT" sz="3200" dirty="0" err="1"/>
              <a:t>marketplace</a:t>
            </a:r>
            <a:r>
              <a:rPr lang="it-IT" sz="3200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3960349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283779" y="274638"/>
            <a:ext cx="11333546" cy="1354137"/>
          </a:xfrm>
        </p:spPr>
        <p:txBody>
          <a:bodyPr>
            <a:noAutofit/>
          </a:bodyPr>
          <a:lstStyle/>
          <a:p>
            <a:pPr algn="ctr"/>
            <a:r>
              <a:rPr lang="it-IT" sz="3600" b="1" u="sng" dirty="0">
                <a:solidFill>
                  <a:srgbClr val="FFC000"/>
                </a:solidFill>
              </a:rPr>
              <a:t>Quando si usa </a:t>
            </a:r>
            <a:r>
              <a:rPr lang="it-IT" sz="3600" b="1" u="sng" dirty="0" smtClean="0">
                <a:solidFill>
                  <a:srgbClr val="FFC000"/>
                </a:solidFill>
              </a:rPr>
              <a:t/>
            </a:r>
            <a:br>
              <a:rPr lang="it-IT" sz="3600" b="1" u="sng" dirty="0" smtClean="0">
                <a:solidFill>
                  <a:srgbClr val="FFC000"/>
                </a:solidFill>
              </a:rPr>
            </a:br>
            <a:r>
              <a:rPr lang="it-IT" sz="3600" b="1" dirty="0" smtClean="0">
                <a:solidFill>
                  <a:srgbClr val="FFC000"/>
                </a:solidFill>
              </a:rPr>
              <a:t>l'informativa </a:t>
            </a:r>
            <a:r>
              <a:rPr lang="it-IT" sz="3600" b="1" dirty="0">
                <a:solidFill>
                  <a:srgbClr val="FFC000"/>
                </a:solidFill>
              </a:rPr>
              <a:t>privacy per Siti Internet o </a:t>
            </a:r>
            <a:r>
              <a:rPr lang="it-IT" sz="3600" b="1" dirty="0" err="1">
                <a:solidFill>
                  <a:srgbClr val="FFC000"/>
                </a:solidFill>
              </a:rPr>
              <a:t>App</a:t>
            </a:r>
            <a:r>
              <a:rPr lang="it-IT" sz="3600" b="1" dirty="0">
                <a:solidFill>
                  <a:srgbClr val="FFC000"/>
                </a:solidFill>
              </a:rPr>
              <a:t/>
            </a:r>
            <a:br>
              <a:rPr lang="it-IT" sz="3600" b="1" dirty="0">
                <a:solidFill>
                  <a:srgbClr val="FFC000"/>
                </a:solidFill>
              </a:rPr>
            </a:br>
            <a:endParaRPr lang="it-IT" sz="3600" dirty="0">
              <a:solidFill>
                <a:srgbClr val="FFC000"/>
              </a:solidFill>
            </a:endParaRPr>
          </a:p>
        </p:txBody>
      </p:sp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882868" y="1303557"/>
            <a:ext cx="10436773" cy="354171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it-IT" sz="3000" dirty="0"/>
              <a:t>Inoltre, l'informativa privacy si utilizza per informare le persone sul trattamento di </a:t>
            </a:r>
            <a:r>
              <a:rPr lang="it-IT" sz="3000" b="1" dirty="0"/>
              <a:t>diverse tipologie di dati </a:t>
            </a:r>
            <a:r>
              <a:rPr lang="it-IT" sz="3000" dirty="0"/>
              <a:t>raccolti, come ad esempio:</a:t>
            </a:r>
          </a:p>
          <a:p>
            <a:pPr marL="361950" indent="-361950" algn="just">
              <a:lnSpc>
                <a:spcPct val="100000"/>
              </a:lnSpc>
              <a:spcBef>
                <a:spcPts val="600"/>
              </a:spcBef>
            </a:pPr>
            <a:r>
              <a:rPr lang="it-IT" sz="3000" b="1" dirty="0"/>
              <a:t>tecnici identificativi</a:t>
            </a:r>
            <a:r>
              <a:rPr lang="it-IT" sz="3000" dirty="0"/>
              <a:t>, come l'indirizzo IP, il tipo di browser e il provider Internet</a:t>
            </a:r>
          </a:p>
          <a:p>
            <a:pPr marL="361950" indent="-361950" algn="just">
              <a:lnSpc>
                <a:spcPct val="100000"/>
              </a:lnSpc>
              <a:spcBef>
                <a:spcPts val="600"/>
              </a:spcBef>
            </a:pPr>
            <a:r>
              <a:rPr lang="it-IT" sz="3000" dirty="0"/>
              <a:t>di </a:t>
            </a:r>
            <a:r>
              <a:rPr lang="it-IT" sz="3000" b="1" dirty="0"/>
              <a:t>navigazione </a:t>
            </a:r>
            <a:r>
              <a:rPr lang="it-IT" sz="3000" dirty="0"/>
              <a:t>e di</a:t>
            </a:r>
            <a:r>
              <a:rPr lang="it-IT" sz="3000" b="1" dirty="0"/>
              <a:t> utilizzo</a:t>
            </a:r>
            <a:r>
              <a:rPr lang="it-IT" sz="3000" dirty="0"/>
              <a:t>, come pagine visitate, azioni compiute e durata delle sessioni</a:t>
            </a:r>
          </a:p>
          <a:p>
            <a:pPr marL="361950" indent="-361950" algn="just">
              <a:lnSpc>
                <a:spcPct val="100000"/>
              </a:lnSpc>
              <a:spcBef>
                <a:spcPts val="600"/>
              </a:spcBef>
            </a:pPr>
            <a:r>
              <a:rPr lang="it-IT" sz="3000" b="1" dirty="0"/>
              <a:t>fiscali </a:t>
            </a:r>
            <a:r>
              <a:rPr lang="it-IT" sz="3000" dirty="0"/>
              <a:t>e di</a:t>
            </a:r>
            <a:r>
              <a:rPr lang="it-IT" sz="3000" b="1" dirty="0"/>
              <a:t> pagamento</a:t>
            </a:r>
            <a:r>
              <a:rPr lang="it-IT" sz="3000" dirty="0"/>
              <a:t>, come la partita IVA e gli estremi del conto corrente bancario</a:t>
            </a:r>
          </a:p>
          <a:p>
            <a:pPr marL="361950" indent="-361950" algn="just">
              <a:lnSpc>
                <a:spcPct val="100000"/>
              </a:lnSpc>
              <a:spcBef>
                <a:spcPts val="600"/>
              </a:spcBef>
            </a:pPr>
            <a:r>
              <a:rPr lang="it-IT" sz="3000" dirty="0"/>
              <a:t>di </a:t>
            </a:r>
            <a:r>
              <a:rPr lang="it-IT" sz="3000" b="1" dirty="0" err="1"/>
              <a:t>geolocalizzazione</a:t>
            </a:r>
            <a:r>
              <a:rPr lang="it-IT" sz="3000" dirty="0"/>
              <a:t>, come le coordinate geografiche esatte ricavate da un GPS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it-IT" sz="3000" dirty="0"/>
          </a:p>
        </p:txBody>
      </p:sp>
    </p:spTree>
    <p:extLst>
      <p:ext uri="{BB962C8B-B14F-4D97-AF65-F5344CB8AC3E}">
        <p14:creationId xmlns:p14="http://schemas.microsoft.com/office/powerpoint/2010/main" val="1895725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1008993" y="1628800"/>
            <a:ext cx="10452538" cy="443536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3200" dirty="0"/>
              <a:t>Con </a:t>
            </a:r>
            <a:r>
              <a:rPr lang="it-IT" sz="3200" dirty="0" smtClean="0"/>
              <a:t>l’informativa privacy (ricordiamo che è un documento) </a:t>
            </a:r>
            <a:r>
              <a:rPr lang="it-IT" sz="3200" dirty="0"/>
              <a:t>è possibile comunicare gli scopi per cui vengono trattati i dati, scegliendo tra </a:t>
            </a:r>
            <a:r>
              <a:rPr lang="it-IT" sz="3200" b="1" dirty="0"/>
              <a:t>diverse finalità</a:t>
            </a:r>
            <a:r>
              <a:rPr lang="it-IT" sz="3200" dirty="0"/>
              <a:t>. </a:t>
            </a:r>
            <a:endParaRPr lang="it-IT" sz="3200" dirty="0" smtClean="0"/>
          </a:p>
          <a:p>
            <a:pPr marL="0" indent="0" algn="just">
              <a:buNone/>
            </a:pPr>
            <a:r>
              <a:rPr lang="it-IT" sz="3200" dirty="0" smtClean="0"/>
              <a:t>Ad </a:t>
            </a:r>
            <a:r>
              <a:rPr lang="it-IT" sz="3200" dirty="0"/>
              <a:t>esempio, si può scegliere una finalità di contatto come la registrazione e autenticazione dell'utente o l'interazione con i social network oppure finalità di marketing come l'invio di </a:t>
            </a:r>
            <a:r>
              <a:rPr lang="it-IT" sz="3200" dirty="0" smtClean="0"/>
              <a:t/>
            </a:r>
            <a:br>
              <a:rPr lang="it-IT" sz="3200" dirty="0" smtClean="0"/>
            </a:br>
            <a:r>
              <a:rPr lang="it-IT" sz="3200" dirty="0" smtClean="0"/>
              <a:t>e-mail </a:t>
            </a:r>
            <a:r>
              <a:rPr lang="it-IT" sz="3200" dirty="0"/>
              <a:t>con informazioni commerciali e promozionali.</a:t>
            </a:r>
          </a:p>
        </p:txBody>
      </p:sp>
      <p:sp>
        <p:nvSpPr>
          <p:cNvPr id="5" name="Titolo 1"/>
          <p:cNvSpPr txBox="1">
            <a:spLocks/>
          </p:cNvSpPr>
          <p:nvPr/>
        </p:nvSpPr>
        <p:spPr>
          <a:xfrm>
            <a:off x="239350" y="274638"/>
            <a:ext cx="11713301" cy="1354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600" b="1" u="sng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 si usa </a:t>
            </a:r>
            <a:br>
              <a:rPr lang="it-IT" sz="3600" b="1" u="sng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6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l'informativa privacy per Siti Internet o </a:t>
            </a:r>
            <a:r>
              <a:rPr lang="it-IT" sz="3600" b="1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  <a:r>
              <a:rPr lang="it-IT" sz="36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it-IT" sz="36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58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851337" y="1839585"/>
            <a:ext cx="10704787" cy="35417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3200" dirty="0" smtClean="0"/>
              <a:t>Quando </a:t>
            </a:r>
            <a:r>
              <a:rPr lang="it-IT" sz="3200" dirty="0"/>
              <a:t>vengono trattati dati di </a:t>
            </a:r>
            <a:r>
              <a:rPr lang="it-IT" sz="3200" b="1" dirty="0"/>
              <a:t>utenti </a:t>
            </a:r>
            <a:r>
              <a:rPr lang="it-IT" sz="3200" b="1" dirty="0" smtClean="0"/>
              <a:t>stranieri </a:t>
            </a:r>
            <a:r>
              <a:rPr lang="it-IT" sz="3200" dirty="0" smtClean="0"/>
              <a:t> è necessario creare </a:t>
            </a:r>
            <a:r>
              <a:rPr lang="it-IT" sz="3200" dirty="0"/>
              <a:t>il documento in </a:t>
            </a:r>
            <a:r>
              <a:rPr lang="it-IT" sz="3200" b="1" dirty="0"/>
              <a:t>lingua inglese</a:t>
            </a:r>
            <a:r>
              <a:rPr lang="it-IT" sz="3200" dirty="0"/>
              <a:t> o in doppia lingua per facilitarne la consultazione. </a:t>
            </a:r>
            <a:endParaRPr lang="it-IT" sz="3200" dirty="0" smtClean="0"/>
          </a:p>
          <a:p>
            <a:pPr marL="0" indent="0" algn="just">
              <a:buNone/>
            </a:pPr>
            <a:r>
              <a:rPr lang="it-IT" sz="3200" dirty="0" smtClean="0"/>
              <a:t>Infatti</a:t>
            </a:r>
            <a:r>
              <a:rPr lang="it-IT" sz="3200" dirty="0"/>
              <a:t>, </a:t>
            </a:r>
            <a:r>
              <a:rPr lang="it-IT" sz="3200" dirty="0" smtClean="0"/>
              <a:t>l'informativa, per essere valida, deve  </a:t>
            </a:r>
            <a:r>
              <a:rPr lang="it-IT" sz="3200" dirty="0"/>
              <a:t>essere </a:t>
            </a:r>
            <a:r>
              <a:rPr lang="it-IT" sz="3200" u="sng" dirty="0">
                <a:solidFill>
                  <a:srgbClr val="FFC000"/>
                </a:solidFill>
              </a:rPr>
              <a:t>comprensibile a tutti </a:t>
            </a:r>
            <a:r>
              <a:rPr lang="it-IT" sz="3200" dirty="0"/>
              <a:t>e dovrà pertanto essere tradotta in tutte le </a:t>
            </a:r>
            <a:r>
              <a:rPr lang="it-IT" sz="3200" dirty="0" smtClean="0"/>
              <a:t>lingue degli utenti stranieri registrati.</a:t>
            </a:r>
            <a:endParaRPr lang="it-IT" sz="3200" dirty="0"/>
          </a:p>
        </p:txBody>
      </p:sp>
      <p:sp>
        <p:nvSpPr>
          <p:cNvPr id="5" name="Titolo 1"/>
          <p:cNvSpPr>
            <a:spLocks noGrp="1"/>
          </p:cNvSpPr>
          <p:nvPr>
            <p:ph type="title" idx="4294967295"/>
          </p:nvPr>
        </p:nvSpPr>
        <p:spPr>
          <a:xfrm>
            <a:off x="1182414" y="274638"/>
            <a:ext cx="10530161" cy="1354137"/>
          </a:xfrm>
        </p:spPr>
        <p:txBody>
          <a:bodyPr>
            <a:noAutofit/>
          </a:bodyPr>
          <a:lstStyle/>
          <a:p>
            <a:pPr algn="ctr"/>
            <a:r>
              <a:rPr lang="it-IT" sz="3600" b="1" u="sng" dirty="0" smtClean="0">
                <a:solidFill>
                  <a:srgbClr val="FFC000"/>
                </a:solidFill>
              </a:rPr>
              <a:t>Quando si usa </a:t>
            </a:r>
            <a:br>
              <a:rPr lang="it-IT" sz="3600" b="1" u="sng" dirty="0" smtClean="0">
                <a:solidFill>
                  <a:srgbClr val="FFC000"/>
                </a:solidFill>
              </a:rPr>
            </a:br>
            <a:r>
              <a:rPr lang="it-IT" sz="3600" b="1" dirty="0" smtClean="0">
                <a:solidFill>
                  <a:srgbClr val="FFC000"/>
                </a:solidFill>
              </a:rPr>
              <a:t>l'informativa privacy per Siti Internet o </a:t>
            </a:r>
            <a:r>
              <a:rPr lang="it-IT" sz="3600" b="1" dirty="0" err="1" smtClean="0">
                <a:solidFill>
                  <a:srgbClr val="FFC000"/>
                </a:solidFill>
              </a:rPr>
              <a:t>App</a:t>
            </a:r>
            <a:r>
              <a:rPr lang="it-IT" sz="3600" b="1" dirty="0" smtClean="0">
                <a:solidFill>
                  <a:srgbClr val="FFC000"/>
                </a:solidFill>
              </a:rPr>
              <a:t/>
            </a:r>
            <a:br>
              <a:rPr lang="it-IT" sz="3600" b="1" dirty="0" smtClean="0">
                <a:solidFill>
                  <a:srgbClr val="FFC000"/>
                </a:solidFill>
              </a:rPr>
            </a:br>
            <a:endParaRPr lang="it-IT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417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>
            <a:spLocks noGrp="1"/>
          </p:cNvSpPr>
          <p:nvPr>
            <p:ph type="ctrTitle" idx="4294967295"/>
          </p:nvPr>
        </p:nvSpPr>
        <p:spPr>
          <a:xfrm>
            <a:off x="977463" y="2020998"/>
            <a:ext cx="10389475" cy="2387600"/>
          </a:xfrm>
        </p:spPr>
        <p:txBody>
          <a:bodyPr>
            <a:noAutofit/>
          </a:bodyPr>
          <a:lstStyle/>
          <a:p>
            <a:pPr algn="ctr"/>
            <a:r>
              <a:rPr lang="it-IT" sz="5400" b="1" dirty="0">
                <a:solidFill>
                  <a:srgbClr val="FFC000"/>
                </a:solidFill>
              </a:rPr>
              <a:t>Cosa contiene il modello di privacy policy conforme </a:t>
            </a:r>
            <a:r>
              <a:rPr lang="it-IT" sz="5400" b="1" dirty="0" smtClean="0">
                <a:solidFill>
                  <a:srgbClr val="FFC000"/>
                </a:solidFill>
              </a:rPr>
              <a:t>al </a:t>
            </a:r>
            <a:r>
              <a:rPr lang="it-IT" sz="5400" b="1" dirty="0">
                <a:solidFill>
                  <a:srgbClr val="FFC000"/>
                </a:solidFill>
              </a:rPr>
              <a:t>GDPR</a:t>
            </a:r>
          </a:p>
        </p:txBody>
      </p:sp>
    </p:spTree>
    <p:extLst>
      <p:ext uri="{BB962C8B-B14F-4D97-AF65-F5344CB8AC3E}">
        <p14:creationId xmlns:p14="http://schemas.microsoft.com/office/powerpoint/2010/main" val="2000459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898634" y="1773238"/>
            <a:ext cx="10547132" cy="43529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3200" b="1" u="sng" dirty="0"/>
              <a:t>Tipologie di dati personali raccolti</a:t>
            </a:r>
            <a:r>
              <a:rPr lang="it-IT" sz="3200" u="sng" dirty="0"/>
              <a:t>: </a:t>
            </a:r>
            <a:endParaRPr lang="it-IT" sz="3200" u="sng" dirty="0" smtClean="0"/>
          </a:p>
          <a:p>
            <a:pPr marL="0" indent="0" algn="just">
              <a:buNone/>
            </a:pPr>
            <a:r>
              <a:rPr lang="it-IT" sz="3200" dirty="0" smtClean="0"/>
              <a:t>bisogna individuare bene quali sono i dati sono raccolti . </a:t>
            </a:r>
          </a:p>
          <a:p>
            <a:pPr algn="just"/>
            <a:r>
              <a:rPr lang="it-IT" sz="3200" dirty="0" smtClean="0"/>
              <a:t>I dati forniti volontariamente dall'utente </a:t>
            </a:r>
            <a:r>
              <a:rPr lang="it-IT" sz="3200" dirty="0"/>
              <a:t>(dati di contatto, informazioni, contenuti, dati sensibili, </a:t>
            </a:r>
            <a:r>
              <a:rPr lang="it-IT" sz="3200" dirty="0" smtClean="0"/>
              <a:t>ed i dati </a:t>
            </a:r>
            <a:r>
              <a:rPr lang="it-IT" sz="3200" dirty="0"/>
              <a:t>raccolti da social media, etc.) </a:t>
            </a:r>
            <a:endParaRPr lang="it-IT" sz="3200" dirty="0" smtClean="0"/>
          </a:p>
          <a:p>
            <a:pPr algn="just"/>
            <a:r>
              <a:rPr lang="it-IT" sz="3200" dirty="0" smtClean="0"/>
              <a:t>I </a:t>
            </a:r>
            <a:r>
              <a:rPr lang="it-IT" sz="3200" dirty="0"/>
              <a:t>dati acquisiti automaticamente (dati di utilizzo, dati di </a:t>
            </a:r>
            <a:r>
              <a:rPr lang="it-IT" sz="3200" dirty="0" err="1"/>
              <a:t>geolocalizzazione</a:t>
            </a:r>
            <a:r>
              <a:rPr lang="it-IT" sz="3200" dirty="0"/>
              <a:t>, dati raccolti tramite cookie, etc</a:t>
            </a:r>
            <a:r>
              <a:rPr lang="it-IT" sz="3200" dirty="0" smtClean="0"/>
              <a:t>.)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729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961697" y="1626531"/>
            <a:ext cx="10625958" cy="4137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200" b="1" u="sng" dirty="0" smtClean="0"/>
              <a:t>Finalità del trattamento</a:t>
            </a:r>
            <a:r>
              <a:rPr lang="it-IT" sz="3200" u="sng" dirty="0" smtClean="0"/>
              <a:t>: </a:t>
            </a:r>
          </a:p>
          <a:p>
            <a:pPr marL="0" indent="0" algn="just">
              <a:buNone/>
            </a:pPr>
            <a:r>
              <a:rPr lang="it-IT" sz="3200" dirty="0" smtClean="0"/>
              <a:t>devono essere elencati gli scopi per cui si raccolgono i dati personali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3200" dirty="0" smtClean="0"/>
              <a:t>finalità di marketing,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3200" dirty="0" err="1" smtClean="0"/>
              <a:t>profilazione</a:t>
            </a:r>
            <a:r>
              <a:rPr lang="it-IT" sz="3200" dirty="0" smtClean="0"/>
              <a:t> dell'utente,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3200" dirty="0" smtClean="0"/>
              <a:t>gestione dei pagamenti,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3200" dirty="0" smtClean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534378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040524" y="1844675"/>
            <a:ext cx="10310648" cy="4281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200" b="1" u="sng" dirty="0" smtClean="0"/>
              <a:t>Modalità del trattamento</a:t>
            </a:r>
            <a:r>
              <a:rPr lang="it-IT" sz="3200" u="sng" dirty="0" smtClean="0"/>
              <a:t>: </a:t>
            </a:r>
          </a:p>
          <a:p>
            <a:pPr marL="0" indent="0">
              <a:buNone/>
            </a:pPr>
            <a:endParaRPr lang="it-IT" sz="3200" dirty="0"/>
          </a:p>
          <a:p>
            <a:pPr marL="0" indent="0" algn="just">
              <a:buNone/>
            </a:pPr>
            <a:r>
              <a:rPr lang="it-IT" sz="3200" dirty="0" smtClean="0"/>
              <a:t>devono essere indicati gli strumenti elettronici o manuali con i quali si raccolgono i dati, le modalità di organizzazione dei dati, le misure di sicurezza per impedire l’accesso, la divulgazione, la modifica o la distruzione non autorizzate dei dati</a:t>
            </a:r>
          </a:p>
        </p:txBody>
      </p:sp>
    </p:spTree>
    <p:extLst>
      <p:ext uri="{BB962C8B-B14F-4D97-AF65-F5344CB8AC3E}">
        <p14:creationId xmlns:p14="http://schemas.microsoft.com/office/powerpoint/2010/main" val="2944897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35116" y="1934178"/>
            <a:ext cx="8770883" cy="3541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200" b="1" u="sng" dirty="0" smtClean="0"/>
              <a:t>Destinatari dei dati</a:t>
            </a:r>
            <a:r>
              <a:rPr lang="it-IT" sz="3200" u="sng" dirty="0" smtClean="0"/>
              <a:t>: </a:t>
            </a:r>
          </a:p>
          <a:p>
            <a:pPr marL="0" indent="0">
              <a:buNone/>
            </a:pPr>
            <a:endParaRPr lang="it-IT" sz="3200" dirty="0"/>
          </a:p>
          <a:p>
            <a:pPr marL="0" indent="0" algn="just">
              <a:buNone/>
            </a:pPr>
            <a:r>
              <a:rPr lang="it-IT" sz="3200" dirty="0" smtClean="0"/>
              <a:t>devono essere indicati i nomi dei soggetti terzi destinatari dei dati o le categorie economiche o merceologiche di appartenenza (ad es. consulenti di marketing, spedizionieri, etc.)</a:t>
            </a:r>
          </a:p>
          <a:p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3486307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851338" y="1600200"/>
            <a:ext cx="10670737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200" b="1" u="sng" dirty="0" smtClean="0"/>
              <a:t>Base giuridica del trattamento</a:t>
            </a:r>
            <a:r>
              <a:rPr lang="it-IT" sz="3200" u="sng" dirty="0" smtClean="0"/>
              <a:t>: 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it-IT" sz="3200" dirty="0" smtClean="0"/>
              <a:t>Va indicato il fondamento su cui si fonda</a:t>
            </a:r>
            <a:r>
              <a:rPr lang="it-IT" sz="3200" b="1" dirty="0" smtClean="0"/>
              <a:t> </a:t>
            </a:r>
            <a:r>
              <a:rPr lang="it-IT" sz="3200" dirty="0" smtClean="0"/>
              <a:t>il trattamento che può essere:</a:t>
            </a:r>
          </a:p>
          <a:p>
            <a:pPr marL="530225" indent="-44132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t-IT" sz="3200" dirty="0" smtClean="0"/>
              <a:t>consenso, </a:t>
            </a:r>
          </a:p>
          <a:p>
            <a:pPr marL="530225" indent="-44132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t-IT" sz="3200" dirty="0" smtClean="0"/>
              <a:t>obbligo di legge, </a:t>
            </a:r>
          </a:p>
          <a:p>
            <a:pPr marL="530225" indent="-44132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t-IT" sz="3200" dirty="0" smtClean="0"/>
              <a:t>obbligo contrattuale, </a:t>
            </a:r>
          </a:p>
          <a:p>
            <a:pPr marL="530225" indent="-441325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t-IT" sz="3200" dirty="0" smtClean="0"/>
              <a:t>etc.</a:t>
            </a:r>
          </a:p>
          <a:p>
            <a:endParaRPr lang="it-IT" sz="3200" dirty="0" smtClean="0"/>
          </a:p>
          <a:p>
            <a:endParaRPr lang="it-IT" sz="3200" dirty="0" smtClean="0"/>
          </a:p>
          <a:p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4059743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977461" y="1997240"/>
            <a:ext cx="10326414" cy="3541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b="1" u="sng" dirty="0" smtClean="0"/>
              <a:t>Luogo</a:t>
            </a:r>
            <a:r>
              <a:rPr lang="it-IT" sz="3600" u="sng" dirty="0" smtClean="0"/>
              <a:t>: </a:t>
            </a:r>
          </a:p>
          <a:p>
            <a:pPr marL="0" indent="0">
              <a:buNone/>
            </a:pPr>
            <a:endParaRPr lang="it-IT" sz="3600" dirty="0"/>
          </a:p>
          <a:p>
            <a:pPr marL="536575" indent="-536575" algn="just">
              <a:buFont typeface="Wingdings" panose="05000000000000000000" pitchFamily="2" charset="2"/>
              <a:buChar char="Ø"/>
            </a:pPr>
            <a:r>
              <a:rPr lang="it-IT" sz="3600" dirty="0" smtClean="0"/>
              <a:t>dove vengono conservati i dati;</a:t>
            </a:r>
          </a:p>
          <a:p>
            <a:pPr marL="536575" indent="-536575" algn="just">
              <a:buFont typeface="Wingdings" panose="05000000000000000000" pitchFamily="2" charset="2"/>
              <a:buChar char="Ø"/>
            </a:pPr>
            <a:r>
              <a:rPr lang="it-IT" sz="3600" dirty="0" smtClean="0"/>
              <a:t>Evidenza specifica va data se i dati vengono trasferiti in un paese extra UE.</a:t>
            </a:r>
          </a:p>
          <a:p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4215945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308538" y="1623848"/>
            <a:ext cx="9906000" cy="3284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b="1" u="sng" dirty="0" smtClean="0"/>
              <a:t>Processi decisionali automatizzati: </a:t>
            </a:r>
          </a:p>
          <a:p>
            <a:pPr marL="0" indent="0">
              <a:buNone/>
            </a:pPr>
            <a:endParaRPr lang="it-IT" sz="3600" b="1" dirty="0"/>
          </a:p>
          <a:p>
            <a:pPr marL="0" indent="0" algn="just">
              <a:buNone/>
            </a:pPr>
            <a:r>
              <a:rPr lang="it-IT" sz="3600" dirty="0" smtClean="0"/>
              <a:t>se assumi delle decisioni attraverso mezzi tecnologici, senza il coinvolgimento umano e con effetti giuridici o altri effetti significativi simili che riguardano la persona o le sue abitudini.</a:t>
            </a:r>
          </a:p>
        </p:txBody>
      </p:sp>
    </p:spTree>
    <p:extLst>
      <p:ext uri="{BB962C8B-B14F-4D97-AF65-F5344CB8AC3E}">
        <p14:creationId xmlns:p14="http://schemas.microsoft.com/office/powerpoint/2010/main" val="3819191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98178" y="1272026"/>
            <a:ext cx="10499835" cy="354171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it-IT" sz="3600" b="1" dirty="0" smtClean="0"/>
          </a:p>
          <a:p>
            <a:pPr marL="0" indent="0">
              <a:buNone/>
            </a:pPr>
            <a:r>
              <a:rPr lang="it-IT" sz="3600" b="1" u="sng" dirty="0" smtClean="0"/>
              <a:t>Periodo di conservazione dei dati</a:t>
            </a:r>
            <a:r>
              <a:rPr lang="it-IT" sz="3600" u="sng" dirty="0" smtClean="0"/>
              <a:t>: </a:t>
            </a:r>
          </a:p>
          <a:p>
            <a:pPr marL="0" indent="0">
              <a:buNone/>
            </a:pPr>
            <a:endParaRPr lang="it-IT" sz="3600" dirty="0"/>
          </a:p>
          <a:p>
            <a:pPr marL="0" indent="0">
              <a:buNone/>
            </a:pPr>
            <a:r>
              <a:rPr lang="it-IT" sz="3600" dirty="0" smtClean="0"/>
              <a:t>per quanto tempo i dati personali dell’Utente vengono conservati;</a:t>
            </a:r>
          </a:p>
          <a:p>
            <a:endParaRPr lang="it-IT" sz="3600" dirty="0" smtClean="0"/>
          </a:p>
          <a:p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30596213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008993" y="1473693"/>
            <a:ext cx="10578662" cy="43529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3200" b="1" u="sng" dirty="0" smtClean="0"/>
              <a:t>Diritti esercitabili dagli utenti</a:t>
            </a:r>
            <a:r>
              <a:rPr lang="it-IT" sz="3200" u="sng" dirty="0" smtClean="0"/>
              <a:t>: 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it-IT" sz="3200" dirty="0" smtClean="0"/>
              <a:t>la normativa richiede espressamente di inserire l’elenco di cosa può fare un utente</a:t>
            </a:r>
          </a:p>
          <a:p>
            <a:pPr marL="633413" indent="-6334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it-IT" sz="3200" dirty="0"/>
              <a:t>m</a:t>
            </a:r>
            <a:r>
              <a:rPr lang="it-IT" sz="3200" dirty="0" smtClean="0"/>
              <a:t>odificare i consensi,</a:t>
            </a:r>
          </a:p>
          <a:p>
            <a:pPr marL="633413" indent="-6334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it-IT" sz="3200" dirty="0" smtClean="0"/>
              <a:t>chiedere la rimozione dati, </a:t>
            </a:r>
          </a:p>
          <a:p>
            <a:pPr marL="633413" indent="-6334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it-IT" sz="3200" dirty="0" smtClean="0"/>
              <a:t>la cancellazione, </a:t>
            </a:r>
          </a:p>
          <a:p>
            <a:pPr marL="633413" indent="-6334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it-IT" sz="3200" dirty="0" smtClean="0"/>
              <a:t>la trasformazione in forma anonima,</a:t>
            </a:r>
          </a:p>
          <a:p>
            <a:pPr marL="633413" indent="-6334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it-IT" sz="3200" dirty="0" smtClean="0"/>
              <a:t>il blocco dei dati, </a:t>
            </a:r>
          </a:p>
          <a:p>
            <a:pPr marL="633413" indent="-6334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it-IT" sz="3200" dirty="0" smtClean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961011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898634" y="1844675"/>
            <a:ext cx="10610194" cy="428148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it-IT" sz="3200" b="1" u="sng" dirty="0" smtClean="0"/>
              <a:t>Dati identificativi del titolare del trattamento e/o del responsabile della protezione dei dati (DPO)</a:t>
            </a:r>
            <a:r>
              <a:rPr lang="it-IT" sz="3200" u="sng" dirty="0" smtClean="0"/>
              <a:t>: 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it-IT" sz="800" dirty="0" smtClean="0"/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it-IT" sz="3200" dirty="0"/>
              <a:t>D</a:t>
            </a:r>
            <a:r>
              <a:rPr lang="it-IT" sz="3200" dirty="0" smtClean="0"/>
              <a:t>evono essere inseriti tutti i dati per identificare e contattare chi determina le finalità e i mezzi del </a:t>
            </a:r>
            <a:r>
              <a:rPr lang="it-IT" sz="3200" b="1" u="sng" dirty="0" smtClean="0"/>
              <a:t>trattamento</a:t>
            </a:r>
            <a:r>
              <a:rPr lang="it-IT" sz="3200" dirty="0" smtClean="0"/>
              <a:t> di dati personali. 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it-IT" sz="800" dirty="0" smtClean="0"/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it-IT" sz="3200" dirty="0" smtClean="0"/>
              <a:t>Se nominato, va indicato anche il </a:t>
            </a:r>
            <a:r>
              <a:rPr lang="it-IT" sz="3200" b="1" u="sng" dirty="0" smtClean="0"/>
              <a:t>responsabile della protezione dei dati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165024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82412" y="1619140"/>
            <a:ext cx="9900745" cy="4065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b="1" u="sng" dirty="0" smtClean="0"/>
              <a:t>Lingua:</a:t>
            </a:r>
          </a:p>
          <a:p>
            <a:pPr marL="0" indent="0" algn="just">
              <a:buNone/>
            </a:pPr>
            <a:r>
              <a:rPr lang="it-IT" sz="3600" dirty="0" smtClean="0"/>
              <a:t>nel caso in cui i propri utenti siano stranieri è obbligatorio generare il documento anche in tutte le lingue in cui vengono richiesti i dati nel sito web o nell’</a:t>
            </a:r>
            <a:r>
              <a:rPr lang="it-IT" sz="3600" dirty="0" err="1" smtClean="0"/>
              <a:t>app</a:t>
            </a:r>
            <a:r>
              <a:rPr lang="it-IT" sz="3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882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35413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Cosa contiene il modello di privacy policy conforme alla GDPR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1056290" y="2060575"/>
            <a:ext cx="10389476" cy="40655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3600" u="sng" dirty="0"/>
              <a:t>Per completare la privacy policy sono necessari tutti i </a:t>
            </a:r>
            <a:r>
              <a:rPr lang="it-IT" sz="3600" b="1" u="sng" dirty="0"/>
              <a:t>dati del sito o </a:t>
            </a:r>
            <a:r>
              <a:rPr lang="it-IT" sz="3600" b="1" u="sng" dirty="0" err="1"/>
              <a:t>App</a:t>
            </a:r>
            <a:r>
              <a:rPr lang="it-IT" sz="3600" u="sng" dirty="0"/>
              <a:t> e del </a:t>
            </a:r>
            <a:r>
              <a:rPr lang="it-IT" sz="3600" b="1" u="sng" dirty="0" smtClean="0"/>
              <a:t>titolare</a:t>
            </a:r>
            <a:r>
              <a:rPr lang="it-IT" sz="3600" u="sng" dirty="0" smtClean="0"/>
              <a:t>.</a:t>
            </a:r>
          </a:p>
          <a:p>
            <a:pPr marL="0" indent="0" algn="just">
              <a:buNone/>
            </a:pPr>
            <a:endParaRPr lang="it-IT" sz="3600" dirty="0"/>
          </a:p>
          <a:p>
            <a:pPr marL="0" indent="0" algn="just">
              <a:buNone/>
            </a:pPr>
            <a:r>
              <a:rPr lang="it-IT" sz="3600" dirty="0" smtClean="0"/>
              <a:t>E questi dati sono proprio nelle disponibilità del tecnico informatico.</a:t>
            </a:r>
          </a:p>
          <a:p>
            <a:pPr marL="0" indent="0" algn="just"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874475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0"/>
            <a:ext cx="10958512" cy="1066800"/>
          </a:xfrm>
        </p:spPr>
        <p:txBody>
          <a:bodyPr>
            <a:normAutofit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Chi è il DPO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1103585" y="921571"/>
            <a:ext cx="10484070" cy="485775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2800" dirty="0"/>
              <a:t>È il Data </a:t>
            </a:r>
            <a:r>
              <a:rPr lang="it-IT" sz="2800" dirty="0" err="1"/>
              <a:t>Protection</a:t>
            </a:r>
            <a:r>
              <a:rPr lang="it-IT" sz="2800" dirty="0"/>
              <a:t> </a:t>
            </a:r>
            <a:r>
              <a:rPr lang="it-IT" sz="2800" dirty="0" err="1"/>
              <a:t>Officer</a:t>
            </a:r>
            <a:r>
              <a:rPr lang="it-IT" sz="2800" dirty="0"/>
              <a:t>, ovvero il “responsabile della protezione dati</a:t>
            </a:r>
            <a:r>
              <a:rPr lang="it-IT" sz="2800" dirty="0" smtClean="0"/>
              <a:t>”.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2800" dirty="0" smtClean="0"/>
              <a:t>Incaricare </a:t>
            </a:r>
            <a:r>
              <a:rPr lang="it-IT" sz="2800" dirty="0"/>
              <a:t>e definire una persona responsabile dei dati riflette l’approccio responsabilizzante che è proprio del regolamento, essendo finalizzata a facilitare l’attuazione del regolamento da parte del titolare/ responsabile</a:t>
            </a:r>
            <a:r>
              <a:rPr lang="it-IT" sz="2800" dirty="0" smtClean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2800" dirty="0" smtClean="0"/>
              <a:t>Non </a:t>
            </a:r>
            <a:r>
              <a:rPr lang="it-IT" sz="2800" dirty="0"/>
              <a:t>è un caso, infatti, che fra i compiti del DPO rientrino “la sensibilizzazione e la formazione del personale” e la sorveglianza sullo svolgimento della valutazione di impatto</a:t>
            </a:r>
            <a:r>
              <a:rPr lang="it-IT" sz="2800" dirty="0" smtClean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2800" dirty="0" smtClean="0"/>
              <a:t>La </a:t>
            </a:r>
            <a:r>
              <a:rPr lang="it-IT" sz="2800" dirty="0"/>
              <a:t>sua designazione è obbligatoria in alcuni casi e il regolamento tratteggia le caratteristiche soggettive e oggettive di questa figura (indipendenza, autorevolezza, competenze manageriali).</a:t>
            </a:r>
            <a:r>
              <a:rPr lang="it-IT" sz="2800" dirty="0" smtClean="0"/>
              <a:t> 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4256154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233488" y="274638"/>
            <a:ext cx="10958512" cy="1066800"/>
          </a:xfrm>
        </p:spPr>
        <p:txBody>
          <a:bodyPr>
            <a:normAutofit/>
          </a:bodyPr>
          <a:lstStyle/>
          <a:p>
            <a:r>
              <a:rPr lang="it-IT" b="1" dirty="0" smtClean="0">
                <a:solidFill>
                  <a:srgbClr val="FFC000"/>
                </a:solidFill>
              </a:rPr>
              <a:t>Chi è il Responsabile del trattamento?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4" name="Segnaposto contenuto 3"/>
          <p:cNvSpPr>
            <a:spLocks noGrp="1"/>
          </p:cNvSpPr>
          <p:nvPr>
            <p:ph idx="4294967295"/>
          </p:nvPr>
        </p:nvSpPr>
        <p:spPr>
          <a:xfrm>
            <a:off x="1150882" y="1268413"/>
            <a:ext cx="10121463" cy="4857750"/>
          </a:xfrm>
        </p:spPr>
        <p:txBody>
          <a:bodyPr>
            <a:noAutofit/>
          </a:bodyPr>
          <a:lstStyle/>
          <a:p>
            <a:pPr marL="536575" indent="-536575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2800" dirty="0" smtClean="0"/>
              <a:t>Se i dati sono gestiti direttamente dal te o dalla tua organizzazione il responsabile del trattamento va individuato in azienda.</a:t>
            </a:r>
          </a:p>
          <a:p>
            <a:pPr marL="536575" indent="-536575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2800" dirty="0" smtClean="0"/>
              <a:t>Se si usano </a:t>
            </a:r>
            <a:r>
              <a:rPr lang="it-IT" sz="2800" dirty="0" err="1" smtClean="0"/>
              <a:t>cloud</a:t>
            </a:r>
            <a:r>
              <a:rPr lang="it-IT" sz="2800" dirty="0" smtClean="0"/>
              <a:t> o software di terze parti i </a:t>
            </a:r>
            <a:r>
              <a:rPr lang="it-IT" sz="2800" dirty="0"/>
              <a:t>responsabili del trattamento </a:t>
            </a:r>
            <a:r>
              <a:rPr lang="it-IT" sz="2800" dirty="0" smtClean="0"/>
              <a:t>possono </a:t>
            </a:r>
            <a:r>
              <a:rPr lang="it-IT" sz="2800" dirty="0"/>
              <a:t>essere figure di diversa </a:t>
            </a:r>
            <a:r>
              <a:rPr lang="it-IT" sz="2800" dirty="0" smtClean="0"/>
              <a:t>natura:</a:t>
            </a:r>
          </a:p>
          <a:p>
            <a:pPr marL="914400" lvl="1" indent="-514350" algn="just">
              <a:spcAft>
                <a:spcPts val="600"/>
              </a:spcAft>
              <a:buFont typeface="+mj-lt"/>
              <a:buAutoNum type="arabicParenR"/>
            </a:pPr>
            <a:r>
              <a:rPr lang="it-IT" sz="2800" dirty="0" smtClean="0"/>
              <a:t>dai </a:t>
            </a:r>
            <a:r>
              <a:rPr lang="it-IT" sz="2800" dirty="0"/>
              <a:t>fornitori di Software-</a:t>
            </a:r>
            <a:r>
              <a:rPr lang="it-IT" sz="2800" dirty="0" err="1"/>
              <a:t>as</a:t>
            </a:r>
            <a:r>
              <a:rPr lang="it-IT" sz="2800" dirty="0"/>
              <a:t>-a-Service </a:t>
            </a:r>
            <a:endParaRPr lang="it-IT" sz="2800" dirty="0" smtClean="0"/>
          </a:p>
          <a:p>
            <a:pPr marL="914400" lvl="1" indent="-514350" algn="just">
              <a:spcAft>
                <a:spcPts val="600"/>
              </a:spcAft>
              <a:buFont typeface="+mj-lt"/>
              <a:buAutoNum type="arabicParenR"/>
            </a:pPr>
            <a:r>
              <a:rPr lang="it-IT" sz="2800" dirty="0" smtClean="0"/>
              <a:t>ai </a:t>
            </a:r>
            <a:r>
              <a:rPr lang="it-IT" sz="2800" dirty="0"/>
              <a:t>servizi incorporati appartenenti a terzi parte, che tracciano e profilano i visitatori del sito web dell’organizzazione.</a:t>
            </a:r>
          </a:p>
        </p:txBody>
      </p:sp>
    </p:spTree>
    <p:extLst>
      <p:ext uri="{BB962C8B-B14F-4D97-AF65-F5344CB8AC3E}">
        <p14:creationId xmlns:p14="http://schemas.microsoft.com/office/powerpoint/2010/main" val="1466222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403131" y="429939"/>
            <a:ext cx="8550166" cy="1477963"/>
          </a:xfrm>
        </p:spPr>
        <p:txBody>
          <a:bodyPr/>
          <a:lstStyle/>
          <a:p>
            <a:r>
              <a:rPr lang="it-IT" b="1" dirty="0" smtClean="0">
                <a:solidFill>
                  <a:srgbClr val="FFC000"/>
                </a:solidFill>
              </a:rPr>
              <a:t>Altri adempimenti GDPR</a:t>
            </a:r>
            <a:endParaRPr lang="it-IT" b="1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166647" y="1650398"/>
            <a:ext cx="10247587" cy="35417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3200" dirty="0"/>
              <a:t>La privacy policy è solo uno degli adempimenti previsti dalla GDPR. Una volta </a:t>
            </a:r>
            <a:r>
              <a:rPr lang="it-IT" sz="3200" dirty="0" smtClean="0"/>
              <a:t>preparato il </a:t>
            </a:r>
            <a:r>
              <a:rPr lang="it-IT" sz="3200" dirty="0"/>
              <a:t>tuo documento </a:t>
            </a:r>
            <a:r>
              <a:rPr lang="it-IT" sz="3200" dirty="0" smtClean="0"/>
              <a:t>dovrai seguire passo </a:t>
            </a:r>
            <a:r>
              <a:rPr lang="it-IT" sz="3200" dirty="0"/>
              <a:t>dopo passo </a:t>
            </a:r>
            <a:r>
              <a:rPr lang="it-IT" sz="3200" dirty="0" smtClean="0"/>
              <a:t>tutti </a:t>
            </a:r>
            <a:r>
              <a:rPr lang="it-IT" sz="3200" dirty="0"/>
              <a:t>gli </a:t>
            </a:r>
            <a:r>
              <a:rPr lang="it-IT" sz="3200" b="1" dirty="0"/>
              <a:t>adempimenti successivi necessari</a:t>
            </a:r>
            <a:r>
              <a:rPr lang="it-IT" sz="3200" dirty="0"/>
              <a:t> (ad esempio, </a:t>
            </a:r>
            <a:r>
              <a:rPr lang="it-IT" sz="3200" dirty="0" smtClean="0"/>
              <a:t>la </a:t>
            </a:r>
            <a:r>
              <a:rPr lang="it-IT" sz="3200" dirty="0"/>
              <a:t>predisposizione di misure di </a:t>
            </a:r>
            <a:r>
              <a:rPr lang="it-IT" sz="3200" dirty="0" smtClean="0"/>
              <a:t>sicurezza, </a:t>
            </a:r>
            <a:r>
              <a:rPr lang="it-IT" sz="3200" dirty="0"/>
              <a:t>la redazione di registro dei trattamenti, etc.) affinché i </a:t>
            </a:r>
            <a:r>
              <a:rPr lang="it-IT" sz="3200" b="1" dirty="0"/>
              <a:t>documenti connessi</a:t>
            </a:r>
            <a:r>
              <a:rPr lang="it-IT" sz="3200" dirty="0"/>
              <a:t> vengano correttamente predisposti (ad es. Cookie Policy o informativa cookie, etc.). </a:t>
            </a:r>
          </a:p>
        </p:txBody>
      </p:sp>
    </p:spTree>
    <p:extLst>
      <p:ext uri="{BB962C8B-B14F-4D97-AF65-F5344CB8AC3E}">
        <p14:creationId xmlns:p14="http://schemas.microsoft.com/office/powerpoint/2010/main" val="22656045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1219200" y="476250"/>
            <a:ext cx="10972800" cy="1944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FFC000"/>
                </a:solidFill>
              </a:rPr>
              <a:t>Ma di questo ne parleremo più avanti.</a:t>
            </a:r>
            <a:endParaRPr lang="it-IT" sz="5400" dirty="0">
              <a:solidFill>
                <a:srgbClr val="FFC000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37547" y="2420888"/>
            <a:ext cx="1190532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00" dirty="0" smtClean="0"/>
              <a:t>Per approfondire a casa: </a:t>
            </a:r>
          </a:p>
          <a:p>
            <a:pPr algn="ctr"/>
            <a:r>
              <a:rPr lang="it-IT" sz="3800" dirty="0" smtClean="0"/>
              <a:t>https://www.garanteprivacy.it/home/doveri</a:t>
            </a:r>
            <a:endParaRPr lang="it-IT" sz="3800" dirty="0"/>
          </a:p>
        </p:txBody>
      </p:sp>
    </p:spTree>
    <p:extLst>
      <p:ext uri="{BB962C8B-B14F-4D97-AF65-F5344CB8AC3E}">
        <p14:creationId xmlns:p14="http://schemas.microsoft.com/office/powerpoint/2010/main" val="427974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099020" y="0"/>
            <a:ext cx="9906000" cy="1477963"/>
          </a:xfrm>
        </p:spPr>
        <p:txBody>
          <a:bodyPr>
            <a:normAutofit/>
          </a:bodyPr>
          <a:lstStyle/>
          <a:p>
            <a:pPr algn="ctr"/>
            <a:r>
              <a:rPr lang="it-IT" sz="6000" b="1" dirty="0" smtClean="0">
                <a:solidFill>
                  <a:srgbClr val="FFC000"/>
                </a:solidFill>
              </a:rPr>
              <a:t>Grazie per l’attenzione</a:t>
            </a:r>
            <a:endParaRPr lang="it-IT" sz="6000" b="1" dirty="0">
              <a:solidFill>
                <a:srgbClr val="FFC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28" y="1412776"/>
            <a:ext cx="9932275" cy="5141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6939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AA353C34084B48AD5373DABC4FE04B" ma:contentTypeVersion="6" ma:contentTypeDescription="Creare un nuovo documento." ma:contentTypeScope="" ma:versionID="7b95d111b612a96f1219550b5e1db449">
  <xsd:schema xmlns:xsd="http://www.w3.org/2001/XMLSchema" xmlns:xs="http://www.w3.org/2001/XMLSchema" xmlns:p="http://schemas.microsoft.com/office/2006/metadata/properties" xmlns:ns2="a92ef012-2059-489e-bed9-6971e10b3fed" targetNamespace="http://schemas.microsoft.com/office/2006/metadata/properties" ma:root="true" ma:fieldsID="1b0ffde798c86c6a5476af6b0920dbb2" ns2:_="">
    <xsd:import namespace="a92ef012-2059-489e-bed9-6971e10b3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ef012-2059-489e-bed9-6971e10b3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256443-2934-47D5-BC1C-6F8CCDE8E7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77C9D3-16DB-4FF6-A2EC-405FC028E78F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92ef012-2059-489e-bed9-6971e10b3fed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CF4AACC-8FBD-48EA-9157-CB62B8367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2ef012-2059-489e-bed9-6971e10b3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10685</TotalTime>
  <Words>1492</Words>
  <Application>Microsoft Office PowerPoint</Application>
  <PresentationFormat>Personalizzato</PresentationFormat>
  <Paragraphs>195</Paragraphs>
  <Slides>49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0" baseType="lpstr">
      <vt:lpstr>Circuito</vt:lpstr>
      <vt:lpstr>Fondazione ITS   Information &amp; Communications Technology Academy</vt:lpstr>
      <vt:lpstr>Cos’è il G.D.P.R. ?</vt:lpstr>
      <vt:lpstr>Cos’è il G.D.P.R. ?</vt:lpstr>
      <vt:lpstr>Riepilogando: GDPR</vt:lpstr>
      <vt:lpstr>Liceità, correttezza e trasparenza:</vt:lpstr>
      <vt:lpstr>Limitazione della finalità</vt:lpstr>
      <vt:lpstr>Minimizzazione dei dati</vt:lpstr>
      <vt:lpstr>Esattezza, integrità e riservatezza</vt:lpstr>
      <vt:lpstr>Limitazione della conservazione</vt:lpstr>
      <vt:lpstr>Altri diritti</vt:lpstr>
      <vt:lpstr>Presentazione standard di PowerPoint</vt:lpstr>
      <vt:lpstr>Accountability</vt:lpstr>
      <vt:lpstr>Privacy by design</vt:lpstr>
      <vt:lpstr>Privacy by default</vt:lpstr>
      <vt:lpstr>Privacy Policy</vt:lpstr>
      <vt:lpstr>Perché è importante che un programmatore conosca le regole della privacy)</vt:lpstr>
      <vt:lpstr>Quindi</vt:lpstr>
      <vt:lpstr>Bisogna raccogliere il «consenso»</vt:lpstr>
      <vt:lpstr>#Cookies: cosa sono? </vt:lpstr>
      <vt:lpstr>#Cookies: per chiarezza</vt:lpstr>
      <vt:lpstr>#Cookies  #Banner: cosa non fare / cosa fare?</vt:lpstr>
      <vt:lpstr>#Cookies  #Banner, alcuni esempi</vt:lpstr>
      <vt:lpstr>#Form e consenso</vt:lpstr>
      <vt:lpstr>#Form e consenso</vt:lpstr>
      <vt:lpstr>#Form di consenso: cosa fare</vt:lpstr>
      <vt:lpstr>#Form di consenso: cosa non fare</vt:lpstr>
      <vt:lpstr>L’INFORMATIVA PRIVACY</vt:lpstr>
      <vt:lpstr>Quando si usa  l'informativa privacy per Siti Internet o App </vt:lpstr>
      <vt:lpstr>Quando si usa  l'informativa privacy per Siti Internet o App </vt:lpstr>
      <vt:lpstr>Presentazione standard di PowerPoint</vt:lpstr>
      <vt:lpstr>Quando si usa  l'informativa privacy per Siti Internet o App </vt:lpstr>
      <vt:lpstr>Cosa contiene il modello di privacy policy conforme al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Cosa contiene il modello di privacy policy conforme alla GDPR</vt:lpstr>
      <vt:lpstr>Chi è il DPO</vt:lpstr>
      <vt:lpstr>Chi è il Responsabile del trattamento?</vt:lpstr>
      <vt:lpstr>Altri adempimenti GDPR</vt:lpstr>
      <vt:lpstr>Presentazione standard di PowerPoint</vt:lpstr>
      <vt:lpstr>Grazie per l’attenzione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Costituzione ITS  «Istituto Tecnico Superiore ITS Information and Communications Technology Academy»</dc:title>
  <dc:creator>Fabrizio Rizzitelli</dc:creator>
  <cp:lastModifiedBy>Enzo Chilelli</cp:lastModifiedBy>
  <cp:revision>79</cp:revision>
  <cp:lastPrinted>2022-10-19T16:38:02Z</cp:lastPrinted>
  <dcterms:created xsi:type="dcterms:W3CDTF">2022-03-20T16:16:01Z</dcterms:created>
  <dcterms:modified xsi:type="dcterms:W3CDTF">2024-02-19T12:34:20Z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0x010100F4AA353C34084B48AD5373DABC4FE04B</vt:lpwstr>
  </property>
</Properties>
</file>