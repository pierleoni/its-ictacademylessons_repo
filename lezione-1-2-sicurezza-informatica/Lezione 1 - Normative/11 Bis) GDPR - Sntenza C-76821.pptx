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7812088"/>
  <p:notesSz cx="11430000" cy="882015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552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248" y="-91"/>
      </p:cViewPr>
      <p:guideLst>
        <p:guide orient="horz" pos="255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865566"/>
            <a:ext cx="9715500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3750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370053"/>
            <a:ext cx="80010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81" y="427443"/>
            <a:ext cx="10180241" cy="523220"/>
          </a:xfrm>
        </p:spPr>
        <p:txBody>
          <a:bodyPr lIns="0" tIns="0" rIns="0" bIns="0"/>
          <a:lstStyle>
            <a:lvl1pPr>
              <a:defRPr sz="3400" b="0" i="0">
                <a:solidFill>
                  <a:srgbClr val="3750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5702993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81" y="427443"/>
            <a:ext cx="10180241" cy="523220"/>
          </a:xfrm>
        </p:spPr>
        <p:txBody>
          <a:bodyPr lIns="0" tIns="0" rIns="0" bIns="0"/>
          <a:lstStyle>
            <a:lvl1pPr>
              <a:defRPr sz="3400" b="0" i="0">
                <a:solidFill>
                  <a:srgbClr val="3750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384131"/>
            <a:ext cx="497205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384131"/>
            <a:ext cx="497205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81" y="427443"/>
            <a:ext cx="10180241" cy="523220"/>
          </a:xfrm>
        </p:spPr>
        <p:txBody>
          <a:bodyPr lIns="0" tIns="0" rIns="0" bIns="0"/>
          <a:lstStyle>
            <a:lvl1pPr>
              <a:defRPr sz="3400" b="0" i="0">
                <a:solidFill>
                  <a:srgbClr val="3750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81" y="427442"/>
            <a:ext cx="10180241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7502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384131"/>
            <a:ext cx="102870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596695"/>
            <a:ext cx="36576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596695"/>
            <a:ext cx="26289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596695"/>
            <a:ext cx="26289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66">
        <a:defRPr>
          <a:latin typeface="+mn-lt"/>
          <a:ea typeface="+mn-ea"/>
          <a:cs typeface="+mn-cs"/>
        </a:defRPr>
      </a:lvl2pPr>
      <a:lvl3pPr marL="914331">
        <a:defRPr>
          <a:latin typeface="+mn-lt"/>
          <a:ea typeface="+mn-ea"/>
          <a:cs typeface="+mn-cs"/>
        </a:defRPr>
      </a:lvl3pPr>
      <a:lvl4pPr marL="1371497">
        <a:defRPr>
          <a:latin typeface="+mn-lt"/>
          <a:ea typeface="+mn-ea"/>
          <a:cs typeface="+mn-cs"/>
        </a:defRPr>
      </a:lvl4pPr>
      <a:lvl5pPr marL="1828662">
        <a:defRPr>
          <a:latin typeface="+mn-lt"/>
          <a:ea typeface="+mn-ea"/>
          <a:cs typeface="+mn-cs"/>
        </a:defRPr>
      </a:lvl5pPr>
      <a:lvl6pPr marL="2285828">
        <a:defRPr>
          <a:latin typeface="+mn-lt"/>
          <a:ea typeface="+mn-ea"/>
          <a:cs typeface="+mn-cs"/>
        </a:defRPr>
      </a:lvl6pPr>
      <a:lvl7pPr marL="2742994">
        <a:defRPr>
          <a:latin typeface="+mn-lt"/>
          <a:ea typeface="+mn-ea"/>
          <a:cs typeface="+mn-cs"/>
        </a:defRPr>
      </a:lvl7pPr>
      <a:lvl8pPr marL="3200159">
        <a:defRPr>
          <a:latin typeface="+mn-lt"/>
          <a:ea typeface="+mn-ea"/>
          <a:cs typeface="+mn-cs"/>
        </a:defRPr>
      </a:lvl8pPr>
      <a:lvl9pPr marL="3657325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66">
        <a:defRPr>
          <a:latin typeface="+mn-lt"/>
          <a:ea typeface="+mn-ea"/>
          <a:cs typeface="+mn-cs"/>
        </a:defRPr>
      </a:lvl2pPr>
      <a:lvl3pPr marL="914331">
        <a:defRPr>
          <a:latin typeface="+mn-lt"/>
          <a:ea typeface="+mn-ea"/>
          <a:cs typeface="+mn-cs"/>
        </a:defRPr>
      </a:lvl3pPr>
      <a:lvl4pPr marL="1371497">
        <a:defRPr>
          <a:latin typeface="+mn-lt"/>
          <a:ea typeface="+mn-ea"/>
          <a:cs typeface="+mn-cs"/>
        </a:defRPr>
      </a:lvl4pPr>
      <a:lvl5pPr marL="1828662">
        <a:defRPr>
          <a:latin typeface="+mn-lt"/>
          <a:ea typeface="+mn-ea"/>
          <a:cs typeface="+mn-cs"/>
        </a:defRPr>
      </a:lvl5pPr>
      <a:lvl6pPr marL="2285828">
        <a:defRPr>
          <a:latin typeface="+mn-lt"/>
          <a:ea typeface="+mn-ea"/>
          <a:cs typeface="+mn-cs"/>
        </a:defRPr>
      </a:lvl6pPr>
      <a:lvl7pPr marL="2742994">
        <a:defRPr>
          <a:latin typeface="+mn-lt"/>
          <a:ea typeface="+mn-ea"/>
          <a:cs typeface="+mn-cs"/>
        </a:defRPr>
      </a:lvl7pPr>
      <a:lvl8pPr marL="3200159">
        <a:defRPr>
          <a:latin typeface="+mn-lt"/>
          <a:ea typeface="+mn-ea"/>
          <a:cs typeface="+mn-cs"/>
        </a:defRPr>
      </a:lvl8pPr>
      <a:lvl9pPr marL="3657325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015139"/>
          </a:xfrm>
          <a:custGeom>
            <a:avLst/>
            <a:gdLst/>
            <a:ahLst/>
            <a:cxnLst/>
            <a:rect l="l" t="t" r="r" b="b"/>
            <a:pathLst>
              <a:path w="11430000" h="6791325">
                <a:moveTo>
                  <a:pt x="11430000" y="0"/>
                </a:moveTo>
                <a:lnTo>
                  <a:pt x="0" y="0"/>
                </a:lnTo>
                <a:lnTo>
                  <a:pt x="0" y="6791325"/>
                </a:lnTo>
                <a:lnTo>
                  <a:pt x="11430000" y="67913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"/>
            <a:ext cx="4286250" cy="601513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95800" y="426599"/>
            <a:ext cx="6781799" cy="2248050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12699" marR="5080">
              <a:lnSpc>
                <a:spcPts val="5780"/>
              </a:lnSpc>
              <a:spcBef>
                <a:spcPts val="131"/>
              </a:spcBef>
            </a:pPr>
            <a:r>
              <a:rPr sz="4000" spc="140"/>
              <a:t>Sentenza</a:t>
            </a:r>
            <a:r>
              <a:rPr sz="4000" spc="131"/>
              <a:t> </a:t>
            </a:r>
            <a:r>
              <a:rPr sz="4000" spc="201"/>
              <a:t>C-</a:t>
            </a:r>
            <a:r>
              <a:rPr sz="4000" spc="-9"/>
              <a:t>768/21: </a:t>
            </a:r>
            <a:r>
              <a:rPr sz="4000" spc="90"/>
              <a:t>Obbligo</a:t>
            </a:r>
            <a:r>
              <a:rPr sz="4000" spc="140"/>
              <a:t> </a:t>
            </a:r>
            <a:r>
              <a:rPr sz="4000"/>
              <a:t>di</a:t>
            </a:r>
            <a:r>
              <a:rPr sz="4000" spc="135"/>
              <a:t> </a:t>
            </a:r>
            <a:r>
              <a:rPr sz="4000" spc="100"/>
              <a:t>Azione</a:t>
            </a:r>
            <a:r>
              <a:rPr lang="it-IT" sz="4000" spc="100"/>
              <a:t> </a:t>
            </a:r>
            <a:r>
              <a:rPr sz="4000" spc="96"/>
              <a:t>delle</a:t>
            </a:r>
            <a:r>
              <a:rPr sz="4000" spc="125"/>
              <a:t> </a:t>
            </a:r>
            <a:r>
              <a:rPr sz="4000" spc="70"/>
              <a:t>Autorità</a:t>
            </a:r>
            <a:r>
              <a:rPr sz="4000" spc="125"/>
              <a:t> </a:t>
            </a:r>
            <a:r>
              <a:rPr sz="4000" spc="-26"/>
              <a:t>di </a:t>
            </a:r>
            <a:r>
              <a:rPr sz="4000" spc="145"/>
              <a:t>Protezione</a:t>
            </a:r>
            <a:r>
              <a:rPr sz="4000" spc="100"/>
              <a:t> </a:t>
            </a:r>
            <a:r>
              <a:rPr sz="4000" spc="-20"/>
              <a:t>Dati</a:t>
            </a:r>
            <a:endParaRPr sz="4000" dirty="0"/>
          </a:p>
        </p:txBody>
      </p:sp>
      <p:sp>
        <p:nvSpPr>
          <p:cNvPr id="5" name="object 5"/>
          <p:cNvSpPr txBox="1"/>
          <p:nvPr/>
        </p:nvSpPr>
        <p:spPr>
          <a:xfrm>
            <a:off x="4495800" y="2650375"/>
            <a:ext cx="6629400" cy="3397404"/>
          </a:xfrm>
          <a:prstGeom prst="rect">
            <a:avLst/>
          </a:prstGeom>
        </p:spPr>
        <p:txBody>
          <a:bodyPr vert="horz" wrap="square" lIns="0" tIns="6984" rIns="0" bIns="0" rtlCol="0">
            <a:spAutoFit/>
          </a:bodyPr>
          <a:lstStyle/>
          <a:p>
            <a:pPr marL="12699" marR="5080" algn="just">
              <a:lnSpc>
                <a:spcPct val="136200"/>
              </a:lnSpc>
              <a:spcBef>
                <a:spcPts val="55"/>
              </a:spcBef>
            </a:pPr>
            <a:r>
              <a:rPr spc="-110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35" dirty="0">
                <a:solidFill>
                  <a:srgbClr val="3A362F"/>
                </a:solidFill>
                <a:latin typeface="Verdana"/>
                <a:cs typeface="Verdana"/>
              </a:rPr>
              <a:t>sentenza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210" dirty="0">
                <a:solidFill>
                  <a:srgbClr val="3A362F"/>
                </a:solidFill>
                <a:latin typeface="Verdana"/>
                <a:cs typeface="Verdana"/>
              </a:rPr>
              <a:t>C-</a:t>
            </a:r>
            <a:r>
              <a:rPr spc="-184" dirty="0">
                <a:solidFill>
                  <a:srgbClr val="3A362F"/>
                </a:solidFill>
                <a:latin typeface="Verdana"/>
                <a:cs typeface="Verdana"/>
              </a:rPr>
              <a:t>768/21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della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5" dirty="0">
                <a:solidFill>
                  <a:srgbClr val="3A362F"/>
                </a:solidFill>
                <a:latin typeface="Verdana"/>
                <a:cs typeface="Verdana"/>
              </a:rPr>
              <a:t>Corte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0" dirty="0">
                <a:solidFill>
                  <a:srgbClr val="3A362F"/>
                </a:solidFill>
                <a:latin typeface="Verdana"/>
                <a:cs typeface="Verdana"/>
              </a:rPr>
              <a:t>Giustizia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dell'Unione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5" dirty="0">
                <a:solidFill>
                  <a:srgbClr val="3A362F"/>
                </a:solidFill>
                <a:latin typeface="Verdana"/>
                <a:cs typeface="Verdana"/>
              </a:rPr>
              <a:t>Europea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45" dirty="0">
                <a:solidFill>
                  <a:srgbClr val="3A362F"/>
                </a:solidFill>
                <a:latin typeface="Verdana"/>
                <a:cs typeface="Verdana"/>
              </a:rPr>
              <a:t>segna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26" dirty="0">
                <a:solidFill>
                  <a:srgbClr val="3A362F"/>
                </a:solidFill>
                <a:latin typeface="Verdana"/>
                <a:cs typeface="Verdana"/>
              </a:rPr>
              <a:t>un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punto</a:t>
            </a:r>
            <a:r>
              <a:rPr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pc="-14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4" dirty="0">
                <a:solidFill>
                  <a:srgbClr val="3A362F"/>
                </a:solidFill>
                <a:latin typeface="Verdana"/>
                <a:cs typeface="Verdana"/>
              </a:rPr>
              <a:t>svolta</a:t>
            </a:r>
            <a:r>
              <a:rPr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nell'interpretazione</a:t>
            </a:r>
            <a:r>
              <a:rPr spc="-14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31" dirty="0">
                <a:solidFill>
                  <a:srgbClr val="3A362F"/>
                </a:solidFill>
                <a:latin typeface="Verdana"/>
                <a:cs typeface="Verdana"/>
              </a:rPr>
              <a:t>Regolamento</a:t>
            </a:r>
            <a:r>
              <a:rPr spc="-14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35" dirty="0">
                <a:solidFill>
                  <a:srgbClr val="3A362F"/>
                </a:solidFill>
                <a:latin typeface="Verdana"/>
                <a:cs typeface="Verdana"/>
              </a:rPr>
              <a:t>Generale</a:t>
            </a:r>
            <a:r>
              <a:rPr spc="-14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" dirty="0">
                <a:solidFill>
                  <a:srgbClr val="3A362F"/>
                </a:solidFill>
                <a:latin typeface="Verdana"/>
                <a:cs typeface="Verdana"/>
              </a:rPr>
              <a:t>sulla </a:t>
            </a:r>
            <a:r>
              <a:rPr spc="-110" dirty="0">
                <a:solidFill>
                  <a:srgbClr val="3A362F"/>
                </a:solidFill>
                <a:latin typeface="Verdana"/>
                <a:cs typeface="Verdana"/>
              </a:rPr>
              <a:t>Protezione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0" dirty="0">
                <a:solidFill>
                  <a:srgbClr val="3A362F"/>
                </a:solidFill>
                <a:latin typeface="Verdana"/>
                <a:cs typeface="Verdana"/>
              </a:rPr>
              <a:t>Dati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80" dirty="0">
                <a:solidFill>
                  <a:srgbClr val="3A362F"/>
                </a:solidFill>
                <a:latin typeface="Verdana"/>
                <a:cs typeface="Verdana"/>
              </a:rPr>
              <a:t>(RGPD).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40" dirty="0">
                <a:solidFill>
                  <a:srgbClr val="3A362F"/>
                </a:solidFill>
                <a:latin typeface="Verdana"/>
                <a:cs typeface="Verdana"/>
              </a:rPr>
              <a:t>Questa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0" dirty="0">
                <a:solidFill>
                  <a:srgbClr val="3A362F"/>
                </a:solidFill>
                <a:latin typeface="Verdana"/>
                <a:cs typeface="Verdana"/>
              </a:rPr>
              <a:t>decisione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chiarisce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85" dirty="0">
                <a:solidFill>
                  <a:srgbClr val="3A362F"/>
                </a:solidFill>
                <a:latin typeface="Verdana"/>
                <a:cs typeface="Verdana"/>
              </a:rPr>
              <a:t>gli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obblighi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" dirty="0">
                <a:solidFill>
                  <a:srgbClr val="3A362F"/>
                </a:solidFill>
                <a:latin typeface="Verdana"/>
                <a:cs typeface="Verdana"/>
              </a:rPr>
              <a:t>delle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autorità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85" dirty="0">
                <a:solidFill>
                  <a:srgbClr val="3A362F"/>
                </a:solidFill>
                <a:latin typeface="Verdana"/>
                <a:cs typeface="Verdana"/>
              </a:rPr>
              <a:t>controllo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9" dirty="0">
                <a:solidFill>
                  <a:srgbClr val="3A362F"/>
                </a:solidFill>
                <a:latin typeface="Verdana"/>
                <a:cs typeface="Verdana"/>
              </a:rPr>
              <a:t>in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5" dirty="0">
                <a:solidFill>
                  <a:srgbClr val="3A362F"/>
                </a:solidFill>
                <a:latin typeface="Verdana"/>
                <a:cs typeface="Verdana"/>
              </a:rPr>
              <a:t>materia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4" dirty="0">
                <a:solidFill>
                  <a:srgbClr val="3A362F"/>
                </a:solidFill>
                <a:latin typeface="Verdana"/>
                <a:cs typeface="Verdana"/>
              </a:rPr>
              <a:t>protezione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6" dirty="0">
                <a:solidFill>
                  <a:srgbClr val="3A362F"/>
                </a:solidFill>
                <a:latin typeface="Verdana"/>
                <a:cs typeface="Verdana"/>
              </a:rPr>
              <a:t>dati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0" dirty="0">
                <a:solidFill>
                  <a:srgbClr val="3A362F"/>
                </a:solidFill>
                <a:latin typeface="Verdana"/>
                <a:cs typeface="Verdana"/>
              </a:rPr>
              <a:t>personali,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3A362F"/>
                </a:solidFill>
                <a:latin typeface="Verdana"/>
                <a:cs typeface="Verdana"/>
              </a:rPr>
              <a:t>enfatizzando </a:t>
            </a:r>
            <a:r>
              <a:rPr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0" dirty="0">
                <a:solidFill>
                  <a:srgbClr val="3A362F"/>
                </a:solidFill>
                <a:latin typeface="Verdana"/>
                <a:cs typeface="Verdana"/>
              </a:rPr>
              <a:t>necessità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un'azione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4" dirty="0">
                <a:solidFill>
                  <a:srgbClr val="3A362F"/>
                </a:solidFill>
                <a:latin typeface="Verdana"/>
                <a:cs typeface="Verdana"/>
              </a:rPr>
              <a:t>concreta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9" dirty="0">
                <a:solidFill>
                  <a:srgbClr val="3A362F"/>
                </a:solidFill>
                <a:latin typeface="Verdana"/>
                <a:cs typeface="Verdana"/>
              </a:rPr>
              <a:t>in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4" dirty="0">
                <a:solidFill>
                  <a:srgbClr val="3A362F"/>
                </a:solidFill>
                <a:latin typeface="Verdana"/>
                <a:cs typeface="Verdana"/>
              </a:rPr>
              <a:t>risposta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85" dirty="0">
                <a:solidFill>
                  <a:srgbClr val="3A362F"/>
                </a:solidFill>
                <a:latin typeface="Verdana"/>
                <a:cs typeface="Verdana"/>
              </a:rPr>
              <a:t>ai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0" dirty="0">
                <a:solidFill>
                  <a:srgbClr val="3A362F"/>
                </a:solidFill>
                <a:latin typeface="Verdana"/>
                <a:cs typeface="Verdana"/>
              </a:rPr>
              <a:t>reclami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0" dirty="0">
                <a:solidFill>
                  <a:srgbClr val="3A362F"/>
                </a:solidFill>
                <a:latin typeface="Verdana"/>
                <a:cs typeface="Verdana"/>
              </a:rPr>
              <a:t>degli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0" dirty="0">
                <a:solidFill>
                  <a:srgbClr val="3A362F"/>
                </a:solidFill>
                <a:latin typeface="Verdana"/>
                <a:cs typeface="Verdana"/>
              </a:rPr>
              <a:t>interessati.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26" dirty="0">
                <a:solidFill>
                  <a:srgbClr val="3A362F"/>
                </a:solidFill>
                <a:latin typeface="Verdana"/>
                <a:cs typeface="Verdana"/>
              </a:rPr>
              <a:t>La </a:t>
            </a:r>
            <a:r>
              <a:rPr spc="-135" dirty="0">
                <a:solidFill>
                  <a:srgbClr val="3A362F"/>
                </a:solidFill>
                <a:latin typeface="Verdana"/>
                <a:cs typeface="Verdana"/>
              </a:rPr>
              <a:t>sentenza</a:t>
            </a:r>
            <a:r>
              <a:rPr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5" dirty="0">
                <a:solidFill>
                  <a:srgbClr val="3A362F"/>
                </a:solidFill>
                <a:latin typeface="Verdana"/>
                <a:cs typeface="Verdana"/>
              </a:rPr>
              <a:t>ha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6" dirty="0">
                <a:solidFill>
                  <a:srgbClr val="3A362F"/>
                </a:solidFill>
                <a:latin typeface="Verdana"/>
                <a:cs typeface="Verdana"/>
              </a:rPr>
              <a:t>importanti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implicazioni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0" dirty="0">
                <a:solidFill>
                  <a:srgbClr val="3A362F"/>
                </a:solidFill>
                <a:latin typeface="Verdana"/>
                <a:cs typeface="Verdana"/>
              </a:rPr>
              <a:t>per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0" dirty="0">
                <a:solidFill>
                  <a:srgbClr val="3A362F"/>
                </a:solidFill>
                <a:latin typeface="Verdana"/>
                <a:cs typeface="Verdana"/>
              </a:rPr>
              <a:t>tutela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5" dirty="0">
                <a:solidFill>
                  <a:srgbClr val="3A362F"/>
                </a:solidFill>
                <a:latin typeface="Verdana"/>
                <a:cs typeface="Verdana"/>
              </a:rPr>
              <a:t>diritti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individuali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3A362F"/>
                </a:solidFill>
                <a:latin typeface="Verdana"/>
                <a:cs typeface="Verdana"/>
              </a:rPr>
              <a:t>e </a:t>
            </a:r>
            <a:r>
              <a:rPr spc="-85" dirty="0">
                <a:solidFill>
                  <a:srgbClr val="3A362F"/>
                </a:solidFill>
                <a:latin typeface="Verdana"/>
                <a:cs typeface="Verdana"/>
              </a:rPr>
              <a:t>l'efficacia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31" dirty="0">
                <a:solidFill>
                  <a:srgbClr val="3A362F"/>
                </a:solidFill>
                <a:latin typeface="Verdana"/>
                <a:cs typeface="Verdana"/>
              </a:rPr>
              <a:t>sistema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4" dirty="0">
                <a:solidFill>
                  <a:srgbClr val="3A362F"/>
                </a:solidFill>
                <a:latin typeface="Verdana"/>
                <a:cs typeface="Verdana"/>
              </a:rPr>
              <a:t>protezione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6" dirty="0">
                <a:solidFill>
                  <a:srgbClr val="3A362F"/>
                </a:solidFill>
                <a:latin typeface="Verdana"/>
                <a:cs typeface="Verdana"/>
              </a:rPr>
              <a:t>dati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nell'Unione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" dirty="0">
                <a:solidFill>
                  <a:srgbClr val="3A362F"/>
                </a:solidFill>
                <a:latin typeface="Verdana"/>
                <a:cs typeface="Verdana"/>
              </a:rPr>
              <a:t>Europea.</a:t>
            </a:r>
            <a:endParaRPr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6951577"/>
          </a:xfrm>
          <a:custGeom>
            <a:avLst/>
            <a:gdLst/>
            <a:ahLst/>
            <a:cxnLst/>
            <a:rect l="l" t="t" r="r" b="b"/>
            <a:pathLst>
              <a:path w="11430000" h="7848600">
                <a:moveTo>
                  <a:pt x="11430000" y="0"/>
                </a:moveTo>
                <a:lnTo>
                  <a:pt x="0" y="0"/>
                </a:lnTo>
                <a:lnTo>
                  <a:pt x="0" y="7848600"/>
                </a:lnTo>
                <a:lnTo>
                  <a:pt x="11430000" y="78486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4286250" cy="695157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4881" y="427444"/>
            <a:ext cx="10180241" cy="10836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297992" marR="5080">
              <a:lnSpc>
                <a:spcPts val="4200"/>
              </a:lnSpc>
              <a:spcBef>
                <a:spcPts val="50"/>
              </a:spcBef>
            </a:pPr>
            <a:r>
              <a:rPr spc="135" dirty="0"/>
              <a:t>Contesto</a:t>
            </a:r>
            <a:r>
              <a:rPr spc="155" dirty="0"/>
              <a:t> </a:t>
            </a:r>
            <a:r>
              <a:rPr dirty="0"/>
              <a:t>della</a:t>
            </a:r>
            <a:r>
              <a:rPr spc="155" dirty="0"/>
              <a:t> </a:t>
            </a:r>
            <a:r>
              <a:rPr spc="90" dirty="0"/>
              <a:t>Causa</a:t>
            </a:r>
            <a:r>
              <a:rPr spc="155" dirty="0"/>
              <a:t> </a:t>
            </a:r>
            <a:r>
              <a:rPr spc="234" dirty="0"/>
              <a:t>C- </a:t>
            </a:r>
            <a:r>
              <a:rPr spc="-9" dirty="0"/>
              <a:t>768/21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995710" y="1636658"/>
            <a:ext cx="1028700" cy="4876228"/>
            <a:chOff x="4995710" y="1847850"/>
            <a:chExt cx="1028700" cy="5505450"/>
          </a:xfrm>
        </p:grpSpPr>
        <p:sp>
          <p:nvSpPr>
            <p:cNvPr id="6" name="object 6"/>
            <p:cNvSpPr/>
            <p:nvPr/>
          </p:nvSpPr>
          <p:spPr>
            <a:xfrm>
              <a:off x="5191125" y="1847849"/>
              <a:ext cx="833755" cy="5505450"/>
            </a:xfrm>
            <a:custGeom>
              <a:avLst/>
              <a:gdLst/>
              <a:ahLst/>
              <a:cxnLst/>
              <a:rect l="l" t="t" r="r" b="b"/>
              <a:pathLst>
                <a:path w="833754" h="550545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5495925"/>
                  </a:lnTo>
                  <a:lnTo>
                    <a:pt x="0" y="5498554"/>
                  </a:lnTo>
                  <a:lnTo>
                    <a:pt x="927" y="5500802"/>
                  </a:lnTo>
                  <a:lnTo>
                    <a:pt x="4648" y="5504523"/>
                  </a:lnTo>
                  <a:lnTo>
                    <a:pt x="6896" y="5505450"/>
                  </a:lnTo>
                  <a:lnTo>
                    <a:pt x="12153" y="5505450"/>
                  </a:lnTo>
                  <a:lnTo>
                    <a:pt x="14401" y="5504523"/>
                  </a:lnTo>
                  <a:lnTo>
                    <a:pt x="18122" y="5500802"/>
                  </a:lnTo>
                  <a:lnTo>
                    <a:pt x="19050" y="5498554"/>
                  </a:lnTo>
                  <a:lnTo>
                    <a:pt x="19050" y="6896"/>
                  </a:lnTo>
                  <a:close/>
                </a:path>
                <a:path w="833754" h="5505450">
                  <a:moveTo>
                    <a:pt x="833285" y="406946"/>
                  </a:moveTo>
                  <a:lnTo>
                    <a:pt x="832345" y="404698"/>
                  </a:lnTo>
                  <a:lnTo>
                    <a:pt x="828636" y="400977"/>
                  </a:lnTo>
                  <a:lnTo>
                    <a:pt x="826389" y="400050"/>
                  </a:lnTo>
                  <a:lnTo>
                    <a:pt x="202006" y="400050"/>
                  </a:lnTo>
                  <a:lnTo>
                    <a:pt x="199758" y="400977"/>
                  </a:lnTo>
                  <a:lnTo>
                    <a:pt x="196024" y="404698"/>
                  </a:lnTo>
                  <a:lnTo>
                    <a:pt x="195110" y="406946"/>
                  </a:lnTo>
                  <a:lnTo>
                    <a:pt x="195110" y="409575"/>
                  </a:lnTo>
                  <a:lnTo>
                    <a:pt x="195110" y="412203"/>
                  </a:lnTo>
                  <a:lnTo>
                    <a:pt x="196024" y="414451"/>
                  </a:lnTo>
                  <a:lnTo>
                    <a:pt x="199758" y="418185"/>
                  </a:lnTo>
                  <a:lnTo>
                    <a:pt x="202006" y="419100"/>
                  </a:lnTo>
                  <a:lnTo>
                    <a:pt x="826389" y="419100"/>
                  </a:lnTo>
                  <a:lnTo>
                    <a:pt x="828636" y="418185"/>
                  </a:lnTo>
                  <a:lnTo>
                    <a:pt x="832345" y="414451"/>
                  </a:lnTo>
                  <a:lnTo>
                    <a:pt x="833285" y="412203"/>
                  </a:lnTo>
                  <a:lnTo>
                    <a:pt x="833285" y="406946"/>
                  </a:lnTo>
                  <a:close/>
                </a:path>
              </a:pathLst>
            </a:custGeom>
            <a:solidFill>
              <a:srgbClr val="D9CD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95710" y="2047875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89826" y="0"/>
                  </a:moveTo>
                  <a:lnTo>
                    <a:pt x="19748" y="0"/>
                  </a:lnTo>
                  <a:lnTo>
                    <a:pt x="16852" y="571"/>
                  </a:lnTo>
                  <a:lnTo>
                    <a:pt x="0" y="19748"/>
                  </a:lnTo>
                  <a:lnTo>
                    <a:pt x="0" y="386803"/>
                  </a:lnTo>
                  <a:lnTo>
                    <a:pt x="0" y="389826"/>
                  </a:lnTo>
                  <a:lnTo>
                    <a:pt x="19748" y="409575"/>
                  </a:lnTo>
                  <a:lnTo>
                    <a:pt x="389826" y="409575"/>
                  </a:lnTo>
                  <a:lnTo>
                    <a:pt x="409575" y="389826"/>
                  </a:lnTo>
                  <a:lnTo>
                    <a:pt x="409575" y="19748"/>
                  </a:lnTo>
                  <a:lnTo>
                    <a:pt x="392734" y="571"/>
                  </a:lnTo>
                  <a:lnTo>
                    <a:pt x="389826" y="0"/>
                  </a:lnTo>
                  <a:close/>
                </a:path>
              </a:pathLst>
            </a:custGeom>
            <a:solidFill>
              <a:srgbClr val="F3E7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137493" y="1836320"/>
            <a:ext cx="119380" cy="323806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sz="2000" spc="-79" dirty="0">
                <a:solidFill>
                  <a:srgbClr val="3A362F"/>
                </a:solidFill>
                <a:latin typeface="Georgia"/>
                <a:cs typeface="Georgia"/>
              </a:rPr>
              <a:t>1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6284" y="1781484"/>
            <a:ext cx="4483100" cy="1169485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spc="55" dirty="0">
                <a:solidFill>
                  <a:srgbClr val="3A362F"/>
                </a:solidFill>
                <a:latin typeface="Georgia"/>
                <a:cs typeface="Georgia"/>
              </a:rPr>
              <a:t>Origine </a:t>
            </a:r>
            <a:r>
              <a:rPr sz="1600" spc="50" dirty="0">
                <a:solidFill>
                  <a:srgbClr val="3A362F"/>
                </a:solidFill>
                <a:latin typeface="Georgia"/>
                <a:cs typeface="Georgia"/>
              </a:rPr>
              <a:t>del</a:t>
            </a:r>
            <a:r>
              <a:rPr sz="1600" spc="55" dirty="0">
                <a:solidFill>
                  <a:srgbClr val="3A362F"/>
                </a:solidFill>
                <a:latin typeface="Georgia"/>
                <a:cs typeface="Georgia"/>
              </a:rPr>
              <a:t> Caso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6200"/>
              </a:lnSpc>
              <a:spcBef>
                <a:spcPts val="665"/>
              </a:spcBef>
            </a:pP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causa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nasce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da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un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reclamo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presentato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da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un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interessato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all'autorità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controllo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tedesca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Land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dell'Assia,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riguardante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presunte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violazioni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RGPD.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95710" y="3408299"/>
            <a:ext cx="1028700" cy="362764"/>
            <a:chOff x="4995710" y="3848100"/>
            <a:chExt cx="1028700" cy="409575"/>
          </a:xfrm>
        </p:grpSpPr>
        <p:sp>
          <p:nvSpPr>
            <p:cNvPr id="11" name="object 11"/>
            <p:cNvSpPr/>
            <p:nvPr/>
          </p:nvSpPr>
          <p:spPr>
            <a:xfrm>
              <a:off x="5386235" y="4048125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8" y="19050"/>
                  </a:lnTo>
                  <a:lnTo>
                    <a:pt x="633526" y="18122"/>
                  </a:lnTo>
                  <a:lnTo>
                    <a:pt x="637247" y="14401"/>
                  </a:lnTo>
                  <a:lnTo>
                    <a:pt x="638175" y="12153"/>
                  </a:lnTo>
                  <a:lnTo>
                    <a:pt x="638175" y="6896"/>
                  </a:lnTo>
                  <a:lnTo>
                    <a:pt x="637247" y="4648"/>
                  </a:lnTo>
                  <a:lnTo>
                    <a:pt x="633526" y="927"/>
                  </a:lnTo>
                  <a:lnTo>
                    <a:pt x="631278" y="0"/>
                  </a:lnTo>
                  <a:close/>
                </a:path>
              </a:pathLst>
            </a:custGeom>
            <a:solidFill>
              <a:srgbClr val="D9CD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95710" y="3848100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89826" y="0"/>
                  </a:moveTo>
                  <a:lnTo>
                    <a:pt x="19748" y="0"/>
                  </a:lnTo>
                  <a:lnTo>
                    <a:pt x="16852" y="571"/>
                  </a:lnTo>
                  <a:lnTo>
                    <a:pt x="0" y="19748"/>
                  </a:lnTo>
                  <a:lnTo>
                    <a:pt x="0" y="386803"/>
                  </a:lnTo>
                  <a:lnTo>
                    <a:pt x="0" y="389826"/>
                  </a:lnTo>
                  <a:lnTo>
                    <a:pt x="19748" y="409575"/>
                  </a:lnTo>
                  <a:lnTo>
                    <a:pt x="389826" y="409575"/>
                  </a:lnTo>
                  <a:lnTo>
                    <a:pt x="409575" y="389826"/>
                  </a:lnTo>
                  <a:lnTo>
                    <a:pt x="409575" y="19748"/>
                  </a:lnTo>
                  <a:lnTo>
                    <a:pt x="392734" y="571"/>
                  </a:lnTo>
                  <a:lnTo>
                    <a:pt x="389826" y="0"/>
                  </a:lnTo>
                  <a:close/>
                </a:path>
              </a:pathLst>
            </a:custGeom>
            <a:solidFill>
              <a:srgbClr val="F3E7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115318" y="3430796"/>
            <a:ext cx="163830" cy="323806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sz="2000" spc="-50" dirty="0">
                <a:solidFill>
                  <a:srgbClr val="3A362F"/>
                </a:solidFill>
                <a:latin typeface="Georgia"/>
                <a:cs typeface="Georgia"/>
              </a:rPr>
              <a:t>2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6286" y="3375959"/>
            <a:ext cx="4528185" cy="1162624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spc="70" dirty="0">
                <a:solidFill>
                  <a:srgbClr val="3A362F"/>
                </a:solidFill>
                <a:latin typeface="Georgia"/>
                <a:cs typeface="Georgia"/>
              </a:rPr>
              <a:t>Questione</a:t>
            </a:r>
            <a:r>
              <a:rPr sz="1600" spc="79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44" dirty="0">
                <a:solidFill>
                  <a:srgbClr val="3A362F"/>
                </a:solidFill>
                <a:latin typeface="Georgia"/>
                <a:cs typeface="Georgia"/>
              </a:rPr>
              <a:t>Centrale</a:t>
            </a:r>
            <a:endParaRPr sz="1600" dirty="0">
              <a:latin typeface="Georgia"/>
              <a:cs typeface="Georgia"/>
            </a:endParaRPr>
          </a:p>
          <a:p>
            <a:pPr marL="12699" marR="5080">
              <a:lnSpc>
                <a:spcPct val="136900"/>
              </a:lnSpc>
              <a:spcBef>
                <a:spcPts val="575"/>
              </a:spcBef>
            </a:pP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Il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cuore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della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controversia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riguarda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3A362F"/>
                </a:solidFill>
                <a:latin typeface="Verdana"/>
                <a:cs typeface="Verdana"/>
              </a:rPr>
              <a:t>l'interpretazione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dell'articolo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58,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lang="it-IT"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 err="1">
                <a:solidFill>
                  <a:srgbClr val="3A362F"/>
                </a:solidFill>
                <a:latin typeface="Verdana"/>
                <a:cs typeface="Verdana"/>
              </a:rPr>
              <a:t>paragrafo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1,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RGPD,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in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relazione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all'obbligo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delle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autorità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controllo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agire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in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seguito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a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un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reclamo.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95710" y="5255866"/>
            <a:ext cx="1028700" cy="362764"/>
            <a:chOff x="4995710" y="5934075"/>
            <a:chExt cx="1028700" cy="409575"/>
          </a:xfrm>
        </p:grpSpPr>
        <p:sp>
          <p:nvSpPr>
            <p:cNvPr id="16" name="object 16"/>
            <p:cNvSpPr/>
            <p:nvPr/>
          </p:nvSpPr>
          <p:spPr>
            <a:xfrm>
              <a:off x="5386235" y="6134100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8" y="19050"/>
                  </a:lnTo>
                  <a:lnTo>
                    <a:pt x="633526" y="18122"/>
                  </a:lnTo>
                  <a:lnTo>
                    <a:pt x="637247" y="14401"/>
                  </a:lnTo>
                  <a:lnTo>
                    <a:pt x="638175" y="12153"/>
                  </a:lnTo>
                  <a:lnTo>
                    <a:pt x="638175" y="6896"/>
                  </a:lnTo>
                  <a:lnTo>
                    <a:pt x="637247" y="4648"/>
                  </a:lnTo>
                  <a:lnTo>
                    <a:pt x="633526" y="927"/>
                  </a:lnTo>
                  <a:lnTo>
                    <a:pt x="631278" y="0"/>
                  </a:lnTo>
                  <a:close/>
                </a:path>
              </a:pathLst>
            </a:custGeom>
            <a:solidFill>
              <a:srgbClr val="D9CD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5710" y="5934075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89826" y="0"/>
                  </a:moveTo>
                  <a:lnTo>
                    <a:pt x="19748" y="0"/>
                  </a:lnTo>
                  <a:lnTo>
                    <a:pt x="16852" y="571"/>
                  </a:lnTo>
                  <a:lnTo>
                    <a:pt x="0" y="19748"/>
                  </a:lnTo>
                  <a:lnTo>
                    <a:pt x="0" y="386803"/>
                  </a:lnTo>
                  <a:lnTo>
                    <a:pt x="0" y="389826"/>
                  </a:lnTo>
                  <a:lnTo>
                    <a:pt x="19748" y="409575"/>
                  </a:lnTo>
                  <a:lnTo>
                    <a:pt x="389826" y="409575"/>
                  </a:lnTo>
                  <a:lnTo>
                    <a:pt x="409575" y="389826"/>
                  </a:lnTo>
                  <a:lnTo>
                    <a:pt x="409575" y="19748"/>
                  </a:lnTo>
                  <a:lnTo>
                    <a:pt x="392734" y="571"/>
                  </a:lnTo>
                  <a:lnTo>
                    <a:pt x="389826" y="0"/>
                  </a:lnTo>
                  <a:close/>
                </a:path>
              </a:pathLst>
            </a:custGeom>
            <a:solidFill>
              <a:srgbClr val="F3E7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112639" y="5278363"/>
            <a:ext cx="168910" cy="323806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sz="2000" spc="-50" dirty="0">
                <a:solidFill>
                  <a:srgbClr val="3A362F"/>
                </a:solidFill>
                <a:latin typeface="Georgia"/>
                <a:cs typeface="Georgia"/>
              </a:rPr>
              <a:t>3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86285" y="5223526"/>
            <a:ext cx="4312920" cy="1169485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dirty="0">
                <a:solidFill>
                  <a:srgbClr val="3A362F"/>
                </a:solidFill>
                <a:latin typeface="Georgia"/>
                <a:cs typeface="Georgia"/>
              </a:rPr>
              <a:t>Rinvio</a:t>
            </a:r>
            <a:r>
              <a:rPr sz="1600" spc="44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Pregiudiziale</a:t>
            </a:r>
            <a:endParaRPr sz="1600" dirty="0">
              <a:latin typeface="Georgia"/>
              <a:cs typeface="Georgia"/>
            </a:endParaRPr>
          </a:p>
          <a:p>
            <a:pPr marL="12699" marR="5080">
              <a:lnSpc>
                <a:spcPct val="136200"/>
              </a:lnSpc>
              <a:spcBef>
                <a:spcPts val="665"/>
              </a:spcBef>
            </a:pP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Il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tribunale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amministrativo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tedesco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ha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richiesto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l'interpretazione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della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Corte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Giustizia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dell'UE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su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A362F"/>
                </a:solidFill>
                <a:latin typeface="Verdana"/>
                <a:cs typeface="Verdana"/>
              </a:rPr>
              <a:t>questi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aspetti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cruciali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RGPD.</a:t>
            </a:r>
            <a:endParaRPr sz="13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6698485"/>
          </a:xfrm>
          <a:custGeom>
            <a:avLst/>
            <a:gdLst/>
            <a:ahLst/>
            <a:cxnLst/>
            <a:rect l="l" t="t" r="r" b="b"/>
            <a:pathLst>
              <a:path w="11430000" h="7562850">
                <a:moveTo>
                  <a:pt x="11430000" y="0"/>
                </a:moveTo>
                <a:lnTo>
                  <a:pt x="0" y="0"/>
                </a:lnTo>
                <a:lnTo>
                  <a:pt x="0" y="7562850"/>
                </a:lnTo>
                <a:lnTo>
                  <a:pt x="11430000" y="75628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5"/>
            <a:ext cx="4286250" cy="669826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4881" y="427444"/>
            <a:ext cx="10180241" cy="10836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297992" marR="5080">
              <a:lnSpc>
                <a:spcPts val="4200"/>
              </a:lnSpc>
              <a:spcBef>
                <a:spcPts val="50"/>
              </a:spcBef>
            </a:pPr>
            <a:r>
              <a:rPr spc="75" dirty="0"/>
              <a:t>Obbligo</a:t>
            </a:r>
            <a:r>
              <a:rPr spc="90" dirty="0"/>
              <a:t> </a:t>
            </a:r>
            <a:r>
              <a:rPr dirty="0"/>
              <a:t>di</a:t>
            </a:r>
            <a:r>
              <a:rPr spc="96" dirty="0"/>
              <a:t> </a:t>
            </a:r>
            <a:r>
              <a:rPr spc="90" dirty="0"/>
              <a:t>Azione</a:t>
            </a:r>
            <a:r>
              <a:rPr spc="100" dirty="0"/>
              <a:t> </a:t>
            </a:r>
            <a:r>
              <a:rPr spc="61" dirty="0"/>
              <a:t>delle Autorità</a:t>
            </a:r>
            <a:r>
              <a:rPr spc="105" dirty="0"/>
              <a:t> </a:t>
            </a:r>
            <a:r>
              <a:rPr dirty="0"/>
              <a:t>di</a:t>
            </a:r>
            <a:r>
              <a:rPr spc="100" dirty="0"/>
              <a:t> </a:t>
            </a:r>
            <a:r>
              <a:rPr spc="75" dirty="0"/>
              <a:t>Controllo</a:t>
            </a:r>
          </a:p>
        </p:txBody>
      </p:sp>
      <p:sp>
        <p:nvSpPr>
          <p:cNvPr id="5" name="object 5"/>
          <p:cNvSpPr/>
          <p:nvPr/>
        </p:nvSpPr>
        <p:spPr>
          <a:xfrm>
            <a:off x="4924425" y="1636658"/>
            <a:ext cx="5867400" cy="1434185"/>
          </a:xfrm>
          <a:custGeom>
            <a:avLst/>
            <a:gdLst/>
            <a:ahLst/>
            <a:cxnLst/>
            <a:rect l="l" t="t" r="r" b="b"/>
            <a:pathLst>
              <a:path w="5867400" h="1619250">
                <a:moveTo>
                  <a:pt x="5847651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1596478"/>
                </a:lnTo>
                <a:lnTo>
                  <a:pt x="0" y="1599501"/>
                </a:lnTo>
                <a:lnTo>
                  <a:pt x="19748" y="1619250"/>
                </a:lnTo>
                <a:lnTo>
                  <a:pt x="5847651" y="1619250"/>
                </a:lnTo>
                <a:lnTo>
                  <a:pt x="5867400" y="1599501"/>
                </a:lnTo>
                <a:lnTo>
                  <a:pt x="5867400" y="19748"/>
                </a:lnTo>
                <a:lnTo>
                  <a:pt x="5850547" y="571"/>
                </a:lnTo>
                <a:lnTo>
                  <a:pt x="5847651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93298" y="1781484"/>
            <a:ext cx="5352415" cy="1169485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spc="50" dirty="0">
                <a:solidFill>
                  <a:srgbClr val="3A362F"/>
                </a:solidFill>
                <a:latin typeface="Georgia"/>
                <a:cs typeface="Georgia"/>
              </a:rPr>
              <a:t>Obbligo</a:t>
            </a:r>
            <a:r>
              <a:rPr sz="1600" spc="75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Giuridico</a:t>
            </a:r>
            <a:endParaRPr sz="1600" dirty="0">
              <a:latin typeface="Georgia"/>
              <a:cs typeface="Georgia"/>
            </a:endParaRPr>
          </a:p>
          <a:p>
            <a:pPr marL="12699" marR="5080">
              <a:lnSpc>
                <a:spcPct val="136200"/>
              </a:lnSpc>
              <a:spcBef>
                <a:spcPts val="665"/>
              </a:spcBef>
            </a:pP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Corte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ha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stabilito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che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90" dirty="0">
                <a:solidFill>
                  <a:srgbClr val="3A362F"/>
                </a:solidFill>
                <a:latin typeface="Verdana"/>
                <a:cs typeface="Verdana"/>
              </a:rPr>
              <a:t>le</a:t>
            </a:r>
            <a:r>
              <a:rPr sz="1300" b="1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105" dirty="0">
                <a:solidFill>
                  <a:srgbClr val="3A362F"/>
                </a:solidFill>
                <a:latin typeface="Verdana"/>
                <a:cs typeface="Verdana"/>
              </a:rPr>
              <a:t>autorità</a:t>
            </a:r>
            <a:r>
              <a:rPr sz="1300" b="1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b="1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85" dirty="0">
                <a:solidFill>
                  <a:srgbClr val="3A362F"/>
                </a:solidFill>
                <a:latin typeface="Verdana"/>
                <a:cs typeface="Verdana"/>
              </a:rPr>
              <a:t>controllo</a:t>
            </a:r>
            <a:r>
              <a:rPr sz="1300" b="1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114" dirty="0">
                <a:solidFill>
                  <a:srgbClr val="3A362F"/>
                </a:solidFill>
                <a:latin typeface="Verdana"/>
                <a:cs typeface="Verdana"/>
              </a:rPr>
              <a:t>hanno</a:t>
            </a:r>
            <a:r>
              <a:rPr sz="1300" b="1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120" dirty="0">
                <a:solidFill>
                  <a:srgbClr val="3A362F"/>
                </a:solidFill>
                <a:latin typeface="Verdana"/>
                <a:cs typeface="Verdana"/>
              </a:rPr>
              <a:t>un</a:t>
            </a:r>
            <a:r>
              <a:rPr sz="1300" b="1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9" dirty="0">
                <a:solidFill>
                  <a:srgbClr val="3A362F"/>
                </a:solidFill>
                <a:latin typeface="Verdana"/>
                <a:cs typeface="Verdana"/>
              </a:rPr>
              <a:t>obbligo </a:t>
            </a:r>
            <a:r>
              <a:rPr sz="1300" b="1" spc="-96" dirty="0">
                <a:solidFill>
                  <a:srgbClr val="3A362F"/>
                </a:solidFill>
                <a:latin typeface="Verdana"/>
                <a:cs typeface="Verdana"/>
              </a:rPr>
              <a:t>giuridico</a:t>
            </a:r>
            <a:r>
              <a:rPr sz="1300" b="1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b="1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125" dirty="0">
                <a:solidFill>
                  <a:srgbClr val="3A362F"/>
                </a:solidFill>
                <a:latin typeface="Verdana"/>
                <a:cs typeface="Verdana"/>
              </a:rPr>
              <a:t>agire</a:t>
            </a:r>
            <a:r>
              <a:rPr sz="1300" b="1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110" dirty="0">
                <a:solidFill>
                  <a:srgbClr val="3A362F"/>
                </a:solidFill>
                <a:latin typeface="Verdana"/>
                <a:cs typeface="Verdana"/>
              </a:rPr>
              <a:t>quando</a:t>
            </a:r>
            <a:r>
              <a:rPr sz="1300" b="1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110" dirty="0">
                <a:solidFill>
                  <a:srgbClr val="3A362F"/>
                </a:solidFill>
                <a:latin typeface="Verdana"/>
                <a:cs typeface="Verdana"/>
              </a:rPr>
              <a:t>ricevono</a:t>
            </a:r>
            <a:r>
              <a:rPr sz="1300" b="1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120" dirty="0">
                <a:solidFill>
                  <a:srgbClr val="3A362F"/>
                </a:solidFill>
                <a:latin typeface="Verdana"/>
                <a:cs typeface="Verdana"/>
              </a:rPr>
              <a:t>un</a:t>
            </a:r>
            <a:r>
              <a:rPr sz="1300" b="1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114" dirty="0">
                <a:solidFill>
                  <a:srgbClr val="3A362F"/>
                </a:solidFill>
                <a:latin typeface="Verdana"/>
                <a:cs typeface="Verdana"/>
              </a:rPr>
              <a:t>reclamo</a:t>
            </a:r>
            <a:r>
              <a:rPr sz="1300" b="1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110" dirty="0">
                <a:solidFill>
                  <a:srgbClr val="3A362F"/>
                </a:solidFill>
                <a:latin typeface="Verdana"/>
                <a:cs typeface="Verdana"/>
              </a:rPr>
              <a:t>da</a:t>
            </a:r>
            <a:r>
              <a:rPr sz="1300" b="1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120" dirty="0">
                <a:solidFill>
                  <a:srgbClr val="3A362F"/>
                </a:solidFill>
                <a:latin typeface="Verdana"/>
                <a:cs typeface="Verdana"/>
              </a:rPr>
              <a:t>un</a:t>
            </a:r>
            <a:r>
              <a:rPr sz="1300" b="1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b="1" spc="-125" dirty="0">
                <a:solidFill>
                  <a:srgbClr val="3A362F"/>
                </a:solidFill>
                <a:latin typeface="Verdana"/>
                <a:cs typeface="Verdana"/>
              </a:rPr>
              <a:t>interessato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,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come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previsto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dall'articolo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58,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paragrafo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1,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RGPD.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24425" y="3231134"/>
            <a:ext cx="5867400" cy="1425747"/>
          </a:xfrm>
          <a:custGeom>
            <a:avLst/>
            <a:gdLst/>
            <a:ahLst/>
            <a:cxnLst/>
            <a:rect l="l" t="t" r="r" b="b"/>
            <a:pathLst>
              <a:path w="5867400" h="1609725">
                <a:moveTo>
                  <a:pt x="5847651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1586953"/>
                </a:lnTo>
                <a:lnTo>
                  <a:pt x="0" y="1589976"/>
                </a:lnTo>
                <a:lnTo>
                  <a:pt x="19748" y="1609725"/>
                </a:lnTo>
                <a:lnTo>
                  <a:pt x="5847651" y="1609725"/>
                </a:lnTo>
                <a:lnTo>
                  <a:pt x="5867400" y="1589976"/>
                </a:lnTo>
                <a:lnTo>
                  <a:pt x="5867400" y="19748"/>
                </a:lnTo>
                <a:lnTo>
                  <a:pt x="5850547" y="571"/>
                </a:lnTo>
                <a:lnTo>
                  <a:pt x="5847651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93297" y="3375958"/>
            <a:ext cx="5368925" cy="897423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dirty="0">
                <a:solidFill>
                  <a:srgbClr val="3A362F"/>
                </a:solidFill>
                <a:latin typeface="Georgia"/>
                <a:cs typeface="Georgia"/>
              </a:rPr>
              <a:t>Esame</a:t>
            </a:r>
            <a:r>
              <a:rPr sz="1600" spc="166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50" dirty="0">
                <a:solidFill>
                  <a:srgbClr val="3A362F"/>
                </a:solidFill>
                <a:latin typeface="Georgia"/>
                <a:cs typeface="Georgia"/>
              </a:rPr>
              <a:t>del</a:t>
            </a:r>
            <a:r>
              <a:rPr sz="1600" spc="170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Reclamo</a:t>
            </a:r>
            <a:endParaRPr sz="1600" dirty="0">
              <a:latin typeface="Georgia"/>
              <a:cs typeface="Georgia"/>
            </a:endParaRPr>
          </a:p>
          <a:p>
            <a:pPr marL="12699" marR="5080">
              <a:lnSpc>
                <a:spcPct val="136200"/>
              </a:lnSpc>
              <a:spcBef>
                <a:spcPts val="665"/>
              </a:spcBef>
            </a:pP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L'autorità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deve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esaminare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attentamente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ogni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reclamo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ricevuto,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valutandone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fondatezza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rilevanza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ai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3A362F"/>
                </a:solidFill>
                <a:latin typeface="Verdana"/>
                <a:cs typeface="Verdana"/>
              </a:rPr>
              <a:t>fini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della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protezione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dati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personali.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24425" y="4825609"/>
            <a:ext cx="5867400" cy="1425747"/>
          </a:xfrm>
          <a:custGeom>
            <a:avLst/>
            <a:gdLst/>
            <a:ahLst/>
            <a:cxnLst/>
            <a:rect l="l" t="t" r="r" b="b"/>
            <a:pathLst>
              <a:path w="5867400" h="1609725">
                <a:moveTo>
                  <a:pt x="5847651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1586955"/>
                </a:lnTo>
                <a:lnTo>
                  <a:pt x="0" y="1589971"/>
                </a:lnTo>
                <a:lnTo>
                  <a:pt x="19748" y="1609726"/>
                </a:lnTo>
                <a:lnTo>
                  <a:pt x="5847651" y="1609726"/>
                </a:lnTo>
                <a:lnTo>
                  <a:pt x="5867400" y="1589971"/>
                </a:lnTo>
                <a:lnTo>
                  <a:pt x="5867400" y="19748"/>
                </a:lnTo>
                <a:lnTo>
                  <a:pt x="5850547" y="571"/>
                </a:lnTo>
                <a:lnTo>
                  <a:pt x="5847651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93296" y="4970434"/>
            <a:ext cx="5474970" cy="1156661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spc="55" dirty="0">
                <a:solidFill>
                  <a:srgbClr val="3A362F"/>
                </a:solidFill>
                <a:latin typeface="Georgia"/>
                <a:cs typeface="Georgia"/>
              </a:rPr>
              <a:t>Decisione</a:t>
            </a:r>
            <a:r>
              <a:rPr sz="1600" spc="160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3A362F"/>
                </a:solidFill>
                <a:latin typeface="Georgia"/>
                <a:cs typeface="Georgia"/>
              </a:rPr>
              <a:t>sulle</a:t>
            </a:r>
            <a:r>
              <a:rPr sz="1600" spc="160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Misure</a:t>
            </a:r>
            <a:endParaRPr sz="1600" dirty="0">
              <a:latin typeface="Georgia"/>
              <a:cs typeface="Georgia"/>
            </a:endParaRPr>
          </a:p>
          <a:p>
            <a:pPr marL="12699" marR="5080">
              <a:lnSpc>
                <a:spcPct val="136200"/>
              </a:lnSpc>
              <a:spcBef>
                <a:spcPts val="590"/>
              </a:spcBef>
            </a:pP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In 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base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all'esame,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l'autorità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deve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decidere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se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adottare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misure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correttive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o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sanzionatorie,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scegliendo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tra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quelle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previste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dall'articolo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58,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paragrafo 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2,</a:t>
            </a:r>
            <a:r>
              <a:rPr sz="1300" spc="-19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19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RGPD.</a:t>
            </a:r>
            <a:endParaRPr sz="13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5702993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6987" y="705644"/>
            <a:ext cx="9496026" cy="539249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spc="75" dirty="0"/>
              <a:t>Discrezionalità</a:t>
            </a:r>
            <a:r>
              <a:rPr spc="166" dirty="0"/>
              <a:t> </a:t>
            </a:r>
            <a:r>
              <a:rPr dirty="0"/>
              <a:t>Limitata</a:t>
            </a:r>
            <a:r>
              <a:rPr spc="166" dirty="0"/>
              <a:t> </a:t>
            </a:r>
            <a:r>
              <a:rPr spc="70" dirty="0"/>
              <a:t>delle</a:t>
            </a:r>
            <a:r>
              <a:rPr spc="166" dirty="0"/>
              <a:t> </a:t>
            </a:r>
            <a:r>
              <a:rPr spc="50" dirty="0"/>
              <a:t>Autorità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9574" y="1620044"/>
            <a:ext cx="2808605" cy="3863363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pc="44" dirty="0">
                <a:solidFill>
                  <a:srgbClr val="37502F"/>
                </a:solidFill>
                <a:latin typeface="Georgia"/>
                <a:cs typeface="Georgia"/>
              </a:rPr>
              <a:t>Margine</a:t>
            </a:r>
            <a:r>
              <a:rPr spc="79" dirty="0">
                <a:solidFill>
                  <a:srgbClr val="37502F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37502F"/>
                </a:solidFill>
                <a:latin typeface="Georgia"/>
                <a:cs typeface="Georgia"/>
              </a:rPr>
              <a:t>di</a:t>
            </a:r>
            <a:r>
              <a:rPr spc="85" dirty="0">
                <a:solidFill>
                  <a:srgbClr val="37502F"/>
                </a:solidFill>
                <a:latin typeface="Georgia"/>
                <a:cs typeface="Georgia"/>
              </a:rPr>
              <a:t> </a:t>
            </a:r>
            <a:r>
              <a:rPr spc="-9" dirty="0">
                <a:solidFill>
                  <a:srgbClr val="37502F"/>
                </a:solidFill>
                <a:latin typeface="Georgia"/>
                <a:cs typeface="Georgia"/>
              </a:rPr>
              <a:t>Valutazione</a:t>
            </a:r>
            <a:endParaRPr dirty="0">
              <a:latin typeface="Georgia"/>
              <a:cs typeface="Georgia"/>
            </a:endParaRPr>
          </a:p>
          <a:p>
            <a:pPr marL="12699" marR="5080">
              <a:lnSpc>
                <a:spcPct val="136900"/>
              </a:lnSpc>
              <a:spcBef>
                <a:spcPts val="1174"/>
              </a:spcBef>
            </a:pPr>
            <a:r>
              <a:rPr spc="-110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5" dirty="0">
                <a:solidFill>
                  <a:srgbClr val="3A362F"/>
                </a:solidFill>
                <a:latin typeface="Verdana"/>
                <a:cs typeface="Verdana"/>
              </a:rPr>
              <a:t>Corte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0" dirty="0">
                <a:solidFill>
                  <a:srgbClr val="3A362F"/>
                </a:solidFill>
                <a:latin typeface="Verdana"/>
                <a:cs typeface="Verdana"/>
              </a:rPr>
              <a:t>riconosce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85" dirty="0">
                <a:solidFill>
                  <a:srgbClr val="3A362F"/>
                </a:solidFill>
                <a:latin typeface="Verdana"/>
                <a:cs typeface="Verdana"/>
              </a:rPr>
              <a:t>alle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autorità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26" dirty="0">
                <a:solidFill>
                  <a:srgbClr val="3A362F"/>
                </a:solidFill>
                <a:latin typeface="Verdana"/>
                <a:cs typeface="Verdana"/>
              </a:rPr>
              <a:t>di </a:t>
            </a:r>
            <a:r>
              <a:rPr spc="-85" dirty="0">
                <a:solidFill>
                  <a:srgbClr val="3A362F"/>
                </a:solidFill>
                <a:latin typeface="Verdana"/>
                <a:cs typeface="Verdana"/>
              </a:rPr>
              <a:t>controllo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0" dirty="0">
                <a:solidFill>
                  <a:srgbClr val="3A362F"/>
                </a:solidFill>
                <a:latin typeface="Verdana"/>
                <a:cs typeface="Verdana"/>
              </a:rPr>
              <a:t>un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4" dirty="0">
                <a:solidFill>
                  <a:srgbClr val="3A362F"/>
                </a:solidFill>
                <a:latin typeface="Verdana"/>
                <a:cs typeface="Verdana"/>
              </a:rPr>
              <a:t>certo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35" dirty="0">
                <a:solidFill>
                  <a:srgbClr val="3A362F"/>
                </a:solidFill>
                <a:latin typeface="Verdana"/>
                <a:cs typeface="Verdana"/>
              </a:rPr>
              <a:t>margine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26" dirty="0">
                <a:solidFill>
                  <a:srgbClr val="3A362F"/>
                </a:solidFill>
                <a:latin typeface="Verdana"/>
                <a:cs typeface="Verdana"/>
              </a:rPr>
              <a:t>di </a:t>
            </a:r>
            <a:r>
              <a:rPr spc="-100" dirty="0">
                <a:solidFill>
                  <a:srgbClr val="3A362F"/>
                </a:solidFill>
                <a:latin typeface="Verdana"/>
                <a:cs typeface="Verdana"/>
              </a:rPr>
              <a:t>discrezionalità</a:t>
            </a:r>
            <a:r>
              <a:rPr spc="-14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nella</a:t>
            </a:r>
            <a:r>
              <a:rPr spc="-13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4" dirty="0">
                <a:solidFill>
                  <a:srgbClr val="3A362F"/>
                </a:solidFill>
                <a:latin typeface="Verdana"/>
                <a:cs typeface="Verdana"/>
              </a:rPr>
              <a:t>valutazione</a:t>
            </a:r>
            <a:r>
              <a:rPr spc="-14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26" dirty="0">
                <a:solidFill>
                  <a:srgbClr val="3A362F"/>
                </a:solidFill>
                <a:latin typeface="Verdana"/>
                <a:cs typeface="Verdana"/>
              </a:rPr>
              <a:t>dei </a:t>
            </a:r>
            <a:r>
              <a:rPr spc="-110" dirty="0">
                <a:solidFill>
                  <a:srgbClr val="3A362F"/>
                </a:solidFill>
                <a:latin typeface="Verdana"/>
                <a:cs typeface="Verdana"/>
              </a:rPr>
              <a:t>reclami</a:t>
            </a:r>
            <a:r>
              <a:rPr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nella</a:t>
            </a:r>
            <a:r>
              <a:rPr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0" dirty="0">
                <a:solidFill>
                  <a:srgbClr val="3A362F"/>
                </a:solidFill>
                <a:latin typeface="Verdana"/>
                <a:cs typeface="Verdana"/>
              </a:rPr>
              <a:t>scelta</a:t>
            </a:r>
            <a:r>
              <a:rPr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delle</a:t>
            </a:r>
            <a:r>
              <a:rPr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31" dirty="0">
                <a:solidFill>
                  <a:srgbClr val="3A362F"/>
                </a:solidFill>
                <a:latin typeface="Verdana"/>
                <a:cs typeface="Verdana"/>
              </a:rPr>
              <a:t>misure</a:t>
            </a:r>
            <a:r>
              <a:rPr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26" dirty="0">
                <a:solidFill>
                  <a:srgbClr val="3A362F"/>
                </a:solidFill>
                <a:latin typeface="Verdana"/>
                <a:cs typeface="Verdana"/>
              </a:rPr>
              <a:t>da </a:t>
            </a:r>
            <a:r>
              <a:rPr spc="-125" dirty="0">
                <a:solidFill>
                  <a:srgbClr val="3A362F"/>
                </a:solidFill>
                <a:latin typeface="Verdana"/>
                <a:cs typeface="Verdana"/>
              </a:rPr>
              <a:t>adottare.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31" dirty="0">
                <a:solidFill>
                  <a:srgbClr val="3A362F"/>
                </a:solidFill>
                <a:latin typeface="Verdana"/>
                <a:cs typeface="Verdana"/>
              </a:rPr>
              <a:t>Questo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31" dirty="0">
                <a:solidFill>
                  <a:srgbClr val="3A362F"/>
                </a:solidFill>
                <a:latin typeface="Verdana"/>
                <a:cs typeface="Verdana"/>
              </a:rPr>
              <a:t>permette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26" dirty="0">
                <a:solidFill>
                  <a:srgbClr val="3A362F"/>
                </a:solidFill>
                <a:latin typeface="Verdana"/>
                <a:cs typeface="Verdana"/>
              </a:rPr>
              <a:t>di </a:t>
            </a:r>
            <a:r>
              <a:rPr spc="-125" dirty="0">
                <a:solidFill>
                  <a:srgbClr val="3A362F"/>
                </a:solidFill>
                <a:latin typeface="Verdana"/>
                <a:cs typeface="Verdana"/>
              </a:rPr>
              <a:t>adattare</a:t>
            </a:r>
            <a:r>
              <a:rPr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4" dirty="0">
                <a:solidFill>
                  <a:srgbClr val="3A362F"/>
                </a:solidFill>
                <a:latin typeface="Verdana"/>
                <a:cs typeface="Verdana"/>
              </a:rPr>
              <a:t>risposta</a:t>
            </a:r>
            <a:r>
              <a:rPr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9" dirty="0">
                <a:solidFill>
                  <a:srgbClr val="3A362F"/>
                </a:solidFill>
                <a:latin typeface="Verdana"/>
                <a:cs typeface="Verdana"/>
              </a:rPr>
              <a:t>alla</a:t>
            </a:r>
            <a:r>
              <a:rPr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6" dirty="0">
                <a:solidFill>
                  <a:srgbClr val="3A362F"/>
                </a:solidFill>
                <a:latin typeface="Verdana"/>
                <a:cs typeface="Verdana"/>
              </a:rPr>
              <a:t>specificità</a:t>
            </a:r>
            <a:r>
              <a:rPr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26" dirty="0">
                <a:solidFill>
                  <a:srgbClr val="3A362F"/>
                </a:solidFill>
                <a:latin typeface="Verdana"/>
                <a:cs typeface="Verdana"/>
              </a:rPr>
              <a:t>di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ogni</a:t>
            </a:r>
            <a:r>
              <a:rPr spc="-184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" dirty="0">
                <a:solidFill>
                  <a:srgbClr val="3A362F"/>
                </a:solidFill>
                <a:latin typeface="Verdana"/>
                <a:cs typeface="Verdana"/>
              </a:rPr>
              <a:t>caso.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2990" y="1667043"/>
            <a:ext cx="2747010" cy="3816364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dirty="0">
                <a:solidFill>
                  <a:srgbClr val="37502F"/>
                </a:solidFill>
                <a:latin typeface="Georgia"/>
                <a:cs typeface="Georgia"/>
              </a:rPr>
              <a:t>Limiti</a:t>
            </a:r>
            <a:r>
              <a:rPr spc="100" dirty="0">
                <a:solidFill>
                  <a:srgbClr val="37502F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37502F"/>
                </a:solidFill>
                <a:latin typeface="Georgia"/>
                <a:cs typeface="Georgia"/>
              </a:rPr>
              <a:t>alla</a:t>
            </a:r>
            <a:r>
              <a:rPr spc="105" dirty="0">
                <a:solidFill>
                  <a:srgbClr val="37502F"/>
                </a:solidFill>
                <a:latin typeface="Georgia"/>
                <a:cs typeface="Georgia"/>
              </a:rPr>
              <a:t> </a:t>
            </a:r>
            <a:r>
              <a:rPr spc="35" dirty="0">
                <a:solidFill>
                  <a:srgbClr val="37502F"/>
                </a:solidFill>
                <a:latin typeface="Georgia"/>
                <a:cs typeface="Georgia"/>
              </a:rPr>
              <a:t>Discrezionalità</a:t>
            </a:r>
            <a:endParaRPr dirty="0">
              <a:latin typeface="Georgia"/>
              <a:cs typeface="Georgia"/>
            </a:endParaRPr>
          </a:p>
          <a:p>
            <a:pPr marL="12699" marR="5080">
              <a:lnSpc>
                <a:spcPct val="136900"/>
              </a:lnSpc>
              <a:spcBef>
                <a:spcPts val="1174"/>
              </a:spcBef>
            </a:pPr>
            <a:r>
              <a:rPr spc="-131" dirty="0">
                <a:solidFill>
                  <a:srgbClr val="3A362F"/>
                </a:solidFill>
                <a:latin typeface="Verdana"/>
                <a:cs typeface="Verdana"/>
              </a:rPr>
              <a:t>Tuttavia,</a:t>
            </a:r>
            <a:r>
              <a:rPr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0" dirty="0">
                <a:solidFill>
                  <a:srgbClr val="3A362F"/>
                </a:solidFill>
                <a:latin typeface="Verdana"/>
                <a:cs typeface="Verdana"/>
              </a:rPr>
              <a:t>discrezionalità</a:t>
            </a:r>
            <a:r>
              <a:rPr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non</a:t>
            </a:r>
            <a:r>
              <a:rPr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3A362F"/>
                </a:solidFill>
                <a:latin typeface="Verdana"/>
                <a:cs typeface="Verdana"/>
              </a:rPr>
              <a:t>è </a:t>
            </a:r>
            <a:r>
              <a:rPr spc="-120" dirty="0">
                <a:solidFill>
                  <a:srgbClr val="3A362F"/>
                </a:solidFill>
                <a:latin typeface="Verdana"/>
                <a:cs typeface="Verdana"/>
              </a:rPr>
              <a:t>assoluta.</a:t>
            </a:r>
            <a:r>
              <a:rPr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5" dirty="0">
                <a:solidFill>
                  <a:srgbClr val="3A362F"/>
                </a:solidFill>
                <a:latin typeface="Verdana"/>
                <a:cs typeface="Verdana"/>
              </a:rPr>
              <a:t>Le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autorità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non</a:t>
            </a:r>
            <a:r>
              <a:rPr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" dirty="0">
                <a:solidFill>
                  <a:srgbClr val="3A362F"/>
                </a:solidFill>
                <a:latin typeface="Verdana"/>
                <a:cs typeface="Verdana"/>
              </a:rPr>
              <a:t>possono </a:t>
            </a:r>
            <a:r>
              <a:rPr spc="-120" dirty="0">
                <a:solidFill>
                  <a:srgbClr val="3A362F"/>
                </a:solidFill>
                <a:latin typeface="Verdana"/>
                <a:cs typeface="Verdana"/>
              </a:rPr>
              <a:t>ignorare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0" dirty="0">
                <a:solidFill>
                  <a:srgbClr val="3A362F"/>
                </a:solidFill>
                <a:latin typeface="Verdana"/>
                <a:cs typeface="Verdana"/>
              </a:rPr>
              <a:t>un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4" dirty="0">
                <a:solidFill>
                  <a:srgbClr val="3A362F"/>
                </a:solidFill>
                <a:latin typeface="Verdana"/>
                <a:cs typeface="Verdana"/>
              </a:rPr>
              <a:t>reclamo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85" dirty="0">
                <a:solidFill>
                  <a:srgbClr val="3A362F"/>
                </a:solidFill>
                <a:latin typeface="Verdana"/>
                <a:cs typeface="Verdana"/>
              </a:rPr>
              <a:t>o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0" dirty="0">
                <a:solidFill>
                  <a:srgbClr val="3A362F"/>
                </a:solidFill>
                <a:latin typeface="Verdana"/>
                <a:cs typeface="Verdana"/>
              </a:rPr>
              <a:t>rifiutarsi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26" dirty="0">
                <a:solidFill>
                  <a:srgbClr val="3A362F"/>
                </a:solidFill>
                <a:latin typeface="Verdana"/>
                <a:cs typeface="Verdana"/>
              </a:rPr>
              <a:t>di </a:t>
            </a:r>
            <a:r>
              <a:rPr spc="-125" dirty="0">
                <a:solidFill>
                  <a:srgbClr val="3A362F"/>
                </a:solidFill>
                <a:latin typeface="Verdana"/>
                <a:cs typeface="Verdana"/>
              </a:rPr>
              <a:t>agire</a:t>
            </a:r>
            <a:r>
              <a:rPr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40" dirty="0">
                <a:solidFill>
                  <a:srgbClr val="3A362F"/>
                </a:solidFill>
                <a:latin typeface="Verdana"/>
                <a:cs typeface="Verdana"/>
              </a:rPr>
              <a:t>senza</a:t>
            </a:r>
            <a:r>
              <a:rPr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5" dirty="0">
                <a:solidFill>
                  <a:srgbClr val="3A362F"/>
                </a:solidFill>
                <a:latin typeface="Verdana"/>
                <a:cs typeface="Verdana"/>
              </a:rPr>
              <a:t>una</a:t>
            </a:r>
            <a:r>
              <a:rPr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" dirty="0">
                <a:solidFill>
                  <a:srgbClr val="3A362F"/>
                </a:solidFill>
                <a:latin typeface="Verdana"/>
                <a:cs typeface="Verdana"/>
              </a:rPr>
              <a:t>valida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giustificazione.</a:t>
            </a:r>
            <a:r>
              <a:rPr spc="-14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35" dirty="0">
                <a:solidFill>
                  <a:srgbClr val="3A362F"/>
                </a:solidFill>
                <a:latin typeface="Verdana"/>
                <a:cs typeface="Verdana"/>
              </a:rPr>
              <a:t>Devono</a:t>
            </a:r>
            <a:r>
              <a:rPr spc="-14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" dirty="0">
                <a:solidFill>
                  <a:srgbClr val="3A362F"/>
                </a:solidFill>
                <a:latin typeface="Verdana"/>
                <a:cs typeface="Verdana"/>
              </a:rPr>
              <a:t>sempre </a:t>
            </a:r>
            <a:r>
              <a:rPr spc="-125" dirty="0">
                <a:solidFill>
                  <a:srgbClr val="3A362F"/>
                </a:solidFill>
                <a:latin typeface="Verdana"/>
                <a:cs typeface="Verdana"/>
              </a:rPr>
              <a:t>valutare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25" dirty="0">
                <a:solidFill>
                  <a:srgbClr val="3A362F"/>
                </a:solidFill>
                <a:latin typeface="Verdana"/>
                <a:cs typeface="Verdana"/>
              </a:rPr>
              <a:t>fondatezza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4" dirty="0">
                <a:solidFill>
                  <a:srgbClr val="3A362F"/>
                </a:solidFill>
                <a:latin typeface="Verdana"/>
                <a:cs typeface="Verdana"/>
              </a:rPr>
              <a:t>reclamo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3A362F"/>
                </a:solidFill>
                <a:latin typeface="Verdana"/>
                <a:cs typeface="Verdana"/>
              </a:rPr>
              <a:t>e </a:t>
            </a:r>
            <a:r>
              <a:rPr spc="-110" dirty="0">
                <a:solidFill>
                  <a:srgbClr val="3A362F"/>
                </a:solidFill>
                <a:latin typeface="Verdana"/>
                <a:cs typeface="Verdana"/>
              </a:rPr>
              <a:t>decidere</a:t>
            </a:r>
            <a:r>
              <a:rPr spc="-184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9" dirty="0">
                <a:solidFill>
                  <a:srgbClr val="3A362F"/>
                </a:solidFill>
                <a:latin typeface="Verdana"/>
                <a:cs typeface="Verdana"/>
              </a:rPr>
              <a:t>in</a:t>
            </a:r>
            <a:r>
              <a:rPr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" dirty="0">
                <a:solidFill>
                  <a:srgbClr val="3A362F"/>
                </a:solidFill>
                <a:latin typeface="Verdana"/>
                <a:cs typeface="Verdana"/>
              </a:rPr>
              <a:t>merito.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0" y="1667043"/>
            <a:ext cx="2749550" cy="3038843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pc="50" dirty="0">
                <a:solidFill>
                  <a:srgbClr val="37502F"/>
                </a:solidFill>
                <a:latin typeface="Georgia"/>
                <a:cs typeface="Georgia"/>
              </a:rPr>
              <a:t>Obbligo</a:t>
            </a:r>
            <a:r>
              <a:rPr spc="79" dirty="0">
                <a:solidFill>
                  <a:srgbClr val="37502F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37502F"/>
                </a:solidFill>
                <a:latin typeface="Georgia"/>
                <a:cs typeface="Georgia"/>
              </a:rPr>
              <a:t>di</a:t>
            </a:r>
            <a:r>
              <a:rPr spc="79" dirty="0">
                <a:solidFill>
                  <a:srgbClr val="37502F"/>
                </a:solidFill>
                <a:latin typeface="Georgia"/>
                <a:cs typeface="Georgia"/>
              </a:rPr>
              <a:t> </a:t>
            </a:r>
            <a:r>
              <a:rPr spc="-9" dirty="0">
                <a:solidFill>
                  <a:srgbClr val="37502F"/>
                </a:solidFill>
                <a:latin typeface="Georgia"/>
                <a:cs typeface="Georgia"/>
              </a:rPr>
              <a:t>Motivazione</a:t>
            </a:r>
            <a:endParaRPr dirty="0">
              <a:latin typeface="Georgia"/>
              <a:cs typeface="Georgia"/>
            </a:endParaRPr>
          </a:p>
          <a:p>
            <a:pPr marL="12699" marR="5080">
              <a:lnSpc>
                <a:spcPct val="136200"/>
              </a:lnSpc>
              <a:spcBef>
                <a:spcPts val="1190"/>
              </a:spcBef>
            </a:pP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In</a:t>
            </a:r>
            <a:r>
              <a:rPr spc="-19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4" dirty="0">
                <a:solidFill>
                  <a:srgbClr val="3A362F"/>
                </a:solidFill>
                <a:latin typeface="Verdana"/>
                <a:cs typeface="Verdana"/>
              </a:rPr>
              <a:t>caso</a:t>
            </a:r>
            <a:r>
              <a:rPr spc="-184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pc="-184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0" dirty="0">
                <a:solidFill>
                  <a:srgbClr val="3A362F"/>
                </a:solidFill>
                <a:latin typeface="Verdana"/>
                <a:cs typeface="Verdana"/>
              </a:rPr>
              <a:t>decisione</a:t>
            </a:r>
            <a:r>
              <a:rPr spc="-184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pc="-184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non</a:t>
            </a:r>
            <a:r>
              <a:rPr spc="-19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44" dirty="0">
                <a:solidFill>
                  <a:srgbClr val="3A362F"/>
                </a:solidFill>
                <a:latin typeface="Verdana"/>
                <a:cs typeface="Verdana"/>
              </a:rPr>
              <a:t>adottare </a:t>
            </a:r>
            <a:r>
              <a:rPr spc="-135" dirty="0">
                <a:solidFill>
                  <a:srgbClr val="3A362F"/>
                </a:solidFill>
                <a:latin typeface="Verdana"/>
                <a:cs typeface="Verdana"/>
              </a:rPr>
              <a:t>misure,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l'autorità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40" dirty="0">
                <a:solidFill>
                  <a:srgbClr val="3A362F"/>
                </a:solidFill>
                <a:latin typeface="Verdana"/>
                <a:cs typeface="Verdana"/>
              </a:rPr>
              <a:t>deve</a:t>
            </a:r>
            <a:r>
              <a:rPr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fornire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26" dirty="0">
                <a:solidFill>
                  <a:srgbClr val="3A362F"/>
                </a:solidFill>
                <a:latin typeface="Verdana"/>
                <a:cs typeface="Verdana"/>
              </a:rPr>
              <a:t>una </a:t>
            </a:r>
            <a:r>
              <a:rPr spc="-114" dirty="0">
                <a:solidFill>
                  <a:srgbClr val="3A362F"/>
                </a:solidFill>
                <a:latin typeface="Verdana"/>
                <a:cs typeface="Verdana"/>
              </a:rPr>
              <a:t>motivazione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35" dirty="0">
                <a:solidFill>
                  <a:srgbClr val="3A362F"/>
                </a:solidFill>
                <a:latin typeface="Verdana"/>
                <a:cs typeface="Verdana"/>
              </a:rPr>
              <a:t>adeguata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dettagliata, </a:t>
            </a:r>
            <a:r>
              <a:rPr spc="-120" dirty="0">
                <a:solidFill>
                  <a:srgbClr val="3A362F"/>
                </a:solidFill>
                <a:latin typeface="Verdana"/>
                <a:cs typeface="Verdana"/>
              </a:rPr>
              <a:t>spiegando</a:t>
            </a:r>
            <a:r>
              <a:rPr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le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05" dirty="0">
                <a:solidFill>
                  <a:srgbClr val="3A362F"/>
                </a:solidFill>
                <a:latin typeface="Verdana"/>
                <a:cs typeface="Verdana"/>
              </a:rPr>
              <a:t>ragioni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90" dirty="0">
                <a:solidFill>
                  <a:srgbClr val="3A362F"/>
                </a:solidFill>
                <a:latin typeface="Verdana"/>
                <a:cs typeface="Verdana"/>
              </a:rPr>
              <a:t>della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31" dirty="0">
                <a:solidFill>
                  <a:srgbClr val="3A362F"/>
                </a:solidFill>
                <a:latin typeface="Verdana"/>
                <a:cs typeface="Verdana"/>
              </a:rPr>
              <a:t>sua</a:t>
            </a:r>
            <a:r>
              <a:rPr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70" dirty="0">
                <a:solidFill>
                  <a:srgbClr val="3A362F"/>
                </a:solidFill>
                <a:latin typeface="Verdana"/>
                <a:cs typeface="Verdana"/>
              </a:rPr>
              <a:t>scelta </a:t>
            </a:r>
            <a:r>
              <a:rPr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110" dirty="0">
                <a:solidFill>
                  <a:srgbClr val="3A362F"/>
                </a:solidFill>
                <a:latin typeface="Verdana"/>
                <a:cs typeface="Verdana"/>
              </a:rPr>
              <a:t>informando</a:t>
            </a:r>
            <a:r>
              <a:rPr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40" dirty="0">
                <a:solidFill>
                  <a:srgbClr val="3A362F"/>
                </a:solidFill>
                <a:latin typeface="Verdana"/>
                <a:cs typeface="Verdana"/>
              </a:rPr>
              <a:t>il</a:t>
            </a:r>
            <a:r>
              <a:rPr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pc="-30" dirty="0">
                <a:solidFill>
                  <a:srgbClr val="3A362F"/>
                </a:solidFill>
                <a:latin typeface="Verdana"/>
                <a:cs typeface="Verdana"/>
              </a:rPr>
              <a:t>reclamante.</a:t>
            </a:r>
            <a:endParaRPr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6183867"/>
          </a:xfrm>
          <a:custGeom>
            <a:avLst/>
            <a:gdLst/>
            <a:ahLst/>
            <a:cxnLst/>
            <a:rect l="l" t="t" r="r" b="b"/>
            <a:pathLst>
              <a:path w="11430000" h="6981825">
                <a:moveTo>
                  <a:pt x="11430000" y="0"/>
                </a:moveTo>
                <a:lnTo>
                  <a:pt x="0" y="0"/>
                </a:lnTo>
                <a:lnTo>
                  <a:pt x="0" y="6981825"/>
                </a:lnTo>
                <a:lnTo>
                  <a:pt x="11430000" y="69818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01629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9572" y="2443739"/>
            <a:ext cx="9191227" cy="539249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spc="75" dirty="0"/>
              <a:t>Importanza</a:t>
            </a:r>
            <a:r>
              <a:rPr spc="180" dirty="0"/>
              <a:t> </a:t>
            </a:r>
            <a:r>
              <a:rPr dirty="0"/>
              <a:t>della</a:t>
            </a:r>
            <a:r>
              <a:rPr spc="195" dirty="0"/>
              <a:t> </a:t>
            </a:r>
            <a:r>
              <a:rPr spc="79" dirty="0"/>
              <a:t>Trasparenza</a:t>
            </a:r>
          </a:p>
        </p:txBody>
      </p:sp>
      <p:sp>
        <p:nvSpPr>
          <p:cNvPr id="5" name="object 5"/>
          <p:cNvSpPr/>
          <p:nvPr/>
        </p:nvSpPr>
        <p:spPr>
          <a:xfrm>
            <a:off x="1028701" y="3357681"/>
            <a:ext cx="409575" cy="362764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6" y="0"/>
                </a:moveTo>
                <a:lnTo>
                  <a:pt x="19749" y="0"/>
                </a:lnTo>
                <a:lnTo>
                  <a:pt x="16847" y="571"/>
                </a:lnTo>
                <a:lnTo>
                  <a:pt x="0" y="19748"/>
                </a:lnTo>
                <a:lnTo>
                  <a:pt x="0" y="386803"/>
                </a:lnTo>
                <a:lnTo>
                  <a:pt x="0" y="389826"/>
                </a:lnTo>
                <a:lnTo>
                  <a:pt x="19749" y="409575"/>
                </a:lnTo>
                <a:lnTo>
                  <a:pt x="389826" y="409575"/>
                </a:lnTo>
                <a:lnTo>
                  <a:pt x="409575" y="389826"/>
                </a:lnTo>
                <a:lnTo>
                  <a:pt x="409575" y="19748"/>
                </a:lnTo>
                <a:lnTo>
                  <a:pt x="392722" y="584"/>
                </a:lnTo>
                <a:lnTo>
                  <a:pt x="389826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77628" y="3380178"/>
            <a:ext cx="119380" cy="323806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sz="2000" spc="-79" dirty="0">
                <a:solidFill>
                  <a:srgbClr val="3A362F"/>
                </a:solidFill>
                <a:latin typeface="Georgia"/>
                <a:cs typeface="Georgia"/>
              </a:rPr>
              <a:t>1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1610" y="3342213"/>
            <a:ext cx="2353310" cy="2531974"/>
          </a:xfrm>
          <a:prstGeom prst="rect">
            <a:avLst/>
          </a:prstGeom>
        </p:spPr>
        <p:txBody>
          <a:bodyPr vert="horz" wrap="square" lIns="0" tIns="1904" rIns="0" bIns="0" rtlCol="0">
            <a:spAutoFit/>
          </a:bodyPr>
          <a:lstStyle/>
          <a:p>
            <a:pPr marL="12699" marR="577171">
              <a:lnSpc>
                <a:spcPct val="106100"/>
              </a:lnSpc>
              <a:spcBef>
                <a:spcPts val="15"/>
              </a:spcBef>
            </a:pPr>
            <a:r>
              <a:rPr sz="1600" spc="9" dirty="0">
                <a:solidFill>
                  <a:srgbClr val="3A362F"/>
                </a:solidFill>
                <a:latin typeface="Georgia"/>
                <a:cs typeface="Georgia"/>
              </a:rPr>
              <a:t>Motivazione</a:t>
            </a:r>
            <a:r>
              <a:rPr sz="1600" spc="455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delle Decisioni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6900"/>
              </a:lnSpc>
              <a:spcBef>
                <a:spcPts val="650"/>
              </a:spcBef>
            </a:pP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9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Corte</a:t>
            </a:r>
            <a:r>
              <a:rPr sz="1300" spc="-19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ha</a:t>
            </a:r>
            <a:r>
              <a:rPr sz="1300" spc="-19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enfatizzato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l'importanza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della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trasparenza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nelle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decisioni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delle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autorità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di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controllo.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Ogni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decisione,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sia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essa</a:t>
            </a:r>
            <a:r>
              <a:rPr sz="1300" spc="-19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9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agire</a:t>
            </a:r>
            <a:r>
              <a:rPr sz="1300" spc="-19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o</a:t>
            </a:r>
            <a:r>
              <a:rPr sz="1300" spc="-19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9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non</a:t>
            </a:r>
            <a:r>
              <a:rPr sz="1300" spc="-184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agire,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deve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essere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3A362F"/>
                </a:solidFill>
                <a:latin typeface="Verdana"/>
                <a:cs typeface="Verdana"/>
              </a:rPr>
              <a:t>adeguatamente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motivata.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19576" y="3357681"/>
            <a:ext cx="409575" cy="362764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6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386803"/>
                </a:lnTo>
                <a:lnTo>
                  <a:pt x="0" y="389826"/>
                </a:lnTo>
                <a:lnTo>
                  <a:pt x="19748" y="409575"/>
                </a:lnTo>
                <a:lnTo>
                  <a:pt x="389826" y="409575"/>
                </a:lnTo>
                <a:lnTo>
                  <a:pt x="409575" y="389826"/>
                </a:lnTo>
                <a:lnTo>
                  <a:pt x="409575" y="19748"/>
                </a:lnTo>
                <a:lnTo>
                  <a:pt x="392722" y="584"/>
                </a:lnTo>
                <a:lnTo>
                  <a:pt x="389826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37989" y="3380178"/>
            <a:ext cx="163830" cy="323806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sz="2000" spc="-50" dirty="0">
                <a:solidFill>
                  <a:srgbClr val="3A362F"/>
                </a:solidFill>
                <a:latin typeface="Georgia"/>
                <a:cs typeface="Georgia"/>
              </a:rPr>
              <a:t>2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94148" y="3342213"/>
            <a:ext cx="2310130" cy="2531974"/>
          </a:xfrm>
          <a:prstGeom prst="rect">
            <a:avLst/>
          </a:prstGeom>
        </p:spPr>
        <p:txBody>
          <a:bodyPr vert="horz" wrap="square" lIns="0" tIns="1904" rIns="0" bIns="0" rtlCol="0">
            <a:spAutoFit/>
          </a:bodyPr>
          <a:lstStyle/>
          <a:p>
            <a:pPr marL="12699" marR="730196">
              <a:lnSpc>
                <a:spcPct val="106100"/>
              </a:lnSpc>
              <a:spcBef>
                <a:spcPts val="15"/>
              </a:spcBef>
            </a:pPr>
            <a:r>
              <a:rPr sz="1600" spc="20" dirty="0">
                <a:solidFill>
                  <a:srgbClr val="3A362F"/>
                </a:solidFill>
                <a:latin typeface="Georgia"/>
                <a:cs typeface="Georgia"/>
              </a:rPr>
              <a:t>Informazione</a:t>
            </a:r>
            <a:r>
              <a:rPr sz="1600" spc="395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26" dirty="0">
                <a:solidFill>
                  <a:srgbClr val="3A362F"/>
                </a:solidFill>
                <a:latin typeface="Georgia"/>
                <a:cs typeface="Georgia"/>
              </a:rPr>
              <a:t>al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Reclamante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6900"/>
              </a:lnSpc>
              <a:spcBef>
                <a:spcPts val="650"/>
              </a:spcBef>
            </a:pP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L'autorità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ha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l'obbligo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di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informare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A362F"/>
                </a:solidFill>
                <a:latin typeface="Verdana"/>
                <a:cs typeface="Verdana"/>
              </a:rPr>
              <a:t>il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reclamante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dell'esito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suo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reclamo,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fornendo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spiegazioni</a:t>
            </a:r>
            <a:r>
              <a:rPr sz="1300" spc="-14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chiare</a:t>
            </a:r>
            <a:r>
              <a:rPr sz="1300" spc="-14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3A362F"/>
                </a:solidFill>
                <a:latin typeface="Verdana"/>
                <a:cs typeface="Verdana"/>
              </a:rPr>
              <a:t>e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comprensibili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sulle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azioni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intraprese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sulle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ragioni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4" dirty="0">
                <a:solidFill>
                  <a:srgbClr val="3A362F"/>
                </a:solidFill>
                <a:latin typeface="Verdana"/>
                <a:cs typeface="Verdana"/>
              </a:rPr>
              <a:t>della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mancata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azione.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00926" y="3357681"/>
            <a:ext cx="409575" cy="362764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6" y="0"/>
                </a:moveTo>
                <a:lnTo>
                  <a:pt x="19748" y="0"/>
                </a:lnTo>
                <a:lnTo>
                  <a:pt x="16840" y="571"/>
                </a:lnTo>
                <a:lnTo>
                  <a:pt x="0" y="19748"/>
                </a:lnTo>
                <a:lnTo>
                  <a:pt x="0" y="386803"/>
                </a:lnTo>
                <a:lnTo>
                  <a:pt x="0" y="389826"/>
                </a:lnTo>
                <a:lnTo>
                  <a:pt x="19748" y="409575"/>
                </a:lnTo>
                <a:lnTo>
                  <a:pt x="389826" y="409575"/>
                </a:lnTo>
                <a:lnTo>
                  <a:pt x="409575" y="389826"/>
                </a:lnTo>
                <a:lnTo>
                  <a:pt x="409575" y="19748"/>
                </a:lnTo>
                <a:lnTo>
                  <a:pt x="392722" y="584"/>
                </a:lnTo>
                <a:lnTo>
                  <a:pt x="389826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17852" y="3380178"/>
            <a:ext cx="168910" cy="323806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sz="2000" spc="-50" dirty="0">
                <a:solidFill>
                  <a:srgbClr val="3A362F"/>
                </a:solidFill>
                <a:latin typeface="Georgia"/>
                <a:cs typeface="Georgia"/>
              </a:rPr>
              <a:t>3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76690" y="3342213"/>
            <a:ext cx="2308860" cy="2257732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spc="35" dirty="0">
                <a:solidFill>
                  <a:srgbClr val="3A362F"/>
                </a:solidFill>
                <a:latin typeface="Georgia"/>
                <a:cs typeface="Georgia"/>
              </a:rPr>
              <a:t>Accountability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6200"/>
              </a:lnSpc>
              <a:spcBef>
                <a:spcPts val="665"/>
              </a:spcBef>
            </a:pP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trasparenza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nelle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3A362F"/>
                </a:solidFill>
                <a:latin typeface="Verdana"/>
                <a:cs typeface="Verdana"/>
              </a:rPr>
              <a:t>decisioni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contribuisce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all'accountability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delle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autorità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controllo,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permettendo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un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controllo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pubblico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sul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loro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operato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3A362F"/>
                </a:solidFill>
                <a:latin typeface="Verdana"/>
                <a:cs typeface="Verdana"/>
              </a:rPr>
              <a:t>e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rafforzando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fiducia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nel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sistema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protezione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3A362F"/>
                </a:solidFill>
                <a:latin typeface="Verdana"/>
                <a:cs typeface="Verdana"/>
              </a:rPr>
              <a:t>dati.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7238413"/>
          </a:xfrm>
          <a:custGeom>
            <a:avLst/>
            <a:gdLst/>
            <a:ahLst/>
            <a:cxnLst/>
            <a:rect l="l" t="t" r="r" b="b"/>
            <a:pathLst>
              <a:path w="11430000" h="8172450">
                <a:moveTo>
                  <a:pt x="11430000" y="0"/>
                </a:moveTo>
                <a:lnTo>
                  <a:pt x="0" y="0"/>
                </a:lnTo>
                <a:lnTo>
                  <a:pt x="0" y="8172450"/>
                </a:lnTo>
                <a:lnTo>
                  <a:pt x="11430000" y="81724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2" y="226"/>
            <a:ext cx="4286249" cy="72381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4879" y="427444"/>
            <a:ext cx="4414520" cy="10836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699" marR="5080">
              <a:lnSpc>
                <a:spcPts val="4200"/>
              </a:lnSpc>
              <a:spcBef>
                <a:spcPts val="50"/>
              </a:spcBef>
            </a:pPr>
            <a:r>
              <a:rPr spc="75" dirty="0"/>
              <a:t>Tutela</a:t>
            </a:r>
            <a:r>
              <a:rPr spc="184" dirty="0"/>
              <a:t> </a:t>
            </a:r>
            <a:r>
              <a:rPr spc="75" dirty="0"/>
              <a:t>dei</a:t>
            </a:r>
            <a:r>
              <a:rPr spc="184" dirty="0"/>
              <a:t> </a:t>
            </a:r>
            <a:r>
              <a:rPr dirty="0"/>
              <a:t>Diritti</a:t>
            </a:r>
            <a:r>
              <a:rPr spc="180" dirty="0"/>
              <a:t> </a:t>
            </a:r>
            <a:r>
              <a:rPr spc="70" dirty="0"/>
              <a:t>degli </a:t>
            </a:r>
            <a:r>
              <a:rPr spc="50" dirty="0"/>
              <a:t>Interessati</a:t>
            </a:r>
          </a:p>
        </p:txBody>
      </p:sp>
      <p:sp>
        <p:nvSpPr>
          <p:cNvPr id="5" name="object 5"/>
          <p:cNvSpPr/>
          <p:nvPr/>
        </p:nvSpPr>
        <p:spPr>
          <a:xfrm>
            <a:off x="638176" y="1636656"/>
            <a:ext cx="911225" cy="1290766"/>
          </a:xfrm>
          <a:custGeom>
            <a:avLst/>
            <a:gdLst/>
            <a:ahLst/>
            <a:cxnLst/>
            <a:rect l="l" t="t" r="r" b="b"/>
            <a:pathLst>
              <a:path w="911225" h="1457325">
                <a:moveTo>
                  <a:pt x="910831" y="0"/>
                </a:moveTo>
                <a:lnTo>
                  <a:pt x="455414" y="182168"/>
                </a:lnTo>
                <a:lnTo>
                  <a:pt x="0" y="0"/>
                </a:lnTo>
                <a:lnTo>
                  <a:pt x="0" y="1275156"/>
                </a:lnTo>
                <a:lnTo>
                  <a:pt x="455414" y="1457325"/>
                </a:lnTo>
                <a:lnTo>
                  <a:pt x="910831" y="1275156"/>
                </a:lnTo>
                <a:lnTo>
                  <a:pt x="910831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30585" y="2108984"/>
            <a:ext cx="125095" cy="35137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2200" spc="-90" dirty="0">
                <a:solidFill>
                  <a:srgbClr val="3A362F"/>
                </a:solidFill>
                <a:latin typeface="Georgia"/>
                <a:cs typeface="Georgia"/>
              </a:rPr>
              <a:t>1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8956" y="1781482"/>
            <a:ext cx="2705100" cy="263532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spc="61" dirty="0">
                <a:solidFill>
                  <a:srgbClr val="3A362F"/>
                </a:solidFill>
                <a:latin typeface="Georgia"/>
                <a:cs typeface="Georgia"/>
              </a:rPr>
              <a:t>Presentazione</a:t>
            </a:r>
            <a:r>
              <a:rPr sz="1600" spc="65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50" dirty="0">
                <a:solidFill>
                  <a:srgbClr val="3A362F"/>
                </a:solidFill>
                <a:latin typeface="Georgia"/>
                <a:cs typeface="Georgia"/>
              </a:rPr>
              <a:t>del</a:t>
            </a:r>
            <a:r>
              <a:rPr sz="1600" spc="70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Reclamo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8958" y="2087926"/>
            <a:ext cx="4429125" cy="547713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12699" marR="5080">
              <a:lnSpc>
                <a:spcPct val="133900"/>
              </a:lnSpc>
              <a:spcBef>
                <a:spcPts val="90"/>
              </a:spcBef>
            </a:pP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L'interessato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presenta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un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reclamo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all'autorità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A362F"/>
                </a:solidFill>
                <a:latin typeface="Verdana"/>
                <a:cs typeface="Verdana"/>
              </a:rPr>
              <a:t>controllo,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esercitando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A362F"/>
                </a:solidFill>
                <a:latin typeface="Verdana"/>
                <a:cs typeface="Verdana"/>
              </a:rPr>
              <a:t>il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suo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diritto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alla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protezione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dati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3A362F"/>
                </a:solidFill>
                <a:latin typeface="Verdana"/>
                <a:cs typeface="Verdana"/>
              </a:rPr>
              <a:t>personali.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8176" y="2927424"/>
            <a:ext cx="911225" cy="1290766"/>
          </a:xfrm>
          <a:custGeom>
            <a:avLst/>
            <a:gdLst/>
            <a:ahLst/>
            <a:cxnLst/>
            <a:rect l="l" t="t" r="r" b="b"/>
            <a:pathLst>
              <a:path w="911225" h="1457325">
                <a:moveTo>
                  <a:pt x="910831" y="0"/>
                </a:moveTo>
                <a:lnTo>
                  <a:pt x="455414" y="182168"/>
                </a:lnTo>
                <a:lnTo>
                  <a:pt x="0" y="0"/>
                </a:lnTo>
                <a:lnTo>
                  <a:pt x="0" y="1275156"/>
                </a:lnTo>
                <a:lnTo>
                  <a:pt x="455414" y="1457325"/>
                </a:lnTo>
                <a:lnTo>
                  <a:pt x="910831" y="1275156"/>
                </a:lnTo>
                <a:lnTo>
                  <a:pt x="910831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06923" y="3399750"/>
            <a:ext cx="172720" cy="35137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2200" spc="-50" dirty="0">
                <a:solidFill>
                  <a:srgbClr val="3A362F"/>
                </a:solidFill>
                <a:latin typeface="Georgia"/>
                <a:cs typeface="Georgia"/>
              </a:rPr>
              <a:t>2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8956" y="3072248"/>
            <a:ext cx="4597400" cy="889472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dirty="0">
                <a:solidFill>
                  <a:srgbClr val="3A362F"/>
                </a:solidFill>
                <a:latin typeface="Georgia"/>
                <a:cs typeface="Georgia"/>
              </a:rPr>
              <a:t>Esame</a:t>
            </a:r>
            <a:r>
              <a:rPr sz="1600" spc="166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110" dirty="0">
                <a:solidFill>
                  <a:srgbClr val="3A362F"/>
                </a:solidFill>
                <a:latin typeface="Georgia"/>
                <a:cs typeface="Georgia"/>
              </a:rPr>
              <a:t>e</a:t>
            </a:r>
            <a:r>
              <a:rPr sz="1600" spc="170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Valutazione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3900"/>
              </a:lnSpc>
              <a:spcBef>
                <a:spcPts val="700"/>
              </a:spcBef>
            </a:pP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L'autorità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esamina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A362F"/>
                </a:solidFill>
                <a:latin typeface="Verdana"/>
                <a:cs typeface="Verdana"/>
              </a:rPr>
              <a:t>il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reclamo,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valutandone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fondatezza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la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rilevanza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per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protezione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dati.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8176" y="4218190"/>
            <a:ext cx="911225" cy="1290766"/>
          </a:xfrm>
          <a:custGeom>
            <a:avLst/>
            <a:gdLst/>
            <a:ahLst/>
            <a:cxnLst/>
            <a:rect l="l" t="t" r="r" b="b"/>
            <a:pathLst>
              <a:path w="911225" h="1457325">
                <a:moveTo>
                  <a:pt x="910831" y="0"/>
                </a:moveTo>
                <a:lnTo>
                  <a:pt x="455414" y="182168"/>
                </a:lnTo>
                <a:lnTo>
                  <a:pt x="0" y="0"/>
                </a:lnTo>
                <a:lnTo>
                  <a:pt x="0" y="1275156"/>
                </a:lnTo>
                <a:lnTo>
                  <a:pt x="455414" y="1457325"/>
                </a:lnTo>
                <a:lnTo>
                  <a:pt x="910831" y="1275156"/>
                </a:lnTo>
                <a:lnTo>
                  <a:pt x="910831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04093" y="4690515"/>
            <a:ext cx="177800" cy="35137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2200" spc="-50" dirty="0">
                <a:solidFill>
                  <a:srgbClr val="3A362F"/>
                </a:solidFill>
                <a:latin typeface="Georgia"/>
                <a:cs typeface="Georgia"/>
              </a:rPr>
              <a:t>3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8956" y="4363014"/>
            <a:ext cx="4674870" cy="889472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spc="50" dirty="0">
                <a:solidFill>
                  <a:srgbClr val="3A362F"/>
                </a:solidFill>
                <a:latin typeface="Georgia"/>
                <a:cs typeface="Georgia"/>
              </a:rPr>
              <a:t>Azione</a:t>
            </a:r>
            <a:r>
              <a:rPr sz="1600" spc="70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dell'Autorità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3900"/>
              </a:lnSpc>
              <a:spcBef>
                <a:spcPts val="700"/>
              </a:spcBef>
            </a:pP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L'autorità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adotta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misure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appropriate,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come</a:t>
            </a:r>
            <a:r>
              <a:rPr sz="1300" spc="-14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3A362F"/>
                </a:solidFill>
                <a:latin typeface="Verdana"/>
                <a:cs typeface="Verdana"/>
              </a:rPr>
              <a:t>avvertimenti,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ammonimenti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o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sanzioni,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per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tutelare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A362F"/>
                </a:solidFill>
                <a:latin typeface="Verdana"/>
                <a:cs typeface="Verdana"/>
              </a:rPr>
              <a:t>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3A362F"/>
                </a:solidFill>
                <a:latin typeface="Verdana"/>
                <a:cs typeface="Verdana"/>
              </a:rPr>
              <a:t>diritti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dell'interessato.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8176" y="5508957"/>
            <a:ext cx="911225" cy="1290766"/>
          </a:xfrm>
          <a:custGeom>
            <a:avLst/>
            <a:gdLst/>
            <a:ahLst/>
            <a:cxnLst/>
            <a:rect l="l" t="t" r="r" b="b"/>
            <a:pathLst>
              <a:path w="911225" h="1457325">
                <a:moveTo>
                  <a:pt x="910831" y="0"/>
                </a:moveTo>
                <a:lnTo>
                  <a:pt x="455414" y="182168"/>
                </a:lnTo>
                <a:lnTo>
                  <a:pt x="0" y="0"/>
                </a:lnTo>
                <a:lnTo>
                  <a:pt x="0" y="1275160"/>
                </a:lnTo>
                <a:lnTo>
                  <a:pt x="455414" y="1457326"/>
                </a:lnTo>
                <a:lnTo>
                  <a:pt x="910831" y="1275160"/>
                </a:lnTo>
                <a:lnTo>
                  <a:pt x="910831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06178" y="5981284"/>
            <a:ext cx="173990" cy="35137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2200" spc="-50" dirty="0">
                <a:solidFill>
                  <a:srgbClr val="3A362F"/>
                </a:solidFill>
                <a:latin typeface="Georgia"/>
                <a:cs typeface="Georgia"/>
              </a:rPr>
              <a:t>4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08956" y="5653782"/>
            <a:ext cx="4558030" cy="889472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spc="50" dirty="0">
                <a:solidFill>
                  <a:srgbClr val="3A362F"/>
                </a:solidFill>
                <a:latin typeface="Georgia"/>
                <a:cs typeface="Georgia"/>
              </a:rPr>
              <a:t>Feedback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all'Interessato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3900"/>
              </a:lnSpc>
              <a:spcBef>
                <a:spcPts val="700"/>
              </a:spcBef>
            </a:pP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L'autorità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informa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l'interessato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dell'esito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reclamo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delle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azioni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intraprese,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garantendo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trasparenza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3A362F"/>
                </a:solidFill>
                <a:latin typeface="Verdana"/>
                <a:cs typeface="Verdana"/>
              </a:rPr>
              <a:t>accountability.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5949" y="-22689"/>
            <a:ext cx="11430000" cy="7803652"/>
          </a:xfrm>
          <a:custGeom>
            <a:avLst/>
            <a:gdLst/>
            <a:ahLst/>
            <a:cxnLst/>
            <a:rect l="l" t="t" r="r" b="b"/>
            <a:pathLst>
              <a:path w="11430000" h="8810625">
                <a:moveTo>
                  <a:pt x="11430000" y="0"/>
                </a:moveTo>
                <a:lnTo>
                  <a:pt x="0" y="0"/>
                </a:lnTo>
                <a:lnTo>
                  <a:pt x="0" y="8810625"/>
                </a:lnTo>
                <a:lnTo>
                  <a:pt x="11430000" y="88106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2" y="0"/>
            <a:ext cx="4286249" cy="78036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4878" y="427444"/>
            <a:ext cx="6156921" cy="10836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699" marR="5080">
              <a:lnSpc>
                <a:spcPts val="4200"/>
              </a:lnSpc>
              <a:spcBef>
                <a:spcPts val="50"/>
              </a:spcBef>
            </a:pPr>
            <a:r>
              <a:rPr spc="61" dirty="0"/>
              <a:t>Impatto</a:t>
            </a:r>
            <a:r>
              <a:rPr spc="175" dirty="0"/>
              <a:t> </a:t>
            </a:r>
            <a:r>
              <a:rPr dirty="0"/>
              <a:t>sulla</a:t>
            </a:r>
            <a:r>
              <a:rPr spc="180" dirty="0"/>
              <a:t> </a:t>
            </a:r>
            <a:r>
              <a:rPr dirty="0"/>
              <a:t>Fiducia</a:t>
            </a:r>
            <a:r>
              <a:rPr spc="175" dirty="0"/>
              <a:t> </a:t>
            </a:r>
            <a:r>
              <a:rPr spc="50" dirty="0"/>
              <a:t>nel </a:t>
            </a:r>
            <a:r>
              <a:rPr spc="70" dirty="0"/>
              <a:t>Sistema</a:t>
            </a:r>
            <a:r>
              <a:rPr spc="96" dirty="0"/>
              <a:t> </a:t>
            </a:r>
            <a:r>
              <a:rPr dirty="0"/>
              <a:t>di</a:t>
            </a:r>
            <a:r>
              <a:rPr spc="90" dirty="0"/>
              <a:t> </a:t>
            </a:r>
            <a:r>
              <a:rPr spc="114" dirty="0"/>
              <a:t>Protezione</a:t>
            </a:r>
            <a:r>
              <a:rPr spc="96" dirty="0"/>
              <a:t> </a:t>
            </a:r>
            <a:r>
              <a:rPr spc="-20" dirty="0"/>
              <a:t>Dati</a:t>
            </a:r>
          </a:p>
        </p:txBody>
      </p:sp>
      <p:sp>
        <p:nvSpPr>
          <p:cNvPr id="5" name="object 5"/>
          <p:cNvSpPr/>
          <p:nvPr/>
        </p:nvSpPr>
        <p:spPr>
          <a:xfrm>
            <a:off x="603176" y="1620044"/>
            <a:ext cx="427355" cy="479902"/>
          </a:xfrm>
          <a:custGeom>
            <a:avLst/>
            <a:gdLst/>
            <a:ahLst/>
            <a:cxnLst/>
            <a:rect l="l" t="t" r="r" b="b"/>
            <a:pathLst>
              <a:path w="427355" h="450850">
                <a:moveTo>
                  <a:pt x="213474" y="0"/>
                </a:moveTo>
                <a:lnTo>
                  <a:pt x="34066" y="71247"/>
                </a:lnTo>
                <a:lnTo>
                  <a:pt x="2533" y="105504"/>
                </a:lnTo>
                <a:lnTo>
                  <a:pt x="0" y="122123"/>
                </a:lnTo>
                <a:lnTo>
                  <a:pt x="2004" y="158329"/>
                </a:lnTo>
                <a:lnTo>
                  <a:pt x="8321" y="199508"/>
                </a:lnTo>
                <a:lnTo>
                  <a:pt x="19899" y="243771"/>
                </a:lnTo>
                <a:lnTo>
                  <a:pt x="37691" y="289226"/>
                </a:lnTo>
                <a:lnTo>
                  <a:pt x="62645" y="333985"/>
                </a:lnTo>
                <a:lnTo>
                  <a:pt x="95714" y="376158"/>
                </a:lnTo>
                <a:lnTo>
                  <a:pt x="137846" y="413855"/>
                </a:lnTo>
                <a:lnTo>
                  <a:pt x="189994" y="445185"/>
                </a:lnTo>
                <a:lnTo>
                  <a:pt x="213474" y="450519"/>
                </a:lnTo>
                <a:lnTo>
                  <a:pt x="225439" y="449186"/>
                </a:lnTo>
                <a:lnTo>
                  <a:pt x="236954" y="445185"/>
                </a:lnTo>
                <a:lnTo>
                  <a:pt x="274115" y="422859"/>
                </a:lnTo>
                <a:lnTo>
                  <a:pt x="209292" y="422859"/>
                </a:lnTo>
                <a:lnTo>
                  <a:pt x="202267" y="419481"/>
                </a:lnTo>
                <a:lnTo>
                  <a:pt x="154953" y="391048"/>
                </a:lnTo>
                <a:lnTo>
                  <a:pt x="116597" y="356717"/>
                </a:lnTo>
                <a:lnTo>
                  <a:pt x="86375" y="318186"/>
                </a:lnTo>
                <a:lnTo>
                  <a:pt x="63464" y="277152"/>
                </a:lnTo>
                <a:lnTo>
                  <a:pt x="47040" y="235313"/>
                </a:lnTo>
                <a:lnTo>
                  <a:pt x="36281" y="194367"/>
                </a:lnTo>
                <a:lnTo>
                  <a:pt x="30362" y="156011"/>
                </a:lnTo>
                <a:lnTo>
                  <a:pt x="28460" y="121945"/>
                </a:lnTo>
                <a:lnTo>
                  <a:pt x="29623" y="114171"/>
                </a:lnTo>
                <a:lnTo>
                  <a:pt x="33030" y="107237"/>
                </a:lnTo>
                <a:lnTo>
                  <a:pt x="38318" y="101557"/>
                </a:lnTo>
                <a:lnTo>
                  <a:pt x="45184" y="97485"/>
                </a:lnTo>
                <a:lnTo>
                  <a:pt x="209471" y="27749"/>
                </a:lnTo>
                <a:lnTo>
                  <a:pt x="290404" y="27749"/>
                </a:lnTo>
                <a:lnTo>
                  <a:pt x="235709" y="4533"/>
                </a:lnTo>
                <a:lnTo>
                  <a:pt x="224759" y="1133"/>
                </a:lnTo>
                <a:lnTo>
                  <a:pt x="213474" y="0"/>
                </a:lnTo>
                <a:close/>
              </a:path>
              <a:path w="427355" h="450850">
                <a:moveTo>
                  <a:pt x="297315" y="30683"/>
                </a:moveTo>
                <a:lnTo>
                  <a:pt x="224591" y="30683"/>
                </a:lnTo>
                <a:lnTo>
                  <a:pt x="381764" y="97396"/>
                </a:lnTo>
                <a:lnTo>
                  <a:pt x="388630" y="101519"/>
                </a:lnTo>
                <a:lnTo>
                  <a:pt x="393934" y="107248"/>
                </a:lnTo>
                <a:lnTo>
                  <a:pt x="397325" y="114173"/>
                </a:lnTo>
                <a:lnTo>
                  <a:pt x="398487" y="121945"/>
                </a:lnTo>
                <a:lnTo>
                  <a:pt x="396582" y="156037"/>
                </a:lnTo>
                <a:lnTo>
                  <a:pt x="390653" y="194404"/>
                </a:lnTo>
                <a:lnTo>
                  <a:pt x="379879" y="235352"/>
                </a:lnTo>
                <a:lnTo>
                  <a:pt x="363439" y="277185"/>
                </a:lnTo>
                <a:lnTo>
                  <a:pt x="340512" y="318209"/>
                </a:lnTo>
                <a:lnTo>
                  <a:pt x="310276" y="356730"/>
                </a:lnTo>
                <a:lnTo>
                  <a:pt x="271909" y="391052"/>
                </a:lnTo>
                <a:lnTo>
                  <a:pt x="224591" y="419481"/>
                </a:lnTo>
                <a:lnTo>
                  <a:pt x="217567" y="422859"/>
                </a:lnTo>
                <a:lnTo>
                  <a:pt x="274115" y="422859"/>
                </a:lnTo>
                <a:lnTo>
                  <a:pt x="331234" y="376158"/>
                </a:lnTo>
                <a:lnTo>
                  <a:pt x="364302" y="333985"/>
                </a:lnTo>
                <a:lnTo>
                  <a:pt x="389257" y="289226"/>
                </a:lnTo>
                <a:lnTo>
                  <a:pt x="407048" y="243771"/>
                </a:lnTo>
                <a:lnTo>
                  <a:pt x="418627" y="199508"/>
                </a:lnTo>
                <a:lnTo>
                  <a:pt x="424943" y="158329"/>
                </a:lnTo>
                <a:lnTo>
                  <a:pt x="426948" y="122123"/>
                </a:lnTo>
                <a:lnTo>
                  <a:pt x="424415" y="105504"/>
                </a:lnTo>
                <a:lnTo>
                  <a:pt x="417287" y="91046"/>
                </a:lnTo>
                <a:lnTo>
                  <a:pt x="406473" y="79407"/>
                </a:lnTo>
                <a:lnTo>
                  <a:pt x="392882" y="71247"/>
                </a:lnTo>
                <a:lnTo>
                  <a:pt x="297315" y="30683"/>
                </a:lnTo>
                <a:close/>
              </a:path>
              <a:path w="427355" h="450850">
                <a:moveTo>
                  <a:pt x="290404" y="27749"/>
                </a:moveTo>
                <a:lnTo>
                  <a:pt x="217477" y="27749"/>
                </a:lnTo>
                <a:lnTo>
                  <a:pt x="224591" y="30772"/>
                </a:lnTo>
                <a:lnTo>
                  <a:pt x="297315" y="30683"/>
                </a:lnTo>
                <a:lnTo>
                  <a:pt x="290404" y="27749"/>
                </a:lnTo>
                <a:close/>
              </a:path>
            </a:pathLst>
          </a:custGeom>
          <a:solidFill>
            <a:srgbClr val="3750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4880" y="2186428"/>
            <a:ext cx="5626735" cy="879854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spc="50" dirty="0">
                <a:solidFill>
                  <a:srgbClr val="3A362F"/>
                </a:solidFill>
                <a:latin typeface="Georgia"/>
                <a:cs typeface="Georgia"/>
              </a:rPr>
              <a:t>Rafforzamento</a:t>
            </a:r>
            <a:r>
              <a:rPr sz="1600" spc="114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3A362F"/>
                </a:solidFill>
                <a:latin typeface="Georgia"/>
                <a:cs typeface="Georgia"/>
              </a:rPr>
              <a:t>della</a:t>
            </a:r>
            <a:r>
              <a:rPr sz="1600" spc="114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55" dirty="0">
                <a:solidFill>
                  <a:srgbClr val="3A362F"/>
                </a:solidFill>
                <a:latin typeface="Georgia"/>
                <a:cs typeface="Georgia"/>
              </a:rPr>
              <a:t>Protezione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8400"/>
              </a:lnSpc>
              <a:spcBef>
                <a:spcPts val="549"/>
              </a:spcBef>
            </a:pP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L'obbligo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azione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delle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autorità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rafforza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percezione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una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protezione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efficace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dati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personali,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aumentando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fiducia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cittadini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nel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sistema.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8175" y="3575181"/>
            <a:ext cx="455930" cy="322831"/>
          </a:xfrm>
          <a:custGeom>
            <a:avLst/>
            <a:gdLst/>
            <a:ahLst/>
            <a:cxnLst/>
            <a:rect l="l" t="t" r="r" b="b"/>
            <a:pathLst>
              <a:path w="455930" h="364489">
                <a:moveTo>
                  <a:pt x="381977" y="341553"/>
                </a:moveTo>
                <a:lnTo>
                  <a:pt x="73436" y="341553"/>
                </a:lnTo>
                <a:lnTo>
                  <a:pt x="68312" y="346684"/>
                </a:lnTo>
                <a:lnTo>
                  <a:pt x="68312" y="359206"/>
                </a:lnTo>
                <a:lnTo>
                  <a:pt x="73436" y="364324"/>
                </a:lnTo>
                <a:lnTo>
                  <a:pt x="381977" y="364324"/>
                </a:lnTo>
                <a:lnTo>
                  <a:pt x="387102" y="359206"/>
                </a:lnTo>
                <a:lnTo>
                  <a:pt x="387102" y="346684"/>
                </a:lnTo>
                <a:lnTo>
                  <a:pt x="381977" y="341553"/>
                </a:lnTo>
                <a:close/>
              </a:path>
              <a:path w="455930" h="364489">
                <a:moveTo>
                  <a:pt x="224685" y="22771"/>
                </a:moveTo>
                <a:lnTo>
                  <a:pt x="73436" y="22771"/>
                </a:lnTo>
                <a:lnTo>
                  <a:pt x="68312" y="27889"/>
                </a:lnTo>
                <a:lnTo>
                  <a:pt x="68312" y="40411"/>
                </a:lnTo>
                <a:lnTo>
                  <a:pt x="73436" y="45542"/>
                </a:lnTo>
                <a:lnTo>
                  <a:pt x="182166" y="45542"/>
                </a:lnTo>
                <a:lnTo>
                  <a:pt x="184741" y="60672"/>
                </a:lnTo>
                <a:lnTo>
                  <a:pt x="191878" y="73660"/>
                </a:lnTo>
                <a:lnTo>
                  <a:pt x="202699" y="83618"/>
                </a:lnTo>
                <a:lnTo>
                  <a:pt x="216321" y="89662"/>
                </a:lnTo>
                <a:lnTo>
                  <a:pt x="216321" y="341553"/>
                </a:lnTo>
                <a:lnTo>
                  <a:pt x="239092" y="341553"/>
                </a:lnTo>
                <a:lnTo>
                  <a:pt x="239092" y="89662"/>
                </a:lnTo>
                <a:lnTo>
                  <a:pt x="252715" y="83618"/>
                </a:lnTo>
                <a:lnTo>
                  <a:pt x="263535" y="73660"/>
                </a:lnTo>
                <a:lnTo>
                  <a:pt x="266474" y="68313"/>
                </a:lnTo>
                <a:lnTo>
                  <a:pt x="224685" y="68313"/>
                </a:lnTo>
                <a:lnTo>
                  <a:pt x="221783" y="67729"/>
                </a:lnTo>
                <a:lnTo>
                  <a:pt x="204936" y="48564"/>
                </a:lnTo>
                <a:lnTo>
                  <a:pt x="204936" y="42519"/>
                </a:lnTo>
                <a:lnTo>
                  <a:pt x="221783" y="23355"/>
                </a:lnTo>
                <a:lnTo>
                  <a:pt x="224685" y="22771"/>
                </a:lnTo>
                <a:close/>
              </a:path>
              <a:path w="455930" h="364489">
                <a:moveTo>
                  <a:pt x="98127" y="79629"/>
                </a:moveTo>
                <a:lnTo>
                  <a:pt x="84038" y="79629"/>
                </a:lnTo>
                <a:lnTo>
                  <a:pt x="77490" y="83324"/>
                </a:lnTo>
                <a:lnTo>
                  <a:pt x="8324" y="196964"/>
                </a:lnTo>
                <a:lnTo>
                  <a:pt x="0" y="226568"/>
                </a:lnTo>
                <a:lnTo>
                  <a:pt x="0" y="227711"/>
                </a:lnTo>
                <a:lnTo>
                  <a:pt x="7156" y="254290"/>
                </a:lnTo>
                <a:lnTo>
                  <a:pt x="26675" y="276001"/>
                </a:lnTo>
                <a:lnTo>
                  <a:pt x="55626" y="290642"/>
                </a:lnTo>
                <a:lnTo>
                  <a:pt x="91083" y="296011"/>
                </a:lnTo>
                <a:lnTo>
                  <a:pt x="126538" y="290642"/>
                </a:lnTo>
                <a:lnTo>
                  <a:pt x="155490" y="276001"/>
                </a:lnTo>
                <a:lnTo>
                  <a:pt x="157972" y="273240"/>
                </a:lnTo>
                <a:lnTo>
                  <a:pt x="91083" y="273240"/>
                </a:lnTo>
                <a:lnTo>
                  <a:pt x="76131" y="272110"/>
                </a:lnTo>
                <a:lnTo>
                  <a:pt x="40347" y="257810"/>
                </a:lnTo>
                <a:lnTo>
                  <a:pt x="22771" y="227711"/>
                </a:lnTo>
                <a:lnTo>
                  <a:pt x="22771" y="226568"/>
                </a:lnTo>
                <a:lnTo>
                  <a:pt x="182166" y="226568"/>
                </a:lnTo>
                <a:lnTo>
                  <a:pt x="181625" y="218779"/>
                </a:lnTo>
                <a:lnTo>
                  <a:pt x="180031" y="211180"/>
                </a:lnTo>
                <a:lnTo>
                  <a:pt x="177804" y="204939"/>
                </a:lnTo>
                <a:lnTo>
                  <a:pt x="30097" y="204939"/>
                </a:lnTo>
                <a:lnTo>
                  <a:pt x="91083" y="104813"/>
                </a:lnTo>
                <a:lnTo>
                  <a:pt x="117772" y="104813"/>
                </a:lnTo>
                <a:lnTo>
                  <a:pt x="108376" y="89369"/>
                </a:lnTo>
                <a:lnTo>
                  <a:pt x="104745" y="83324"/>
                </a:lnTo>
                <a:lnTo>
                  <a:pt x="98127" y="79629"/>
                </a:lnTo>
                <a:close/>
              </a:path>
              <a:path w="455930" h="364489">
                <a:moveTo>
                  <a:pt x="371375" y="79629"/>
                </a:moveTo>
                <a:lnTo>
                  <a:pt x="357286" y="79629"/>
                </a:lnTo>
                <a:lnTo>
                  <a:pt x="350738" y="83324"/>
                </a:lnTo>
                <a:lnTo>
                  <a:pt x="281572" y="196964"/>
                </a:lnTo>
                <a:lnTo>
                  <a:pt x="273248" y="226568"/>
                </a:lnTo>
                <a:lnTo>
                  <a:pt x="273248" y="227711"/>
                </a:lnTo>
                <a:lnTo>
                  <a:pt x="280405" y="254290"/>
                </a:lnTo>
                <a:lnTo>
                  <a:pt x="299924" y="276001"/>
                </a:lnTo>
                <a:lnTo>
                  <a:pt x="328875" y="290642"/>
                </a:lnTo>
                <a:lnTo>
                  <a:pt x="364331" y="296011"/>
                </a:lnTo>
                <a:lnTo>
                  <a:pt x="399786" y="290642"/>
                </a:lnTo>
                <a:lnTo>
                  <a:pt x="428738" y="276001"/>
                </a:lnTo>
                <a:lnTo>
                  <a:pt x="431220" y="273240"/>
                </a:lnTo>
                <a:lnTo>
                  <a:pt x="364331" y="273240"/>
                </a:lnTo>
                <a:lnTo>
                  <a:pt x="349379" y="272110"/>
                </a:lnTo>
                <a:lnTo>
                  <a:pt x="313596" y="257810"/>
                </a:lnTo>
                <a:lnTo>
                  <a:pt x="296019" y="227711"/>
                </a:lnTo>
                <a:lnTo>
                  <a:pt x="296019" y="226568"/>
                </a:lnTo>
                <a:lnTo>
                  <a:pt x="455414" y="226568"/>
                </a:lnTo>
                <a:lnTo>
                  <a:pt x="454874" y="218779"/>
                </a:lnTo>
                <a:lnTo>
                  <a:pt x="453279" y="211180"/>
                </a:lnTo>
                <a:lnTo>
                  <a:pt x="451052" y="204939"/>
                </a:lnTo>
                <a:lnTo>
                  <a:pt x="303345" y="204939"/>
                </a:lnTo>
                <a:lnTo>
                  <a:pt x="364331" y="104813"/>
                </a:lnTo>
                <a:lnTo>
                  <a:pt x="391021" y="104813"/>
                </a:lnTo>
                <a:lnTo>
                  <a:pt x="381624" y="89369"/>
                </a:lnTo>
                <a:lnTo>
                  <a:pt x="377993" y="83324"/>
                </a:lnTo>
                <a:lnTo>
                  <a:pt x="371375" y="79629"/>
                </a:lnTo>
                <a:close/>
              </a:path>
              <a:path w="455930" h="364489">
                <a:moveTo>
                  <a:pt x="182166" y="226568"/>
                </a:moveTo>
                <a:lnTo>
                  <a:pt x="22771" y="226568"/>
                </a:lnTo>
                <a:lnTo>
                  <a:pt x="22771" y="227711"/>
                </a:lnTo>
                <a:lnTo>
                  <a:pt x="159395" y="227711"/>
                </a:lnTo>
                <a:lnTo>
                  <a:pt x="158360" y="235392"/>
                </a:lnTo>
                <a:lnTo>
                  <a:pt x="131668" y="264062"/>
                </a:lnTo>
                <a:lnTo>
                  <a:pt x="91083" y="273240"/>
                </a:lnTo>
                <a:lnTo>
                  <a:pt x="157972" y="273240"/>
                </a:lnTo>
                <a:lnTo>
                  <a:pt x="175009" y="254290"/>
                </a:lnTo>
                <a:lnTo>
                  <a:pt x="182166" y="227711"/>
                </a:lnTo>
                <a:lnTo>
                  <a:pt x="182166" y="226568"/>
                </a:lnTo>
                <a:close/>
              </a:path>
              <a:path w="455930" h="364489">
                <a:moveTo>
                  <a:pt x="455414" y="226568"/>
                </a:moveTo>
                <a:lnTo>
                  <a:pt x="296019" y="226568"/>
                </a:lnTo>
                <a:lnTo>
                  <a:pt x="296019" y="227711"/>
                </a:lnTo>
                <a:lnTo>
                  <a:pt x="432643" y="227711"/>
                </a:lnTo>
                <a:lnTo>
                  <a:pt x="431608" y="235392"/>
                </a:lnTo>
                <a:lnTo>
                  <a:pt x="404917" y="264062"/>
                </a:lnTo>
                <a:lnTo>
                  <a:pt x="364331" y="273240"/>
                </a:lnTo>
                <a:lnTo>
                  <a:pt x="431220" y="273240"/>
                </a:lnTo>
                <a:lnTo>
                  <a:pt x="448257" y="254290"/>
                </a:lnTo>
                <a:lnTo>
                  <a:pt x="455414" y="227711"/>
                </a:lnTo>
                <a:lnTo>
                  <a:pt x="455414" y="226568"/>
                </a:lnTo>
                <a:close/>
              </a:path>
              <a:path w="455930" h="364489">
                <a:moveTo>
                  <a:pt x="117772" y="104813"/>
                </a:moveTo>
                <a:lnTo>
                  <a:pt x="91083" y="104813"/>
                </a:lnTo>
                <a:lnTo>
                  <a:pt x="152067" y="204939"/>
                </a:lnTo>
                <a:lnTo>
                  <a:pt x="177804" y="204939"/>
                </a:lnTo>
                <a:lnTo>
                  <a:pt x="177423" y="203874"/>
                </a:lnTo>
                <a:lnTo>
                  <a:pt x="173841" y="196964"/>
                </a:lnTo>
                <a:lnTo>
                  <a:pt x="117772" y="104813"/>
                </a:lnTo>
                <a:close/>
              </a:path>
              <a:path w="455930" h="364489">
                <a:moveTo>
                  <a:pt x="391021" y="104813"/>
                </a:moveTo>
                <a:lnTo>
                  <a:pt x="364331" y="104813"/>
                </a:lnTo>
                <a:lnTo>
                  <a:pt x="425316" y="204939"/>
                </a:lnTo>
                <a:lnTo>
                  <a:pt x="451052" y="204939"/>
                </a:lnTo>
                <a:lnTo>
                  <a:pt x="450671" y="203874"/>
                </a:lnTo>
                <a:lnTo>
                  <a:pt x="447089" y="196964"/>
                </a:lnTo>
                <a:lnTo>
                  <a:pt x="391021" y="104813"/>
                </a:lnTo>
                <a:close/>
              </a:path>
              <a:path w="455930" h="364489">
                <a:moveTo>
                  <a:pt x="370592" y="22771"/>
                </a:moveTo>
                <a:lnTo>
                  <a:pt x="230728" y="22771"/>
                </a:lnTo>
                <a:lnTo>
                  <a:pt x="233630" y="23355"/>
                </a:lnTo>
                <a:lnTo>
                  <a:pt x="239210" y="25654"/>
                </a:lnTo>
                <a:lnTo>
                  <a:pt x="250478" y="42519"/>
                </a:lnTo>
                <a:lnTo>
                  <a:pt x="250478" y="48564"/>
                </a:lnTo>
                <a:lnTo>
                  <a:pt x="230728" y="68313"/>
                </a:lnTo>
                <a:lnTo>
                  <a:pt x="266474" y="68313"/>
                </a:lnTo>
                <a:lnTo>
                  <a:pt x="270673" y="60672"/>
                </a:lnTo>
                <a:lnTo>
                  <a:pt x="273248" y="45542"/>
                </a:lnTo>
                <a:lnTo>
                  <a:pt x="370592" y="45542"/>
                </a:lnTo>
                <a:lnTo>
                  <a:pt x="375716" y="40411"/>
                </a:lnTo>
                <a:lnTo>
                  <a:pt x="375716" y="27889"/>
                </a:lnTo>
                <a:lnTo>
                  <a:pt x="370592" y="22771"/>
                </a:lnTo>
                <a:close/>
              </a:path>
              <a:path w="455930" h="364489">
                <a:moveTo>
                  <a:pt x="227707" y="0"/>
                </a:moveTo>
                <a:lnTo>
                  <a:pt x="215534" y="1647"/>
                </a:lnTo>
                <a:lnTo>
                  <a:pt x="204607" y="6289"/>
                </a:lnTo>
                <a:lnTo>
                  <a:pt x="195376" y="13480"/>
                </a:lnTo>
                <a:lnTo>
                  <a:pt x="188287" y="22771"/>
                </a:lnTo>
                <a:lnTo>
                  <a:pt x="267126" y="22771"/>
                </a:lnTo>
                <a:lnTo>
                  <a:pt x="260038" y="13480"/>
                </a:lnTo>
                <a:lnTo>
                  <a:pt x="250806" y="6289"/>
                </a:lnTo>
                <a:lnTo>
                  <a:pt x="239879" y="1647"/>
                </a:lnTo>
                <a:lnTo>
                  <a:pt x="227707" y="0"/>
                </a:lnTo>
                <a:close/>
              </a:path>
            </a:pathLst>
          </a:custGeom>
          <a:solidFill>
            <a:srgbClr val="3750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4879" y="4084614"/>
            <a:ext cx="5731510" cy="879854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dirty="0">
                <a:solidFill>
                  <a:srgbClr val="3A362F"/>
                </a:solidFill>
                <a:latin typeface="Georgia"/>
                <a:cs typeface="Georgia"/>
              </a:rPr>
              <a:t>Equilibrio</a:t>
            </a:r>
            <a:r>
              <a:rPr sz="1600" spc="175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3A362F"/>
                </a:solidFill>
                <a:latin typeface="Georgia"/>
                <a:cs typeface="Georgia"/>
              </a:rPr>
              <a:t>di</a:t>
            </a:r>
            <a:r>
              <a:rPr sz="1600" spc="175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Poteri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8400"/>
              </a:lnSpc>
              <a:spcBef>
                <a:spcPts val="549"/>
              </a:spcBef>
            </a:pP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sentenza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contribuisce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bilanciare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A362F"/>
                </a:solidFill>
                <a:latin typeface="Verdana"/>
                <a:cs typeface="Verdana"/>
              </a:rPr>
              <a:t>il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potere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tra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le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grandi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aziende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che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trattano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dati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A362F"/>
                </a:solidFill>
                <a:latin typeface="Verdana"/>
                <a:cs typeface="Verdana"/>
              </a:rPr>
              <a:t>i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singoli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individui,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garantendo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che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A362F"/>
                </a:solidFill>
                <a:latin typeface="Verdana"/>
                <a:cs typeface="Verdana"/>
              </a:rPr>
              <a:t>i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reclami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vengano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presi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sul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serio.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8175" y="5775231"/>
            <a:ext cx="455930" cy="244656"/>
          </a:xfrm>
          <a:custGeom>
            <a:avLst/>
            <a:gdLst/>
            <a:ahLst/>
            <a:cxnLst/>
            <a:rect l="l" t="t" r="r" b="b"/>
            <a:pathLst>
              <a:path w="455930" h="276225">
                <a:moveTo>
                  <a:pt x="120462" y="205143"/>
                </a:moveTo>
                <a:lnTo>
                  <a:pt x="79697" y="205143"/>
                </a:lnTo>
                <a:lnTo>
                  <a:pt x="86032" y="205867"/>
                </a:lnTo>
                <a:lnTo>
                  <a:pt x="91936" y="208699"/>
                </a:lnTo>
                <a:lnTo>
                  <a:pt x="145162" y="261937"/>
                </a:lnTo>
                <a:lnTo>
                  <a:pt x="160263" y="272121"/>
                </a:lnTo>
                <a:lnTo>
                  <a:pt x="177478" y="275855"/>
                </a:lnTo>
                <a:lnTo>
                  <a:pt x="194866" y="273090"/>
                </a:lnTo>
                <a:lnTo>
                  <a:pt x="210487" y="263779"/>
                </a:lnTo>
                <a:lnTo>
                  <a:pt x="211623" y="262788"/>
                </a:lnTo>
                <a:lnTo>
                  <a:pt x="212124" y="262216"/>
                </a:lnTo>
                <a:lnTo>
                  <a:pt x="268179" y="262216"/>
                </a:lnTo>
                <a:lnTo>
                  <a:pt x="275029" y="257022"/>
                </a:lnTo>
                <a:lnTo>
                  <a:pt x="278449" y="253204"/>
                </a:lnTo>
                <a:lnTo>
                  <a:pt x="178179" y="253204"/>
                </a:lnTo>
                <a:lnTo>
                  <a:pt x="169223" y="251272"/>
                </a:lnTo>
                <a:lnTo>
                  <a:pt x="161389" y="245999"/>
                </a:lnTo>
                <a:lnTo>
                  <a:pt x="120462" y="205143"/>
                </a:lnTo>
                <a:close/>
              </a:path>
              <a:path w="455930" h="276225">
                <a:moveTo>
                  <a:pt x="268179" y="262216"/>
                </a:moveTo>
                <a:lnTo>
                  <a:pt x="212124" y="262216"/>
                </a:lnTo>
                <a:lnTo>
                  <a:pt x="227535" y="270388"/>
                </a:lnTo>
                <a:lnTo>
                  <a:pt x="244429" y="272211"/>
                </a:lnTo>
                <a:lnTo>
                  <a:pt x="260896" y="267739"/>
                </a:lnTo>
                <a:lnTo>
                  <a:pt x="268179" y="262216"/>
                </a:lnTo>
                <a:close/>
              </a:path>
              <a:path w="455930" h="276225">
                <a:moveTo>
                  <a:pt x="212764" y="233400"/>
                </a:moveTo>
                <a:lnTo>
                  <a:pt x="205646" y="234530"/>
                </a:lnTo>
                <a:lnTo>
                  <a:pt x="202515" y="236740"/>
                </a:lnTo>
                <a:lnTo>
                  <a:pt x="199459" y="242506"/>
                </a:lnTo>
                <a:lnTo>
                  <a:pt x="197678" y="244856"/>
                </a:lnTo>
                <a:lnTo>
                  <a:pt x="195400" y="246913"/>
                </a:lnTo>
                <a:lnTo>
                  <a:pt x="187243" y="251762"/>
                </a:lnTo>
                <a:lnTo>
                  <a:pt x="178179" y="253204"/>
                </a:lnTo>
                <a:lnTo>
                  <a:pt x="278449" y="253204"/>
                </a:lnTo>
                <a:lnTo>
                  <a:pt x="279295" y="252260"/>
                </a:lnTo>
                <a:lnTo>
                  <a:pt x="280756" y="249642"/>
                </a:lnTo>
                <a:lnTo>
                  <a:pt x="241618" y="249642"/>
                </a:lnTo>
                <a:lnTo>
                  <a:pt x="232635" y="248105"/>
                </a:lnTo>
                <a:lnTo>
                  <a:pt x="224720" y="242938"/>
                </a:lnTo>
                <a:lnTo>
                  <a:pt x="216391" y="234607"/>
                </a:lnTo>
                <a:lnTo>
                  <a:pt x="212764" y="233400"/>
                </a:lnTo>
                <a:close/>
              </a:path>
              <a:path w="455930" h="276225">
                <a:moveTo>
                  <a:pt x="79697" y="45542"/>
                </a:moveTo>
                <a:lnTo>
                  <a:pt x="22771" y="45542"/>
                </a:lnTo>
                <a:lnTo>
                  <a:pt x="13899" y="47328"/>
                </a:lnTo>
                <a:lnTo>
                  <a:pt x="6662" y="52203"/>
                </a:lnTo>
                <a:lnTo>
                  <a:pt x="1786" y="59440"/>
                </a:lnTo>
                <a:lnTo>
                  <a:pt x="99" y="67818"/>
                </a:lnTo>
                <a:lnTo>
                  <a:pt x="0" y="216319"/>
                </a:lnTo>
                <a:lnTo>
                  <a:pt x="2685" y="229611"/>
                </a:lnTo>
                <a:lnTo>
                  <a:pt x="10006" y="240466"/>
                </a:lnTo>
                <a:lnTo>
                  <a:pt x="20864" y="247785"/>
                </a:lnTo>
                <a:lnTo>
                  <a:pt x="34156" y="250469"/>
                </a:lnTo>
                <a:lnTo>
                  <a:pt x="45540" y="250469"/>
                </a:lnTo>
                <a:lnTo>
                  <a:pt x="77398" y="227698"/>
                </a:lnTo>
                <a:lnTo>
                  <a:pt x="27895" y="227698"/>
                </a:lnTo>
                <a:lnTo>
                  <a:pt x="22771" y="222580"/>
                </a:lnTo>
                <a:lnTo>
                  <a:pt x="22771" y="68313"/>
                </a:lnTo>
                <a:lnTo>
                  <a:pt x="79697" y="68313"/>
                </a:lnTo>
                <a:lnTo>
                  <a:pt x="79697" y="45542"/>
                </a:lnTo>
                <a:close/>
              </a:path>
              <a:path w="455930" h="276225">
                <a:moveTo>
                  <a:pt x="398487" y="204152"/>
                </a:moveTo>
                <a:lnTo>
                  <a:pt x="375716" y="204152"/>
                </a:lnTo>
                <a:lnTo>
                  <a:pt x="375716" y="216319"/>
                </a:lnTo>
                <a:lnTo>
                  <a:pt x="378402" y="229611"/>
                </a:lnTo>
                <a:lnTo>
                  <a:pt x="385723" y="240466"/>
                </a:lnTo>
                <a:lnTo>
                  <a:pt x="396580" y="247785"/>
                </a:lnTo>
                <a:lnTo>
                  <a:pt x="409872" y="250469"/>
                </a:lnTo>
                <a:lnTo>
                  <a:pt x="421257" y="250469"/>
                </a:lnTo>
                <a:lnTo>
                  <a:pt x="434549" y="247785"/>
                </a:lnTo>
                <a:lnTo>
                  <a:pt x="445407" y="240466"/>
                </a:lnTo>
                <a:lnTo>
                  <a:pt x="452729" y="229611"/>
                </a:lnTo>
                <a:lnTo>
                  <a:pt x="453115" y="227698"/>
                </a:lnTo>
                <a:lnTo>
                  <a:pt x="403612" y="227698"/>
                </a:lnTo>
                <a:lnTo>
                  <a:pt x="398487" y="222580"/>
                </a:lnTo>
                <a:lnTo>
                  <a:pt x="398487" y="204152"/>
                </a:lnTo>
                <a:close/>
              </a:path>
              <a:path w="455930" h="276225">
                <a:moveTo>
                  <a:pt x="273248" y="213194"/>
                </a:moveTo>
                <a:lnTo>
                  <a:pt x="265846" y="217322"/>
                </a:lnTo>
                <a:lnTo>
                  <a:pt x="263644" y="221373"/>
                </a:lnTo>
                <a:lnTo>
                  <a:pt x="264139" y="231406"/>
                </a:lnTo>
                <a:lnTo>
                  <a:pt x="262220" y="237236"/>
                </a:lnTo>
                <a:lnTo>
                  <a:pt x="258052" y="241964"/>
                </a:lnTo>
                <a:lnTo>
                  <a:pt x="250495" y="247576"/>
                </a:lnTo>
                <a:lnTo>
                  <a:pt x="241618" y="249642"/>
                </a:lnTo>
                <a:lnTo>
                  <a:pt x="280756" y="249642"/>
                </a:lnTo>
                <a:lnTo>
                  <a:pt x="282356" y="246773"/>
                </a:lnTo>
                <a:lnTo>
                  <a:pt x="284276" y="241007"/>
                </a:lnTo>
                <a:lnTo>
                  <a:pt x="301670" y="241007"/>
                </a:lnTo>
                <a:lnTo>
                  <a:pt x="333047" y="219160"/>
                </a:lnTo>
                <a:lnTo>
                  <a:pt x="295360" y="219160"/>
                </a:lnTo>
                <a:lnTo>
                  <a:pt x="288133" y="218528"/>
                </a:lnTo>
                <a:lnTo>
                  <a:pt x="281359" y="215607"/>
                </a:lnTo>
                <a:lnTo>
                  <a:pt x="277802" y="213258"/>
                </a:lnTo>
                <a:lnTo>
                  <a:pt x="273248" y="213194"/>
                </a:lnTo>
                <a:close/>
              </a:path>
              <a:path w="455930" h="276225">
                <a:moveTo>
                  <a:pt x="301670" y="241007"/>
                </a:moveTo>
                <a:lnTo>
                  <a:pt x="284276" y="241007"/>
                </a:lnTo>
                <a:lnTo>
                  <a:pt x="294663" y="241964"/>
                </a:lnTo>
                <a:lnTo>
                  <a:pt x="301670" y="241007"/>
                </a:lnTo>
                <a:close/>
              </a:path>
              <a:path w="455930" h="276225">
                <a:moveTo>
                  <a:pt x="79697" y="68313"/>
                </a:moveTo>
                <a:lnTo>
                  <a:pt x="56926" y="68313"/>
                </a:lnTo>
                <a:lnTo>
                  <a:pt x="56926" y="222580"/>
                </a:lnTo>
                <a:lnTo>
                  <a:pt x="51802" y="227698"/>
                </a:lnTo>
                <a:lnTo>
                  <a:pt x="77398" y="227698"/>
                </a:lnTo>
                <a:lnTo>
                  <a:pt x="79697" y="216319"/>
                </a:lnTo>
                <a:lnTo>
                  <a:pt x="79697" y="205143"/>
                </a:lnTo>
                <a:lnTo>
                  <a:pt x="120462" y="205143"/>
                </a:lnTo>
                <a:lnTo>
                  <a:pt x="88828" y="183862"/>
                </a:lnTo>
                <a:lnTo>
                  <a:pt x="79697" y="182448"/>
                </a:lnTo>
                <a:lnTo>
                  <a:pt x="79697" y="68313"/>
                </a:lnTo>
                <a:close/>
              </a:path>
              <a:path w="455930" h="276225">
                <a:moveTo>
                  <a:pt x="455414" y="68313"/>
                </a:moveTo>
                <a:lnTo>
                  <a:pt x="432643" y="68313"/>
                </a:lnTo>
                <a:lnTo>
                  <a:pt x="432643" y="222580"/>
                </a:lnTo>
                <a:lnTo>
                  <a:pt x="427518" y="227698"/>
                </a:lnTo>
                <a:lnTo>
                  <a:pt x="453115" y="227698"/>
                </a:lnTo>
                <a:lnTo>
                  <a:pt x="455414" y="216319"/>
                </a:lnTo>
                <a:lnTo>
                  <a:pt x="455414" y="68313"/>
                </a:lnTo>
                <a:close/>
              </a:path>
              <a:path w="455930" h="276225">
                <a:moveTo>
                  <a:pt x="280510" y="118833"/>
                </a:moveTo>
                <a:lnTo>
                  <a:pt x="248269" y="118833"/>
                </a:lnTo>
                <a:lnTo>
                  <a:pt x="309825" y="180390"/>
                </a:lnTo>
                <a:lnTo>
                  <a:pt x="314951" y="188239"/>
                </a:lnTo>
                <a:lnTo>
                  <a:pt x="295360" y="219160"/>
                </a:lnTo>
                <a:lnTo>
                  <a:pt x="333047" y="219160"/>
                </a:lnTo>
                <a:lnTo>
                  <a:pt x="333618" y="218301"/>
                </a:lnTo>
                <a:lnTo>
                  <a:pt x="336692" y="211396"/>
                </a:lnTo>
                <a:lnTo>
                  <a:pt x="338574" y="204152"/>
                </a:lnTo>
                <a:lnTo>
                  <a:pt x="398487" y="204152"/>
                </a:lnTo>
                <a:lnTo>
                  <a:pt x="398487" y="181305"/>
                </a:lnTo>
                <a:lnTo>
                  <a:pt x="336649" y="181305"/>
                </a:lnTo>
                <a:lnTo>
                  <a:pt x="334446" y="175120"/>
                </a:lnTo>
                <a:lnTo>
                  <a:pt x="330884" y="169214"/>
                </a:lnTo>
                <a:lnTo>
                  <a:pt x="280510" y="118833"/>
                </a:lnTo>
                <a:close/>
              </a:path>
              <a:path w="455930" h="276225">
                <a:moveTo>
                  <a:pt x="432643" y="45542"/>
                </a:moveTo>
                <a:lnTo>
                  <a:pt x="375716" y="45542"/>
                </a:lnTo>
                <a:lnTo>
                  <a:pt x="375716" y="181305"/>
                </a:lnTo>
                <a:lnTo>
                  <a:pt x="398487" y="181305"/>
                </a:lnTo>
                <a:lnTo>
                  <a:pt x="398487" y="68313"/>
                </a:lnTo>
                <a:lnTo>
                  <a:pt x="455414" y="68313"/>
                </a:lnTo>
                <a:lnTo>
                  <a:pt x="453627" y="59440"/>
                </a:lnTo>
                <a:lnTo>
                  <a:pt x="448752" y="52203"/>
                </a:lnTo>
                <a:lnTo>
                  <a:pt x="441515" y="47328"/>
                </a:lnTo>
                <a:lnTo>
                  <a:pt x="432643" y="45542"/>
                </a:lnTo>
                <a:close/>
              </a:path>
              <a:path w="455930" h="276225">
                <a:moveTo>
                  <a:pt x="270689" y="0"/>
                </a:moveTo>
                <a:lnTo>
                  <a:pt x="221655" y="14257"/>
                </a:lnTo>
                <a:lnTo>
                  <a:pt x="151497" y="78270"/>
                </a:lnTo>
                <a:lnTo>
                  <a:pt x="136554" y="113666"/>
                </a:lnTo>
                <a:lnTo>
                  <a:pt x="140709" y="132460"/>
                </a:lnTo>
                <a:lnTo>
                  <a:pt x="152563" y="148577"/>
                </a:lnTo>
                <a:lnTo>
                  <a:pt x="167784" y="157694"/>
                </a:lnTo>
                <a:lnTo>
                  <a:pt x="184718" y="160621"/>
                </a:lnTo>
                <a:lnTo>
                  <a:pt x="201585" y="157383"/>
                </a:lnTo>
                <a:lnTo>
                  <a:pt x="216604" y="148005"/>
                </a:lnTo>
                <a:lnTo>
                  <a:pt x="227667" y="137814"/>
                </a:lnTo>
                <a:lnTo>
                  <a:pt x="184494" y="137814"/>
                </a:lnTo>
                <a:lnTo>
                  <a:pt x="175646" y="136277"/>
                </a:lnTo>
                <a:lnTo>
                  <a:pt x="167720" y="131495"/>
                </a:lnTo>
                <a:lnTo>
                  <a:pt x="161516" y="123060"/>
                </a:lnTo>
                <a:lnTo>
                  <a:pt x="159349" y="113247"/>
                </a:lnTo>
                <a:lnTo>
                  <a:pt x="161224" y="103379"/>
                </a:lnTo>
                <a:lnTo>
                  <a:pt x="223649" y="41414"/>
                </a:lnTo>
                <a:lnTo>
                  <a:pt x="257744" y="24001"/>
                </a:lnTo>
                <a:lnTo>
                  <a:pt x="270689" y="22771"/>
                </a:lnTo>
                <a:lnTo>
                  <a:pt x="330996" y="22771"/>
                </a:lnTo>
                <a:lnTo>
                  <a:pt x="329391" y="21424"/>
                </a:lnTo>
                <a:lnTo>
                  <a:pt x="316306" y="12221"/>
                </a:lnTo>
                <a:lnTo>
                  <a:pt x="301934" y="5507"/>
                </a:lnTo>
                <a:lnTo>
                  <a:pt x="286614" y="1395"/>
                </a:lnTo>
                <a:lnTo>
                  <a:pt x="270689" y="0"/>
                </a:lnTo>
                <a:close/>
              </a:path>
              <a:path w="455930" h="276225">
                <a:moveTo>
                  <a:pt x="259943" y="76987"/>
                </a:moveTo>
                <a:lnTo>
                  <a:pt x="201165" y="131216"/>
                </a:lnTo>
                <a:lnTo>
                  <a:pt x="193316" y="136121"/>
                </a:lnTo>
                <a:lnTo>
                  <a:pt x="184494" y="137814"/>
                </a:lnTo>
                <a:lnTo>
                  <a:pt x="227667" y="137814"/>
                </a:lnTo>
                <a:lnTo>
                  <a:pt x="248269" y="118833"/>
                </a:lnTo>
                <a:lnTo>
                  <a:pt x="280510" y="118833"/>
                </a:lnTo>
                <a:lnTo>
                  <a:pt x="264993" y="103314"/>
                </a:lnTo>
                <a:lnTo>
                  <a:pt x="275381" y="93713"/>
                </a:lnTo>
                <a:lnTo>
                  <a:pt x="275670" y="86525"/>
                </a:lnTo>
                <a:lnTo>
                  <a:pt x="267126" y="77279"/>
                </a:lnTo>
                <a:lnTo>
                  <a:pt x="259943" y="76987"/>
                </a:lnTo>
                <a:close/>
              </a:path>
              <a:path w="455930" h="276225">
                <a:moveTo>
                  <a:pt x="330996" y="22771"/>
                </a:moveTo>
                <a:lnTo>
                  <a:pt x="270689" y="22771"/>
                </a:lnTo>
                <a:lnTo>
                  <a:pt x="282654" y="23822"/>
                </a:lnTo>
                <a:lnTo>
                  <a:pt x="294151" y="26914"/>
                </a:lnTo>
                <a:lnTo>
                  <a:pt x="304928" y="31954"/>
                </a:lnTo>
                <a:lnTo>
                  <a:pt x="314731" y="38849"/>
                </a:lnTo>
                <a:lnTo>
                  <a:pt x="348391" y="67170"/>
                </a:lnTo>
                <a:lnTo>
                  <a:pt x="350600" y="68097"/>
                </a:lnTo>
                <a:lnTo>
                  <a:pt x="352875" y="68313"/>
                </a:lnTo>
                <a:lnTo>
                  <a:pt x="352875" y="41122"/>
                </a:lnTo>
                <a:lnTo>
                  <a:pt x="330996" y="22771"/>
                </a:lnTo>
                <a:close/>
              </a:path>
              <a:path w="455930" h="276225">
                <a:moveTo>
                  <a:pt x="193977" y="0"/>
                </a:moveTo>
                <a:lnTo>
                  <a:pt x="187786" y="0"/>
                </a:lnTo>
                <a:lnTo>
                  <a:pt x="169906" y="1574"/>
                </a:lnTo>
                <a:lnTo>
                  <a:pt x="152706" y="6197"/>
                </a:lnTo>
                <a:lnTo>
                  <a:pt x="136573" y="13716"/>
                </a:lnTo>
                <a:lnTo>
                  <a:pt x="121865" y="24001"/>
                </a:lnTo>
                <a:lnTo>
                  <a:pt x="102468" y="40347"/>
                </a:lnTo>
                <a:lnTo>
                  <a:pt x="102468" y="68160"/>
                </a:lnTo>
                <a:lnTo>
                  <a:pt x="104387" y="67818"/>
                </a:lnTo>
                <a:lnTo>
                  <a:pt x="106238" y="66954"/>
                </a:lnTo>
                <a:lnTo>
                  <a:pt x="107731" y="65671"/>
                </a:lnTo>
                <a:lnTo>
                  <a:pt x="136656" y="41414"/>
                </a:lnTo>
                <a:lnTo>
                  <a:pt x="143943" y="35967"/>
                </a:lnTo>
                <a:lnTo>
                  <a:pt x="151860" y="31372"/>
                </a:lnTo>
                <a:lnTo>
                  <a:pt x="160218" y="27724"/>
                </a:lnTo>
                <a:lnTo>
                  <a:pt x="168930" y="25044"/>
                </a:lnTo>
                <a:lnTo>
                  <a:pt x="193977" y="0"/>
                </a:lnTo>
                <a:close/>
              </a:path>
            </a:pathLst>
          </a:custGeom>
          <a:solidFill>
            <a:srgbClr val="3750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4880" y="6244328"/>
            <a:ext cx="5315585" cy="1156661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 algn="just">
              <a:spcBef>
                <a:spcPts val="135"/>
              </a:spcBef>
            </a:pPr>
            <a:r>
              <a:rPr sz="1600" spc="50" dirty="0">
                <a:solidFill>
                  <a:srgbClr val="3A362F"/>
                </a:solidFill>
                <a:latin typeface="Georgia"/>
                <a:cs typeface="Georgia"/>
              </a:rPr>
              <a:t>Collaborazione</a:t>
            </a:r>
            <a:r>
              <a:rPr sz="1600" spc="79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Internazionale</a:t>
            </a:r>
            <a:endParaRPr sz="1600">
              <a:latin typeface="Georgia"/>
              <a:cs typeface="Georgia"/>
            </a:endParaRPr>
          </a:p>
          <a:p>
            <a:pPr marL="12699" marR="5080" algn="just">
              <a:lnSpc>
                <a:spcPct val="136200"/>
              </a:lnSpc>
              <a:spcBef>
                <a:spcPts val="590"/>
              </a:spcBef>
            </a:pPr>
            <a:r>
              <a:rPr sz="1300" spc="-304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decisione</a:t>
            </a:r>
            <a:r>
              <a:rPr sz="1300" spc="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promuove</a:t>
            </a:r>
            <a:r>
              <a:rPr sz="1300" spc="3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25" dirty="0">
                <a:solidFill>
                  <a:srgbClr val="3A362F"/>
                </a:solidFill>
                <a:latin typeface="Verdana"/>
                <a:cs typeface="Verdana"/>
              </a:rPr>
              <a:t>una</a:t>
            </a:r>
            <a:r>
              <a:rPr sz="1300" spc="10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maggiore</a:t>
            </a:r>
            <a:r>
              <a:rPr sz="1300" spc="9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collaborazione</a:t>
            </a:r>
            <a:r>
              <a:rPr sz="1300" spc="9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15" dirty="0">
                <a:solidFill>
                  <a:srgbClr val="3A362F"/>
                </a:solidFill>
                <a:latin typeface="Verdana"/>
                <a:cs typeface="Verdana"/>
              </a:rPr>
              <a:t>tra</a:t>
            </a:r>
            <a:r>
              <a:rPr sz="1300" spc="9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0" dirty="0">
                <a:solidFill>
                  <a:srgbClr val="3A362F"/>
                </a:solidFill>
                <a:latin typeface="Verdana"/>
                <a:cs typeface="Verdana"/>
              </a:rPr>
              <a:t>le</a:t>
            </a:r>
            <a:r>
              <a:rPr sz="1300" spc="13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autorità</a:t>
            </a:r>
            <a:r>
              <a:rPr sz="1300" spc="9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di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controllo</a:t>
            </a:r>
            <a:r>
              <a:rPr sz="1300" spc="1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84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6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diversi</a:t>
            </a:r>
            <a:r>
              <a:rPr sz="1300" spc="6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Stati</a:t>
            </a:r>
            <a:r>
              <a:rPr sz="1300" spc="6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membri,</a:t>
            </a:r>
            <a:r>
              <a:rPr sz="1300" spc="6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rafforzando</a:t>
            </a:r>
            <a:r>
              <a:rPr sz="1300" spc="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34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1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fiducia</a:t>
            </a:r>
            <a:r>
              <a:rPr sz="1300" spc="6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90" dirty="0">
                <a:solidFill>
                  <a:srgbClr val="3A362F"/>
                </a:solidFill>
                <a:latin typeface="Verdana"/>
                <a:cs typeface="Verdana"/>
              </a:rPr>
              <a:t>nel</a:t>
            </a:r>
            <a:r>
              <a:rPr sz="1300" spc="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sistema</a:t>
            </a:r>
            <a:r>
              <a:rPr sz="1300" spc="6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di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protezione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dati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livello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europeo.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6285103"/>
          </a:xfrm>
          <a:custGeom>
            <a:avLst/>
            <a:gdLst/>
            <a:ahLst/>
            <a:cxnLst/>
            <a:rect l="l" t="t" r="r" b="b"/>
            <a:pathLst>
              <a:path w="11430000" h="7096125">
                <a:moveTo>
                  <a:pt x="11430000" y="0"/>
                </a:moveTo>
                <a:lnTo>
                  <a:pt x="0" y="0"/>
                </a:lnTo>
                <a:lnTo>
                  <a:pt x="0" y="7096125"/>
                </a:lnTo>
                <a:lnTo>
                  <a:pt x="11430000" y="70961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01629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9572" y="2443739"/>
            <a:ext cx="8581627" cy="539249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dirty="0"/>
              <a:t>Implicazioni</a:t>
            </a:r>
            <a:r>
              <a:rPr spc="225" dirty="0"/>
              <a:t> </a:t>
            </a:r>
            <a:r>
              <a:rPr spc="131" dirty="0"/>
              <a:t>per</a:t>
            </a:r>
            <a:r>
              <a:rPr spc="229" dirty="0"/>
              <a:t> </a:t>
            </a:r>
            <a:r>
              <a:rPr spc="75" dirty="0"/>
              <a:t>le</a:t>
            </a:r>
            <a:r>
              <a:rPr spc="225" dirty="0"/>
              <a:t> </a:t>
            </a:r>
            <a:r>
              <a:rPr spc="70" dirty="0"/>
              <a:t>Politiche</a:t>
            </a:r>
            <a:r>
              <a:rPr spc="225" dirty="0"/>
              <a:t> </a:t>
            </a:r>
            <a:r>
              <a:rPr spc="44" dirty="0"/>
              <a:t>Future</a:t>
            </a:r>
          </a:p>
        </p:txBody>
      </p:sp>
      <p:sp>
        <p:nvSpPr>
          <p:cNvPr id="5" name="object 5"/>
          <p:cNvSpPr/>
          <p:nvPr/>
        </p:nvSpPr>
        <p:spPr>
          <a:xfrm>
            <a:off x="1033464" y="3184734"/>
            <a:ext cx="9363075" cy="2657460"/>
          </a:xfrm>
          <a:custGeom>
            <a:avLst/>
            <a:gdLst/>
            <a:ahLst/>
            <a:cxnLst/>
            <a:rect l="l" t="t" r="r" b="b"/>
            <a:pathLst>
              <a:path w="9363075" h="3000375">
                <a:moveTo>
                  <a:pt x="0" y="2982365"/>
                </a:moveTo>
                <a:lnTo>
                  <a:pt x="0" y="18008"/>
                </a:lnTo>
                <a:lnTo>
                  <a:pt x="0" y="15621"/>
                </a:lnTo>
                <a:lnTo>
                  <a:pt x="455" y="13322"/>
                </a:lnTo>
                <a:lnTo>
                  <a:pt x="11117" y="1371"/>
                </a:lnTo>
                <a:lnTo>
                  <a:pt x="13324" y="457"/>
                </a:lnTo>
                <a:lnTo>
                  <a:pt x="15622" y="0"/>
                </a:lnTo>
                <a:lnTo>
                  <a:pt x="18008" y="0"/>
                </a:lnTo>
                <a:lnTo>
                  <a:pt x="9345066" y="0"/>
                </a:lnTo>
                <a:lnTo>
                  <a:pt x="9347454" y="0"/>
                </a:lnTo>
                <a:lnTo>
                  <a:pt x="9349752" y="457"/>
                </a:lnTo>
                <a:lnTo>
                  <a:pt x="9351962" y="1371"/>
                </a:lnTo>
                <a:lnTo>
                  <a:pt x="9354159" y="2286"/>
                </a:lnTo>
                <a:lnTo>
                  <a:pt x="9356115" y="3581"/>
                </a:lnTo>
                <a:lnTo>
                  <a:pt x="9357804" y="5270"/>
                </a:lnTo>
                <a:lnTo>
                  <a:pt x="9359493" y="6959"/>
                </a:lnTo>
                <a:lnTo>
                  <a:pt x="9360789" y="8902"/>
                </a:lnTo>
                <a:lnTo>
                  <a:pt x="9361703" y="11112"/>
                </a:lnTo>
                <a:lnTo>
                  <a:pt x="9362617" y="13322"/>
                </a:lnTo>
                <a:lnTo>
                  <a:pt x="9363075" y="15621"/>
                </a:lnTo>
                <a:lnTo>
                  <a:pt x="9363075" y="18008"/>
                </a:lnTo>
                <a:lnTo>
                  <a:pt x="9363075" y="2982365"/>
                </a:lnTo>
                <a:lnTo>
                  <a:pt x="9363075" y="2984756"/>
                </a:lnTo>
                <a:lnTo>
                  <a:pt x="9362617" y="2987052"/>
                </a:lnTo>
                <a:lnTo>
                  <a:pt x="9361703" y="2989256"/>
                </a:lnTo>
                <a:lnTo>
                  <a:pt x="9360789" y="2991463"/>
                </a:lnTo>
                <a:lnTo>
                  <a:pt x="9347454" y="3000372"/>
                </a:lnTo>
                <a:lnTo>
                  <a:pt x="9345066" y="3000372"/>
                </a:lnTo>
                <a:lnTo>
                  <a:pt x="18008" y="3000372"/>
                </a:lnTo>
                <a:lnTo>
                  <a:pt x="15622" y="3000372"/>
                </a:lnTo>
                <a:lnTo>
                  <a:pt x="13324" y="2999916"/>
                </a:lnTo>
                <a:lnTo>
                  <a:pt x="11117" y="2999003"/>
                </a:lnTo>
                <a:lnTo>
                  <a:pt x="8910" y="2998091"/>
                </a:lnTo>
                <a:lnTo>
                  <a:pt x="1369" y="2989256"/>
                </a:lnTo>
                <a:lnTo>
                  <a:pt x="455" y="2987052"/>
                </a:lnTo>
                <a:lnTo>
                  <a:pt x="0" y="2984756"/>
                </a:lnTo>
                <a:lnTo>
                  <a:pt x="0" y="298236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62317"/>
              </p:ext>
            </p:extLst>
          </p:nvPr>
        </p:nvGraphicFramePr>
        <p:xfrm>
          <a:off x="1056878" y="3415185"/>
          <a:ext cx="9353549" cy="26484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91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146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1975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4002"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spc="-15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Area</a:t>
                      </a:r>
                      <a:r>
                        <a:rPr sz="1200" spc="-19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di</a:t>
                      </a:r>
                      <a:r>
                        <a:rPr sz="1200" spc="-18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Impatto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29359" marB="0">
                    <a:lnR w="9525">
                      <a:solidFill>
                        <a:srgbClr val="FEF5E7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spc="-10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Implicazioni</a:t>
                      </a:r>
                      <a:r>
                        <a:rPr sz="1200" spc="-16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2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200" spc="-16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4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Breve</a:t>
                      </a:r>
                      <a:r>
                        <a:rPr sz="1200" spc="-16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Termine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29359" marB="0">
                    <a:lnL w="9525">
                      <a:solidFill>
                        <a:srgbClr val="FEF5E7"/>
                      </a:solidFill>
                      <a:prstDash val="solid"/>
                    </a:lnL>
                    <a:lnR w="9525">
                      <a:solidFill>
                        <a:srgbClr val="FEF5E7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00" spc="-10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Implicazioni</a:t>
                      </a:r>
                      <a:r>
                        <a:rPr sz="1200" spc="-17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2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200" spc="-17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2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Lungo</a:t>
                      </a:r>
                      <a:r>
                        <a:rPr sz="1200" spc="-16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Termine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29359" marB="0">
                    <a:lnL w="9525">
                      <a:solidFill>
                        <a:srgbClr val="FEF5E7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25529"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spc="-114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Procedure</a:t>
                      </a:r>
                      <a:r>
                        <a:rPr sz="1200" spc="-14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Interne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37794" marB="0">
                    <a:lnR w="9525">
                      <a:solidFill>
                        <a:srgbClr val="FEF5E7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6690" marR="281940">
                        <a:lnSpc>
                          <a:spcPct val="133900"/>
                        </a:lnSpc>
                        <a:spcBef>
                          <a:spcPts val="655"/>
                        </a:spcBef>
                      </a:pPr>
                      <a:r>
                        <a:rPr sz="1200" spc="-12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Revisione</a:t>
                      </a:r>
                      <a:r>
                        <a:rPr sz="1200" spc="-17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9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dei</a:t>
                      </a:r>
                      <a:r>
                        <a:rPr sz="1200" spc="-16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8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protocolli</a:t>
                      </a:r>
                      <a:r>
                        <a:rPr sz="1200" spc="-16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di</a:t>
                      </a:r>
                      <a:r>
                        <a:rPr sz="1200" spc="-16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9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gestione dei</a:t>
                      </a:r>
                      <a:r>
                        <a:rPr sz="1200" spc="-19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reclami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3678" marB="0">
                    <a:lnL w="9525">
                      <a:solidFill>
                        <a:srgbClr val="FEF5E7"/>
                      </a:solidFill>
                      <a:prstDash val="solid"/>
                    </a:lnL>
                    <a:lnR w="9525">
                      <a:solidFill>
                        <a:srgbClr val="FEF5E7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6690" marR="234950">
                        <a:lnSpc>
                          <a:spcPct val="133900"/>
                        </a:lnSpc>
                        <a:spcBef>
                          <a:spcPts val="655"/>
                        </a:spcBef>
                      </a:pPr>
                      <a:r>
                        <a:rPr sz="1200" spc="-11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Sviluppo</a:t>
                      </a:r>
                      <a:r>
                        <a:rPr sz="1200" spc="-15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di</a:t>
                      </a:r>
                      <a:r>
                        <a:rPr sz="1200" spc="-15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2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sistemi</a:t>
                      </a:r>
                      <a:r>
                        <a:rPr sz="1200" spc="-15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14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automatizzati</a:t>
                      </a:r>
                      <a:r>
                        <a:rPr sz="1200" spc="-15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di </a:t>
                      </a:r>
                      <a:r>
                        <a:rPr sz="1200" spc="-12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triage</a:t>
                      </a:r>
                      <a:r>
                        <a:rPr sz="1200" spc="-17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9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dei</a:t>
                      </a:r>
                      <a:r>
                        <a:rPr sz="1200" spc="-17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reclami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3678" marB="0">
                    <a:lnL w="9525">
                      <a:solidFill>
                        <a:srgbClr val="FEF5E7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24967"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spc="-12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Formazione</a:t>
                      </a:r>
                      <a:r>
                        <a:rPr sz="1200" spc="-16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9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200" spc="-16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Personale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37794" marB="0">
                    <a:lnR w="9525">
                      <a:solidFill>
                        <a:srgbClr val="FEF5E7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6690" marR="889635">
                        <a:lnSpc>
                          <a:spcPct val="133900"/>
                        </a:lnSpc>
                        <a:spcBef>
                          <a:spcPts val="655"/>
                        </a:spcBef>
                      </a:pPr>
                      <a:r>
                        <a:rPr sz="1200" spc="-12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Aggiornamenti</a:t>
                      </a:r>
                      <a:r>
                        <a:rPr sz="1200" spc="-13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9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sulla</a:t>
                      </a:r>
                      <a:r>
                        <a:rPr sz="1200" spc="-13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nuova </a:t>
                      </a:r>
                      <a:r>
                        <a:rPr sz="1200" spc="-114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interpretazione</a:t>
                      </a:r>
                      <a:r>
                        <a:rPr sz="1200" spc="-13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9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200" spc="-13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RGPD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3678" marB="0">
                    <a:lnL w="9525">
                      <a:solidFill>
                        <a:srgbClr val="FEF5E7"/>
                      </a:solidFill>
                      <a:prstDash val="solid"/>
                    </a:lnL>
                    <a:lnR w="9525">
                      <a:solidFill>
                        <a:srgbClr val="FEF5E7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6690" marR="276860">
                        <a:lnSpc>
                          <a:spcPct val="133900"/>
                        </a:lnSpc>
                        <a:spcBef>
                          <a:spcPts val="655"/>
                        </a:spcBef>
                      </a:pPr>
                      <a:r>
                        <a:rPr sz="1200" spc="-12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Programmi</a:t>
                      </a:r>
                      <a:r>
                        <a:rPr sz="1200" spc="-17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di</a:t>
                      </a:r>
                      <a:r>
                        <a:rPr sz="1200" spc="-17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14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formazione</a:t>
                      </a:r>
                      <a:r>
                        <a:rPr sz="1200" spc="-17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continua </a:t>
                      </a:r>
                      <a:r>
                        <a:rPr sz="1200" spc="-13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su</a:t>
                      </a:r>
                      <a:r>
                        <a:rPr sz="1200" spc="-17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tecnologie</a:t>
                      </a:r>
                      <a:r>
                        <a:rPr sz="1200" spc="-17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emergenti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3678" marB="0">
                    <a:lnL w="9525">
                      <a:solidFill>
                        <a:srgbClr val="FEF5E7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33966"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200" spc="-12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Cooperazione</a:t>
                      </a:r>
                      <a:r>
                        <a:rPr sz="1200" spc="-11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Internazionale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37794" marB="0">
                    <a:lnR w="9525">
                      <a:solidFill>
                        <a:srgbClr val="FEF5E7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6690" marR="438784">
                        <a:lnSpc>
                          <a:spcPct val="133900"/>
                        </a:lnSpc>
                        <a:spcBef>
                          <a:spcPts val="655"/>
                        </a:spcBef>
                      </a:pPr>
                      <a:r>
                        <a:rPr sz="1200" spc="-11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Intensificazione</a:t>
                      </a:r>
                      <a:r>
                        <a:rPr sz="1200" spc="-15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8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dello</a:t>
                      </a:r>
                      <a:r>
                        <a:rPr sz="1200" spc="-15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14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scambio</a:t>
                      </a:r>
                      <a:r>
                        <a:rPr sz="1200" spc="-14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di </a:t>
                      </a:r>
                      <a:r>
                        <a:rPr sz="1200" spc="-12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best</a:t>
                      </a:r>
                      <a:r>
                        <a:rPr sz="1200" spc="-19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practices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73678" marB="0">
                    <a:lnL w="9525">
                      <a:solidFill>
                        <a:srgbClr val="FEF5E7"/>
                      </a:solidFill>
                      <a:prstDash val="solid"/>
                    </a:lnL>
                    <a:lnR w="9525">
                      <a:solidFill>
                        <a:srgbClr val="FEF5E7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6690" marR="212090">
                        <a:lnSpc>
                          <a:spcPct val="133900"/>
                        </a:lnSpc>
                        <a:spcBef>
                          <a:spcPts val="655"/>
                        </a:spcBef>
                      </a:pPr>
                      <a:r>
                        <a:rPr sz="1200" spc="-12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Creazione</a:t>
                      </a:r>
                      <a:r>
                        <a:rPr sz="1200" spc="-19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di</a:t>
                      </a:r>
                      <a:r>
                        <a:rPr sz="1200" spc="-18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2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un</a:t>
                      </a:r>
                      <a:r>
                        <a:rPr sz="1200" spc="-18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3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framework</a:t>
                      </a:r>
                      <a:r>
                        <a:rPr sz="1200" spc="-18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8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europeo </a:t>
                      </a:r>
                      <a:r>
                        <a:rPr sz="1200" spc="-9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unificato</a:t>
                      </a:r>
                      <a:r>
                        <a:rPr sz="1200" spc="-19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2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per</a:t>
                      </a:r>
                      <a:r>
                        <a:rPr sz="1200" spc="-18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80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200" spc="-18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14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gestione</a:t>
                      </a:r>
                      <a:r>
                        <a:rPr sz="1200" spc="-18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9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dei</a:t>
                      </a:r>
                      <a:r>
                        <a:rPr sz="1200" spc="-18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55" dirty="0">
                          <a:solidFill>
                            <a:srgbClr val="3A362F"/>
                          </a:solidFill>
                          <a:latin typeface="Verdana"/>
                          <a:cs typeface="Verdana"/>
                        </a:rPr>
                        <a:t>reclami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73678" marB="0">
                    <a:lnL w="9525">
                      <a:solidFill>
                        <a:srgbClr val="FEF5E7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5702993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4881" y="427444"/>
            <a:ext cx="10180241" cy="1010497"/>
          </a:xfrm>
          <a:prstGeom prst="rect">
            <a:avLst/>
          </a:prstGeom>
        </p:spPr>
        <p:txBody>
          <a:bodyPr vert="horz" wrap="square" lIns="0" tIns="482564" rIns="0" bIns="0" rtlCol="0">
            <a:spAutoFit/>
          </a:bodyPr>
          <a:lstStyle/>
          <a:p>
            <a:pPr marL="407004">
              <a:spcBef>
                <a:spcPts val="125"/>
              </a:spcBef>
            </a:pPr>
            <a:r>
              <a:rPr dirty="0"/>
              <a:t>Reazioni</a:t>
            </a:r>
            <a:r>
              <a:rPr spc="265" dirty="0"/>
              <a:t> </a:t>
            </a:r>
            <a:r>
              <a:rPr dirty="0"/>
              <a:t>della</a:t>
            </a:r>
            <a:r>
              <a:rPr spc="275" dirty="0"/>
              <a:t> </a:t>
            </a:r>
            <a:r>
              <a:rPr spc="85" dirty="0"/>
              <a:t>Comunità</a:t>
            </a:r>
            <a:r>
              <a:rPr spc="275" dirty="0"/>
              <a:t> </a:t>
            </a:r>
            <a:r>
              <a:rPr spc="55" dirty="0"/>
              <a:t>Internazionale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9574" y="1722429"/>
            <a:ext cx="2804795" cy="2609815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dirty="0">
                <a:solidFill>
                  <a:srgbClr val="37502F"/>
                </a:solidFill>
                <a:latin typeface="Georgia"/>
                <a:cs typeface="Georgia"/>
              </a:rPr>
              <a:t>Unione</a:t>
            </a:r>
            <a:r>
              <a:rPr sz="1600" spc="310" dirty="0">
                <a:solidFill>
                  <a:srgbClr val="3750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7502F"/>
                </a:solidFill>
                <a:latin typeface="Georgia"/>
                <a:cs typeface="Georgia"/>
              </a:rPr>
              <a:t>Europea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6700"/>
              </a:lnSpc>
              <a:spcBef>
                <a:spcPts val="1180"/>
              </a:spcBef>
            </a:pP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Gli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Stati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membri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dell'UE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hanno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accolto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positivamente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sentenza,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vedendola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come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un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passo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avanti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nella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tutela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3A362F"/>
                </a:solidFill>
                <a:latin typeface="Verdana"/>
                <a:cs typeface="Verdana"/>
              </a:rPr>
              <a:t>diritti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digitali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dei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cittadini.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Le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autorità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nazionali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per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la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protezione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dati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stanno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già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adeguando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le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loro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procedure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3A362F"/>
                </a:solidFill>
                <a:latin typeface="Verdana"/>
                <a:cs typeface="Verdana"/>
              </a:rPr>
              <a:t>interne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per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conformarsi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alla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nuova </a:t>
            </a:r>
            <a:r>
              <a:rPr sz="1300" spc="-55" dirty="0">
                <a:solidFill>
                  <a:srgbClr val="3A362F"/>
                </a:solidFill>
                <a:latin typeface="Verdana"/>
                <a:cs typeface="Verdana"/>
              </a:rPr>
              <a:t>interpretazione.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8698" y="1722428"/>
            <a:ext cx="2822575" cy="2870144"/>
          </a:xfrm>
          <a:prstGeom prst="rect">
            <a:avLst/>
          </a:prstGeom>
        </p:spPr>
        <p:txBody>
          <a:bodyPr vert="horz" wrap="square" lIns="0" tIns="1904" rIns="0" bIns="0" rtlCol="0">
            <a:spAutoFit/>
          </a:bodyPr>
          <a:lstStyle/>
          <a:p>
            <a:pPr marL="12699" marR="1306097">
              <a:lnSpc>
                <a:spcPct val="106100"/>
              </a:lnSpc>
              <a:spcBef>
                <a:spcPts val="15"/>
              </a:spcBef>
            </a:pPr>
            <a:r>
              <a:rPr sz="1600" spc="40" dirty="0">
                <a:solidFill>
                  <a:srgbClr val="37502F"/>
                </a:solidFill>
                <a:latin typeface="Georgia"/>
                <a:cs typeface="Georgia"/>
              </a:rPr>
              <a:t>Organizzazioni </a:t>
            </a:r>
            <a:r>
              <a:rPr sz="1600" spc="-9" dirty="0">
                <a:solidFill>
                  <a:srgbClr val="37502F"/>
                </a:solidFill>
                <a:latin typeface="Georgia"/>
                <a:cs typeface="Georgia"/>
              </a:rPr>
              <a:t>Internazionali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6700"/>
              </a:lnSpc>
              <a:spcBef>
                <a:spcPts val="1180"/>
              </a:spcBef>
            </a:pP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Organizzazioni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come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l'OCSE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le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Nazioni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Unite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hanno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espresso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interesse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per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sentenza,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considerandola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un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possibile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61" dirty="0">
                <a:solidFill>
                  <a:srgbClr val="3A362F"/>
                </a:solidFill>
                <a:latin typeface="Verdana"/>
                <a:cs typeface="Verdana"/>
              </a:rPr>
              <a:t>modello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per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le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normative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sulla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protezione</a:t>
            </a:r>
            <a:r>
              <a:rPr sz="1300" spc="-15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dei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dati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in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altre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regioni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mondo.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La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decisione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potrebbe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influenzare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le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future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linee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guida</a:t>
            </a:r>
            <a:r>
              <a:rPr sz="1300" spc="-14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internazionali</a:t>
            </a:r>
            <a:r>
              <a:rPr sz="1300" spc="-14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in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materia.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77835" y="1722426"/>
            <a:ext cx="2678430" cy="2609815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spc="70" dirty="0">
                <a:solidFill>
                  <a:srgbClr val="37502F"/>
                </a:solidFill>
                <a:latin typeface="Georgia"/>
                <a:cs typeface="Georgia"/>
              </a:rPr>
              <a:t>Settore</a:t>
            </a:r>
            <a:r>
              <a:rPr sz="1600" spc="75" dirty="0">
                <a:solidFill>
                  <a:srgbClr val="3750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7502F"/>
                </a:solidFill>
                <a:latin typeface="Georgia"/>
                <a:cs typeface="Georgia"/>
              </a:rPr>
              <a:t>Privato</a:t>
            </a:r>
            <a:endParaRPr sz="1600" dirty="0">
              <a:latin typeface="Georgia"/>
              <a:cs typeface="Georgia"/>
            </a:endParaRPr>
          </a:p>
          <a:p>
            <a:pPr marL="12699" marR="5080">
              <a:lnSpc>
                <a:spcPct val="136500"/>
              </a:lnSpc>
              <a:spcBef>
                <a:spcPts val="1185"/>
              </a:spcBef>
            </a:pP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Le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grandi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aziende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tecnologiche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le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multinazionali</a:t>
            </a:r>
            <a:r>
              <a:rPr sz="1300" spc="-14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stanno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valutando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l'impatto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della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sentenza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sulle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loro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operazioni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in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Europa.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Molte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61" dirty="0">
                <a:solidFill>
                  <a:srgbClr val="3A362F"/>
                </a:solidFill>
                <a:latin typeface="Verdana"/>
                <a:cs typeface="Verdana"/>
              </a:rPr>
              <a:t>stanno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già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rivedendo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le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loro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politiche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di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gestione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dati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per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assicurarsi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di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essere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in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linea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con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questa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nuova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interpretazione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RGPD.</a:t>
            </a:r>
            <a:endParaRPr sz="13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881" y="427444"/>
            <a:ext cx="10180241" cy="972027"/>
          </a:xfrm>
          <a:prstGeom prst="rect">
            <a:avLst/>
          </a:prstGeom>
        </p:spPr>
        <p:txBody>
          <a:bodyPr vert="horz" wrap="square" lIns="0" tIns="444466" rIns="0" bIns="0" rtlCol="0">
            <a:spAutoFit/>
          </a:bodyPr>
          <a:lstStyle/>
          <a:p>
            <a:pPr marL="407004">
              <a:spcBef>
                <a:spcPts val="125"/>
              </a:spcBef>
            </a:pPr>
            <a:r>
              <a:rPr spc="96" dirty="0"/>
              <a:t>Conclusioni</a:t>
            </a:r>
            <a:r>
              <a:rPr spc="85" dirty="0"/>
              <a:t> </a:t>
            </a:r>
            <a:r>
              <a:rPr spc="195" dirty="0"/>
              <a:t>e</a:t>
            </a:r>
            <a:r>
              <a:rPr spc="85" dirty="0"/>
              <a:t> </a:t>
            </a:r>
            <a:r>
              <a:rPr spc="90" dirty="0"/>
              <a:t>Prospettive </a:t>
            </a:r>
            <a:r>
              <a:rPr spc="44" dirty="0"/>
              <a:t>Future</a:t>
            </a:r>
          </a:p>
        </p:txBody>
      </p:sp>
      <p:sp>
        <p:nvSpPr>
          <p:cNvPr id="3" name="object 3"/>
          <p:cNvSpPr/>
          <p:nvPr/>
        </p:nvSpPr>
        <p:spPr>
          <a:xfrm>
            <a:off x="1028701" y="1805385"/>
            <a:ext cx="409575" cy="362764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6" y="0"/>
                </a:moveTo>
                <a:lnTo>
                  <a:pt x="19749" y="0"/>
                </a:lnTo>
                <a:lnTo>
                  <a:pt x="16847" y="571"/>
                </a:lnTo>
                <a:lnTo>
                  <a:pt x="0" y="19748"/>
                </a:lnTo>
                <a:lnTo>
                  <a:pt x="0" y="386803"/>
                </a:lnTo>
                <a:lnTo>
                  <a:pt x="0" y="389826"/>
                </a:lnTo>
                <a:lnTo>
                  <a:pt x="19749" y="409575"/>
                </a:lnTo>
                <a:lnTo>
                  <a:pt x="389826" y="409575"/>
                </a:lnTo>
                <a:lnTo>
                  <a:pt x="409575" y="389826"/>
                </a:lnTo>
                <a:lnTo>
                  <a:pt x="409575" y="19748"/>
                </a:lnTo>
                <a:lnTo>
                  <a:pt x="392722" y="571"/>
                </a:lnTo>
                <a:lnTo>
                  <a:pt x="389826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7628" y="1827883"/>
            <a:ext cx="119380" cy="323806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sz="2000" spc="-79" dirty="0">
                <a:solidFill>
                  <a:srgbClr val="3A362F"/>
                </a:solidFill>
                <a:latin typeface="Georgia"/>
                <a:cs typeface="Georgia"/>
              </a:rPr>
              <a:t>1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1610" y="1789918"/>
            <a:ext cx="3679190" cy="1436673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 algn="just">
              <a:spcBef>
                <a:spcPts val="135"/>
              </a:spcBef>
            </a:pPr>
            <a:r>
              <a:rPr sz="1600" spc="50" dirty="0">
                <a:solidFill>
                  <a:srgbClr val="3A362F"/>
                </a:solidFill>
                <a:latin typeface="Georgia"/>
                <a:cs typeface="Georgia"/>
              </a:rPr>
              <a:t>Rafforzamento</a:t>
            </a:r>
            <a:r>
              <a:rPr sz="1600" spc="44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50" dirty="0">
                <a:solidFill>
                  <a:srgbClr val="3A362F"/>
                </a:solidFill>
                <a:latin typeface="Georgia"/>
                <a:cs typeface="Georgia"/>
              </a:rPr>
              <a:t>del </a:t>
            </a:r>
            <a:r>
              <a:rPr sz="1600" spc="-20" dirty="0">
                <a:solidFill>
                  <a:srgbClr val="3A362F"/>
                </a:solidFill>
                <a:latin typeface="Georgia"/>
                <a:cs typeface="Georgia"/>
              </a:rPr>
              <a:t>RGPD</a:t>
            </a:r>
            <a:endParaRPr sz="1600" dirty="0">
              <a:latin typeface="Georgia"/>
              <a:cs typeface="Georgia"/>
            </a:endParaRPr>
          </a:p>
          <a:p>
            <a:pPr marL="12699" marR="5080" algn="just">
              <a:lnSpc>
                <a:spcPct val="136900"/>
              </a:lnSpc>
              <a:spcBef>
                <a:spcPts val="575"/>
              </a:spcBef>
            </a:pP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sentenza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3" dirty="0">
                <a:solidFill>
                  <a:srgbClr val="3A362F"/>
                </a:solidFill>
                <a:latin typeface="Verdana"/>
                <a:cs typeface="Verdana"/>
              </a:rPr>
              <a:t>C-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768/21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rafforza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significativamente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 l'efficacia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RGPD,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chiarendo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gli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obblighi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delle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autorità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controllo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garantendo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una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maggiore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tutela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diritti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degli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interessati.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10250" y="1805385"/>
            <a:ext cx="409575" cy="362764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6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386803"/>
                </a:lnTo>
                <a:lnTo>
                  <a:pt x="0" y="389826"/>
                </a:lnTo>
                <a:lnTo>
                  <a:pt x="19748" y="409575"/>
                </a:lnTo>
                <a:lnTo>
                  <a:pt x="389826" y="409575"/>
                </a:lnTo>
                <a:lnTo>
                  <a:pt x="409575" y="389826"/>
                </a:lnTo>
                <a:lnTo>
                  <a:pt x="409575" y="19748"/>
                </a:lnTo>
                <a:lnTo>
                  <a:pt x="392722" y="571"/>
                </a:lnTo>
                <a:lnTo>
                  <a:pt x="389826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29261" y="1827883"/>
            <a:ext cx="163830" cy="323806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sz="2000" spc="-50" dirty="0">
                <a:solidFill>
                  <a:srgbClr val="3A362F"/>
                </a:solidFill>
                <a:latin typeface="Georgia"/>
                <a:cs typeface="Georgia"/>
              </a:rPr>
              <a:t>2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5420" y="1789918"/>
            <a:ext cx="3854450" cy="1436673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spc="50" dirty="0">
                <a:solidFill>
                  <a:srgbClr val="3A362F"/>
                </a:solidFill>
                <a:latin typeface="Georgia"/>
                <a:cs typeface="Georgia"/>
              </a:rPr>
              <a:t>Sfide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Implementation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6900"/>
              </a:lnSpc>
              <a:spcBef>
                <a:spcPts val="575"/>
              </a:spcBef>
            </a:pP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Le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autorità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controllo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dovranno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adeguare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le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loro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procedure</a:t>
            </a:r>
            <a:r>
              <a:rPr sz="1300" spc="-18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risorse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per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far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fronte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all'aumento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previsto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reclami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alla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necessità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un'azione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più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tempestiva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e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A362F"/>
                </a:solidFill>
                <a:latin typeface="Verdana"/>
                <a:cs typeface="Verdana"/>
              </a:rPr>
              <a:t>trasparente.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8701" y="3509535"/>
            <a:ext cx="409575" cy="362764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6" y="0"/>
                </a:moveTo>
                <a:lnTo>
                  <a:pt x="19749" y="0"/>
                </a:lnTo>
                <a:lnTo>
                  <a:pt x="16847" y="571"/>
                </a:lnTo>
                <a:lnTo>
                  <a:pt x="0" y="19748"/>
                </a:lnTo>
                <a:lnTo>
                  <a:pt x="0" y="386803"/>
                </a:lnTo>
                <a:lnTo>
                  <a:pt x="0" y="389826"/>
                </a:lnTo>
                <a:lnTo>
                  <a:pt x="19749" y="409575"/>
                </a:lnTo>
                <a:lnTo>
                  <a:pt x="389826" y="409575"/>
                </a:lnTo>
                <a:lnTo>
                  <a:pt x="409575" y="389826"/>
                </a:lnTo>
                <a:lnTo>
                  <a:pt x="409575" y="19748"/>
                </a:lnTo>
                <a:lnTo>
                  <a:pt x="392722" y="571"/>
                </a:lnTo>
                <a:lnTo>
                  <a:pt x="389826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2773" y="3532032"/>
            <a:ext cx="168910" cy="323806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sz="2000" spc="-50" dirty="0">
                <a:solidFill>
                  <a:srgbClr val="3A362F"/>
                </a:solidFill>
                <a:latin typeface="Georgia"/>
                <a:cs typeface="Georgia"/>
              </a:rPr>
              <a:t>3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1609" y="3494069"/>
            <a:ext cx="3977640" cy="1175448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 algn="just">
              <a:spcBef>
                <a:spcPts val="135"/>
              </a:spcBef>
            </a:pPr>
            <a:r>
              <a:rPr sz="1600" spc="9" dirty="0">
                <a:solidFill>
                  <a:srgbClr val="3A362F"/>
                </a:solidFill>
                <a:latin typeface="Georgia"/>
                <a:cs typeface="Georgia"/>
              </a:rPr>
              <a:t>Evoluzione</a:t>
            </a:r>
            <a:r>
              <a:rPr sz="1600" spc="400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Normativa</a:t>
            </a:r>
            <a:endParaRPr sz="1600">
              <a:latin typeface="Georgia"/>
              <a:cs typeface="Georgia"/>
            </a:endParaRPr>
          </a:p>
          <a:p>
            <a:pPr marL="12699" marR="5080" algn="just">
              <a:lnSpc>
                <a:spcPct val="136900"/>
              </a:lnSpc>
              <a:spcBef>
                <a:spcPts val="650"/>
              </a:spcBef>
            </a:pP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31" dirty="0">
                <a:solidFill>
                  <a:srgbClr val="3A362F"/>
                </a:solidFill>
                <a:latin typeface="Verdana"/>
                <a:cs typeface="Verdana"/>
              </a:rPr>
              <a:t>sentenza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potrebbe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portare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a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future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modifiche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3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RGPD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o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all'emanazione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linee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guida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più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dettagliate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da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parte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del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Comitato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europeo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per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3A362F"/>
                </a:solidFill>
                <a:latin typeface="Verdana"/>
                <a:cs typeface="Verdana"/>
              </a:rPr>
              <a:t>la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0" dirty="0">
                <a:solidFill>
                  <a:srgbClr val="3A362F"/>
                </a:solidFill>
                <a:latin typeface="Verdana"/>
                <a:cs typeface="Verdana"/>
              </a:rPr>
              <a:t>protezione</a:t>
            </a:r>
            <a:r>
              <a:rPr sz="1300" spc="-21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-44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dati.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10250" y="3509535"/>
            <a:ext cx="409575" cy="362764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6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386803"/>
                </a:lnTo>
                <a:lnTo>
                  <a:pt x="0" y="389826"/>
                </a:lnTo>
                <a:lnTo>
                  <a:pt x="19748" y="409575"/>
                </a:lnTo>
                <a:lnTo>
                  <a:pt x="389826" y="409575"/>
                </a:lnTo>
                <a:lnTo>
                  <a:pt x="409575" y="389826"/>
                </a:lnTo>
                <a:lnTo>
                  <a:pt x="409575" y="19748"/>
                </a:lnTo>
                <a:lnTo>
                  <a:pt x="392722" y="571"/>
                </a:lnTo>
                <a:lnTo>
                  <a:pt x="389826" y="0"/>
                </a:lnTo>
                <a:close/>
              </a:path>
            </a:pathLst>
          </a:custGeom>
          <a:solidFill>
            <a:srgbClr val="F3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28524" y="3532032"/>
            <a:ext cx="165100" cy="323806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spcBef>
                <a:spcPts val="125"/>
              </a:spcBef>
            </a:pPr>
            <a:r>
              <a:rPr sz="2000" spc="-50" dirty="0">
                <a:solidFill>
                  <a:srgbClr val="3A362F"/>
                </a:solidFill>
                <a:latin typeface="Georgia"/>
                <a:cs typeface="Georgia"/>
              </a:rPr>
              <a:t>4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85430" y="3494068"/>
            <a:ext cx="3979545" cy="1449497"/>
          </a:xfrm>
          <a:prstGeom prst="rect">
            <a:avLst/>
          </a:prstGeom>
        </p:spPr>
        <p:txBody>
          <a:bodyPr vert="horz" wrap="square" lIns="0" tIns="17143" rIns="0" bIns="0" rtlCol="0">
            <a:spAutoFit/>
          </a:bodyPr>
          <a:lstStyle/>
          <a:p>
            <a:pPr marL="12699">
              <a:spcBef>
                <a:spcPts val="135"/>
              </a:spcBef>
            </a:pPr>
            <a:r>
              <a:rPr sz="1600" dirty="0">
                <a:solidFill>
                  <a:srgbClr val="3A362F"/>
                </a:solidFill>
                <a:latin typeface="Georgia"/>
                <a:cs typeface="Georgia"/>
              </a:rPr>
              <a:t>Impatto</a:t>
            </a:r>
            <a:r>
              <a:rPr sz="1600" spc="365" dirty="0">
                <a:solidFill>
                  <a:srgbClr val="3A362F"/>
                </a:solidFill>
                <a:latin typeface="Georgia"/>
                <a:cs typeface="Georgia"/>
              </a:rPr>
              <a:t> </a:t>
            </a:r>
            <a:r>
              <a:rPr sz="1600" spc="-9" dirty="0">
                <a:solidFill>
                  <a:srgbClr val="3A362F"/>
                </a:solidFill>
                <a:latin typeface="Georgia"/>
                <a:cs typeface="Georgia"/>
              </a:rPr>
              <a:t>Globale</a:t>
            </a:r>
            <a:endParaRPr sz="1600">
              <a:latin typeface="Georgia"/>
              <a:cs typeface="Georgia"/>
            </a:endParaRPr>
          </a:p>
          <a:p>
            <a:pPr marL="12699" marR="5080">
              <a:lnSpc>
                <a:spcPct val="136900"/>
              </a:lnSpc>
              <a:spcBef>
                <a:spcPts val="650"/>
              </a:spcBef>
            </a:pP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L'interpretazione</a:t>
            </a:r>
            <a:r>
              <a:rPr sz="1300" spc="-14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della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Corte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potrebbe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influenzare</a:t>
            </a:r>
            <a:r>
              <a:rPr sz="1300" spc="-13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lo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sviluppo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3A362F"/>
                </a:solidFill>
                <a:latin typeface="Verdana"/>
                <a:cs typeface="Verdana"/>
              </a:rPr>
              <a:t>di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normative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sulla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14" dirty="0">
                <a:solidFill>
                  <a:srgbClr val="3A362F"/>
                </a:solidFill>
                <a:latin typeface="Verdana"/>
                <a:cs typeface="Verdana"/>
              </a:rPr>
              <a:t>protezione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dei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6" dirty="0">
                <a:solidFill>
                  <a:srgbClr val="3A362F"/>
                </a:solidFill>
                <a:latin typeface="Verdana"/>
                <a:cs typeface="Verdana"/>
              </a:rPr>
              <a:t>dati</a:t>
            </a:r>
            <a:r>
              <a:rPr sz="1300" spc="-16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6" dirty="0">
                <a:solidFill>
                  <a:srgbClr val="3A362F"/>
                </a:solidFill>
                <a:latin typeface="Verdana"/>
                <a:cs typeface="Verdana"/>
              </a:rPr>
              <a:t>in </a:t>
            </a:r>
            <a:r>
              <a:rPr sz="1300" spc="-100" dirty="0">
                <a:solidFill>
                  <a:srgbClr val="3A362F"/>
                </a:solidFill>
                <a:latin typeface="Verdana"/>
                <a:cs typeface="Verdana"/>
              </a:rPr>
              <a:t>tutto</a:t>
            </a:r>
            <a:r>
              <a:rPr sz="1300" spc="-175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A362F"/>
                </a:solidFill>
                <a:latin typeface="Verdana"/>
                <a:cs typeface="Verdana"/>
              </a:rPr>
              <a:t>il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5" dirty="0">
                <a:solidFill>
                  <a:srgbClr val="3A362F"/>
                </a:solidFill>
                <a:latin typeface="Verdana"/>
                <a:cs typeface="Verdana"/>
              </a:rPr>
              <a:t>mondo,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confermando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A362F"/>
                </a:solidFill>
                <a:latin typeface="Verdana"/>
                <a:cs typeface="Verdana"/>
              </a:rPr>
              <a:t>il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3A362F"/>
                </a:solidFill>
                <a:latin typeface="Verdana"/>
                <a:cs typeface="Verdana"/>
              </a:rPr>
              <a:t>ruolo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3A362F"/>
                </a:solidFill>
                <a:latin typeface="Verdana"/>
                <a:cs typeface="Verdana"/>
              </a:rPr>
              <a:t>dell'UE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A362F"/>
                </a:solidFill>
                <a:latin typeface="Verdana"/>
                <a:cs typeface="Verdana"/>
              </a:rPr>
              <a:t>come </a:t>
            </a:r>
            <a:r>
              <a:rPr sz="1300" spc="-105" dirty="0">
                <a:solidFill>
                  <a:srgbClr val="3A362F"/>
                </a:solidFill>
                <a:latin typeface="Verdana"/>
                <a:cs typeface="Verdana"/>
              </a:rPr>
              <a:t>pioniere</a:t>
            </a:r>
            <a:r>
              <a:rPr sz="1300" spc="-170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79" dirty="0">
                <a:solidFill>
                  <a:srgbClr val="3A362F"/>
                </a:solidFill>
                <a:latin typeface="Verdana"/>
                <a:cs typeface="Verdana"/>
              </a:rPr>
              <a:t>in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120" dirty="0">
                <a:solidFill>
                  <a:srgbClr val="3A362F"/>
                </a:solidFill>
                <a:latin typeface="Verdana"/>
                <a:cs typeface="Verdana"/>
              </a:rPr>
              <a:t>questo</a:t>
            </a:r>
            <a:r>
              <a:rPr sz="1300" spc="-166" dirty="0">
                <a:solidFill>
                  <a:srgbClr val="3A362F"/>
                </a:solidFill>
                <a:latin typeface="Verdana"/>
                <a:cs typeface="Verdana"/>
              </a:rPr>
              <a:t> </a:t>
            </a:r>
            <a:r>
              <a:rPr sz="1300" spc="-9" dirty="0">
                <a:solidFill>
                  <a:srgbClr val="3A362F"/>
                </a:solidFill>
                <a:latin typeface="Verdana"/>
                <a:cs typeface="Verdana"/>
              </a:rPr>
              <a:t>campo.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1005</Words>
  <Application>Microsoft Office PowerPoint</Application>
  <PresentationFormat>Personalizzato</PresentationFormat>
  <Paragraphs>89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Office Theme</vt:lpstr>
      <vt:lpstr>Sentenza C-768/21: Obbligo di Azione delle Autorità di Protezione Dati</vt:lpstr>
      <vt:lpstr>Contesto della Causa C- 768/21</vt:lpstr>
      <vt:lpstr>Obbligo di Azione delle Autorità di Controllo</vt:lpstr>
      <vt:lpstr>Discrezionalità Limitata delle Autorità</vt:lpstr>
      <vt:lpstr>Importanza della Trasparenza</vt:lpstr>
      <vt:lpstr>Tutela dei Diritti degli Interessati</vt:lpstr>
      <vt:lpstr>Impatto sulla Fiducia nel Sistema di Protezione Dati</vt:lpstr>
      <vt:lpstr>Implicazioni per le Politiche Future</vt:lpstr>
      <vt:lpstr>Reazioni della Comunità Internazionale</vt:lpstr>
      <vt:lpstr>Conclusioni e Prospettive Future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Enzo Chilelli</dc:creator>
  <cp:lastModifiedBy>Enzo Chilelli</cp:lastModifiedBy>
  <cp:revision>3</cp:revision>
  <dcterms:created xsi:type="dcterms:W3CDTF">2024-09-30T10:32:53Z</dcterms:created>
  <dcterms:modified xsi:type="dcterms:W3CDTF">2024-12-02T10:27:19Z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2024-09-27T00:00:00Z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2024-09-30T00:00:00Z</vt:filetime>
  </property>
  <property fmtid="{D5CDD505-2E9C-101B-9397-08002B2CF9AE}" pid="5" name="Producer">
    <vt:lpwstr>3-Heights(TM) PDF Security Shell 4.8.25.2 (http://www.pdf-tools.com)</vt:lpwstr>
  </property>
</Properties>
</file>