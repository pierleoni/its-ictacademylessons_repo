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4"/>
  </p:sldMasterIdLst>
  <p:notesMasterIdLst>
    <p:notesMasterId r:id="rId25"/>
  </p:notesMasterIdLst>
  <p:handoutMasterIdLst>
    <p:handoutMasterId r:id="rId26"/>
  </p:handoutMasterIdLst>
  <p:sldIdLst>
    <p:sldId id="302" r:id="rId5"/>
    <p:sldId id="389" r:id="rId6"/>
    <p:sldId id="317" r:id="rId7"/>
    <p:sldId id="318" r:id="rId8"/>
    <p:sldId id="319" r:id="rId9"/>
    <p:sldId id="379" r:id="rId10"/>
    <p:sldId id="380" r:id="rId11"/>
    <p:sldId id="390" r:id="rId12"/>
    <p:sldId id="391" r:id="rId13"/>
    <p:sldId id="392" r:id="rId14"/>
    <p:sldId id="393" r:id="rId15"/>
    <p:sldId id="381" r:id="rId16"/>
    <p:sldId id="382" r:id="rId17"/>
    <p:sldId id="383" r:id="rId18"/>
    <p:sldId id="384" r:id="rId19"/>
    <p:sldId id="385" r:id="rId20"/>
    <p:sldId id="386" r:id="rId21"/>
    <p:sldId id="387" r:id="rId22"/>
    <p:sldId id="388" r:id="rId23"/>
    <p:sldId id="320" r:id="rId24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29" autoAdjust="0"/>
    <p:restoredTop sz="83274" autoAdjust="0"/>
  </p:normalViewPr>
  <p:slideViewPr>
    <p:cSldViewPr snapToGrid="0">
      <p:cViewPr>
        <p:scale>
          <a:sx n="60" d="100"/>
          <a:sy n="60" d="100"/>
        </p:scale>
        <p:origin x="-1277" y="-33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052BAE-439A-4FC8-8655-99AAAEB01D21}" type="datetimeFigureOut">
              <a:rPr lang="it-IT" smtClean="0"/>
              <a:t>02/12/2024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C176B-96D9-4935-94ED-396780CCE3E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43739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651B7-D1FD-484D-9665-DAAE23E1A784}" type="datetimeFigureOut">
              <a:rPr lang="it-IT" smtClean="0"/>
              <a:t>02/12/2024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096FAA-A9DD-444E-AAB0-7E9234A0C1F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7964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" name="Google Shape;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9" name="Google Shape;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6705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F70D8EC6-05AF-42E8-967A-AAD7AD80F81C}" type="datetime1">
              <a:rPr lang="it-IT" smtClean="0"/>
              <a:t>02/12/2024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3729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8CE15-04C7-4618-95DB-ED79C8E3A217}" type="datetime1">
              <a:rPr lang="it-IT" smtClean="0"/>
              <a:t>02/12/2024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3136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666418-C66F-482C-A2AE-8C47E252DB0C}" type="datetime1">
              <a:rPr lang="it-IT" smtClean="0"/>
              <a:t>02/12/2024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476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94234-F74D-49AA-A11A-76052BA5687A}" type="datetime1">
              <a:rPr lang="it-IT" smtClean="0"/>
              <a:t>02/12/2024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0428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7E194-C971-4739-81F1-E8777D881483}" type="datetime1">
              <a:rPr lang="it-IT" smtClean="0"/>
              <a:t>02/12/2024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052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226A4-72B2-441B-A754-36D12F008D9C}" type="datetime1">
              <a:rPr lang="it-IT" smtClean="0"/>
              <a:t>02/12/2024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2651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64A30-5C7A-4441-B5D7-70720E734D76}" type="datetime1">
              <a:rPr lang="it-IT" smtClean="0"/>
              <a:t>02/12/2024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7149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FD286-1E23-4496-AB18-A7DF5C8CE213}" type="datetime1">
              <a:rPr lang="it-IT" smtClean="0"/>
              <a:t>02/12/2024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4482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0EBD2-745A-4FFD-9F97-D0274C7E853B}" type="datetime1">
              <a:rPr lang="it-IT" smtClean="0"/>
              <a:t>02/12/2024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8278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57D-6A4F-431D-96FE-2A6C51CDA8F8}" type="datetime1">
              <a:rPr lang="it-IT" smtClean="0"/>
              <a:t>02/12/2024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1332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03762-40E7-4456-B57E-599A6885D454}" type="datetime1">
              <a:rPr lang="it-IT" smtClean="0"/>
              <a:t>02/12/2024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45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588880-91AB-48E8-BE9C-4F0F7BBF2859}" type="datetime1">
              <a:rPr lang="it-IT" smtClean="0"/>
              <a:t>02/12/2024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5887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4CDF5-9C9C-44D9-8D59-F569663E130C}" type="datetime1">
              <a:rPr lang="it-IT" smtClean="0"/>
              <a:t>02/12/2024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9064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3B067-3B22-42E3-B521-8212467F7A55}" type="datetime1">
              <a:rPr lang="it-IT" smtClean="0"/>
              <a:t>02/12/2024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6899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0EA9A-AE73-4C86-9BB9-19EF17F31910}" type="datetime1">
              <a:rPr lang="it-IT" smtClean="0"/>
              <a:t>02/12/2024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67775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35E3A-8505-46E3-8727-03942588E388}" type="datetime1">
              <a:rPr lang="it-IT" smtClean="0"/>
              <a:t>02/12/2024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6382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79863-396D-43E8-A741-75AB7B866696}" type="datetime1">
              <a:rPr lang="it-IT" smtClean="0"/>
              <a:t>02/12/2024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860122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56648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 and tex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491037" y="4313237"/>
            <a:ext cx="3208337" cy="1185862"/>
          </a:xfrm>
          <a:prstGeom prst="rect">
            <a:avLst/>
          </a:prstGeom>
          <a:noFill/>
          <a:ln>
            <a:noFill/>
          </a:ln>
          <a:effectLst>
            <a:outerShdw blurRad="63500" dist="76200" dir="2700000">
              <a:srgbClr val="000000">
                <a:alpha val="69019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4173537" y="1371600"/>
            <a:ext cx="38830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marR="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0"/>
              <a:buFont typeface="Arial"/>
              <a:buChar char="•"/>
              <a:defRPr sz="18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0"/>
              <a:buFont typeface="Arial"/>
              <a:buChar char="•"/>
              <a:defRPr sz="18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0"/>
              <a:buFont typeface="Arial"/>
              <a:buChar char="•"/>
              <a:defRPr sz="18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0"/>
              <a:buFont typeface="Arial"/>
              <a:buChar char="•"/>
              <a:defRPr sz="18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0"/>
              <a:buFont typeface="Arial"/>
              <a:buChar char="•"/>
              <a:defRPr sz="18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0"/>
              <a:buFont typeface="Arial"/>
              <a:buChar char="•"/>
              <a:defRPr sz="18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0"/>
              <a:buFont typeface="Arial"/>
              <a:buChar char="•"/>
              <a:defRPr sz="18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0"/>
              <a:buFont typeface="Arial"/>
              <a:buChar char="•"/>
              <a:defRPr sz="18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5892800" y="6172200"/>
            <a:ext cx="2844800" cy="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270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3B760-DED4-4157-BBB8-83F0E672D44A}" type="datetime1">
              <a:rPr lang="it-IT" smtClean="0"/>
              <a:t>02/12/2024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3E66D-A13A-4C27-A19D-D7B0DBB2617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80172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64696" y="617037"/>
            <a:ext cx="11927304" cy="238760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/>
              <a:t>Fondazione ITS </a:t>
            </a:r>
            <a:r>
              <a:rPr lang="en-US" sz="6000" b="1" dirty="0" smtClean="0"/>
              <a:t/>
            </a:r>
            <a:br>
              <a:rPr lang="en-US" sz="6000" b="1" dirty="0" smtClean="0"/>
            </a:br>
            <a:r>
              <a:rPr lang="en-US" sz="1300" b="1" dirty="0" smtClean="0"/>
              <a:t/>
            </a:r>
            <a:br>
              <a:rPr lang="en-US" sz="1300" b="1" dirty="0" smtClean="0"/>
            </a:br>
            <a:r>
              <a:rPr lang="en-US" sz="3200" b="1" dirty="0" smtClean="0"/>
              <a:t>Information &amp; </a:t>
            </a:r>
            <a:r>
              <a:rPr lang="en-US" sz="3200" b="1" dirty="0"/>
              <a:t>Communications Technology </a:t>
            </a:r>
            <a:r>
              <a:rPr lang="en-US" sz="3200" b="1" dirty="0" smtClean="0"/>
              <a:t>Academy</a:t>
            </a:r>
            <a:endParaRPr lang="it-IT" sz="3200" b="1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614855" y="3602038"/>
            <a:ext cx="11256579" cy="1655762"/>
          </a:xfrm>
        </p:spPr>
        <p:txBody>
          <a:bodyPr>
            <a:noAutofit/>
          </a:bodyPr>
          <a:lstStyle/>
          <a:p>
            <a:pPr algn="ctr"/>
            <a:r>
              <a:rPr lang="it-IT" sz="3200" b="1" dirty="0">
                <a:solidFill>
                  <a:srgbClr val="FFC000"/>
                </a:solidFill>
              </a:rPr>
              <a:t>La cittadinanza digitale</a:t>
            </a:r>
            <a:endParaRPr lang="it-IT" sz="3200" b="1" u="sng" dirty="0">
              <a:solidFill>
                <a:schemeClr val="tx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326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/>
        </p:nvSpPr>
        <p:spPr>
          <a:xfrm>
            <a:off x="6605110" y="1783959"/>
            <a:ext cx="4888685" cy="2889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it-IT" sz="5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Internet </a:t>
            </a:r>
            <a:br>
              <a:rPr lang="it-IT" sz="5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it-IT" sz="5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 il World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it-IT" sz="5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Wide Web</a:t>
            </a:r>
            <a:endParaRPr sz="5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5" descr="Immagine che contiene edificio&#10;&#10;Descrizione generata automaticamente"/>
          <p:cNvPicPr preferRelativeResize="0"/>
          <p:nvPr/>
        </p:nvPicPr>
        <p:blipFill rotWithShape="1">
          <a:blip r:embed="rId3">
            <a:alphaModFix/>
          </a:blip>
          <a:srcRect l="25776" t="-62" r="24224" b="62"/>
          <a:stretch/>
        </p:blipFill>
        <p:spPr>
          <a:xfrm>
            <a:off x="0" y="4233"/>
            <a:ext cx="6096000" cy="68495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905261"/>
      </p:ext>
    </p:extLst>
  </p:cSld>
  <p:clrMapOvr>
    <a:masterClrMapping/>
  </p:clrMapOvr>
  <p:transition>
    <p:push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idx="4294967295"/>
          </p:nvPr>
        </p:nvSpPr>
        <p:spPr>
          <a:xfrm>
            <a:off x="766763" y="115888"/>
            <a:ext cx="11425237" cy="1152525"/>
          </a:xfrm>
        </p:spPr>
        <p:txBody>
          <a:bodyPr>
            <a:normAutofit/>
          </a:bodyPr>
          <a:lstStyle/>
          <a:p>
            <a:r>
              <a:rPr lang="it-IT" sz="5400" b="1" dirty="0">
                <a:solidFill>
                  <a:srgbClr val="FFC000"/>
                </a:solidFill>
              </a:rPr>
              <a:t>La </a:t>
            </a:r>
            <a:r>
              <a:rPr lang="it-IT" sz="5400" b="1" dirty="0" smtClean="0">
                <a:solidFill>
                  <a:srgbClr val="FFC000"/>
                </a:solidFill>
              </a:rPr>
              <a:t>cittadinanza digitale</a:t>
            </a:r>
            <a:endParaRPr lang="it-IT" sz="5400" dirty="0">
              <a:solidFill>
                <a:srgbClr val="FFC000"/>
              </a:solidFill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4294967295"/>
          </p:nvPr>
        </p:nvSpPr>
        <p:spPr>
          <a:xfrm>
            <a:off x="766764" y="1183783"/>
            <a:ext cx="10947016" cy="3455987"/>
          </a:xfrm>
        </p:spPr>
        <p:txBody>
          <a:bodyPr>
            <a:noAutofit/>
          </a:bodyPr>
          <a:lstStyle/>
          <a:p>
            <a:pPr algn="just"/>
            <a:r>
              <a:rPr lang="it-IT" sz="3200" dirty="0"/>
              <a:t>La società di oggi è </a:t>
            </a:r>
            <a:r>
              <a:rPr lang="it-IT" sz="3200" dirty="0" smtClean="0"/>
              <a:t>caratterizzata dal </a:t>
            </a:r>
            <a:r>
              <a:rPr lang="it-IT" sz="3200" dirty="0"/>
              <a:t>notevole sviluppo del </a:t>
            </a:r>
            <a:r>
              <a:rPr lang="it-IT" sz="3200" b="1" dirty="0"/>
              <a:t>web</a:t>
            </a:r>
            <a:r>
              <a:rPr lang="it-IT" sz="3200" dirty="0" smtClean="0"/>
              <a:t>, la </a:t>
            </a:r>
            <a:r>
              <a:rPr lang="it-IT" sz="3200" dirty="0"/>
              <a:t>rete che collega tra di </a:t>
            </a:r>
            <a:r>
              <a:rPr lang="it-IT" sz="3200" dirty="0" smtClean="0"/>
              <a:t>loro i </a:t>
            </a:r>
            <a:r>
              <a:rPr lang="it-IT" sz="3200" dirty="0"/>
              <a:t>computer di tutto il mondo</a:t>
            </a:r>
            <a:r>
              <a:rPr lang="it-IT" sz="3200" dirty="0" smtClean="0"/>
              <a:t>, a </a:t>
            </a:r>
            <a:r>
              <a:rPr lang="it-IT" sz="3200" dirty="0"/>
              <a:t>cui accede oggi circa il 60</a:t>
            </a:r>
            <a:r>
              <a:rPr lang="it-IT" sz="3200" dirty="0" smtClean="0"/>
              <a:t>% della </a:t>
            </a:r>
            <a:r>
              <a:rPr lang="it-IT" sz="3200" dirty="0"/>
              <a:t>popolazione mondiale.</a:t>
            </a:r>
          </a:p>
          <a:p>
            <a:pPr algn="just"/>
            <a:r>
              <a:rPr lang="it-IT" sz="3200" dirty="0"/>
              <a:t>Questo dato è destinato </a:t>
            </a:r>
            <a:r>
              <a:rPr lang="it-IT" sz="3200" dirty="0" smtClean="0"/>
              <a:t>ad aumentare</a:t>
            </a:r>
            <a:r>
              <a:rPr lang="it-IT" sz="3200" dirty="0"/>
              <a:t>: </a:t>
            </a:r>
            <a:r>
              <a:rPr lang="it-IT" sz="3200" b="1" dirty="0"/>
              <a:t>internet </a:t>
            </a:r>
            <a:r>
              <a:rPr lang="it-IT" sz="3200" dirty="0"/>
              <a:t>permette </a:t>
            </a:r>
            <a:r>
              <a:rPr lang="it-IT" sz="3200" dirty="0" smtClean="0"/>
              <a:t>di comunicare </a:t>
            </a:r>
            <a:r>
              <a:rPr lang="it-IT" sz="3200" dirty="0"/>
              <a:t>con la maggior parte </a:t>
            </a:r>
            <a:r>
              <a:rPr lang="it-IT" sz="3200" dirty="0" smtClean="0"/>
              <a:t>delle persone </a:t>
            </a:r>
            <a:r>
              <a:rPr lang="it-IT" sz="3200" dirty="0"/>
              <a:t>del pianeta in modo veloce, creativo</a:t>
            </a:r>
            <a:r>
              <a:rPr lang="it-IT" sz="3200" dirty="0" smtClean="0"/>
              <a:t>, poco </a:t>
            </a:r>
            <a:r>
              <a:rPr lang="it-IT" sz="3200" dirty="0"/>
              <a:t>costoso. Ma questa connettività </a:t>
            </a:r>
            <a:r>
              <a:rPr lang="it-IT" sz="3200" dirty="0" smtClean="0"/>
              <a:t>comporta anche </a:t>
            </a:r>
            <a:r>
              <a:rPr lang="it-IT" sz="3200" dirty="0"/>
              <a:t>dei </a:t>
            </a:r>
            <a:r>
              <a:rPr lang="it-IT" sz="3200" b="1" dirty="0"/>
              <a:t>rischi</a:t>
            </a:r>
            <a:r>
              <a:rPr lang="it-IT" sz="3200" dirty="0"/>
              <a:t>: come per strada si </a:t>
            </a:r>
            <a:r>
              <a:rPr lang="it-IT" sz="3200" dirty="0" smtClean="0"/>
              <a:t>possono incontrare </a:t>
            </a:r>
            <a:r>
              <a:rPr lang="it-IT" sz="3200" dirty="0"/>
              <a:t>malintenzionati, lo stesso può </a:t>
            </a:r>
            <a:r>
              <a:rPr lang="it-IT" sz="3200" dirty="0" smtClean="0"/>
              <a:t>accadere infatti </a:t>
            </a:r>
            <a:r>
              <a:rPr lang="it-IT" sz="3200" dirty="0"/>
              <a:t>online, con gravi conseguenze.</a:t>
            </a:r>
          </a:p>
        </p:txBody>
      </p:sp>
    </p:spTree>
    <p:extLst>
      <p:ext uri="{BB962C8B-B14F-4D97-AF65-F5344CB8AC3E}">
        <p14:creationId xmlns:p14="http://schemas.microsoft.com/office/powerpoint/2010/main" val="1454195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662152" y="0"/>
            <a:ext cx="10310648" cy="981075"/>
          </a:xfrm>
        </p:spPr>
        <p:txBody>
          <a:bodyPr>
            <a:normAutofit/>
          </a:bodyPr>
          <a:lstStyle/>
          <a:p>
            <a:r>
              <a:rPr lang="it-IT" b="1" dirty="0">
                <a:solidFill>
                  <a:srgbClr val="FFC000"/>
                </a:solidFill>
              </a:rPr>
              <a:t>La </a:t>
            </a:r>
            <a:r>
              <a:rPr lang="it-IT" b="1" dirty="0" smtClean="0">
                <a:solidFill>
                  <a:srgbClr val="FFC000"/>
                </a:solidFill>
              </a:rPr>
              <a:t>cittadinanza digitale</a:t>
            </a:r>
            <a:endParaRPr lang="it-IT" dirty="0">
              <a:solidFill>
                <a:srgbClr val="FFC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614855" y="908050"/>
            <a:ext cx="1090722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it-IT" sz="2800" b="1" dirty="0"/>
              <a:t>LA </a:t>
            </a:r>
            <a:r>
              <a:rPr lang="it-IT" sz="2800" b="1" dirty="0" smtClean="0"/>
              <a:t>SOLUZIONE: </a:t>
            </a:r>
            <a:r>
              <a:rPr lang="it-IT" sz="2800" dirty="0"/>
              <a:t>Crescendo, si imparano le </a:t>
            </a:r>
            <a:r>
              <a:rPr lang="it-IT" sz="2800" b="1" dirty="0"/>
              <a:t>regole </a:t>
            </a:r>
            <a:r>
              <a:rPr lang="it-IT" sz="2800" dirty="0"/>
              <a:t>da </a:t>
            </a:r>
            <a:r>
              <a:rPr lang="it-IT" sz="2800" dirty="0" smtClean="0"/>
              <a:t>rispettare nei </a:t>
            </a:r>
            <a:r>
              <a:rPr lang="it-IT" sz="2800" dirty="0"/>
              <a:t>vari ambienti frequentati: casa, scuola, </a:t>
            </a:r>
            <a:r>
              <a:rPr lang="it-IT" sz="2800" dirty="0" smtClean="0"/>
              <a:t>società sportiva </a:t>
            </a:r>
            <a:r>
              <a:rPr lang="it-IT" sz="2800" dirty="0"/>
              <a:t>ecc. Alcune sono uguali, altre sono diverse.</a:t>
            </a:r>
          </a:p>
          <a:p>
            <a:pPr marL="0" indent="0" algn="just">
              <a:buNone/>
            </a:pPr>
            <a:r>
              <a:rPr lang="it-IT" sz="2800" dirty="0" smtClean="0"/>
              <a:t>Allo stesso modo è </a:t>
            </a:r>
            <a:r>
              <a:rPr lang="it-IT" sz="2800" dirty="0"/>
              <a:t>importante sapere quali sono le </a:t>
            </a:r>
            <a:r>
              <a:rPr lang="it-IT" sz="2800" dirty="0" smtClean="0"/>
              <a:t>regole del </a:t>
            </a:r>
            <a:r>
              <a:rPr lang="it-IT" sz="2800" b="1" dirty="0"/>
              <a:t>mondo digitale</a:t>
            </a:r>
            <a:r>
              <a:rPr lang="it-IT" sz="2800" dirty="0"/>
              <a:t>, per potervi accedere in </a:t>
            </a:r>
            <a:r>
              <a:rPr lang="it-IT" sz="2800" dirty="0" smtClean="0"/>
              <a:t>modo maturo</a:t>
            </a:r>
            <a:r>
              <a:rPr lang="it-IT" sz="2800" dirty="0"/>
              <a:t>, per godere dei suoi vantaggi e </a:t>
            </a:r>
            <a:r>
              <a:rPr lang="it-IT" sz="2800" dirty="0" smtClean="0"/>
              <a:t>limitare i </a:t>
            </a:r>
            <a:r>
              <a:rPr lang="it-IT" sz="2800" dirty="0"/>
              <a:t>rischi. Accanto a ciò, rimangono valide le </a:t>
            </a:r>
            <a:r>
              <a:rPr lang="it-IT" sz="2800" dirty="0" smtClean="0"/>
              <a:t>norme del </a:t>
            </a:r>
            <a:r>
              <a:rPr lang="it-IT" sz="2800" dirty="0"/>
              <a:t>buon senso: bisogna sempre agire in </a:t>
            </a:r>
            <a:r>
              <a:rPr lang="it-IT" sz="2800" dirty="0" smtClean="0"/>
              <a:t>maniera consapevole </a:t>
            </a:r>
            <a:r>
              <a:rPr lang="it-IT" sz="2800" dirty="0"/>
              <a:t>e responsabile per poter </a:t>
            </a:r>
            <a:r>
              <a:rPr lang="it-IT" sz="2800" dirty="0" smtClean="0"/>
              <a:t>essere protagonisti </a:t>
            </a:r>
            <a:r>
              <a:rPr lang="it-IT" sz="2800" dirty="0"/>
              <a:t>delle proprie scelte. </a:t>
            </a:r>
            <a:r>
              <a:rPr lang="it-IT" sz="2800" dirty="0" smtClean="0"/>
              <a:t>Internet e </a:t>
            </a:r>
            <a:r>
              <a:rPr lang="it-IT" sz="2800" dirty="0"/>
              <a:t>le nuove </a:t>
            </a:r>
            <a:r>
              <a:rPr lang="it-IT" sz="2800" dirty="0" smtClean="0"/>
              <a:t> tecnologie </a:t>
            </a:r>
            <a:r>
              <a:rPr lang="it-IT" sz="2800" dirty="0"/>
              <a:t>sono risorse incredibili, </a:t>
            </a:r>
            <a:r>
              <a:rPr lang="it-IT" sz="2800" dirty="0" smtClean="0"/>
              <a:t>ma vanno </a:t>
            </a:r>
            <a:r>
              <a:rPr lang="it-IT" sz="2800" dirty="0"/>
              <a:t>usate con attenzione. In caso di dubbio </a:t>
            </a:r>
            <a:r>
              <a:rPr lang="it-IT" sz="2800" dirty="0" smtClean="0"/>
              <a:t>è sempre </a:t>
            </a:r>
            <a:r>
              <a:rPr lang="it-IT" sz="2800" dirty="0"/>
              <a:t>opportuno agire con prudenza e informarsi.</a:t>
            </a:r>
          </a:p>
        </p:txBody>
      </p:sp>
    </p:spTree>
    <p:extLst>
      <p:ext uri="{BB962C8B-B14F-4D97-AF65-F5344CB8AC3E}">
        <p14:creationId xmlns:p14="http://schemas.microsoft.com/office/powerpoint/2010/main" val="2993002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725214" y="0"/>
            <a:ext cx="10247586" cy="1125538"/>
          </a:xfrm>
        </p:spPr>
        <p:txBody>
          <a:bodyPr/>
          <a:lstStyle/>
          <a:p>
            <a:r>
              <a:rPr lang="it-IT" b="1" dirty="0">
                <a:solidFill>
                  <a:srgbClr val="FFC000"/>
                </a:solidFill>
              </a:rPr>
              <a:t>Da utenti a cittadini digitali</a:t>
            </a:r>
            <a:endParaRPr lang="it-IT" dirty="0">
              <a:solidFill>
                <a:srgbClr val="FFC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740979" y="797692"/>
            <a:ext cx="11163684" cy="4930775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it-IT" sz="2400" b="1" dirty="0"/>
              <a:t>Al giorno d’oggi è indispensabile </a:t>
            </a:r>
            <a:r>
              <a:rPr lang="it-IT" sz="2400" b="1" dirty="0" smtClean="0"/>
              <a:t>conoscere il </a:t>
            </a:r>
            <a:r>
              <a:rPr lang="it-IT" sz="2400" b="1" dirty="0"/>
              <a:t>funzionamento del web </a:t>
            </a:r>
            <a:r>
              <a:rPr lang="it-IT" sz="2400" b="1" dirty="0" smtClean="0"/>
              <a:t>per diventare </a:t>
            </a:r>
            <a:r>
              <a:rPr lang="it-IT" sz="2400" b="1" dirty="0"/>
              <a:t>cittadini digitali</a:t>
            </a:r>
          </a:p>
          <a:p>
            <a:pPr marL="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it-IT" sz="2400" dirty="0"/>
              <a:t>Un utente è una persona che </a:t>
            </a:r>
            <a:r>
              <a:rPr lang="it-IT" sz="2400" dirty="0" smtClean="0"/>
              <a:t>utilizza un </a:t>
            </a:r>
            <a:r>
              <a:rPr lang="it-IT" sz="2400" dirty="0"/>
              <a:t>servizio (pubblico o privato) e </a:t>
            </a:r>
            <a:r>
              <a:rPr lang="it-IT" sz="2400" dirty="0" smtClean="0"/>
              <a:t>che sottoscrive </a:t>
            </a:r>
            <a:r>
              <a:rPr lang="it-IT" sz="2400" dirty="0"/>
              <a:t>un regolamento con chi </a:t>
            </a:r>
            <a:r>
              <a:rPr lang="it-IT" sz="2400" dirty="0" smtClean="0"/>
              <a:t>gli offre </a:t>
            </a:r>
            <a:r>
              <a:rPr lang="it-IT" sz="2400" dirty="0"/>
              <a:t>tale servizio; entrambe le parti </a:t>
            </a:r>
            <a:r>
              <a:rPr lang="it-IT" sz="2400" dirty="0" smtClean="0"/>
              <a:t>si impegnano </a:t>
            </a:r>
            <a:r>
              <a:rPr lang="it-IT" sz="2400" dirty="0"/>
              <a:t>a rispettare norme precise.</a:t>
            </a:r>
          </a:p>
          <a:p>
            <a:pPr marL="514350" indent="-51435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it-IT" sz="2400" dirty="0" smtClean="0"/>
              <a:t>Quando </a:t>
            </a:r>
            <a:r>
              <a:rPr lang="it-IT" sz="2400" dirty="0"/>
              <a:t>si crea un account, si </a:t>
            </a:r>
            <a:r>
              <a:rPr lang="it-IT" sz="2400" dirty="0" smtClean="0"/>
              <a:t>diventa utenti </a:t>
            </a:r>
            <a:r>
              <a:rPr lang="it-IT" sz="2400" dirty="0"/>
              <a:t>di una società che </a:t>
            </a:r>
            <a:r>
              <a:rPr lang="it-IT" sz="2400" dirty="0" smtClean="0"/>
              <a:t>fornisce servizi </a:t>
            </a:r>
            <a:r>
              <a:rPr lang="it-IT" sz="2400" dirty="0"/>
              <a:t>digitali (ad esempio Google).</a:t>
            </a:r>
          </a:p>
          <a:p>
            <a:pPr marL="514350" indent="-51435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it-IT" sz="2400" dirty="0"/>
              <a:t>Il cittadino è invece colui che </a:t>
            </a:r>
            <a:r>
              <a:rPr lang="it-IT" sz="2400" dirty="0" smtClean="0"/>
              <a:t>risiede in </a:t>
            </a:r>
            <a:r>
              <a:rPr lang="it-IT" sz="2400" dirty="0"/>
              <a:t>una città e appartiene a pieno </a:t>
            </a:r>
            <a:r>
              <a:rPr lang="it-IT" sz="2400" dirty="0" smtClean="0"/>
              <a:t>titolo alla </a:t>
            </a:r>
            <a:r>
              <a:rPr lang="it-IT" sz="2400" dirty="0"/>
              <a:t>comunità delle persone che </a:t>
            </a:r>
            <a:r>
              <a:rPr lang="it-IT" sz="2400" dirty="0" smtClean="0"/>
              <a:t>vi abitano</a:t>
            </a:r>
            <a:r>
              <a:rPr lang="it-IT" sz="2400" dirty="0"/>
              <a:t>, gode di diritti e rispetta </a:t>
            </a:r>
            <a:r>
              <a:rPr lang="it-IT" sz="2400" dirty="0" smtClean="0"/>
              <a:t>alcuni doveri</a:t>
            </a:r>
            <a:r>
              <a:rPr lang="it-IT" sz="2400" dirty="0"/>
              <a:t>. </a:t>
            </a:r>
            <a:endParaRPr lang="it-IT" sz="2400" dirty="0" smtClean="0"/>
          </a:p>
          <a:p>
            <a:pPr marL="514350" indent="-514350">
              <a:lnSpc>
                <a:spcPct val="110000"/>
              </a:lnSpc>
              <a:spcBef>
                <a:spcPts val="600"/>
              </a:spcBef>
              <a:buFont typeface="+mj-lt"/>
              <a:buAutoNum type="arabicParenR"/>
            </a:pPr>
            <a:r>
              <a:rPr lang="it-IT" sz="2400" dirty="0" smtClean="0">
                <a:solidFill>
                  <a:srgbClr val="FFC000"/>
                </a:solidFill>
              </a:rPr>
              <a:t>Ma </a:t>
            </a:r>
            <a:r>
              <a:rPr lang="it-IT" sz="2400" dirty="0">
                <a:solidFill>
                  <a:srgbClr val="FFC000"/>
                </a:solidFill>
              </a:rPr>
              <a:t>che cosa significa </a:t>
            </a:r>
            <a:r>
              <a:rPr lang="it-IT" sz="2400" dirty="0" smtClean="0">
                <a:solidFill>
                  <a:srgbClr val="FFC000"/>
                </a:solidFill>
              </a:rPr>
              <a:t>diventare cittadino </a:t>
            </a:r>
            <a:r>
              <a:rPr lang="it-IT" sz="2400" dirty="0">
                <a:solidFill>
                  <a:srgbClr val="FFC000"/>
                </a:solidFill>
              </a:rPr>
              <a:t>digitale? </a:t>
            </a:r>
            <a:r>
              <a:rPr lang="it-IT" sz="2400" dirty="0" smtClean="0">
                <a:solidFill>
                  <a:srgbClr val="FFC000"/>
                </a:solidFill>
              </a:rPr>
              <a:t/>
            </a:r>
            <a:br>
              <a:rPr lang="it-IT" sz="2400" dirty="0" smtClean="0">
                <a:solidFill>
                  <a:srgbClr val="FFC000"/>
                </a:solidFill>
              </a:rPr>
            </a:br>
            <a:r>
              <a:rPr lang="it-IT" sz="2400" dirty="0" smtClean="0"/>
              <a:t>Significa avere diritti</a:t>
            </a:r>
            <a:r>
              <a:rPr lang="it-IT" sz="2400" dirty="0"/>
              <a:t>, doveri e competenze per </a:t>
            </a:r>
            <a:r>
              <a:rPr lang="it-IT" sz="2400" dirty="0" smtClean="0"/>
              <a:t>poter navigare </a:t>
            </a:r>
            <a:r>
              <a:rPr lang="it-IT" sz="2400" dirty="0"/>
              <a:t>nella rete con sempre </a:t>
            </a:r>
            <a:r>
              <a:rPr lang="it-IT" sz="2400" dirty="0" smtClean="0"/>
              <a:t>maggior sicurezza</a:t>
            </a:r>
            <a:r>
              <a:rPr lang="it-IT" sz="2400" dirty="0"/>
              <a:t>: saper godere dei </a:t>
            </a:r>
            <a:r>
              <a:rPr lang="it-IT" sz="2400" dirty="0" smtClean="0"/>
              <a:t>benefici dei </a:t>
            </a:r>
            <a:r>
              <a:rPr lang="it-IT" sz="2400" dirty="0"/>
              <a:t>servizi offerti, poter essere </a:t>
            </a:r>
            <a:r>
              <a:rPr lang="it-IT" sz="2400" dirty="0" smtClean="0"/>
              <a:t>informati su </a:t>
            </a:r>
            <a:r>
              <a:rPr lang="it-IT" sz="2400" dirty="0"/>
              <a:t>come funziona il sistema, </a:t>
            </a:r>
            <a:r>
              <a:rPr lang="it-IT" sz="2400" dirty="0" smtClean="0"/>
              <a:t>fare attenzione </a:t>
            </a:r>
            <a:r>
              <a:rPr lang="it-IT" sz="2400" dirty="0"/>
              <a:t>ai rischi, difendersi </a:t>
            </a:r>
            <a:r>
              <a:rPr lang="it-IT" sz="2400" dirty="0" smtClean="0"/>
              <a:t>dalle minacce</a:t>
            </a:r>
            <a:r>
              <a:rPr lang="it-IT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4327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135116" y="274638"/>
            <a:ext cx="9837683" cy="993775"/>
          </a:xfrm>
        </p:spPr>
        <p:txBody>
          <a:bodyPr/>
          <a:lstStyle/>
          <a:p>
            <a:r>
              <a:rPr lang="it-IT" b="1" dirty="0">
                <a:solidFill>
                  <a:srgbClr val="FFC000"/>
                </a:solidFill>
              </a:rPr>
              <a:t>Il </a:t>
            </a:r>
            <a:r>
              <a:rPr lang="it-IT" b="1" i="1" dirty="0" err="1">
                <a:solidFill>
                  <a:srgbClr val="FFC000"/>
                </a:solidFill>
              </a:rPr>
              <a:t>digital</a:t>
            </a:r>
            <a:r>
              <a:rPr lang="it-IT" b="1" i="1" dirty="0">
                <a:solidFill>
                  <a:srgbClr val="FFC000"/>
                </a:solidFill>
              </a:rPr>
              <a:t> divide</a:t>
            </a:r>
            <a:endParaRPr lang="it-IT" dirty="0">
              <a:solidFill>
                <a:srgbClr val="FFC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945931" y="1125538"/>
            <a:ext cx="10326414" cy="45259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3200" dirty="0"/>
              <a:t>Per poter accedere ai benefici del progresso tecnologico e dell’innovazione informatica</a:t>
            </a:r>
            <a:r>
              <a:rPr lang="it-IT" sz="3200" dirty="0" smtClean="0"/>
              <a:t>, nonché </a:t>
            </a:r>
            <a:r>
              <a:rPr lang="it-IT" sz="3200" dirty="0"/>
              <a:t>per esercitare la propria cittadinanza digitale, occorrono due condizioni: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3200" dirty="0" smtClean="0"/>
              <a:t>avere </a:t>
            </a:r>
            <a:r>
              <a:rPr lang="it-IT" sz="3200" dirty="0"/>
              <a:t>accesso alla rete in maniera stabile, a una velocità adeguata e a costi non eccessivi;</a:t>
            </a:r>
          </a:p>
          <a:p>
            <a:pPr marL="457200" indent="-457200">
              <a:buFont typeface="+mj-lt"/>
              <a:buAutoNum type="arabicPeriod"/>
            </a:pPr>
            <a:r>
              <a:rPr lang="it-IT" sz="3200" dirty="0" smtClean="0"/>
              <a:t>possedere </a:t>
            </a:r>
            <a:r>
              <a:rPr lang="it-IT" sz="3200" dirty="0"/>
              <a:t>le competenze per gestire in modo consapevole e proficuo gli ambienti digitali.</a:t>
            </a:r>
          </a:p>
          <a:p>
            <a:pPr marL="0" indent="0">
              <a:buNone/>
            </a:pP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1363300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1182414" y="274638"/>
            <a:ext cx="9790386" cy="993775"/>
          </a:xfrm>
        </p:spPr>
        <p:txBody>
          <a:bodyPr/>
          <a:lstStyle/>
          <a:p>
            <a:r>
              <a:rPr lang="it-IT" b="1" dirty="0">
                <a:solidFill>
                  <a:srgbClr val="FFC000"/>
                </a:solidFill>
              </a:rPr>
              <a:t>Il </a:t>
            </a:r>
            <a:r>
              <a:rPr lang="it-IT" b="1" i="1" dirty="0" err="1">
                <a:solidFill>
                  <a:srgbClr val="FFC000"/>
                </a:solidFill>
              </a:rPr>
              <a:t>digital</a:t>
            </a:r>
            <a:r>
              <a:rPr lang="it-IT" b="1" i="1" dirty="0">
                <a:solidFill>
                  <a:srgbClr val="FFC000"/>
                </a:solidFill>
              </a:rPr>
              <a:t> divide</a:t>
            </a:r>
            <a:endParaRPr lang="it-IT" dirty="0">
              <a:solidFill>
                <a:srgbClr val="FFC000"/>
              </a:solidFill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4294967295"/>
          </p:nvPr>
        </p:nvSpPr>
        <p:spPr>
          <a:xfrm>
            <a:off x="851338" y="1125538"/>
            <a:ext cx="10861237" cy="452596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it-IT" sz="2400" dirty="0"/>
              <a:t>Nel caso in cui manchi il primo requisito, la carenza è di 1° livello; se invece i problemi riguardano il possesso delle competenze, si è al 2° livello, che è più preoccupante: una comunità perennemente connessa non è sempre e per forza una comunità ben digitalizzata.</a:t>
            </a:r>
          </a:p>
          <a:p>
            <a:pPr marL="0" indent="0" algn="just">
              <a:buNone/>
            </a:pPr>
            <a:r>
              <a:rPr lang="it-IT" sz="2400" dirty="0"/>
              <a:t>In mancanza di uno dei due fattori, si parla di </a:t>
            </a:r>
            <a:r>
              <a:rPr lang="it-IT" sz="2400" i="1" dirty="0" err="1"/>
              <a:t>digital</a:t>
            </a:r>
            <a:r>
              <a:rPr lang="it-IT" sz="2400" i="1" dirty="0"/>
              <a:t> divide</a:t>
            </a:r>
            <a:r>
              <a:rPr lang="it-IT" sz="2400" dirty="0"/>
              <a:t>, “divario digitale”. </a:t>
            </a:r>
          </a:p>
          <a:p>
            <a:pPr marL="0" indent="0" algn="just">
              <a:buNone/>
            </a:pPr>
            <a:r>
              <a:rPr lang="it-IT" sz="2400" dirty="0"/>
              <a:t>Il suo effetto è negativo per chi lo subisce ed è in costante aumento, man mano che la società si avvale sempre più delle tecnologie informatiche. Ne possono quindi derivare nuove e notevoli fonti di discriminazione personale e sociale.</a:t>
            </a:r>
          </a:p>
          <a:p>
            <a:pPr marL="0" indent="0" algn="just">
              <a:buNone/>
            </a:pPr>
            <a:r>
              <a:rPr lang="it-IT" sz="2400" dirty="0"/>
              <a:t>Per questo motivo i  governi saranno chiamati a mettere in agenda le tematiche inerenti al libero accesso alla rete e il controllo della stessa, soprattutto laddove si giochino la partecipazione politica e lo sviluppo culturale e socio-economico.</a:t>
            </a:r>
          </a:p>
        </p:txBody>
      </p:sp>
    </p:spTree>
    <p:extLst>
      <p:ext uri="{BB962C8B-B14F-4D97-AF65-F5344CB8AC3E}">
        <p14:creationId xmlns:p14="http://schemas.microsoft.com/office/powerpoint/2010/main" val="1262707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/>
        </p:nvSpPr>
        <p:spPr>
          <a:xfrm>
            <a:off x="1055687" y="204787"/>
            <a:ext cx="10080624" cy="26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3600" b="0" i="0" u="none" strike="noStrike" cap="none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INTERNET E IL WORLD WIDE WEB</a:t>
            </a:r>
            <a:endParaRPr sz="3600" b="0" i="0" u="none" strike="noStrike" cap="none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1055686" y="1530788"/>
            <a:ext cx="10080623" cy="3659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Data la sua dimensione globale e la sempre maggiore facilità di accesso, anche la “piazza virtuale” di Internet, come tutti i luoghi molto affollati, può </a:t>
            </a:r>
            <a:r>
              <a:rPr lang="it-IT" sz="3600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comportare dei </a:t>
            </a: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pericoli. Il termine </a:t>
            </a:r>
            <a:r>
              <a:rPr lang="it-IT" sz="3600" b="1" i="0" u="none" strike="noStrike" cap="none" dirty="0" err="1" smtClean="0">
                <a:latin typeface="Arial"/>
                <a:ea typeface="Arial"/>
                <a:cs typeface="Arial"/>
                <a:sym typeface="Arial"/>
              </a:rPr>
              <a:t>malware</a:t>
            </a:r>
            <a:r>
              <a:rPr lang="it-IT" sz="3600" b="1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3600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indica genericamente una </a:t>
            </a: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minaccia informatica.</a:t>
            </a:r>
            <a:endParaRPr sz="3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055687" y="908050"/>
            <a:ext cx="10080625" cy="382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it-IT" sz="2100" b="1" i="0" u="none" strike="noStrike" cap="none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SICUREZZA ONLINE</a:t>
            </a:r>
            <a:endParaRPr sz="1400" b="0" i="0" u="none" strike="noStrike" cap="none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3882570"/>
      </p:ext>
    </p:extLst>
  </p:cSld>
  <p:clrMapOvr>
    <a:masterClrMapping/>
  </p:clrMapOvr>
  <p:transition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1055687" y="204787"/>
            <a:ext cx="9808256" cy="26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3600" b="0" i="0" u="none" strike="noStrike" cap="none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INTERNET E IL WORLD WIDE WEB</a:t>
            </a:r>
            <a:endParaRPr sz="3600" b="0" i="0" u="none" strike="noStrike" cap="none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781878" y="864969"/>
            <a:ext cx="10575235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Nella categoria dei </a:t>
            </a:r>
            <a:r>
              <a:rPr lang="it-IT" sz="36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malware</a:t>
            </a: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 rientrano </a:t>
            </a:r>
            <a:r>
              <a:rPr lang="it-IT" sz="3600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it-IT" sz="3600" b="1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                       Virus</a:t>
            </a: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it-IT" sz="3600" b="1" i="0" u="none" strike="noStrike" cap="none" dirty="0" err="1">
                <a:latin typeface="Arial"/>
                <a:ea typeface="Arial"/>
                <a:cs typeface="Arial"/>
                <a:sym typeface="Arial"/>
              </a:rPr>
              <a:t>Worm</a:t>
            </a: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 sz="3600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e </a:t>
            </a:r>
            <a:r>
              <a:rPr lang="it-IT" sz="3600" b="1" i="0" u="none" strike="noStrike" cap="none" dirty="0" err="1">
                <a:latin typeface="Arial"/>
                <a:ea typeface="Arial"/>
                <a:cs typeface="Arial"/>
                <a:sym typeface="Arial"/>
              </a:rPr>
              <a:t>Trojan</a:t>
            </a: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. </a:t>
            </a:r>
            <a:endParaRPr lang="it-IT" sz="3600" b="0" i="0" u="none" strike="noStrike" cap="none" dirty="0" smtClean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it-IT" sz="3600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Uno </a:t>
            </a:r>
            <a:r>
              <a:rPr lang="it-IT" sz="36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spyware</a:t>
            </a: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 è un tipo di software che carpisce informazioni private di una persona o </a:t>
            </a:r>
            <a:r>
              <a:rPr lang="it-IT" sz="3600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di un’organizzazione </a:t>
            </a: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senza il loro consenso e senza </a:t>
            </a:r>
            <a:r>
              <a:rPr lang="it-IT" sz="3600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che </a:t>
            </a: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ne siano consapevoli.</a:t>
            </a:r>
            <a:endParaRPr sz="3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93567701"/>
      </p:ext>
    </p:extLst>
  </p:cSld>
  <p:clrMapOvr>
    <a:masterClrMapping/>
  </p:clrMapOvr>
  <p:transition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/>
        </p:nvSpPr>
        <p:spPr>
          <a:xfrm>
            <a:off x="1055687" y="204787"/>
            <a:ext cx="9808256" cy="26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3200" b="0" i="0" u="none" strike="noStrike" cap="none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INTERNET E IL WORLD WIDE WEB</a:t>
            </a:r>
            <a:endParaRPr sz="3200" b="0" i="0" u="none" strike="noStrike" cap="none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1055686" y="707314"/>
            <a:ext cx="9808255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it-IT" sz="3200" b="0" i="0" u="none" strike="noStrike" cap="none" dirty="0">
                <a:latin typeface="Arial"/>
                <a:ea typeface="Arial"/>
                <a:cs typeface="Arial"/>
                <a:sym typeface="Arial"/>
              </a:rPr>
              <a:t>La differenza tra </a:t>
            </a:r>
            <a:r>
              <a:rPr lang="it-IT" sz="3200" b="1" i="0" u="none" strike="noStrike" cap="none" dirty="0" err="1">
                <a:latin typeface="Arial"/>
                <a:ea typeface="Arial"/>
                <a:cs typeface="Arial"/>
                <a:sym typeface="Arial"/>
              </a:rPr>
              <a:t>malware</a:t>
            </a:r>
            <a:r>
              <a:rPr lang="it-IT" sz="3200" b="0" i="0" u="none" strike="noStrike" cap="none" dirty="0"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it-IT" sz="3200" b="1" i="0" u="none" strike="noStrike" cap="none" dirty="0">
                <a:latin typeface="Arial"/>
                <a:ea typeface="Arial"/>
                <a:cs typeface="Arial"/>
                <a:sym typeface="Arial"/>
              </a:rPr>
              <a:t>vulnerabilità</a:t>
            </a:r>
            <a:r>
              <a:rPr lang="it-IT" sz="3200" b="0" i="0" u="none" strike="noStrike" cap="none" dirty="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it-IT" sz="3200" b="0" i="0" u="none" strike="noStrike" cap="none" dirty="0" err="1">
                <a:latin typeface="Arial"/>
                <a:ea typeface="Arial"/>
                <a:cs typeface="Arial"/>
                <a:sym typeface="Arial"/>
              </a:rPr>
              <a:t>vulnerability</a:t>
            </a:r>
            <a:r>
              <a:rPr lang="it-IT" sz="3200" b="0" i="0" u="none" strike="noStrike" cap="none" dirty="0">
                <a:latin typeface="Arial"/>
                <a:ea typeface="Arial"/>
                <a:cs typeface="Arial"/>
                <a:sym typeface="Arial"/>
              </a:rPr>
              <a:t>) è la stessa che vi è tra la presenza e la mancanza </a:t>
            </a:r>
            <a:r>
              <a:rPr lang="it-IT" sz="3200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di </a:t>
            </a:r>
            <a:r>
              <a:rPr lang="it-IT" sz="3200" b="0" i="0" u="none" strike="noStrike" cap="none" dirty="0">
                <a:latin typeface="Arial"/>
                <a:ea typeface="Arial"/>
                <a:cs typeface="Arial"/>
                <a:sym typeface="Arial"/>
              </a:rPr>
              <a:t>qualcosa. </a:t>
            </a:r>
            <a:endParaRPr lang="it-IT" sz="3200" b="0" i="0" u="none" strike="noStrike" cap="none" dirty="0" smtClean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it-IT" sz="3200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Con </a:t>
            </a:r>
            <a:r>
              <a:rPr lang="it-IT" sz="3200" b="0" i="0" u="none" strike="noStrike" cap="none" dirty="0"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it-IT" sz="3200" b="1" i="0" u="none" strike="noStrike" cap="none" dirty="0" err="1">
                <a:latin typeface="Arial"/>
                <a:ea typeface="Arial"/>
                <a:cs typeface="Arial"/>
                <a:sym typeface="Arial"/>
              </a:rPr>
              <a:t>malware</a:t>
            </a:r>
            <a:r>
              <a:rPr lang="it-IT" sz="3200" b="0" i="0" u="none" strike="noStrike" cap="none" dirty="0">
                <a:latin typeface="Arial"/>
                <a:ea typeface="Arial"/>
                <a:cs typeface="Arial"/>
                <a:sym typeface="Arial"/>
              </a:rPr>
              <a:t> infatti si può interagire</a:t>
            </a:r>
            <a:r>
              <a:rPr lang="it-IT" sz="3200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, lo </a:t>
            </a:r>
            <a:r>
              <a:rPr lang="it-IT" sz="3200" b="0" i="0" u="none" strike="noStrike" cap="none" dirty="0">
                <a:latin typeface="Arial"/>
                <a:ea typeface="Arial"/>
                <a:cs typeface="Arial"/>
                <a:sym typeface="Arial"/>
              </a:rPr>
              <a:t>si può analizzare, osservare e combattere</a:t>
            </a:r>
            <a:r>
              <a:rPr lang="it-IT" sz="3200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it-IT" sz="3200" b="0" i="0" u="none" strike="noStrike" cap="none" dirty="0">
                <a:latin typeface="Arial"/>
                <a:ea typeface="Arial"/>
                <a:cs typeface="Arial"/>
                <a:sym typeface="Arial"/>
              </a:rPr>
              <a:t/>
            </a:r>
            <a:br>
              <a:rPr lang="it-IT" sz="3200" b="0" i="0" u="none" strike="noStrike" cap="none" dirty="0">
                <a:latin typeface="Arial"/>
                <a:ea typeface="Arial"/>
                <a:cs typeface="Arial"/>
                <a:sym typeface="Arial"/>
              </a:rPr>
            </a:br>
            <a:r>
              <a:rPr lang="it-IT" sz="3200" b="0" i="0" u="none" strike="noStrike" cap="none" dirty="0"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lang="it-IT" sz="3200" b="1" i="0" u="none" strike="noStrike" cap="none" dirty="0">
                <a:latin typeface="Arial"/>
                <a:ea typeface="Arial"/>
                <a:cs typeface="Arial"/>
                <a:sym typeface="Arial"/>
              </a:rPr>
              <a:t>vulnerabilità</a:t>
            </a:r>
            <a:r>
              <a:rPr lang="it-IT" sz="3200" b="0" i="0" u="none" strike="noStrike" cap="none" dirty="0">
                <a:latin typeface="Arial"/>
                <a:ea typeface="Arial"/>
                <a:cs typeface="Arial"/>
                <a:sym typeface="Arial"/>
              </a:rPr>
              <a:t>, al contrario, indica una debolezza </a:t>
            </a:r>
            <a:br>
              <a:rPr lang="it-IT" sz="3200" b="0" i="0" u="none" strike="noStrike" cap="none" dirty="0">
                <a:latin typeface="Arial"/>
                <a:ea typeface="Arial"/>
                <a:cs typeface="Arial"/>
                <a:sym typeface="Arial"/>
              </a:rPr>
            </a:br>
            <a:r>
              <a:rPr lang="it-IT" sz="3200" b="0" i="0" u="none" strike="noStrike" cap="none" dirty="0">
                <a:latin typeface="Arial"/>
                <a:ea typeface="Arial"/>
                <a:cs typeface="Arial"/>
                <a:sym typeface="Arial"/>
              </a:rPr>
              <a:t>del sistema di cui qualcuno può approfittare.</a:t>
            </a:r>
            <a:endParaRPr sz="3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9231478"/>
      </p:ext>
    </p:extLst>
  </p:cSld>
  <p:clrMapOvr>
    <a:masterClrMapping/>
  </p:clrMapOvr>
  <p:transition>
    <p:push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/>
        </p:nvSpPr>
        <p:spPr>
          <a:xfrm>
            <a:off x="1055687" y="204787"/>
            <a:ext cx="9808256" cy="265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t-IT" sz="3200" b="1" i="0" u="none" strike="noStrike" cap="none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INTERNET E IL WORLD WIDE WEB</a:t>
            </a:r>
            <a:endParaRPr sz="3200" b="1" i="0" u="none" strike="noStrike" cap="none" dirty="0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9"/>
          <p:cNvSpPr txBox="1"/>
          <p:nvPr/>
        </p:nvSpPr>
        <p:spPr>
          <a:xfrm>
            <a:off x="1055686" y="1290638"/>
            <a:ext cx="9808255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Si parla di </a:t>
            </a:r>
            <a:r>
              <a:rPr lang="it-IT" sz="3600" b="1" i="0" u="none" strike="noStrike" cap="none" dirty="0">
                <a:latin typeface="Arial"/>
                <a:ea typeface="Arial"/>
                <a:cs typeface="Arial"/>
                <a:sym typeface="Arial"/>
              </a:rPr>
              <a:t>exploit</a:t>
            </a: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 a proposito di parti di programma, insiemi di dati o sequenze di comandi che possono essere utilizzati come punti di accesso </a:t>
            </a:r>
            <a:r>
              <a:rPr lang="it-IT" sz="3600" b="0" i="0" u="none" strike="noStrike" cap="none" dirty="0" smtClean="0">
                <a:latin typeface="Arial"/>
                <a:ea typeface="Arial"/>
                <a:cs typeface="Arial"/>
                <a:sym typeface="Arial"/>
              </a:rPr>
              <a:t>privilegiati da </a:t>
            </a: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pirati informatici (</a:t>
            </a:r>
            <a:r>
              <a:rPr lang="it-IT" sz="3600" b="0" i="1" u="none" strike="noStrike" cap="none" dirty="0">
                <a:latin typeface="Arial"/>
                <a:ea typeface="Arial"/>
                <a:cs typeface="Arial"/>
                <a:sym typeface="Arial"/>
              </a:rPr>
              <a:t>hacker</a:t>
            </a: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) o </a:t>
            </a:r>
            <a:r>
              <a:rPr lang="it-IT" sz="3600" b="1" i="0" u="none" strike="noStrike" cap="none" dirty="0" err="1">
                <a:latin typeface="Arial"/>
                <a:ea typeface="Arial"/>
                <a:cs typeface="Arial"/>
                <a:sym typeface="Arial"/>
              </a:rPr>
              <a:t>malware</a:t>
            </a: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36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Se si trovano direttamente nel programma originale, vengono detti anche </a:t>
            </a:r>
            <a:r>
              <a:rPr lang="it-IT" sz="3600" b="1" i="0" u="none" strike="noStrike" cap="none" dirty="0">
                <a:latin typeface="Arial"/>
                <a:ea typeface="Arial"/>
                <a:cs typeface="Arial"/>
                <a:sym typeface="Arial"/>
              </a:rPr>
              <a:t>exploit code</a:t>
            </a:r>
            <a:r>
              <a:rPr lang="it-IT" sz="3600" b="0" i="0" u="none" strike="noStrike" cap="none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3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3734943"/>
      </p:ext>
    </p:extLst>
  </p:cSld>
  <p:clrMapOvr>
    <a:masterClrMapping/>
  </p:clrMapOvr>
  <p:transition>
    <p:push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3263462" y="1899636"/>
            <a:ext cx="6427586" cy="7508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33800" algn="l"/>
              </a:tabLst>
            </a:pPr>
            <a:r>
              <a:rPr sz="4800" spc="-5" dirty="0"/>
              <a:t>L</a:t>
            </a:r>
            <a:r>
              <a:rPr sz="4800" dirty="0"/>
              <a:t>a</a:t>
            </a:r>
            <a:r>
              <a:rPr sz="4800" spc="-5" dirty="0"/>
              <a:t> </a:t>
            </a:r>
            <a:r>
              <a:rPr sz="4800" spc="-5" dirty="0" err="1" smtClean="0"/>
              <a:t>normativ</a:t>
            </a:r>
            <a:r>
              <a:rPr sz="4800" dirty="0" err="1" smtClean="0"/>
              <a:t>a</a:t>
            </a:r>
            <a:r>
              <a:rPr lang="it-IT" sz="4800" dirty="0" smtClean="0"/>
              <a:t> </a:t>
            </a:r>
            <a:r>
              <a:rPr sz="4800" spc="-5" dirty="0" err="1" smtClean="0"/>
              <a:t>s</a:t>
            </a:r>
            <a:r>
              <a:rPr sz="4800" spc="-15" dirty="0" err="1" smtClean="0"/>
              <a:t>u</a:t>
            </a:r>
            <a:r>
              <a:rPr sz="4800" dirty="0" err="1" smtClean="0"/>
              <a:t>l</a:t>
            </a:r>
            <a:r>
              <a:rPr sz="4800" spc="-10" dirty="0" err="1" smtClean="0"/>
              <a:t>la</a:t>
            </a:r>
            <a:endParaRPr sz="48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11424" y="3106092"/>
            <a:ext cx="10657184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2298065" algn="l"/>
              </a:tabLst>
            </a:pPr>
            <a:r>
              <a:rPr sz="6000" b="1" spc="-5" dirty="0">
                <a:solidFill>
                  <a:srgbClr val="FFC000"/>
                </a:solidFill>
                <a:latin typeface="Times New Roman"/>
                <a:cs typeface="Times New Roman"/>
              </a:rPr>
              <a:t>Legalità	Informatica</a:t>
            </a:r>
            <a:endParaRPr sz="6000" dirty="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3375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16825" y="6271259"/>
            <a:ext cx="1524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4306888" y="219075"/>
            <a:ext cx="7885112" cy="5667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47775" algn="l"/>
                <a:tab pos="5442585" algn="l"/>
              </a:tabLst>
            </a:pPr>
            <a:r>
              <a:rPr spc="-10" dirty="0" smtClean="0">
                <a:solidFill>
                  <a:srgbClr val="FFC000"/>
                </a:solidFill>
              </a:rPr>
              <a:t>U</a:t>
            </a:r>
            <a:r>
              <a:rPr spc="-5" dirty="0" smtClean="0">
                <a:solidFill>
                  <a:srgbClr val="FFC000"/>
                </a:solidFill>
              </a:rPr>
              <a:t>n</a:t>
            </a:r>
            <a:r>
              <a:rPr dirty="0" smtClean="0">
                <a:solidFill>
                  <a:srgbClr val="FFC000"/>
                </a:solidFill>
              </a:rPr>
              <a:t>a</a:t>
            </a:r>
            <a:r>
              <a:rPr lang="it-IT" dirty="0" smtClean="0">
                <a:solidFill>
                  <a:srgbClr val="FFC000"/>
                </a:solidFill>
              </a:rPr>
              <a:t> </a:t>
            </a:r>
            <a:r>
              <a:rPr spc="-15" dirty="0" smtClean="0">
                <a:solidFill>
                  <a:srgbClr val="FFC000"/>
                </a:solidFill>
              </a:rPr>
              <a:t>b</a:t>
            </a:r>
            <a:r>
              <a:rPr spc="5" dirty="0" smtClean="0">
                <a:solidFill>
                  <a:srgbClr val="FFC000"/>
                </a:solidFill>
              </a:rPr>
              <a:t>r</a:t>
            </a:r>
            <a:r>
              <a:rPr spc="-5" dirty="0" smtClean="0">
                <a:solidFill>
                  <a:srgbClr val="FFC000"/>
                </a:solidFill>
              </a:rPr>
              <a:t>e</a:t>
            </a:r>
            <a:r>
              <a:rPr dirty="0" smtClean="0">
                <a:solidFill>
                  <a:srgbClr val="FFC000"/>
                </a:solidFill>
              </a:rPr>
              <a:t>ve</a:t>
            </a:r>
            <a:r>
              <a:rPr spc="-10" dirty="0" smtClean="0">
                <a:solidFill>
                  <a:srgbClr val="FFC000"/>
                </a:solidFill>
              </a:rPr>
              <a:t> </a:t>
            </a:r>
            <a:r>
              <a:rPr spc="-15" dirty="0">
                <a:solidFill>
                  <a:srgbClr val="FFC000"/>
                </a:solidFill>
              </a:rPr>
              <a:t>p</a:t>
            </a:r>
            <a:r>
              <a:rPr spc="5" dirty="0">
                <a:solidFill>
                  <a:srgbClr val="FFC000"/>
                </a:solidFill>
              </a:rPr>
              <a:t>re</a:t>
            </a:r>
            <a:r>
              <a:rPr spc="-10" dirty="0">
                <a:solidFill>
                  <a:srgbClr val="FFC000"/>
                </a:solidFill>
              </a:rPr>
              <a:t>m</a:t>
            </a:r>
            <a:r>
              <a:rPr spc="5" dirty="0">
                <a:solidFill>
                  <a:srgbClr val="FFC000"/>
                </a:solidFill>
              </a:rPr>
              <a:t>e</a:t>
            </a:r>
            <a:r>
              <a:rPr spc="-5" dirty="0">
                <a:solidFill>
                  <a:srgbClr val="FFC000"/>
                </a:solidFill>
              </a:rPr>
              <a:t>ss</a:t>
            </a:r>
            <a:r>
              <a:rPr dirty="0">
                <a:solidFill>
                  <a:srgbClr val="FFC000"/>
                </a:solidFill>
              </a:rPr>
              <a:t>a	...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0427" y="1563370"/>
            <a:ext cx="11141287" cy="41440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75920" marR="337820" indent="-337820">
              <a:lnSpc>
                <a:spcPts val="3020"/>
              </a:lnSpc>
              <a:spcBef>
                <a:spcPts val="480"/>
              </a:spcBef>
              <a:buClr>
                <a:srgbClr val="FF0000"/>
              </a:buClr>
              <a:buSzPct val="89285"/>
              <a:buFont typeface="Wingdings"/>
              <a:buChar char=""/>
              <a:tabLst>
                <a:tab pos="375920" algn="l"/>
                <a:tab pos="1065530" algn="l"/>
                <a:tab pos="206121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“Diritto”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e	</a:t>
            </a:r>
            <a:r>
              <a:rPr sz="2800" b="1" spc="-5" dirty="0">
                <a:latin typeface="Times New Roman"/>
                <a:cs typeface="Times New Roman"/>
              </a:rPr>
              <a:t>“informatica” </a:t>
            </a:r>
            <a:r>
              <a:rPr sz="2800" b="1" dirty="0">
                <a:latin typeface="Times New Roman"/>
                <a:cs typeface="Times New Roman"/>
              </a:rPr>
              <a:t>si </a:t>
            </a:r>
            <a:r>
              <a:rPr sz="2800" b="1" spc="-5" dirty="0">
                <a:latin typeface="Times New Roman"/>
                <a:cs typeface="Times New Roman"/>
              </a:rPr>
              <a:t>incontrano negli anni </a:t>
            </a:r>
            <a:r>
              <a:rPr sz="2800" b="1" dirty="0">
                <a:latin typeface="Times New Roman"/>
                <a:cs typeface="Times New Roman"/>
              </a:rPr>
              <a:t>’50  </a:t>
            </a:r>
            <a:r>
              <a:rPr sz="2800" b="1" spc="-5" dirty="0">
                <a:latin typeface="Times New Roman"/>
                <a:cs typeface="Times New Roman"/>
              </a:rPr>
              <a:t>con	</a:t>
            </a:r>
            <a:r>
              <a:rPr sz="2800" b="1" dirty="0">
                <a:latin typeface="Times New Roman"/>
                <a:cs typeface="Times New Roman"/>
              </a:rPr>
              <a:t>due </a:t>
            </a:r>
            <a:r>
              <a:rPr sz="2800" b="1" spc="-5" dirty="0">
                <a:latin typeface="Times New Roman"/>
                <a:cs typeface="Times New Roman"/>
              </a:rPr>
              <a:t>grandi </a:t>
            </a:r>
            <a:r>
              <a:rPr sz="2800" b="1" dirty="0">
                <a:latin typeface="Times New Roman"/>
                <a:cs typeface="Times New Roman"/>
              </a:rPr>
              <a:t>linee di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sviluppo</a:t>
            </a:r>
          </a:p>
          <a:p>
            <a:pPr marL="775970" marR="386715" lvl="1" indent="-280670">
              <a:lnSpc>
                <a:spcPts val="3020"/>
              </a:lnSpc>
              <a:spcBef>
                <a:spcPts val="1800"/>
              </a:spcBef>
              <a:buClr>
                <a:srgbClr val="FF0000"/>
              </a:buClr>
              <a:buSzPct val="80357"/>
              <a:buFont typeface="Wingdings"/>
              <a:buChar char=""/>
              <a:tabLst>
                <a:tab pos="775970" algn="l"/>
              </a:tabLst>
            </a:pPr>
            <a:r>
              <a:rPr sz="2800" b="1" dirty="0">
                <a:latin typeface="Times New Roman"/>
                <a:cs typeface="Times New Roman"/>
              </a:rPr>
              <a:t>la </a:t>
            </a:r>
            <a:r>
              <a:rPr sz="2800" b="1" spc="-5" dirty="0">
                <a:latin typeface="Times New Roman"/>
                <a:cs typeface="Times New Roman"/>
              </a:rPr>
              <a:t>prima, relativa alle applicazioni </a:t>
            </a:r>
            <a:r>
              <a:rPr sz="2800" b="1" dirty="0">
                <a:latin typeface="Times New Roman"/>
                <a:cs typeface="Times New Roman"/>
              </a:rPr>
              <a:t>delle </a:t>
            </a:r>
            <a:r>
              <a:rPr sz="2800" b="1" spc="-5" dirty="0">
                <a:latin typeface="Times New Roman"/>
                <a:cs typeface="Times New Roman"/>
              </a:rPr>
              <a:t>tecnologie  dell’informazione </a:t>
            </a:r>
            <a:r>
              <a:rPr sz="2800" b="1" spc="-10" dirty="0">
                <a:latin typeface="Times New Roman"/>
                <a:cs typeface="Times New Roman"/>
              </a:rPr>
              <a:t>al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diritto;</a:t>
            </a:r>
          </a:p>
          <a:p>
            <a:pPr marL="775970" marR="33020" lvl="1" indent="-280670">
              <a:lnSpc>
                <a:spcPts val="3020"/>
              </a:lnSpc>
              <a:spcBef>
                <a:spcPts val="700"/>
              </a:spcBef>
              <a:buClr>
                <a:srgbClr val="FF0000"/>
              </a:buClr>
              <a:buSzPct val="80357"/>
              <a:buFont typeface="Wingdings"/>
              <a:buChar char=""/>
              <a:tabLst>
                <a:tab pos="775970" algn="l"/>
              </a:tabLst>
            </a:pPr>
            <a:r>
              <a:rPr sz="2800" b="1" dirty="0">
                <a:latin typeface="Times New Roman"/>
                <a:cs typeface="Times New Roman"/>
              </a:rPr>
              <a:t>la </a:t>
            </a:r>
            <a:r>
              <a:rPr sz="2800" b="1" spc="-5" dirty="0">
                <a:latin typeface="Times New Roman"/>
                <a:cs typeface="Times New Roman"/>
              </a:rPr>
              <a:t>seconda, relativa alle norme che regolano </a:t>
            </a:r>
            <a:r>
              <a:rPr sz="2800" b="1" dirty="0">
                <a:latin typeface="Times New Roman"/>
                <a:cs typeface="Times New Roman"/>
              </a:rPr>
              <a:t>le nuove  </a:t>
            </a:r>
            <a:r>
              <a:rPr sz="2800" b="1" spc="-5" dirty="0">
                <a:latin typeface="Times New Roman"/>
                <a:cs typeface="Times New Roman"/>
              </a:rPr>
              <a:t>tecnologie nella c.d. società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dell’informazione</a:t>
            </a:r>
            <a:endParaRPr sz="2800" b="1" dirty="0">
              <a:latin typeface="Times New Roman"/>
              <a:cs typeface="Times New Roman"/>
            </a:endParaRPr>
          </a:p>
          <a:p>
            <a:pPr marL="375920" marR="30480" indent="-337820">
              <a:lnSpc>
                <a:spcPct val="90000"/>
              </a:lnSpc>
              <a:spcBef>
                <a:spcPts val="2355"/>
              </a:spcBef>
              <a:buClr>
                <a:srgbClr val="FF0000"/>
              </a:buClr>
              <a:buSzPct val="89285"/>
              <a:buFont typeface="Wingdings"/>
              <a:buChar char=""/>
              <a:tabLst>
                <a:tab pos="375920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Dalla prima </a:t>
            </a:r>
            <a:r>
              <a:rPr sz="2800" b="1" dirty="0">
                <a:latin typeface="Times New Roman"/>
                <a:cs typeface="Times New Roman"/>
              </a:rPr>
              <a:t>deriva la </a:t>
            </a:r>
            <a:r>
              <a:rPr sz="2800" b="1" spc="-5" dirty="0">
                <a:latin typeface="Times New Roman"/>
                <a:cs typeface="Times New Roman"/>
              </a:rPr>
              <a:t>c.d. </a:t>
            </a:r>
            <a:r>
              <a:rPr sz="2800" b="1" dirty="0">
                <a:latin typeface="Times New Roman"/>
                <a:cs typeface="Times New Roman"/>
              </a:rPr>
              <a:t>“</a:t>
            </a:r>
            <a:r>
              <a:rPr sz="2800" b="1" u="sng" dirty="0">
                <a:solidFill>
                  <a:srgbClr val="FFC000"/>
                </a:solidFill>
                <a:latin typeface="Times New Roman"/>
                <a:cs typeface="Times New Roman"/>
              </a:rPr>
              <a:t>informatica </a:t>
            </a:r>
            <a:r>
              <a:rPr sz="2800" b="1" u="sng" spc="-5" dirty="0">
                <a:solidFill>
                  <a:srgbClr val="FFC000"/>
                </a:solidFill>
                <a:latin typeface="Times New Roman"/>
                <a:cs typeface="Times New Roman"/>
              </a:rPr>
              <a:t>giuridica</a:t>
            </a:r>
            <a:r>
              <a:rPr sz="2800" b="1" spc="-5" dirty="0">
                <a:latin typeface="Times New Roman"/>
                <a:cs typeface="Times New Roman"/>
              </a:rPr>
              <a:t>”,  </a:t>
            </a:r>
            <a:r>
              <a:rPr sz="2800" b="1" dirty="0">
                <a:latin typeface="Times New Roman"/>
                <a:cs typeface="Times New Roman"/>
              </a:rPr>
              <a:t>dalla </a:t>
            </a:r>
            <a:r>
              <a:rPr sz="2800" b="1" spc="-5" dirty="0">
                <a:latin typeface="Times New Roman"/>
                <a:cs typeface="Times New Roman"/>
              </a:rPr>
              <a:t>seconda </a:t>
            </a:r>
            <a:r>
              <a:rPr sz="2800" b="1" dirty="0">
                <a:latin typeface="Times New Roman"/>
                <a:cs typeface="Times New Roman"/>
              </a:rPr>
              <a:t>il </a:t>
            </a:r>
            <a:r>
              <a:rPr sz="2800" b="1" spc="-5" dirty="0">
                <a:latin typeface="Times New Roman"/>
                <a:cs typeface="Times New Roman"/>
              </a:rPr>
              <a:t>c.d. “</a:t>
            </a:r>
            <a:r>
              <a:rPr sz="2800" b="1" u="sng" spc="-5" dirty="0">
                <a:solidFill>
                  <a:srgbClr val="FFC000"/>
                </a:solidFill>
                <a:latin typeface="Times New Roman"/>
                <a:cs typeface="Times New Roman"/>
              </a:rPr>
              <a:t>diritto dell'informatica</a:t>
            </a:r>
            <a:r>
              <a:rPr sz="2800" b="1" spc="-5" dirty="0">
                <a:latin typeface="Times New Roman"/>
                <a:cs typeface="Times New Roman"/>
              </a:rPr>
              <a:t>”, </a:t>
            </a:r>
            <a:r>
              <a:rPr sz="2800" b="1" spc="-10" dirty="0">
                <a:latin typeface="Times New Roman"/>
                <a:cs typeface="Times New Roman"/>
              </a:rPr>
              <a:t>materie  </a:t>
            </a:r>
            <a:r>
              <a:rPr sz="2800" b="1" dirty="0">
                <a:latin typeface="Times New Roman"/>
                <a:cs typeface="Times New Roman"/>
              </a:rPr>
              <a:t>di </a:t>
            </a:r>
            <a:r>
              <a:rPr sz="2800" b="1" spc="-5" dirty="0">
                <a:latin typeface="Times New Roman"/>
                <a:cs typeface="Times New Roman"/>
              </a:rPr>
              <a:t>grande attualità </a:t>
            </a:r>
            <a:r>
              <a:rPr sz="2800" b="1" dirty="0">
                <a:latin typeface="Times New Roman"/>
                <a:cs typeface="Times New Roman"/>
              </a:rPr>
              <a:t>e dalla </a:t>
            </a:r>
            <a:r>
              <a:rPr sz="2800" b="1" spc="-5" dirty="0">
                <a:latin typeface="Times New Roman"/>
                <a:cs typeface="Times New Roman"/>
              </a:rPr>
              <a:t>scarsa </a:t>
            </a:r>
            <a:r>
              <a:rPr sz="2800" b="1" dirty="0">
                <a:latin typeface="Times New Roman"/>
                <a:cs typeface="Times New Roman"/>
              </a:rPr>
              <a:t>fortuna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accademica.</a:t>
            </a:r>
            <a:endParaRPr sz="28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79783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16825" y="6271259"/>
            <a:ext cx="1524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1434662" y="219075"/>
            <a:ext cx="10757338" cy="5667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47775" algn="l"/>
                <a:tab pos="5442585" algn="l"/>
              </a:tabLst>
            </a:pPr>
            <a:r>
              <a:rPr b="1" spc="-10" dirty="0">
                <a:solidFill>
                  <a:srgbClr val="FFC000"/>
                </a:solidFill>
              </a:rPr>
              <a:t>U</a:t>
            </a:r>
            <a:r>
              <a:rPr b="1" spc="-5" dirty="0">
                <a:solidFill>
                  <a:srgbClr val="FFC000"/>
                </a:solidFill>
              </a:rPr>
              <a:t>n</a:t>
            </a:r>
            <a:r>
              <a:rPr b="1" dirty="0">
                <a:solidFill>
                  <a:srgbClr val="FFC000"/>
                </a:solidFill>
              </a:rPr>
              <a:t>a	</a:t>
            </a:r>
            <a:r>
              <a:rPr b="1" spc="-15" dirty="0">
                <a:solidFill>
                  <a:srgbClr val="FFC000"/>
                </a:solidFill>
              </a:rPr>
              <a:t>b</a:t>
            </a:r>
            <a:r>
              <a:rPr b="1" spc="5" dirty="0">
                <a:solidFill>
                  <a:srgbClr val="FFC000"/>
                </a:solidFill>
              </a:rPr>
              <a:t>r</a:t>
            </a:r>
            <a:r>
              <a:rPr b="1" spc="-5" dirty="0">
                <a:solidFill>
                  <a:srgbClr val="FFC000"/>
                </a:solidFill>
              </a:rPr>
              <a:t>e</a:t>
            </a:r>
            <a:r>
              <a:rPr b="1" dirty="0">
                <a:solidFill>
                  <a:srgbClr val="FFC000"/>
                </a:solidFill>
              </a:rPr>
              <a:t>ve</a:t>
            </a:r>
            <a:r>
              <a:rPr b="1" spc="-10" dirty="0">
                <a:solidFill>
                  <a:srgbClr val="FFC000"/>
                </a:solidFill>
              </a:rPr>
              <a:t> </a:t>
            </a:r>
            <a:r>
              <a:rPr b="1" spc="-15" dirty="0">
                <a:solidFill>
                  <a:srgbClr val="FFC000"/>
                </a:solidFill>
              </a:rPr>
              <a:t>p</a:t>
            </a:r>
            <a:r>
              <a:rPr b="1" spc="5" dirty="0">
                <a:solidFill>
                  <a:srgbClr val="FFC000"/>
                </a:solidFill>
              </a:rPr>
              <a:t>re</a:t>
            </a:r>
            <a:r>
              <a:rPr b="1" spc="-10" dirty="0">
                <a:solidFill>
                  <a:srgbClr val="FFC000"/>
                </a:solidFill>
              </a:rPr>
              <a:t>m</a:t>
            </a:r>
            <a:r>
              <a:rPr b="1" spc="5" dirty="0">
                <a:solidFill>
                  <a:srgbClr val="FFC000"/>
                </a:solidFill>
              </a:rPr>
              <a:t>e</a:t>
            </a:r>
            <a:r>
              <a:rPr b="1" spc="-5" dirty="0">
                <a:solidFill>
                  <a:srgbClr val="FFC000"/>
                </a:solidFill>
              </a:rPr>
              <a:t>ss</a:t>
            </a:r>
            <a:r>
              <a:rPr b="1" dirty="0">
                <a:solidFill>
                  <a:srgbClr val="FFC000"/>
                </a:solidFill>
              </a:rPr>
              <a:t>a	...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4497" y="1065530"/>
            <a:ext cx="11419110" cy="4912369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466090" marR="161925" indent="-339090" algn="just">
              <a:lnSpc>
                <a:spcPct val="90000"/>
              </a:lnSpc>
              <a:spcBef>
                <a:spcPts val="409"/>
              </a:spcBef>
              <a:buClr>
                <a:srgbClr val="FF0000"/>
              </a:buClr>
              <a:buSzPct val="90384"/>
              <a:buFont typeface="Wingdings"/>
              <a:buChar char=""/>
              <a:tabLst>
                <a:tab pos="466090" algn="l"/>
              </a:tabLst>
            </a:pPr>
            <a:r>
              <a:rPr sz="2600" spc="-5" dirty="0">
                <a:latin typeface="Times New Roman"/>
                <a:cs typeface="Times New Roman"/>
              </a:rPr>
              <a:t>Più </a:t>
            </a:r>
            <a:r>
              <a:rPr sz="2600" dirty="0">
                <a:latin typeface="Times New Roman"/>
                <a:cs typeface="Times New Roman"/>
              </a:rPr>
              <a:t>nel </a:t>
            </a:r>
            <a:r>
              <a:rPr sz="2600" spc="-5" dirty="0">
                <a:latin typeface="Times New Roman"/>
                <a:cs typeface="Times New Roman"/>
              </a:rPr>
              <a:t>dettaglio, </a:t>
            </a:r>
            <a:r>
              <a:rPr sz="2600" spc="-5" dirty="0">
                <a:solidFill>
                  <a:srgbClr val="FFC000"/>
                </a:solidFill>
                <a:latin typeface="Times New Roman"/>
                <a:cs typeface="Times New Roman"/>
              </a:rPr>
              <a:t>l’</a:t>
            </a:r>
            <a:r>
              <a:rPr sz="2600" b="1" spc="-5" dirty="0">
                <a:solidFill>
                  <a:srgbClr val="FFC000"/>
                </a:solidFill>
                <a:latin typeface="Times New Roman"/>
                <a:cs typeface="Times New Roman"/>
              </a:rPr>
              <a:t>informatica giuridica </a:t>
            </a:r>
            <a:r>
              <a:rPr sz="2600" b="1" dirty="0">
                <a:latin typeface="Times New Roman"/>
                <a:cs typeface="Times New Roman"/>
              </a:rPr>
              <a:t>è </a:t>
            </a:r>
            <a:r>
              <a:rPr sz="2600" spc="-5" dirty="0">
                <a:latin typeface="Times New Roman"/>
                <a:cs typeface="Times New Roman"/>
              </a:rPr>
              <a:t>disciplina  scientifica </a:t>
            </a:r>
            <a:r>
              <a:rPr sz="2600" dirty="0">
                <a:latin typeface="Times New Roman"/>
                <a:cs typeface="Times New Roman"/>
              </a:rPr>
              <a:t>che </a:t>
            </a:r>
            <a:r>
              <a:rPr sz="2600" spc="-5" dirty="0">
                <a:latin typeface="Times New Roman"/>
                <a:cs typeface="Times New Roman"/>
              </a:rPr>
              <a:t>si </a:t>
            </a:r>
            <a:r>
              <a:rPr sz="2600" dirty="0">
                <a:latin typeface="Times New Roman"/>
                <a:cs typeface="Times New Roman"/>
              </a:rPr>
              <a:t>occupa di banche </a:t>
            </a:r>
            <a:r>
              <a:rPr sz="2600" spc="-5" dirty="0">
                <a:latin typeface="Times New Roman"/>
                <a:cs typeface="Times New Roman"/>
              </a:rPr>
              <a:t>dati giuridici, automazione  nelle </a:t>
            </a:r>
            <a:r>
              <a:rPr sz="2600" dirty="0">
                <a:latin typeface="Times New Roman"/>
                <a:cs typeface="Times New Roman"/>
              </a:rPr>
              <a:t>pubbliche </a:t>
            </a:r>
            <a:r>
              <a:rPr sz="2600" spc="-5" dirty="0">
                <a:latin typeface="Times New Roman"/>
                <a:cs typeface="Times New Roman"/>
              </a:rPr>
              <a:t>amministrazioni, </a:t>
            </a:r>
            <a:r>
              <a:rPr sz="2600" spc="-10" dirty="0">
                <a:latin typeface="Times New Roman"/>
                <a:cs typeface="Times New Roman"/>
              </a:rPr>
              <a:t>sistemi </a:t>
            </a:r>
            <a:r>
              <a:rPr sz="2600" spc="-5" dirty="0">
                <a:latin typeface="Times New Roman"/>
                <a:cs typeface="Times New Roman"/>
              </a:rPr>
              <a:t>esperti giuridici,  automazione giudiziaria, </a:t>
            </a:r>
            <a:r>
              <a:rPr sz="2600" dirty="0">
                <a:latin typeface="Times New Roman"/>
                <a:cs typeface="Times New Roman"/>
              </a:rPr>
              <a:t>...</a:t>
            </a:r>
          </a:p>
          <a:p>
            <a:pPr marL="466090" marR="106680" indent="-339090" algn="just">
              <a:lnSpc>
                <a:spcPct val="89900"/>
              </a:lnSpc>
              <a:spcBef>
                <a:spcPts val="1805"/>
              </a:spcBef>
              <a:buClr>
                <a:srgbClr val="FF0000"/>
              </a:buClr>
              <a:buSzPct val="90384"/>
              <a:buFont typeface="Wingdings"/>
              <a:buChar char=""/>
              <a:tabLst>
                <a:tab pos="466090" algn="l"/>
              </a:tabLst>
            </a:pPr>
            <a:r>
              <a:rPr sz="2600" spc="-5" dirty="0">
                <a:latin typeface="Times New Roman"/>
                <a:cs typeface="Times New Roman"/>
              </a:rPr>
              <a:t>Il </a:t>
            </a:r>
            <a:r>
              <a:rPr sz="2600" b="1" spc="-5" dirty="0">
                <a:solidFill>
                  <a:srgbClr val="FFC000"/>
                </a:solidFill>
                <a:latin typeface="Times New Roman"/>
                <a:cs typeface="Times New Roman"/>
              </a:rPr>
              <a:t>diritto dell’informatica</a:t>
            </a:r>
            <a:r>
              <a:rPr sz="2600" spc="-5" dirty="0">
                <a:latin typeface="Times New Roman"/>
                <a:cs typeface="Times New Roman"/>
              </a:rPr>
              <a:t>, invece, </a:t>
            </a:r>
            <a:r>
              <a:rPr sz="2600" dirty="0">
                <a:latin typeface="Times New Roman"/>
                <a:cs typeface="Times New Roman"/>
              </a:rPr>
              <a:t>è </a:t>
            </a:r>
            <a:r>
              <a:rPr sz="2600" spc="-5" dirty="0">
                <a:latin typeface="Times New Roman"/>
                <a:cs typeface="Times New Roman"/>
              </a:rPr>
              <a:t>la disciplina </a:t>
            </a:r>
            <a:r>
              <a:rPr sz="2600" dirty="0">
                <a:latin typeface="Times New Roman"/>
                <a:cs typeface="Times New Roman"/>
              </a:rPr>
              <a:t>che </a:t>
            </a:r>
            <a:r>
              <a:rPr sz="2600" spc="-5" dirty="0">
                <a:latin typeface="Times New Roman"/>
                <a:cs typeface="Times New Roman"/>
              </a:rPr>
              <a:t>si  </a:t>
            </a:r>
            <a:r>
              <a:rPr sz="2600" dirty="0">
                <a:latin typeface="Times New Roman"/>
                <a:cs typeface="Times New Roman"/>
              </a:rPr>
              <a:t>occupa </a:t>
            </a:r>
            <a:r>
              <a:rPr sz="2600" spc="-5" dirty="0">
                <a:latin typeface="Times New Roman"/>
                <a:cs typeface="Times New Roman"/>
              </a:rPr>
              <a:t>delle norme </a:t>
            </a:r>
            <a:r>
              <a:rPr sz="2600" dirty="0">
                <a:latin typeface="Times New Roman"/>
                <a:cs typeface="Times New Roman"/>
              </a:rPr>
              <a:t>che </a:t>
            </a:r>
            <a:r>
              <a:rPr sz="2600" spc="-5" dirty="0">
                <a:latin typeface="Times New Roman"/>
                <a:cs typeface="Times New Roman"/>
              </a:rPr>
              <a:t>regolano la tutela </a:t>
            </a:r>
            <a:r>
              <a:rPr sz="2600" dirty="0">
                <a:latin typeface="Times New Roman"/>
                <a:cs typeface="Times New Roman"/>
              </a:rPr>
              <a:t>dei dati </a:t>
            </a:r>
            <a:r>
              <a:rPr sz="2600" spc="-5" dirty="0">
                <a:latin typeface="Times New Roman"/>
                <a:cs typeface="Times New Roman"/>
              </a:rPr>
              <a:t>personali, la  tutela giuridica </a:t>
            </a:r>
            <a:r>
              <a:rPr sz="2600" dirty="0">
                <a:latin typeface="Times New Roman"/>
                <a:cs typeface="Times New Roman"/>
              </a:rPr>
              <a:t>del </a:t>
            </a:r>
            <a:r>
              <a:rPr sz="2600" spc="-5" dirty="0">
                <a:latin typeface="Times New Roman"/>
                <a:cs typeface="Times New Roman"/>
              </a:rPr>
              <a:t>software </a:t>
            </a:r>
            <a:r>
              <a:rPr sz="2600" dirty="0">
                <a:latin typeface="Times New Roman"/>
                <a:cs typeface="Times New Roman"/>
              </a:rPr>
              <a:t>e </a:t>
            </a:r>
            <a:r>
              <a:rPr sz="2600" spc="-5" dirty="0">
                <a:latin typeface="Times New Roman"/>
                <a:cs typeface="Times New Roman"/>
              </a:rPr>
              <a:t>delle </a:t>
            </a:r>
            <a:r>
              <a:rPr sz="2600" dirty="0">
                <a:latin typeface="Times New Roman"/>
                <a:cs typeface="Times New Roman"/>
              </a:rPr>
              <a:t>banche </a:t>
            </a:r>
            <a:r>
              <a:rPr sz="2600" spc="-5" dirty="0">
                <a:latin typeface="Times New Roman"/>
                <a:cs typeface="Times New Roman"/>
              </a:rPr>
              <a:t>dati, il commercio  elettronico, la validità giuridica </a:t>
            </a:r>
            <a:r>
              <a:rPr sz="2600" dirty="0">
                <a:latin typeface="Times New Roman"/>
                <a:cs typeface="Times New Roman"/>
              </a:rPr>
              <a:t>del </a:t>
            </a:r>
            <a:r>
              <a:rPr sz="2600" spc="-5" dirty="0">
                <a:latin typeface="Times New Roman"/>
                <a:cs typeface="Times New Roman"/>
              </a:rPr>
              <a:t>documento informatico </a:t>
            </a:r>
            <a:r>
              <a:rPr sz="2600" dirty="0">
                <a:latin typeface="Times New Roman"/>
                <a:cs typeface="Times New Roman"/>
              </a:rPr>
              <a:t>e  </a:t>
            </a:r>
            <a:r>
              <a:rPr sz="2600" spc="-5" dirty="0">
                <a:latin typeface="Times New Roman"/>
                <a:cs typeface="Times New Roman"/>
              </a:rPr>
              <a:t>l’uso della firma digitale, </a:t>
            </a:r>
            <a:r>
              <a:rPr sz="2600" dirty="0">
                <a:latin typeface="Times New Roman"/>
                <a:cs typeface="Times New Roman"/>
              </a:rPr>
              <a:t>i </a:t>
            </a:r>
            <a:r>
              <a:rPr sz="2600" spc="-5" dirty="0">
                <a:latin typeface="Times New Roman"/>
                <a:cs typeface="Times New Roman"/>
              </a:rPr>
              <a:t>reati informatici, il diritto d’autore  in internet, la monetica, le comunicazioni elettroniche,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...</a:t>
            </a:r>
          </a:p>
          <a:p>
            <a:pPr marL="900113" marR="497840" indent="-773113" algn="just">
              <a:lnSpc>
                <a:spcPct val="89900"/>
              </a:lnSpc>
              <a:spcBef>
                <a:spcPts val="2405"/>
              </a:spcBef>
            </a:pPr>
            <a:r>
              <a:rPr sz="3525" spc="5032" baseline="5910" dirty="0">
                <a:latin typeface="Wingdings"/>
                <a:cs typeface="Wingdings"/>
              </a:rPr>
              <a:t></a:t>
            </a:r>
            <a:r>
              <a:rPr sz="3525" spc="37" baseline="59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Se </a:t>
            </a:r>
            <a:r>
              <a:rPr sz="2600" spc="-5" dirty="0">
                <a:latin typeface="Times New Roman"/>
                <a:cs typeface="Times New Roman"/>
              </a:rPr>
              <a:t>la prima </a:t>
            </a:r>
            <a:r>
              <a:rPr sz="2600" spc="-10" dirty="0">
                <a:latin typeface="Times New Roman"/>
                <a:cs typeface="Times New Roman"/>
              </a:rPr>
              <a:t>materia </a:t>
            </a:r>
            <a:r>
              <a:rPr sz="2600" dirty="0">
                <a:latin typeface="Times New Roman"/>
                <a:cs typeface="Times New Roman"/>
              </a:rPr>
              <a:t>può </a:t>
            </a:r>
            <a:r>
              <a:rPr sz="2600" spc="-5" dirty="0">
                <a:latin typeface="Times New Roman"/>
                <a:cs typeface="Times New Roman"/>
              </a:rPr>
              <a:t>essere lasciata agli operatori </a:t>
            </a:r>
            <a:r>
              <a:rPr sz="2600" spc="-90" dirty="0">
                <a:latin typeface="Times New Roman"/>
                <a:cs typeface="Times New Roman"/>
              </a:rPr>
              <a:t>del  </a:t>
            </a:r>
            <a:r>
              <a:rPr sz="2600" spc="-5" dirty="0">
                <a:latin typeface="Times New Roman"/>
                <a:cs typeface="Times New Roman"/>
              </a:rPr>
              <a:t>diritto, la </a:t>
            </a:r>
            <a:r>
              <a:rPr sz="2600" dirty="0">
                <a:latin typeface="Times New Roman"/>
                <a:cs typeface="Times New Roman"/>
              </a:rPr>
              <a:t>seconda oggi deve </a:t>
            </a:r>
            <a:r>
              <a:rPr sz="2600" spc="-10" dirty="0">
                <a:latin typeface="Times New Roman"/>
                <a:cs typeface="Times New Roman"/>
              </a:rPr>
              <a:t>essere </a:t>
            </a:r>
            <a:r>
              <a:rPr sz="2600" spc="-5" dirty="0">
                <a:latin typeface="Times New Roman"/>
                <a:cs typeface="Times New Roman"/>
              </a:rPr>
              <a:t>conosciuta, seppure </a:t>
            </a:r>
            <a:r>
              <a:rPr sz="2600" dirty="0">
                <a:latin typeface="Times New Roman"/>
                <a:cs typeface="Times New Roman"/>
              </a:rPr>
              <a:t>con  </a:t>
            </a:r>
            <a:r>
              <a:rPr sz="2600" spc="-5" dirty="0">
                <a:latin typeface="Times New Roman"/>
                <a:cs typeface="Times New Roman"/>
              </a:rPr>
              <a:t>diversi livelli </a:t>
            </a:r>
            <a:r>
              <a:rPr sz="2600" dirty="0">
                <a:latin typeface="Times New Roman"/>
                <a:cs typeface="Times New Roman"/>
              </a:rPr>
              <a:t>di approfondimento, da </a:t>
            </a:r>
            <a:r>
              <a:rPr sz="2600" dirty="0" smtClean="0">
                <a:latin typeface="Times New Roman"/>
                <a:cs typeface="Times New Roman"/>
              </a:rPr>
              <a:t>chiunque</a:t>
            </a:r>
            <a:r>
              <a:rPr lang="it-IT" sz="2600" dirty="0">
                <a:latin typeface="Times New Roman"/>
                <a:cs typeface="Times New Roman"/>
              </a:rPr>
              <a:t> </a:t>
            </a:r>
            <a:r>
              <a:rPr lang="it-IT" sz="2600" dirty="0" smtClean="0">
                <a:latin typeface="Times New Roman"/>
                <a:cs typeface="Times New Roman"/>
              </a:rPr>
              <a:t>utilizzi le nuove </a:t>
            </a:r>
            <a:r>
              <a:rPr lang="it-IT" sz="2600" dirty="0">
                <a:latin typeface="Times New Roman"/>
                <a:cs typeface="Times New Roman"/>
              </a:rPr>
              <a:t>tecnologie, quindi </a:t>
            </a:r>
            <a:r>
              <a:rPr lang="it-IT" sz="2600" b="1" dirty="0">
                <a:latin typeface="Times New Roman"/>
                <a:cs typeface="Times New Roman"/>
              </a:rPr>
              <a:t>da </a:t>
            </a:r>
            <a:r>
              <a:rPr lang="it-IT" sz="2600" b="1" spc="-5" dirty="0" smtClean="0">
                <a:latin typeface="Times New Roman"/>
                <a:cs typeface="Times New Roman"/>
              </a:rPr>
              <a:t>tutti</a:t>
            </a:r>
            <a:r>
              <a:rPr lang="it-IT" sz="2600" dirty="0" smtClean="0">
                <a:latin typeface="Times New Roman"/>
                <a:cs typeface="Times New Roman"/>
              </a:rPr>
              <a:t>!!!</a:t>
            </a:r>
            <a:endParaRPr sz="2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32167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16825" y="6271259"/>
            <a:ext cx="1524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Times New Roman"/>
                <a:cs typeface="Times New Roman"/>
              </a:rPr>
              <a:t>4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 idx="4294967295"/>
          </p:nvPr>
        </p:nvSpPr>
        <p:spPr>
          <a:xfrm>
            <a:off x="914399" y="242231"/>
            <a:ext cx="8333609" cy="69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82055" algn="l"/>
              </a:tabLst>
            </a:pPr>
            <a:r>
              <a:rPr sz="4400" spc="-5" dirty="0">
                <a:solidFill>
                  <a:srgbClr val="FFC000"/>
                </a:solidFill>
              </a:rPr>
              <a:t>I</a:t>
            </a:r>
            <a:r>
              <a:rPr sz="4400" dirty="0">
                <a:solidFill>
                  <a:srgbClr val="FFC000"/>
                </a:solidFill>
              </a:rPr>
              <a:t>l</a:t>
            </a:r>
            <a:r>
              <a:rPr sz="4400" spc="5" dirty="0">
                <a:solidFill>
                  <a:srgbClr val="FFC000"/>
                </a:solidFill>
              </a:rPr>
              <a:t> </a:t>
            </a:r>
            <a:r>
              <a:rPr sz="4400" spc="-5" dirty="0">
                <a:solidFill>
                  <a:srgbClr val="FFC000"/>
                </a:solidFill>
              </a:rPr>
              <a:t>di</a:t>
            </a:r>
            <a:r>
              <a:rPr sz="4400" dirty="0">
                <a:solidFill>
                  <a:srgbClr val="FFC000"/>
                </a:solidFill>
              </a:rPr>
              <a:t>r</a:t>
            </a:r>
            <a:r>
              <a:rPr sz="4400" spc="-5" dirty="0">
                <a:solidFill>
                  <a:srgbClr val="FFC000"/>
                </a:solidFill>
              </a:rPr>
              <a:t>it</a:t>
            </a:r>
            <a:r>
              <a:rPr sz="4400" spc="-10" dirty="0">
                <a:solidFill>
                  <a:srgbClr val="FFC000"/>
                </a:solidFill>
              </a:rPr>
              <a:t>t</a:t>
            </a:r>
            <a:r>
              <a:rPr sz="4400" dirty="0">
                <a:solidFill>
                  <a:srgbClr val="FFC000"/>
                </a:solidFill>
              </a:rPr>
              <a:t>o </a:t>
            </a:r>
            <a:r>
              <a:rPr sz="4400" spc="-5" dirty="0">
                <a:solidFill>
                  <a:srgbClr val="FFC000"/>
                </a:solidFill>
              </a:rPr>
              <a:t>d</a:t>
            </a:r>
            <a:r>
              <a:rPr sz="4400" dirty="0">
                <a:solidFill>
                  <a:srgbClr val="FFC000"/>
                </a:solidFill>
              </a:rPr>
              <a:t>e</a:t>
            </a:r>
            <a:r>
              <a:rPr sz="4400" spc="-5" dirty="0">
                <a:solidFill>
                  <a:srgbClr val="FFC000"/>
                </a:solidFill>
              </a:rPr>
              <a:t>ll</a:t>
            </a:r>
            <a:r>
              <a:rPr sz="4400" spc="5" dirty="0">
                <a:solidFill>
                  <a:srgbClr val="FFC000"/>
                </a:solidFill>
              </a:rPr>
              <a:t>'</a:t>
            </a:r>
            <a:r>
              <a:rPr sz="4400" spc="-5" dirty="0">
                <a:solidFill>
                  <a:srgbClr val="FFC000"/>
                </a:solidFill>
              </a:rPr>
              <a:t>in</a:t>
            </a:r>
            <a:r>
              <a:rPr sz="4400" spc="-10" dirty="0">
                <a:solidFill>
                  <a:srgbClr val="FFC000"/>
                </a:solidFill>
              </a:rPr>
              <a:t>f</a:t>
            </a:r>
            <a:r>
              <a:rPr sz="4400" dirty="0">
                <a:solidFill>
                  <a:srgbClr val="FFC000"/>
                </a:solidFill>
              </a:rPr>
              <a:t>orma</a:t>
            </a:r>
            <a:r>
              <a:rPr sz="4400" spc="-5" dirty="0">
                <a:solidFill>
                  <a:srgbClr val="FFC000"/>
                </a:solidFill>
              </a:rPr>
              <a:t>t</a:t>
            </a:r>
            <a:r>
              <a:rPr sz="4400" spc="5" dirty="0">
                <a:solidFill>
                  <a:srgbClr val="FFC000"/>
                </a:solidFill>
              </a:rPr>
              <a:t>i</a:t>
            </a:r>
            <a:r>
              <a:rPr sz="4400" spc="-5" dirty="0">
                <a:solidFill>
                  <a:srgbClr val="FFC000"/>
                </a:solidFill>
              </a:rPr>
              <a:t>c</a:t>
            </a:r>
            <a:r>
              <a:rPr sz="4400" dirty="0">
                <a:solidFill>
                  <a:srgbClr val="FFC000"/>
                </a:solidFill>
              </a:rPr>
              <a:t>a	…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9121" y="1079763"/>
            <a:ext cx="10887287" cy="5613075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49885" marR="648970" indent="-337820" algn="just">
              <a:lnSpc>
                <a:spcPts val="2960"/>
              </a:lnSpc>
              <a:spcBef>
                <a:spcPts val="330"/>
              </a:spcBef>
              <a:buClr>
                <a:srgbClr val="FF0000"/>
              </a:buClr>
              <a:buFont typeface="Wingdings"/>
              <a:buChar char=""/>
              <a:tabLst>
                <a:tab pos="350520" algn="l"/>
              </a:tabLst>
            </a:pP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si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occupa del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“diritto positivo” relativo alle tecnologie  dell’informazione ed in</a:t>
            </a:r>
            <a:r>
              <a:rPr sz="3200" b="1" spc="10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particolare</a:t>
            </a:r>
            <a:endParaRPr sz="3200" b="1" dirty="0">
              <a:solidFill>
                <a:schemeClr val="tx1">
                  <a:lumMod val="95000"/>
                </a:schemeClr>
              </a:solidFill>
              <a:latin typeface="Times New Roman"/>
              <a:cs typeface="Times New Roman"/>
            </a:endParaRPr>
          </a:p>
          <a:p>
            <a:pPr marL="749935" marR="585470" indent="-280670" algn="just">
              <a:lnSpc>
                <a:spcPts val="2960"/>
              </a:lnSpc>
              <a:spcBef>
                <a:spcPts val="700"/>
              </a:spcBef>
              <a:tabLst>
                <a:tab pos="6975475" algn="l"/>
              </a:tabLst>
            </a:pPr>
            <a:r>
              <a:rPr sz="3200" b="1" baseline="320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– 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di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legislazione,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di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giurisprudenza </a:t>
            </a:r>
            <a:r>
              <a:rPr sz="3200" b="1" dirty="0" smtClean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e</a:t>
            </a:r>
            <a:r>
              <a:rPr lang="it-IT" sz="3200" b="1" dirty="0" smtClean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b="1" spc="-335" dirty="0" smtClean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di</a:t>
            </a:r>
            <a:r>
              <a:rPr sz="3200" b="1" spc="10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dottrina	in  </a:t>
            </a:r>
            <a:r>
              <a:rPr sz="3200" b="1" spc="-10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materia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di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informatica, telematica, internet,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e nuove 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tecnologie</a:t>
            </a:r>
            <a:r>
              <a:rPr sz="3200" b="1" spc="-10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dell’informazione.</a:t>
            </a:r>
            <a:endParaRPr sz="3200" b="1" dirty="0">
              <a:solidFill>
                <a:schemeClr val="tx1">
                  <a:lumMod val="95000"/>
                </a:schemeClr>
              </a:solidFill>
              <a:latin typeface="Times New Roman"/>
              <a:cs typeface="Times New Roman"/>
            </a:endParaRPr>
          </a:p>
          <a:p>
            <a:pPr marL="349885" marR="198755" indent="-337820">
              <a:lnSpc>
                <a:spcPts val="2960"/>
              </a:lnSpc>
              <a:spcBef>
                <a:spcPts val="1810"/>
              </a:spcBef>
              <a:buClr>
                <a:srgbClr val="FF0000"/>
              </a:buClr>
              <a:buFont typeface="Wingdings"/>
              <a:buChar char=""/>
              <a:tabLst>
                <a:tab pos="350520" algn="l"/>
              </a:tabLst>
            </a:pP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nasce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e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si sviluppa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con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l’utilizzo diffuso delle tecnologie  dell’informazione ed in particolare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del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personal</a:t>
            </a:r>
            <a:r>
              <a:rPr sz="3200" b="1" spc="10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computer</a:t>
            </a:r>
          </a:p>
          <a:p>
            <a:pPr marL="349885" marR="5080" indent="-337820">
              <a:lnSpc>
                <a:spcPct val="95000"/>
              </a:lnSpc>
              <a:spcBef>
                <a:spcPts val="1725"/>
              </a:spcBef>
              <a:buClr>
                <a:srgbClr val="FF0000"/>
              </a:buClr>
              <a:buFont typeface="Wingdings"/>
              <a:buChar char=""/>
              <a:tabLst>
                <a:tab pos="350520" algn="l"/>
              </a:tabLst>
            </a:pPr>
            <a:r>
              <a:rPr sz="3200" b="1" spc="-10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ma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la </a:t>
            </a:r>
            <a:r>
              <a:rPr sz="3200" b="1" spc="-10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massima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espansione la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ottiene con l’avvento, e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la  diffusione, della rete Internet,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che porta nuove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applicazioni 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e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servizi (si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pensi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alle capacità comunicative della posta  elettronica,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o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diffusive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del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web),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o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aumenta caratteristiche  </a:t>
            </a:r>
            <a:r>
              <a:rPr sz="3200" b="1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di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quelle</a:t>
            </a:r>
            <a:r>
              <a:rPr sz="3200" b="1" spc="-20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3200" b="1" spc="-5" dirty="0">
                <a:solidFill>
                  <a:schemeClr val="tx1">
                    <a:lumMod val="95000"/>
                  </a:schemeClr>
                </a:solidFill>
                <a:latin typeface="Times New Roman"/>
                <a:cs typeface="Times New Roman"/>
              </a:rPr>
              <a:t>esistenti.</a:t>
            </a:r>
            <a:endParaRPr sz="3200" b="1" dirty="0">
              <a:solidFill>
                <a:schemeClr val="tx1">
                  <a:lumMod val="95000"/>
                </a:schemeClr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4794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72054" y="147638"/>
            <a:ext cx="8065595" cy="695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82055" algn="l"/>
              </a:tabLst>
            </a:pPr>
            <a:r>
              <a:rPr sz="4400" spc="-5" dirty="0">
                <a:solidFill>
                  <a:srgbClr val="FFC000"/>
                </a:solidFill>
              </a:rPr>
              <a:t>I</a:t>
            </a:r>
            <a:r>
              <a:rPr sz="4400" dirty="0">
                <a:solidFill>
                  <a:srgbClr val="FFC000"/>
                </a:solidFill>
              </a:rPr>
              <a:t>l</a:t>
            </a:r>
            <a:r>
              <a:rPr sz="4400" spc="5" dirty="0">
                <a:solidFill>
                  <a:srgbClr val="FFC000"/>
                </a:solidFill>
              </a:rPr>
              <a:t> </a:t>
            </a:r>
            <a:r>
              <a:rPr sz="4400" spc="-5" dirty="0">
                <a:solidFill>
                  <a:srgbClr val="FFC000"/>
                </a:solidFill>
              </a:rPr>
              <a:t>di</a:t>
            </a:r>
            <a:r>
              <a:rPr sz="4400" dirty="0">
                <a:solidFill>
                  <a:srgbClr val="FFC000"/>
                </a:solidFill>
              </a:rPr>
              <a:t>r</a:t>
            </a:r>
            <a:r>
              <a:rPr sz="4400" spc="-5" dirty="0">
                <a:solidFill>
                  <a:srgbClr val="FFC000"/>
                </a:solidFill>
              </a:rPr>
              <a:t>it</a:t>
            </a:r>
            <a:r>
              <a:rPr sz="4400" spc="-10" dirty="0">
                <a:solidFill>
                  <a:srgbClr val="FFC000"/>
                </a:solidFill>
              </a:rPr>
              <a:t>t</a:t>
            </a:r>
            <a:r>
              <a:rPr sz="4400" dirty="0">
                <a:solidFill>
                  <a:srgbClr val="FFC000"/>
                </a:solidFill>
              </a:rPr>
              <a:t>o </a:t>
            </a:r>
            <a:r>
              <a:rPr sz="4400" spc="-5" dirty="0">
                <a:solidFill>
                  <a:srgbClr val="FFC000"/>
                </a:solidFill>
              </a:rPr>
              <a:t>d</a:t>
            </a:r>
            <a:r>
              <a:rPr sz="4400" dirty="0">
                <a:solidFill>
                  <a:srgbClr val="FFC000"/>
                </a:solidFill>
              </a:rPr>
              <a:t>e</a:t>
            </a:r>
            <a:r>
              <a:rPr sz="4400" spc="-5" dirty="0">
                <a:solidFill>
                  <a:srgbClr val="FFC000"/>
                </a:solidFill>
              </a:rPr>
              <a:t>ll</a:t>
            </a:r>
            <a:r>
              <a:rPr sz="4400" spc="5" dirty="0">
                <a:solidFill>
                  <a:srgbClr val="FFC000"/>
                </a:solidFill>
              </a:rPr>
              <a:t>'</a:t>
            </a:r>
            <a:r>
              <a:rPr sz="4400" spc="-5" dirty="0">
                <a:solidFill>
                  <a:srgbClr val="FFC000"/>
                </a:solidFill>
              </a:rPr>
              <a:t>in</a:t>
            </a:r>
            <a:r>
              <a:rPr sz="4400" spc="-10" dirty="0">
                <a:solidFill>
                  <a:srgbClr val="FFC000"/>
                </a:solidFill>
              </a:rPr>
              <a:t>f</a:t>
            </a:r>
            <a:r>
              <a:rPr sz="4400" dirty="0">
                <a:solidFill>
                  <a:srgbClr val="FFC000"/>
                </a:solidFill>
              </a:rPr>
              <a:t>orma</a:t>
            </a:r>
            <a:r>
              <a:rPr sz="4400" spc="-5" dirty="0">
                <a:solidFill>
                  <a:srgbClr val="FFC000"/>
                </a:solidFill>
              </a:rPr>
              <a:t>t</a:t>
            </a:r>
            <a:r>
              <a:rPr sz="4400" spc="5" dirty="0">
                <a:solidFill>
                  <a:srgbClr val="FFC000"/>
                </a:solidFill>
              </a:rPr>
              <a:t>i</a:t>
            </a:r>
            <a:r>
              <a:rPr sz="4400" spc="-5" dirty="0">
                <a:solidFill>
                  <a:srgbClr val="FFC000"/>
                </a:solidFill>
              </a:rPr>
              <a:t>c</a:t>
            </a:r>
            <a:r>
              <a:rPr sz="4400" dirty="0">
                <a:solidFill>
                  <a:srgbClr val="FFC000"/>
                </a:solidFill>
              </a:rPr>
              <a:t>a	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1337" y="944879"/>
            <a:ext cx="11018081" cy="5240281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6350" marR="767080">
              <a:lnSpc>
                <a:spcPts val="2730"/>
              </a:lnSpc>
              <a:spcBef>
                <a:spcPts val="315"/>
              </a:spcBef>
            </a:pPr>
            <a:r>
              <a:rPr sz="2400" b="1" spc="-5" dirty="0">
                <a:latin typeface="Times New Roman"/>
                <a:cs typeface="Times New Roman"/>
              </a:rPr>
              <a:t>Si </a:t>
            </a:r>
            <a:r>
              <a:rPr sz="2400" b="1" dirty="0">
                <a:latin typeface="Times New Roman"/>
                <a:cs typeface="Times New Roman"/>
              </a:rPr>
              <a:t>distinguono tre </a:t>
            </a:r>
            <a:r>
              <a:rPr sz="2400" b="1" spc="-5" dirty="0">
                <a:latin typeface="Times New Roman"/>
                <a:cs typeface="Times New Roman"/>
              </a:rPr>
              <a:t>fasi </a:t>
            </a:r>
            <a:r>
              <a:rPr sz="2400" b="1" dirty="0">
                <a:latin typeface="Times New Roman"/>
                <a:cs typeface="Times New Roman"/>
              </a:rPr>
              <a:t>di sviluppo della </a:t>
            </a:r>
            <a:r>
              <a:rPr sz="2400" b="1" spc="-5" dirty="0">
                <a:latin typeface="Times New Roman"/>
                <a:cs typeface="Times New Roman"/>
              </a:rPr>
              <a:t>materia, parallele </a:t>
            </a:r>
            <a:r>
              <a:rPr sz="2400" b="1" dirty="0">
                <a:latin typeface="Times New Roman"/>
                <a:cs typeface="Times New Roman"/>
              </a:rPr>
              <a:t>allo  </a:t>
            </a:r>
            <a:r>
              <a:rPr sz="2400" b="1" spc="-5" dirty="0">
                <a:latin typeface="Times New Roman"/>
                <a:cs typeface="Times New Roman"/>
              </a:rPr>
              <a:t>sviluppo </a:t>
            </a:r>
            <a:r>
              <a:rPr sz="2400" b="1" dirty="0">
                <a:latin typeface="Times New Roman"/>
                <a:cs typeface="Times New Roman"/>
              </a:rPr>
              <a:t>e </a:t>
            </a:r>
            <a:r>
              <a:rPr sz="2400" b="1" spc="-5" dirty="0">
                <a:latin typeface="Times New Roman"/>
                <a:cs typeface="Times New Roman"/>
              </a:rPr>
              <a:t>diffusione </a:t>
            </a:r>
            <a:r>
              <a:rPr sz="2400" b="1" dirty="0">
                <a:latin typeface="Times New Roman"/>
                <a:cs typeface="Times New Roman"/>
              </a:rPr>
              <a:t>delle </a:t>
            </a:r>
            <a:r>
              <a:rPr sz="2400" b="1" spc="-5" dirty="0">
                <a:latin typeface="Times New Roman"/>
                <a:cs typeface="Times New Roman"/>
              </a:rPr>
              <a:t>nuove </a:t>
            </a:r>
            <a:r>
              <a:rPr sz="2400" b="1" dirty="0">
                <a:latin typeface="Times New Roman"/>
                <a:cs typeface="Times New Roman"/>
              </a:rPr>
              <a:t>tecnologie nel nostro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Paese:</a:t>
            </a:r>
            <a:endParaRPr sz="2400" b="1" dirty="0">
              <a:latin typeface="Times New Roman"/>
              <a:cs typeface="Times New Roman"/>
            </a:endParaRPr>
          </a:p>
          <a:p>
            <a:pPr marL="342900" marR="165735" indent="-342900" algn="just">
              <a:lnSpc>
                <a:spcPct val="95000"/>
              </a:lnSpc>
              <a:spcBef>
                <a:spcPts val="1140"/>
              </a:spcBef>
              <a:buFont typeface="Wingdings" panose="05000000000000000000" pitchFamily="2" charset="2"/>
              <a:buChar char="Ø"/>
            </a:pPr>
            <a:r>
              <a:rPr sz="2400" b="1" spc="-5" dirty="0" smtClean="0">
                <a:latin typeface="Times New Roman"/>
                <a:cs typeface="Times New Roman"/>
              </a:rPr>
              <a:t>una </a:t>
            </a:r>
            <a:r>
              <a:rPr sz="2400" b="1" spc="-5" dirty="0">
                <a:latin typeface="Times New Roman"/>
                <a:cs typeface="Times New Roman"/>
              </a:rPr>
              <a:t>prima fase, </a:t>
            </a:r>
            <a:r>
              <a:rPr sz="2400" b="1" dirty="0">
                <a:latin typeface="Times New Roman"/>
                <a:cs typeface="Times New Roman"/>
              </a:rPr>
              <a:t>“pioneristica”, </a:t>
            </a:r>
            <a:r>
              <a:rPr sz="2400" b="1" spc="-5" dirty="0">
                <a:latin typeface="Times New Roman"/>
                <a:cs typeface="Times New Roman"/>
              </a:rPr>
              <a:t>fino </a:t>
            </a:r>
            <a:r>
              <a:rPr sz="2400" b="1" dirty="0">
                <a:latin typeface="Times New Roman"/>
                <a:cs typeface="Times New Roman"/>
              </a:rPr>
              <a:t>alla fine degli </a:t>
            </a:r>
            <a:r>
              <a:rPr sz="2400" b="1" spc="-5" dirty="0">
                <a:latin typeface="Times New Roman"/>
                <a:cs typeface="Times New Roman"/>
              </a:rPr>
              <a:t>anni '80, </a:t>
            </a:r>
            <a:r>
              <a:rPr sz="2400" b="1" spc="-225" dirty="0">
                <a:latin typeface="Times New Roman"/>
                <a:cs typeface="Times New Roman"/>
              </a:rPr>
              <a:t>vede  </a:t>
            </a:r>
            <a:r>
              <a:rPr sz="2400" b="1" spc="-5" dirty="0" smtClean="0">
                <a:latin typeface="Times New Roman"/>
                <a:cs typeface="Times New Roman"/>
              </a:rPr>
              <a:t>nascere </a:t>
            </a:r>
            <a:r>
              <a:rPr sz="2400" b="1" dirty="0">
                <a:latin typeface="Times New Roman"/>
                <a:cs typeface="Times New Roman"/>
              </a:rPr>
              <a:t>le </a:t>
            </a:r>
            <a:r>
              <a:rPr sz="2400" b="1" spc="-5" dirty="0">
                <a:latin typeface="Times New Roman"/>
                <a:cs typeface="Times New Roman"/>
              </a:rPr>
              <a:t>prime problematiche </a:t>
            </a:r>
            <a:r>
              <a:rPr sz="2400" b="1" dirty="0">
                <a:latin typeface="Times New Roman"/>
                <a:cs typeface="Times New Roman"/>
              </a:rPr>
              <a:t>giuridiche, </a:t>
            </a:r>
            <a:r>
              <a:rPr sz="2400" b="1" spc="-5" dirty="0">
                <a:latin typeface="Times New Roman"/>
                <a:cs typeface="Times New Roman"/>
              </a:rPr>
              <a:t>che </a:t>
            </a:r>
            <a:r>
              <a:rPr sz="2400" b="1" dirty="0">
                <a:latin typeface="Times New Roman"/>
                <a:cs typeface="Times New Roman"/>
              </a:rPr>
              <a:t>riguardano la tutela  </a:t>
            </a:r>
            <a:r>
              <a:rPr sz="2400" b="1" spc="-5" dirty="0">
                <a:latin typeface="Times New Roman"/>
                <a:cs typeface="Times New Roman"/>
              </a:rPr>
              <a:t>del software, </a:t>
            </a:r>
            <a:r>
              <a:rPr sz="2400" b="1" dirty="0">
                <a:latin typeface="Times New Roman"/>
                <a:cs typeface="Times New Roman"/>
              </a:rPr>
              <a:t>i contratti </a:t>
            </a:r>
            <a:r>
              <a:rPr sz="2400" b="1" spc="-5" dirty="0">
                <a:latin typeface="Times New Roman"/>
                <a:cs typeface="Times New Roman"/>
              </a:rPr>
              <a:t>informatici, </a:t>
            </a:r>
            <a:r>
              <a:rPr sz="2400" b="1" dirty="0">
                <a:latin typeface="Times New Roman"/>
                <a:cs typeface="Times New Roman"/>
              </a:rPr>
              <a:t>la tutela dei dati personali,</a:t>
            </a:r>
            <a:r>
              <a:rPr sz="2400" b="1" spc="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...;</a:t>
            </a:r>
            <a:endParaRPr sz="2400" b="1" dirty="0">
              <a:latin typeface="Times New Roman"/>
              <a:cs typeface="Times New Roman"/>
            </a:endParaRPr>
          </a:p>
          <a:p>
            <a:pPr marL="342900" marR="5080" indent="-342900" algn="just">
              <a:lnSpc>
                <a:spcPct val="95000"/>
              </a:lnSpc>
              <a:spcBef>
                <a:spcPts val="1190"/>
              </a:spcBef>
              <a:buFont typeface="Wingdings" panose="05000000000000000000" pitchFamily="2" charset="2"/>
              <a:buChar char="Ø"/>
              <a:tabLst>
                <a:tab pos="7275195" algn="l"/>
              </a:tabLst>
            </a:pPr>
            <a:r>
              <a:rPr sz="2400" b="1" dirty="0" smtClean="0">
                <a:latin typeface="Times New Roman"/>
                <a:cs typeface="Times New Roman"/>
              </a:rPr>
              <a:t>negli </a:t>
            </a:r>
            <a:r>
              <a:rPr sz="2400" b="1" spc="-5" dirty="0">
                <a:latin typeface="Times New Roman"/>
                <a:cs typeface="Times New Roman"/>
              </a:rPr>
              <a:t>anni '90 </a:t>
            </a:r>
            <a:r>
              <a:rPr sz="2400" b="1" dirty="0">
                <a:latin typeface="Times New Roman"/>
                <a:cs typeface="Times New Roman"/>
              </a:rPr>
              <a:t>è </a:t>
            </a:r>
            <a:r>
              <a:rPr sz="2400" b="1" spc="-5" dirty="0">
                <a:latin typeface="Times New Roman"/>
                <a:cs typeface="Times New Roman"/>
              </a:rPr>
              <a:t>l'U.E. </a:t>
            </a:r>
            <a:r>
              <a:rPr sz="2400" b="1" dirty="0">
                <a:latin typeface="Times New Roman"/>
                <a:cs typeface="Times New Roman"/>
              </a:rPr>
              <a:t>ad </a:t>
            </a:r>
            <a:r>
              <a:rPr sz="2400" b="1" spc="-5" dirty="0">
                <a:latin typeface="Times New Roman"/>
                <a:cs typeface="Times New Roman"/>
              </a:rPr>
              <a:t>essere molto </a:t>
            </a:r>
            <a:r>
              <a:rPr sz="2400" b="1" dirty="0">
                <a:latin typeface="Times New Roman"/>
                <a:cs typeface="Times New Roman"/>
              </a:rPr>
              <a:t>attiva </a:t>
            </a:r>
            <a:r>
              <a:rPr sz="2400" b="1" dirty="0" err="1">
                <a:latin typeface="Times New Roman"/>
                <a:cs typeface="Times New Roman"/>
              </a:rPr>
              <a:t>nel</a:t>
            </a:r>
            <a:r>
              <a:rPr sz="2400" b="1" spc="5" dirty="0">
                <a:latin typeface="Times New Roman"/>
                <a:cs typeface="Times New Roman"/>
              </a:rPr>
              <a:t> </a:t>
            </a:r>
            <a:r>
              <a:rPr sz="2400" b="1" dirty="0" err="1" smtClean="0">
                <a:latin typeface="Times New Roman"/>
                <a:cs typeface="Times New Roman"/>
              </a:rPr>
              <a:t>settore</a:t>
            </a:r>
            <a:r>
              <a:rPr sz="2400" b="1" dirty="0" smtClean="0">
                <a:latin typeface="Times New Roman"/>
                <a:cs typeface="Times New Roman"/>
              </a:rPr>
              <a:t>,</a:t>
            </a:r>
            <a:r>
              <a:rPr lang="it-IT" sz="2400" b="1" dirty="0" smtClean="0">
                <a:latin typeface="Times New Roman"/>
                <a:cs typeface="Times New Roman"/>
              </a:rPr>
              <a:t> </a:t>
            </a:r>
            <a:r>
              <a:rPr sz="2400" b="1" dirty="0" err="1" smtClean="0">
                <a:latin typeface="Times New Roman"/>
                <a:cs typeface="Times New Roman"/>
              </a:rPr>
              <a:t>tanto</a:t>
            </a:r>
            <a:r>
              <a:rPr sz="2400" b="1" dirty="0" smtClean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da  produrre </a:t>
            </a:r>
            <a:r>
              <a:rPr sz="2400" b="1" spc="-5" dirty="0">
                <a:latin typeface="Times New Roman"/>
                <a:cs typeface="Times New Roman"/>
              </a:rPr>
              <a:t>numerose </a:t>
            </a:r>
            <a:r>
              <a:rPr sz="2400" b="1" dirty="0">
                <a:latin typeface="Times New Roman"/>
                <a:cs typeface="Times New Roman"/>
              </a:rPr>
              <a:t>direttive in </a:t>
            </a:r>
            <a:r>
              <a:rPr sz="2400" b="1" spc="-5" dirty="0">
                <a:latin typeface="Times New Roman"/>
                <a:cs typeface="Times New Roman"/>
              </a:rPr>
              <a:t>materia </a:t>
            </a:r>
            <a:r>
              <a:rPr sz="2400" b="1" spc="5" dirty="0">
                <a:latin typeface="Times New Roman"/>
                <a:cs typeface="Times New Roman"/>
              </a:rPr>
              <a:t>(</a:t>
            </a:r>
            <a:r>
              <a:rPr sz="2200" b="1" spc="5" dirty="0">
                <a:latin typeface="Times New Roman"/>
                <a:cs typeface="Times New Roman"/>
              </a:rPr>
              <a:t>che </a:t>
            </a:r>
            <a:r>
              <a:rPr sz="2200" b="1" dirty="0">
                <a:latin typeface="Times New Roman"/>
                <a:cs typeface="Times New Roman"/>
              </a:rPr>
              <a:t>vanno a </a:t>
            </a:r>
            <a:r>
              <a:rPr sz="2200" b="1" spc="-5" dirty="0">
                <a:latin typeface="Times New Roman"/>
                <a:cs typeface="Times New Roman"/>
              </a:rPr>
              <a:t>costituire secondo  alcuni </a:t>
            </a:r>
            <a:r>
              <a:rPr sz="2200" b="1" dirty="0">
                <a:latin typeface="Times New Roman"/>
                <a:cs typeface="Times New Roman"/>
              </a:rPr>
              <a:t>un </a:t>
            </a:r>
            <a:r>
              <a:rPr sz="2200" b="1" spc="-5" dirty="0">
                <a:latin typeface="Times New Roman"/>
                <a:cs typeface="Times New Roman"/>
              </a:rPr>
              <a:t>vero </a:t>
            </a:r>
            <a:r>
              <a:rPr sz="2200" b="1" dirty="0">
                <a:latin typeface="Times New Roman"/>
                <a:cs typeface="Times New Roman"/>
              </a:rPr>
              <a:t>e </a:t>
            </a:r>
            <a:r>
              <a:rPr sz="2200" b="1" spc="-5" dirty="0">
                <a:latin typeface="Times New Roman"/>
                <a:cs typeface="Times New Roman"/>
              </a:rPr>
              <a:t>proprio “diritto comunitario dell'informatica”</a:t>
            </a:r>
            <a:r>
              <a:rPr sz="2400" b="1" spc="-5" dirty="0">
                <a:latin typeface="Times New Roman"/>
                <a:cs typeface="Times New Roman"/>
              </a:rPr>
              <a:t>), </a:t>
            </a:r>
            <a:r>
              <a:rPr sz="2400" b="1" dirty="0">
                <a:latin typeface="Times New Roman"/>
                <a:cs typeface="Times New Roman"/>
              </a:rPr>
              <a:t>e quindi  </a:t>
            </a:r>
            <a:r>
              <a:rPr sz="2400" b="1" spc="-5" dirty="0">
                <a:latin typeface="Times New Roman"/>
                <a:cs typeface="Times New Roman"/>
              </a:rPr>
              <a:t>di conseguenza </a:t>
            </a:r>
            <a:r>
              <a:rPr sz="2400" b="1" spc="5" dirty="0">
                <a:latin typeface="Times New Roman"/>
                <a:cs typeface="Times New Roman"/>
              </a:rPr>
              <a:t>le </a:t>
            </a:r>
            <a:r>
              <a:rPr sz="2400" b="1" spc="-5" dirty="0">
                <a:latin typeface="Times New Roman"/>
                <a:cs typeface="Times New Roman"/>
              </a:rPr>
              <a:t>prime normative </a:t>
            </a:r>
            <a:r>
              <a:rPr sz="2400" b="1" dirty="0">
                <a:latin typeface="Times New Roman"/>
                <a:cs typeface="Times New Roman"/>
              </a:rPr>
              <a:t>rilevanti </a:t>
            </a:r>
            <a:r>
              <a:rPr sz="2400" b="1" spc="-5" dirty="0">
                <a:latin typeface="Times New Roman"/>
                <a:cs typeface="Times New Roman"/>
              </a:rPr>
              <a:t>nel</a:t>
            </a:r>
            <a:r>
              <a:rPr sz="2400" b="1" spc="3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settore;</a:t>
            </a:r>
            <a:endParaRPr sz="2400" b="1" dirty="0">
              <a:latin typeface="Times New Roman"/>
              <a:cs typeface="Times New Roman"/>
            </a:endParaRPr>
          </a:p>
          <a:p>
            <a:pPr marL="342900" marR="525145" indent="-342900" algn="just">
              <a:lnSpc>
                <a:spcPct val="949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sz="2400" b="1" spc="-15" dirty="0" smtClean="0">
                <a:latin typeface="Times New Roman"/>
                <a:cs typeface="Times New Roman"/>
              </a:rPr>
              <a:t>ma </a:t>
            </a:r>
            <a:r>
              <a:rPr sz="2400" b="1" dirty="0">
                <a:latin typeface="Times New Roman"/>
                <a:cs typeface="Times New Roman"/>
              </a:rPr>
              <a:t>è con il nuovo </a:t>
            </a:r>
            <a:r>
              <a:rPr sz="2400" b="1" spc="-5" dirty="0">
                <a:latin typeface="Times New Roman"/>
                <a:cs typeface="Times New Roman"/>
              </a:rPr>
              <a:t>millennio, </a:t>
            </a:r>
            <a:r>
              <a:rPr sz="2400" b="1" dirty="0">
                <a:latin typeface="Times New Roman"/>
                <a:cs typeface="Times New Roman"/>
              </a:rPr>
              <a:t>ed </a:t>
            </a:r>
            <a:r>
              <a:rPr sz="2400" b="1" spc="5" dirty="0">
                <a:latin typeface="Times New Roman"/>
                <a:cs typeface="Times New Roman"/>
              </a:rPr>
              <a:t>in </a:t>
            </a:r>
            <a:r>
              <a:rPr sz="2400" b="1" dirty="0">
                <a:latin typeface="Times New Roman"/>
                <a:cs typeface="Times New Roman"/>
              </a:rPr>
              <a:t>particolare con </a:t>
            </a:r>
            <a:r>
              <a:rPr sz="2400" b="1" dirty="0" err="1">
                <a:latin typeface="Times New Roman"/>
                <a:cs typeface="Times New Roman"/>
              </a:rPr>
              <a:t>l’avvento</a:t>
            </a:r>
            <a:r>
              <a:rPr sz="2400" b="1" dirty="0">
                <a:latin typeface="Times New Roman"/>
                <a:cs typeface="Times New Roman"/>
              </a:rPr>
              <a:t>  </a:t>
            </a:r>
            <a:r>
              <a:rPr sz="2400" b="1" spc="-155" dirty="0">
                <a:latin typeface="Times New Roman"/>
                <a:cs typeface="Times New Roman"/>
              </a:rPr>
              <a:t> </a:t>
            </a:r>
            <a:r>
              <a:rPr lang="it-IT" sz="2400" b="1" spc="-155" dirty="0" smtClean="0">
                <a:latin typeface="Times New Roman"/>
                <a:cs typeface="Times New Roman"/>
              </a:rPr>
              <a:t>di </a:t>
            </a:r>
            <a:r>
              <a:rPr sz="2400" b="1" spc="-5" dirty="0" smtClean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Internet anche nel nostro </a:t>
            </a:r>
            <a:r>
              <a:rPr sz="2400" b="1" spc="-5" dirty="0">
                <a:latin typeface="Times New Roman"/>
                <a:cs typeface="Times New Roman"/>
              </a:rPr>
              <a:t>Paese, </a:t>
            </a:r>
            <a:r>
              <a:rPr sz="2400" b="1" dirty="0">
                <a:latin typeface="Times New Roman"/>
                <a:cs typeface="Times New Roman"/>
              </a:rPr>
              <a:t>che la </a:t>
            </a:r>
            <a:r>
              <a:rPr sz="2400" b="1" spc="-5" dirty="0">
                <a:latin typeface="Times New Roman"/>
                <a:cs typeface="Times New Roman"/>
              </a:rPr>
              <a:t>materia si consolida  definitivamente (</a:t>
            </a:r>
            <a:r>
              <a:rPr sz="2200" b="1" spc="-5" dirty="0">
                <a:latin typeface="Times New Roman"/>
                <a:cs typeface="Times New Roman"/>
              </a:rPr>
              <a:t>grazie </a:t>
            </a:r>
            <a:r>
              <a:rPr sz="2200" b="1" dirty="0">
                <a:latin typeface="Times New Roman"/>
                <a:cs typeface="Times New Roman"/>
              </a:rPr>
              <a:t>a nuove produzioni, </a:t>
            </a:r>
            <a:r>
              <a:rPr sz="2200" b="1" spc="-15" dirty="0">
                <a:latin typeface="Times New Roman"/>
                <a:cs typeface="Times New Roman"/>
              </a:rPr>
              <a:t>ma </a:t>
            </a:r>
            <a:r>
              <a:rPr sz="2200" b="1" dirty="0">
                <a:latin typeface="Times New Roman"/>
                <a:cs typeface="Times New Roman"/>
              </a:rPr>
              <a:t>anche </a:t>
            </a:r>
            <a:r>
              <a:rPr sz="2200" b="1" spc="-5" dirty="0">
                <a:latin typeface="Times New Roman"/>
                <a:cs typeface="Times New Roman"/>
              </a:rPr>
              <a:t>alla maggiore  riflessione su </a:t>
            </a:r>
            <a:r>
              <a:rPr sz="2200" b="1" dirty="0">
                <a:latin typeface="Times New Roman"/>
                <a:cs typeface="Times New Roman"/>
              </a:rPr>
              <a:t>quelle </a:t>
            </a:r>
            <a:r>
              <a:rPr sz="2200" b="1" spc="-5" dirty="0">
                <a:latin typeface="Times New Roman"/>
                <a:cs typeface="Times New Roman"/>
              </a:rPr>
              <a:t>precedenti </a:t>
            </a:r>
            <a:r>
              <a:rPr sz="2200" b="1" spc="-10" dirty="0">
                <a:latin typeface="Times New Roman"/>
                <a:cs typeface="Times New Roman"/>
              </a:rPr>
              <a:t>resa </a:t>
            </a:r>
            <a:r>
              <a:rPr sz="2200" b="1" spc="-5" dirty="0">
                <a:latin typeface="Times New Roman"/>
                <a:cs typeface="Times New Roman"/>
              </a:rPr>
              <a:t>necessaria </a:t>
            </a:r>
            <a:r>
              <a:rPr sz="2200" b="1" dirty="0">
                <a:latin typeface="Times New Roman"/>
                <a:cs typeface="Times New Roman"/>
              </a:rPr>
              <a:t>da nuove e </a:t>
            </a:r>
            <a:r>
              <a:rPr sz="2200" b="1" spc="-5" dirty="0">
                <a:latin typeface="Times New Roman"/>
                <a:cs typeface="Times New Roman"/>
              </a:rPr>
              <a:t>più  problematiche</a:t>
            </a:r>
            <a:r>
              <a:rPr sz="2200" b="1" spc="-15" dirty="0">
                <a:latin typeface="Times New Roman"/>
                <a:cs typeface="Times New Roman"/>
              </a:rPr>
              <a:t> </a:t>
            </a:r>
            <a:r>
              <a:rPr sz="2200" b="1" spc="-5" dirty="0">
                <a:latin typeface="Times New Roman"/>
                <a:cs typeface="Times New Roman"/>
              </a:rPr>
              <a:t>applicazioni</a:t>
            </a:r>
            <a:r>
              <a:rPr sz="2400" b="1" spc="-5" dirty="0">
                <a:latin typeface="Times New Roman"/>
                <a:cs typeface="Times New Roman"/>
              </a:rPr>
              <a:t>).</a:t>
            </a:r>
            <a:endParaRPr sz="2400" b="1" dirty="0">
              <a:latin typeface="Times New Roman"/>
              <a:cs typeface="Times New Roman"/>
            </a:endParaRPr>
          </a:p>
          <a:p>
            <a:pPr marR="529590" algn="r">
              <a:lnSpc>
                <a:spcPct val="100000"/>
              </a:lnSpc>
              <a:spcBef>
                <a:spcPts val="140"/>
              </a:spcBef>
            </a:pPr>
            <a:r>
              <a:rPr sz="1400" b="1" dirty="0">
                <a:latin typeface="Times New Roman"/>
                <a:cs typeface="Times New Roman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52592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/>
          <p:cNvSpPr txBox="1">
            <a:spLocks/>
          </p:cNvSpPr>
          <p:nvPr/>
        </p:nvSpPr>
        <p:spPr>
          <a:xfrm>
            <a:off x="508001" y="200659"/>
            <a:ext cx="1040891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it-IT" sz="4000" b="1" dirty="0" smtClean="0">
                <a:solidFill>
                  <a:srgbClr val="FFC000"/>
                </a:solidFill>
              </a:rPr>
              <a:t>A </a:t>
            </a:r>
            <a:r>
              <a:rPr lang="it-IT" sz="4000" b="1" spc="-5" dirty="0" smtClean="0">
                <a:solidFill>
                  <a:srgbClr val="FFC000"/>
                </a:solidFill>
              </a:rPr>
              <a:t>livello esemplificativo (Italia)</a:t>
            </a:r>
            <a:r>
              <a:rPr lang="it-IT" sz="4000" b="1" spc="-40" dirty="0" smtClean="0">
                <a:solidFill>
                  <a:srgbClr val="FFC000"/>
                </a:solidFill>
              </a:rPr>
              <a:t> </a:t>
            </a:r>
            <a:r>
              <a:rPr lang="it-IT" sz="4000" b="1" spc="-5" dirty="0" smtClean="0">
                <a:solidFill>
                  <a:srgbClr val="FFC000"/>
                </a:solidFill>
              </a:rPr>
              <a:t>...</a:t>
            </a:r>
            <a:endParaRPr lang="it-IT" sz="4000" b="1" dirty="0">
              <a:solidFill>
                <a:srgbClr val="FFC000"/>
              </a:solidFill>
            </a:endParaRPr>
          </a:p>
        </p:txBody>
      </p:sp>
      <p:sp>
        <p:nvSpPr>
          <p:cNvPr id="3" name="object 5"/>
          <p:cNvSpPr txBox="1"/>
          <p:nvPr/>
        </p:nvSpPr>
        <p:spPr>
          <a:xfrm>
            <a:off x="835573" y="835659"/>
            <a:ext cx="10720552" cy="5275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/>
            <a:r>
              <a:rPr b="1" spc="-5" dirty="0">
                <a:solidFill>
                  <a:srgbClr val="FFFF00"/>
                </a:solidFill>
                <a:latin typeface="Times New Roman"/>
                <a:cs typeface="Times New Roman"/>
              </a:rPr>
              <a:t>Norme dettate </a:t>
            </a:r>
            <a:r>
              <a:rPr b="1" dirty="0">
                <a:solidFill>
                  <a:srgbClr val="FFFF00"/>
                </a:solidFill>
                <a:latin typeface="Times New Roman"/>
                <a:cs typeface="Times New Roman"/>
              </a:rPr>
              <a:t>“a </a:t>
            </a:r>
            <a:r>
              <a:rPr b="1" spc="-5" dirty="0">
                <a:solidFill>
                  <a:srgbClr val="FFFF00"/>
                </a:solidFill>
                <a:latin typeface="Times New Roman"/>
                <a:cs typeface="Times New Roman"/>
              </a:rPr>
              <a:t>prescindere” da</a:t>
            </a:r>
            <a:r>
              <a:rPr b="1" spc="10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FFFF00"/>
                </a:solidFill>
                <a:latin typeface="Times New Roman"/>
                <a:cs typeface="Times New Roman"/>
              </a:rPr>
              <a:t>Internet</a:t>
            </a:r>
            <a:endParaRPr b="1" dirty="0">
              <a:solidFill>
                <a:srgbClr val="FFFF00"/>
              </a:solidFill>
              <a:latin typeface="Times New Roman"/>
              <a:cs typeface="Times New Roman"/>
            </a:endParaRPr>
          </a:p>
          <a:p>
            <a:pPr marL="161925" indent="-149860">
              <a:buChar char="-"/>
              <a:tabLst>
                <a:tab pos="162560" algn="l"/>
              </a:tabLst>
            </a:pPr>
            <a:r>
              <a:rPr b="1" spc="-5" dirty="0">
                <a:latin typeface="Times New Roman"/>
                <a:cs typeface="Times New Roman"/>
              </a:rPr>
              <a:t>l. </a:t>
            </a:r>
            <a:r>
              <a:rPr b="1" dirty="0">
                <a:latin typeface="Times New Roman"/>
                <a:cs typeface="Times New Roman"/>
              </a:rPr>
              <a:t>21/2/1989 n. 70 </a:t>
            </a:r>
            <a:r>
              <a:rPr b="1" spc="-5" dirty="0">
                <a:latin typeface="Times New Roman"/>
                <a:cs typeface="Times New Roman"/>
              </a:rPr>
              <a:t>tutela giuridica</a:t>
            </a:r>
            <a:r>
              <a:rPr b="1" spc="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CHIP</a:t>
            </a:r>
          </a:p>
          <a:p>
            <a:pPr marL="161925" indent="-149860">
              <a:buChar char="-"/>
              <a:tabLst>
                <a:tab pos="162560" algn="l"/>
              </a:tabLst>
            </a:pPr>
            <a:r>
              <a:rPr b="1" dirty="0">
                <a:latin typeface="Times New Roman"/>
                <a:cs typeface="Times New Roman"/>
              </a:rPr>
              <a:t>D.Lgs. 29/12/1992 n. 518 </a:t>
            </a:r>
            <a:r>
              <a:rPr b="1" spc="-5" dirty="0">
                <a:latin typeface="Times New Roman"/>
                <a:cs typeface="Times New Roman"/>
              </a:rPr>
              <a:t>tutela</a:t>
            </a:r>
            <a:r>
              <a:rPr b="1" spc="1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software</a:t>
            </a:r>
          </a:p>
          <a:p>
            <a:pPr marL="161925" indent="-149860">
              <a:buChar char="-"/>
              <a:tabLst>
                <a:tab pos="162560" algn="l"/>
              </a:tabLst>
            </a:pPr>
            <a:r>
              <a:rPr b="1" spc="-5" dirty="0">
                <a:latin typeface="Times New Roman"/>
                <a:cs typeface="Times New Roman"/>
              </a:rPr>
              <a:t>l. </a:t>
            </a:r>
            <a:r>
              <a:rPr b="1" dirty="0">
                <a:latin typeface="Times New Roman"/>
                <a:cs typeface="Times New Roman"/>
              </a:rPr>
              <a:t>23/12/1993 n. 513 </a:t>
            </a:r>
            <a:r>
              <a:rPr b="1" spc="-5" dirty="0">
                <a:latin typeface="Times New Roman"/>
                <a:cs typeface="Times New Roman"/>
              </a:rPr>
              <a:t>crimini</a:t>
            </a:r>
            <a:r>
              <a:rPr b="1" spc="10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informatici</a:t>
            </a:r>
            <a:endParaRPr b="1" dirty="0">
              <a:latin typeface="Times New Roman"/>
              <a:cs typeface="Times New Roman"/>
            </a:endParaRPr>
          </a:p>
          <a:p>
            <a:pPr marL="161925" indent="-149860">
              <a:buChar char="-"/>
              <a:tabLst>
                <a:tab pos="162560" algn="l"/>
              </a:tabLst>
            </a:pPr>
            <a:r>
              <a:rPr b="1" spc="-5" dirty="0">
                <a:latin typeface="Times New Roman"/>
                <a:cs typeface="Times New Roman"/>
              </a:rPr>
              <a:t>l. </a:t>
            </a:r>
            <a:r>
              <a:rPr b="1" dirty="0">
                <a:latin typeface="Times New Roman"/>
                <a:cs typeface="Times New Roman"/>
              </a:rPr>
              <a:t>31/12/1996 n.675 </a:t>
            </a:r>
            <a:r>
              <a:rPr b="1" spc="-5" dirty="0">
                <a:latin typeface="Times New Roman"/>
                <a:cs typeface="Times New Roman"/>
              </a:rPr>
              <a:t>trattamento dei dati</a:t>
            </a:r>
            <a:r>
              <a:rPr b="1" spc="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personali</a:t>
            </a:r>
          </a:p>
          <a:p>
            <a:pPr marL="161925" indent="-149860">
              <a:buChar char="-"/>
              <a:tabLst>
                <a:tab pos="162560" algn="l"/>
              </a:tabLst>
            </a:pPr>
            <a:r>
              <a:rPr b="1" dirty="0">
                <a:latin typeface="Times New Roman"/>
                <a:cs typeface="Times New Roman"/>
              </a:rPr>
              <a:t>D.Lgs. 6/5/1999 n.169 </a:t>
            </a:r>
            <a:r>
              <a:rPr b="1" spc="-5" dirty="0">
                <a:latin typeface="Times New Roman"/>
                <a:cs typeface="Times New Roman"/>
              </a:rPr>
              <a:t>tutela </a:t>
            </a:r>
            <a:r>
              <a:rPr b="1" dirty="0">
                <a:latin typeface="Times New Roman"/>
                <a:cs typeface="Times New Roman"/>
              </a:rPr>
              <a:t>banche</a:t>
            </a:r>
            <a:r>
              <a:rPr b="1" spc="1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dati</a:t>
            </a:r>
            <a:endParaRPr b="1" dirty="0">
              <a:latin typeface="Times New Roman"/>
              <a:cs typeface="Times New Roman"/>
            </a:endParaRPr>
          </a:p>
          <a:p>
            <a:pPr marL="12700"/>
            <a:r>
              <a:rPr b="1" spc="-5" dirty="0">
                <a:solidFill>
                  <a:srgbClr val="FFFF00"/>
                </a:solidFill>
                <a:latin typeface="Times New Roman"/>
                <a:cs typeface="Times New Roman"/>
              </a:rPr>
              <a:t>Norme dettate </a:t>
            </a:r>
            <a:r>
              <a:rPr b="1" dirty="0">
                <a:solidFill>
                  <a:srgbClr val="FFFF00"/>
                </a:solidFill>
                <a:latin typeface="Times New Roman"/>
                <a:cs typeface="Times New Roman"/>
              </a:rPr>
              <a:t>“in </a:t>
            </a:r>
            <a:r>
              <a:rPr b="1" spc="-5" dirty="0">
                <a:solidFill>
                  <a:srgbClr val="FFFF00"/>
                </a:solidFill>
                <a:latin typeface="Times New Roman"/>
                <a:cs typeface="Times New Roman"/>
              </a:rPr>
              <a:t>considerazione” </a:t>
            </a:r>
            <a:r>
              <a:rPr b="1" dirty="0">
                <a:solidFill>
                  <a:srgbClr val="FFFF00"/>
                </a:solidFill>
                <a:latin typeface="Times New Roman"/>
                <a:cs typeface="Times New Roman"/>
              </a:rPr>
              <a:t>di</a:t>
            </a:r>
            <a:r>
              <a:rPr b="1" spc="5" dirty="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b="1" spc="-5" dirty="0">
                <a:solidFill>
                  <a:srgbClr val="FFFF00"/>
                </a:solidFill>
                <a:latin typeface="Times New Roman"/>
                <a:cs typeface="Times New Roman"/>
              </a:rPr>
              <a:t>Internet</a:t>
            </a:r>
            <a:endParaRPr b="1" dirty="0">
              <a:solidFill>
                <a:srgbClr val="FFFF00"/>
              </a:solidFill>
              <a:latin typeface="Times New Roman"/>
              <a:cs typeface="Times New Roman"/>
            </a:endParaRPr>
          </a:p>
          <a:p>
            <a:pPr marL="12700"/>
            <a:r>
              <a:rPr b="1" dirty="0">
                <a:latin typeface="Times New Roman"/>
                <a:cs typeface="Times New Roman"/>
              </a:rPr>
              <a:t>- D.P.R. 10 </a:t>
            </a:r>
            <a:r>
              <a:rPr b="1" spc="-5" dirty="0">
                <a:latin typeface="Times New Roman"/>
                <a:cs typeface="Times New Roman"/>
              </a:rPr>
              <a:t>novembre </a:t>
            </a:r>
            <a:r>
              <a:rPr b="1" dirty="0">
                <a:latin typeface="Times New Roman"/>
                <a:cs typeface="Times New Roman"/>
              </a:rPr>
              <a:t>1997, n. 513 / DPR 28 </a:t>
            </a:r>
            <a:r>
              <a:rPr b="1" spc="-5" dirty="0">
                <a:latin typeface="Times New Roman"/>
                <a:cs typeface="Times New Roman"/>
              </a:rPr>
              <a:t>dicembre </a:t>
            </a:r>
            <a:r>
              <a:rPr b="1" dirty="0">
                <a:latin typeface="Times New Roman"/>
                <a:cs typeface="Times New Roman"/>
              </a:rPr>
              <a:t>2000 n.</a:t>
            </a:r>
            <a:r>
              <a:rPr b="1" spc="8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445</a:t>
            </a:r>
          </a:p>
          <a:p>
            <a:pPr marL="161925" indent="-149860">
              <a:buChar char="-"/>
              <a:tabLst>
                <a:tab pos="162560" algn="l"/>
              </a:tabLst>
            </a:pPr>
            <a:r>
              <a:rPr b="1" dirty="0">
                <a:latin typeface="Times New Roman"/>
                <a:cs typeface="Times New Roman"/>
              </a:rPr>
              <a:t>D.Lgs. 31 </a:t>
            </a:r>
            <a:r>
              <a:rPr b="1" spc="-5" dirty="0">
                <a:latin typeface="Times New Roman"/>
                <a:cs typeface="Times New Roman"/>
              </a:rPr>
              <a:t>marzo </a:t>
            </a:r>
            <a:r>
              <a:rPr b="1" dirty="0">
                <a:latin typeface="Times New Roman"/>
                <a:cs typeface="Times New Roman"/>
              </a:rPr>
              <a:t>1998, n. 114, </a:t>
            </a:r>
            <a:r>
              <a:rPr b="1" spc="-5" dirty="0">
                <a:latin typeface="Times New Roman"/>
                <a:cs typeface="Times New Roman"/>
              </a:rPr>
              <a:t>riforma la disciplina del</a:t>
            </a:r>
            <a:r>
              <a:rPr b="1" spc="50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commercio</a:t>
            </a:r>
            <a:endParaRPr b="1" dirty="0">
              <a:latin typeface="Times New Roman"/>
              <a:cs typeface="Times New Roman"/>
            </a:endParaRPr>
          </a:p>
          <a:p>
            <a:pPr marL="161925" indent="-149860">
              <a:buChar char="-"/>
              <a:tabLst>
                <a:tab pos="162560" algn="l"/>
              </a:tabLst>
            </a:pPr>
            <a:r>
              <a:rPr b="1" dirty="0">
                <a:latin typeface="Times New Roman"/>
                <a:cs typeface="Times New Roman"/>
              </a:rPr>
              <a:t>D.Lgs. 22 </a:t>
            </a:r>
            <a:r>
              <a:rPr b="1" spc="-5" dirty="0">
                <a:latin typeface="Times New Roman"/>
                <a:cs typeface="Times New Roman"/>
              </a:rPr>
              <a:t>maggio </a:t>
            </a:r>
            <a:r>
              <a:rPr b="1" dirty="0">
                <a:latin typeface="Times New Roman"/>
                <a:cs typeface="Times New Roman"/>
              </a:rPr>
              <a:t>1999 n. 185, che ha </a:t>
            </a:r>
            <a:r>
              <a:rPr b="1" spc="-5" dirty="0">
                <a:latin typeface="Times New Roman"/>
                <a:cs typeface="Times New Roman"/>
              </a:rPr>
              <a:t>recepito la Direttiva</a:t>
            </a:r>
            <a:r>
              <a:rPr b="1" spc="6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97/7/CE</a:t>
            </a:r>
            <a:endParaRPr b="1" dirty="0">
              <a:latin typeface="Times New Roman"/>
              <a:cs typeface="Times New Roman"/>
            </a:endParaRPr>
          </a:p>
          <a:p>
            <a:pPr marL="161925" indent="-149860">
              <a:buChar char="-"/>
              <a:tabLst>
                <a:tab pos="162560" algn="l"/>
              </a:tabLst>
            </a:pPr>
            <a:r>
              <a:rPr b="1" spc="-5" dirty="0">
                <a:latin typeface="Times New Roman"/>
                <a:cs typeface="Times New Roman"/>
              </a:rPr>
              <a:t>l. </a:t>
            </a:r>
            <a:r>
              <a:rPr b="1" dirty="0">
                <a:latin typeface="Times New Roman"/>
                <a:cs typeface="Times New Roman"/>
              </a:rPr>
              <a:t>24 </a:t>
            </a:r>
            <a:r>
              <a:rPr b="1" spc="-5" dirty="0">
                <a:latin typeface="Times New Roman"/>
                <a:cs typeface="Times New Roman"/>
              </a:rPr>
              <a:t>novembre </a:t>
            </a:r>
            <a:r>
              <a:rPr b="1" dirty="0">
                <a:latin typeface="Times New Roman"/>
                <a:cs typeface="Times New Roman"/>
              </a:rPr>
              <a:t>2000 n. 340, </a:t>
            </a:r>
            <a:r>
              <a:rPr b="1" spc="-5" dirty="0">
                <a:latin typeface="Times New Roman"/>
                <a:cs typeface="Times New Roman"/>
              </a:rPr>
              <a:t>art. </a:t>
            </a:r>
            <a:r>
              <a:rPr b="1" dirty="0">
                <a:latin typeface="Times New Roman"/>
                <a:cs typeface="Times New Roman"/>
              </a:rPr>
              <a:t>24, </a:t>
            </a:r>
            <a:r>
              <a:rPr b="1" spc="-5" dirty="0">
                <a:latin typeface="Times New Roman"/>
                <a:cs typeface="Times New Roman"/>
              </a:rPr>
              <a:t>sulle </a:t>
            </a:r>
            <a:r>
              <a:rPr b="1" dirty="0">
                <a:latin typeface="Times New Roman"/>
                <a:cs typeface="Times New Roman"/>
              </a:rPr>
              <a:t>gare </a:t>
            </a:r>
            <a:r>
              <a:rPr b="1" spc="-5" dirty="0">
                <a:latin typeface="Times New Roman"/>
                <a:cs typeface="Times New Roman"/>
              </a:rPr>
              <a:t>informatiche della</a:t>
            </a:r>
            <a:r>
              <a:rPr b="1" spc="8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P.A.</a:t>
            </a:r>
          </a:p>
          <a:p>
            <a:pPr marL="161925" indent="-149860">
              <a:buChar char="-"/>
              <a:tabLst>
                <a:tab pos="162560" algn="l"/>
              </a:tabLst>
            </a:pPr>
            <a:r>
              <a:rPr b="1" dirty="0">
                <a:latin typeface="Times New Roman"/>
                <a:cs typeface="Times New Roman"/>
              </a:rPr>
              <a:t>D.P.R. 13 febbraio 2001 n. 123, </a:t>
            </a:r>
            <a:r>
              <a:rPr b="1" spc="-5" dirty="0">
                <a:latin typeface="Times New Roman"/>
                <a:cs typeface="Times New Roman"/>
              </a:rPr>
              <a:t>sul processo</a:t>
            </a:r>
            <a:r>
              <a:rPr b="1" spc="4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elettronico</a:t>
            </a:r>
            <a:endParaRPr b="1" dirty="0">
              <a:latin typeface="Times New Roman"/>
              <a:cs typeface="Times New Roman"/>
            </a:endParaRPr>
          </a:p>
          <a:p>
            <a:pPr marL="12700" marR="535305">
              <a:buChar char="-"/>
              <a:tabLst>
                <a:tab pos="162560" algn="l"/>
              </a:tabLst>
            </a:pPr>
            <a:r>
              <a:rPr lang="it-IT" b="1" dirty="0" smtClean="0">
                <a:latin typeface="Times New Roman"/>
                <a:cs typeface="Times New Roman"/>
              </a:rPr>
              <a:t> </a:t>
            </a:r>
            <a:r>
              <a:rPr b="1" spc="-70" dirty="0" err="1" smtClean="0">
                <a:latin typeface="Times New Roman"/>
                <a:cs typeface="Times New Roman"/>
              </a:rPr>
              <a:t>D.Lgs</a:t>
            </a:r>
            <a:r>
              <a:rPr b="1" spc="-70" dirty="0">
                <a:latin typeface="Times New Roman"/>
                <a:cs typeface="Times New Roman"/>
              </a:rPr>
              <a:t>. 9 aprile 2003 n. 70, attuazione </a:t>
            </a:r>
            <a:r>
              <a:rPr b="1" spc="-70" dirty="0" err="1">
                <a:latin typeface="Times New Roman"/>
                <a:cs typeface="Times New Roman"/>
              </a:rPr>
              <a:t>direttiva</a:t>
            </a:r>
            <a:r>
              <a:rPr b="1" spc="-70" dirty="0">
                <a:latin typeface="Times New Roman"/>
                <a:cs typeface="Times New Roman"/>
              </a:rPr>
              <a:t> </a:t>
            </a:r>
            <a:r>
              <a:rPr b="1" spc="-70" dirty="0" smtClean="0">
                <a:latin typeface="Times New Roman"/>
                <a:cs typeface="Times New Roman"/>
              </a:rPr>
              <a:t>2000/31/CE</a:t>
            </a:r>
            <a:r>
              <a:rPr lang="it-IT" b="1" spc="-70" dirty="0" smtClean="0">
                <a:latin typeface="Times New Roman"/>
                <a:cs typeface="Times New Roman"/>
              </a:rPr>
              <a:t> </a:t>
            </a:r>
            <a:r>
              <a:rPr b="1" spc="-70" dirty="0" err="1" smtClean="0">
                <a:latin typeface="Times New Roman"/>
                <a:cs typeface="Times New Roman"/>
              </a:rPr>
              <a:t>commercio</a:t>
            </a:r>
            <a:r>
              <a:rPr b="1" spc="-70" dirty="0" smtClean="0">
                <a:latin typeface="Times New Roman"/>
                <a:cs typeface="Times New Roman"/>
              </a:rPr>
              <a:t> </a:t>
            </a:r>
            <a:r>
              <a:rPr b="1" spc="-70" dirty="0" err="1" smtClean="0">
                <a:latin typeface="Times New Roman"/>
                <a:cs typeface="Times New Roman"/>
              </a:rPr>
              <a:t>elettronico</a:t>
            </a:r>
            <a:endParaRPr lang="it-IT" b="1" spc="-70" dirty="0" smtClean="0">
              <a:latin typeface="Times New Roman"/>
              <a:cs typeface="Times New Roman"/>
            </a:endParaRPr>
          </a:p>
          <a:p>
            <a:pPr marL="12700" marR="535305">
              <a:buChar char="-"/>
              <a:tabLst>
                <a:tab pos="162560" algn="l"/>
              </a:tabLst>
            </a:pPr>
            <a:r>
              <a:rPr lang="it-IT" b="1" spc="-70" dirty="0" smtClean="0">
                <a:latin typeface="Times New Roman"/>
                <a:cs typeface="Times New Roman"/>
              </a:rPr>
              <a:t> </a:t>
            </a:r>
            <a:r>
              <a:rPr b="1" dirty="0" err="1" smtClean="0">
                <a:latin typeface="Times New Roman"/>
                <a:cs typeface="Times New Roman"/>
              </a:rPr>
              <a:t>D.Lgs</a:t>
            </a:r>
            <a:r>
              <a:rPr b="1" dirty="0" smtClean="0">
                <a:latin typeface="Times New Roman"/>
                <a:cs typeface="Times New Roman"/>
              </a:rPr>
              <a:t>. 30 </a:t>
            </a:r>
            <a:r>
              <a:rPr b="1" dirty="0" err="1" smtClean="0">
                <a:latin typeface="Times New Roman"/>
                <a:cs typeface="Times New Roman"/>
              </a:rPr>
              <a:t>giugno</a:t>
            </a:r>
            <a:r>
              <a:rPr b="1" dirty="0" smtClean="0">
                <a:latin typeface="Times New Roman"/>
                <a:cs typeface="Times New Roman"/>
              </a:rPr>
              <a:t> 2003 n. 196, </a:t>
            </a:r>
            <a:r>
              <a:rPr b="1" dirty="0" err="1" smtClean="0">
                <a:latin typeface="Times New Roman"/>
                <a:cs typeface="Times New Roman"/>
              </a:rPr>
              <a:t>codice</a:t>
            </a:r>
            <a:r>
              <a:rPr b="1" dirty="0" smtClean="0">
                <a:latin typeface="Times New Roman"/>
                <a:cs typeface="Times New Roman"/>
              </a:rPr>
              <a:t> </a:t>
            </a:r>
            <a:r>
              <a:rPr b="1" spc="-5" dirty="0" err="1" smtClean="0">
                <a:latin typeface="Times New Roman"/>
                <a:cs typeface="Times New Roman"/>
              </a:rPr>
              <a:t>della</a:t>
            </a:r>
            <a:r>
              <a:rPr b="1" spc="20" dirty="0" smtClean="0">
                <a:latin typeface="Times New Roman"/>
                <a:cs typeface="Times New Roman"/>
              </a:rPr>
              <a:t> </a:t>
            </a:r>
            <a:r>
              <a:rPr b="1" dirty="0" smtClean="0">
                <a:latin typeface="Times New Roman"/>
                <a:cs typeface="Times New Roman"/>
              </a:rPr>
              <a:t>privacy</a:t>
            </a:r>
          </a:p>
          <a:p>
            <a:pPr marL="161925" indent="-149860">
              <a:buChar char="-"/>
              <a:tabLst>
                <a:tab pos="162560" algn="l"/>
              </a:tabLst>
            </a:pPr>
            <a:r>
              <a:rPr b="1" dirty="0" err="1" smtClean="0">
                <a:latin typeface="Times New Roman"/>
                <a:cs typeface="Times New Roman"/>
              </a:rPr>
              <a:t>D.Lgs</a:t>
            </a:r>
            <a:r>
              <a:rPr b="1" dirty="0">
                <a:latin typeface="Times New Roman"/>
                <a:cs typeface="Times New Roman"/>
              </a:rPr>
              <a:t>. 1° </a:t>
            </a:r>
            <a:r>
              <a:rPr b="1" spc="-5" dirty="0">
                <a:latin typeface="Times New Roman"/>
                <a:cs typeface="Times New Roman"/>
              </a:rPr>
              <a:t>agosto </a:t>
            </a:r>
            <a:r>
              <a:rPr b="1" dirty="0">
                <a:latin typeface="Times New Roman"/>
                <a:cs typeface="Times New Roman"/>
              </a:rPr>
              <a:t>2003, n. 259, il cd </a:t>
            </a:r>
            <a:r>
              <a:rPr b="1" spc="-5" dirty="0">
                <a:latin typeface="Times New Roman"/>
                <a:cs typeface="Times New Roman"/>
              </a:rPr>
              <a:t>Codice delle comunicazioni</a:t>
            </a:r>
            <a:r>
              <a:rPr b="1" spc="9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elettroniche</a:t>
            </a:r>
            <a:endParaRPr b="1" dirty="0">
              <a:latin typeface="Times New Roman"/>
              <a:cs typeface="Times New Roman"/>
            </a:endParaRPr>
          </a:p>
          <a:p>
            <a:pPr marL="161925" indent="-149860">
              <a:buChar char="-"/>
              <a:tabLst>
                <a:tab pos="162560" algn="l"/>
              </a:tabLst>
            </a:pPr>
            <a:r>
              <a:rPr b="1" dirty="0">
                <a:latin typeface="Times New Roman"/>
                <a:cs typeface="Times New Roman"/>
              </a:rPr>
              <a:t>D.L. 22 </a:t>
            </a:r>
            <a:r>
              <a:rPr b="1" spc="-5" dirty="0">
                <a:latin typeface="Times New Roman"/>
                <a:cs typeface="Times New Roman"/>
              </a:rPr>
              <a:t>marzo </a:t>
            </a:r>
            <a:r>
              <a:rPr b="1" dirty="0">
                <a:latin typeface="Times New Roman"/>
                <a:cs typeface="Times New Roman"/>
              </a:rPr>
              <a:t>2004 n. 72 (l. 128/2004), </a:t>
            </a:r>
            <a:r>
              <a:rPr b="1" spc="-5" dirty="0">
                <a:latin typeface="Times New Roman"/>
                <a:cs typeface="Times New Roman"/>
              </a:rPr>
              <a:t>il </a:t>
            </a:r>
            <a:r>
              <a:rPr b="1" dirty="0">
                <a:latin typeface="Times New Roman"/>
                <a:cs typeface="Times New Roman"/>
              </a:rPr>
              <a:t>cd </a:t>
            </a:r>
            <a:r>
              <a:rPr b="1" spc="-5" dirty="0">
                <a:latin typeface="Times New Roman"/>
                <a:cs typeface="Times New Roman"/>
              </a:rPr>
              <a:t>Decreto </a:t>
            </a:r>
            <a:r>
              <a:rPr b="1" dirty="0">
                <a:latin typeface="Times New Roman"/>
                <a:cs typeface="Times New Roman"/>
              </a:rPr>
              <a:t>Urbani, contro</a:t>
            </a:r>
            <a:r>
              <a:rPr b="1" spc="75" dirty="0">
                <a:latin typeface="Times New Roman"/>
                <a:cs typeface="Times New Roman"/>
              </a:rPr>
              <a:t> </a:t>
            </a:r>
            <a:r>
              <a:rPr b="1" spc="-5" dirty="0">
                <a:latin typeface="Times New Roman"/>
                <a:cs typeface="Times New Roman"/>
              </a:rPr>
              <a:t>pirateria</a:t>
            </a:r>
            <a:endParaRPr b="1" dirty="0">
              <a:latin typeface="Times New Roman"/>
              <a:cs typeface="Times New Roman"/>
            </a:endParaRPr>
          </a:p>
          <a:p>
            <a:pPr marL="161925" indent="-149860">
              <a:buChar char="-"/>
              <a:tabLst>
                <a:tab pos="162560" algn="l"/>
              </a:tabLst>
            </a:pPr>
            <a:r>
              <a:rPr b="1" dirty="0">
                <a:latin typeface="Times New Roman"/>
                <a:cs typeface="Times New Roman"/>
              </a:rPr>
              <a:t>D.P.R. 11 febbraio 2005 n. 68, </a:t>
            </a:r>
            <a:r>
              <a:rPr b="1" spc="-5" dirty="0">
                <a:latin typeface="Times New Roman"/>
                <a:cs typeface="Times New Roman"/>
              </a:rPr>
              <a:t>sulla </a:t>
            </a:r>
            <a:r>
              <a:rPr b="1" dirty="0">
                <a:latin typeface="Times New Roman"/>
                <a:cs typeface="Times New Roman"/>
              </a:rPr>
              <a:t>posta </a:t>
            </a:r>
            <a:r>
              <a:rPr b="1" spc="-5" dirty="0" err="1">
                <a:latin typeface="Times New Roman"/>
                <a:cs typeface="Times New Roman"/>
              </a:rPr>
              <a:t>elettronica</a:t>
            </a:r>
            <a:r>
              <a:rPr b="1" spc="30" dirty="0">
                <a:latin typeface="Times New Roman"/>
                <a:cs typeface="Times New Roman"/>
              </a:rPr>
              <a:t> </a:t>
            </a:r>
            <a:r>
              <a:rPr b="1" spc="-5" dirty="0" err="1" smtClean="0">
                <a:latin typeface="Times New Roman"/>
                <a:cs typeface="Times New Roman"/>
              </a:rPr>
              <a:t>certificata</a:t>
            </a:r>
            <a:endParaRPr lang="it-IT" b="1" spc="-5" dirty="0" smtClean="0">
              <a:latin typeface="Times New Roman"/>
              <a:cs typeface="Times New Roman"/>
            </a:endParaRPr>
          </a:p>
          <a:p>
            <a:pPr marL="12065">
              <a:tabLst>
                <a:tab pos="162560" algn="l"/>
              </a:tabLst>
            </a:pPr>
            <a:r>
              <a:rPr lang="it-IT" b="1" spc="-5" dirty="0" smtClean="0">
                <a:latin typeface="Times New Roman"/>
                <a:cs typeface="Times New Roman"/>
              </a:rPr>
              <a:t>- </a:t>
            </a:r>
            <a:r>
              <a:rPr lang="it-IT" b="1" spc="-5" dirty="0" err="1" smtClean="0">
                <a:latin typeface="Times New Roman"/>
                <a:cs typeface="Times New Roman"/>
              </a:rPr>
              <a:t>D.Lgs</a:t>
            </a:r>
            <a:r>
              <a:rPr lang="it-IT" b="1" spc="-5" dirty="0" smtClean="0">
                <a:latin typeface="Times New Roman"/>
                <a:cs typeface="Times New Roman"/>
              </a:rPr>
              <a:t>  82/2005, Codice dell’Amministrazione Digitale (CAD)</a:t>
            </a:r>
          </a:p>
          <a:p>
            <a:pPr marL="161925" indent="-149860">
              <a:buChar char="-"/>
              <a:tabLst>
                <a:tab pos="162560" algn="l"/>
              </a:tabLst>
            </a:pPr>
            <a:r>
              <a:rPr lang="it-IT" b="1" spc="-5" dirty="0" smtClean="0">
                <a:latin typeface="Times New Roman"/>
                <a:cs typeface="Times New Roman"/>
              </a:rPr>
              <a:t>L. 4 agosto 2021 n. 109, sulla </a:t>
            </a:r>
            <a:r>
              <a:rPr lang="it-IT" b="1" spc="-5" dirty="0" err="1" smtClean="0">
                <a:latin typeface="Times New Roman"/>
                <a:cs typeface="Times New Roman"/>
              </a:rPr>
              <a:t>cybersecrity</a:t>
            </a:r>
            <a:endParaRPr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69557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2659" y="1340768"/>
            <a:ext cx="10561173" cy="3558667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 indent="-30480" algn="ctr">
              <a:lnSpc>
                <a:spcPct val="94900"/>
              </a:lnSpc>
              <a:spcBef>
                <a:spcPts val="390"/>
              </a:spcBef>
              <a:tabLst>
                <a:tab pos="1383665" algn="l"/>
                <a:tab pos="1414145" algn="l"/>
                <a:tab pos="3056890" algn="l"/>
              </a:tabLst>
            </a:pPr>
            <a:r>
              <a:rPr sz="6000" b="1" spc="-10" dirty="0" err="1" smtClean="0">
                <a:latin typeface="Times New Roman"/>
                <a:cs typeface="Times New Roman"/>
              </a:rPr>
              <a:t>Oggi</a:t>
            </a:r>
            <a:r>
              <a:rPr lang="it-IT" sz="6000" b="1" spc="-10" dirty="0" smtClean="0">
                <a:latin typeface="Times New Roman"/>
                <a:cs typeface="Times New Roman"/>
              </a:rPr>
              <a:t> </a:t>
            </a:r>
            <a:r>
              <a:rPr sz="6000" b="1" dirty="0" smtClean="0">
                <a:latin typeface="Times New Roman"/>
                <a:cs typeface="Times New Roman"/>
              </a:rPr>
              <a:t>è </a:t>
            </a:r>
            <a:r>
              <a:rPr sz="6000" b="1" spc="-5" dirty="0">
                <a:latin typeface="Times New Roman"/>
                <a:cs typeface="Times New Roman"/>
              </a:rPr>
              <a:t>impossibile non  occuparsi </a:t>
            </a:r>
            <a:r>
              <a:rPr sz="6000" b="1" spc="-10" dirty="0">
                <a:latin typeface="Times New Roman"/>
                <a:cs typeface="Times New Roman"/>
              </a:rPr>
              <a:t>di </a:t>
            </a:r>
            <a:r>
              <a:rPr sz="6000" b="1" spc="-5" dirty="0">
                <a:latin typeface="Times New Roman"/>
                <a:cs typeface="Times New Roman"/>
              </a:rPr>
              <a:t>questa  materia, cioè ignorare  anche le </a:t>
            </a:r>
            <a:r>
              <a:rPr sz="6000" b="1" dirty="0">
                <a:latin typeface="Times New Roman"/>
                <a:cs typeface="Times New Roman"/>
              </a:rPr>
              <a:t>regole</a:t>
            </a:r>
            <a:r>
              <a:rPr sz="6000" b="1" spc="-65" dirty="0">
                <a:latin typeface="Times New Roman"/>
                <a:cs typeface="Times New Roman"/>
              </a:rPr>
              <a:t> </a:t>
            </a:r>
            <a:r>
              <a:rPr sz="6000" b="1" spc="-10" dirty="0" err="1">
                <a:latin typeface="Times New Roman"/>
                <a:cs typeface="Times New Roman"/>
              </a:rPr>
              <a:t>minime</a:t>
            </a:r>
            <a:r>
              <a:rPr sz="6000" b="1" spc="-10" dirty="0">
                <a:latin typeface="Times New Roman"/>
                <a:cs typeface="Times New Roman"/>
              </a:rPr>
              <a:t>  </a:t>
            </a:r>
            <a:r>
              <a:rPr sz="6000" b="1" spc="-10" dirty="0" err="1" smtClean="0">
                <a:latin typeface="Times New Roman"/>
                <a:cs typeface="Times New Roman"/>
              </a:rPr>
              <a:t>della</a:t>
            </a:r>
            <a:r>
              <a:rPr lang="it-IT" sz="6000" b="1" spc="-10" dirty="0" smtClean="0">
                <a:latin typeface="Times New Roman"/>
                <a:cs typeface="Times New Roman"/>
              </a:rPr>
              <a:t> </a:t>
            </a:r>
            <a:r>
              <a:rPr sz="6000" b="1" spc="-5" dirty="0" err="1" smtClean="0">
                <a:latin typeface="Times New Roman"/>
                <a:cs typeface="Times New Roman"/>
              </a:rPr>
              <a:t>stessa</a:t>
            </a:r>
            <a:r>
              <a:rPr sz="6000" b="1" spc="-5" dirty="0">
                <a:latin typeface="Times New Roman"/>
                <a:cs typeface="Times New Roman"/>
              </a:rPr>
              <a:t>	</a:t>
            </a:r>
            <a:r>
              <a:rPr sz="6000" b="1" dirty="0">
                <a:latin typeface="Times New Roman"/>
                <a:cs typeface="Times New Roman"/>
              </a:rPr>
              <a:t>!</a:t>
            </a:r>
            <a:endParaRPr sz="6000" dirty="0">
              <a:latin typeface="Times New Roman"/>
              <a:cs typeface="Times New Roman"/>
            </a:endParaRPr>
          </a:p>
        </p:txBody>
      </p:sp>
      <p:sp>
        <p:nvSpPr>
          <p:cNvPr id="3" name="object 2"/>
          <p:cNvSpPr txBox="1">
            <a:spLocks/>
          </p:cNvSpPr>
          <p:nvPr/>
        </p:nvSpPr>
        <p:spPr>
          <a:xfrm>
            <a:off x="335360" y="147320"/>
            <a:ext cx="11617291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  <a:tabLst>
                <a:tab pos="6282055" algn="l"/>
              </a:tabLst>
            </a:pPr>
            <a:r>
              <a:rPr lang="it-IT" sz="6000" b="1" spc="-5" dirty="0" smtClean="0">
                <a:solidFill>
                  <a:srgbClr val="FFC000"/>
                </a:solidFill>
              </a:rPr>
              <a:t>I</a:t>
            </a:r>
            <a:r>
              <a:rPr lang="it-IT" sz="6000" b="1" dirty="0" smtClean="0">
                <a:solidFill>
                  <a:srgbClr val="FFC000"/>
                </a:solidFill>
              </a:rPr>
              <a:t>l</a:t>
            </a:r>
            <a:r>
              <a:rPr lang="it-IT" sz="6000" b="1" spc="5" dirty="0" smtClean="0">
                <a:solidFill>
                  <a:srgbClr val="FFC000"/>
                </a:solidFill>
              </a:rPr>
              <a:t> </a:t>
            </a:r>
            <a:r>
              <a:rPr lang="it-IT" sz="6000" b="1" spc="-5" dirty="0" smtClean="0">
                <a:solidFill>
                  <a:srgbClr val="FFC000"/>
                </a:solidFill>
              </a:rPr>
              <a:t>di</a:t>
            </a:r>
            <a:r>
              <a:rPr lang="it-IT" sz="6000" b="1" dirty="0" smtClean="0">
                <a:solidFill>
                  <a:srgbClr val="FFC000"/>
                </a:solidFill>
              </a:rPr>
              <a:t>r</a:t>
            </a:r>
            <a:r>
              <a:rPr lang="it-IT" sz="6000" b="1" spc="-5" dirty="0" smtClean="0">
                <a:solidFill>
                  <a:srgbClr val="FFC000"/>
                </a:solidFill>
              </a:rPr>
              <a:t>it</a:t>
            </a:r>
            <a:r>
              <a:rPr lang="it-IT" sz="6000" b="1" spc="-10" dirty="0" smtClean="0">
                <a:solidFill>
                  <a:srgbClr val="FFC000"/>
                </a:solidFill>
              </a:rPr>
              <a:t>t</a:t>
            </a:r>
            <a:r>
              <a:rPr lang="it-IT" sz="6000" b="1" dirty="0" smtClean="0">
                <a:solidFill>
                  <a:srgbClr val="FFC000"/>
                </a:solidFill>
              </a:rPr>
              <a:t>o </a:t>
            </a:r>
            <a:r>
              <a:rPr lang="it-IT" sz="6000" b="1" spc="-5" dirty="0" smtClean="0">
                <a:solidFill>
                  <a:srgbClr val="FFC000"/>
                </a:solidFill>
              </a:rPr>
              <a:t>d</a:t>
            </a:r>
            <a:r>
              <a:rPr lang="it-IT" sz="6000" b="1" dirty="0" smtClean="0">
                <a:solidFill>
                  <a:srgbClr val="FFC000"/>
                </a:solidFill>
              </a:rPr>
              <a:t>e</a:t>
            </a:r>
            <a:r>
              <a:rPr lang="it-IT" sz="6000" b="1" spc="-5" dirty="0" smtClean="0">
                <a:solidFill>
                  <a:srgbClr val="FFC000"/>
                </a:solidFill>
              </a:rPr>
              <a:t>ll</a:t>
            </a:r>
            <a:r>
              <a:rPr lang="it-IT" sz="6000" b="1" spc="5" dirty="0" smtClean="0">
                <a:solidFill>
                  <a:srgbClr val="FFC000"/>
                </a:solidFill>
              </a:rPr>
              <a:t>'</a:t>
            </a:r>
            <a:r>
              <a:rPr lang="it-IT" sz="6000" b="1" spc="-5" dirty="0" smtClean="0">
                <a:solidFill>
                  <a:srgbClr val="FFC000"/>
                </a:solidFill>
              </a:rPr>
              <a:t>in</a:t>
            </a:r>
            <a:r>
              <a:rPr lang="it-IT" sz="6000" b="1" spc="-10" dirty="0" smtClean="0">
                <a:solidFill>
                  <a:srgbClr val="FFC000"/>
                </a:solidFill>
              </a:rPr>
              <a:t>f</a:t>
            </a:r>
            <a:r>
              <a:rPr lang="it-IT" sz="6000" b="1" dirty="0" smtClean="0">
                <a:solidFill>
                  <a:srgbClr val="FFC000"/>
                </a:solidFill>
              </a:rPr>
              <a:t>orma</a:t>
            </a:r>
            <a:r>
              <a:rPr lang="it-IT" sz="6000" b="1" spc="-5" dirty="0" smtClean="0">
                <a:solidFill>
                  <a:srgbClr val="FFC000"/>
                </a:solidFill>
              </a:rPr>
              <a:t>t</a:t>
            </a:r>
            <a:r>
              <a:rPr lang="it-IT" sz="6000" b="1" spc="5" dirty="0" smtClean="0">
                <a:solidFill>
                  <a:srgbClr val="FFC000"/>
                </a:solidFill>
              </a:rPr>
              <a:t>i</a:t>
            </a:r>
            <a:r>
              <a:rPr lang="it-IT" sz="6000" b="1" spc="-5" dirty="0" smtClean="0">
                <a:solidFill>
                  <a:srgbClr val="FFC000"/>
                </a:solidFill>
              </a:rPr>
              <a:t>c</a:t>
            </a:r>
            <a:r>
              <a:rPr lang="it-IT" sz="6000" b="1" dirty="0" smtClean="0">
                <a:solidFill>
                  <a:srgbClr val="FFC000"/>
                </a:solidFill>
              </a:rPr>
              <a:t>a …</a:t>
            </a:r>
            <a:endParaRPr lang="it-IT" sz="60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5378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213945" y="476250"/>
            <a:ext cx="10978055" cy="5667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  <a:tabLst>
                <a:tab pos="2677160" algn="l"/>
              </a:tabLst>
            </a:pPr>
            <a:r>
              <a:rPr b="1" spc="-5" dirty="0" err="1" smtClean="0">
                <a:solidFill>
                  <a:srgbClr val="FFC000"/>
                </a:solidFill>
              </a:rPr>
              <a:t>Alcuni</a:t>
            </a:r>
            <a:r>
              <a:rPr lang="it-IT" b="1" spc="-5" dirty="0" smtClean="0">
                <a:solidFill>
                  <a:srgbClr val="FFC000"/>
                </a:solidFill>
              </a:rPr>
              <a:t> </a:t>
            </a:r>
            <a:r>
              <a:rPr b="1" spc="-5" dirty="0" err="1" smtClean="0">
                <a:solidFill>
                  <a:srgbClr val="FFC000"/>
                </a:solidFill>
              </a:rPr>
              <a:t>esempi</a:t>
            </a:r>
            <a:r>
              <a:rPr b="1" spc="-90" dirty="0" smtClean="0">
                <a:solidFill>
                  <a:srgbClr val="FFC000"/>
                </a:solidFill>
              </a:rPr>
              <a:t> </a:t>
            </a:r>
            <a:r>
              <a:rPr b="1" dirty="0">
                <a:solidFill>
                  <a:srgbClr val="FFC000"/>
                </a:solidFill>
              </a:rPr>
              <a:t>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286509"/>
            <a:ext cx="10757746" cy="487056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49250" marR="5080" indent="19050" algn="just">
              <a:lnSpc>
                <a:spcPts val="3020"/>
              </a:lnSpc>
              <a:spcBef>
                <a:spcPts val="480"/>
              </a:spcBef>
            </a:pPr>
            <a:r>
              <a:rPr sz="2800" spc="-10" dirty="0">
                <a:latin typeface="Times New Roman"/>
                <a:cs typeface="Times New Roman"/>
              </a:rPr>
              <a:t>Per </a:t>
            </a:r>
            <a:r>
              <a:rPr sz="2800" spc="-5" dirty="0">
                <a:latin typeface="Times New Roman"/>
                <a:cs typeface="Times New Roman"/>
              </a:rPr>
              <a:t>meglio comprendere quanto detto, riporterò alcuni  </a:t>
            </a:r>
            <a:r>
              <a:rPr sz="2800" spc="-10" dirty="0">
                <a:latin typeface="Times New Roman"/>
                <a:cs typeface="Times New Roman"/>
              </a:rPr>
              <a:t>esempi </a:t>
            </a:r>
            <a:r>
              <a:rPr sz="2800" spc="-5" dirty="0">
                <a:latin typeface="Times New Roman"/>
                <a:cs typeface="Times New Roman"/>
              </a:rPr>
              <a:t>che traggo dall’esperienza quotidiana della  professione:</a:t>
            </a:r>
            <a:endParaRPr sz="2800" dirty="0">
              <a:latin typeface="Times New Roman"/>
              <a:cs typeface="Times New Roman"/>
            </a:endParaRPr>
          </a:p>
          <a:p>
            <a:pPr marL="358775">
              <a:lnSpc>
                <a:spcPct val="100000"/>
              </a:lnSpc>
              <a:spcBef>
                <a:spcPts val="2350"/>
              </a:spcBef>
            </a:pPr>
            <a:r>
              <a:rPr sz="3900" spc="5609" baseline="3205" dirty="0">
                <a:latin typeface="Wingdings"/>
                <a:cs typeface="Wingdings"/>
              </a:rPr>
              <a:t></a:t>
            </a:r>
            <a:r>
              <a:rPr sz="3900" spc="-450" baseline="32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il caso </a:t>
            </a:r>
            <a:r>
              <a:rPr sz="2600" dirty="0">
                <a:latin typeface="Times New Roman"/>
                <a:cs typeface="Times New Roman"/>
              </a:rPr>
              <a:t>del </a:t>
            </a:r>
            <a:r>
              <a:rPr sz="2600" spc="-5" dirty="0">
                <a:latin typeface="Times New Roman"/>
                <a:cs typeface="Times New Roman"/>
              </a:rPr>
              <a:t>fotografo </a:t>
            </a:r>
            <a:r>
              <a:rPr sz="2600" dirty="0">
                <a:latin typeface="Times New Roman"/>
                <a:cs typeface="Times New Roman"/>
              </a:rPr>
              <a:t>che usa </a:t>
            </a:r>
            <a:r>
              <a:rPr sz="2600" spc="-5" dirty="0">
                <a:latin typeface="Times New Roman"/>
                <a:cs typeface="Times New Roman"/>
              </a:rPr>
              <a:t>flickr </a:t>
            </a:r>
            <a:r>
              <a:rPr sz="2600" dirty="0">
                <a:latin typeface="Times New Roman"/>
                <a:cs typeface="Times New Roman"/>
              </a:rPr>
              <a:t>....</a:t>
            </a:r>
          </a:p>
          <a:p>
            <a:pPr marL="358775">
              <a:lnSpc>
                <a:spcPct val="100000"/>
              </a:lnSpc>
              <a:spcBef>
                <a:spcPts val="1810"/>
              </a:spcBef>
            </a:pPr>
            <a:r>
              <a:rPr sz="3900" spc="5609" baseline="3205" dirty="0">
                <a:latin typeface="Wingdings"/>
                <a:cs typeface="Wingdings"/>
              </a:rPr>
              <a:t></a:t>
            </a:r>
            <a:r>
              <a:rPr sz="3900" spc="-502" baseline="32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l’acquisto “italiano” </a:t>
            </a:r>
            <a:r>
              <a:rPr sz="2600" dirty="0">
                <a:latin typeface="Times New Roman"/>
                <a:cs typeface="Times New Roman"/>
              </a:rPr>
              <a:t>di un </a:t>
            </a:r>
            <a:r>
              <a:rPr sz="2600" spc="-5" dirty="0">
                <a:latin typeface="Times New Roman"/>
                <a:cs typeface="Times New Roman"/>
              </a:rPr>
              <a:t>software </a:t>
            </a:r>
            <a:r>
              <a:rPr sz="2600" dirty="0">
                <a:latin typeface="Times New Roman"/>
                <a:cs typeface="Times New Roman"/>
              </a:rPr>
              <a:t>prodotto </a:t>
            </a:r>
            <a:r>
              <a:rPr sz="2600" spc="-5" dirty="0">
                <a:latin typeface="Times New Roman"/>
                <a:cs typeface="Times New Roman"/>
              </a:rPr>
              <a:t>all’estero </a:t>
            </a:r>
            <a:r>
              <a:rPr sz="2600" spc="-95" dirty="0">
                <a:latin typeface="Times New Roman"/>
                <a:cs typeface="Times New Roman"/>
              </a:rPr>
              <a:t>...</a:t>
            </a:r>
            <a:endParaRPr sz="2600" dirty="0">
              <a:latin typeface="Times New Roman"/>
              <a:cs typeface="Times New Roman"/>
            </a:endParaRPr>
          </a:p>
          <a:p>
            <a:pPr marL="358775">
              <a:lnSpc>
                <a:spcPct val="100000"/>
              </a:lnSpc>
              <a:spcBef>
                <a:spcPts val="1800"/>
              </a:spcBef>
            </a:pPr>
            <a:r>
              <a:rPr sz="3900" spc="5609" baseline="3205" dirty="0">
                <a:latin typeface="Wingdings"/>
                <a:cs typeface="Wingdings"/>
              </a:rPr>
              <a:t></a:t>
            </a:r>
            <a:r>
              <a:rPr sz="3900" spc="-517" baseline="32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la </a:t>
            </a:r>
            <a:r>
              <a:rPr sz="2600" dirty="0">
                <a:latin typeface="Times New Roman"/>
                <a:cs typeface="Times New Roman"/>
              </a:rPr>
              <a:t>pubblicazione di video </a:t>
            </a:r>
            <a:r>
              <a:rPr sz="2600" spc="-5" dirty="0">
                <a:latin typeface="Times New Roman"/>
                <a:cs typeface="Times New Roman"/>
              </a:rPr>
              <a:t>personali su </a:t>
            </a:r>
            <a:r>
              <a:rPr sz="2600" dirty="0">
                <a:latin typeface="Times New Roman"/>
                <a:cs typeface="Times New Roman"/>
              </a:rPr>
              <a:t>YouTube ...</a:t>
            </a:r>
          </a:p>
          <a:p>
            <a:pPr marL="358775">
              <a:lnSpc>
                <a:spcPct val="100000"/>
              </a:lnSpc>
              <a:spcBef>
                <a:spcPts val="1810"/>
              </a:spcBef>
            </a:pPr>
            <a:r>
              <a:rPr sz="3900" spc="5609" baseline="3205" dirty="0">
                <a:latin typeface="Wingdings"/>
                <a:cs typeface="Wingdings"/>
              </a:rPr>
              <a:t></a:t>
            </a:r>
            <a:r>
              <a:rPr sz="3900" spc="-457" baseline="32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l’azienda </a:t>
            </a:r>
            <a:r>
              <a:rPr sz="2600" dirty="0">
                <a:latin typeface="Times New Roman"/>
                <a:cs typeface="Times New Roman"/>
              </a:rPr>
              <a:t>che </a:t>
            </a:r>
            <a:r>
              <a:rPr sz="2600" spc="-5" dirty="0">
                <a:latin typeface="Times New Roman"/>
                <a:cs typeface="Times New Roman"/>
              </a:rPr>
              <a:t>rileva le presenze attraverso la biometria </a:t>
            </a:r>
            <a:r>
              <a:rPr sz="2600" spc="-1260" dirty="0">
                <a:latin typeface="Times New Roman"/>
                <a:cs typeface="Times New Roman"/>
              </a:rPr>
              <a:t>…</a:t>
            </a:r>
            <a:endParaRPr sz="2600" dirty="0">
              <a:latin typeface="Times New Roman"/>
              <a:cs typeface="Times New Roman"/>
            </a:endParaRPr>
          </a:p>
          <a:p>
            <a:pPr marL="358775">
              <a:lnSpc>
                <a:spcPct val="100000"/>
              </a:lnSpc>
              <a:spcBef>
                <a:spcPts val="1810"/>
              </a:spcBef>
            </a:pPr>
            <a:r>
              <a:rPr sz="3900" spc="5609" baseline="3205" dirty="0">
                <a:latin typeface="Wingdings"/>
                <a:cs typeface="Wingdings"/>
              </a:rPr>
              <a:t></a:t>
            </a:r>
            <a:r>
              <a:rPr sz="3900" spc="-502" baseline="320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la scuola </a:t>
            </a:r>
            <a:r>
              <a:rPr sz="2600" dirty="0">
                <a:latin typeface="Times New Roman"/>
                <a:cs typeface="Times New Roman"/>
              </a:rPr>
              <a:t>che </a:t>
            </a:r>
            <a:r>
              <a:rPr sz="2600" spc="-5" dirty="0">
                <a:latin typeface="Times New Roman"/>
                <a:cs typeface="Times New Roman"/>
              </a:rPr>
              <a:t>si </a:t>
            </a:r>
            <a:r>
              <a:rPr sz="2600" dirty="0">
                <a:latin typeface="Times New Roman"/>
                <a:cs typeface="Times New Roman"/>
              </a:rPr>
              <a:t>fa </a:t>
            </a:r>
            <a:r>
              <a:rPr sz="2600" spc="-5" dirty="0">
                <a:latin typeface="Times New Roman"/>
                <a:cs typeface="Times New Roman"/>
              </a:rPr>
              <a:t>adeguare alla </a:t>
            </a:r>
            <a:r>
              <a:rPr sz="2600" dirty="0">
                <a:latin typeface="Times New Roman"/>
                <a:cs typeface="Times New Roman"/>
              </a:rPr>
              <a:t>legge </a:t>
            </a:r>
            <a:r>
              <a:rPr sz="2600" spc="-5" dirty="0">
                <a:latin typeface="Times New Roman"/>
                <a:cs typeface="Times New Roman"/>
              </a:rPr>
              <a:t>sulla privacy </a:t>
            </a:r>
            <a:r>
              <a:rPr sz="2600" dirty="0">
                <a:latin typeface="Times New Roman"/>
                <a:cs typeface="Times New Roman"/>
              </a:rPr>
              <a:t>…</a:t>
            </a:r>
          </a:p>
          <a:p>
            <a:pPr marL="358775">
              <a:lnSpc>
                <a:spcPts val="3040"/>
              </a:lnSpc>
              <a:spcBef>
                <a:spcPts val="1670"/>
              </a:spcBef>
              <a:tabLst>
                <a:tab pos="1166813" algn="l"/>
              </a:tabLst>
            </a:pPr>
            <a:r>
              <a:rPr sz="2600" spc="2035" dirty="0" smtClean="0">
                <a:latin typeface="Wingdings"/>
                <a:cs typeface="Wingdings"/>
              </a:rPr>
              <a:t></a:t>
            </a:r>
            <a:r>
              <a:rPr lang="it-IT" sz="2600" spc="2035" dirty="0" smtClean="0">
                <a:latin typeface="Wingdings"/>
                <a:cs typeface="Wingdings"/>
              </a:rPr>
              <a:t>	</a:t>
            </a:r>
            <a:r>
              <a:rPr sz="3900" spc="3052" baseline="-3205" dirty="0" smtClean="0">
                <a:latin typeface="Times New Roman"/>
                <a:cs typeface="Times New Roman"/>
              </a:rPr>
              <a:t>…</a:t>
            </a:r>
            <a:endParaRPr sz="3900" baseline="-3205" dirty="0">
              <a:latin typeface="Times New Roman"/>
              <a:cs typeface="Times New Roman"/>
            </a:endParaRPr>
          </a:p>
          <a:p>
            <a:pPr marR="381635" algn="r">
              <a:lnSpc>
                <a:spcPts val="1600"/>
              </a:lnSpc>
            </a:pPr>
            <a:r>
              <a:rPr sz="1400" dirty="0">
                <a:latin typeface="Times New Roman"/>
                <a:cs typeface="Times New Roman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72713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idx="4294967295"/>
          </p:nvPr>
        </p:nvSpPr>
        <p:spPr>
          <a:xfrm>
            <a:off x="756745" y="0"/>
            <a:ext cx="10063655" cy="1477963"/>
          </a:xfrm>
        </p:spPr>
        <p:txBody>
          <a:bodyPr>
            <a:noAutofit/>
          </a:bodyPr>
          <a:lstStyle/>
          <a:p>
            <a:r>
              <a:rPr lang="it-IT" sz="3200" b="1" dirty="0">
                <a:solidFill>
                  <a:srgbClr val="FFC000"/>
                </a:solidFill>
              </a:rPr>
              <a:t>L’Unione Europea ha stabilito </a:t>
            </a:r>
            <a:r>
              <a:rPr lang="it-IT" sz="3200" b="1" dirty="0" smtClean="0">
                <a:solidFill>
                  <a:srgbClr val="FFC000"/>
                </a:solidFill>
              </a:rPr>
              <a:t>regole precise </a:t>
            </a:r>
            <a:r>
              <a:rPr lang="it-IT" sz="3200" b="1" dirty="0">
                <a:solidFill>
                  <a:srgbClr val="FFC000"/>
                </a:solidFill>
              </a:rPr>
              <a:t>per la tutela </a:t>
            </a:r>
            <a:r>
              <a:rPr lang="it-IT" sz="3200" b="1" dirty="0" err="1" smtClean="0">
                <a:solidFill>
                  <a:srgbClr val="FFC000"/>
                </a:solidFill>
              </a:rPr>
              <a:t>digitalE</a:t>
            </a:r>
            <a:r>
              <a:rPr lang="it-IT" sz="3200" b="1" dirty="0" smtClean="0">
                <a:solidFill>
                  <a:srgbClr val="FFC000"/>
                </a:solidFill>
              </a:rPr>
              <a:t> delle </a:t>
            </a:r>
            <a:r>
              <a:rPr lang="it-IT" sz="3200" b="1" dirty="0">
                <a:solidFill>
                  <a:srgbClr val="FFC000"/>
                </a:solidFill>
              </a:rPr>
              <a:t>persone</a:t>
            </a:r>
            <a:endParaRPr lang="it-IT" sz="3200" dirty="0">
              <a:solidFill>
                <a:srgbClr val="FFC000"/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84" y="1137472"/>
            <a:ext cx="10833702" cy="29900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sellaDiTesto 3"/>
          <p:cNvSpPr txBox="1"/>
          <p:nvPr/>
        </p:nvSpPr>
        <p:spPr>
          <a:xfrm>
            <a:off x="709447" y="4241614"/>
            <a:ext cx="109097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arenR"/>
            </a:pPr>
            <a:r>
              <a:rPr lang="it-IT" sz="2800" b="1" dirty="0" smtClean="0">
                <a:solidFill>
                  <a:srgbClr val="FFC000"/>
                </a:solidFill>
              </a:rPr>
              <a:t>Regolamento generale della protezione dei dati personali</a:t>
            </a:r>
          </a:p>
          <a:p>
            <a:pPr marL="514350" indent="-514350">
              <a:buAutoNum type="arabicParenR"/>
            </a:pPr>
            <a:r>
              <a:rPr lang="it-IT" sz="2800" b="1" dirty="0" smtClean="0">
                <a:solidFill>
                  <a:srgbClr val="FFC000"/>
                </a:solidFill>
              </a:rPr>
              <a:t>Digital Service ACT (Regolamento anti </a:t>
            </a:r>
            <a:r>
              <a:rPr lang="it-IT" sz="2800" b="1" dirty="0" err="1" smtClean="0">
                <a:solidFill>
                  <a:srgbClr val="FFC000"/>
                </a:solidFill>
              </a:rPr>
              <a:t>heaters</a:t>
            </a:r>
            <a:r>
              <a:rPr lang="it-IT" sz="2800" b="1" dirty="0" smtClean="0">
                <a:solidFill>
                  <a:srgbClr val="FFC000"/>
                </a:solidFill>
              </a:rPr>
              <a:t>)</a:t>
            </a:r>
          </a:p>
          <a:p>
            <a:pPr marL="514350" indent="-514350">
              <a:buAutoNum type="arabicParenR"/>
            </a:pPr>
            <a:r>
              <a:rPr lang="it-IT" sz="2800" b="1" dirty="0" smtClean="0">
                <a:solidFill>
                  <a:srgbClr val="FFC000"/>
                </a:solidFill>
              </a:rPr>
              <a:t>AI ACT (Regolamento su utilizzo intelligenza artificiale) </a:t>
            </a:r>
          </a:p>
          <a:p>
            <a:pPr marL="514350" indent="-514350">
              <a:buAutoNum type="arabicParenR"/>
            </a:pPr>
            <a:r>
              <a:rPr lang="it-IT" sz="2800" b="1" dirty="0" smtClean="0">
                <a:solidFill>
                  <a:srgbClr val="FFC000"/>
                </a:solidFill>
              </a:rPr>
              <a:t>EIDAS 2 (Regolamento per accesso, condivisione e conservazione dati e informazioni)</a:t>
            </a:r>
            <a:endParaRPr lang="it-IT" sz="28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91545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4AA353C34084B48AD5373DABC4FE04B" ma:contentTypeVersion="6" ma:contentTypeDescription="Creare un nuovo documento." ma:contentTypeScope="" ma:versionID="7b95d111b612a96f1219550b5e1db449">
  <xsd:schema xmlns:xsd="http://www.w3.org/2001/XMLSchema" xmlns:xs="http://www.w3.org/2001/XMLSchema" xmlns:p="http://schemas.microsoft.com/office/2006/metadata/properties" xmlns:ns2="a92ef012-2059-489e-bed9-6971e10b3fed" targetNamespace="http://schemas.microsoft.com/office/2006/metadata/properties" ma:root="true" ma:fieldsID="1b0ffde798c86c6a5476af6b0920dbb2" ns2:_="">
    <xsd:import namespace="a92ef012-2059-489e-bed9-6971e10b3fe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2ef012-2059-489e-bed9-6971e10b3f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256443-2934-47D5-BC1C-6F8CCDE8E7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677C9D3-16DB-4FF6-A2EC-405FC028E78F}">
  <ds:schemaRefs>
    <ds:schemaRef ds:uri="http://schemas.microsoft.com/office/2006/documentManagement/types"/>
    <ds:schemaRef ds:uri="http://purl.org/dc/dcmitype/"/>
    <ds:schemaRef ds:uri="http://purl.org/dc/elements/1.1/"/>
    <ds:schemaRef ds:uri="a92ef012-2059-489e-bed9-6971e10b3fed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CF4AACC-8FBD-48EA-9157-CB62B8367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2ef012-2059-489e-bed9-6971e10b3fe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10705</TotalTime>
  <Words>1472</Words>
  <Application>Microsoft Office PowerPoint</Application>
  <PresentationFormat>Personalizzato</PresentationFormat>
  <Paragraphs>99</Paragraphs>
  <Slides>20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1" baseType="lpstr">
      <vt:lpstr>Circuito</vt:lpstr>
      <vt:lpstr>Fondazione ITS   Information &amp; Communications Technology Academy</vt:lpstr>
      <vt:lpstr>Presentazione standard di PowerPoint</vt:lpstr>
      <vt:lpstr>La cittadinanza digitale</vt:lpstr>
      <vt:lpstr>La cittadinanza digitale</vt:lpstr>
      <vt:lpstr>Da utenti a cittadini digitali</vt:lpstr>
      <vt:lpstr>Il digital divide</vt:lpstr>
      <vt:lpstr>Il digital divide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La normativa sulla</vt:lpstr>
      <vt:lpstr>Una breve premessa ...</vt:lpstr>
      <vt:lpstr>Una breve premessa ...</vt:lpstr>
      <vt:lpstr>Il diritto dell'informatica …</vt:lpstr>
      <vt:lpstr>Il diritto dell'informatica …</vt:lpstr>
      <vt:lpstr>Presentazione standard di PowerPoint</vt:lpstr>
      <vt:lpstr>Presentazione standard di PowerPoint</vt:lpstr>
      <vt:lpstr>Alcuni esempi …</vt:lpstr>
      <vt:lpstr>L’Unione Europea ha stabilito regole precise per la tutela digitalE delle persone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Costituzione ITS  «Istituto Tecnico Superiore ITS Information and Communications Technology Academy»</dc:title>
  <dc:creator>Fabrizio Rizzitelli</dc:creator>
  <cp:lastModifiedBy>Enzo Chilelli</cp:lastModifiedBy>
  <cp:revision>82</cp:revision>
  <cp:lastPrinted>2022-10-19T16:38:02Z</cp:lastPrinted>
  <dcterms:created xsi:type="dcterms:W3CDTF">2022-03-20T16:16:01Z</dcterms:created>
  <dcterms:modified xsi:type="dcterms:W3CDTF">2024-12-02T10:17:53Z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0x010100F4AA353C34084B48AD5373DABC4FE04B</vt:lpwstr>
  </property>
</Properties>
</file>