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21"/>
  </p:notesMasterIdLst>
  <p:handoutMasterIdLst>
    <p:handoutMasterId r:id="rId22"/>
  </p:handoutMasterIdLst>
  <p:sldIdLst>
    <p:sldId id="302" r:id="rId5"/>
    <p:sldId id="298" r:id="rId6"/>
    <p:sldId id="296" r:id="rId7"/>
    <p:sldId id="299" r:id="rId8"/>
    <p:sldId id="301" r:id="rId9"/>
    <p:sldId id="306" r:id="rId10"/>
    <p:sldId id="303" r:id="rId11"/>
    <p:sldId id="307" r:id="rId12"/>
    <p:sldId id="310" r:id="rId13"/>
    <p:sldId id="308" r:id="rId14"/>
    <p:sldId id="309" r:id="rId15"/>
    <p:sldId id="312" r:id="rId16"/>
    <p:sldId id="313" r:id="rId17"/>
    <p:sldId id="311" r:id="rId18"/>
    <p:sldId id="315" r:id="rId19"/>
    <p:sldId id="316" r:id="rId20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9" autoAdjust="0"/>
    <p:restoredTop sz="83274" autoAdjust="0"/>
  </p:normalViewPr>
  <p:slideViewPr>
    <p:cSldViewPr snapToGrid="0">
      <p:cViewPr>
        <p:scale>
          <a:sx n="60" d="100"/>
          <a:sy n="60" d="100"/>
        </p:scale>
        <p:origin x="-774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52BAE-439A-4FC8-8655-99AAAEB01D21}" type="datetimeFigureOut">
              <a:rPr lang="it-IT" smtClean="0"/>
              <a:t>15/02/2024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176B-96D9-4935-94ED-396780CCE3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4373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651B7-D1FD-484D-9665-DAAE23E1A784}" type="datetimeFigureOut">
              <a:rPr lang="it-IT" smtClean="0"/>
              <a:t>15/02/2024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96FAA-A9DD-444E-AAB0-7E9234A0C1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64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96FAA-A9DD-444E-AAB0-7E9234A0C1F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142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96FAA-A9DD-444E-AAB0-7E9234A0C1F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369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96FAA-A9DD-444E-AAB0-7E9234A0C1F6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369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70D8EC6-05AF-42E8-967A-AAD7AD80F81C}" type="datetime1">
              <a:rPr lang="it-IT" smtClean="0"/>
              <a:t>15/02/2024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372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CE15-04C7-4618-95DB-ED79C8E3A217}" type="datetime1">
              <a:rPr lang="it-IT" smtClean="0"/>
              <a:t>15/02/2024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13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66418-C66F-482C-A2AE-8C47E252DB0C}" type="datetime1">
              <a:rPr lang="it-IT" smtClean="0"/>
              <a:t>15/02/2024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76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4234-F74D-49AA-A11A-76052BA5687A}" type="datetime1">
              <a:rPr lang="it-IT" smtClean="0"/>
              <a:t>15/02/2024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42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7E194-C971-4739-81F1-E8777D881483}" type="datetime1">
              <a:rPr lang="it-IT" smtClean="0"/>
              <a:t>15/02/2024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52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26A4-72B2-441B-A754-36D12F008D9C}" type="datetime1">
              <a:rPr lang="it-IT" smtClean="0"/>
              <a:t>15/02/2024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51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4A30-5C7A-4441-B5D7-70720E734D76}" type="datetime1">
              <a:rPr lang="it-IT" smtClean="0"/>
              <a:t>15/02/2024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714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FD286-1E23-4496-AB18-A7DF5C8CE213}" type="datetime1">
              <a:rPr lang="it-IT" smtClean="0"/>
              <a:t>15/02/2024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4482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EBD2-745A-4FFD-9F97-D0274C7E853B}" type="datetime1">
              <a:rPr lang="it-IT" smtClean="0"/>
              <a:t>15/02/2024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7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57D-6A4F-431D-96FE-2A6C51CDA8F8}" type="datetime1">
              <a:rPr lang="it-IT" smtClean="0"/>
              <a:t>15/02/2024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133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3762-40E7-4456-B57E-599A6885D454}" type="datetime1">
              <a:rPr lang="it-IT" smtClean="0"/>
              <a:t>15/02/2024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45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88880-91AB-48E8-BE9C-4F0F7BBF2859}" type="datetime1">
              <a:rPr lang="it-IT" smtClean="0"/>
              <a:t>15/02/2024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5887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4CDF5-9C9C-44D9-8D59-F569663E130C}" type="datetime1">
              <a:rPr lang="it-IT" smtClean="0"/>
              <a:t>15/02/2024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064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B067-3B22-42E3-B521-8212467F7A55}" type="datetime1">
              <a:rPr lang="it-IT" smtClean="0"/>
              <a:t>15/02/2024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6899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EA9A-AE73-4C86-9BB9-19EF17F31910}" type="datetime1">
              <a:rPr lang="it-IT" smtClean="0"/>
              <a:t>15/02/2024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6777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5E3A-8505-46E3-8727-03942588E388}" type="datetime1">
              <a:rPr lang="it-IT" smtClean="0"/>
              <a:t>15/02/2024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638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9863-396D-43E8-A741-75AB7B866696}" type="datetime1">
              <a:rPr lang="it-IT" smtClean="0"/>
              <a:t>15/02/2024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601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3B760-DED4-4157-BBB8-83F0E672D44A}" type="datetime1">
              <a:rPr lang="it-IT" smtClean="0"/>
              <a:t>15/02/2024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172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gendadigitale.eu/cittadinanza-digitale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64696" y="617037"/>
            <a:ext cx="11927304" cy="23876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Fondazione ITS 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1300" b="1" dirty="0" smtClean="0"/>
              <a:t/>
            </a:r>
            <a:br>
              <a:rPr lang="en-US" sz="1300" b="1" dirty="0" smtClean="0"/>
            </a:br>
            <a:r>
              <a:rPr lang="en-US" sz="3200" b="1" dirty="0" smtClean="0"/>
              <a:t>Information &amp; </a:t>
            </a:r>
            <a:r>
              <a:rPr lang="en-US" sz="3200" b="1" dirty="0"/>
              <a:t>Communications Technology </a:t>
            </a:r>
            <a:r>
              <a:rPr lang="en-US" sz="3200" b="1" dirty="0" smtClean="0"/>
              <a:t>Academy</a:t>
            </a:r>
            <a:endParaRPr lang="it-IT" sz="3200" b="1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14855" y="3602038"/>
            <a:ext cx="11256579" cy="1655762"/>
          </a:xfrm>
        </p:spPr>
        <p:txBody>
          <a:bodyPr>
            <a:noAutofit/>
          </a:bodyPr>
          <a:lstStyle/>
          <a:p>
            <a:pPr algn="ctr"/>
            <a:r>
              <a:rPr lang="it-IT" sz="3200" b="1" u="sng" dirty="0" smtClean="0">
                <a:solidFill>
                  <a:schemeClr val="tx1">
                    <a:lumMod val="95000"/>
                  </a:schemeClr>
                </a:solidFill>
              </a:rPr>
              <a:t>LA 4^ RIVOLUZIONE INDUSTRIALE </a:t>
            </a:r>
          </a:p>
          <a:p>
            <a:pPr algn="ctr"/>
            <a:r>
              <a:rPr lang="it-IT" sz="3200" b="1" u="sng" dirty="0" smtClean="0">
                <a:solidFill>
                  <a:schemeClr val="tx1">
                    <a:lumMod val="95000"/>
                  </a:schemeClr>
                </a:solidFill>
              </a:rPr>
              <a:t>E LE Opportunità  Di  INGRESSO NEL  MONDO  DEL  LAVORO</a:t>
            </a:r>
            <a:endParaRPr lang="it-IT" sz="3200" b="1" u="sng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26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05566"/>
          </a:xfrm>
        </p:spPr>
        <p:txBody>
          <a:bodyPr>
            <a:noAutofit/>
          </a:bodyPr>
          <a:lstStyle/>
          <a:p>
            <a:pPr algn="ctr"/>
            <a:r>
              <a:rPr lang="it-IT" sz="5400" b="1" dirty="0"/>
              <a:t>lo sviluppo economico e digitale dell’Italia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BDFE2D3E-A46E-AD78-C49D-7E0DAF002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8" y="2648607"/>
            <a:ext cx="11237495" cy="314259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/>
              <a:t>“</a:t>
            </a:r>
            <a:r>
              <a:rPr lang="it-IT" sz="5400" b="1" i="1" u="sng" dirty="0"/>
              <a:t>Il software sta mangiando il mondo</a:t>
            </a:r>
            <a:r>
              <a:rPr lang="it-IT" sz="5400" dirty="0"/>
              <a:t>”. </a:t>
            </a:r>
            <a:endParaRPr lang="it-IT" sz="5400" dirty="0" smtClean="0"/>
          </a:p>
          <a:p>
            <a:endParaRPr lang="it-IT" sz="2800" dirty="0"/>
          </a:p>
          <a:p>
            <a:pPr marL="0" indent="0" algn="r">
              <a:buNone/>
            </a:pPr>
            <a:r>
              <a:rPr lang="it-IT" sz="3600" b="1" dirty="0" smtClean="0"/>
              <a:t>Marc </a:t>
            </a:r>
            <a:r>
              <a:rPr lang="it-IT" sz="3600" b="1" dirty="0" err="1"/>
              <a:t>Andreessen</a:t>
            </a:r>
            <a:r>
              <a:rPr lang="it-IT" sz="3600" b="1" dirty="0"/>
              <a:t>, fondatore di </a:t>
            </a:r>
            <a:r>
              <a:rPr lang="it-IT" sz="3600" b="1" dirty="0" smtClean="0"/>
              <a:t>Netscape</a:t>
            </a:r>
            <a:r>
              <a:rPr lang="it-IT" sz="2800" dirty="0" smtClean="0"/>
              <a:t>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87090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FB6216DB-1521-8807-6580-20A7D98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42043"/>
          </a:xfrm>
        </p:spPr>
        <p:txBody>
          <a:bodyPr>
            <a:noAutofit/>
          </a:bodyPr>
          <a:lstStyle/>
          <a:p>
            <a:pPr algn="ctr"/>
            <a:r>
              <a:rPr lang="it-IT" sz="6000" b="1" dirty="0" smtClean="0"/>
              <a:t>L’informatica distrugge il lavoro?</a:t>
            </a:r>
            <a:endParaRPr lang="it-IT" sz="6000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B47F66ED-94F1-3816-F5BC-26AF46E67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559" y="2301765"/>
            <a:ext cx="11398469" cy="3657877"/>
          </a:xfrm>
        </p:spPr>
        <p:txBody>
          <a:bodyPr>
            <a:noAutofit/>
          </a:bodyPr>
          <a:lstStyle/>
          <a:p>
            <a:r>
              <a:rPr lang="it-IT" sz="4800" dirty="0" smtClean="0"/>
              <a:t>È un’idea </a:t>
            </a:r>
            <a:r>
              <a:rPr lang="it-IT" sz="4800" dirty="0"/>
              <a:t>sbagliata </a:t>
            </a:r>
            <a:r>
              <a:rPr lang="it-IT" sz="4800" dirty="0" smtClean="0"/>
              <a:t>è invece </a:t>
            </a:r>
            <a:r>
              <a:rPr lang="it-IT" sz="4800" dirty="0"/>
              <a:t>vero il </a:t>
            </a:r>
            <a:r>
              <a:rPr lang="it-IT" sz="4800" dirty="0" smtClean="0"/>
              <a:t>contrario</a:t>
            </a:r>
          </a:p>
          <a:p>
            <a:r>
              <a:rPr lang="it-IT" sz="4800" u="sng" dirty="0" smtClean="0"/>
              <a:t>Uno studio </a:t>
            </a:r>
            <a:r>
              <a:rPr lang="it-IT" sz="4800" u="sng" dirty="0"/>
              <a:t>di </a:t>
            </a:r>
            <a:r>
              <a:rPr lang="it-IT" sz="4800" u="sng" dirty="0" err="1"/>
              <a:t>McKinsey</a:t>
            </a:r>
            <a:r>
              <a:rPr lang="it-IT" sz="4800" dirty="0"/>
              <a:t> </a:t>
            </a:r>
            <a:r>
              <a:rPr lang="it-IT" sz="4800" dirty="0" smtClean="0"/>
              <a:t>ci dice che per ogni posto di lavoro «distrutto» se ne creano 2,6.</a:t>
            </a:r>
          </a:p>
          <a:p>
            <a:pPr marL="0" indent="0">
              <a:buNone/>
            </a:pPr>
            <a:endParaRPr lang="it-IT" sz="2600" dirty="0"/>
          </a:p>
        </p:txBody>
      </p:sp>
    </p:spTree>
    <p:extLst>
      <p:ext uri="{BB962C8B-B14F-4D97-AF65-F5344CB8AC3E}">
        <p14:creationId xmlns:p14="http://schemas.microsoft.com/office/powerpoint/2010/main" val="407397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05566"/>
          </a:xfrm>
        </p:spPr>
        <p:txBody>
          <a:bodyPr>
            <a:normAutofit/>
          </a:bodyPr>
          <a:lstStyle/>
          <a:p>
            <a:pPr algn="ctr"/>
            <a:r>
              <a:rPr lang="it-IT" sz="6000" dirty="0" smtClean="0"/>
              <a:t>NUOVI LAVORI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BDFE2D3E-A46E-AD78-C49D-7E0DAF002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453" y="1686909"/>
            <a:ext cx="10924673" cy="4737953"/>
          </a:xfrm>
        </p:spPr>
        <p:txBody>
          <a:bodyPr>
            <a:normAutofit/>
          </a:bodyPr>
          <a:lstStyle/>
          <a:p>
            <a:pPr marL="536575" indent="-536575" algn="just">
              <a:buFont typeface="Wingdings" panose="05000000000000000000" pitchFamily="2" charset="2"/>
              <a:buChar char="Ø"/>
            </a:pPr>
            <a:r>
              <a:rPr lang="it-IT" sz="4400" dirty="0" smtClean="0"/>
              <a:t>Acquisti </a:t>
            </a:r>
            <a:r>
              <a:rPr lang="it-IT" sz="4400" dirty="0"/>
              <a:t>online, home banking, certificati e servizi pubblici in rete, viaggi, autoletture dei contatori, </a:t>
            </a:r>
            <a:r>
              <a:rPr lang="it-IT" sz="4400" dirty="0" err="1"/>
              <a:t>etc</a:t>
            </a:r>
            <a:r>
              <a:rPr lang="it-IT" sz="4400" dirty="0"/>
              <a:t>… </a:t>
            </a:r>
            <a:endParaRPr lang="it-IT" sz="4400" dirty="0" smtClean="0"/>
          </a:p>
          <a:p>
            <a:pPr marL="536575" indent="-536575" algn="just">
              <a:buFont typeface="Wingdings" panose="05000000000000000000" pitchFamily="2" charset="2"/>
              <a:buChar char="Ø"/>
            </a:pPr>
            <a:r>
              <a:rPr lang="it-IT" sz="4400" dirty="0" smtClean="0"/>
              <a:t>Molti </a:t>
            </a:r>
            <a:r>
              <a:rPr lang="it-IT" sz="4400" dirty="0"/>
              <a:t>lavori non ci sono più </a:t>
            </a:r>
            <a:r>
              <a:rPr lang="it-IT" sz="4400" dirty="0" smtClean="0"/>
              <a:t>ma </a:t>
            </a:r>
            <a:r>
              <a:rPr lang="it-IT" sz="4400" dirty="0"/>
              <a:t>nel frattempo sono </a:t>
            </a:r>
            <a:r>
              <a:rPr lang="it-IT" sz="4400" dirty="0" smtClean="0"/>
              <a:t>nati molti lavori nel </a:t>
            </a:r>
            <a:r>
              <a:rPr lang="it-IT" sz="4400" dirty="0"/>
              <a:t>settore </a:t>
            </a:r>
            <a:r>
              <a:rPr lang="it-IT" sz="4400" dirty="0" smtClean="0"/>
              <a:t>digitale.</a:t>
            </a:r>
            <a:endParaRPr lang="it-IT" sz="4400" dirty="0"/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it-IT" sz="3200" dirty="0" smtClean="0"/>
          </a:p>
        </p:txBody>
      </p:sp>
    </p:spTree>
    <p:extLst>
      <p:ext uri="{BB962C8B-B14F-4D97-AF65-F5344CB8AC3E}">
        <p14:creationId xmlns:p14="http://schemas.microsoft.com/office/powerpoint/2010/main" val="76266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3" y="313718"/>
            <a:ext cx="9905998" cy="1005566"/>
          </a:xfrm>
        </p:spPr>
        <p:txBody>
          <a:bodyPr>
            <a:normAutofit/>
          </a:bodyPr>
          <a:lstStyle/>
          <a:p>
            <a:pPr algn="ctr"/>
            <a:r>
              <a:rPr lang="it-IT" sz="6000" b="1" dirty="0" smtClean="0"/>
              <a:t>NUOVI LAVORI</a:t>
            </a:r>
            <a:endParaRPr lang="it-IT" sz="6000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BDFE2D3E-A46E-AD78-C49D-7E0DAF002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66193"/>
            <a:ext cx="9905999" cy="4958670"/>
          </a:xfrm>
        </p:spPr>
        <p:txBody>
          <a:bodyPr>
            <a:noAutofit/>
          </a:bodyPr>
          <a:lstStyle/>
          <a:p>
            <a:pPr algn="just"/>
            <a:r>
              <a:rPr lang="it-IT" sz="4800" dirty="0"/>
              <a:t>La domanda di questi lavoratori supererà, e di molto, l’offerta. </a:t>
            </a:r>
            <a:endParaRPr lang="it-IT" sz="4800" dirty="0" smtClean="0"/>
          </a:p>
          <a:p>
            <a:pPr algn="just"/>
            <a:r>
              <a:rPr lang="it-IT" sz="4800" dirty="0" smtClean="0"/>
              <a:t>nel </a:t>
            </a:r>
            <a:r>
              <a:rPr lang="it-IT" sz="4800" dirty="0"/>
              <a:t>2030 ci sarà una richiesta sempre più massiccia di lavoratori in settori tecnologici: ne mancheranno però 85 </a:t>
            </a:r>
            <a:r>
              <a:rPr lang="it-IT" sz="4800" dirty="0" smtClean="0"/>
              <a:t>Milioni</a:t>
            </a:r>
            <a:r>
              <a:rPr lang="it-IT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067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3" y="313718"/>
            <a:ext cx="9905998" cy="1373192"/>
          </a:xfrm>
        </p:spPr>
        <p:txBody>
          <a:bodyPr>
            <a:noAutofit/>
          </a:bodyPr>
          <a:lstStyle/>
          <a:p>
            <a:pPr algn="ctr"/>
            <a:r>
              <a:rPr lang="it-IT" sz="6000" b="1" dirty="0" smtClean="0"/>
              <a:t>La nostra sfida e quella </a:t>
            </a:r>
            <a:r>
              <a:rPr lang="it-IT" sz="6000" b="1" dirty="0" err="1" smtClean="0"/>
              <a:t>dell’italia</a:t>
            </a:r>
            <a:endParaRPr lang="it-IT" sz="6000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BDFE2D3E-A46E-AD78-C49D-7E0DAF002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572" y="1891862"/>
            <a:ext cx="10641725" cy="432345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b="1" dirty="0" smtClean="0"/>
              <a:t>Trasformare </a:t>
            </a:r>
            <a:r>
              <a:rPr lang="it-IT" sz="5400" b="1" dirty="0"/>
              <a:t>l’Italia da mercato passivo di tecnologia straniera, a Paese attivo nella creazione di tecnologia moderna. </a:t>
            </a:r>
            <a:endParaRPr lang="it-IT" sz="5400" b="1" dirty="0" smtClean="0"/>
          </a:p>
        </p:txBody>
      </p:sp>
    </p:spTree>
    <p:extLst>
      <p:ext uri="{BB962C8B-B14F-4D97-AF65-F5344CB8AC3E}">
        <p14:creationId xmlns:p14="http://schemas.microsoft.com/office/powerpoint/2010/main" val="19036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157" y="271509"/>
            <a:ext cx="9905998" cy="1509993"/>
          </a:xfrm>
        </p:spPr>
        <p:txBody>
          <a:bodyPr>
            <a:noAutofit/>
          </a:bodyPr>
          <a:lstStyle/>
          <a:p>
            <a:pPr algn="ctr"/>
            <a:r>
              <a:rPr lang="it-IT" sz="6000" b="1" dirty="0" smtClean="0"/>
              <a:t>La tecnologia volano dell’economia mondiale</a:t>
            </a:r>
            <a:endParaRPr lang="it-IT" sz="6000" b="1" dirty="0"/>
          </a:p>
        </p:txBody>
      </p:sp>
      <p:sp>
        <p:nvSpPr>
          <p:cNvPr id="3" name="Rettangolo 2"/>
          <p:cNvSpPr/>
          <p:nvPr/>
        </p:nvSpPr>
        <p:spPr>
          <a:xfrm>
            <a:off x="697832" y="1948955"/>
            <a:ext cx="1078029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4800" dirty="0" smtClean="0"/>
              <a:t>Tra le prime </a:t>
            </a:r>
            <a:r>
              <a:rPr lang="it-IT" sz="4800" dirty="0"/>
              <a:t>5 compagnie al mondo per </a:t>
            </a:r>
            <a:r>
              <a:rPr lang="it-IT" sz="4800" dirty="0" smtClean="0"/>
              <a:t>capitalizzazione</a:t>
            </a:r>
            <a:r>
              <a:rPr lang="it-IT" sz="4800" dirty="0"/>
              <a:t> </a:t>
            </a:r>
            <a:r>
              <a:rPr lang="it-IT" sz="4800" dirty="0" smtClean="0"/>
              <a:t>4 sono di </a:t>
            </a:r>
            <a:r>
              <a:rPr lang="it-IT" sz="4800" dirty="0"/>
              <a:t>tecnologia in cui il software riveste un ruolo essenziale </a:t>
            </a:r>
            <a:endParaRPr lang="it-IT" sz="4800" dirty="0" smtClean="0"/>
          </a:p>
          <a:p>
            <a:pPr algn="ctr">
              <a:spcAft>
                <a:spcPts val="1200"/>
              </a:spcAft>
            </a:pPr>
            <a:r>
              <a:rPr lang="it-IT" sz="4800" b="1" dirty="0" smtClean="0"/>
              <a:t>(</a:t>
            </a:r>
            <a:r>
              <a:rPr lang="it-IT" sz="4800" b="1" dirty="0"/>
              <a:t>Apple, Microsoft, Google, Amazon)</a:t>
            </a:r>
            <a:r>
              <a:rPr lang="it-IT" sz="4800" dirty="0"/>
              <a:t>, </a:t>
            </a:r>
            <a:endParaRPr lang="it-IT" sz="4800" dirty="0" smtClean="0"/>
          </a:p>
          <a:p>
            <a:pPr algn="ctr"/>
            <a:r>
              <a:rPr lang="it-IT" sz="3600" dirty="0" smtClean="0"/>
              <a:t>la </a:t>
            </a:r>
            <a:r>
              <a:rPr lang="it-IT" sz="3600" dirty="0"/>
              <a:t>quinta è la società petrolifera degli Emirati Arabi. </a:t>
            </a:r>
          </a:p>
        </p:txBody>
      </p:sp>
    </p:spTree>
    <p:extLst>
      <p:ext uri="{BB962C8B-B14F-4D97-AF65-F5344CB8AC3E}">
        <p14:creationId xmlns:p14="http://schemas.microsoft.com/office/powerpoint/2010/main" val="3043947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94" y="475733"/>
            <a:ext cx="9905998" cy="1005566"/>
          </a:xfrm>
        </p:spPr>
        <p:txBody>
          <a:bodyPr>
            <a:noAutofit/>
          </a:bodyPr>
          <a:lstStyle/>
          <a:p>
            <a:pPr algn="ctr"/>
            <a:r>
              <a:rPr lang="it-IT" sz="6000" b="1" dirty="0" err="1" smtClean="0"/>
              <a:t>L’italia</a:t>
            </a:r>
            <a:r>
              <a:rPr lang="it-IT" sz="6000" b="1" dirty="0" smtClean="0"/>
              <a:t> e </a:t>
            </a:r>
            <a:r>
              <a:rPr lang="it-IT" sz="6000" b="1" dirty="0" err="1" smtClean="0"/>
              <a:t>l’europa</a:t>
            </a:r>
            <a:r>
              <a:rPr lang="it-IT" sz="6000" b="1" dirty="0" smtClean="0"/>
              <a:t> nel mercato </a:t>
            </a:r>
            <a:r>
              <a:rPr lang="it-IT" sz="6000" b="1" dirty="0" err="1" smtClean="0"/>
              <a:t>ict</a:t>
            </a:r>
            <a:endParaRPr lang="it-IT" sz="6000" b="1" dirty="0"/>
          </a:p>
        </p:txBody>
      </p:sp>
      <p:sp>
        <p:nvSpPr>
          <p:cNvPr id="4" name="Rettangolo 3"/>
          <p:cNvSpPr/>
          <p:nvPr/>
        </p:nvSpPr>
        <p:spPr>
          <a:xfrm>
            <a:off x="772511" y="1828140"/>
            <a:ext cx="106890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800" dirty="0" smtClean="0"/>
              <a:t>L’Italia </a:t>
            </a:r>
            <a:r>
              <a:rPr lang="it-IT" sz="4800" dirty="0"/>
              <a:t>e </a:t>
            </a:r>
            <a:r>
              <a:rPr lang="it-IT" sz="4800" dirty="0" smtClean="0"/>
              <a:t>l’Unione </a:t>
            </a:r>
            <a:r>
              <a:rPr lang="it-IT" sz="4800" dirty="0"/>
              <a:t>Europea, non </a:t>
            </a:r>
            <a:r>
              <a:rPr lang="it-IT" sz="4800" dirty="0" smtClean="0"/>
              <a:t>hanno </a:t>
            </a:r>
            <a:r>
              <a:rPr lang="it-IT" sz="4800" dirty="0"/>
              <a:t>espresso realtà locali </a:t>
            </a:r>
            <a:r>
              <a:rPr lang="it-IT" sz="4800" dirty="0" smtClean="0"/>
              <a:t>comparabili </a:t>
            </a:r>
            <a:r>
              <a:rPr lang="it-IT" sz="4800" dirty="0"/>
              <a:t>alle compagnie sopra citate. </a:t>
            </a:r>
            <a:endParaRPr lang="it-IT" sz="4800" dirty="0" smtClean="0"/>
          </a:p>
          <a:p>
            <a:pPr algn="just"/>
            <a:endParaRPr lang="it-IT" sz="1200" dirty="0"/>
          </a:p>
          <a:p>
            <a:pPr algn="just"/>
            <a:r>
              <a:rPr lang="it-IT" sz="4800" dirty="0" smtClean="0"/>
              <a:t>Anzi</a:t>
            </a:r>
            <a:r>
              <a:rPr lang="it-IT" sz="4800" dirty="0"/>
              <a:t>, </a:t>
            </a:r>
            <a:r>
              <a:rPr lang="it-IT" sz="4800" dirty="0" smtClean="0"/>
              <a:t>sono diventate </a:t>
            </a:r>
            <a:r>
              <a:rPr lang="it-IT" sz="4800" dirty="0"/>
              <a:t>mercato di conquista e </a:t>
            </a:r>
            <a:r>
              <a:rPr lang="it-IT" sz="4800" dirty="0" smtClean="0"/>
              <a:t>consumatrici passive </a:t>
            </a:r>
            <a:r>
              <a:rPr lang="it-IT" sz="4800" dirty="0"/>
              <a:t>di servizi sempre più essenziali.</a:t>
            </a:r>
          </a:p>
        </p:txBody>
      </p:sp>
    </p:spTree>
    <p:extLst>
      <p:ext uri="{BB962C8B-B14F-4D97-AF65-F5344CB8AC3E}">
        <p14:creationId xmlns:p14="http://schemas.microsoft.com/office/powerpoint/2010/main" val="3985821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157" y="271510"/>
            <a:ext cx="9905998" cy="1005566"/>
          </a:xfrm>
        </p:spPr>
        <p:txBody>
          <a:bodyPr>
            <a:normAutofit/>
          </a:bodyPr>
          <a:lstStyle/>
          <a:p>
            <a:pPr algn="ctr"/>
            <a:r>
              <a:rPr lang="it-IT" sz="6000" b="1" dirty="0" err="1" smtClean="0"/>
              <a:t>L’italia</a:t>
            </a:r>
            <a:r>
              <a:rPr lang="it-IT" sz="6000" b="1" dirty="0" smtClean="0"/>
              <a:t> nel mercato </a:t>
            </a:r>
            <a:r>
              <a:rPr lang="it-IT" sz="6000" b="1" dirty="0" err="1" smtClean="0"/>
              <a:t>ict</a:t>
            </a:r>
            <a:endParaRPr lang="it-IT" sz="6000" b="1" dirty="0"/>
          </a:p>
        </p:txBody>
      </p:sp>
      <p:sp>
        <p:nvSpPr>
          <p:cNvPr id="4" name="Rettangolo 3"/>
          <p:cNvSpPr/>
          <p:nvPr/>
        </p:nvSpPr>
        <p:spPr>
          <a:xfrm>
            <a:off x="649704" y="1240668"/>
            <a:ext cx="11044989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800" dirty="0" smtClean="0"/>
              <a:t>Negli anni ‘80 e ‘90 del secolo scorso L’Italia era ai primissimi posti nel mondo per lo sviluppo di soluzioni digitali.</a:t>
            </a:r>
          </a:p>
          <a:p>
            <a:pPr algn="just"/>
            <a:endParaRPr lang="it-IT" sz="1200" dirty="0"/>
          </a:p>
          <a:p>
            <a:pPr algn="just"/>
            <a:r>
              <a:rPr lang="it-IT" sz="4800" dirty="0" smtClean="0"/>
              <a:t>Oggi l’Italia </a:t>
            </a:r>
            <a:r>
              <a:rPr lang="it-IT" sz="4800" dirty="0"/>
              <a:t>si colloca al </a:t>
            </a:r>
            <a:r>
              <a:rPr lang="it-IT" sz="4800" b="1" dirty="0" smtClean="0"/>
              <a:t>27esimo </a:t>
            </a:r>
            <a:r>
              <a:rPr lang="it-IT" sz="4800" b="1" dirty="0"/>
              <a:t>posto in materia di “Competenze digitali”</a:t>
            </a:r>
            <a:r>
              <a:rPr lang="it-IT" sz="4800" dirty="0"/>
              <a:t> </a:t>
            </a:r>
            <a:r>
              <a:rPr lang="it-IT" sz="4800" dirty="0" smtClean="0"/>
              <a:t>al penultimo </a:t>
            </a:r>
            <a:r>
              <a:rPr lang="it-IT" sz="4800" dirty="0"/>
              <a:t>posto tra gli stati membri dell’Unione Europea (UE) </a:t>
            </a:r>
            <a:r>
              <a:rPr lang="it-IT" sz="4800" dirty="0" err="1"/>
              <a:t>pre-Brexit</a:t>
            </a:r>
            <a:r>
              <a:rPr lang="it-IT" sz="4800" dirty="0" smtClean="0"/>
              <a:t>.</a:t>
            </a:r>
          </a:p>
          <a:p>
            <a:pPr algn="just"/>
            <a:endParaRPr lang="it-IT" sz="4800" dirty="0"/>
          </a:p>
          <a:p>
            <a:pPr algn="just"/>
            <a:endParaRPr lang="it-IT" sz="4800" dirty="0"/>
          </a:p>
        </p:txBody>
      </p:sp>
    </p:spTree>
    <p:extLst>
      <p:ext uri="{BB962C8B-B14F-4D97-AF65-F5344CB8AC3E}">
        <p14:creationId xmlns:p14="http://schemas.microsoft.com/office/powerpoint/2010/main" val="267362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157" y="271510"/>
            <a:ext cx="9905998" cy="1005566"/>
          </a:xfrm>
        </p:spPr>
        <p:txBody>
          <a:bodyPr>
            <a:normAutofit fontScale="90000"/>
          </a:bodyPr>
          <a:lstStyle/>
          <a:p>
            <a:pPr algn="ctr"/>
            <a:r>
              <a:rPr lang="it-IT" b="1" dirty="0" smtClean="0"/>
              <a:t>Formazione ed Alfabetizzazione </a:t>
            </a:r>
            <a:r>
              <a:rPr lang="it-IT" b="1" dirty="0"/>
              <a:t>digitale, </a:t>
            </a:r>
            <a:r>
              <a:rPr lang="it-IT" b="1" dirty="0" smtClean="0"/>
              <a:t/>
            </a:r>
            <a:br>
              <a:rPr lang="it-IT" b="1" dirty="0" smtClean="0"/>
            </a:br>
            <a:r>
              <a:rPr lang="it-IT" b="1" dirty="0" smtClean="0"/>
              <a:t>sono necessarie: </a:t>
            </a:r>
            <a:r>
              <a:rPr lang="it-IT" b="1" dirty="0"/>
              <a:t>ecco perché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529389" y="1481299"/>
            <a:ext cx="11069053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200" b="1" dirty="0"/>
              <a:t>Prenotare un tampone e ottenere il referto, prenotare il vaccino, scaricare il green pass, pagare le tasse, ottenere i bonus di Stato, spedire un pacco o una raccomandata da casa: oggi l’alfabetizzazione digitale fa la differenza nella facilità di accesso ai servizi e la loro erogazione. </a:t>
            </a:r>
            <a:endParaRPr lang="it-IT" sz="3200" b="1" dirty="0" smtClean="0"/>
          </a:p>
          <a:p>
            <a:pPr algn="just"/>
            <a:endParaRPr lang="it-IT" sz="1400" dirty="0"/>
          </a:p>
          <a:p>
            <a:pPr algn="just"/>
            <a:r>
              <a:rPr lang="it-IT" sz="3200" b="1" dirty="0" smtClean="0"/>
              <a:t>Tutto questo è già previsto nel Piano </a:t>
            </a:r>
            <a:r>
              <a:rPr lang="it-IT" sz="3200" b="1" dirty="0"/>
              <a:t>Operativo Strategia Nazionale Competenze </a:t>
            </a:r>
            <a:r>
              <a:rPr lang="it-IT" sz="3200" b="1" dirty="0" smtClean="0"/>
              <a:t>Digitali.</a:t>
            </a:r>
          </a:p>
          <a:p>
            <a:pPr algn="just"/>
            <a:endParaRPr lang="it-IT" sz="1400" b="1" dirty="0"/>
          </a:p>
          <a:p>
            <a:pPr algn="just"/>
            <a:r>
              <a:rPr lang="it-IT" sz="3200" b="1" dirty="0" smtClean="0"/>
              <a:t>Ma siamo in ritardo perché mancano i tecnici che realizzino le applicazioni di semplice utilizzo per i cittadini.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987402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157" y="271510"/>
            <a:ext cx="9905998" cy="883522"/>
          </a:xfrm>
        </p:spPr>
        <p:txBody>
          <a:bodyPr>
            <a:normAutofit/>
          </a:bodyPr>
          <a:lstStyle/>
          <a:p>
            <a:pPr algn="ctr"/>
            <a:r>
              <a:rPr lang="it-IT" b="1" dirty="0" smtClean="0"/>
              <a:t>Formazione ed Alfabetizzazione </a:t>
            </a:r>
            <a:r>
              <a:rPr lang="it-IT" b="1" dirty="0"/>
              <a:t>digitale, 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529389" y="856357"/>
            <a:ext cx="1106905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3000" dirty="0"/>
              <a:t>L’alfabetizzazione digitale </a:t>
            </a:r>
            <a:r>
              <a:rPr lang="it-IT" sz="3000" dirty="0" smtClean="0"/>
              <a:t>è </a:t>
            </a:r>
            <a:r>
              <a:rPr lang="it-IT" sz="3000" dirty="0"/>
              <a:t>ormai un “must” per realizzare </a:t>
            </a:r>
            <a:r>
              <a:rPr lang="it-IT" sz="3000" dirty="0" smtClean="0"/>
              <a:t>la “</a:t>
            </a:r>
            <a:r>
              <a:rPr lang="it-IT" sz="3000" dirty="0" smtClean="0">
                <a:hlinkClick r:id="rId2"/>
              </a:rPr>
              <a:t>cittadinanza </a:t>
            </a:r>
            <a:r>
              <a:rPr lang="it-IT" sz="3000" dirty="0">
                <a:hlinkClick r:id="rId2"/>
              </a:rPr>
              <a:t>digitale</a:t>
            </a:r>
            <a:r>
              <a:rPr lang="it-IT" sz="3000" dirty="0"/>
              <a:t>”. È necessario investire di più e più incisivamente in educazione, con particolare riguardo alla </a:t>
            </a:r>
            <a:r>
              <a:rPr lang="it-IT" sz="3000" b="1" dirty="0"/>
              <a:t>“cultura</a:t>
            </a:r>
            <a:r>
              <a:rPr lang="it-IT" sz="3000" b="1" dirty="0" smtClean="0"/>
              <a:t>” digitale</a:t>
            </a:r>
            <a:r>
              <a:rPr lang="it-IT" sz="3000" dirty="0"/>
              <a:t>, </a:t>
            </a:r>
            <a:r>
              <a:rPr lang="it-IT" sz="3000" dirty="0" smtClean="0"/>
              <a:t>parola </a:t>
            </a:r>
            <a:r>
              <a:rPr lang="it-IT" sz="3000" dirty="0"/>
              <a:t>che va ben oltre </a:t>
            </a:r>
            <a:r>
              <a:rPr lang="it-IT" sz="3000" dirty="0" smtClean="0"/>
              <a:t>l’insegnamento delle </a:t>
            </a:r>
            <a:r>
              <a:rPr lang="it-IT" sz="3000" dirty="0"/>
              <a:t>“</a:t>
            </a:r>
            <a:r>
              <a:rPr lang="it-IT" sz="3000" b="1" dirty="0" err="1"/>
              <a:t>praticalità</a:t>
            </a:r>
            <a:r>
              <a:rPr lang="it-IT" sz="3000" dirty="0"/>
              <a:t>” nell’uso di strumenti digitali.</a:t>
            </a:r>
          </a:p>
          <a:p>
            <a:pPr algn="just"/>
            <a:r>
              <a:rPr lang="it-IT" sz="3000" dirty="0"/>
              <a:t>La parola “cultura” include </a:t>
            </a:r>
            <a:r>
              <a:rPr lang="it-IT" sz="3000" dirty="0" smtClean="0"/>
              <a:t>molti elementi </a:t>
            </a:r>
            <a:r>
              <a:rPr lang="it-IT" sz="3000" dirty="0"/>
              <a:t>da tenere in </a:t>
            </a:r>
            <a:r>
              <a:rPr lang="it-IT" sz="3000" dirty="0" smtClean="0"/>
              <a:t> </a:t>
            </a:r>
            <a:r>
              <a:rPr lang="it-IT" sz="3000" dirty="0"/>
              <a:t>considerazione quando si usano le tecnologie </a:t>
            </a:r>
            <a:r>
              <a:rPr lang="it-IT" sz="3000" dirty="0" smtClean="0"/>
              <a:t>digitali: </a:t>
            </a:r>
            <a:r>
              <a:rPr lang="it-IT" sz="3000" dirty="0"/>
              <a:t>le enormi opportunità socio-economiche offerte, l’uso etico e consapevole degli strumenti e, più in generale, l’importanza di prendere in considerazione tutti gli aspetti, positivi e negativi, legati all’uso di questo tipo di tecnologie</a:t>
            </a:r>
            <a:r>
              <a:rPr lang="it-IT" sz="3000" dirty="0" smtClean="0"/>
              <a:t>.</a:t>
            </a:r>
          </a:p>
          <a:p>
            <a:pPr algn="just"/>
            <a:endParaRPr lang="it-IT" sz="3000" dirty="0"/>
          </a:p>
          <a:p>
            <a:pPr algn="ctr"/>
            <a:r>
              <a:rPr lang="it-IT" sz="3000" b="1" dirty="0" smtClean="0"/>
              <a:t>Questo è ciò che vogliamo trasmettere ai nostri studenti!!!!!</a:t>
            </a:r>
            <a:endParaRPr lang="it-IT" sz="3000" b="1" dirty="0"/>
          </a:p>
        </p:txBody>
      </p:sp>
    </p:spTree>
    <p:extLst>
      <p:ext uri="{BB962C8B-B14F-4D97-AF65-F5344CB8AC3E}">
        <p14:creationId xmlns:p14="http://schemas.microsoft.com/office/powerpoint/2010/main" val="230488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157" y="271510"/>
            <a:ext cx="9905998" cy="883522"/>
          </a:xfrm>
        </p:spPr>
        <p:txBody>
          <a:bodyPr>
            <a:noAutofit/>
          </a:bodyPr>
          <a:lstStyle/>
          <a:p>
            <a:pPr algn="ctr"/>
            <a:r>
              <a:rPr lang="it-IT" sz="6000" b="1" dirty="0" smtClean="0"/>
              <a:t>Trasformazione digitale</a:t>
            </a:r>
            <a:endParaRPr lang="it-IT" sz="6000" dirty="0"/>
          </a:p>
        </p:txBody>
      </p:sp>
      <p:sp>
        <p:nvSpPr>
          <p:cNvPr id="3" name="Rettangolo 2"/>
          <p:cNvSpPr/>
          <p:nvPr/>
        </p:nvSpPr>
        <p:spPr>
          <a:xfrm>
            <a:off x="601579" y="1058779"/>
            <a:ext cx="1099686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4400" dirty="0" smtClean="0"/>
              <a:t>L’importanza dei dati e evidente. </a:t>
            </a: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4400" dirty="0" smtClean="0"/>
              <a:t>Oggi </a:t>
            </a:r>
            <a:r>
              <a:rPr lang="it-IT" sz="4400" dirty="0"/>
              <a:t>uno Stato non può fare affidamento </a:t>
            </a:r>
            <a:r>
              <a:rPr lang="it-IT" sz="4400" dirty="0" smtClean="0"/>
              <a:t>a </a:t>
            </a:r>
            <a:r>
              <a:rPr lang="it-IT" sz="4400" dirty="0"/>
              <a:t>piattaforme tecnologiche </a:t>
            </a:r>
            <a:r>
              <a:rPr lang="it-IT" sz="4400" dirty="0" smtClean="0"/>
              <a:t>straniere. </a:t>
            </a: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4400" dirty="0" smtClean="0"/>
              <a:t>È prioritario </a:t>
            </a:r>
            <a:r>
              <a:rPr lang="it-IT" sz="4400" dirty="0"/>
              <a:t>costruire una </a:t>
            </a:r>
            <a:r>
              <a:rPr lang="it-IT" sz="4400" b="1" dirty="0"/>
              <a:t>piattaforma </a:t>
            </a:r>
            <a:r>
              <a:rPr lang="it-IT" sz="4400" b="1" dirty="0" err="1"/>
              <a:t>cloud</a:t>
            </a:r>
            <a:r>
              <a:rPr lang="it-IT" sz="4400" b="1" dirty="0"/>
              <a:t> nazionale</a:t>
            </a:r>
            <a:r>
              <a:rPr lang="it-IT" sz="4400" dirty="0"/>
              <a:t>. </a:t>
            </a:r>
            <a:endParaRPr lang="it-IT" sz="4400" dirty="0" smtClean="0"/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4000" b="1" dirty="0" smtClean="0"/>
              <a:t>PER REALIZZARLA SERVONO MOLTI TECNICI PREPARATI</a:t>
            </a:r>
            <a:endParaRPr lang="it-IT" sz="4000" b="1" dirty="0"/>
          </a:p>
        </p:txBody>
      </p:sp>
    </p:spTree>
    <p:extLst>
      <p:ext uri="{BB962C8B-B14F-4D97-AF65-F5344CB8AC3E}">
        <p14:creationId xmlns:p14="http://schemas.microsoft.com/office/powerpoint/2010/main" val="3140855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https://www.repstatic.it/content/contenthub/img/2022/10/11/125439158-445e92ae-3da4-4de0-83d2-73e24797137c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56" y="882869"/>
            <a:ext cx="11808372" cy="597513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1266540" y="0"/>
            <a:ext cx="9898963" cy="1228106"/>
          </a:xfrm>
        </p:spPr>
        <p:txBody>
          <a:bodyPr>
            <a:normAutofit/>
          </a:bodyPr>
          <a:lstStyle/>
          <a:p>
            <a:r>
              <a:rPr lang="it-IT" b="1" dirty="0"/>
              <a:t>Le quote di mercato </a:t>
            </a:r>
            <a:r>
              <a:rPr lang="it-IT" b="1" dirty="0" smtClean="0"/>
              <a:t>di </a:t>
            </a:r>
            <a:r>
              <a:rPr lang="it-IT" b="1" dirty="0" err="1" smtClean="0"/>
              <a:t>cloud</a:t>
            </a:r>
            <a:r>
              <a:rPr lang="it-IT" b="1" dirty="0" smtClean="0"/>
              <a:t> nel </a:t>
            </a:r>
            <a:r>
              <a:rPr lang="it-IT" b="1" dirty="0"/>
              <a:t>mondo</a:t>
            </a:r>
            <a:r>
              <a:rPr lang="it-IT" b="1" dirty="0" smtClean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28249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157" y="271510"/>
            <a:ext cx="9905998" cy="883522"/>
          </a:xfrm>
        </p:spPr>
        <p:txBody>
          <a:bodyPr>
            <a:normAutofit/>
          </a:bodyPr>
          <a:lstStyle/>
          <a:p>
            <a:pPr algn="ctr"/>
            <a:r>
              <a:rPr lang="it-IT" b="1" dirty="0" smtClean="0"/>
              <a:t>Il ruolo degli </a:t>
            </a:r>
            <a:r>
              <a:rPr lang="it-IT" b="1" dirty="0" err="1" smtClean="0"/>
              <a:t>its</a:t>
            </a:r>
            <a:r>
              <a:rPr lang="it-IT" b="1" dirty="0" smtClean="0"/>
              <a:t> per l’</a:t>
            </a:r>
            <a:r>
              <a:rPr lang="it-IT" b="1" dirty="0" err="1" smtClean="0"/>
              <a:t>ict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529389" y="1169178"/>
            <a:ext cx="11357811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it-IT" sz="1400" b="1" dirty="0" smtClean="0"/>
          </a:p>
          <a:p>
            <a:pPr algn="just"/>
            <a:r>
              <a:rPr lang="it-IT" sz="4800" b="1" dirty="0" smtClean="0"/>
              <a:t>L’idea degli ITS è quella di implementare un </a:t>
            </a:r>
            <a:r>
              <a:rPr lang="it-IT" sz="4800" b="1" dirty="0"/>
              <a:t>piano che permetta al mondo privato di aiutare il mondo </a:t>
            </a:r>
            <a:r>
              <a:rPr lang="it-IT" sz="4800" b="1" dirty="0" smtClean="0"/>
              <a:t>pubblico</a:t>
            </a:r>
            <a:r>
              <a:rPr lang="it-IT" sz="4800" b="1" dirty="0"/>
              <a:t>.</a:t>
            </a:r>
            <a:r>
              <a:rPr lang="it-IT" sz="4800" dirty="0"/>
              <a:t> </a:t>
            </a:r>
            <a:endParaRPr lang="it-IT" sz="4800" dirty="0" smtClean="0"/>
          </a:p>
          <a:p>
            <a:pPr algn="just"/>
            <a:r>
              <a:rPr lang="it-IT" sz="4800" dirty="0" smtClean="0"/>
              <a:t>Rimuovendo </a:t>
            </a:r>
            <a:r>
              <a:rPr lang="it-IT" sz="4800" dirty="0"/>
              <a:t>barriere e consentendo ai professionisti di insegnare nelle scuole le materie, come l’Informatica, in cui hanno competenze moderne.</a:t>
            </a:r>
          </a:p>
        </p:txBody>
      </p:sp>
    </p:spTree>
    <p:extLst>
      <p:ext uri="{BB962C8B-B14F-4D97-AF65-F5344CB8AC3E}">
        <p14:creationId xmlns:p14="http://schemas.microsoft.com/office/powerpoint/2010/main" val="2504060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2" y="271510"/>
            <a:ext cx="11445766" cy="883522"/>
          </a:xfrm>
        </p:spPr>
        <p:txBody>
          <a:bodyPr>
            <a:normAutofit/>
          </a:bodyPr>
          <a:lstStyle/>
          <a:p>
            <a:pPr algn="ctr"/>
            <a:r>
              <a:rPr lang="it-IT" sz="5400" b="1" dirty="0" smtClean="0"/>
              <a:t>Le opportunità per gli studenti</a:t>
            </a:r>
            <a:endParaRPr lang="it-IT" sz="5400" dirty="0"/>
          </a:p>
        </p:txBody>
      </p:sp>
      <p:sp>
        <p:nvSpPr>
          <p:cNvPr id="3" name="CasellaDiTesto 2"/>
          <p:cNvSpPr txBox="1"/>
          <p:nvPr/>
        </p:nvSpPr>
        <p:spPr>
          <a:xfrm>
            <a:off x="157655" y="1155031"/>
            <a:ext cx="1172954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4800" dirty="0" smtClean="0"/>
              <a:t>In Italia negli ultimi trent’anni sono nate solamente due compagnie miliardarie ed entrambe sono tecnologiche:</a:t>
            </a:r>
          </a:p>
          <a:p>
            <a:endParaRPr lang="it-IT" sz="1200" dirty="0"/>
          </a:p>
          <a:p>
            <a:pPr algn="ctr"/>
            <a:r>
              <a:rPr lang="it-IT" sz="4800" dirty="0" err="1" smtClean="0"/>
              <a:t>Satipay</a:t>
            </a:r>
            <a:r>
              <a:rPr lang="it-IT" sz="4800" dirty="0" smtClean="0"/>
              <a:t> e </a:t>
            </a:r>
            <a:r>
              <a:rPr lang="it-IT" sz="4800" dirty="0" err="1" smtClean="0"/>
              <a:t>Scalapay</a:t>
            </a:r>
            <a:endParaRPr lang="it-IT" sz="4800" dirty="0" smtClean="0"/>
          </a:p>
          <a:p>
            <a:endParaRPr lang="it-IT" sz="1200" dirty="0"/>
          </a:p>
          <a:p>
            <a:pPr algn="just"/>
            <a:r>
              <a:rPr lang="it-IT" sz="4000" dirty="0" smtClean="0"/>
              <a:t>Sognare a 20 anni non costa nulla, gli ITS possono garantire un lavoro vario, divertente, dignitoso, ma la creatività dei ragazzi può portare molto più lontano in un mondo in piena evoluzione.</a:t>
            </a:r>
          </a:p>
        </p:txBody>
      </p:sp>
    </p:spTree>
    <p:extLst>
      <p:ext uri="{BB962C8B-B14F-4D97-AF65-F5344CB8AC3E}">
        <p14:creationId xmlns:p14="http://schemas.microsoft.com/office/powerpoint/2010/main" val="3435294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07" y="492227"/>
            <a:ext cx="11445766" cy="883522"/>
          </a:xfrm>
        </p:spPr>
        <p:txBody>
          <a:bodyPr>
            <a:normAutofit fontScale="90000"/>
          </a:bodyPr>
          <a:lstStyle/>
          <a:p>
            <a:pPr algn="ctr"/>
            <a:r>
              <a:rPr lang="it-IT" sz="5400" b="1" dirty="0" smtClean="0"/>
              <a:t>Sto passando un momento brutto</a:t>
            </a:r>
            <a:endParaRPr lang="it-IT" sz="5400" dirty="0"/>
          </a:p>
        </p:txBody>
      </p:sp>
      <p:sp>
        <p:nvSpPr>
          <p:cNvPr id="3" name="CasellaDiTesto 2"/>
          <p:cNvSpPr txBox="1"/>
          <p:nvPr/>
        </p:nvSpPr>
        <p:spPr>
          <a:xfrm>
            <a:off x="1056290" y="2053665"/>
            <a:ext cx="10058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4800" dirty="0"/>
              <a:t>I periodi difficili sono una costante della nostra vita, imparare ad affrontarli e rialzarsi ogni volta è l’unica vera alternativa che abbiamo.</a:t>
            </a:r>
            <a:endParaRPr lang="it-IT" sz="4000" dirty="0" smtClean="0"/>
          </a:p>
        </p:txBody>
      </p:sp>
    </p:spTree>
    <p:extLst>
      <p:ext uri="{BB962C8B-B14F-4D97-AF65-F5344CB8AC3E}">
        <p14:creationId xmlns:p14="http://schemas.microsoft.com/office/powerpoint/2010/main" val="31041444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AA353C34084B48AD5373DABC4FE04B" ma:contentTypeVersion="6" ma:contentTypeDescription="Creare un nuovo documento." ma:contentTypeScope="" ma:versionID="7b95d111b612a96f1219550b5e1db449">
  <xsd:schema xmlns:xsd="http://www.w3.org/2001/XMLSchema" xmlns:xs="http://www.w3.org/2001/XMLSchema" xmlns:p="http://schemas.microsoft.com/office/2006/metadata/properties" xmlns:ns2="a92ef012-2059-489e-bed9-6971e10b3fed" targetNamespace="http://schemas.microsoft.com/office/2006/metadata/properties" ma:root="true" ma:fieldsID="1b0ffde798c86c6a5476af6b0920dbb2" ns2:_="">
    <xsd:import namespace="a92ef012-2059-489e-bed9-6971e10b3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ef012-2059-489e-bed9-6971e10b3f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F4AACC-8FBD-48EA-9157-CB62B8367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2ef012-2059-489e-bed9-6971e10b3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256443-2934-47D5-BC1C-6F8CCDE8E7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77C9D3-16DB-4FF6-A2EC-405FC028E78F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92ef012-2059-489e-bed9-6971e10b3fe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15910</TotalTime>
  <Words>658</Words>
  <Application>Microsoft Office PowerPoint</Application>
  <PresentationFormat>Personalizzato</PresentationFormat>
  <Paragraphs>62</Paragraphs>
  <Slides>16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7" baseType="lpstr">
      <vt:lpstr>Circuito</vt:lpstr>
      <vt:lpstr>Fondazione ITS   Information &amp; Communications Technology Academy</vt:lpstr>
      <vt:lpstr>lo sviluppo economico e digitale dell’Italia</vt:lpstr>
      <vt:lpstr>L’informatica distrugge il lavoro?</vt:lpstr>
      <vt:lpstr>NUOVI LAVORI</vt:lpstr>
      <vt:lpstr>NUOVI LAVORI</vt:lpstr>
      <vt:lpstr>La nostra sfida e quella dell’italia</vt:lpstr>
      <vt:lpstr>La tecnologia volano dell’economia mondiale</vt:lpstr>
      <vt:lpstr>L’italia e l’europa nel mercato ict</vt:lpstr>
      <vt:lpstr>L’italia nel mercato ict</vt:lpstr>
      <vt:lpstr>Formazione ed Alfabetizzazione digitale,  sono necessarie: ecco perché</vt:lpstr>
      <vt:lpstr>Formazione ed Alfabetizzazione digitale, </vt:lpstr>
      <vt:lpstr>Trasformazione digitale</vt:lpstr>
      <vt:lpstr>Le quote di mercato di cloud nel mondo.</vt:lpstr>
      <vt:lpstr>Il ruolo degli its per l’ict</vt:lpstr>
      <vt:lpstr>Le opportunità per gli studenti</vt:lpstr>
      <vt:lpstr>Sto passando un momento brutto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Costituzione ITS  «Istituto Tecnico Superiore ITS Information and Communications Technology Academy»</dc:title>
  <dc:creator>Fabrizio Rizzitelli</dc:creator>
  <cp:lastModifiedBy>Enzo Chilelli</cp:lastModifiedBy>
  <cp:revision>70</cp:revision>
  <cp:lastPrinted>2022-10-19T16:38:02Z</cp:lastPrinted>
  <dcterms:created xsi:type="dcterms:W3CDTF">2022-03-20T16:16:01Z</dcterms:created>
  <dcterms:modified xsi:type="dcterms:W3CDTF">2024-02-19T11:14:42Z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0x010100F4AA353C34084B48AD5373DABC4FE04B</vt:lpwstr>
  </property>
</Properties>
</file>