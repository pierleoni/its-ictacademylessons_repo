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IFKOMN+Wingdings" panose="05000000000000000000" charset="2"/>
      <p:regular r:id="rId36"/>
    </p:embeddedFont>
    <p:embeddedFont>
      <p:font typeface="VOMJKV+Calibri" panose="020B0604020202020204" charset="0"/>
      <p:regular r:id="rId37"/>
    </p:embeddedFont>
    <p:embeddedFont>
      <p:font typeface="NLHDNC+Calibri Bold" panose="020B0604020202020204" charset="0"/>
      <p:regular r:id="rId38"/>
    </p:embeddedFont>
    <p:embeddedFont>
      <p:font typeface="JEICGU+Montserrat Regular" panose="020B0604020202020204" charset="0"/>
      <p:regular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Garamond" panose="02020404030301010803" pitchFamily="18" charset="0"/>
      <p:regular r:id="rId42"/>
      <p:bold r:id="rId43"/>
      <p:italic r:id="rId44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FA5"/>
    <a:srgbClr val="63A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486" y="-18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BBBB-E858-4797-80CD-27BDC52883D5}" type="datetimeFigureOut">
              <a:rPr lang="it-IT" smtClean="0"/>
              <a:t>15/03/2023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8EB91-B1CB-4460-AE51-B629DB0BCC4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10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84B0-8C7A-408C-B76C-FCCFECAC40E0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F58E9-DD45-4701-9B09-EC7069B1D23A}" type="datetime1">
              <a:rPr lang="en-US" smtClean="0"/>
              <a:t>3/15/2023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69663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7677" y="1483006"/>
            <a:ext cx="9374934" cy="1755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877"/>
              </a:lnSpc>
              <a:spcBef>
                <a:spcPts val="0"/>
              </a:spcBef>
              <a:spcAft>
                <a:spcPts val="0"/>
              </a:spcAft>
            </a:pPr>
            <a:r>
              <a:rPr sz="4000" spc="-25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4000" spc="-4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4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40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4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4000" spc="-5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36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</a:p>
          <a:p>
            <a:pPr marL="362711" marR="0">
              <a:lnSpc>
                <a:spcPts val="4319"/>
              </a:lnSpc>
              <a:spcBef>
                <a:spcPts val="0"/>
              </a:spcBef>
              <a:spcAft>
                <a:spcPts val="0"/>
              </a:spcAft>
            </a:pPr>
            <a:r>
              <a:rPr sz="4000" spc="-31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4000" spc="-2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33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  <a:r>
              <a:rPr sz="4000" spc="-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34" dirty="0">
                <a:solidFill>
                  <a:srgbClr val="FFFFFF"/>
                </a:solidFill>
                <a:latin typeface="Calibri Light"/>
                <a:cs typeface="Calibri Light"/>
              </a:rPr>
              <a:t>PERSONALI </a:t>
            </a:r>
            <a:r>
              <a:rPr sz="4000" spc="-3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40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27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</a:p>
          <a:p>
            <a:pPr marL="2482976" marR="0">
              <a:lnSpc>
                <a:spcPts val="4323"/>
              </a:lnSpc>
              <a:spcBef>
                <a:spcPts val="0"/>
              </a:spcBef>
              <a:spcAft>
                <a:spcPts val="0"/>
              </a:spcAft>
            </a:pPr>
            <a:r>
              <a:rPr sz="4000" spc="-25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4000" spc="-4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27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4000" spc="-62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spc="-31" dirty="0">
                <a:solidFill>
                  <a:srgbClr val="FFFFFF"/>
                </a:solidFill>
                <a:latin typeface="Calibri Light"/>
                <a:cs typeface="Calibri Light"/>
              </a:rPr>
              <a:t>DEL </a:t>
            </a:r>
            <a:r>
              <a:rPr sz="4000" spc="-33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Rettangolo 8"/>
          <p:cNvSpPr/>
          <p:nvPr/>
        </p:nvSpPr>
        <p:spPr>
          <a:xfrm>
            <a:off x="7425712" y="5085184"/>
            <a:ext cx="830528" cy="1584176"/>
          </a:xfrm>
          <a:prstGeom prst="rect">
            <a:avLst/>
          </a:prstGeom>
          <a:solidFill>
            <a:srgbClr val="5DA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4552950"/>
            <a:ext cx="1166529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tangolo 11"/>
          <p:cNvSpPr/>
          <p:nvPr/>
        </p:nvSpPr>
        <p:spPr>
          <a:xfrm>
            <a:off x="1124" y="6238515"/>
            <a:ext cx="12072664" cy="624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877"/>
              </a:lnSpc>
            </a:pPr>
            <a:r>
              <a:rPr lang="it-IT" spc="-33" dirty="0" smtClean="0">
                <a:solidFill>
                  <a:srgbClr val="FFFFFF"/>
                </a:solidFill>
                <a:latin typeface="Calibri Light"/>
                <a:cs typeface="Calibri Light"/>
              </a:rPr>
              <a:t>Credit: Si ringrazia l’avv. Andrea Lisi per il prezioso contributo</a:t>
            </a:r>
            <a:endParaRPr lang="it-IT" spc="-33" dirty="0">
              <a:solidFill>
                <a:srgbClr val="FFFFFF"/>
              </a:solidFill>
              <a:latin typeface="Calibri Light"/>
              <a:cs typeface="Calibri Light"/>
            </a:endParaRPr>
          </a:p>
        </p:txBody>
      </p:sp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73450" y="973241"/>
            <a:ext cx="5400681" cy="534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AREE </a:t>
            </a:r>
            <a:r>
              <a:rPr sz="3200" b="1" spc="-10" dirty="0">
                <a:solidFill>
                  <a:srgbClr val="25A188"/>
                </a:solidFill>
                <a:latin typeface="Calibri"/>
                <a:cs typeface="Calibri"/>
              </a:rPr>
              <a:t>TRASVERSALI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 DI </a:t>
            </a:r>
            <a:r>
              <a:rPr sz="3200" b="1" spc="-58" dirty="0">
                <a:solidFill>
                  <a:srgbClr val="25A188"/>
                </a:solidFill>
                <a:latin typeface="Calibri"/>
                <a:cs typeface="Calibri"/>
              </a:rPr>
              <a:t>ATTIVITÀ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40323" y="2346626"/>
            <a:ext cx="2287964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1600" spc="9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72" dirty="0">
                <a:solidFill>
                  <a:srgbClr val="FFFFFF"/>
                </a:solidFill>
                <a:latin typeface="Calibri"/>
                <a:cs typeface="Calibri"/>
              </a:rPr>
              <a:t>DAT</a:t>
            </a:r>
            <a:r>
              <a:rPr sz="1600" spc="147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TRASPARENZ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09457" y="2346626"/>
            <a:ext cx="2466031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PUBBLICIT</a:t>
            </a:r>
            <a:r>
              <a:rPr sz="1600" spc="90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1600" spc="89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544" y="3188107"/>
            <a:ext cx="1259740" cy="369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07"/>
              </a:lnSpc>
              <a:spcBef>
                <a:spcPts val="0"/>
              </a:spcBef>
              <a:spcAft>
                <a:spcPts val="0"/>
              </a:spcAft>
            </a:pPr>
            <a:r>
              <a:rPr sz="2150" i="1" spc="-18" dirty="0">
                <a:solidFill>
                  <a:srgbClr val="000000"/>
                </a:solidFill>
                <a:latin typeface="Calibri"/>
                <a:cs typeface="Calibri"/>
              </a:rPr>
              <a:t>esattezza,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544" y="3513953"/>
            <a:ext cx="2006401" cy="1345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2150" i="1" dirty="0">
                <a:solidFill>
                  <a:srgbClr val="000000"/>
                </a:solidFill>
                <a:latin typeface="Calibri"/>
                <a:cs typeface="Calibri"/>
              </a:rPr>
              <a:t>affidabilità,</a:t>
            </a:r>
          </a:p>
          <a:p>
            <a:pPr marL="0" marR="0">
              <a:lnSpc>
                <a:spcPts val="2558"/>
              </a:lnSpc>
              <a:spcBef>
                <a:spcPts val="0"/>
              </a:spcBef>
              <a:spcAft>
                <a:spcPts val="0"/>
              </a:spcAft>
            </a:pPr>
            <a:r>
              <a:rPr sz="2150" i="1" spc="-11" dirty="0">
                <a:solidFill>
                  <a:srgbClr val="000000"/>
                </a:solidFill>
                <a:latin typeface="Calibri"/>
                <a:cs typeface="Calibri"/>
              </a:rPr>
              <a:t>integrità,</a:t>
            </a:r>
          </a:p>
          <a:p>
            <a:pPr marL="0" marR="0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150" i="1" dirty="0">
                <a:solidFill>
                  <a:srgbClr val="000000"/>
                </a:solidFill>
                <a:latin typeface="Calibri"/>
                <a:cs typeface="Calibri"/>
              </a:rPr>
              <a:t>immodificabilità,</a:t>
            </a:r>
          </a:p>
          <a:p>
            <a:pPr marL="0" marR="0">
              <a:lnSpc>
                <a:spcPts val="2567"/>
              </a:lnSpc>
              <a:spcBef>
                <a:spcPts val="0"/>
              </a:spcBef>
              <a:spcAft>
                <a:spcPts val="0"/>
              </a:spcAft>
            </a:pPr>
            <a:r>
              <a:rPr sz="2150" i="1" spc="-10" dirty="0">
                <a:solidFill>
                  <a:srgbClr val="000000"/>
                </a:solidFill>
                <a:latin typeface="Calibri"/>
                <a:cs typeface="Calibri"/>
              </a:rPr>
              <a:t>autenticità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90615" y="3999531"/>
            <a:ext cx="888072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VOMJKV+Calibri"/>
                <a:cs typeface="VOMJKV+Calibri"/>
              </a:rPr>
              <a:t>GESTION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40652" y="3999531"/>
            <a:ext cx="3782941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VOMJKV+Calibri"/>
                <a:cs typeface="VOMJKV+Calibri"/>
              </a:rPr>
              <a:t>CONSERVAZION</a:t>
            </a:r>
            <a:r>
              <a:rPr sz="1600" spc="903" dirty="0">
                <a:solidFill>
                  <a:srgbClr val="FFFFFF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VOMJKV+Calibri"/>
                <a:cs typeface="VOMJKV+Calibri"/>
              </a:rPr>
              <a:t>DE</a:t>
            </a:r>
            <a:r>
              <a:rPr sz="1600" spc="505" dirty="0">
                <a:solidFill>
                  <a:srgbClr val="FFFFFF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VOMJKV+Calibri"/>
                <a:cs typeface="VOMJKV+Calibri"/>
              </a:rPr>
              <a:t>DOCUMENT</a:t>
            </a:r>
            <a:r>
              <a:rPr sz="1600" spc="511" dirty="0">
                <a:solidFill>
                  <a:srgbClr val="FFFFFF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VOMJKV+Calibri"/>
                <a:cs typeface="VOMJKV+Calibri"/>
              </a:rPr>
              <a:t>DIGITALI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2856" y="5652766"/>
            <a:ext cx="2948422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PROTEZION</a:t>
            </a:r>
            <a:r>
              <a:rPr sz="1600" spc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spc="5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72" dirty="0">
                <a:solidFill>
                  <a:srgbClr val="FFFFFF"/>
                </a:solidFill>
                <a:latin typeface="Calibri"/>
                <a:cs typeface="Calibri"/>
              </a:rPr>
              <a:t>DAT</a:t>
            </a:r>
            <a:r>
              <a:rPr sz="1600" spc="56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PERSONALI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184635" y="6401691"/>
            <a:ext cx="229641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VOMJKV+Calibri"/>
                <a:cs typeface="VOMJKV+Calibri"/>
              </a:rPr>
              <a:t>2</a:t>
            </a:r>
          </a:p>
        </p:txBody>
      </p:sp>
      <p:pic>
        <p:nvPicPr>
          <p:cNvPr id="15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6" name="Segnaposto numero diapositiva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4683" y="709159"/>
            <a:ext cx="7155704" cy="47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41"/>
              </a:lnSpc>
              <a:spcBef>
                <a:spcPts val="0"/>
              </a:spcBef>
              <a:spcAft>
                <a:spcPts val="0"/>
              </a:spcAft>
            </a:pPr>
            <a:r>
              <a:rPr sz="2500" dirty="0">
                <a:solidFill>
                  <a:srgbClr val="6E102B"/>
                </a:solidFill>
                <a:latin typeface="JEICGU+Montserrat Regular"/>
                <a:cs typeface="JEICGU+Montserrat Regular"/>
              </a:rPr>
              <a:t>Certezza e autenticità</a:t>
            </a:r>
            <a:r>
              <a:rPr sz="2500" spc="18" dirty="0">
                <a:solidFill>
                  <a:srgbClr val="6E102B"/>
                </a:solidFill>
                <a:latin typeface="JEICGU+Montserrat Regular"/>
                <a:cs typeface="JEICGU+Montserrat Regular"/>
              </a:rPr>
              <a:t> </a:t>
            </a:r>
            <a:r>
              <a:rPr sz="2500" dirty="0">
                <a:solidFill>
                  <a:srgbClr val="6E102B"/>
                </a:solidFill>
                <a:latin typeface="JEICGU+Montserrat Regular"/>
                <a:cs typeface="JEICGU+Montserrat Regular"/>
              </a:rPr>
              <a:t>nel contesto digitale…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520" y="1465550"/>
            <a:ext cx="5521479" cy="4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Articolo</a:t>
            </a:r>
            <a:r>
              <a:rPr sz="1450" b="1" spc="2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5</a:t>
            </a:r>
            <a:r>
              <a:rPr sz="1450" b="1" spc="17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- Principi</a:t>
            </a:r>
            <a:r>
              <a:rPr sz="1450" b="1" spc="4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applicabili</a:t>
            </a:r>
            <a:r>
              <a:rPr sz="1450" b="1" spc="52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al</a:t>
            </a:r>
            <a:r>
              <a:rPr sz="1450" b="1" spc="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trattamento</a:t>
            </a:r>
            <a:r>
              <a:rPr sz="1450" b="1" spc="7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</a:t>
            </a:r>
            <a:r>
              <a:rPr sz="1450" b="1" spc="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dati</a:t>
            </a:r>
            <a:r>
              <a:rPr sz="1450" b="1" spc="3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personali</a:t>
            </a:r>
            <a:r>
              <a:rPr sz="1450" b="1" spc="56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- GDPR</a:t>
            </a:r>
          </a:p>
          <a:p>
            <a:pPr marL="0" marR="0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1.</a:t>
            </a:r>
            <a:r>
              <a:rPr sz="1450" spc="67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I</a:t>
            </a:r>
            <a:r>
              <a:rPr sz="145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dati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personali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sono: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23534" y="1454537"/>
            <a:ext cx="2672394" cy="48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Art.</a:t>
            </a:r>
            <a:r>
              <a:rPr sz="1450" b="1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6 Qualita'</a:t>
            </a:r>
            <a:r>
              <a:rPr sz="1450" b="1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delle</a:t>
            </a:r>
            <a:r>
              <a:rPr sz="1450" b="1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informazioni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–</a:t>
            </a:r>
            <a:r>
              <a:rPr sz="1450" b="1" spc="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spc="-25" dirty="0">
                <a:solidFill>
                  <a:srgbClr val="000000"/>
                </a:solidFill>
                <a:latin typeface="Calibri"/>
                <a:cs typeface="Calibri"/>
              </a:rPr>
              <a:t>D.</a:t>
            </a:r>
            <a:r>
              <a:rPr sz="1450" b="1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Lgs. 33/2013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4520" y="1914150"/>
            <a:ext cx="5513320" cy="317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a)</a:t>
            </a:r>
            <a:r>
              <a:rPr sz="145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 in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modo</a:t>
            </a:r>
            <a:r>
              <a:rPr sz="1450" spc="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lecito, corretto e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trasparente nei</a:t>
            </a:r>
            <a:r>
              <a:rPr sz="145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confronti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dell'interessato («liceità,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correttezza</a:t>
            </a:r>
            <a:r>
              <a:rPr sz="145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trasparenza»);</a:t>
            </a:r>
          </a:p>
          <a:p>
            <a:pPr marL="0" marR="0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b)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raccolti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determinate, esplicite e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legittime, e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successivamente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 in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modo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che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non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sia incompatibile</a:t>
            </a:r>
            <a:r>
              <a:rPr sz="1450" spc="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con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tali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(…)</a:t>
            </a:r>
            <a:r>
              <a:rPr sz="145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(«limitazione</a:t>
            </a:r>
            <a:r>
              <a:rPr sz="1450" spc="4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della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finalità»);</a:t>
            </a:r>
          </a:p>
          <a:p>
            <a:pPr marL="0" marR="0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c)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adeguati,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pertinenti e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limitati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 quanto</a:t>
            </a:r>
            <a:r>
              <a:rPr sz="1450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necessario rispetto alle</a:t>
            </a:r>
          </a:p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le quali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 («minimizzazione</a:t>
            </a:r>
            <a:r>
              <a:rPr sz="1450" spc="7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dei dati»);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d)</a:t>
            </a:r>
            <a:r>
              <a:rPr sz="145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VOMJKV+Calibri"/>
                <a:cs typeface="VOMJKV+Calibri"/>
              </a:rPr>
              <a:t>esatti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 e, 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se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 necessario, </a:t>
            </a:r>
            <a:r>
              <a:rPr sz="1450" u="sng" dirty="0">
                <a:solidFill>
                  <a:srgbClr val="000000"/>
                </a:solidFill>
                <a:latin typeface="VOMJKV+Calibri"/>
                <a:cs typeface="VOMJKV+Calibri"/>
              </a:rPr>
              <a:t>aggiornati;</a:t>
            </a:r>
            <a:r>
              <a:rPr sz="1450" u="sng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spc="-32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devono</a:t>
            </a:r>
            <a:r>
              <a:rPr sz="145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essere</a:t>
            </a:r>
            <a:r>
              <a:rPr sz="145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adottate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tutte le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ragionevoli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cancellare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  <a:r>
              <a:rPr sz="145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rettificare tempestivamente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i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dati</a:t>
            </a:r>
          </a:p>
          <a:p>
            <a:pPr marL="0" marR="0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inesatti rispetto alle</a:t>
            </a:r>
            <a:r>
              <a:rPr sz="145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 le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quali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 </a:t>
            </a:r>
            <a:r>
              <a:rPr sz="1450" spc="14" dirty="0">
                <a:solidFill>
                  <a:srgbClr val="000000"/>
                </a:solidFill>
                <a:latin typeface="VOMJKV+Calibri"/>
                <a:cs typeface="VOMJKV+Calibri"/>
              </a:rPr>
              <a:t>(«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esattezza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»);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e)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conservati</a:t>
            </a:r>
            <a:r>
              <a:rPr sz="1450" b="1" spc="4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</a:t>
            </a:r>
            <a:r>
              <a:rPr sz="1450" b="1" spc="17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una</a:t>
            </a:r>
            <a:r>
              <a:rPr sz="1450" b="1" spc="3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forma che</a:t>
            </a:r>
            <a:r>
              <a:rPr sz="1450" b="1" spc="2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consenta</a:t>
            </a:r>
            <a:r>
              <a:rPr sz="1450" b="1" spc="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l'identificazione</a:t>
            </a:r>
            <a:r>
              <a:rPr sz="1450" b="1" spc="6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degli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interessati</a:t>
            </a:r>
            <a:r>
              <a:rPr sz="1450" b="1" spc="69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 un</a:t>
            </a:r>
            <a:r>
              <a:rPr sz="145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arco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di tempo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non</a:t>
            </a:r>
            <a:r>
              <a:rPr sz="145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superiore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al conseguimento</a:t>
            </a:r>
            <a:r>
              <a:rPr sz="1450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</a:p>
          <a:p>
            <a:pPr marL="0" marR="0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le quali</a:t>
            </a:r>
            <a:r>
              <a:rPr sz="145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trattati;</a:t>
            </a:r>
            <a:r>
              <a:rPr sz="145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(…)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(«limitazione</a:t>
            </a:r>
            <a:r>
              <a:rPr sz="1450" spc="4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della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conservazione»);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23534" y="1902593"/>
            <a:ext cx="5884156" cy="250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344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1. Le</a:t>
            </a:r>
            <a:r>
              <a:rPr sz="145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pubbliche</a:t>
            </a:r>
            <a:r>
              <a:rPr sz="1450" spc="38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amministrazioni</a:t>
            </a:r>
            <a:r>
              <a:rPr sz="1450" spc="37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garantiscono</a:t>
            </a:r>
            <a:r>
              <a:rPr sz="1450" spc="3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1450" spc="3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qualita'</a:t>
            </a:r>
            <a:r>
              <a:rPr sz="145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delle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informazioni</a:t>
            </a:r>
            <a:r>
              <a:rPr sz="1450" spc="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riportate</a:t>
            </a:r>
            <a:r>
              <a:rPr sz="145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nei</a:t>
            </a:r>
            <a:r>
              <a:rPr sz="1450" spc="3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siti</a:t>
            </a:r>
            <a:r>
              <a:rPr sz="1450" spc="3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istituzionali</a:t>
            </a:r>
            <a:r>
              <a:rPr sz="145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nel</a:t>
            </a:r>
            <a:r>
              <a:rPr sz="1450" spc="3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rispetto</a:t>
            </a:r>
            <a:r>
              <a:rPr sz="1450" spc="3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degli</a:t>
            </a:r>
            <a:r>
              <a:rPr sz="145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obblighi</a:t>
            </a:r>
            <a:r>
              <a:rPr sz="1450" spc="3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</a:p>
          <a:p>
            <a:pPr marL="0" marR="0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pubblicazione</a:t>
            </a:r>
            <a:r>
              <a:rPr sz="1450" spc="3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previsti</a:t>
            </a:r>
            <a:r>
              <a:rPr sz="1450" spc="3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dalla</a:t>
            </a:r>
            <a:r>
              <a:rPr sz="1450" spc="6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legge,</a:t>
            </a:r>
            <a:r>
              <a:rPr sz="1450" spc="6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assicurandone</a:t>
            </a:r>
            <a:r>
              <a:rPr sz="1450" spc="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l'integrita',</a:t>
            </a:r>
            <a:r>
              <a:rPr sz="1450" b="1" spc="3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1450" spc="3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costante</a:t>
            </a:r>
          </a:p>
          <a:p>
            <a:pPr marL="0" marR="0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aggiornamento,</a:t>
            </a:r>
            <a:r>
              <a:rPr sz="1450" b="1" spc="7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1450" spc="6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completezza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1450" spc="7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tempestivita', la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semplicita'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consultazione,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1450" spc="35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comprensibilita’,</a:t>
            </a:r>
          </a:p>
          <a:p>
            <a:pPr marL="0" marR="0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l'omogeneita',</a:t>
            </a:r>
            <a:r>
              <a:rPr sz="145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145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facile</a:t>
            </a:r>
            <a:r>
              <a:rPr sz="145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accessibilita',</a:t>
            </a:r>
            <a:r>
              <a:rPr sz="145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nonche'</a:t>
            </a:r>
            <a:r>
              <a:rPr sz="1450" spc="3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1450" spc="37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conformita'</a:t>
            </a:r>
            <a:r>
              <a:rPr sz="1450" b="1" spc="3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ai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documenti</a:t>
            </a:r>
            <a:r>
              <a:rPr sz="1450" b="1" spc="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originali</a:t>
            </a:r>
            <a:r>
              <a:rPr sz="1450" b="1" spc="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450" b="1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possesso</a:t>
            </a:r>
            <a:r>
              <a:rPr sz="1450" b="1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alibri"/>
                <a:cs typeface="Calibri"/>
              </a:rPr>
              <a:t>dell'amministrazione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1450" spc="40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Calibri"/>
                <a:cs typeface="Calibri"/>
              </a:rPr>
              <a:t>l'indicazione</a:t>
            </a:r>
            <a:r>
              <a:rPr sz="1450" u="sng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Calibri"/>
                <a:cs typeface="Calibri"/>
              </a:rPr>
              <a:t>della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u="sng" dirty="0">
                <a:solidFill>
                  <a:srgbClr val="000000"/>
                </a:solidFill>
                <a:latin typeface="Calibri"/>
                <a:cs typeface="Calibri"/>
              </a:rPr>
              <a:t>loro</a:t>
            </a:r>
            <a:r>
              <a:rPr sz="1450" u="sng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Calibri"/>
                <a:cs typeface="Calibri"/>
              </a:rPr>
              <a:t>provenienza</a:t>
            </a:r>
            <a:r>
              <a:rPr sz="1450" u="sng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spc="-3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45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la riutilizzabilita'</a:t>
            </a:r>
            <a:r>
              <a:rPr sz="145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secondo</a:t>
            </a:r>
            <a:r>
              <a:rPr sz="145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quanto</a:t>
            </a:r>
            <a:r>
              <a:rPr sz="145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previsto</a:t>
            </a:r>
            <a:r>
              <a:rPr sz="145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dall'articolo</a:t>
            </a:r>
            <a:r>
              <a:rPr sz="145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7.</a:t>
            </a:r>
          </a:p>
          <a:p>
            <a:pPr marL="85344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2. L'esigenza di</a:t>
            </a:r>
            <a:r>
              <a:rPr sz="145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assicurare</a:t>
            </a:r>
            <a:r>
              <a:rPr sz="145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adeguata</a:t>
            </a:r>
            <a:r>
              <a:rPr sz="1450" spc="3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qualita'</a:t>
            </a:r>
            <a:r>
              <a:rPr sz="1450" spc="3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delle</a:t>
            </a:r>
            <a:r>
              <a:rPr sz="1450" spc="3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informazioni</a:t>
            </a:r>
            <a:r>
              <a:rPr sz="1450" spc="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diffuse</a:t>
            </a:r>
          </a:p>
          <a:p>
            <a:pPr marL="0" marR="0">
              <a:lnSpc>
                <a:spcPts val="175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non</a:t>
            </a:r>
            <a:r>
              <a:rPr sz="145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puo',</a:t>
            </a:r>
            <a:r>
              <a:rPr sz="145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45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ogni</a:t>
            </a:r>
            <a:r>
              <a:rPr sz="145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caso,</a:t>
            </a:r>
            <a:r>
              <a:rPr sz="1450" spc="3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costituire</a:t>
            </a:r>
            <a:r>
              <a:rPr sz="1450" spc="3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motivo</a:t>
            </a:r>
            <a:r>
              <a:rPr sz="1450" spc="3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1450" spc="3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l'omessa</a:t>
            </a:r>
            <a:r>
              <a:rPr sz="1450" spc="3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</a:p>
          <a:p>
            <a:pPr marL="0" marR="0">
              <a:lnSpc>
                <a:spcPts val="1763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ritardata</a:t>
            </a:r>
            <a:r>
              <a:rPr sz="145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pubblicazione</a:t>
            </a:r>
            <a:r>
              <a:rPr sz="1450" spc="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dei</a:t>
            </a:r>
            <a:r>
              <a:rPr sz="145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dati,</a:t>
            </a:r>
            <a:r>
              <a:rPr sz="145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delle informazioni</a:t>
            </a:r>
            <a:r>
              <a:rPr sz="1450" spc="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45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Calibri"/>
                <a:cs typeface="Calibri"/>
              </a:rPr>
              <a:t>dei documenti.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23534" y="4977685"/>
            <a:ext cx="1659212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Art. 20</a:t>
            </a:r>
            <a:r>
              <a:rPr sz="16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1-bis -</a:t>
            </a:r>
            <a:r>
              <a:rPr sz="16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CAD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4520" y="5045081"/>
            <a:ext cx="5436660" cy="11599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f)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trattati in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maniera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garantire</a:t>
            </a:r>
            <a:r>
              <a:rPr sz="145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VOMJKV+Calibri"/>
                <a:cs typeface="VOMJKV+Calibri"/>
              </a:rPr>
              <a:t>un'adeguata</a:t>
            </a:r>
            <a:r>
              <a:rPr sz="1450" u="sng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u="sng" dirty="0">
                <a:solidFill>
                  <a:srgbClr val="000000"/>
                </a:solidFill>
                <a:latin typeface="VOMJKV+Calibri"/>
                <a:cs typeface="VOMJKV+Calibri"/>
              </a:rPr>
              <a:t>sicurezza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 dei dati</a:t>
            </a:r>
          </a:p>
          <a:p>
            <a:pPr marL="0" marR="0">
              <a:lnSpc>
                <a:spcPts val="1751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personali,</a:t>
            </a:r>
            <a:r>
              <a:rPr sz="145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compresa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145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protezione,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mediante</a:t>
            </a:r>
            <a:r>
              <a:rPr sz="145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tecniche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organizzative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adeguate,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trattamenti non</a:t>
            </a:r>
            <a:r>
              <a:rPr sz="145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autorizzati</a:t>
            </a:r>
            <a:r>
              <a:rPr sz="145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  <a:r>
              <a:rPr sz="145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illeciti e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dalla</a:t>
            </a:r>
          </a:p>
          <a:p>
            <a:pPr marL="0" marR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perdita, dalla</a:t>
            </a:r>
            <a:r>
              <a:rPr sz="145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distruzione</a:t>
            </a:r>
            <a:r>
              <a:rPr sz="1450" spc="3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  <a:r>
              <a:rPr sz="145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dal</a:t>
            </a:r>
            <a:r>
              <a:rPr sz="145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danno</a:t>
            </a:r>
            <a:r>
              <a:rPr sz="145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accidentali</a:t>
            </a:r>
            <a:r>
              <a:rPr sz="145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450" spc="11" dirty="0">
                <a:solidFill>
                  <a:srgbClr val="000000"/>
                </a:solidFill>
                <a:latin typeface="VOMJKV+Calibri"/>
                <a:cs typeface="VOMJKV+Calibri"/>
              </a:rPr>
              <a:t>(«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integrità</a:t>
            </a:r>
            <a:r>
              <a:rPr sz="1450" b="1" spc="6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e</a:t>
            </a:r>
          </a:p>
          <a:p>
            <a:pPr marL="0" marR="0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riservatezza</a:t>
            </a:r>
            <a:r>
              <a:rPr sz="1450" dirty="0">
                <a:solidFill>
                  <a:srgbClr val="000000"/>
                </a:solidFill>
                <a:latin typeface="VOMJKV+Calibri"/>
                <a:cs typeface="VOMJKV+Calibri"/>
              </a:rPr>
              <a:t>»).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23534" y="5221525"/>
            <a:ext cx="5637343" cy="1016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l'idoneità</a:t>
            </a:r>
            <a:r>
              <a:rPr sz="16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del documento</a:t>
            </a:r>
            <a:r>
              <a:rPr sz="16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informatico a soddisfare il</a:t>
            </a:r>
            <a:r>
              <a:rPr sz="16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requisito della</a:t>
            </a:r>
          </a:p>
          <a:p>
            <a:pPr marL="0" marR="0">
              <a:lnSpc>
                <a:spcPts val="1919"/>
              </a:lnSpc>
              <a:spcBef>
                <a:spcPts val="5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forma scritta e il</a:t>
            </a:r>
            <a:r>
              <a:rPr sz="16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suo</a:t>
            </a:r>
            <a:r>
              <a:rPr sz="16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valore probatorio</a:t>
            </a:r>
            <a:r>
              <a:rPr sz="1600" spc="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16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liberamente valutabili</a:t>
            </a:r>
          </a:p>
          <a:p>
            <a:pPr marL="0" marR="0">
              <a:lnSpc>
                <a:spcPts val="191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16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giudizio,</a:t>
            </a:r>
            <a:r>
              <a:rPr sz="1600" spc="-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in relazione alle</a:t>
            </a:r>
            <a:r>
              <a:rPr sz="16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caratteristiche di</a:t>
            </a:r>
            <a:r>
              <a:rPr sz="16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sicurezza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,</a:t>
            </a:r>
            <a:r>
              <a:rPr sz="16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integrità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immodificabilità.</a:t>
            </a:r>
          </a:p>
        </p:txBody>
      </p:sp>
      <p:pic>
        <p:nvPicPr>
          <p:cNvPr id="13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4" name="Segnaposto numero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8340" y="884177"/>
            <a:ext cx="5487468" cy="535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La</a:t>
            </a:r>
            <a:r>
              <a:rPr sz="32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fiducia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nel 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mercato</a:t>
            </a:r>
            <a:r>
              <a:rPr sz="3200" b="1" spc="1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digitale…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1857" y="2604151"/>
            <a:ext cx="8687114" cy="108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Regolamento</a:t>
            </a:r>
            <a:r>
              <a:rPr sz="1800" b="1" spc="-18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eIDAS</a:t>
            </a:r>
            <a:r>
              <a:rPr sz="1800" b="1" spc="-12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(electronic</a:t>
            </a:r>
            <a:r>
              <a:rPr sz="1800" spc="3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IDentification Authentication</a:t>
            </a:r>
            <a:r>
              <a:rPr sz="1800" spc="17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Signature):</a:t>
            </a:r>
            <a:r>
              <a:rPr sz="1800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Regolamento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(UE)</a:t>
            </a:r>
            <a:r>
              <a:rPr sz="1800" spc="2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N. 910/2014 del </a:t>
            </a:r>
            <a:r>
              <a:rPr sz="1800" spc="-21" dirty="0">
                <a:solidFill>
                  <a:srgbClr val="0D0D0D"/>
                </a:solidFill>
                <a:latin typeface="Calibri"/>
                <a:cs typeface="Calibri"/>
              </a:rPr>
              <a:t>PARLAMENTO</a:t>
            </a:r>
            <a:r>
              <a:rPr sz="1800" spc="2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EUROPEO</a:t>
            </a:r>
            <a:r>
              <a:rPr sz="1800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 del CONSIGLIO</a:t>
            </a:r>
            <a:r>
              <a:rPr sz="1800" spc="-1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del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23 luglio</a:t>
            </a:r>
            <a:r>
              <a:rPr sz="1800" spc="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2014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800" spc="18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materia</a:t>
            </a:r>
          </a:p>
          <a:p>
            <a:pPr marL="0" marR="0">
              <a:lnSpc>
                <a:spcPts val="201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di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identificazione</a:t>
            </a:r>
            <a:r>
              <a:rPr sz="1800" spc="3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elettronica</a:t>
            </a:r>
            <a:r>
              <a:rPr sz="1800" spc="3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 servizi fiduciari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per le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transazioni</a:t>
            </a:r>
            <a:r>
              <a:rPr sz="1800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elettroniche</a:t>
            </a:r>
            <a:r>
              <a:rPr sz="1800" spc="36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nel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mercato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interno</a:t>
            </a:r>
            <a:r>
              <a:rPr sz="1800" spc="18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che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abroga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la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1" dirty="0">
                <a:solidFill>
                  <a:srgbClr val="0D0D0D"/>
                </a:solidFill>
                <a:latin typeface="Calibri"/>
                <a:cs typeface="Calibri"/>
              </a:rPr>
              <a:t>direttiva</a:t>
            </a:r>
            <a:r>
              <a:rPr sz="1800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1999/93/CE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11857" y="3880120"/>
            <a:ext cx="8825010" cy="1082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Regolamento</a:t>
            </a:r>
            <a:r>
              <a:rPr sz="1800" b="1" spc="-2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GDPR</a:t>
            </a:r>
            <a:r>
              <a:rPr sz="1800" b="1" spc="12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(General</a:t>
            </a:r>
            <a:r>
              <a:rPr sz="1800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2" dirty="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sz="1800" spc="3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Protection</a:t>
            </a:r>
            <a:r>
              <a:rPr sz="1800" spc="3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Regulation):</a:t>
            </a:r>
            <a:r>
              <a:rPr sz="1800" spc="3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Regolamento (UE)</a:t>
            </a:r>
            <a:r>
              <a:rPr sz="1800" spc="14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N. 2016/679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del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Parlamento europeo e</a:t>
            </a:r>
            <a:r>
              <a:rPr sz="1800" spc="17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del Consiglio,</a:t>
            </a:r>
            <a:r>
              <a:rPr sz="1800" spc="2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del 27 aprile</a:t>
            </a:r>
            <a:r>
              <a:rPr sz="1800" spc="28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2016, relativo alla</a:t>
            </a:r>
            <a:r>
              <a:rPr sz="1800" spc="4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protezione</a:t>
            </a:r>
            <a:r>
              <a:rPr sz="1800" u="sng" spc="2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delle</a:t>
            </a:r>
            <a:r>
              <a:rPr sz="1800" u="sng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persone</a:t>
            </a:r>
          </a:p>
          <a:p>
            <a:pPr marL="0" marR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fisiche</a:t>
            </a:r>
            <a:r>
              <a:rPr sz="1800" u="sng" spc="18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con</a:t>
            </a:r>
            <a:r>
              <a:rPr sz="1800" u="sng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riguardo</a:t>
            </a:r>
            <a:r>
              <a:rPr sz="1800" u="sng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al </a:t>
            </a:r>
            <a:r>
              <a:rPr sz="1800" u="sng" spc="-11" dirty="0">
                <a:solidFill>
                  <a:srgbClr val="0D0D0D"/>
                </a:solidFill>
                <a:latin typeface="Calibri"/>
                <a:cs typeface="Calibri"/>
              </a:rPr>
              <a:t>trattamento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 dei</a:t>
            </a:r>
            <a:r>
              <a:rPr sz="1800" u="sng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dati personali,</a:t>
            </a:r>
            <a:r>
              <a:rPr sz="1800" u="sng" spc="2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nonché</a:t>
            </a:r>
            <a:r>
              <a:rPr sz="1800" u="sng" spc="2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D0D0D"/>
                </a:solidFill>
                <a:latin typeface="Calibri"/>
                <a:cs typeface="Calibri"/>
              </a:rPr>
              <a:t>alla</a:t>
            </a:r>
            <a:r>
              <a:rPr sz="1800" u="sng" spc="1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39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0000"/>
                </a:solidFill>
                <a:latin typeface="Calibri"/>
                <a:cs typeface="Calibri"/>
              </a:rPr>
              <a:t>libera</a:t>
            </a:r>
            <a:r>
              <a:rPr sz="1800" u="sng" spc="3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0000"/>
                </a:solidFill>
                <a:latin typeface="Calibri"/>
                <a:cs typeface="Calibri"/>
              </a:rPr>
              <a:t>circolazione</a:t>
            </a:r>
            <a:r>
              <a:rPr sz="1800" u="sng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FF0000"/>
                </a:solidFill>
                <a:latin typeface="Calibri"/>
                <a:cs typeface="Calibri"/>
              </a:rPr>
              <a:t>di </a:t>
            </a:r>
            <a:r>
              <a:rPr sz="1800" u="sng" spc="-10" dirty="0">
                <a:solidFill>
                  <a:srgbClr val="FF0000"/>
                </a:solidFill>
                <a:latin typeface="Calibri"/>
                <a:cs typeface="Calibri"/>
              </a:rPr>
              <a:t>tali</a:t>
            </a:r>
          </a:p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800" u="sng" dirty="0">
                <a:solidFill>
                  <a:srgbClr val="FF0000"/>
                </a:solidFill>
                <a:latin typeface="Calibri"/>
                <a:cs typeface="Calibri"/>
              </a:rPr>
              <a:t>dati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e</a:t>
            </a:r>
            <a:r>
              <a:rPr sz="18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che</a:t>
            </a:r>
            <a:r>
              <a:rPr sz="1800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abroga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la</a:t>
            </a:r>
            <a:r>
              <a:rPr sz="1800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1" dirty="0">
                <a:solidFill>
                  <a:srgbClr val="0D0D0D"/>
                </a:solidFill>
                <a:latin typeface="Calibri"/>
                <a:cs typeface="Calibri"/>
              </a:rPr>
              <a:t>direttiva</a:t>
            </a:r>
            <a:r>
              <a:rPr sz="1800" spc="23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95/46/CE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10789" y="818542"/>
            <a:ext cx="6322100" cy="657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877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Legge 2</a:t>
            </a:r>
            <a:r>
              <a:rPr sz="4000" b="1" spc="201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4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febbraio</a:t>
            </a:r>
            <a:r>
              <a:rPr sz="4000" b="1" spc="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4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198</a:t>
            </a:r>
            <a:r>
              <a:rPr sz="4000" b="1" spc="112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4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, n</a:t>
            </a:r>
            <a:r>
              <a:rPr sz="4000" b="1" spc="105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4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98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43046" y="1400796"/>
            <a:ext cx="5259869" cy="34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(ratifica Convenzione di Strasburgo</a:t>
            </a:r>
            <a:r>
              <a:rPr sz="20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n</a:t>
            </a:r>
            <a:r>
              <a:rPr sz="2000" b="1" spc="54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</a:t>
            </a:r>
            <a:r>
              <a:rPr sz="2000" b="1" spc="143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198</a:t>
            </a:r>
            <a:r>
              <a:rPr sz="2000" b="1" spc="559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6623" y="1790964"/>
            <a:ext cx="1963660" cy="285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Art.</a:t>
            </a:r>
            <a:r>
              <a:rPr sz="16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5 Qualità dei dati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6623" y="2137457"/>
            <a:ext cx="6311516" cy="632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 dati</a:t>
            </a:r>
            <a:r>
              <a:rPr sz="16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a 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carattere</a:t>
            </a:r>
            <a:r>
              <a:rPr sz="1600" spc="3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personale oggetto</a:t>
            </a:r>
            <a:r>
              <a:rPr sz="16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di </a:t>
            </a:r>
            <a:r>
              <a:rPr sz="1600" spc="-10" dirty="0">
                <a:solidFill>
                  <a:srgbClr val="000000"/>
                </a:solidFill>
                <a:latin typeface="VOMJKV+Calibri"/>
                <a:cs typeface="VOMJKV+Calibri"/>
              </a:rPr>
              <a:t>un’elaborazione</a:t>
            </a:r>
            <a:r>
              <a:rPr sz="16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automatizzata</a:t>
            </a:r>
            <a:r>
              <a:rPr sz="1600" spc="-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sono:</a:t>
            </a:r>
          </a:p>
          <a:p>
            <a:pPr marL="0" marR="0">
              <a:lnSpc>
                <a:spcPts val="1948"/>
              </a:lnSpc>
              <a:spcBef>
                <a:spcPts val="83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a) ottenuti e elaborati in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modo</a:t>
            </a:r>
            <a:r>
              <a:rPr sz="16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lecito e 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corretto;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6623" y="2830877"/>
            <a:ext cx="8789018" cy="979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b) 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registrati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 per</a:t>
            </a:r>
            <a:r>
              <a:rPr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scopi determinati e legittimi</a:t>
            </a:r>
            <a:r>
              <a:rPr sz="16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ed impiegati</a:t>
            </a:r>
            <a:r>
              <a:rPr sz="1600" spc="-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una maniera</a:t>
            </a:r>
            <a:r>
              <a:rPr sz="16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non incompatibile</a:t>
            </a:r>
            <a:r>
              <a:rPr sz="16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con</a:t>
            </a:r>
            <a:r>
              <a:rPr sz="16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detti fini;</a:t>
            </a:r>
          </a:p>
          <a:p>
            <a:pPr marL="0" marR="0">
              <a:lnSpc>
                <a:spcPts val="1951"/>
              </a:lnSpc>
              <a:spcBef>
                <a:spcPts val="77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c) adeguati,</a:t>
            </a:r>
            <a:r>
              <a:rPr sz="16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pertinenti</a:t>
            </a:r>
            <a:r>
              <a:rPr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 non eccessivi</a:t>
            </a:r>
            <a:r>
              <a:rPr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riguardo</a:t>
            </a:r>
            <a:r>
              <a:rPr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ai fini</a:t>
            </a:r>
            <a:r>
              <a:rPr sz="16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quali</a:t>
            </a:r>
            <a:r>
              <a:rPr sz="16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vengono</a:t>
            </a:r>
            <a:r>
              <a:rPr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registrati;</a:t>
            </a:r>
          </a:p>
          <a:p>
            <a:pPr marL="0" marR="0">
              <a:lnSpc>
                <a:spcPts val="1948"/>
              </a:lnSpc>
              <a:spcBef>
                <a:spcPts val="79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d) esatti e, se necessario,</a:t>
            </a:r>
            <a:r>
              <a:rPr sz="16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aggiornati;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6623" y="3870626"/>
            <a:ext cx="11171459" cy="504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e) conservati</a:t>
            </a:r>
            <a:r>
              <a:rPr sz="16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16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una </a:t>
            </a:r>
            <a:r>
              <a:rPr sz="1600" spc="-11" dirty="0">
                <a:solidFill>
                  <a:srgbClr val="000000"/>
                </a:solidFill>
                <a:latin typeface="VOMJKV+Calibri"/>
                <a:cs typeface="VOMJKV+Calibri"/>
              </a:rPr>
              <a:t>forma</a:t>
            </a:r>
            <a:r>
              <a:rPr sz="16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che consenta</a:t>
            </a:r>
            <a:r>
              <a:rPr sz="16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l’identificazione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16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persone</a:t>
            </a:r>
            <a:r>
              <a:rPr sz="1600" spc="3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interessate per</a:t>
            </a:r>
            <a:r>
              <a:rPr sz="16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una 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durata</a:t>
            </a:r>
            <a:r>
              <a:rPr sz="16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non superiore</a:t>
            </a:r>
            <a:r>
              <a:rPr sz="1600" spc="3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a quella</a:t>
            </a:r>
            <a:r>
              <a:rPr sz="16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14" dirty="0">
                <a:solidFill>
                  <a:srgbClr val="000000"/>
                </a:solidFill>
                <a:latin typeface="VOMJKV+Calibri"/>
                <a:cs typeface="VOMJKV+Calibri"/>
              </a:rPr>
              <a:t>nec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essaria</a:t>
            </a:r>
            <a:r>
              <a:rPr sz="16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ai</a:t>
            </a:r>
          </a:p>
          <a:p>
            <a:pPr marL="0" marR="0">
              <a:lnSpc>
                <a:spcPts val="1727"/>
              </a:lnSpc>
              <a:spcBef>
                <a:spcPts val="5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fini</a:t>
            </a:r>
            <a:r>
              <a:rPr sz="1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quali</a:t>
            </a:r>
            <a:r>
              <a:rPr sz="16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sono</a:t>
            </a:r>
            <a:r>
              <a:rPr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registrati.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6623" y="4436030"/>
            <a:ext cx="272022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Art.</a:t>
            </a:r>
            <a:r>
              <a:rPr sz="16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6 Categorie speciali</a:t>
            </a:r>
            <a:r>
              <a:rPr sz="1600" b="1" spc="-21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di</a:t>
            </a:r>
            <a:r>
              <a:rPr sz="1600" b="1" spc="1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dati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6623" y="4783756"/>
            <a:ext cx="11351478" cy="724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I dati</a:t>
            </a:r>
            <a:r>
              <a:rPr sz="16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di 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carattere</a:t>
            </a:r>
            <a:r>
              <a:rPr sz="1600" spc="3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personale indicanti</a:t>
            </a:r>
            <a:r>
              <a:rPr sz="1600" spc="-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l’origine</a:t>
            </a:r>
            <a:r>
              <a:rPr sz="16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razziale, le opinioni politiche,</a:t>
            </a:r>
            <a:r>
              <a:rPr sz="16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le convinzioni religiose o altri</a:t>
            </a:r>
            <a:r>
              <a:rPr sz="16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VOMJKV+Calibri"/>
                <a:cs typeface="VOMJKV+Calibri"/>
              </a:rPr>
              <a:t>credo,</a:t>
            </a:r>
            <a:r>
              <a:rPr sz="1600" spc="4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34" dirty="0">
                <a:solidFill>
                  <a:srgbClr val="000000"/>
                </a:solidFill>
                <a:latin typeface="VOMJKV+Calibri"/>
                <a:cs typeface="VOMJKV+Calibri"/>
              </a:rPr>
              <a:t>no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nché</a:t>
            </a:r>
            <a:r>
              <a:rPr sz="16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dati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carattere</a:t>
            </a:r>
          </a:p>
          <a:p>
            <a:pPr marL="0" marR="0">
              <a:lnSpc>
                <a:spcPts val="1727"/>
              </a:lnSpc>
              <a:spcBef>
                <a:spcPts val="5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personale relativi allo </a:t>
            </a:r>
            <a:r>
              <a:rPr sz="1600" spc="-14" dirty="0">
                <a:solidFill>
                  <a:srgbClr val="000000"/>
                </a:solidFill>
                <a:latin typeface="Calibri"/>
                <a:cs typeface="Calibri"/>
              </a:rPr>
              <a:t>stato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 di salute</a:t>
            </a:r>
            <a:r>
              <a:rPr sz="16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ed alla</a:t>
            </a:r>
            <a:r>
              <a:rPr sz="16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vita sessuale, non possono</a:t>
            </a:r>
            <a:r>
              <a:rPr sz="16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essere</a:t>
            </a:r>
            <a:r>
              <a:rPr sz="1600" spc="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elaborati automaticamente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meno</a:t>
            </a:r>
            <a:r>
              <a:rPr sz="16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che il</a:t>
            </a:r>
            <a:r>
              <a:rPr sz="16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diritto</a:t>
            </a:r>
            <a:r>
              <a:rPr sz="16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interno</a:t>
            </a:r>
          </a:p>
          <a:p>
            <a:pPr marL="0" marR="0">
              <a:lnSpc>
                <a:spcPts val="172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non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preveda</a:t>
            </a:r>
            <a:r>
              <a:rPr sz="16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garanzia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adatte.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Lo stesso dicasi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dei dati di 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carattere</a:t>
            </a:r>
            <a:r>
              <a:rPr sz="16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personale relativi alle</a:t>
            </a:r>
            <a:r>
              <a:rPr sz="1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condanne</a:t>
            </a:r>
            <a:r>
              <a:rPr sz="16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penali.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6623" y="5568641"/>
            <a:ext cx="211863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Art.</a:t>
            </a:r>
            <a:r>
              <a:rPr sz="16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7 Sicurezza</a:t>
            </a:r>
            <a:r>
              <a:rPr sz="1600" b="1" spc="17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D19A3F"/>
                </a:solidFill>
                <a:latin typeface="Calibri"/>
                <a:cs typeface="Calibri"/>
              </a:rPr>
              <a:t>dei dati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66623" y="5914589"/>
            <a:ext cx="10890565" cy="724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Adeguate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misure</a:t>
            </a:r>
            <a:r>
              <a:rPr sz="16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di sicurezza</a:t>
            </a:r>
            <a:r>
              <a:rPr sz="16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vengono</a:t>
            </a:r>
            <a:r>
              <a:rPr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adottate per</a:t>
            </a:r>
            <a:r>
              <a:rPr sz="16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protezione</a:t>
            </a:r>
            <a:r>
              <a:rPr sz="16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di dati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di 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carattere</a:t>
            </a:r>
            <a:r>
              <a:rPr sz="16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personale</a:t>
            </a:r>
            <a:r>
              <a:rPr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registrati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 nei casellari automatizzati</a:t>
            </a:r>
          </a:p>
          <a:p>
            <a:pPr marL="0" marR="0">
              <a:lnSpc>
                <a:spcPts val="1728"/>
              </a:lnSpc>
              <a:spcBef>
                <a:spcPts val="50"/>
              </a:spcBef>
              <a:spcAft>
                <a:spcPts val="0"/>
              </a:spcAft>
            </a:pPr>
            <a:r>
              <a:rPr sz="1600" spc="-11" dirty="0">
                <a:solidFill>
                  <a:srgbClr val="000000"/>
                </a:solidFill>
                <a:latin typeface="VOMJKV+Calibri"/>
                <a:cs typeface="VOMJKV+Calibri"/>
              </a:rPr>
              <a:t>contro</a:t>
            </a:r>
            <a:r>
              <a:rPr sz="16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16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distruzione accidentale</a:t>
            </a:r>
            <a:r>
              <a:rPr sz="16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o non autorizzata, </a:t>
            </a:r>
            <a:r>
              <a:rPr sz="1600" spc="-10" dirty="0">
                <a:solidFill>
                  <a:srgbClr val="000000"/>
                </a:solidFill>
                <a:latin typeface="VOMJKV+Calibri"/>
                <a:cs typeface="VOMJKV+Calibri"/>
              </a:rPr>
              <a:t>ovvero</a:t>
            </a:r>
            <a:r>
              <a:rPr sz="1600" spc="5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16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perdita accidentale</a:t>
            </a:r>
            <a:r>
              <a:rPr sz="16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così</a:t>
            </a:r>
            <a:r>
              <a:rPr sz="16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come</a:t>
            </a:r>
            <a:r>
              <a:rPr sz="16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VOMJKV+Calibri"/>
                <a:cs typeface="VOMJKV+Calibri"/>
              </a:rPr>
              <a:t>contro</a:t>
            </a:r>
            <a:r>
              <a:rPr sz="16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-17" dirty="0">
                <a:solidFill>
                  <a:srgbClr val="000000"/>
                </a:solidFill>
                <a:latin typeface="VOMJKV+Calibri"/>
                <a:cs typeface="VOMJKV+Calibri"/>
              </a:rPr>
              <a:t>l’accesso</a:t>
            </a:r>
            <a:r>
              <a:rPr sz="16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ai dati,</a:t>
            </a:r>
            <a:r>
              <a:rPr sz="1600" spc="-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16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600" spc="10" dirty="0">
                <a:solidFill>
                  <a:srgbClr val="000000"/>
                </a:solidFill>
                <a:latin typeface="VOMJKV+Calibri"/>
                <a:cs typeface="VOMJKV+Calibri"/>
              </a:rPr>
              <a:t>mod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ifica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o la</a:t>
            </a:r>
          </a:p>
          <a:p>
            <a:pPr marL="0" marR="0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diffusione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non autorizzate.</a:t>
            </a:r>
          </a:p>
        </p:txBody>
      </p:sp>
      <p:pic>
        <p:nvPicPr>
          <p:cNvPr id="15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6" name="Segnaposto numero diapositiva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95851" y="888144"/>
            <a:ext cx="3118435" cy="59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94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Considerando</a:t>
            </a:r>
            <a:r>
              <a:rPr sz="3600" b="1" spc="17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6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5314" y="1689805"/>
            <a:ext cx="10301304" cy="1398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28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2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dei</a:t>
            </a:r>
            <a:r>
              <a:rPr sz="2400" spc="2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dati</a:t>
            </a:r>
            <a:r>
              <a:rPr sz="2400" spc="2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personali</a:t>
            </a:r>
            <a:r>
              <a:rPr sz="2400" spc="2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dovrebbe</a:t>
            </a:r>
            <a:r>
              <a:rPr sz="2400" spc="2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essere</a:t>
            </a:r>
            <a:r>
              <a:rPr sz="2400" spc="28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al</a:t>
            </a:r>
            <a:r>
              <a:rPr sz="2400" spc="272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servizio</a:t>
            </a:r>
            <a:r>
              <a:rPr sz="2400" spc="26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dell'uomo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400" spc="2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2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diritto</a:t>
            </a:r>
          </a:p>
          <a:p>
            <a:pPr marL="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alla</a:t>
            </a:r>
            <a:r>
              <a:rPr sz="2400" spc="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protezione</a:t>
            </a:r>
            <a:r>
              <a:rPr sz="2400" spc="10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dei</a:t>
            </a:r>
            <a:r>
              <a:rPr sz="2400" spc="9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dati</a:t>
            </a:r>
            <a:r>
              <a:rPr sz="2400" spc="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400" spc="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carattere</a:t>
            </a:r>
            <a:r>
              <a:rPr sz="2400" spc="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personale</a:t>
            </a:r>
            <a:r>
              <a:rPr sz="2400" spc="10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non</a:t>
            </a:r>
            <a:r>
              <a:rPr sz="2400" spc="9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è</a:t>
            </a:r>
            <a:r>
              <a:rPr sz="2400" spc="99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una</a:t>
            </a:r>
            <a:r>
              <a:rPr sz="2400" spc="97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D19A3F"/>
                </a:solidFill>
                <a:latin typeface="Calibri"/>
                <a:cs typeface="Calibri"/>
              </a:rPr>
              <a:t>prerogativa</a:t>
            </a:r>
            <a:r>
              <a:rPr sz="2400" spc="93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assoluta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2400" spc="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ma</a:t>
            </a:r>
          </a:p>
          <a:p>
            <a:pPr marL="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va</a:t>
            </a:r>
            <a:r>
              <a:rPr sz="2400" spc="4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considerato</a:t>
            </a:r>
            <a:r>
              <a:rPr sz="2400" spc="3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alla</a:t>
            </a:r>
            <a:r>
              <a:rPr sz="2400" spc="3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luce</a:t>
            </a:r>
            <a:r>
              <a:rPr sz="2400" spc="38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della</a:t>
            </a:r>
            <a:r>
              <a:rPr sz="2400" spc="3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sua</a:t>
            </a:r>
            <a:r>
              <a:rPr sz="2400" spc="3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funzione</a:t>
            </a:r>
            <a:r>
              <a:rPr sz="2400" spc="3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sociale</a:t>
            </a:r>
            <a:r>
              <a:rPr sz="2400" spc="3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2400" spc="3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va</a:t>
            </a:r>
            <a:r>
              <a:rPr sz="2400" spc="4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4" dirty="0">
                <a:solidFill>
                  <a:srgbClr val="D19A3F"/>
                </a:solidFill>
                <a:latin typeface="Calibri"/>
                <a:cs typeface="Calibri"/>
              </a:rPr>
              <a:t>contemperato</a:t>
            </a:r>
            <a:r>
              <a:rPr sz="2400" spc="371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D19A3F"/>
                </a:solidFill>
                <a:latin typeface="Calibri"/>
                <a:cs typeface="Calibri"/>
              </a:rPr>
              <a:t>con</a:t>
            </a:r>
            <a:r>
              <a:rPr sz="2400" spc="38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altri</a:t>
            </a:r>
          </a:p>
          <a:p>
            <a:pPr marL="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D19A3F"/>
                </a:solidFill>
                <a:latin typeface="Calibri"/>
                <a:cs typeface="Calibri"/>
              </a:rPr>
              <a:t>diritti fondamentali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 ossequio al principio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 proporzionalità.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06340" y="4175746"/>
            <a:ext cx="2116694" cy="958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39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diritto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difesa</a:t>
            </a:r>
          </a:p>
          <a:p>
            <a:pPr marL="105155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diritto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cronaca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diritto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dell’impresa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23003" y="5090146"/>
            <a:ext cx="3684261" cy="958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3732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attività</a:t>
            </a:r>
            <a:r>
              <a:rPr sz="2000" spc="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ricerca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diritto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alla trasparenza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delle </a:t>
            </a:r>
            <a:r>
              <a:rPr sz="2000" spc="-47" dirty="0">
                <a:solidFill>
                  <a:srgbClr val="000000"/>
                </a:solidFill>
                <a:latin typeface="Calibri"/>
                <a:cs typeface="Calibri"/>
              </a:rPr>
              <a:t>PP.AA</a:t>
            </a:r>
          </a:p>
          <a:p>
            <a:pPr marL="80772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legittimo interesse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14671" y="6309651"/>
            <a:ext cx="2900497" cy="34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(vd. considerando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4 GDPR)</a:t>
            </a:r>
          </a:p>
        </p:txBody>
      </p:sp>
      <p:pic>
        <p:nvPicPr>
          <p:cNvPr id="10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9218" y="1015278"/>
            <a:ext cx="10801759" cy="102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attuale</a:t>
            </a:r>
            <a:r>
              <a:rPr sz="3200" b="1" spc="-37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quadro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giuridico</a:t>
            </a:r>
            <a:r>
              <a:rPr sz="3200" b="1" spc="-4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riferimento</a:t>
            </a:r>
            <a:r>
              <a:rPr sz="3200" b="1" spc="-2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in</a:t>
            </a:r>
            <a:r>
              <a:rPr sz="32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materia</a:t>
            </a:r>
            <a:r>
              <a:rPr sz="3200" b="1" spc="-17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32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protezione</a:t>
            </a:r>
          </a:p>
          <a:p>
            <a:pPr marL="3720693" marR="0">
              <a:lnSpc>
                <a:spcPts val="3839"/>
              </a:lnSpc>
              <a:spcBef>
                <a:spcPts val="5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dei dati</a:t>
            </a:r>
            <a:r>
              <a:rPr sz="32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5969" y="2530709"/>
            <a:ext cx="10858632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15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150" spc="4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333333"/>
                </a:solidFill>
                <a:latin typeface="Calibri"/>
                <a:cs typeface="Calibri"/>
              </a:rPr>
              <a:t>Regolamento</a:t>
            </a:r>
            <a:r>
              <a:rPr sz="2400" spc="318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(UE)</a:t>
            </a:r>
            <a:r>
              <a:rPr sz="2400" spc="303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2016/679</a:t>
            </a:r>
            <a:r>
              <a:rPr sz="2400" spc="3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GDPR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)</a:t>
            </a:r>
            <a:r>
              <a:rPr sz="2400" spc="30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aggiornato</a:t>
            </a:r>
            <a:r>
              <a:rPr sz="2400" spc="29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alle</a:t>
            </a:r>
            <a:r>
              <a:rPr sz="2400" spc="306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srgbClr val="333333"/>
                </a:solidFill>
                <a:latin typeface="Calibri"/>
                <a:cs typeface="Calibri"/>
              </a:rPr>
              <a:t>rettifiche</a:t>
            </a:r>
            <a:r>
              <a:rPr sz="2400" spc="326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pubblicate</a:t>
            </a:r>
            <a:r>
              <a:rPr sz="2400" spc="3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sulla</a:t>
            </a:r>
            <a:r>
              <a:rPr sz="2400" spc="3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GU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8894" y="2896469"/>
            <a:ext cx="3161589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UE n.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127 del 23/5/2018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5969" y="3907135"/>
            <a:ext cx="9226245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15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150" spc="4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333333"/>
                </a:solidFill>
                <a:latin typeface="Calibri"/>
                <a:cs typeface="Calibri"/>
              </a:rPr>
              <a:t>D.Lgs.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196/2003</a:t>
            </a:r>
            <a:r>
              <a:rPr sz="2400" spc="-12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(Codice</a:t>
            </a:r>
            <a:r>
              <a:rPr sz="2400" spc="-18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privacy)</a:t>
            </a:r>
            <a:r>
              <a:rPr sz="24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come </a:t>
            </a:r>
            <a:r>
              <a:rPr sz="2400" spc="-11" dirty="0">
                <a:solidFill>
                  <a:srgbClr val="333333"/>
                </a:solidFill>
                <a:latin typeface="Calibri"/>
                <a:cs typeface="Calibri"/>
              </a:rPr>
              <a:t>modificato,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dal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4" dirty="0">
                <a:solidFill>
                  <a:srgbClr val="333333"/>
                </a:solidFill>
                <a:latin typeface="Calibri"/>
                <a:cs typeface="Calibri"/>
              </a:rPr>
              <a:t>D.Lgs.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101/2018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184635" y="6401691"/>
            <a:ext cx="229641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7</a:t>
            </a:r>
          </a:p>
        </p:txBody>
      </p:sp>
      <p:pic>
        <p:nvPicPr>
          <p:cNvPr id="10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2706" y="807125"/>
            <a:ext cx="9854173" cy="534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Principi</a:t>
            </a:r>
            <a:r>
              <a:rPr sz="32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applicabili</a:t>
            </a:r>
            <a:r>
              <a:rPr sz="3200" b="1" spc="-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al trattamento</a:t>
            </a:r>
            <a:r>
              <a:rPr sz="3200" b="1" spc="-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32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dati</a:t>
            </a:r>
            <a:r>
              <a:rPr sz="32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</a:t>
            </a:r>
            <a:r>
              <a:rPr sz="3200" b="1" spc="247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2706" y="1663837"/>
            <a:ext cx="4041661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Paragrafo 1 - I dati personali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sono: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2706" y="2334397"/>
            <a:ext cx="10759454" cy="3061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a)</a:t>
            </a:r>
            <a:r>
              <a:rPr sz="2200" spc="49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trattati in modo</a:t>
            </a:r>
            <a:r>
              <a:rPr sz="22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lecito, corretto</a:t>
            </a:r>
            <a:r>
              <a:rPr sz="2200" b="1" spc="4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trasparente</a:t>
            </a:r>
            <a:r>
              <a:rPr sz="2200" b="1" spc="6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nei confronti dell'interessato</a:t>
            </a:r>
            <a:r>
              <a:rPr sz="22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(idoneità</a:t>
            </a:r>
          </a:p>
          <a:p>
            <a:pPr marL="364235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dell’informativa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contenuto</a:t>
            </a:r>
            <a:r>
              <a:rPr sz="22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e modalità con cui viene resa</a:t>
            </a:r>
            <a:r>
              <a:rPr sz="2200" spc="-6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- cfr. artt. 12, 13 e 14);</a:t>
            </a:r>
          </a:p>
          <a:p>
            <a:pPr marL="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b)</a:t>
            </a:r>
            <a:r>
              <a:rPr sz="2200" spc="49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raccolti per finalità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determinate,</a:t>
            </a:r>
            <a:r>
              <a:rPr sz="2200" b="1" spc="3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esplicite</a:t>
            </a:r>
            <a:r>
              <a:rPr sz="22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</a:t>
            </a:r>
            <a:r>
              <a:rPr sz="2200" b="1" spc="12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legittime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,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e successivamente</a:t>
            </a:r>
            <a:r>
              <a:rPr sz="22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trattati in modo</a:t>
            </a:r>
          </a:p>
          <a:p>
            <a:pPr marL="364235" marR="0">
              <a:lnSpc>
                <a:spcPts val="2642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non incompatibile con tali finalità</a:t>
            </a:r>
            <a:r>
              <a:rPr sz="22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(le finalità di archiviazione</a:t>
            </a:r>
            <a:r>
              <a:rPr sz="2200" spc="-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nel pubblico interesse e</a:t>
            </a:r>
          </a:p>
          <a:p>
            <a:pPr marL="364235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quelle di ricerca scientifica o storica non sono considerate incompatibili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con quelle iniziali</a:t>
            </a:r>
            <a:r>
              <a:rPr sz="22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-</a:t>
            </a:r>
          </a:p>
          <a:p>
            <a:pPr marL="364235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cfr. art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89)</a:t>
            </a: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c)</a:t>
            </a:r>
            <a:r>
              <a:rPr sz="2200" spc="49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adeguati,</a:t>
            </a:r>
            <a:r>
              <a:rPr sz="2200" b="1" spc="1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pertinenti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 limitati</a:t>
            </a:r>
            <a:r>
              <a:rPr sz="2200" b="1" spc="1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 quanto</a:t>
            </a:r>
            <a:r>
              <a:rPr sz="2200" b="1" spc="2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necessario</a:t>
            </a:r>
            <a:r>
              <a:rPr sz="2200" b="1" spc="5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rispetto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alle finalità</a:t>
            </a:r>
            <a:r>
              <a:rPr sz="22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 le quali</a:t>
            </a:r>
            <a:r>
              <a:rPr sz="22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</a:p>
          <a:p>
            <a:pPr marL="364235" marR="0">
              <a:lnSpc>
                <a:spcPts val="2642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trattati ("minimizzazione</a:t>
            </a:r>
            <a:r>
              <a:rPr sz="2200" spc="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dei dati");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d)</a:t>
            </a:r>
            <a:r>
              <a:rPr sz="2200" b="1" spc="51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esatti</a:t>
            </a:r>
            <a:r>
              <a:rPr sz="2200" b="1" spc="2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 se necessario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aggiornati</a:t>
            </a:r>
            <a:r>
              <a:rPr sz="2200" b="1" spc="46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(i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dati inesatti devono essere</a:t>
            </a:r>
            <a:r>
              <a:rPr sz="22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rettificati o cancellati);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5449" y="902502"/>
            <a:ext cx="9811389" cy="534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Principi</a:t>
            </a:r>
            <a:r>
              <a:rPr sz="3200" b="1" spc="-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applicabili al</a:t>
            </a:r>
            <a:r>
              <a:rPr sz="3200" b="1" spc="-3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spc="-18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32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di</a:t>
            </a:r>
            <a:r>
              <a:rPr sz="3200" b="1" spc="-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dati</a:t>
            </a:r>
            <a:r>
              <a:rPr sz="32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personali</a:t>
            </a:r>
            <a:r>
              <a:rPr sz="3200" b="1" spc="-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(art.</a:t>
            </a:r>
            <a:r>
              <a:rPr sz="3200" b="1" spc="-17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5)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5449" y="1758960"/>
            <a:ext cx="10891952" cy="2390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e)</a:t>
            </a:r>
            <a:r>
              <a:rPr sz="2200" spc="5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conservati</a:t>
            </a:r>
            <a:r>
              <a:rPr sz="2200" b="1" spc="47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in una 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forma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che </a:t>
            </a:r>
            <a:r>
              <a:rPr sz="2200" spc="-12" dirty="0">
                <a:solidFill>
                  <a:srgbClr val="000000"/>
                </a:solidFill>
                <a:latin typeface="Calibri"/>
                <a:cs typeface="Calibri"/>
              </a:rPr>
              <a:t>consenta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l'identificazione</a:t>
            </a:r>
            <a:r>
              <a:rPr sz="2200" spc="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dell'interessato</a:t>
            </a:r>
            <a:r>
              <a:rPr sz="2200" spc="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per un </a:t>
            </a:r>
            <a:r>
              <a:rPr sz="2200" b="1" spc="-14" dirty="0">
                <a:solidFill>
                  <a:srgbClr val="D19A3F"/>
                </a:solidFill>
                <a:latin typeface="Calibri"/>
                <a:cs typeface="Calibri"/>
              </a:rPr>
              <a:t>arco</a:t>
            </a:r>
            <a:r>
              <a:rPr sz="2200" b="1" spc="2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di tempo</a:t>
            </a:r>
          </a:p>
          <a:p>
            <a:pPr marL="364236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non superiore</a:t>
            </a:r>
            <a:r>
              <a:rPr sz="2200" b="1" spc="43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al conseguimento</a:t>
            </a:r>
            <a:r>
              <a:rPr sz="2200" b="1" spc="41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delle</a:t>
            </a:r>
            <a:r>
              <a:rPr sz="2200" b="1" spc="15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finalità</a:t>
            </a:r>
            <a:r>
              <a:rPr sz="2200" b="1" spc="3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per le quali</a:t>
            </a:r>
            <a:r>
              <a:rPr sz="22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sono </a:t>
            </a:r>
            <a:r>
              <a:rPr sz="2200" spc="-23" dirty="0">
                <a:solidFill>
                  <a:srgbClr val="000000"/>
                </a:solidFill>
                <a:latin typeface="Calibri"/>
                <a:cs typeface="Calibri"/>
              </a:rPr>
              <a:t>trattati</a:t>
            </a:r>
            <a:r>
              <a:rPr sz="22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(per finalità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</a:p>
          <a:p>
            <a:pPr marL="364236" marR="0">
              <a:lnSpc>
                <a:spcPts val="2642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archiviazione</a:t>
            </a:r>
            <a:r>
              <a:rPr sz="22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nel pubblico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interesse,</a:t>
            </a:r>
            <a:r>
              <a:rPr sz="22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di </a:t>
            </a:r>
            <a:r>
              <a:rPr sz="2200" spc="-12" dirty="0">
                <a:solidFill>
                  <a:srgbClr val="000000"/>
                </a:solidFill>
                <a:latin typeface="Calibri"/>
                <a:cs typeface="Calibri"/>
              </a:rPr>
              <a:t>ricerca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scientifica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 </a:t>
            </a:r>
            <a:r>
              <a:rPr sz="2200" spc="-12" dirty="0">
                <a:solidFill>
                  <a:srgbClr val="000000"/>
                </a:solidFill>
                <a:latin typeface="Calibri"/>
                <a:cs typeface="Calibri"/>
              </a:rPr>
              <a:t>storica</a:t>
            </a:r>
            <a:r>
              <a:rPr sz="22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 a fini </a:t>
            </a:r>
            <a:r>
              <a:rPr sz="2200" spc="-12" dirty="0">
                <a:solidFill>
                  <a:srgbClr val="000000"/>
                </a:solidFill>
                <a:latin typeface="Calibri"/>
                <a:cs typeface="Calibri"/>
              </a:rPr>
              <a:t>statistici</a:t>
            </a:r>
            <a:r>
              <a:rPr sz="22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possono</a:t>
            </a:r>
          </a:p>
          <a:p>
            <a:pPr marL="364236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essere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conservati per tempi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più lunghi);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f)</a:t>
            </a:r>
            <a:r>
              <a:rPr sz="2200" spc="17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3" dirty="0">
                <a:solidFill>
                  <a:srgbClr val="000000"/>
                </a:solidFill>
                <a:latin typeface="Calibri"/>
                <a:cs typeface="Calibri"/>
              </a:rPr>
              <a:t>trattati</a:t>
            </a:r>
            <a:r>
              <a:rPr sz="2200" spc="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in modo</a:t>
            </a:r>
            <a:r>
              <a:rPr sz="22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da </a:t>
            </a:r>
            <a:r>
              <a:rPr sz="2200" spc="-17" dirty="0">
                <a:solidFill>
                  <a:srgbClr val="000000"/>
                </a:solidFill>
                <a:latin typeface="Calibri"/>
                <a:cs typeface="Calibri"/>
              </a:rPr>
              <a:t>garantire</a:t>
            </a:r>
            <a:r>
              <a:rPr sz="22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un'adeguata</a:t>
            </a:r>
            <a:r>
              <a:rPr sz="2200" b="1" spc="3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sicurezza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22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mediante</a:t>
            </a:r>
            <a:r>
              <a:rPr sz="22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misure tecniche</a:t>
            </a:r>
            <a:r>
              <a:rPr sz="22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</a:p>
          <a:p>
            <a:pPr marL="45720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spc="-12" dirty="0">
                <a:solidFill>
                  <a:srgbClr val="000000"/>
                </a:solidFill>
                <a:latin typeface="Calibri"/>
                <a:cs typeface="Calibri"/>
              </a:rPr>
              <a:t>organizzative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 adeguate,</a:t>
            </a:r>
            <a:r>
              <a:rPr sz="2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da </a:t>
            </a:r>
            <a:r>
              <a:rPr sz="2200" spc="-18" dirty="0">
                <a:solidFill>
                  <a:srgbClr val="000000"/>
                </a:solidFill>
                <a:latin typeface="Calibri"/>
                <a:cs typeface="Calibri"/>
              </a:rPr>
              <a:t>trattamenti</a:t>
            </a:r>
            <a:r>
              <a:rPr sz="22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non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autorizzati</a:t>
            </a:r>
            <a:r>
              <a:rPr sz="22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 illeciti e dalla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perdita, dalla</a:t>
            </a:r>
          </a:p>
          <a:p>
            <a:pPr marL="457200" marR="0">
              <a:lnSpc>
                <a:spcPts val="2642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distruzione o dal danno accidentali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("integrità</a:t>
            </a:r>
            <a:r>
              <a:rPr sz="2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22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riservatezza").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5449" y="4777115"/>
            <a:ext cx="10883438" cy="714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spc="-23" dirty="0">
                <a:solidFill>
                  <a:srgbClr val="000000"/>
                </a:solidFill>
                <a:latin typeface="Calibri"/>
                <a:cs typeface="Calibri"/>
              </a:rPr>
              <a:t>Paragrafo</a:t>
            </a:r>
            <a:r>
              <a:rPr sz="22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r>
              <a:rPr sz="22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–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Il titolare del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200" spc="7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è </a:t>
            </a:r>
            <a:r>
              <a:rPr sz="2200" b="1" spc="-15" dirty="0">
                <a:solidFill>
                  <a:srgbClr val="D19A3F"/>
                </a:solidFill>
                <a:latin typeface="Calibri"/>
                <a:cs typeface="Calibri"/>
              </a:rPr>
              <a:t>competente</a:t>
            </a:r>
            <a:r>
              <a:rPr sz="2200" b="1" spc="62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per il </a:t>
            </a:r>
            <a:r>
              <a:rPr sz="2200" b="1" spc="-11" dirty="0">
                <a:solidFill>
                  <a:srgbClr val="D19A3F"/>
                </a:solidFill>
                <a:latin typeface="Calibri"/>
                <a:cs typeface="Calibri"/>
              </a:rPr>
              <a:t>rispetto</a:t>
            </a:r>
            <a:r>
              <a:rPr sz="2200" b="1" spc="3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del </a:t>
            </a:r>
            <a:r>
              <a:rPr sz="2200" b="1" spc="-20" dirty="0">
                <a:solidFill>
                  <a:srgbClr val="D19A3F"/>
                </a:solidFill>
                <a:latin typeface="Calibri"/>
                <a:cs typeface="Calibri"/>
              </a:rPr>
              <a:t>paragrafo</a:t>
            </a:r>
            <a:r>
              <a:rPr sz="2200" b="1" spc="67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1 e</a:t>
            </a:r>
            <a:r>
              <a:rPr sz="22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in</a:t>
            </a:r>
            <a:r>
              <a:rPr sz="2200" b="1" spc="-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D19A3F"/>
                </a:solidFill>
                <a:latin typeface="Calibri"/>
                <a:cs typeface="Calibri"/>
              </a:rPr>
              <a:t>grado</a:t>
            </a:r>
          </a:p>
          <a:p>
            <a:pPr marL="0" marR="0">
              <a:lnSpc>
                <a:spcPts val="2642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Calibri"/>
                <a:cs typeface="Calibri"/>
              </a:rPr>
              <a:t>di </a:t>
            </a:r>
            <a:r>
              <a:rPr sz="2200" b="1" spc="-10" dirty="0">
                <a:solidFill>
                  <a:srgbClr val="D19A3F"/>
                </a:solidFill>
                <a:latin typeface="Calibri"/>
                <a:cs typeface="Calibri"/>
              </a:rPr>
              <a:t>comprovarlo</a:t>
            </a:r>
            <a:r>
              <a:rPr sz="2200" b="1" spc="6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(principio</a:t>
            </a:r>
            <a:r>
              <a:rPr sz="22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di responsabilizzazione o</a:t>
            </a:r>
            <a:r>
              <a:rPr sz="22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accountability)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7630" y="1055791"/>
            <a:ext cx="5546992" cy="534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Liceità</a:t>
            </a:r>
            <a:r>
              <a:rPr sz="3200" b="1" spc="-2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del </a:t>
            </a:r>
            <a:r>
              <a:rPr sz="3200" b="1" spc="-20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32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(art. 6.1)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13688" y="2011914"/>
            <a:ext cx="9475469" cy="775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dei dati personali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è lecito solo</a:t>
            </a:r>
            <a:r>
              <a:rPr sz="2400" b="1" spc="-1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se e nella </a:t>
            </a:r>
            <a:r>
              <a:rPr sz="2400" b="1" spc="-10" dirty="0">
                <a:solidFill>
                  <a:srgbClr val="D19A3F"/>
                </a:solidFill>
                <a:latin typeface="Calibri"/>
                <a:cs typeface="Calibri"/>
              </a:rPr>
              <a:t>misura</a:t>
            </a:r>
            <a:r>
              <a:rPr sz="24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in cui</a:t>
            </a:r>
            <a:r>
              <a:rPr sz="2400" b="1" spc="-1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ricorre</a:t>
            </a:r>
          </a:p>
          <a:p>
            <a:pPr marL="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almeno una delle seguenti</a:t>
            </a:r>
            <a:r>
              <a:rPr sz="2400" b="1" spc="18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condizioni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3688" y="3109575"/>
            <a:ext cx="9604012" cy="2605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a)</a:t>
            </a:r>
            <a:r>
              <a:rPr sz="2400" spc="5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l’interessato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ha espresso il</a:t>
            </a:r>
            <a:r>
              <a:rPr sz="2400" spc="-4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consenso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al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dei propri dati</a:t>
            </a:r>
          </a:p>
          <a:p>
            <a:pPr marL="364489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personali per una o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più specifiche finalità;</a:t>
            </a:r>
          </a:p>
          <a:p>
            <a:pPr marL="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b)</a:t>
            </a:r>
            <a:r>
              <a:rPr sz="2400" spc="5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necessario</a:t>
            </a:r>
            <a:r>
              <a:rPr sz="2400" spc="-5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19A3F"/>
                </a:solidFill>
                <a:latin typeface="NLHDNC+Calibri Bold"/>
                <a:cs typeface="NLHDNC+Calibri Bold"/>
              </a:rPr>
              <a:t>all’esecuzione</a:t>
            </a: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 di un </a:t>
            </a:r>
            <a:r>
              <a:rPr sz="2400" b="1" spc="-20" dirty="0">
                <a:solidFill>
                  <a:srgbClr val="D19A3F"/>
                </a:solidFill>
                <a:latin typeface="NLHDNC+Calibri Bold"/>
                <a:cs typeface="NLHDNC+Calibri Bold"/>
              </a:rPr>
              <a:t>contratto</a:t>
            </a:r>
            <a:r>
              <a:rPr sz="2400" b="1" spc="3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 cui</a:t>
            </a:r>
          </a:p>
          <a:p>
            <a:pPr marL="364489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l’interessato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è parte o </a:t>
            </a:r>
            <a:r>
              <a:rPr sz="2400" spc="-11" dirty="0">
                <a:solidFill>
                  <a:srgbClr val="000000"/>
                </a:solidFill>
                <a:latin typeface="VOMJKV+Calibri"/>
                <a:cs typeface="VOMJKV+Calibri"/>
              </a:rPr>
              <a:t>all’esecuzione</a:t>
            </a:r>
            <a:r>
              <a:rPr sz="24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misure </a:t>
            </a:r>
            <a:r>
              <a:rPr sz="2400" spc="-12" dirty="0">
                <a:solidFill>
                  <a:srgbClr val="000000"/>
                </a:solidFill>
                <a:latin typeface="VOMJKV+Calibri"/>
                <a:cs typeface="VOMJKV+Calibri"/>
              </a:rPr>
              <a:t>precontrattuali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VOMJKV+Calibri"/>
                <a:cs typeface="VOMJKV+Calibri"/>
              </a:rPr>
              <a:t>adottate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 su</a:t>
            </a:r>
          </a:p>
          <a:p>
            <a:pPr marL="364489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richiesta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dello stesso;</a:t>
            </a:r>
          </a:p>
          <a:p>
            <a:pPr marL="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c)</a:t>
            </a:r>
            <a:r>
              <a:rPr sz="2400" spc="5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necessario</a:t>
            </a:r>
            <a:r>
              <a:rPr sz="2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per adempiere un</a:t>
            </a:r>
            <a:r>
              <a:rPr sz="2400" b="1" spc="-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obbligo legale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al quale è</a:t>
            </a:r>
          </a:p>
          <a:p>
            <a:pPr marL="364489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soggetto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titolare del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trattamento;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83026" y="1063157"/>
            <a:ext cx="5578616" cy="534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Liceità</a:t>
            </a:r>
            <a:r>
              <a:rPr sz="3200" b="1" spc="-2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del trattamento</a:t>
            </a:r>
            <a:r>
              <a:rPr sz="3200" b="1" spc="-3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(art. 6.1)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0924" y="2037568"/>
            <a:ext cx="9261753" cy="1873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d)</a:t>
            </a:r>
            <a:r>
              <a:rPr sz="2400" spc="5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necessario</a:t>
            </a:r>
            <a:r>
              <a:rPr sz="24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 la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salvaguardia degli </a:t>
            </a:r>
            <a:r>
              <a:rPr sz="2400" b="1" spc="-10" dirty="0">
                <a:solidFill>
                  <a:srgbClr val="D19A3F"/>
                </a:solidFill>
                <a:latin typeface="Calibri"/>
                <a:cs typeface="Calibri"/>
              </a:rPr>
              <a:t>interessi</a:t>
            </a:r>
            <a:r>
              <a:rPr sz="24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vitali</a:t>
            </a:r>
          </a:p>
          <a:p>
            <a:pPr marL="364185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dell’interessato</a:t>
            </a:r>
            <a:r>
              <a:rPr sz="24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o di un'altra persona fisica;</a:t>
            </a:r>
          </a:p>
          <a:p>
            <a:pPr marL="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e)</a:t>
            </a:r>
            <a:r>
              <a:rPr sz="2400" spc="5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 trattamento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necessario</a:t>
            </a:r>
            <a:r>
              <a:rPr sz="24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spc="-11" dirty="0">
                <a:solidFill>
                  <a:srgbClr val="D19A3F"/>
                </a:solidFill>
                <a:latin typeface="NLHDNC+Calibri Bold"/>
                <a:cs typeface="NLHDNC+Calibri Bold"/>
              </a:rPr>
              <a:t>l’esecuzione</a:t>
            </a:r>
            <a:r>
              <a:rPr sz="2400" b="1" spc="-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un compito</a:t>
            </a:r>
            <a:r>
              <a:rPr sz="2400" b="1" spc="-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interesse</a:t>
            </a:r>
          </a:p>
          <a:p>
            <a:pPr marL="364185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pubblico o connesso</a:t>
            </a:r>
            <a:r>
              <a:rPr sz="2400" b="1" spc="-15" dirty="0">
                <a:solidFill>
                  <a:srgbClr val="D19A3F"/>
                </a:solidFill>
                <a:latin typeface="NLHDNC+Calibri Bold"/>
                <a:cs typeface="NLHDNC+Calibri Bold"/>
              </a:rPr>
              <a:t> all’esercizio</a:t>
            </a: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 di</a:t>
            </a:r>
            <a:r>
              <a:rPr sz="2400" b="1" spc="-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pubblici poteri</a:t>
            </a:r>
            <a:r>
              <a:rPr sz="2400" b="1" spc="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cui è 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investito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il</a:t>
            </a:r>
          </a:p>
          <a:p>
            <a:pPr marL="364185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titolare del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trattamento;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0924" y="3866622"/>
            <a:ext cx="9415372" cy="1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Calibri"/>
                <a:cs typeface="Calibri"/>
              </a:rPr>
              <a:t>f)</a:t>
            </a:r>
            <a:r>
              <a:rPr sz="2400" spc="10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necessario</a:t>
            </a:r>
            <a:r>
              <a:rPr sz="24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 il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perseguimento del legittimo interesse</a:t>
            </a:r>
          </a:p>
          <a:p>
            <a:pPr marL="364185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del titolare del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4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 di terzi,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 condizione che non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prevalgano</a:t>
            </a:r>
          </a:p>
          <a:p>
            <a:pPr marL="364185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gli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interessi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 diritti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 le libertà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fondamentali dell'interessato (in</a:t>
            </a:r>
          </a:p>
          <a:p>
            <a:pPr marL="364185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particolare se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l'interessato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è un minore).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25834" y="4187303"/>
            <a:ext cx="745457" cy="958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 dirty="0">
                <a:solidFill>
                  <a:srgbClr val="D19A3F"/>
                </a:solidFill>
                <a:latin typeface="Calibri"/>
                <a:cs typeface="Calibri"/>
              </a:rPr>
              <a:t>Non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 dirty="0">
                <a:solidFill>
                  <a:srgbClr val="D19A3F"/>
                </a:solidFill>
                <a:latin typeface="Calibri"/>
                <a:cs typeface="Calibri"/>
              </a:rPr>
              <a:t>per le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 dirty="0">
                <a:solidFill>
                  <a:srgbClr val="D19A3F"/>
                </a:solidFill>
                <a:latin typeface="Calibri"/>
                <a:cs typeface="Calibri"/>
              </a:rPr>
              <a:t>PA</a:t>
            </a:r>
          </a:p>
        </p:txBody>
      </p:sp>
      <p:pic>
        <p:nvPicPr>
          <p:cNvPr id="9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61461" y="1083180"/>
            <a:ext cx="6223270" cy="59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97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5A188"/>
                </a:solidFill>
                <a:latin typeface="Calibri"/>
                <a:cs typeface="Calibri"/>
              </a:rPr>
              <a:t>Liceità del </a:t>
            </a:r>
            <a:r>
              <a:rPr sz="3600" b="1" spc="-27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3600" b="1" spc="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25A188"/>
                </a:solidFill>
                <a:latin typeface="Calibri"/>
                <a:cs typeface="Calibri"/>
              </a:rPr>
              <a:t>(art. 6.2)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1450" y="2314893"/>
            <a:ext cx="9937095" cy="2606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Gli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Stati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membri</a:t>
            </a:r>
            <a:r>
              <a:rPr sz="28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possono</a:t>
            </a:r>
            <a:r>
              <a:rPr sz="2800" spc="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4" dirty="0">
                <a:solidFill>
                  <a:srgbClr val="D19A3F"/>
                </a:solidFill>
                <a:latin typeface="Calibri"/>
                <a:cs typeface="Calibri"/>
              </a:rPr>
              <a:t>mantenere</a:t>
            </a:r>
            <a:r>
              <a:rPr sz="2800" b="1" spc="4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D19A3F"/>
                </a:solidFill>
                <a:latin typeface="Calibri"/>
                <a:cs typeface="Calibri"/>
              </a:rPr>
              <a:t>o </a:t>
            </a:r>
            <a:r>
              <a:rPr sz="2800" b="1" spc="-12" dirty="0">
                <a:solidFill>
                  <a:srgbClr val="D19A3F"/>
                </a:solidFill>
                <a:latin typeface="Calibri"/>
                <a:cs typeface="Calibri"/>
              </a:rPr>
              <a:t>introdurre</a:t>
            </a:r>
            <a:r>
              <a:rPr sz="2800" b="1" spc="55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disposizioni</a:t>
            </a:r>
            <a:r>
              <a:rPr sz="28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più</a:t>
            </a:r>
          </a:p>
          <a:p>
            <a:pPr marL="0" marR="0">
              <a:lnSpc>
                <a:spcPts val="3361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VOMJKV+Calibri"/>
                <a:cs typeface="VOMJKV+Calibri"/>
              </a:rPr>
              <a:t>specifiche</a:t>
            </a:r>
            <a:r>
              <a:rPr sz="2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VOMJKV+Calibri"/>
                <a:cs typeface="VOMJKV+Calibri"/>
              </a:rPr>
              <a:t>per adeguare </a:t>
            </a:r>
            <a:r>
              <a:rPr sz="2800" spc="-20" dirty="0">
                <a:solidFill>
                  <a:srgbClr val="000000"/>
                </a:solidFill>
                <a:latin typeface="VOMJKV+Calibri"/>
                <a:cs typeface="VOMJKV+Calibri"/>
              </a:rPr>
              <a:t>l’applicazione</a:t>
            </a:r>
            <a:r>
              <a:rPr sz="2800" spc="3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VOMJKV+Calibri"/>
                <a:cs typeface="VOMJKV+Calibri"/>
              </a:rPr>
              <a:t>delle norme del </a:t>
            </a:r>
            <a:r>
              <a:rPr sz="2800" spc="-12" dirty="0">
                <a:solidFill>
                  <a:srgbClr val="000000"/>
                </a:solidFill>
                <a:latin typeface="VOMJKV+Calibri"/>
                <a:cs typeface="VOMJKV+Calibri"/>
              </a:rPr>
              <a:t>regolamento</a:t>
            </a:r>
          </a:p>
          <a:p>
            <a:pPr marL="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ai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trattamenti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necessari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8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D19A3F"/>
                </a:solidFill>
                <a:latin typeface="Calibri"/>
                <a:cs typeface="Calibri"/>
              </a:rPr>
              <a:t>adempiere</a:t>
            </a:r>
            <a:r>
              <a:rPr sz="2800" b="1" spc="36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D19A3F"/>
                </a:solidFill>
                <a:latin typeface="Calibri"/>
                <a:cs typeface="Calibri"/>
              </a:rPr>
              <a:t>un obbligo</a:t>
            </a:r>
            <a:r>
              <a:rPr sz="2800" b="1" spc="1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800" b="1" spc="-12" dirty="0">
                <a:solidFill>
                  <a:srgbClr val="D19A3F"/>
                </a:solidFill>
                <a:latin typeface="Calibri"/>
                <a:cs typeface="Calibri"/>
              </a:rPr>
              <a:t>legale</a:t>
            </a:r>
            <a:r>
              <a:rPr sz="2800" b="1" spc="5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al quale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è</a:t>
            </a:r>
          </a:p>
          <a:p>
            <a:pPr marL="0" marR="0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soggetto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titolare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per</a:t>
            </a:r>
            <a:r>
              <a:rPr sz="2800" b="1" spc="1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b="1" spc="-17" dirty="0">
                <a:solidFill>
                  <a:srgbClr val="D19A3F"/>
                </a:solidFill>
                <a:latin typeface="NLHDNC+Calibri Bold"/>
                <a:cs typeface="NLHDNC+Calibri Bold"/>
              </a:rPr>
              <a:t>l’esecuzione</a:t>
            </a:r>
            <a:r>
              <a:rPr sz="28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un compito di </a:t>
            </a:r>
            <a:r>
              <a:rPr sz="2800" b="1" spc="-14" dirty="0">
                <a:solidFill>
                  <a:srgbClr val="D19A3F"/>
                </a:solidFill>
                <a:latin typeface="NLHDNC+Calibri Bold"/>
                <a:cs typeface="NLHDNC+Calibri Bold"/>
              </a:rPr>
              <a:t>interesse</a:t>
            </a:r>
          </a:p>
          <a:p>
            <a:pPr marL="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pubblico o</a:t>
            </a:r>
            <a:r>
              <a:rPr sz="28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connesso </a:t>
            </a:r>
            <a:r>
              <a:rPr sz="2800" b="1" spc="-18" dirty="0">
                <a:solidFill>
                  <a:srgbClr val="D19A3F"/>
                </a:solidFill>
                <a:latin typeface="NLHDNC+Calibri Bold"/>
                <a:cs typeface="NLHDNC+Calibri Bold"/>
              </a:rPr>
              <a:t>all’esercizio</a:t>
            </a:r>
            <a:r>
              <a:rPr sz="2800" b="1" spc="4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pubblici</a:t>
            </a:r>
            <a:r>
              <a:rPr sz="2800" b="1" spc="1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poteri</a:t>
            </a:r>
            <a:r>
              <a:rPr sz="2800" b="1" spc="49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di cui è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investito</a:t>
            </a:r>
          </a:p>
          <a:p>
            <a:pPr marL="0" marR="0">
              <a:lnSpc>
                <a:spcPts val="336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titolare</a:t>
            </a:r>
          </a:p>
        </p:txBody>
      </p:sp>
      <p:pic>
        <p:nvPicPr>
          <p:cNvPr id="7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1817" y="1083180"/>
            <a:ext cx="9977298" cy="1633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9644" marR="0">
              <a:lnSpc>
                <a:spcPts val="4397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5A188"/>
                </a:solidFill>
                <a:latin typeface="Calibri"/>
                <a:cs typeface="Calibri"/>
              </a:rPr>
              <a:t>Liceità del </a:t>
            </a:r>
            <a:r>
              <a:rPr sz="3600" b="1" spc="-27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3600" b="1" spc="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25A188"/>
                </a:solidFill>
                <a:latin typeface="Calibri"/>
                <a:cs typeface="Calibri"/>
              </a:rPr>
              <a:t>(art. 6.3)</a:t>
            </a:r>
          </a:p>
          <a:p>
            <a:pPr marL="0" marR="0">
              <a:lnSpc>
                <a:spcPts val="2200"/>
              </a:lnSpc>
              <a:spcBef>
                <a:spcPts val="164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3. La</a:t>
            </a:r>
            <a:r>
              <a:rPr sz="18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base su cui</a:t>
            </a:r>
            <a:r>
              <a:rPr sz="18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si fonda il</a:t>
            </a:r>
            <a:r>
              <a:rPr sz="18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 dei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dati di cui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al paragrafo</a:t>
            </a:r>
            <a:r>
              <a:rPr sz="1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1, lettere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c)</a:t>
            </a:r>
            <a:r>
              <a:rPr sz="18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ed</a:t>
            </a:r>
            <a:r>
              <a:rPr sz="18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e),</a:t>
            </a:r>
            <a:r>
              <a:rPr sz="18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deve essere</a:t>
            </a:r>
            <a:r>
              <a:rPr sz="18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stabilita:</a:t>
            </a:r>
          </a:p>
          <a:p>
            <a:pPr marL="0" marR="0">
              <a:lnSpc>
                <a:spcPts val="2197"/>
              </a:lnSpc>
              <a:spcBef>
                <a:spcPts val="217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a) dal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diritto</a:t>
            </a:r>
            <a:r>
              <a:rPr sz="1800" b="1" spc="-2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dell'Unione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;</a:t>
            </a:r>
            <a:r>
              <a:rPr sz="18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1817" y="2947940"/>
            <a:ext cx="7177226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b) dal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diritto</a:t>
            </a:r>
            <a:r>
              <a:rPr sz="1800" b="1" spc="-2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dello</a:t>
            </a:r>
            <a:r>
              <a:rPr sz="1800" b="1" spc="-3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Stato membro</a:t>
            </a:r>
            <a:r>
              <a:rPr sz="1800" b="1" spc="-2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cui</a:t>
            </a:r>
            <a:r>
              <a:rPr sz="1800" b="1" spc="-1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è soggetto</a:t>
            </a:r>
            <a:r>
              <a:rPr sz="1800" b="1" spc="-2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il titolare</a:t>
            </a:r>
            <a:r>
              <a:rPr sz="18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del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trattamento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817" y="3496961"/>
            <a:ext cx="10751745" cy="27863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La</a:t>
            </a:r>
            <a:r>
              <a:rPr sz="1800" b="1" spc="1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finalità del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trattamento</a:t>
            </a:r>
            <a:r>
              <a:rPr sz="1800" b="1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è determinata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 tale</a:t>
            </a:r>
            <a:r>
              <a:rPr sz="1800" b="1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base</a:t>
            </a:r>
            <a:r>
              <a:rPr sz="1800" b="1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giuridica</a:t>
            </a:r>
            <a:r>
              <a:rPr sz="1800" b="1" spc="-37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o, per</a:t>
            </a:r>
            <a:r>
              <a:rPr sz="1800" b="1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quanto</a:t>
            </a:r>
            <a:r>
              <a:rPr sz="1800" b="1" spc="-3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riguarda</a:t>
            </a:r>
            <a:r>
              <a:rPr sz="18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il trattamento</a:t>
            </a:r>
            <a:r>
              <a:rPr sz="1800" b="1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</a:t>
            </a:r>
            <a:r>
              <a:rPr sz="1800" b="1" spc="-12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cui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al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paragrafo</a:t>
            </a:r>
            <a:r>
              <a:rPr sz="1800" b="1" spc="1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1, lettera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e),</a:t>
            </a:r>
            <a:r>
              <a:rPr sz="1800" b="1" spc="-1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è necessaria</a:t>
            </a:r>
            <a:r>
              <a:rPr sz="1800" b="1" spc="-33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per</a:t>
            </a:r>
            <a:r>
              <a:rPr sz="18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l'esecuzione di</a:t>
            </a:r>
            <a:r>
              <a:rPr sz="1800" b="1" spc="-1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un</a:t>
            </a:r>
            <a:r>
              <a:rPr sz="1800" b="1" spc="-46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compito</a:t>
            </a:r>
            <a:r>
              <a:rPr sz="1800" b="1" spc="-2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svolto</a:t>
            </a:r>
            <a:r>
              <a:rPr sz="18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nel</a:t>
            </a:r>
            <a:r>
              <a:rPr sz="1800" b="1" spc="-27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pubblico</a:t>
            </a:r>
            <a:r>
              <a:rPr sz="1800" b="1" spc="-1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interesse o</a:t>
            </a:r>
            <a:r>
              <a:rPr sz="1800" b="1" spc="-3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connesso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all'esercizio</a:t>
            </a:r>
            <a:r>
              <a:rPr sz="1800" b="1" spc="-4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</a:t>
            </a:r>
            <a:r>
              <a:rPr sz="1800" b="1" spc="-12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pubblici</a:t>
            </a:r>
            <a:r>
              <a:rPr sz="1800" b="1" spc="-34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poteri</a:t>
            </a:r>
            <a:r>
              <a:rPr sz="1800" b="1" spc="-27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</a:t>
            </a:r>
            <a:r>
              <a:rPr sz="1800" b="1" spc="-12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cui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è investito il</a:t>
            </a:r>
            <a:r>
              <a:rPr sz="1800" b="1" spc="-3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titolare</a:t>
            </a:r>
            <a:r>
              <a:rPr sz="18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del</a:t>
            </a:r>
            <a:r>
              <a:rPr sz="18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18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trattamento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.</a:t>
            </a:r>
            <a:r>
              <a:rPr sz="1800" spc="-3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Tale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base giuridica</a:t>
            </a:r>
            <a:r>
              <a:rPr sz="180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potrebbe</a:t>
            </a:r>
            <a:r>
              <a:rPr sz="18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contenere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disposizioni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specifiche</a:t>
            </a:r>
            <a:r>
              <a:rPr sz="18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per adeguare l'applicazione</a:t>
            </a:r>
            <a:r>
              <a:rPr sz="1800" spc="5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norme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 presente regolamento, tra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cui: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le condizioni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generali relative</a:t>
            </a:r>
            <a:r>
              <a:rPr sz="18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liceità</a:t>
            </a:r>
            <a:r>
              <a:rPr sz="18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 da parte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titolare</a:t>
            </a:r>
            <a:r>
              <a:rPr sz="18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trattamento; le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tipologie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di dati oggetto del</a:t>
            </a:r>
          </a:p>
          <a:p>
            <a:pPr marL="0" marR="0">
              <a:lnSpc>
                <a:spcPts val="216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trattamento; gli interessati; i soggetti cui</a:t>
            </a:r>
            <a:r>
              <a:rPr sz="18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possono</a:t>
            </a:r>
            <a:r>
              <a:rPr sz="18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essere comunicati</a:t>
            </a:r>
            <a:r>
              <a:rPr sz="18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i dati personali e</a:t>
            </a:r>
            <a:r>
              <a:rPr sz="18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le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finalità</a:t>
            </a:r>
            <a:r>
              <a:rPr sz="18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per cui</a:t>
            </a:r>
            <a:r>
              <a:rPr sz="1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comunicati;</a:t>
            </a:r>
            <a:r>
              <a:rPr sz="18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le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limitazioni</a:t>
            </a:r>
            <a:r>
              <a:rPr sz="18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della</a:t>
            </a:r>
            <a:r>
              <a:rPr sz="1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finalità, i periodi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conservazione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 le</a:t>
            </a:r>
            <a:r>
              <a:rPr sz="18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operazioni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procedure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trattamento,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comprese le</a:t>
            </a:r>
            <a:r>
              <a:rPr sz="18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misure atte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 garantire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un trattamento lecito 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corretto,</a:t>
            </a:r>
            <a:r>
              <a:rPr sz="18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quali quelle</a:t>
            </a:r>
            <a:r>
              <a:rPr sz="18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per altre</a:t>
            </a:r>
            <a:r>
              <a:rPr sz="18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specifiche</a:t>
            </a:r>
            <a:r>
              <a:rPr sz="18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situazioni di</a:t>
            </a: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trattamento di cui</a:t>
            </a:r>
            <a:r>
              <a:rPr sz="18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al capo</a:t>
            </a:r>
            <a:r>
              <a:rPr sz="18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IX. Il diritto</a:t>
            </a:r>
            <a:r>
              <a:rPr sz="1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dell'Unione</a:t>
            </a:r>
            <a:r>
              <a:rPr sz="18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degli Stati membri persegue un obiettivo</a:t>
            </a:r>
            <a:r>
              <a:rPr sz="18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18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interesse pubblico</a:t>
            </a:r>
          </a:p>
          <a:p>
            <a:pPr marL="0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ed</a:t>
            </a:r>
            <a:r>
              <a:rPr sz="18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è proporzionato</a:t>
            </a:r>
            <a:r>
              <a:rPr sz="18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all'obiettivo</a:t>
            </a:r>
            <a:r>
              <a:rPr sz="1800" spc="3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legittimo</a:t>
            </a:r>
            <a:r>
              <a:rPr sz="18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perseguito.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2219" y="904353"/>
            <a:ext cx="11559227" cy="1186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2-ter del D.Lgs. 196/03,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introdotto</a:t>
            </a:r>
            <a:r>
              <a:rPr sz="20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 D.Lgs.</a:t>
            </a:r>
            <a:r>
              <a:rPr sz="2000" b="1" spc="2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101/2018</a:t>
            </a:r>
            <a:r>
              <a:rPr sz="2000" b="1" spc="-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“ Base giuridica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 il</a:t>
            </a:r>
            <a:r>
              <a:rPr sz="20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000" b="1" spc="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2000" b="1" spc="-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effettuato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per 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l’esecuzione</a:t>
            </a:r>
            <a:r>
              <a:rPr sz="2000" b="1" spc="1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un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compito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interesse pubblico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o connesso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1" dirty="0">
                <a:solidFill>
                  <a:srgbClr val="25A188"/>
                </a:solidFill>
                <a:latin typeface="NLHDNC+Calibri Bold"/>
                <a:cs typeface="NLHDNC+Calibri Bold"/>
              </a:rPr>
              <a:t>all’esercizio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di pubblici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poteri)</a:t>
            </a:r>
            <a:r>
              <a:rPr sz="2000" b="1" spc="43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come modificato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«decreto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capienze»</a:t>
            </a:r>
            <a:r>
              <a:rPr sz="20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</a:t>
            </a:r>
            <a:r>
              <a:rPr sz="1500" b="1" spc="-10" dirty="0">
                <a:solidFill>
                  <a:srgbClr val="25A188"/>
                </a:solidFill>
                <a:latin typeface="Calibri"/>
                <a:cs typeface="Calibri"/>
              </a:rPr>
              <a:t>D.L.</a:t>
            </a:r>
            <a:r>
              <a:rPr sz="1500" b="1" spc="2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8 </a:t>
            </a:r>
            <a:r>
              <a:rPr sz="1500" b="1" spc="-10" dirty="0">
                <a:solidFill>
                  <a:srgbClr val="25A188"/>
                </a:solidFill>
                <a:latin typeface="Calibri"/>
                <a:cs typeface="Calibri"/>
              </a:rPr>
              <a:t>ottobre</a:t>
            </a:r>
            <a:r>
              <a:rPr sz="1500" b="1" spc="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139,</a:t>
            </a:r>
            <a:r>
              <a:rPr sz="1500" b="1" spc="2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convertito</a:t>
            </a:r>
            <a:r>
              <a:rPr sz="1500" b="1" spc="37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</a:t>
            </a:r>
            <a:r>
              <a:rPr sz="15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modificazioni</a:t>
            </a:r>
            <a:r>
              <a:rPr sz="1500" b="1" spc="30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dalla</a:t>
            </a:r>
            <a:r>
              <a:rPr sz="1500" b="1" spc="-3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L. 3 dicembre</a:t>
            </a:r>
          </a:p>
          <a:p>
            <a:pPr marL="0" marR="0">
              <a:lnSpc>
                <a:spcPts val="1831"/>
              </a:lnSpc>
              <a:spcBef>
                <a:spcPts val="50"/>
              </a:spcBef>
              <a:spcAft>
                <a:spcPts val="0"/>
              </a:spcAft>
            </a:pP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205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9067" y="2350248"/>
            <a:ext cx="11647923" cy="3702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1.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La base giuridica prevista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dall'articolo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6,</a:t>
            </a:r>
            <a:r>
              <a:rPr sz="20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paragrafo 3, lettera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b), del regolamento è costituita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 una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norma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90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legge</a:t>
            </a:r>
            <a:r>
              <a:rPr sz="2000" spc="4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di regolamento ((o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da</a:t>
            </a:r>
            <a:r>
              <a:rPr sz="2000" b="1" spc="-1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atti</a:t>
            </a:r>
            <a:r>
              <a:rPr sz="2000" b="1" spc="-25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amministrativi</a:t>
            </a:r>
            <a:r>
              <a:rPr sz="2000" b="1" spc="-44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generali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)).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comma 2.</a:t>
            </a:r>
            <a:r>
              <a:rPr sz="2000" spc="-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La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comunicazione</a:t>
            </a:r>
            <a:r>
              <a:rPr sz="2000" b="1" spc="-2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fra titolari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che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effettuano trattamenti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dati personali, diversi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 quelli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ricompresi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nelle</a:t>
            </a:r>
            <a:r>
              <a:rPr sz="2000" spc="46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particolari</a:t>
            </a:r>
            <a:r>
              <a:rPr sz="2000" spc="46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categorie di cui</a:t>
            </a:r>
            <a:r>
              <a:rPr sz="20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all'articolo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9 del Regolamento</a:t>
            </a:r>
            <a:r>
              <a:rPr sz="20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di quelli relativi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 condanne</a:t>
            </a:r>
            <a:r>
              <a:rPr sz="20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penali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2000" spc="45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reati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cui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all'articolo</a:t>
            </a:r>
            <a:r>
              <a:rPr sz="2000" spc="45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10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88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Regolamento,</a:t>
            </a:r>
            <a:r>
              <a:rPr sz="2000" spc="88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l'esecuzione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un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compito</a:t>
            </a:r>
            <a:r>
              <a:rPr sz="2000" spc="4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interesse</a:t>
            </a:r>
            <a:r>
              <a:rPr sz="2000" spc="47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pubblico</a:t>
            </a:r>
            <a:r>
              <a:rPr sz="2000" spc="87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  <a:r>
              <a:rPr sz="2000" spc="89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connesso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all'esercizio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pubblici poteri e' ammessa</a:t>
            </a:r>
            <a:r>
              <a:rPr sz="2000" spc="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 prevista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 sensi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 comma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 ((o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 necessaria</a:t>
            </a:r>
            <a:r>
              <a:rPr sz="2000" spc="47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sensi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comma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1-bis)).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comma 3 - la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diffusione</a:t>
            </a:r>
            <a:r>
              <a:rPr sz="2000" b="1" spc="-1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 la</a:t>
            </a:r>
            <a:r>
              <a:rPr sz="2000" b="1" spc="-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comunicazione</a:t>
            </a:r>
            <a:r>
              <a:rPr sz="2000" b="1" spc="-2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dati</a:t>
            </a:r>
            <a:r>
              <a:rPr sz="2000" b="1" spc="-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personali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,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trattat</a:t>
            </a:r>
            <a:r>
              <a:rPr sz="2000" spc="48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2000" spc="95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esecuzione di un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compito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interesse</a:t>
            </a:r>
            <a:r>
              <a:rPr sz="200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pubblico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connesso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</a:t>
            </a:r>
            <a:r>
              <a:rPr sz="2000" spc="97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esercizio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pubblici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poteri,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 soggetti</a:t>
            </a:r>
            <a:r>
              <a:rPr sz="20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che intendono</a:t>
            </a:r>
            <a:r>
              <a:rPr sz="2000" spc="4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trattarli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altre finalità</a:t>
            </a:r>
          </a:p>
          <a:p>
            <a:pPr marL="0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sono ammesse</a:t>
            </a:r>
            <a:r>
              <a:rPr sz="2000" spc="47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unicamente se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previste</a:t>
            </a:r>
            <a:r>
              <a:rPr sz="2000" spc="48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 una norma di</a:t>
            </a:r>
            <a:r>
              <a:rPr sz="20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legge o, nei casi previsti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dalla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legge,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regolamento 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 necessarie</a:t>
            </a:r>
            <a:r>
              <a:rPr sz="20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 sensi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 comma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1-bis.</a:t>
            </a:r>
            <a:r>
              <a:rPr sz="2000" spc="4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2000" spc="4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tale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ultimo caso, ne viene data notizia al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Garante</a:t>
            </a:r>
            <a:r>
              <a:rPr sz="2000" spc="46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almeno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dieci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giorni</a:t>
            </a:r>
            <a:r>
              <a:rPr sz="2000" spc="4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prima dell'inizio della comunicazione</a:t>
            </a:r>
            <a:r>
              <a:rPr sz="20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diffusione)).;</a:t>
            </a:r>
          </a:p>
        </p:txBody>
      </p:sp>
      <p:pic>
        <p:nvPicPr>
          <p:cNvPr id="7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5863" y="908036"/>
            <a:ext cx="11559302" cy="1186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2-ter del D.Lgs. 196/03,</a:t>
            </a:r>
            <a:r>
              <a:rPr sz="2000" b="1" spc="-5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introdotto</a:t>
            </a:r>
            <a:r>
              <a:rPr sz="20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4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D.Lgs.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101/2018</a:t>
            </a:r>
            <a:r>
              <a:rPr sz="2000" b="1" spc="-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“ Base giuridica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 il</a:t>
            </a:r>
            <a:r>
              <a:rPr sz="20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000" b="1" spc="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2000" b="1" spc="-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effettuato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per 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l’esecuzione</a:t>
            </a:r>
            <a:r>
              <a:rPr sz="2000" b="1" spc="1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un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compito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interesse pubblico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o connesso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1" dirty="0">
                <a:solidFill>
                  <a:srgbClr val="25A188"/>
                </a:solidFill>
                <a:latin typeface="NLHDNC+Calibri Bold"/>
                <a:cs typeface="NLHDNC+Calibri Bold"/>
              </a:rPr>
              <a:t>all’esercizio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di pubblici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poteri)</a:t>
            </a:r>
            <a:r>
              <a:rPr sz="2000" b="1" spc="43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come modificato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«decreto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capienze»</a:t>
            </a:r>
            <a:r>
              <a:rPr sz="20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</a:t>
            </a:r>
            <a:r>
              <a:rPr sz="1500" b="1" spc="-10" dirty="0">
                <a:solidFill>
                  <a:srgbClr val="25A188"/>
                </a:solidFill>
                <a:latin typeface="Calibri"/>
                <a:cs typeface="Calibri"/>
              </a:rPr>
              <a:t>D.L.</a:t>
            </a:r>
            <a:r>
              <a:rPr sz="1500" b="1" spc="2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8 </a:t>
            </a:r>
            <a:r>
              <a:rPr sz="1500" b="1" spc="-10" dirty="0">
                <a:solidFill>
                  <a:srgbClr val="25A188"/>
                </a:solidFill>
                <a:latin typeface="Calibri"/>
                <a:cs typeface="Calibri"/>
              </a:rPr>
              <a:t>ottobre</a:t>
            </a:r>
            <a:r>
              <a:rPr sz="1500" b="1" spc="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139,</a:t>
            </a:r>
            <a:r>
              <a:rPr sz="1500" b="1" spc="2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convertito</a:t>
            </a:r>
            <a:r>
              <a:rPr sz="1500" b="1" spc="37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</a:t>
            </a:r>
            <a:r>
              <a:rPr sz="15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modificazioni</a:t>
            </a:r>
            <a:r>
              <a:rPr sz="1500" b="1" spc="30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dalla</a:t>
            </a:r>
            <a:r>
              <a:rPr sz="1500" b="1" spc="-3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L. 3 dicembre</a:t>
            </a:r>
          </a:p>
          <a:p>
            <a:pPr marL="0" marR="0">
              <a:lnSpc>
                <a:spcPts val="1831"/>
              </a:lnSpc>
              <a:spcBef>
                <a:spcPts val="50"/>
              </a:spcBef>
              <a:spcAft>
                <a:spcPts val="0"/>
              </a:spcAft>
            </a:pP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205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5863" y="2335389"/>
            <a:ext cx="11712278" cy="3397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((1-bis.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Fermo restando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ogni</a:t>
            </a:r>
            <a:r>
              <a:rPr sz="20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altro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obbligo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000000"/>
                </a:solidFill>
                <a:latin typeface="Calibri"/>
                <a:cs typeface="Calibri"/>
              </a:rPr>
              <a:t>previsto</a:t>
            </a:r>
            <a:r>
              <a:rPr sz="2000" spc="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dal Regolamento e dal presente</a:t>
            </a:r>
            <a:r>
              <a:rPr sz="20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codice,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0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dati personali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 parte</a:t>
            </a:r>
            <a:r>
              <a:rPr sz="2000" spc="4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un'amministrazione pubblica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cui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all'articolo</a:t>
            </a:r>
            <a:r>
              <a:rPr sz="2000" spc="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1,</a:t>
            </a:r>
            <a:r>
              <a:rPr sz="20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comma</a:t>
            </a:r>
            <a:r>
              <a:rPr sz="2000" spc="4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2,</a:t>
            </a:r>
            <a:r>
              <a:rPr sz="2000" spc="4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</a:t>
            </a:r>
            <a:r>
              <a:rPr sz="20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decreto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legislativo</a:t>
            </a:r>
          </a:p>
          <a:p>
            <a:pPr marL="0" marR="0">
              <a:lnSpc>
                <a:spcPts val="240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30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000000"/>
                </a:solidFill>
                <a:latin typeface="Calibri"/>
                <a:cs typeface="Calibri"/>
              </a:rPr>
              <a:t>marzo</a:t>
            </a:r>
            <a:r>
              <a:rPr sz="20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2001,</a:t>
            </a:r>
            <a:r>
              <a:rPr sz="20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n.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165,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ivi comprese le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autorità</a:t>
            </a:r>
            <a:r>
              <a:rPr sz="20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indipendenti</a:t>
            </a:r>
            <a:r>
              <a:rPr sz="2000" spc="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amministrazioni</a:t>
            </a:r>
            <a:r>
              <a:rPr sz="2000" spc="4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inserite</a:t>
            </a:r>
            <a:r>
              <a:rPr sz="2000" spc="4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nell'elenco</a:t>
            </a:r>
            <a:r>
              <a:rPr sz="2000" spc="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8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cui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all'articolo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1,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comma 3,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della</a:t>
            </a:r>
            <a:r>
              <a:rPr sz="20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legge</a:t>
            </a:r>
            <a:r>
              <a:rPr sz="2000" spc="4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31</a:t>
            </a:r>
            <a:r>
              <a:rPr sz="2000" spc="4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dicembre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2009,</a:t>
            </a:r>
            <a:r>
              <a:rPr sz="2000" spc="40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n.</a:t>
            </a:r>
            <a:r>
              <a:rPr sz="2000" spc="4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196,</a:t>
            </a:r>
            <a:r>
              <a:rPr sz="20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nonché'</a:t>
            </a:r>
            <a:r>
              <a:rPr sz="2000" spc="-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 parte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una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società</a:t>
            </a:r>
            <a:r>
              <a:rPr sz="20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000" spc="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controllo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pubblico</a:t>
            </a:r>
            <a:r>
              <a:rPr sz="2000" spc="4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statale</a:t>
            </a:r>
            <a:r>
              <a:rPr sz="2000" spc="4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31" dirty="0">
                <a:solidFill>
                  <a:srgbClr val="000000"/>
                </a:solidFill>
                <a:latin typeface="Calibri"/>
                <a:cs typeface="Calibri"/>
              </a:rPr>
              <a:t>o,</a:t>
            </a:r>
            <a:r>
              <a:rPr sz="20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limitatamente</a:t>
            </a:r>
            <a:r>
              <a:rPr sz="2000" spc="5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ai</a:t>
            </a:r>
            <a:r>
              <a:rPr sz="20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gestori</a:t>
            </a:r>
            <a:r>
              <a:rPr sz="2000" spc="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servizi</a:t>
            </a:r>
            <a:r>
              <a:rPr sz="20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pubblici,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locale,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8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cui all'articolo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16</a:t>
            </a:r>
            <a:r>
              <a:rPr sz="2000" spc="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</a:t>
            </a:r>
            <a:r>
              <a:rPr sz="2000" spc="4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7" dirty="0">
                <a:solidFill>
                  <a:srgbClr val="000000"/>
                </a:solidFill>
                <a:latin typeface="Calibri"/>
                <a:cs typeface="Calibri"/>
              </a:rPr>
              <a:t>testo</a:t>
            </a:r>
            <a:r>
              <a:rPr sz="2000" spc="4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unico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000" spc="9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materia</a:t>
            </a:r>
            <a:r>
              <a:rPr sz="2000" spc="9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8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società</a:t>
            </a:r>
            <a:r>
              <a:rPr sz="2000" spc="9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 partecipazione pubblica,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cui</a:t>
            </a:r>
            <a:r>
              <a:rPr sz="2000" spc="4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</a:t>
            </a:r>
            <a:r>
              <a:rPr sz="20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decreto</a:t>
            </a:r>
            <a:r>
              <a:rPr sz="2000" spc="4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legislativo</a:t>
            </a:r>
            <a:r>
              <a:rPr sz="2000" spc="4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19</a:t>
            </a:r>
            <a:r>
              <a:rPr sz="2000" spc="4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agosto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 2016,</a:t>
            </a:r>
            <a:r>
              <a:rPr sz="2000" spc="-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n. 175,</a:t>
            </a:r>
            <a:r>
              <a:rPr sz="20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esclusione, per le società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0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controllo</a:t>
            </a:r>
            <a:r>
              <a:rPr sz="20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pubblico,</a:t>
            </a:r>
            <a:r>
              <a:rPr sz="20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dei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trattamenti</a:t>
            </a:r>
            <a:r>
              <a:rPr sz="20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correlati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ad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attività</a:t>
            </a:r>
            <a:r>
              <a:rPr sz="2000" spc="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7" dirty="0">
                <a:solidFill>
                  <a:srgbClr val="000000"/>
                </a:solidFill>
                <a:latin typeface="Calibri"/>
                <a:cs typeface="Calibri"/>
              </a:rPr>
              <a:t>svolte</a:t>
            </a:r>
            <a:r>
              <a:rPr sz="2000" spc="4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0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regime</a:t>
            </a:r>
            <a:r>
              <a:rPr sz="2000" spc="4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libero</a:t>
            </a:r>
          </a:p>
          <a:p>
            <a:pPr marL="0" marR="0">
              <a:lnSpc>
                <a:spcPts val="2403"/>
              </a:lnSpc>
              <a:spcBef>
                <a:spcPts val="50"/>
              </a:spcBef>
              <a:spcAft>
                <a:spcPts val="0"/>
              </a:spcAft>
            </a:pP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mercato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, è anche</a:t>
            </a:r>
            <a:r>
              <a:rPr sz="20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consentito</a:t>
            </a:r>
            <a:r>
              <a:rPr sz="2000" b="1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se necessario</a:t>
            </a:r>
            <a:r>
              <a:rPr sz="2000" b="1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000" b="1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l'adempimento</a:t>
            </a:r>
            <a:r>
              <a:rPr sz="2000" b="1" spc="4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b="1" spc="4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un compito</a:t>
            </a:r>
            <a:r>
              <a:rPr sz="2000" b="1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Calibri"/>
                <a:cs typeface="Calibri"/>
              </a:rPr>
              <a:t>svolto</a:t>
            </a:r>
            <a:r>
              <a:rPr sz="20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nel pubblico</a:t>
            </a:r>
            <a:r>
              <a:rPr sz="2000" b="1" spc="-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interesse 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per l'esercizio</a:t>
            </a:r>
            <a:r>
              <a:rPr sz="2000" b="1" spc="4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di</a:t>
            </a:r>
            <a:r>
              <a:rPr sz="2000" b="1" spc="4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pubblici</a:t>
            </a:r>
            <a:r>
              <a:rPr sz="2000" b="1" spc="-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poteri</a:t>
            </a:r>
            <a:r>
              <a:rPr sz="20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ad</a:t>
            </a:r>
            <a:r>
              <a:rPr sz="20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</a:rPr>
              <a:t>esse attribuiti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000" spc="-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 modo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 assicurare</a:t>
            </a:r>
            <a:r>
              <a:rPr sz="20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che</a:t>
            </a:r>
            <a:r>
              <a:rPr sz="2000" spc="44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tale</a:t>
            </a:r>
            <a:r>
              <a:rPr sz="2000" spc="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esercizio non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possa</a:t>
            </a:r>
          </a:p>
          <a:p>
            <a:pPr marL="0" marR="0">
              <a:lnSpc>
                <a:spcPts val="239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arrecare</a:t>
            </a:r>
            <a:r>
              <a:rPr sz="20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pregiudizio</a:t>
            </a:r>
            <a:r>
              <a:rPr sz="20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effettivo</a:t>
            </a:r>
            <a:r>
              <a:rPr sz="20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20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concreto</a:t>
            </a:r>
            <a:r>
              <a:rPr sz="2000" spc="44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alla</a:t>
            </a:r>
            <a:r>
              <a:rPr sz="2000" spc="4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tutela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dei diritti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delle libertà</a:t>
            </a:r>
            <a:r>
              <a:rPr sz="20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degli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interessati,</a:t>
            </a:r>
            <a:r>
              <a:rPr sz="2000" spc="5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disposizioni</a:t>
            </a:r>
          </a:p>
          <a:p>
            <a:pPr marL="0" marR="0">
              <a:lnSpc>
                <a:spcPts val="239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cui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 presente</a:t>
            </a:r>
            <a:r>
              <a:rPr sz="20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comma sono</a:t>
            </a:r>
            <a:r>
              <a:rPr sz="20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esercitate</a:t>
            </a:r>
            <a:r>
              <a:rPr sz="20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nel</a:t>
            </a:r>
            <a:r>
              <a:rPr sz="20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rispetto</a:t>
            </a:r>
            <a:r>
              <a:rPr sz="2000" spc="4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dell'articolo</a:t>
            </a:r>
            <a:r>
              <a:rPr sz="20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6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del Regolamento)).</a:t>
            </a:r>
          </a:p>
        </p:txBody>
      </p:sp>
      <p:pic>
        <p:nvPicPr>
          <p:cNvPr id="7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5371" y="1034782"/>
            <a:ext cx="11398243" cy="1186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2-ter del D.Lgs. 196/03,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introdotto</a:t>
            </a:r>
            <a:r>
              <a:rPr sz="20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 D.Lgs.</a:t>
            </a:r>
            <a:r>
              <a:rPr sz="2000" b="1" spc="2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101/2018</a:t>
            </a:r>
            <a:r>
              <a:rPr sz="2000" b="1" spc="-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“ Base giuridica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 il</a:t>
            </a:r>
            <a:r>
              <a:rPr sz="20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000" b="1" spc="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2000" b="1" spc="-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effettuato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per 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l’esecuzione</a:t>
            </a:r>
            <a:r>
              <a:rPr sz="2000" b="1" spc="1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20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un</a:t>
            </a:r>
            <a:r>
              <a:rPr sz="2000" b="1" spc="-1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compito</a:t>
            </a:r>
            <a:r>
              <a:rPr sz="2000" b="1" spc="-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interesse pubblico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o connesso</a:t>
            </a:r>
            <a:r>
              <a:rPr sz="20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000" b="1" spc="-11" dirty="0">
                <a:solidFill>
                  <a:srgbClr val="25A188"/>
                </a:solidFill>
                <a:latin typeface="NLHDNC+Calibri Bold"/>
                <a:cs typeface="NLHDNC+Calibri Bold"/>
              </a:rPr>
              <a:t>all’esercizio</a:t>
            </a:r>
            <a:r>
              <a:rPr sz="20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 di pubblici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poteri)</a:t>
            </a:r>
            <a:r>
              <a:rPr sz="2000" b="1" spc="43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come modificato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«decreto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capienze»</a:t>
            </a:r>
            <a:r>
              <a:rPr sz="2000" b="1" spc="15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</a:t>
            </a:r>
            <a:r>
              <a:rPr sz="1500" b="1" spc="-10" dirty="0">
                <a:solidFill>
                  <a:srgbClr val="25A188"/>
                </a:solidFill>
                <a:latin typeface="Calibri"/>
                <a:cs typeface="Calibri"/>
              </a:rPr>
              <a:t>D.L.</a:t>
            </a:r>
            <a:r>
              <a:rPr sz="1500" b="1" spc="25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8 ottobre</a:t>
            </a:r>
            <a:r>
              <a:rPr sz="1500" b="1" spc="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139,</a:t>
            </a:r>
            <a:r>
              <a:rPr sz="15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convertito</a:t>
            </a:r>
            <a:r>
              <a:rPr sz="1500" b="1" spc="3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con</a:t>
            </a:r>
            <a:r>
              <a:rPr sz="1500" b="1" spc="1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modificazioni</a:t>
            </a:r>
            <a:r>
              <a:rPr sz="1500" b="1" spc="30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dalla</a:t>
            </a:r>
            <a:r>
              <a:rPr sz="1500" b="1" spc="-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L. 3</a:t>
            </a:r>
          </a:p>
          <a:p>
            <a:pPr marL="0" marR="0">
              <a:lnSpc>
                <a:spcPts val="1831"/>
              </a:lnSpc>
              <a:spcBef>
                <a:spcPts val="50"/>
              </a:spcBef>
              <a:spcAft>
                <a:spcPts val="0"/>
              </a:spcAft>
            </a:pP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dicembre</a:t>
            </a:r>
            <a:r>
              <a:rPr sz="1500" b="1" spc="-2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2021,</a:t>
            </a:r>
            <a:r>
              <a:rPr sz="1500" b="1" spc="3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5A188"/>
                </a:solidFill>
                <a:latin typeface="Calibri"/>
                <a:cs typeface="Calibri"/>
              </a:rPr>
              <a:t>n. 205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5371" y="2411843"/>
            <a:ext cx="1907629" cy="34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4.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Si intende per: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5371" y="2716643"/>
            <a:ext cx="11179292" cy="187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a) "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comunicazione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",</a:t>
            </a:r>
            <a:r>
              <a:rPr sz="2000" spc="-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dare conoscenza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 dati personali a uno</a:t>
            </a:r>
            <a:r>
              <a:rPr sz="20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più soggetti</a:t>
            </a:r>
            <a:r>
              <a:rPr sz="2000" spc="135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determinati</a:t>
            </a:r>
            <a:r>
              <a:rPr sz="2000" spc="137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diversi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dall'interessato,</a:t>
            </a:r>
            <a:r>
              <a:rPr sz="2000" spc="92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 rappresentante del titolare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 territorio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dell'Unione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europea,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 responsabile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dal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suo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rappresentante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territorio</a:t>
            </a:r>
            <a:r>
              <a:rPr sz="2000" spc="46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dell'Unione europea,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dalle</a:t>
            </a:r>
            <a:r>
              <a:rPr sz="2000" spc="90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persone</a:t>
            </a:r>
            <a:r>
              <a:rPr sz="2000" spc="90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autorizzate,</a:t>
            </a:r>
            <a:r>
              <a:rPr sz="2000" spc="90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</a:t>
            </a:r>
            <a:r>
              <a:rPr sz="2000" spc="89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sensi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dell'articolo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2-quaterdecies, al trattamento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 dati personali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sotto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l'autorita’ diretta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titolare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del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responsabile,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2000" spc="44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qualunque</a:t>
            </a:r>
            <a:r>
              <a:rPr sz="2000" spc="41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forma,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anche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mediante la</a:t>
            </a:r>
            <a:r>
              <a:rPr sz="20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loro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messa</a:t>
            </a:r>
            <a:r>
              <a:rPr sz="2000" spc="46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disposizione,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consultazione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mediante interconnessione;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5371" y="4546078"/>
            <a:ext cx="11225707" cy="653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b) "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diffusione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",</a:t>
            </a:r>
            <a:r>
              <a:rPr sz="2000" spc="-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dare conoscenza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 dati personali a soggetti indeterminati,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qualunque</a:t>
            </a:r>
            <a:r>
              <a:rPr sz="20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forma, anche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mediante</a:t>
            </a:r>
            <a:r>
              <a:rPr sz="2000" spc="46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la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loro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messa</a:t>
            </a:r>
            <a:r>
              <a:rPr sz="2000" spc="46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 disposizione o consultazione.</a:t>
            </a:r>
          </a:p>
        </p:txBody>
      </p:sp>
      <p:pic>
        <p:nvPicPr>
          <p:cNvPr id="9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26358" y="1105829"/>
            <a:ext cx="6137042" cy="1022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37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32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di </a:t>
            </a:r>
            <a:r>
              <a:rPr sz="3200" b="1" spc="-11" dirty="0">
                <a:solidFill>
                  <a:srgbClr val="25A188"/>
                </a:solidFill>
                <a:latin typeface="Calibri"/>
                <a:cs typeface="Calibri"/>
              </a:rPr>
              <a:t>categorie</a:t>
            </a:r>
            <a:r>
              <a:rPr sz="32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particolari</a:t>
            </a:r>
          </a:p>
          <a:p>
            <a:pPr marL="858266" marR="0">
              <a:lnSpc>
                <a:spcPts val="3842"/>
              </a:lnSpc>
              <a:spcBef>
                <a:spcPts val="5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di dati personali</a:t>
            </a:r>
            <a:r>
              <a:rPr sz="3200" b="1" spc="-3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25A188"/>
                </a:solidFill>
                <a:latin typeface="Calibri"/>
                <a:cs typeface="Calibri"/>
              </a:rPr>
              <a:t>(art. 9.1)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8641" y="2723377"/>
            <a:ext cx="10207387" cy="2103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8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ꢀ vietato</a:t>
            </a:r>
            <a:r>
              <a:rPr sz="27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trattare</a:t>
            </a:r>
            <a:r>
              <a:rPr sz="27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dati personali</a:t>
            </a:r>
            <a:r>
              <a:rPr sz="27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che</a:t>
            </a:r>
            <a:r>
              <a:rPr sz="27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rivelino l'origine</a:t>
            </a:r>
            <a:r>
              <a:rPr sz="27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razziale</a:t>
            </a:r>
            <a:r>
              <a:rPr sz="27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o etnica,</a:t>
            </a:r>
            <a:r>
              <a:rPr sz="2700" spc="-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le</a:t>
            </a:r>
          </a:p>
          <a:p>
            <a:pPr marL="0" marR="0">
              <a:lnSpc>
                <a:spcPts val="3241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opinioni politiche,</a:t>
            </a:r>
            <a:r>
              <a:rPr sz="27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le convinzioni religiose o filosofiche,</a:t>
            </a:r>
            <a:r>
              <a:rPr sz="27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o l'appartenenza</a:t>
            </a:r>
          </a:p>
          <a:p>
            <a:pPr marL="0" marR="0">
              <a:lnSpc>
                <a:spcPts val="3239"/>
              </a:lnSpc>
              <a:spcBef>
                <a:spcPts val="50"/>
              </a:spcBef>
              <a:spcAft>
                <a:spcPts val="0"/>
              </a:spcAft>
            </a:pP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sindacale,</a:t>
            </a:r>
            <a:r>
              <a:rPr sz="2700" spc="-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nonchétrattare</a:t>
            </a:r>
            <a:r>
              <a:rPr sz="2700" spc="-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dati genetici,</a:t>
            </a:r>
            <a:r>
              <a:rPr sz="27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dati biometrici intesi a</a:t>
            </a:r>
          </a:p>
          <a:p>
            <a:pPr marL="0" marR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identificare</a:t>
            </a:r>
            <a:r>
              <a:rPr sz="27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27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modo univoco</a:t>
            </a:r>
            <a:r>
              <a:rPr sz="27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una</a:t>
            </a:r>
            <a:r>
              <a:rPr sz="27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persona</a:t>
            </a:r>
            <a:r>
              <a:rPr sz="2700" spc="-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fisica, dati relativi alla salute</a:t>
            </a:r>
            <a:r>
              <a:rPr sz="27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</a:p>
          <a:p>
            <a:pPr marL="0" marR="0">
              <a:lnSpc>
                <a:spcPts val="3242"/>
              </a:lnSpc>
              <a:spcBef>
                <a:spcPts val="50"/>
              </a:spcBef>
              <a:spcAft>
                <a:spcPts val="0"/>
              </a:spcAft>
            </a:pP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alla vita</a:t>
            </a:r>
            <a:r>
              <a:rPr sz="27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sessuale</a:t>
            </a:r>
            <a:r>
              <a:rPr sz="2700" spc="-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o all'orientamento</a:t>
            </a:r>
            <a:r>
              <a:rPr sz="2700" spc="-3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sessuale</a:t>
            </a:r>
            <a:r>
              <a:rPr sz="2700" spc="-4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700" dirty="0">
                <a:solidFill>
                  <a:srgbClr val="000000"/>
                </a:solidFill>
                <a:latin typeface="VOMJKV+Calibri"/>
                <a:cs typeface="VOMJKV+Calibri"/>
              </a:rPr>
              <a:t>della persona.</a:t>
            </a:r>
          </a:p>
        </p:txBody>
      </p:sp>
      <p:pic>
        <p:nvPicPr>
          <p:cNvPr id="7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76497" y="1050009"/>
            <a:ext cx="5390577" cy="898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34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2800" b="1" spc="66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di </a:t>
            </a:r>
            <a:r>
              <a:rPr sz="2800" b="1" spc="-14" dirty="0">
                <a:solidFill>
                  <a:srgbClr val="25A188"/>
                </a:solidFill>
                <a:latin typeface="Calibri"/>
                <a:cs typeface="Calibri"/>
              </a:rPr>
              <a:t>categorie</a:t>
            </a:r>
            <a:r>
              <a:rPr sz="2800" b="1" spc="4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particolari</a:t>
            </a:r>
          </a:p>
          <a:p>
            <a:pPr marL="748665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di </a:t>
            </a:r>
            <a:r>
              <a:rPr sz="2800" b="1" spc="-10" dirty="0">
                <a:solidFill>
                  <a:srgbClr val="25A188"/>
                </a:solidFill>
                <a:latin typeface="Calibri"/>
                <a:cs typeface="Calibri"/>
              </a:rPr>
              <a:t>dati</a:t>
            </a:r>
            <a:r>
              <a:rPr sz="2800" b="1" spc="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personali</a:t>
            </a:r>
            <a:r>
              <a:rPr sz="2800" b="1" spc="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(art.</a:t>
            </a:r>
            <a:r>
              <a:rPr sz="2800" b="1" spc="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5A188"/>
                </a:solidFill>
                <a:latin typeface="Calibri"/>
                <a:cs typeface="Calibri"/>
              </a:rPr>
              <a:t>9.2)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4653" y="2319792"/>
            <a:ext cx="9565364" cy="1049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divieto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non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si applica</a:t>
            </a:r>
            <a:r>
              <a:rPr sz="2200" b="1" spc="2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nei seguenti</a:t>
            </a:r>
            <a:r>
              <a:rPr sz="22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casi: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a)</a:t>
            </a:r>
            <a:r>
              <a:rPr sz="2200" spc="137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l'interessato ha prestato il proprio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consenso</a:t>
            </a:r>
            <a:r>
              <a:rPr sz="2200" b="1" spc="2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esplicito</a:t>
            </a:r>
            <a:r>
              <a:rPr sz="2200" b="1" spc="1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al trattamento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 tali dati</a:t>
            </a:r>
          </a:p>
          <a:p>
            <a:pPr marL="457225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personali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 una o piu finalita specifiche;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84269" y="2990352"/>
            <a:ext cx="152401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31994" y="2990352"/>
            <a:ext cx="152401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14653" y="3325632"/>
            <a:ext cx="9832115" cy="1384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b)</a:t>
            </a:r>
            <a:r>
              <a:rPr sz="2200" spc="128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6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 necessario per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assolvere gli obblighi ed esercitare i diritti specifici</a:t>
            </a:r>
          </a:p>
          <a:p>
            <a:pPr marL="457225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 titolare del trattamento</a:t>
            </a:r>
            <a:r>
              <a:rPr sz="22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dell'interessato</a:t>
            </a:r>
            <a:r>
              <a:rPr sz="22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in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materia</a:t>
            </a:r>
            <a:r>
              <a:rPr sz="2200" b="1" spc="2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diritto del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lavoro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</a:t>
            </a:r>
          </a:p>
          <a:p>
            <a:pPr marL="457225" marR="0">
              <a:lnSpc>
                <a:spcPts val="2642"/>
              </a:lnSpc>
              <a:spcBef>
                <a:spcPts val="5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della sicurezza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sociale</a:t>
            </a:r>
            <a:r>
              <a:rPr sz="22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protezione</a:t>
            </a:r>
            <a:r>
              <a:rPr sz="2200" b="1" spc="3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sociale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,</a:t>
            </a:r>
            <a:r>
              <a:rPr sz="22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nella misura in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cui sia autorizzato dal</a:t>
            </a:r>
          </a:p>
          <a:p>
            <a:pPr marL="457225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diritto dell'Unione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degli Stati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membri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da un contratto collettivo;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4653" y="4667006"/>
            <a:ext cx="9599978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c)</a:t>
            </a:r>
            <a:r>
              <a:rPr sz="2200" spc="15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6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 necessario per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tutelare un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interesse</a:t>
            </a:r>
            <a:r>
              <a:rPr sz="2200" b="1" spc="2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vitale dell'interessato</a:t>
            </a:r>
            <a:r>
              <a:rPr sz="2200" b="1" spc="49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di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71878" y="5001996"/>
            <a:ext cx="9497850" cy="714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un'altra</a:t>
            </a:r>
            <a:r>
              <a:rPr sz="2200" b="1" spc="12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persona</a:t>
            </a:r>
            <a:r>
              <a:rPr sz="2200" b="1" spc="3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fisica</a:t>
            </a:r>
            <a:r>
              <a:rPr sz="22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qualora</a:t>
            </a:r>
            <a:r>
              <a:rPr sz="22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l'interessato</a:t>
            </a:r>
            <a:r>
              <a:rPr sz="22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si trovi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nell'incapacitàfisica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giuridica</a:t>
            </a:r>
          </a:p>
          <a:p>
            <a:pPr marL="0" marR="0">
              <a:lnSpc>
                <a:spcPts val="2642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 prestare il proprio</a:t>
            </a:r>
            <a:r>
              <a:rPr sz="22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consenso;</a:t>
            </a:r>
          </a:p>
        </p:txBody>
      </p:sp>
      <p:pic>
        <p:nvPicPr>
          <p:cNvPr id="12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47541" y="1050009"/>
            <a:ext cx="5447391" cy="898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800" b="1" spc="3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categorie</a:t>
            </a:r>
            <a:r>
              <a:rPr sz="2800" b="1" spc="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particolari</a:t>
            </a:r>
          </a:p>
          <a:p>
            <a:pPr marL="774573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  <a:r>
              <a:rPr sz="2800" b="1" spc="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2800" b="1" spc="2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</a:t>
            </a:r>
            <a:r>
              <a:rPr sz="2800" b="1" spc="78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9.</a:t>
            </a:r>
            <a:r>
              <a:rPr sz="2800" b="1" spc="78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60399" y="2063379"/>
            <a:ext cx="9731433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d)</a:t>
            </a:r>
            <a:r>
              <a:rPr sz="2200" spc="49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6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 effettuato,</a:t>
            </a:r>
            <a:r>
              <a:rPr sz="22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nell'ambito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delle sue legittime</a:t>
            </a:r>
            <a:r>
              <a:rPr sz="2200" spc="4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attivitàe con adeguate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27150" y="2398659"/>
            <a:ext cx="9466488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garanzie, da una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fondazione,</a:t>
            </a:r>
            <a:r>
              <a:rPr sz="2200" b="1" spc="3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associazione</a:t>
            </a:r>
            <a:r>
              <a:rPr sz="2200" b="1" spc="36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altro</a:t>
            </a:r>
            <a:r>
              <a:rPr sz="2200" b="1" spc="2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organismo</a:t>
            </a:r>
            <a:r>
              <a:rPr sz="2200" b="1" spc="2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senza scopo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lucro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27150" y="2733939"/>
            <a:ext cx="9572204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che persegua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finalita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politiche,</a:t>
            </a:r>
            <a:r>
              <a:rPr sz="2200" b="1" spc="1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filosofiche,</a:t>
            </a:r>
            <a:r>
              <a:rPr sz="2200" b="1" spc="3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religiose</a:t>
            </a:r>
            <a:r>
              <a:rPr sz="22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sindacali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, a condizione che il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13988" y="2733939"/>
            <a:ext cx="152401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̀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27150" y="3069600"/>
            <a:ext cx="9457229" cy="1049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trattamento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riguardi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unicamente</a:t>
            </a:r>
            <a:r>
              <a:rPr sz="22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 membri,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gli ex membri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le persone che hanno</a:t>
            </a: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regolari contatti con la fondazione, l'associazione o l'organismo a motivo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delle sue</a:t>
            </a:r>
          </a:p>
          <a:p>
            <a:pPr marL="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finalitàe che i dati personali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non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siano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comunicati all'esterno senza il consenso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27150" y="4075440"/>
            <a:ext cx="1972889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dell'interessato;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399" y="4410430"/>
            <a:ext cx="10009565" cy="714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e) il trattamento</a:t>
            </a:r>
            <a:r>
              <a:rPr sz="22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riguarda</a:t>
            </a:r>
            <a:r>
              <a:rPr sz="2200" spc="-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dati personali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resi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manifestamente</a:t>
            </a:r>
            <a:r>
              <a:rPr sz="2200" b="1" spc="5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pubblici dall'interessato;</a:t>
            </a:r>
          </a:p>
          <a:p>
            <a:pPr marL="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f)</a:t>
            </a:r>
            <a:r>
              <a:rPr sz="2200" spc="50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trattamento</a:t>
            </a:r>
            <a:r>
              <a:rPr sz="22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VOMJKV+Calibri"/>
                <a:cs typeface="VOMJKV+Calibri"/>
              </a:rPr>
              <a:t>e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̀necessario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per</a:t>
            </a:r>
            <a:r>
              <a:rPr sz="2200" b="1" spc="1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accertare,</a:t>
            </a:r>
            <a:r>
              <a:rPr sz="2200" b="1" spc="5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esercitare</a:t>
            </a:r>
            <a:r>
              <a:rPr sz="2200" b="1" spc="46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difendere</a:t>
            </a:r>
            <a:r>
              <a:rPr sz="2200" b="1" spc="2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un diritto</a:t>
            </a:r>
            <a:r>
              <a:rPr sz="2200" b="1" spc="1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in</a:t>
            </a:r>
            <a:r>
              <a:rPr sz="2200" b="1" spc="-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sede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27150" y="5081534"/>
            <a:ext cx="8948029" cy="713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giudiziaria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ogniqualvolta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le autorità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giurisdizionali</a:t>
            </a:r>
            <a:r>
              <a:rPr sz="22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esercitino le loro funzioni</a:t>
            </a: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giurisdizionali;</a:t>
            </a:r>
          </a:p>
        </p:txBody>
      </p:sp>
      <p:pic>
        <p:nvPicPr>
          <p:cNvPr id="14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5" name="Segnaposto numero diapositiva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69589" y="1049441"/>
            <a:ext cx="6203367" cy="102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3200" b="1" spc="-27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32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categorie</a:t>
            </a:r>
            <a:r>
              <a:rPr sz="3200" b="1" spc="-3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particolari</a:t>
            </a:r>
          </a:p>
          <a:p>
            <a:pPr marL="888873" marR="0">
              <a:lnSpc>
                <a:spcPts val="3839"/>
              </a:lnSpc>
              <a:spcBef>
                <a:spcPts val="5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3200" b="1" spc="-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</a:t>
            </a:r>
            <a:r>
              <a:rPr sz="3200" b="1" spc="84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9.</a:t>
            </a:r>
            <a:r>
              <a:rPr sz="3200" b="1" spc="88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0594" y="2163074"/>
            <a:ext cx="9855997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g)</a:t>
            </a:r>
            <a:r>
              <a:rPr sz="2200" spc="-9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6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 necessario per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motivi</a:t>
            </a:r>
            <a:r>
              <a:rPr sz="2200" b="1" spc="12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interesse</a:t>
            </a:r>
            <a:r>
              <a:rPr sz="2200" b="1" spc="3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pubblico rilevante</a:t>
            </a:r>
            <a:r>
              <a:rPr sz="2200" b="1" spc="3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sulla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base del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7269" y="2498064"/>
            <a:ext cx="9513701" cy="378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diritto dell'Unione</a:t>
            </a:r>
            <a:r>
              <a:rPr sz="22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degli Stati</a:t>
            </a:r>
            <a:r>
              <a:rPr sz="22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membri, che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deve essere</a:t>
            </a:r>
            <a:r>
              <a:rPr sz="22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proporzionato</a:t>
            </a:r>
            <a:r>
              <a:rPr sz="22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alla finalita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878946" y="2498064"/>
            <a:ext cx="152401" cy="378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17269" y="2834015"/>
            <a:ext cx="9799150" cy="1049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perseguita, rispettare l'essenza</a:t>
            </a:r>
            <a:r>
              <a:rPr sz="22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 diritto alla</a:t>
            </a: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protezione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dei dati e prevedere</a:t>
            </a:r>
            <a:r>
              <a:rPr sz="22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appropriate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e specifiche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per tutelare</a:t>
            </a:r>
            <a:r>
              <a:rPr sz="22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 diritti fondamentali e gli interessi</a:t>
            </a:r>
          </a:p>
          <a:p>
            <a:pPr marL="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dell'interessato;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50594" y="4175389"/>
            <a:ext cx="9502353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h) 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5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</a:t>
            </a:r>
            <a:r>
              <a:rPr sz="22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necessario per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finalitàdi</a:t>
            </a:r>
            <a:r>
              <a:rPr sz="22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medicina </a:t>
            </a:r>
            <a:r>
              <a:rPr sz="2200" b="1" spc="-17" dirty="0">
                <a:solidFill>
                  <a:srgbClr val="D19A3F"/>
                </a:solidFill>
                <a:latin typeface="NLHDNC+Calibri Bold"/>
                <a:cs typeface="NLHDNC+Calibri Bold"/>
              </a:rPr>
              <a:t>prevenꢀva</a:t>
            </a:r>
            <a:r>
              <a:rPr sz="2200" b="1" spc="7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di medicina del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17269" y="4510669"/>
            <a:ext cx="9676063" cy="138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spc="-17" dirty="0">
                <a:solidFill>
                  <a:srgbClr val="D19A3F"/>
                </a:solidFill>
                <a:latin typeface="NLHDNC+Calibri Bold"/>
                <a:cs typeface="NLHDNC+Calibri Bold"/>
              </a:rPr>
              <a:t>lavoro,</a:t>
            </a:r>
            <a:r>
              <a:rPr sz="2200" b="1" spc="4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valutazione</a:t>
            </a:r>
            <a:r>
              <a:rPr sz="2200" b="1" spc="3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della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capacità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lavorativa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del dipendente,</a:t>
            </a:r>
            <a:r>
              <a:rPr sz="2200" b="1" spc="2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diagnosi, assistenza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terapia</a:t>
            </a:r>
            <a:r>
              <a:rPr sz="2200" b="1" spc="2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sanitaria</a:t>
            </a:r>
            <a:r>
              <a:rPr sz="2200" b="1" spc="3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sociale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ovvero</a:t>
            </a:r>
            <a:r>
              <a:rPr sz="2200" b="1" spc="2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gestione</a:t>
            </a:r>
            <a:r>
              <a:rPr sz="2200" b="1" spc="1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dei sistemi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 servizi sanitari</a:t>
            </a:r>
            <a:r>
              <a:rPr sz="2200" b="1" spc="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sociali</a:t>
            </a:r>
          </a:p>
          <a:p>
            <a:pPr marL="0" marR="0">
              <a:lnSpc>
                <a:spcPts val="264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sulla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base del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diriꢁo dell'Unione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degli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Staꢂ</a:t>
            </a:r>
            <a:r>
              <a:rPr sz="22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membri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</a:t>
            </a:r>
            <a:r>
              <a:rPr sz="2200" spc="-14" dirty="0">
                <a:solidFill>
                  <a:srgbClr val="000000"/>
                </a:solidFill>
                <a:latin typeface="VOMJKV+Calibri"/>
                <a:cs typeface="VOMJKV+Calibri"/>
              </a:rPr>
              <a:t>conformemente</a:t>
            </a:r>
            <a:r>
              <a:rPr sz="2200" spc="7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al </a:t>
            </a:r>
            <a:r>
              <a:rPr sz="2200" spc="-23" dirty="0">
                <a:solidFill>
                  <a:srgbClr val="000000"/>
                </a:solidFill>
                <a:latin typeface="VOMJKV+Calibri"/>
                <a:cs typeface="VOMJKV+Calibri"/>
              </a:rPr>
              <a:t>contraꢁo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spc="-15" dirty="0">
                <a:solidFill>
                  <a:srgbClr val="000000"/>
                </a:solidFill>
                <a:latin typeface="VOMJKV+Calibri"/>
                <a:cs typeface="VOMJKV+Calibri"/>
              </a:rPr>
              <a:t>con</a:t>
            </a:r>
            <a:r>
              <a:rPr sz="22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un 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professionista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della sanità;</a:t>
            </a:r>
          </a:p>
        </p:txBody>
      </p:sp>
      <p:pic>
        <p:nvPicPr>
          <p:cNvPr id="12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3" name="Segnaposto numero diapositiva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69589" y="967653"/>
            <a:ext cx="6203367" cy="1022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1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3200" b="1" spc="-27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32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categorie</a:t>
            </a:r>
            <a:r>
              <a:rPr sz="3200" b="1" spc="-3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particolari</a:t>
            </a:r>
          </a:p>
          <a:p>
            <a:pPr marL="888873" marR="0">
              <a:lnSpc>
                <a:spcPts val="3839"/>
              </a:lnSpc>
              <a:spcBef>
                <a:spcPts val="50"/>
              </a:spcBef>
              <a:spcAft>
                <a:spcPts val="0"/>
              </a:spcAft>
            </a:pP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 dati</a:t>
            </a:r>
            <a:r>
              <a:rPr sz="3200" b="1" spc="-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3200" b="1" spc="-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</a:t>
            </a:r>
            <a:r>
              <a:rPr sz="3200" b="1" spc="84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9.</a:t>
            </a:r>
            <a:r>
              <a:rPr sz="3200" b="1" spc="89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32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7331" y="2047595"/>
            <a:ext cx="10437981" cy="714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i) 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5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</a:t>
            </a:r>
            <a:r>
              <a:rPr sz="22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necessario per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moꢀvi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</a:t>
            </a:r>
            <a:r>
              <a:rPr sz="2200" b="1" spc="-10" dirty="0">
                <a:solidFill>
                  <a:srgbClr val="D19A3F"/>
                </a:solidFill>
                <a:latin typeface="NLHDNC+Calibri Bold"/>
                <a:cs typeface="NLHDNC+Calibri Bold"/>
              </a:rPr>
              <a:t> interesse</a:t>
            </a:r>
            <a:r>
              <a:rPr sz="2200" b="1" spc="4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pubblico nel </a:t>
            </a:r>
            <a:r>
              <a:rPr sz="2200" b="1" spc="-15" dirty="0">
                <a:solidFill>
                  <a:srgbClr val="D19A3F"/>
                </a:solidFill>
                <a:latin typeface="NLHDNC+Calibri Bold"/>
                <a:cs typeface="NLHDNC+Calibri Bold"/>
              </a:rPr>
              <a:t>seꢁore</a:t>
            </a:r>
            <a:r>
              <a:rPr sz="2200" b="1" spc="4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della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sanità</a:t>
            </a:r>
          </a:p>
          <a:p>
            <a:pPr marL="266700" marR="0">
              <a:lnSpc>
                <a:spcPts val="2641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pubblica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, quali la</a:t>
            </a:r>
            <a:r>
              <a:rPr sz="2200" spc="-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protezione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da gravi minacce per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la salute a carattere transfrontaliero</a:t>
            </a:r>
            <a:r>
              <a:rPr sz="22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64031" y="2718699"/>
            <a:ext cx="4767109" cy="71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la garanzia</a:t>
            </a:r>
            <a:r>
              <a:rPr sz="22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 parametri elevati di qualita</a:t>
            </a:r>
          </a:p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medicinali e dei dispositivi</a:t>
            </a:r>
            <a:r>
              <a:rPr sz="22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medici;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79261" y="2718699"/>
            <a:ext cx="4649963" cy="378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̀ e sicurezza</a:t>
            </a:r>
            <a:r>
              <a:rPr sz="22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dell'assistenza sanitaria,</a:t>
            </a:r>
            <a:r>
              <a:rPr sz="22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dei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7331" y="3388969"/>
            <a:ext cx="9964303" cy="1049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j)</a:t>
            </a:r>
            <a:r>
              <a:rPr sz="2200" spc="49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il </a:t>
            </a:r>
            <a:r>
              <a:rPr sz="2200" spc="-18" dirty="0">
                <a:solidFill>
                  <a:srgbClr val="000000"/>
                </a:solidFill>
                <a:latin typeface="VOMJKV+Calibri"/>
                <a:cs typeface="VOMJKV+Calibri"/>
              </a:rPr>
              <a:t>traꢁamento</a:t>
            </a:r>
            <a:r>
              <a:rPr sz="2200" spc="7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è necessario a fini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archiviazione</a:t>
            </a:r>
            <a:r>
              <a:rPr sz="2200" b="1" spc="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nel pubblico interesse,</a:t>
            </a:r>
            <a:r>
              <a:rPr sz="2200" b="1" spc="2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 ricerca</a:t>
            </a:r>
          </a:p>
          <a:p>
            <a:pPr marL="266700" marR="0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scientifica</a:t>
            </a:r>
            <a:r>
              <a:rPr sz="2200" b="1" spc="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storica</a:t>
            </a:r>
            <a:r>
              <a:rPr sz="2200" b="1" spc="3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a fini statistici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,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sulla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base del diritto dell'Unione</a:t>
            </a:r>
            <a:r>
              <a:rPr sz="22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o di uno Stato</a:t>
            </a:r>
          </a:p>
          <a:p>
            <a:pPr marL="26670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membro;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7331" y="5401599"/>
            <a:ext cx="10301644" cy="1049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Gli Stati membri</a:t>
            </a:r>
            <a:r>
              <a:rPr sz="22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possono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mantenere</a:t>
            </a:r>
            <a:r>
              <a:rPr sz="2200" b="1" spc="37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introdurre</a:t>
            </a:r>
            <a:r>
              <a:rPr sz="2200" b="1" spc="46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ulteriori</a:t>
            </a:r>
            <a:r>
              <a:rPr sz="22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condizioni, comprese</a:t>
            </a: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limitazioni, con riguardo</a:t>
            </a:r>
            <a:r>
              <a:rPr sz="22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al trattamento</a:t>
            </a:r>
            <a:r>
              <a:rPr sz="22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2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dati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genetici,</a:t>
            </a:r>
            <a:r>
              <a:rPr sz="2200" b="1" spc="1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dati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biometrici</a:t>
            </a:r>
            <a:r>
              <a:rPr sz="2200" b="1" spc="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 dati</a:t>
            </a:r>
            <a:r>
              <a:rPr sz="2200" b="1" spc="14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relativi</a:t>
            </a:r>
            <a:r>
              <a:rPr sz="2200" b="1" spc="2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alla</a:t>
            </a:r>
          </a:p>
          <a:p>
            <a:pPr marL="0" marR="0">
              <a:lnSpc>
                <a:spcPts val="2639"/>
              </a:lnSpc>
              <a:spcBef>
                <a:spcPts val="50"/>
              </a:spcBef>
              <a:spcAft>
                <a:spcPts val="0"/>
              </a:spcAft>
            </a:pPr>
            <a:r>
              <a:rPr sz="22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salute.</a:t>
            </a:r>
          </a:p>
        </p:txBody>
      </p:sp>
      <p:pic>
        <p:nvPicPr>
          <p:cNvPr id="11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2" name="Segnaposto numero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005" y="960106"/>
            <a:ext cx="10843771" cy="95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2-sexies del</a:t>
            </a:r>
            <a:r>
              <a:rPr sz="2000" b="1" spc="-1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D.Lgs. 196/03,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introdotto</a:t>
            </a:r>
            <a:r>
              <a:rPr sz="2000" b="1" spc="-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 D.Lgs.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101/2018</a:t>
            </a:r>
            <a:r>
              <a:rPr sz="2000" b="1" spc="4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spc="-23" dirty="0">
                <a:solidFill>
                  <a:srgbClr val="25A188"/>
                </a:solidFill>
                <a:latin typeface="Calibri"/>
                <a:cs typeface="Calibri"/>
              </a:rPr>
              <a:t>(Trattamento</a:t>
            </a:r>
            <a:r>
              <a:rPr sz="20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di</a:t>
            </a:r>
            <a:r>
              <a:rPr sz="2000" b="1" spc="-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categorie</a:t>
            </a:r>
            <a:r>
              <a:rPr sz="2000" b="1" spc="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particolari 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dati personali</a:t>
            </a:r>
            <a:r>
              <a:rPr sz="2000" b="1" spc="-2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necessario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per motivi</a:t>
            </a:r>
            <a:r>
              <a:rPr sz="2000" b="1" spc="-36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di interesse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pubblico</a:t>
            </a:r>
            <a:r>
              <a:rPr sz="2000" b="1" spc="-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rilevante)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come modificato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15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«decreto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capienze» - 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D.L.</a:t>
            </a:r>
            <a:r>
              <a:rPr sz="2000" b="1" spc="1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8 ottobre 2021,</a:t>
            </a:r>
            <a:r>
              <a:rPr sz="2000" b="1" spc="-37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n. 139,</a:t>
            </a:r>
            <a:r>
              <a:rPr sz="20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convertito con modificazioni</a:t>
            </a:r>
            <a:r>
              <a:rPr sz="2000" b="1" spc="41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dalla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L. 3 dicembre 2021,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n. 205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005" y="2331960"/>
            <a:ext cx="10836684" cy="2178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comma 1 - 1.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 trattamenti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categorie particolari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dati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personali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cui all'articolo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9,</a:t>
            </a:r>
            <a:r>
              <a:rPr sz="2000" spc="4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paragrafo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1,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Regolamento,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necessari</a:t>
            </a:r>
            <a:r>
              <a:rPr sz="2000" spc="45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motivi</a:t>
            </a:r>
            <a:r>
              <a:rPr sz="20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di</a:t>
            </a:r>
            <a:r>
              <a:rPr sz="2000" b="1" spc="-18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interesse pubblico</a:t>
            </a:r>
            <a:r>
              <a:rPr sz="2000" b="1" spc="-3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000000"/>
                </a:solidFill>
                <a:latin typeface="NLHDNC+Calibri Bold"/>
                <a:cs typeface="NLHDNC+Calibri Bold"/>
              </a:rPr>
              <a:t>rilevante</a:t>
            </a:r>
            <a:r>
              <a:rPr sz="2000" b="1" spc="461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</a:t>
            </a:r>
            <a:r>
              <a:rPr sz="2000" spc="4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sensi</a:t>
            </a:r>
            <a:r>
              <a:rPr sz="2000" spc="45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4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paragrafo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2,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lettera</a:t>
            </a:r>
            <a:r>
              <a:rPr sz="2000" spc="46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g),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4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medesimo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articolo,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ammessi</a:t>
            </a:r>
            <a:r>
              <a:rPr sz="2000" spc="46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qualora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siano previsti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 diritto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dell'Unione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europea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ovvero,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nell'ordinamento interno, da disposizioni di legge o ((...))</a:t>
            </a:r>
            <a:r>
              <a:rPr sz="2000" spc="4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regolamento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((o</a:t>
            </a:r>
            <a:r>
              <a:rPr sz="2000" spc="46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da atti</a:t>
            </a:r>
          </a:p>
          <a:p>
            <a:pPr marL="0" marR="0">
              <a:lnSpc>
                <a:spcPts val="2399"/>
              </a:lnSpc>
              <a:spcBef>
                <a:spcPts val="0"/>
              </a:spcBef>
              <a:spcAft>
                <a:spcPts val="0"/>
              </a:spcAft>
            </a:pP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amministrativi</a:t>
            </a:r>
            <a:r>
              <a:rPr sz="2000" u="sng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generali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)) che specifichino i tipi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dati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che possono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essere</a:t>
            </a:r>
            <a:r>
              <a:rPr sz="20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trattati,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 operazioni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eseguibili</a:t>
            </a:r>
            <a:r>
              <a:rPr sz="2000" spc="46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motivo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interesse</a:t>
            </a:r>
            <a:r>
              <a:rPr sz="2000" spc="48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pubblico</a:t>
            </a:r>
            <a:r>
              <a:rPr sz="2000" spc="4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rilevante,</a:t>
            </a:r>
            <a:r>
              <a:rPr sz="2000" spc="47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nonché'</a:t>
            </a:r>
            <a:r>
              <a:rPr sz="2000" spc="4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  <a:r>
              <a:rPr sz="2000" spc="46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appropriate</a:t>
            </a:r>
            <a:r>
              <a:rPr sz="2000" spc="90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specifiche</a:t>
            </a:r>
          </a:p>
          <a:p>
            <a:pPr marL="0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tutelare</a:t>
            </a:r>
            <a:r>
              <a:rPr sz="2000" spc="46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diritti</a:t>
            </a:r>
            <a:r>
              <a:rPr sz="2000" spc="46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fondamentali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gli</a:t>
            </a:r>
            <a:r>
              <a:rPr sz="2000" spc="4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interessi</a:t>
            </a:r>
            <a:r>
              <a:rPr sz="20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dell'interessato.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2005" y="4770995"/>
            <a:ext cx="10832770" cy="958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comma 2 - contiene l’elenco delle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materie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nell’ambito delle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quali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 trattamenti,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effettuati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 soggetti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che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svolgono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compiti di interesse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pubblico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connessi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all’esercizio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pubblici poteri, sono considerati 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rilevante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interesse</a:t>
            </a:r>
            <a:r>
              <a:rPr sz="200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pubblico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2005" y="960106"/>
            <a:ext cx="10843771" cy="95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2-sexies del</a:t>
            </a:r>
            <a:r>
              <a:rPr sz="2000" b="1" spc="-1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D.Lgs. 196/03,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introdotto</a:t>
            </a:r>
            <a:r>
              <a:rPr sz="2000" b="1" spc="-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 D.Lgs.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101/2018</a:t>
            </a:r>
            <a:r>
              <a:rPr sz="2000" b="1" spc="4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spc="-23" dirty="0">
                <a:solidFill>
                  <a:srgbClr val="25A188"/>
                </a:solidFill>
                <a:latin typeface="Calibri"/>
                <a:cs typeface="Calibri"/>
              </a:rPr>
              <a:t>(Trattamento</a:t>
            </a:r>
            <a:r>
              <a:rPr sz="2000" b="1" spc="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di</a:t>
            </a:r>
            <a:r>
              <a:rPr sz="2000" b="1" spc="-1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categorie</a:t>
            </a:r>
            <a:r>
              <a:rPr sz="2000" b="1" spc="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particolari 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dati personali</a:t>
            </a:r>
            <a:r>
              <a:rPr sz="2000" b="1" spc="-2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necessario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per motivi</a:t>
            </a:r>
            <a:r>
              <a:rPr sz="2000" b="1" spc="-36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di interesse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pubblico</a:t>
            </a:r>
            <a:r>
              <a:rPr sz="2000" b="1" spc="-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rilevante)</a:t>
            </a:r>
            <a:r>
              <a:rPr sz="20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- come modificato</a:t>
            </a:r>
            <a:r>
              <a:rPr sz="2000" b="1" spc="-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</a:t>
            </a:r>
            <a:r>
              <a:rPr sz="2000" b="1" spc="-15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«decreto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capienze» - 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D.L.</a:t>
            </a:r>
            <a:r>
              <a:rPr sz="2000" b="1" spc="14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8 ottobre 2021,</a:t>
            </a:r>
            <a:r>
              <a:rPr sz="2000" b="1" spc="-37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n. 139,</a:t>
            </a:r>
            <a:r>
              <a:rPr sz="2000" b="1" spc="-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convertito con modificazioni</a:t>
            </a:r>
            <a:r>
              <a:rPr sz="2000" b="1" spc="413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dalla</a:t>
            </a:r>
            <a:r>
              <a:rPr sz="2000" b="1" spc="-1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L. 3 dicembre 2021,</a:t>
            </a:r>
            <a:r>
              <a:rPr sz="2000" b="1" spc="-49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A188"/>
                </a:solidFill>
                <a:latin typeface="Calibri"/>
                <a:cs typeface="Calibri"/>
              </a:rPr>
              <a:t>n. 205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2005" y="2149461"/>
            <a:ext cx="11094209" cy="339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((1-bis.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 dati personali relativi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salute,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privi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elementi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identificativi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diretti,</a:t>
            </a:r>
            <a:r>
              <a:rPr sz="20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sono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trattati,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 rispetto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finalita’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istituzionali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ciascuno, dal Ministero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della salute,</a:t>
            </a:r>
            <a:r>
              <a:rPr sz="2000" spc="46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dall'Istituto superiore di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sanita',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dall'Agenzia nazionale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i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servizi</a:t>
            </a:r>
            <a:r>
              <a:rPr sz="2000" spc="46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sanitari regionali, dall'Agenzia italiana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farmaco, dall'Istituto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nazionale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la promozione della salute</a:t>
            </a:r>
            <a:r>
              <a:rPr sz="20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popolazioni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migranti</a:t>
            </a:r>
            <a:r>
              <a:rPr sz="2000" spc="45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</a:t>
            </a:r>
            <a:r>
              <a:rPr sz="2000" spc="44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contrasto 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malattie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della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poverta' e,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relativamente</a:t>
            </a:r>
            <a:r>
              <a:rPr sz="2000" spc="48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propri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assistiti,</a:t>
            </a:r>
            <a:r>
              <a:rPr sz="2000" spc="5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dalle regioni anche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mediante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l'interconnessione a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livello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nazionale dei sistemi</a:t>
            </a:r>
            <a:r>
              <a:rPr sz="2000" spc="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informativi</a:t>
            </a:r>
            <a:r>
              <a:rPr sz="20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su base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individuale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Servizio sanitario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nazionale, ivi incluso il</a:t>
            </a:r>
          </a:p>
          <a:p>
            <a:pPr marL="0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Fascicolo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sanitario</a:t>
            </a:r>
            <a:r>
              <a:rPr sz="2000" spc="45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elettronico</a:t>
            </a:r>
            <a:r>
              <a:rPr sz="20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(FSE),</a:t>
            </a:r>
            <a:r>
              <a:rPr sz="2000" spc="4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aventi</a:t>
            </a:r>
            <a:r>
              <a:rPr sz="2000" spc="469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finalita'</a:t>
            </a:r>
            <a:r>
              <a:rPr sz="2000" spc="9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compatibili</a:t>
            </a:r>
            <a:r>
              <a:rPr sz="2000" spc="89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con</a:t>
            </a:r>
            <a:r>
              <a:rPr sz="2000" spc="90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quelle</a:t>
            </a:r>
            <a:r>
              <a:rPr sz="2000" spc="90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sottese</a:t>
            </a:r>
            <a:r>
              <a:rPr sz="2000" spc="9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 trattamento,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con</a:t>
            </a:r>
            <a:r>
              <a:rPr sz="2000" spc="-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modalita' e per le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finalita'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fissate</a:t>
            </a:r>
            <a:r>
              <a:rPr sz="2000" spc="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con</a:t>
            </a:r>
            <a:r>
              <a:rPr sz="2000" spc="4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decreto</a:t>
            </a:r>
            <a:r>
              <a:rPr sz="20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 Ministro della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salute,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 sensi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 comma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1,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previo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parere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 Garante,</a:t>
            </a:r>
            <a:r>
              <a:rPr sz="2000" spc="46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</a:t>
            </a:r>
            <a:r>
              <a:rPr sz="2000" spc="44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rispetto</a:t>
            </a:r>
            <a:r>
              <a:rPr sz="2000" spc="47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4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quanto</a:t>
            </a:r>
            <a:r>
              <a:rPr sz="2000" spc="43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previsto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Regolamento,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 presente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codice,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codice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dell'amministrazione</a:t>
            </a:r>
            <a:r>
              <a:rPr sz="2000" spc="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digitale,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cui</a:t>
            </a:r>
            <a:r>
              <a:rPr sz="2000" spc="436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 decreto legislativo</a:t>
            </a:r>
            <a:r>
              <a:rPr sz="2000" spc="48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7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marzo</a:t>
            </a:r>
            <a:r>
              <a:rPr sz="2000" spc="45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2005,</a:t>
            </a:r>
            <a:r>
              <a:rPr sz="2000" spc="40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n.</a:t>
            </a:r>
            <a:r>
              <a:rPr sz="2000" spc="43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82,</a:t>
            </a:r>
            <a:r>
              <a:rPr sz="2000" spc="4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</a:t>
            </a:r>
            <a:r>
              <a:rPr sz="2000" spc="44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dalle</a:t>
            </a:r>
            <a:r>
              <a:rPr sz="2000" spc="45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linee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guida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dell'Agenzia per l'Italia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digitale in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materia</a:t>
            </a:r>
            <a:r>
              <a:rPr sz="2000" spc="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interoperabilita'))</a:t>
            </a:r>
          </a:p>
        </p:txBody>
      </p:sp>
      <p:pic>
        <p:nvPicPr>
          <p:cNvPr id="7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9899" y="1019155"/>
            <a:ext cx="10604470" cy="775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Art.</a:t>
            </a:r>
            <a:r>
              <a:rPr sz="24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2-septies</a:t>
            </a:r>
            <a:r>
              <a:rPr sz="2400" b="1" spc="2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del D.Lgs. 196/03, introdotto dal D.Lgs.</a:t>
            </a:r>
            <a:r>
              <a:rPr sz="2400" b="1" spc="-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101/2018</a:t>
            </a:r>
            <a:r>
              <a:rPr sz="2400" b="1" spc="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(Misure di garanzia</a:t>
            </a:r>
          </a:p>
          <a:p>
            <a:pPr marL="1007668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 il trattamento</a:t>
            </a:r>
            <a:r>
              <a:rPr sz="2400" b="1" spc="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dei dati genetici, biometrici</a:t>
            </a:r>
            <a:r>
              <a:rPr sz="24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e relativi alla salute)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9763" y="2149461"/>
            <a:ext cx="10334580" cy="1263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Questi tipi</a:t>
            </a:r>
            <a:r>
              <a:rPr sz="20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dati possono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essere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trattati</a:t>
            </a:r>
            <a:r>
              <a:rPr sz="20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in presenza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una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 condizioni</a:t>
            </a:r>
            <a:r>
              <a:rPr sz="2000" spc="-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previste</a:t>
            </a:r>
            <a:r>
              <a:rPr sz="2000" spc="2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 paragrafo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2 dell’art. 9 del GDPR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e in conformità</a:t>
            </a:r>
            <a:r>
              <a:rPr sz="2000" b="1" spc="-5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b="1" u="sng" dirty="0">
                <a:solidFill>
                  <a:srgbClr val="000000"/>
                </a:solidFill>
                <a:latin typeface="NLHDNC+Calibri Bold"/>
                <a:cs typeface="NLHDNC+Calibri Bold"/>
              </a:rPr>
              <a:t>misure</a:t>
            </a:r>
            <a:r>
              <a:rPr sz="2000" b="1" u="sng" spc="-20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b="1" u="sng" dirty="0">
                <a:solidFill>
                  <a:srgbClr val="000000"/>
                </a:solidFill>
                <a:latin typeface="NLHDNC+Calibri Bold"/>
                <a:cs typeface="NLHDNC+Calibri Bold"/>
              </a:rPr>
              <a:t>di garanzia </a:t>
            </a:r>
            <a:r>
              <a:rPr sz="2000" b="1" spc="-442" dirty="0">
                <a:solidFill>
                  <a:srgbClr val="000000"/>
                </a:solidFill>
                <a:latin typeface="NLHDNC+Calibri Bold"/>
                <a:cs typeface="NLHDNC+Calibri Bold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disposte dal Garante, con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provvedimento almeno biennale, da</a:t>
            </a:r>
            <a:r>
              <a:rPr sz="20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sottoporre a consultazione pubblica per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almeno due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mesi,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che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tenga conto: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9682" y="3673425"/>
            <a:ext cx="9431083" cy="654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a)</a:t>
            </a:r>
            <a:r>
              <a:rPr sz="2000" spc="87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 linee guida, delle raccomandazioni</a:t>
            </a:r>
            <a:r>
              <a:rPr sz="20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delle migliori prassi pubblicate dal Comitato</a:t>
            </a:r>
          </a:p>
          <a:p>
            <a:pPr marL="367283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europeo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la protezione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 dati;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19682" y="4588496"/>
            <a:ext cx="9706623" cy="95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b)</a:t>
            </a:r>
            <a:r>
              <a:rPr sz="2000" spc="77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dell’evoluzione scientifica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tecnologica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nel settore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oggetto</a:t>
            </a:r>
            <a:r>
              <a:rPr sz="2000" spc="-3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  <a:r>
              <a:rPr sz="20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(stato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dell’arte);</a:t>
            </a:r>
          </a:p>
          <a:p>
            <a:pPr marL="0" marR="0">
              <a:lnSpc>
                <a:spcPts val="2449"/>
              </a:lnSpc>
              <a:spcBef>
                <a:spcPts val="2351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c)</a:t>
            </a:r>
            <a:r>
              <a:rPr sz="2000" spc="97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dell’interesse</a:t>
            </a:r>
            <a:r>
              <a:rPr sz="2000" spc="3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libera circolazione dei dati personali nell’UE;</a:t>
            </a:r>
          </a:p>
        </p:txBody>
      </p:sp>
      <p:pic>
        <p:nvPicPr>
          <p:cNvPr id="9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9899" y="1019155"/>
            <a:ext cx="10604470" cy="775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Art</a:t>
            </a:r>
            <a:r>
              <a:rPr sz="2400" b="1" spc="257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septies</a:t>
            </a:r>
            <a:r>
              <a:rPr sz="2400" b="1" spc="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</a:t>
            </a:r>
            <a:r>
              <a:rPr sz="2400" b="1" spc="58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D.Lgs</a:t>
            </a:r>
            <a:r>
              <a:rPr sz="2400" b="1" spc="6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19</a:t>
            </a:r>
            <a:r>
              <a:rPr sz="2400" b="1" spc="170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0</a:t>
            </a:r>
            <a:r>
              <a:rPr sz="2400" b="1" spc="66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, introdotto da</a:t>
            </a:r>
            <a:r>
              <a:rPr sz="2400" b="1" spc="58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D.Lgs</a:t>
            </a:r>
            <a:r>
              <a:rPr sz="2400" b="1" spc="62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</a:t>
            </a:r>
            <a:r>
              <a:rPr sz="2400" b="1" spc="170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201</a:t>
            </a:r>
            <a:r>
              <a:rPr sz="2400" b="1" spc="1222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(Misure di garanzia</a:t>
            </a:r>
          </a:p>
          <a:p>
            <a:pPr marL="1007668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 il trattamento</a:t>
            </a:r>
            <a:r>
              <a:rPr sz="2400" b="1" spc="2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dei dati genetici, biometrici</a:t>
            </a:r>
            <a:r>
              <a:rPr sz="24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e relativi alla salute)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2222" y="2193276"/>
            <a:ext cx="9089147" cy="958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000" spc="6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Le misure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garanzia sono </a:t>
            </a:r>
            <a:r>
              <a:rPr sz="2000" spc="-11" dirty="0">
                <a:solidFill>
                  <a:srgbClr val="000000"/>
                </a:solidFill>
                <a:latin typeface="Calibri"/>
                <a:cs typeface="Calibri"/>
              </a:rPr>
              <a:t>adottate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per ciascuna categoria di questi dati</a:t>
            </a:r>
            <a:r>
              <a:rPr sz="20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particolari,</a:t>
            </a: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tenendo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conto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 delle specifiche</a:t>
            </a:r>
            <a:r>
              <a:rPr sz="2000" spc="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finalità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perseguite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possono individuare ulteriori</a:t>
            </a:r>
          </a:p>
          <a:p>
            <a:pPr marL="34290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condizioni</a:t>
            </a:r>
            <a:r>
              <a:rPr sz="20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sulla</a:t>
            </a:r>
            <a:r>
              <a:rPr sz="20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base delle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quali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0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è consentito;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22222" y="3412857"/>
            <a:ext cx="9782949" cy="1263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000" spc="6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devono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riguardare anche le cautele da adottare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relativamente</a:t>
            </a:r>
            <a:r>
              <a:rPr sz="20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ai contrassegni sui veicoli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accessi a 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zone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 a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traffico</a:t>
            </a:r>
            <a:r>
              <a:rPr sz="20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limitato,</a:t>
            </a:r>
            <a:r>
              <a:rPr sz="20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ai profili</a:t>
            </a:r>
            <a:r>
              <a:rPr sz="20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organizzativi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gestionali in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ambito</a:t>
            </a:r>
            <a:r>
              <a:rPr sz="20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sanitario,</a:t>
            </a:r>
            <a:r>
              <a:rPr sz="20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alle</a:t>
            </a:r>
          </a:p>
          <a:p>
            <a:pPr marL="34290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modalità</a:t>
            </a:r>
            <a:r>
              <a:rPr sz="2000" spc="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la comunicazione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spc="-12" dirty="0">
                <a:solidFill>
                  <a:srgbClr val="000000"/>
                </a:solidFill>
                <a:latin typeface="VOMJKV+Calibri"/>
                <a:cs typeface="VOMJKV+Calibri"/>
              </a:rPr>
              <a:t>diretta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all’interessato</a:t>
            </a:r>
            <a:r>
              <a:rPr sz="2000" spc="5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diagnosi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dei dati relativi</a:t>
            </a:r>
            <a:r>
              <a:rPr sz="2000" spc="4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propria salute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alle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prescrizioni di medicinali;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5871" y="1019155"/>
            <a:ext cx="11054653" cy="775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Art.</a:t>
            </a:r>
            <a:r>
              <a:rPr sz="2400" b="1" spc="19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septies</a:t>
            </a:r>
            <a:r>
              <a:rPr sz="2400" b="1" spc="2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de</a:t>
            </a:r>
            <a:r>
              <a:rPr sz="2400" b="1" spc="59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spc="-11" dirty="0">
                <a:solidFill>
                  <a:srgbClr val="25A188"/>
                </a:solidFill>
                <a:latin typeface="Calibri"/>
                <a:cs typeface="Calibri"/>
              </a:rPr>
              <a:t>D.Lgs</a:t>
            </a:r>
            <a:r>
              <a:rPr sz="2400" b="1" spc="63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196/03, introdotto</a:t>
            </a:r>
            <a:r>
              <a:rPr sz="2400" b="1" spc="15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da</a:t>
            </a:r>
            <a:r>
              <a:rPr sz="2400" b="1" spc="55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spc="-11" dirty="0">
                <a:solidFill>
                  <a:srgbClr val="25A188"/>
                </a:solidFill>
                <a:latin typeface="Calibri"/>
                <a:cs typeface="Calibri"/>
              </a:rPr>
              <a:t>D.Lgs</a:t>
            </a:r>
            <a:r>
              <a:rPr sz="2400" b="1" spc="638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101/2018 (Misure di </a:t>
            </a:r>
            <a:r>
              <a:rPr sz="2400" b="1" spc="-10" dirty="0">
                <a:solidFill>
                  <a:srgbClr val="25A188"/>
                </a:solidFill>
                <a:latin typeface="Calibri"/>
                <a:cs typeface="Calibri"/>
              </a:rPr>
              <a:t>garanzia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per</a:t>
            </a:r>
          </a:p>
          <a:p>
            <a:pPr marL="149992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il </a:t>
            </a:r>
            <a:r>
              <a:rPr sz="2400" b="1" spc="-18" dirty="0">
                <a:solidFill>
                  <a:srgbClr val="25A188"/>
                </a:solidFill>
                <a:latin typeface="Calibri"/>
                <a:cs typeface="Calibri"/>
              </a:rPr>
              <a:t>trattamento</a:t>
            </a:r>
            <a:r>
              <a:rPr sz="2400" b="1" spc="3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dei </a:t>
            </a:r>
            <a:r>
              <a:rPr sz="2400" b="1" spc="-10" dirty="0">
                <a:solidFill>
                  <a:srgbClr val="25A188"/>
                </a:solidFill>
                <a:latin typeface="Calibri"/>
                <a:cs typeface="Calibri"/>
              </a:rPr>
              <a:t>dati</a:t>
            </a:r>
            <a:r>
              <a:rPr sz="2400" b="1" spc="10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genetici, biometrici</a:t>
            </a:r>
            <a:r>
              <a:rPr sz="2400" b="1" spc="-21" dirty="0">
                <a:solidFill>
                  <a:srgbClr val="25A18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A188"/>
                </a:solidFill>
                <a:latin typeface="Calibri"/>
                <a:cs typeface="Calibri"/>
              </a:rPr>
              <a:t>e relativi alla salute)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8722" y="2399742"/>
            <a:ext cx="9501141" cy="12637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000" spc="7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individuano</a:t>
            </a:r>
            <a:r>
              <a:rPr sz="20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 misure</a:t>
            </a:r>
            <a:r>
              <a:rPr sz="20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sicurezza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(comprese le tecniche di cifratura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 di</a:t>
            </a:r>
          </a:p>
          <a:p>
            <a:pPr marL="359663" marR="0">
              <a:lnSpc>
                <a:spcPts val="2401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pseudonimizzazione),</a:t>
            </a:r>
            <a:r>
              <a:rPr sz="2000" spc="-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 misure</a:t>
            </a:r>
            <a:r>
              <a:rPr sz="2000" spc="2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minimizzazione, le modalità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 l’accesso selettivo</a:t>
            </a:r>
            <a:r>
              <a:rPr sz="200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ai</a:t>
            </a:r>
          </a:p>
          <a:p>
            <a:pPr marL="359663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dati e per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rendere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le informazioni agli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interessati,</a:t>
            </a:r>
            <a:r>
              <a:rPr sz="2000" spc="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nonché</a:t>
            </a:r>
            <a:r>
              <a:rPr sz="20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eventuali altre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misure</a:t>
            </a:r>
          </a:p>
          <a:p>
            <a:pPr marL="359663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necessarie</a:t>
            </a:r>
            <a:r>
              <a:rPr sz="2000" spc="2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 garantire i diritti</a:t>
            </a:r>
            <a:r>
              <a:rPr sz="2000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degli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interessati;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8722" y="3923996"/>
            <a:ext cx="8919699" cy="958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000" spc="7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possono</a:t>
            </a:r>
            <a:r>
              <a:rPr sz="2000" spc="-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individuare, per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trattamento</a:t>
            </a:r>
            <a:r>
              <a:rPr sz="20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 dati genetici che</a:t>
            </a:r>
            <a:r>
              <a:rPr sz="2000" spc="-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comporta un elevato</a:t>
            </a:r>
          </a:p>
          <a:p>
            <a:pPr marL="359663" marR="0">
              <a:lnSpc>
                <a:spcPts val="2401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livello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rischio,</a:t>
            </a:r>
            <a:r>
              <a:rPr sz="2000" spc="46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consenso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come ulteriore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misura</a:t>
            </a:r>
            <a:r>
              <a:rPr sz="20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 protezione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dei</a:t>
            </a:r>
            <a:r>
              <a:rPr sz="2000" spc="45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diritti</a:t>
            </a:r>
          </a:p>
          <a:p>
            <a:pPr marL="359663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dell’interessato</a:t>
            </a:r>
            <a:r>
              <a:rPr sz="2000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o altre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cautele specifiche;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8722" y="5144224"/>
            <a:ext cx="8564244" cy="34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D19A3F"/>
                </a:solidFill>
                <a:latin typeface="IFKOMN+Wingdings"/>
                <a:cs typeface="IFKOMN+Wingdings"/>
              </a:rPr>
              <a:t>➢</a:t>
            </a:r>
            <a:r>
              <a:rPr sz="2000" spc="742" dirty="0">
                <a:solidFill>
                  <a:srgbClr val="D19A3F"/>
                </a:solid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D19A3F"/>
                </a:solidFill>
                <a:latin typeface="NLHDNC+Calibri Bold"/>
                <a:cs typeface="NLHDNC+Calibri Bold"/>
              </a:rPr>
              <a:t>divieto</a:t>
            </a:r>
            <a:r>
              <a:rPr sz="2000" b="1" u="sng" spc="-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u="sng" dirty="0">
                <a:solidFill>
                  <a:srgbClr val="D19A3F"/>
                </a:solidFill>
                <a:latin typeface="NLHDNC+Calibri Bold"/>
                <a:cs typeface="NLHDNC+Calibri Bold"/>
              </a:rPr>
              <a:t>assoluto</a:t>
            </a:r>
            <a:r>
              <a:rPr sz="2000" b="1" u="sng" spc="-28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u="sng" dirty="0">
                <a:solidFill>
                  <a:srgbClr val="D19A3F"/>
                </a:solidFill>
                <a:latin typeface="NLHDNC+Calibri Bold"/>
                <a:cs typeface="NLHDNC+Calibri Bold"/>
              </a:rPr>
              <a:t>di</a:t>
            </a:r>
            <a:r>
              <a:rPr sz="2000" b="1" u="sng" spc="-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u="sng" dirty="0">
                <a:solidFill>
                  <a:srgbClr val="D19A3F"/>
                </a:solidFill>
                <a:latin typeface="NLHDNC+Calibri Bold"/>
                <a:cs typeface="NLHDNC+Calibri Bold"/>
              </a:rPr>
              <a:t>diffusione</a:t>
            </a:r>
            <a:r>
              <a:rPr sz="2000" b="1" u="sng" spc="-15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spc="-446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dei dati genetici, biometrici e relativi</a:t>
            </a:r>
            <a:r>
              <a:rPr sz="2000" u="sng" spc="2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2000" u="sng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u="sng" dirty="0">
                <a:solidFill>
                  <a:srgbClr val="000000"/>
                </a:solidFill>
                <a:latin typeface="VOMJKV+Calibri"/>
                <a:cs typeface="VOMJKV+Calibri"/>
              </a:rPr>
              <a:t>salute</a:t>
            </a: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.</a:t>
            </a:r>
          </a:p>
        </p:txBody>
      </p:sp>
      <p:pic>
        <p:nvPicPr>
          <p:cNvPr id="9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06166" y="1003019"/>
            <a:ext cx="6058521" cy="898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3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800" b="1" spc="4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dei</a:t>
            </a:r>
            <a:r>
              <a:rPr sz="2800" b="1" spc="2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dati</a:t>
            </a:r>
            <a:r>
              <a:rPr sz="2800" b="1" spc="1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personali</a:t>
            </a:r>
            <a:r>
              <a:rPr sz="2800" b="1" spc="2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relativi</a:t>
            </a:r>
            <a:r>
              <a:rPr sz="2800" b="1" spc="3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</a:t>
            </a:r>
          </a:p>
          <a:p>
            <a:pPr marL="573405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condanne penali</a:t>
            </a:r>
            <a:r>
              <a:rPr sz="2800" b="1" spc="1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e reati</a:t>
            </a:r>
            <a:r>
              <a:rPr sz="2800" b="1" spc="3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(art</a:t>
            </a:r>
            <a:r>
              <a:rPr sz="2800" b="1" spc="78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</a:t>
            </a:r>
            <a:r>
              <a:rPr sz="2800" b="1" spc="78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8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2065" y="2299067"/>
            <a:ext cx="10056535" cy="95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0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dei dati personali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relativi</a:t>
            </a:r>
            <a:r>
              <a:rPr sz="2000" spc="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alle</a:t>
            </a:r>
            <a:r>
              <a:rPr sz="20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condanne</a:t>
            </a:r>
            <a:r>
              <a:rPr sz="2000" spc="-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penali e ai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reati</a:t>
            </a:r>
            <a:r>
              <a:rPr sz="20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deve</a:t>
            </a:r>
            <a:r>
              <a:rPr sz="2000" spc="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avvenire</a:t>
            </a:r>
            <a:r>
              <a:rPr sz="2000" spc="5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D19A3F"/>
                </a:solidFill>
                <a:latin typeface="Calibri"/>
                <a:cs typeface="Calibri"/>
              </a:rPr>
              <a:t>soltanto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D19A3F"/>
                </a:solidFill>
                <a:latin typeface="Calibri"/>
                <a:cs typeface="Calibri"/>
              </a:rPr>
              <a:t>sotto</a:t>
            </a:r>
            <a:r>
              <a:rPr sz="2000" b="1" spc="-2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il controllo </a:t>
            </a:r>
            <a:r>
              <a:rPr sz="2000" spc="-15" dirty="0">
                <a:solidFill>
                  <a:srgbClr val="000000"/>
                </a:solidFill>
                <a:latin typeface="VOMJKV+Calibri"/>
                <a:cs typeface="VOMJKV+Calibri"/>
              </a:rPr>
              <a:t>dell’autorità</a:t>
            </a:r>
            <a:r>
              <a:rPr sz="2000" spc="3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pubblica </a:t>
            </a:r>
            <a:r>
              <a:rPr sz="2000" b="1" dirty="0">
                <a:solidFill>
                  <a:srgbClr val="D19A3F"/>
                </a:solidFill>
                <a:latin typeface="Calibri"/>
                <a:cs typeface="Calibri"/>
              </a:rPr>
              <a:t>o se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0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è autorizzato</a:t>
            </a:r>
            <a:r>
              <a:rPr sz="2000" b="1" spc="11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dal</a:t>
            </a:r>
            <a:r>
              <a:rPr sz="2000" b="1" spc="-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diritto</a:t>
            </a:r>
            <a:r>
              <a:rPr sz="2000" b="1" spc="-20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dell’Unione</a:t>
            </a:r>
            <a:r>
              <a:rPr sz="2000" b="1" spc="-33" dirty="0">
                <a:solidFill>
                  <a:srgbClr val="D19A3F"/>
                </a:solidFill>
                <a:latin typeface="NLHDNC+Calibri Bold"/>
                <a:cs typeface="NLHDNC+Calibri Bold"/>
              </a:rPr>
              <a:t> </a:t>
            </a:r>
            <a:r>
              <a:rPr sz="2000" b="1" dirty="0">
                <a:solidFill>
                  <a:srgbClr val="D19A3F"/>
                </a:solidFill>
                <a:latin typeface="NLHDNC+Calibri Bold"/>
                <a:cs typeface="NLHDNC+Calibri Bold"/>
              </a:rPr>
              <a:t>o</a:t>
            </a:r>
          </a:p>
          <a:p>
            <a:pPr marL="0" marR="0">
              <a:lnSpc>
                <a:spcPts val="240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D19A3F"/>
                </a:solidFill>
                <a:latin typeface="Calibri"/>
                <a:cs typeface="Calibri"/>
              </a:rPr>
              <a:t>degli </a:t>
            </a:r>
            <a:r>
              <a:rPr sz="2000" b="1" spc="-10" dirty="0">
                <a:solidFill>
                  <a:srgbClr val="D19A3F"/>
                </a:solidFill>
                <a:latin typeface="Calibri"/>
                <a:cs typeface="Calibri"/>
              </a:rPr>
              <a:t>Stati</a:t>
            </a:r>
            <a:r>
              <a:rPr sz="2000" b="1" dirty="0">
                <a:solidFill>
                  <a:srgbClr val="D19A3F"/>
                </a:solidFill>
                <a:latin typeface="Calibri"/>
                <a:cs typeface="Calibri"/>
              </a:rPr>
              <a:t> membri</a:t>
            </a:r>
            <a:r>
              <a:rPr sz="2000" b="1" spc="-21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che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preveda</a:t>
            </a:r>
            <a:r>
              <a:rPr sz="20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garanzie appropriate</a:t>
            </a:r>
            <a:r>
              <a:rPr sz="20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per i diritti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le libertà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degli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interessati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2065" y="4738102"/>
            <a:ext cx="10048051" cy="1263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D.Lgs.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51/2018</a:t>
            </a:r>
            <a:r>
              <a:rPr sz="2000" spc="-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spc="-21" dirty="0">
                <a:solidFill>
                  <a:srgbClr val="000000"/>
                </a:solidFill>
                <a:latin typeface="VOMJKV+Calibri"/>
                <a:cs typeface="VOMJKV+Calibri"/>
              </a:rPr>
              <a:t>“Attuazione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 della</a:t>
            </a:r>
            <a:r>
              <a:rPr sz="2000" spc="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direttiva</a:t>
            </a:r>
            <a:r>
              <a:rPr sz="2000" spc="12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(UE) 2016/680,</a:t>
            </a:r>
            <a:r>
              <a:rPr sz="2000" spc="-43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VOMJKV+Calibri"/>
                <a:cs typeface="VOMJKV+Calibri"/>
              </a:rPr>
              <a:t>relativa</a:t>
            </a:r>
            <a:r>
              <a:rPr sz="2000" spc="4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protezione delle</a:t>
            </a:r>
            <a:r>
              <a:rPr sz="2000" spc="15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persone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fisiche</a:t>
            </a:r>
            <a:r>
              <a:rPr sz="20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con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riguardo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al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trattamento</a:t>
            </a:r>
            <a:r>
              <a:rPr sz="20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dei dati personali</a:t>
            </a:r>
            <a:r>
              <a:rPr sz="20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da parte delle</a:t>
            </a:r>
            <a:r>
              <a:rPr sz="20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autorità</a:t>
            </a:r>
            <a:r>
              <a:rPr sz="20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competenti ai fini di</a:t>
            </a: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prevenzione, indagine,</a:t>
            </a:r>
            <a:r>
              <a:rPr sz="20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accertamento</a:t>
            </a:r>
            <a:r>
              <a:rPr sz="20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e perseguimento</a:t>
            </a:r>
            <a:r>
              <a:rPr sz="20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di </a:t>
            </a:r>
            <a:r>
              <a:rPr sz="2000" spc="-10" dirty="0">
                <a:solidFill>
                  <a:srgbClr val="000000"/>
                </a:solidFill>
                <a:latin typeface="Calibri"/>
                <a:cs typeface="Calibri"/>
              </a:rPr>
              <a:t>reati</a:t>
            </a:r>
            <a:r>
              <a:rPr sz="20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 esecuzione di sanzioni penali,</a:t>
            </a:r>
          </a:p>
          <a:p>
            <a:pPr marL="0" marR="0">
              <a:lnSpc>
                <a:spcPts val="240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nonché</a:t>
            </a:r>
            <a:r>
              <a:rPr sz="2000" spc="-2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alla</a:t>
            </a:r>
            <a:r>
              <a:rPr sz="20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libera</a:t>
            </a:r>
            <a:r>
              <a:rPr sz="20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circolazione di tali</a:t>
            </a:r>
            <a:r>
              <a:rPr sz="2000" spc="11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VOMJKV+Calibri"/>
                <a:cs typeface="VOMJKV+Calibri"/>
              </a:rPr>
              <a:t>dati”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104873"/>
            <a:ext cx="4275798" cy="476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31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PRINCIPI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METODOLOGICI</a:t>
            </a:r>
            <a:r>
              <a:rPr sz="15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15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LA</a:t>
            </a:r>
            <a:r>
              <a:rPr sz="15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libri Light"/>
                <a:cs typeface="Calibri Light"/>
              </a:rPr>
              <a:t>PROTEZIONE</a:t>
            </a:r>
            <a:r>
              <a:rPr sz="1500" spc="-2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DEI</a:t>
            </a:r>
            <a:r>
              <a:rPr sz="1500" spc="-3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DATI</a:t>
            </a:r>
          </a:p>
          <a:p>
            <a:pPr marL="0" marR="0">
              <a:lnSpc>
                <a:spcPts val="1620"/>
              </a:lnSpc>
              <a:spcBef>
                <a:spcPts val="50"/>
              </a:spcBef>
              <a:spcAft>
                <a:spcPts val="0"/>
              </a:spcAft>
            </a:pPr>
            <a:r>
              <a:rPr sz="1500" spc="-14" dirty="0">
                <a:solidFill>
                  <a:srgbClr val="FFFFFF"/>
                </a:solidFill>
                <a:latin typeface="Calibri Light"/>
                <a:cs typeface="Calibri Light"/>
              </a:rPr>
              <a:t>PERSONALI</a:t>
            </a:r>
            <a:r>
              <a:rPr sz="1500" spc="-31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21" dirty="0">
                <a:solidFill>
                  <a:srgbClr val="FFFFFF"/>
                </a:solidFill>
                <a:latin typeface="Calibri Light"/>
                <a:cs typeface="Calibri Light"/>
              </a:rPr>
              <a:t>NELL’ENTE</a:t>
            </a:r>
            <a:r>
              <a:rPr sz="1500" spc="-18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PUBBLICO</a:t>
            </a:r>
            <a:r>
              <a:rPr sz="1500" spc="-37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ALLA</a:t>
            </a:r>
            <a:r>
              <a:rPr sz="1500" spc="-6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 Light"/>
                <a:cs typeface="Calibri Light"/>
              </a:rPr>
              <a:t>LUCE</a:t>
            </a:r>
            <a:r>
              <a:rPr sz="15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DEL</a:t>
            </a:r>
            <a:r>
              <a:rPr sz="1500" spc="-43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 Light"/>
                <a:cs typeface="Calibri Light"/>
              </a:rPr>
              <a:t>GDPR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9559" y="141150"/>
            <a:ext cx="3112307" cy="420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PROTEZIONE DEI </a:t>
            </a:r>
            <a:r>
              <a:rPr sz="1200" b="1" spc="-37" dirty="0">
                <a:solidFill>
                  <a:srgbClr val="FFFFFF"/>
                </a:solidFill>
                <a:latin typeface="Calibri"/>
                <a:cs typeface="Calibri"/>
              </a:rPr>
              <a:t>DATI</a:t>
            </a:r>
            <a:r>
              <a:rPr sz="1200" b="1" spc="4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PERSONALI E SICUREZZA</a:t>
            </a:r>
          </a:p>
          <a:p>
            <a:pPr marL="0" marR="0">
              <a:lnSpc>
                <a:spcPts val="1464"/>
              </a:lnSpc>
              <a:spcBef>
                <a:spcPts val="33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INFORMATICA: IL METODO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3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12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SEGUIRE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8986" y="1049635"/>
            <a:ext cx="9266039" cy="77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2271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Art</a:t>
            </a:r>
            <a:r>
              <a:rPr sz="2400" b="1" spc="257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octies de</a:t>
            </a:r>
            <a:r>
              <a:rPr sz="2400" b="1" spc="57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D.Lgs</a:t>
            </a:r>
            <a:r>
              <a:rPr sz="2400" b="1" spc="63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19</a:t>
            </a:r>
            <a:r>
              <a:rPr sz="2400" b="1" spc="1703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0</a:t>
            </a:r>
            <a:r>
              <a:rPr sz="2400" b="1" spc="66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, introdotto da</a:t>
            </a:r>
            <a:r>
              <a:rPr sz="2400" b="1" spc="588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D.Lgs</a:t>
            </a:r>
            <a:r>
              <a:rPr sz="2400" b="1" spc="626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10</a:t>
            </a:r>
            <a:r>
              <a:rPr sz="2400" b="1" spc="1701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2018</a:t>
            </a:r>
          </a:p>
          <a:p>
            <a:pPr marL="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(Principi relativi al</a:t>
            </a:r>
            <a:r>
              <a:rPr sz="24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trattamento</a:t>
            </a:r>
            <a:r>
              <a:rPr sz="2400" b="1" spc="25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di</a:t>
            </a:r>
            <a:r>
              <a:rPr sz="2400" b="1" spc="-10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dati relativi a</a:t>
            </a:r>
            <a:r>
              <a:rPr sz="2400" b="1" spc="-14" dirty="0">
                <a:solidFill>
                  <a:srgbClr val="25A188"/>
                </a:solidFill>
                <a:latin typeface="NLHDNC+Calibri Bold"/>
                <a:cs typeface="NLHDNC+Calibri Bold"/>
              </a:rPr>
              <a:t> </a:t>
            </a:r>
            <a:r>
              <a:rPr sz="2400" b="1" dirty="0">
                <a:solidFill>
                  <a:srgbClr val="25A188"/>
                </a:solidFill>
                <a:latin typeface="NLHDNC+Calibri Bold"/>
                <a:cs typeface="NLHDNC+Calibri Bold"/>
              </a:rPr>
              <a:t>condanne penali e reati)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087" y="2253087"/>
            <a:ext cx="10582216" cy="333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400" spc="3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31" dirty="0">
                <a:solidFill>
                  <a:srgbClr val="000000"/>
                </a:solidFill>
                <a:latin typeface="Calibri"/>
                <a:cs typeface="Calibri"/>
              </a:rPr>
              <a:t>fatto</a:t>
            </a:r>
            <a:r>
              <a:rPr sz="24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salvo quanto 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previsto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dal 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D.Lgs.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51/2018 è consentito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solo</a:t>
            </a:r>
            <a:r>
              <a:rPr sz="2400" b="1" spc="-14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19A3F"/>
                </a:solidFill>
                <a:latin typeface="Calibri"/>
                <a:cs typeface="Calibri"/>
              </a:rPr>
              <a:t>se </a:t>
            </a:r>
            <a:r>
              <a:rPr sz="2400" b="1" spc="-10" dirty="0">
                <a:solidFill>
                  <a:srgbClr val="D19A3F"/>
                </a:solidFill>
                <a:latin typeface="Calibri"/>
                <a:cs typeface="Calibri"/>
              </a:rPr>
              <a:t>autorizzato</a:t>
            </a:r>
            <a:r>
              <a:rPr sz="2400" b="1" spc="10" dirty="0">
                <a:solidFill>
                  <a:srgbClr val="D19A3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da</a:t>
            </a:r>
          </a:p>
          <a:p>
            <a:pPr marL="359663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una norma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 legge </a:t>
            </a:r>
            <a:r>
              <a:rPr sz="2400" spc="-54" dirty="0">
                <a:solidFill>
                  <a:srgbClr val="000000"/>
                </a:solidFill>
                <a:latin typeface="Calibri"/>
                <a:cs typeface="Calibri"/>
              </a:rPr>
              <a:t>o,</a:t>
            </a:r>
            <a:r>
              <a:rPr sz="2400" spc="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nei casi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previsti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dalla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legge, di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regolamento,</a:t>
            </a:r>
            <a:r>
              <a:rPr sz="24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che prevedano</a:t>
            </a:r>
          </a:p>
          <a:p>
            <a:pPr marL="359663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garanzie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appropriate per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 diritti e le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libertà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degli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interessati;</a:t>
            </a:r>
          </a:p>
          <a:p>
            <a:pPr marL="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400" spc="3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diversamente i 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trattamenti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vengono individuati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con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decreto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del Ministro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della</a:t>
            </a:r>
          </a:p>
          <a:p>
            <a:pPr marL="359663" marR="0">
              <a:lnSpc>
                <a:spcPts val="28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giustizia, sentito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 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Garante;</a:t>
            </a:r>
          </a:p>
          <a:p>
            <a:pPr marL="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400" spc="3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comma 3 elenca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 casi in cui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trattamento,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se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autorizzato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da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una norma di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legge</a:t>
            </a:r>
          </a:p>
          <a:p>
            <a:pPr marL="359663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 di 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regolamento,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è consentito;</a:t>
            </a:r>
          </a:p>
          <a:p>
            <a:pPr marL="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IFKOMN+Wingdings"/>
                <a:cs typeface="IFKOMN+Wingdings"/>
              </a:rPr>
              <a:t>➢</a:t>
            </a:r>
            <a:r>
              <a:rPr sz="2400" spc="3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quando il</a:t>
            </a:r>
            <a:r>
              <a:rPr sz="2400" spc="-15" dirty="0">
                <a:solidFill>
                  <a:srgbClr val="000000"/>
                </a:solidFill>
                <a:latin typeface="VOMJKV+Calibri"/>
                <a:cs typeface="VOMJKV+Calibri"/>
              </a:rPr>
              <a:t> trattamento</a:t>
            </a:r>
            <a:r>
              <a:rPr sz="2400" spc="-17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avviene</a:t>
            </a:r>
            <a:r>
              <a:rPr sz="24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VOMJKV+Calibri"/>
                <a:cs typeface="VOMJKV+Calibri"/>
              </a:rPr>
              <a:t>sotto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 il 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controllo</a:t>
            </a:r>
            <a:r>
              <a:rPr sz="2400" spc="-18" dirty="0">
                <a:solidFill>
                  <a:srgbClr val="000000"/>
                </a:solidFill>
                <a:latin typeface="VOMJKV+Calibri"/>
                <a:cs typeface="VOMJKV+Calibri"/>
              </a:rPr>
              <a:t> dell’autorità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 pubblica si applicano</a:t>
            </a:r>
          </a:p>
          <a:p>
            <a:pPr marL="359663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le disposizioni </a:t>
            </a:r>
            <a:r>
              <a:rPr sz="2400" spc="-12" dirty="0">
                <a:solidFill>
                  <a:srgbClr val="000000"/>
                </a:solidFill>
                <a:latin typeface="VOMJKV+Calibri"/>
                <a:cs typeface="VOMJKV+Calibri"/>
              </a:rPr>
              <a:t>previste</a:t>
            </a:r>
            <a:r>
              <a:rPr sz="2400" spc="14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VOMJKV+Calibri"/>
                <a:cs typeface="VOMJKV+Calibri"/>
              </a:rPr>
              <a:t>dall’art.</a:t>
            </a:r>
            <a:r>
              <a:rPr sz="2400" spc="18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2</a:t>
            </a:r>
            <a:r>
              <a:rPr sz="2400" spc="-2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sexies (motivi</a:t>
            </a:r>
            <a:r>
              <a:rPr sz="2400" spc="-3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di 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interesse</a:t>
            </a:r>
            <a:r>
              <a:rPr sz="2400" spc="10" dirty="0">
                <a:solidFill>
                  <a:srgbClr val="000000"/>
                </a:solidFill>
                <a:latin typeface="VOMJKV+Calibri"/>
                <a:cs typeface="VOMJKV+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VOMJKV+Calibri"/>
                <a:cs typeface="VOMJKV+Calibri"/>
              </a:rPr>
              <a:t>pubblico </a:t>
            </a:r>
            <a:r>
              <a:rPr sz="2400" spc="-10" dirty="0">
                <a:solidFill>
                  <a:srgbClr val="000000"/>
                </a:solidFill>
                <a:latin typeface="VOMJKV+Calibri"/>
                <a:cs typeface="VOMJKV+Calibri"/>
              </a:rPr>
              <a:t>rilevante)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3309" y="6399241"/>
            <a:ext cx="384125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28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43116" y="204486"/>
            <a:ext cx="1378494" cy="317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OMJKV+Calibri"/>
                <a:cs typeface="VOMJKV+Calibri"/>
              </a:rPr>
              <a:t>Consigli finali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2870" y="1726729"/>
            <a:ext cx="2624019" cy="2145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4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Garamond"/>
                <a:cs typeface="Garamond"/>
              </a:rPr>
              <a:t>Nel trattamento</a:t>
            </a:r>
          </a:p>
          <a:p>
            <a:pPr marL="0" marR="0">
              <a:lnSpc>
                <a:spcPts val="3145"/>
              </a:lnSpc>
              <a:spcBef>
                <a:spcPts val="26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Garamond"/>
                <a:cs typeface="Garamond"/>
              </a:rPr>
              <a:t>dei dati personali</a:t>
            </a:r>
          </a:p>
          <a:p>
            <a:pPr marL="0" marR="0">
              <a:lnSpc>
                <a:spcPts val="3145"/>
              </a:lnSpc>
              <a:spcBef>
                <a:spcPts val="264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Garamond"/>
                <a:cs typeface="Garamond"/>
              </a:rPr>
              <a:t>occorre</a:t>
            </a:r>
          </a:p>
          <a:p>
            <a:pPr marL="0" marR="0">
              <a:lnSpc>
                <a:spcPts val="3145"/>
              </a:lnSpc>
              <a:spcBef>
                <a:spcPts val="214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Garamond"/>
                <a:cs typeface="Garamond"/>
              </a:rPr>
              <a:t>conoscere sempre</a:t>
            </a:r>
          </a:p>
          <a:p>
            <a:pPr marL="0" marR="0">
              <a:lnSpc>
                <a:spcPts val="3145"/>
              </a:lnSpc>
              <a:spcBef>
                <a:spcPts val="26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Garamond"/>
                <a:cs typeface="Garamond"/>
              </a:rPr>
              <a:t>la regola del: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0703" y="1713111"/>
            <a:ext cx="3876196" cy="481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dirty="0">
                <a:solidFill>
                  <a:srgbClr val="000000"/>
                </a:solidFill>
                <a:latin typeface="Garamond"/>
                <a:cs typeface="Garamond"/>
              </a:rPr>
              <a:t>Cosa</a:t>
            </a:r>
          </a:p>
          <a:p>
            <a:pPr marL="1126236" marR="0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(tipologia di dati e trattamenti)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70703" y="2323239"/>
            <a:ext cx="5534712" cy="2310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spc="-27" dirty="0">
                <a:solidFill>
                  <a:srgbClr val="000000"/>
                </a:solidFill>
                <a:latin typeface="Garamond"/>
                <a:cs typeface="Garamond"/>
              </a:rPr>
              <a:t>Perché</a:t>
            </a:r>
            <a:r>
              <a:rPr sz="3000" spc="25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(base giuridica e finalità)</a:t>
            </a:r>
          </a:p>
          <a:p>
            <a:pPr marL="0" marR="0">
              <a:lnSpc>
                <a:spcPts val="3375"/>
              </a:lnSpc>
              <a:spcBef>
                <a:spcPts val="1313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dirty="0">
                <a:solidFill>
                  <a:srgbClr val="000000"/>
                </a:solidFill>
                <a:latin typeface="Garamond"/>
                <a:cs typeface="Garamond"/>
              </a:rPr>
              <a:t>Come</a:t>
            </a:r>
            <a:r>
              <a:rPr sz="3000" spc="-15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(attraverso quali</a:t>
            </a:r>
            <a:r>
              <a:rPr sz="2000" i="1" spc="-10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strumenti,</a:t>
            </a:r>
            <a:r>
              <a:rPr sz="2000" i="1" spc="-17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operazioni e </a:t>
            </a:r>
            <a:r>
              <a:rPr sz="2000" i="1" spc="10" dirty="0">
                <a:solidFill>
                  <a:srgbClr val="000000"/>
                </a:solidFill>
                <a:latin typeface="Garamond"/>
                <a:cs typeface="Garamond"/>
              </a:rPr>
              <a:t>soggetti)</a:t>
            </a:r>
          </a:p>
          <a:p>
            <a:pPr marL="0" marR="0">
              <a:lnSpc>
                <a:spcPts val="3375"/>
              </a:lnSpc>
              <a:spcBef>
                <a:spcPts val="1316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dirty="0">
                <a:solidFill>
                  <a:srgbClr val="000000"/>
                </a:solidFill>
                <a:latin typeface="Garamond"/>
                <a:cs typeface="Garamond"/>
              </a:rPr>
              <a:t>Quando</a:t>
            </a:r>
            <a:r>
              <a:rPr sz="3000" spc="-10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(tempistiche e conservazione)</a:t>
            </a:r>
          </a:p>
          <a:p>
            <a:pPr marL="0" marR="0">
              <a:lnSpc>
                <a:spcPts val="3375"/>
              </a:lnSpc>
              <a:spcBef>
                <a:spcPts val="1263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dirty="0">
                <a:solidFill>
                  <a:srgbClr val="000000"/>
                </a:solidFill>
                <a:latin typeface="Garamond"/>
                <a:cs typeface="Garamond"/>
              </a:rPr>
              <a:t>Chi</a:t>
            </a:r>
            <a:r>
              <a:rPr sz="3000" spc="-20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(destinatari)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0703" y="4761746"/>
            <a:ext cx="3183097" cy="481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7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IFKOMN+Wingdings"/>
                <a:cs typeface="IFKOMN+Wingdings"/>
              </a:rPr>
              <a:t>✓</a:t>
            </a:r>
            <a:r>
              <a:rPr sz="3000" spc="-30" dirty="0">
                <a:solidFill>
                  <a:srgbClr val="000000"/>
                </a:solidFill>
                <a:latin typeface="Garamond"/>
                <a:cs typeface="Garamond"/>
              </a:rPr>
              <a:t>Dove</a:t>
            </a:r>
            <a:r>
              <a:rPr sz="3000" spc="20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2000" i="1" dirty="0">
                <a:solidFill>
                  <a:srgbClr val="000000"/>
                </a:solidFill>
                <a:latin typeface="Garamond"/>
                <a:cs typeface="Garamond"/>
              </a:rPr>
              <a:t>(luogo di trattamento)</a:t>
            </a:r>
          </a:p>
        </p:txBody>
      </p:sp>
      <p:pic>
        <p:nvPicPr>
          <p:cNvPr id="8" name="Picture 2" descr="C:\Users\Federsanita\Google Drive (chilelli.enzo61@gmail.com)\Progetti\ITS-ICTacademy\Loghi ed immagini\Logo IT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668"/>
            <a:ext cx="1055440" cy="633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4912</Words>
  <Application>Microsoft Office PowerPoint</Application>
  <PresentationFormat>Personalizzato</PresentationFormat>
  <Paragraphs>502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9" baseType="lpstr">
      <vt:lpstr>Arial</vt:lpstr>
      <vt:lpstr>Times New Roman</vt:lpstr>
      <vt:lpstr>Calibri</vt:lpstr>
      <vt:lpstr>IFKOMN+Wingdings</vt:lpstr>
      <vt:lpstr>VOMJKV+Calibri</vt:lpstr>
      <vt:lpstr>NLHDNC+Calibri Bold</vt:lpstr>
      <vt:lpstr>JEICGU+Montserrat Regular</vt:lpstr>
      <vt:lpstr>Calibri Light</vt:lpstr>
      <vt:lpstr>Garamond</vt:lpstr>
      <vt:lpstr>Theme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Enzo Chilelli</dc:creator>
  <cp:lastModifiedBy>Enzo Chilelli</cp:lastModifiedBy>
  <cp:revision>3</cp:revision>
  <dcterms:modified xsi:type="dcterms:W3CDTF">2023-03-15T17:25:02Z</dcterms:modified>
</cp:coreProperties>
</file>